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 id="344" r:id="rId86"/>
    <p:sldId id="345" r:id="rId87"/>
    <p:sldId id="346" r:id="rId88"/>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 Id="rId86" Type="http://schemas.openxmlformats.org/officeDocument/2006/relationships/slide" Target="slides/slide63.xml"/><Relationship Id="rId87" Type="http://schemas.openxmlformats.org/officeDocument/2006/relationships/slide" Target="slides/slide64.xml"/><Relationship Id="rId88" Type="http://schemas.openxmlformats.org/officeDocument/2006/relationships/slide" Target="slides/slide65.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chemeClr val="accent6"/>
              </a:solidFill>
              <a:ln>
                <a:noFill/>
              </a:ln>
              <a:effectLst/>
            </c:spPr>
            <c:extLst>
              <c:ext xmlns:c16="http://schemas.microsoft.com/office/drawing/2014/chart" uri="{C3380CC4-5D6E-409C-BE32-E72D297353CC}">
                <c16:uniqueId val="{00000005-9282-4C7D-93A0-078375DDFF91}"/>
              </c:ext>
            </c:extLst>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covers the real-time target, platform constraints, bottleneck analysis, distributed optimization, and validation. Part two uses the public ComfyUI integration and PR #9194 workflows as the application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moves from the real-time definition to the eight-GPU baseline, bottleneck analysis, optimization, and validation.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example is 362 frames / 24 FPS = 15.08 s.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NVIDIA publicly specifies 300 W TBP for RTX PRO 5000; the local eight-GPU system reports a 350 W configured/enforced power limit, so both values are labeled rather than conflated. SwPowerCap is the share of valid NVML samples, not exact time under cap. The 600 W-class design offers more headroom but still requires a matched chassis A/B.</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focuses on ComfyUI workflows backed by vLLM-Omni multi-GPU serving, beginning with the public MiniMax H3 character-replacement work in PR #9194.</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opens part two. It uses the official vLLM-Omni architecture and the public PR #9194 ComfyUI character-replacement workflow. The pull request is open as of October 24, 2026.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17.png"/></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Shunyang Li  |  Public Technical Brief  |  October 2026</a:t>
            </a:r>
          </a:p>
        </p:txBody>
      </p:sp>
      <p:sp>
        <p:nvSpPr>
          <p:cNvPr id="3" name="Text Placeholder 2"/>
          <p:cNvSpPr>
            <a:spLocks noGrp="1"/>
          </p:cNvSpPr>
          <p:nvPr>
            <p:ph type="body" idx="11" sz="quarter"/>
          </p:nvPr>
        </p:nvSpPr>
        <p:spPr/>
        <p:txBody>
          <a:bodyPr/>
          <a:lstStyle/>
          <a:p>
            <a:r>
              <a:t>8× RTX PRO 5000 · vLLM-Omni + ComfyUI</a:t>
            </a:r>
          </a:p>
        </p:txBody>
      </p:sp>
      <p:sp>
        <p:nvSpPr>
          <p:cNvPr id="4" name="Text Placeholder 3"/>
          <p:cNvSpPr>
            <a:spLocks noGrp="1"/>
          </p:cNvSpPr>
          <p:nvPr>
            <p:ph type="body" idx="10" sz="quarter"/>
          </p:nvPr>
        </p:nvSpPr>
        <p:spPr/>
        <p:txBody>
          <a:bodyPr/>
          <a:lstStyle/>
          <a:p>
            <a:r>
              <a:t>Real-Time Video Generation
with MiniMax H3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01  Toward Real-Time H3 Generation</a:t>
            </a:r>
          </a:p>
          <a:p>
            <a:r>
              <a:t>02  vLLM-Omni + ComfyUI Applications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01 · Real-Time H3
Generation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For 362 frames at 24 FPS, real time requires end-to-end latency &lt; 15.1 s (RTF &lt; 1.0)</a:t>
            </a:r>
          </a:p>
        </p:txBody>
      </p:sp>
      <p:sp>
        <p:nvSpPr>
          <p:cNvPr id="3" name="Title 2"/>
          <p:cNvSpPr>
            <a:spLocks noGrp="1"/>
          </p:cNvSpPr>
          <p:nvPr>
            <p:ph type="title"/>
          </p:nvPr>
        </p:nvSpPr>
        <p:spPr/>
        <p:txBody>
          <a:bodyPr/>
          <a:lstStyle/>
          <a:p>
            <a:r>
              <a:t>Real-Time 768p Raises the Systems Bar</a:t>
            </a:r>
          </a:p>
        </p:txBody>
      </p:sp>
      <p:sp>
        <p:nvSpPr>
          <p:cNvPr id="4" name="Text Placeholder 3"/>
          <p:cNvSpPr>
            <a:spLocks noGrp="1"/>
          </p:cNvSpPr>
          <p:nvPr>
            <p:ph type="body" idx="52" sz="quarter"/>
          </p:nvPr>
        </p:nvSpPr>
        <p:spPr/>
        <p:txBody>
          <a:bodyPr/>
          <a:lstStyle/>
          <a:p>
            <a:r>
              <a:t>RTF = latency / media duration. The real-time deadline here is 15.1 s. H3 is the largest dense backbone in this peer set; Wan2.2 = 27B total / 14B active.</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p:txBody>
          <a:bodyPr/>
          <a:lstStyle/>
          <a:p>
            <a:r>
              <a:t>32B encoder → 33B dense Omni Transformer → Visual/Audio VAE. 50 blocks × 50 denoising steps; full attention. ≈130 GB raw BF16; ~13B AdaLN cacheable.</a:t>
            </a:r>
          </a:p>
        </p:txBody>
      </p:sp>
      <p:sp>
        <p:nvSpPr>
          <p:cNvPr id="8" name="Text Placeholder 7"/>
          <p:cNvSpPr>
            <a:spLocks noGrp="1"/>
          </p:cNvSpPr>
          <p:nvPr>
            <p:ph type="body" idx="55" sz="quarter"/>
          </p:nvPr>
        </p:nvSpPr>
        <p:spPr/>
        <p:txBody>
          <a:bodyPr/>
          <a:lstStyle/>
          <a:p>
            <a:r>
              <a:t>OPEN H3-BASE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MiniMax H3, Wan2.2, LTX-2.5 and HunyuanVideo-1.5 official releases · author 362-frame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4</a:t>
            </a:fld>
            <a:endParaRPr lang="en-US"/>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SM120 compute is strong; PCIe-only scaling and sustained clocks set the eight-GPU envelope</a:t>
            </a:r>
          </a:p>
        </p:txBody>
      </p:sp>
      <p:sp>
        <p:nvSpPr>
          <p:cNvPr id="3" name="Title 2"/>
          <p:cNvSpPr>
            <a:spLocks noGrp="1"/>
          </p:cNvSpPr>
          <p:nvPr>
            <p:ph type="title"/>
          </p:nvPr>
        </p:nvSpPr>
        <p:spPr/>
        <p:txBody>
          <a:bodyPr/>
          <a:lstStyle/>
          <a:p>
            <a:r>
              <a:t>Frontier Models · The Cards</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5</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275" cy="10799064"/>
        </p:xfrm>
        <a:graphic>
          <a:graphicData uri="http://schemas.openxmlformats.org/drawingml/2006/table">
            <a:tbl>
              <a:tblPr firstRow="1" bandRow="1">
                <a:tableStyleId>{68D230F3-CF80-4859-8CE7-A43EE81993B5}</a:tableStyleId>
              </a:tblPr>
              <a:tblGrid>
                <a:gridCol w="5654055">
                  <a:extLst>
                    <a:ext uri="{9D8B030D-6E8A-4147-A177-3AD203B41FA5}">
                      <a16:colId xmlns:a16="http://schemas.microsoft.com/office/drawing/2014/main" val="1714626306"/>
                    </a:ext>
                  </a:extLst>
                </a:gridCol>
                <a:gridCol w="5654055">
                  <a:extLst>
                    <a:ext uri="{9D8B030D-6E8A-4147-A177-3AD203B41FA5}">
                      <a16:colId xmlns:a16="http://schemas.microsoft.com/office/drawing/2014/main" val="1697748500"/>
                    </a:ext>
                  </a:extLst>
                </a:gridCol>
                <a:gridCol w="5654055">
                  <a:extLst>
                    <a:ext uri="{9D8B030D-6E8A-4147-A177-3AD203B41FA5}">
                      <a16:colId xmlns:a16="http://schemas.microsoft.com/office/drawing/2014/main" val="3872581152"/>
                    </a:ext>
                  </a:extLst>
                </a:gridCol>
                <a:gridCol w="5654055">
                  <a:extLst>
                    <a:ext uri="{9D8B030D-6E8A-4147-A177-3AD203B41FA5}">
                      <a16:colId xmlns:a16="http://schemas.microsoft.com/office/drawing/2014/main" val="2543914041"/>
                    </a:ext>
                  </a:extLst>
                </a:gridCol>
                <a:gridCol w="5654055">
                  <a:extLst>
                    <a:ext uri="{9D8B030D-6E8A-4147-A177-3AD203B41FA5}">
                      <a16:colId xmlns:a16="http://schemas.microsoft.com/office/drawing/2014/main" val="242183905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CC / SMs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Power</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Interconnect</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5000
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110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300 W public TBP
350 W local*</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6000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188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600 W</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170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575 W</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12.1
48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140 W SoC
240 W system</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Sources: NVIDIA specs + CUDA GPU table · local clock study: SwPowerCap 94.8–100%; −6.78%</a:t>
            </a:r>
            <a:endParaRPr lang="en-US"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02 · vLLM-Omni
ComfyUI Apps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Open PR #9194: character replacement, continuation-aware references, and chainable LoRA controls</a:t>
            </a:r>
          </a:p>
        </p:txBody>
      </p:sp>
      <p:sp>
        <p:nvSpPr>
          <p:cNvPr id="3" name="Title 2"/>
          <p:cNvSpPr>
            <a:spLocks noGrp="1"/>
          </p:cNvSpPr>
          <p:nvPr>
            <p:ph type="title"/>
          </p:nvPr>
        </p:nvSpPr>
        <p:spPr/>
        <p:txBody>
          <a:bodyPr/>
          <a:lstStyle/>
          <a:p>
            <a:r>
              <a:t>vLLM-Omni Connects ComfyUI to Multi-GPU H3 Serving</a:t>
            </a:r>
          </a:p>
        </p:txBody>
      </p:sp>
      <p:sp>
        <p:nvSpPr>
          <p:cNvPr id="4" name="Text Placeholder 3"/>
          <p:cNvSpPr>
            <a:spLocks noGrp="1"/>
          </p:cNvSpPr>
          <p:nvPr>
            <p:ph type="body" idx="52" sz="quarter"/>
          </p:nvPr>
        </p:nvSpPr>
        <p:spPr/>
        <p:txBody>
          <a:bodyPr/>
          <a:lstStyle/>
          <a:p>
            <a:r>
              <a:t>ComfyUI remains the visual frontend; vLLM-Omni owns model execution, scheduling, and multi-GPU deployment</a:t>
            </a:r>
          </a:p>
        </p:txBody>
      </p:sp>
      <p:sp>
        <p:nvSpPr>
          <p:cNvPr id="5" name="Text Placeholder 4"/>
          <p:cNvSpPr>
            <a:spLocks noGrp="1"/>
          </p:cNvSpPr>
          <p:nvPr>
            <p:ph type="body" idx="51" sz="quarter"/>
          </p:nvPr>
        </p:nvSpPr>
        <p:spPr/>
        <p:txBody>
          <a:bodyPr/>
          <a:lstStyle/>
          <a:p>
            <a:r>
              <a:t>Official vLLM-Omni Architecture</a:t>
            </a:r>
          </a:p>
        </p:txBody>
      </p:sp>
      <p:pic>
        <p:nvPicPr>
          <p:cNvPr id="6" name="Picture Placeholder 5" descr="vllm-omni-architecture-official-16x9.png"/>
          <p:cNvPicPr>
            <a:picLocks noGrp="1" noChangeAspect="1"/>
          </p:cNvPicPr>
          <p:nvPr>
            <p:ph type="pic" idx="53" sz="quarter"/>
          </p:nvPr>
        </p:nvPicPr>
        <p:blipFill>
          <a:blip r:embed="rId3"/>
          <a:srcRect l="37" r="37"/>
          <a:stretch>
            <a:fillRect/>
          </a:stretch>
        </p:blipFill>
        <p:spPr/>
      </p:pic>
      <p:sp>
        <p:nvSpPr>
          <p:cNvPr id="7" name="Text Placeholder 6"/>
          <p:cNvSpPr>
            <a:spLocks noGrp="1"/>
          </p:cNvSpPr>
          <p:nvPr>
            <p:ph type="body" idx="54" sz="quarter"/>
          </p:nvPr>
        </p:nvSpPr>
        <p:spPr/>
        <p:txBody>
          <a:bodyPr/>
          <a:lstStyle/>
          <a:p>
            <a:r>
              <a:t>Single- and multi-character replacement, source-derived duration, long-video continuation, and LoRA controls</a:t>
            </a:r>
          </a:p>
        </p:txBody>
      </p:sp>
      <p:sp>
        <p:nvSpPr>
          <p:cNvPr id="8" name="Text Placeholder 7"/>
          <p:cNvSpPr>
            <a:spLocks noGrp="1"/>
          </p:cNvSpPr>
          <p:nvPr>
            <p:ph type="body" idx="55" sz="quarter"/>
          </p:nvPr>
        </p:nvSpPr>
        <p:spPr/>
        <p:txBody>
          <a:bodyPr/>
          <a:lstStyle/>
          <a:p>
            <a:r>
              <a:t>ComfyUI Workflow · PR #9194</a:t>
            </a:r>
          </a:p>
        </p:txBody>
      </p:sp>
      <p:pic>
        <p:nvPicPr>
          <p:cNvPr id="9" name="Picture Placeholder 8" descr="pr9194_comfyui_single_character_workflow-16x9.png"/>
          <p:cNvPicPr>
            <a:picLocks noGrp="1" noChangeAspect="1"/>
          </p:cNvPicPr>
          <p:nvPr>
            <p:ph type="pic" idx="56" sz="quarter"/>
          </p:nvPr>
        </p:nvPicPr>
        <p:blipFill>
          <a:blip r:embed="rId4"/>
          <a:srcRect l="28" r="28"/>
          <a:stretch>
            <a:fillRect/>
          </a:stretch>
        </p:blipFill>
        <p:spPr/>
      </p:pic>
      <p:sp>
        <p:nvSpPr>
          <p:cNvPr id="10"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vLLM-Omni v0.26 public deck, slide 22 · vLLM-Omni PR #9194 (open)</a:t>
            </a:r>
            <a:endParaRPr lang="en-US" dirty="0"/>
          </a:p>
        </p:txBody>
      </p:sp>
      <p:sp>
        <p:nvSpPr>
          <p:cNvPr id="11"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7</a:t>
            </a:fld>
            <a:endParaRPr lang="en-US"/>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