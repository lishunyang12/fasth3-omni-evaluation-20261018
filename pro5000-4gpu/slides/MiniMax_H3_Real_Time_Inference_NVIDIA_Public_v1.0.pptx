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63"/>
  </p:notesMasterIdLst>
  <p:handoutMasterIdLst>
    <p:handoutMasterId r:id="rId64"/>
  </p:handoutMasterIdLst>
  <p:sldIdLst>
    <p:sldId id="340" r:id="rId82"/>
    <p:sldId id="341" r:id="rId83"/>
    <p:sldId id="342" r:id="rId84"/>
  </p:sldIdLst>
  <p:sldSz cx="36576000" cy="20574000"/>
  <p:notesSz cx="6858000" cy="9144000"/>
  <p:embeddedFontLst>
    <p:embeddedFont>
      <p:font typeface="NVIDIA Sans" panose="020B0503020203020204" pitchFamily="34" charset="0"/>
      <p:regular r:id="rId65"/>
      <p:bold r:id="rId66"/>
      <p:italic r:id="rId67"/>
      <p:boldItalic r:id="rId68"/>
    </p:embeddedFont>
    <p:embeddedFont>
      <p:font typeface="NVIDIA Sans Medium" panose="020B0503020203020204" pitchFamily="34" charset="0"/>
      <p:regular r:id="rId69"/>
      <p:italic r:id="rId70"/>
    </p:embeddedFont>
    <p:embeddedFont>
      <p:font typeface="Roboto Mono" pitchFamily="49" charset="0"/>
      <p:regular r:id="rId71"/>
      <p:bold r:id="rId72"/>
      <p:italic r:id="rId73"/>
      <p:boldItalic r:id="rId74"/>
    </p:embeddedFont>
    <p:embeddedFont>
      <p:font typeface="Roboto Mono Medium" panose="00000009000000000000" pitchFamily="49" charset="0"/>
      <p:regular r:id="rId75"/>
      <p:italic r:id="rId7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2671" autoAdjust="0"/>
  </p:normalViewPr>
  <p:slideViewPr>
    <p:cSldViewPr snapToGrid="0" showGuides="1">
      <p:cViewPr varScale="1">
        <p:scale>
          <a:sx n="39" d="100"/>
          <a:sy n="39" d="100"/>
        </p:scale>
        <p:origin x="624" y="184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3" Type="http://schemas.openxmlformats.org/officeDocument/2006/relationships/notesMaster" Target="notesMasters/notesMaster1.xml"/><Relationship Id="rId64" Type="http://schemas.openxmlformats.org/officeDocument/2006/relationships/handoutMaster" Target="handoutMasters/handoutMaster1.xml"/><Relationship Id="rId65" Type="http://schemas.openxmlformats.org/officeDocument/2006/relationships/font" Target="fonts/font1.fntdata"/><Relationship Id="rId66" Type="http://schemas.openxmlformats.org/officeDocument/2006/relationships/font" Target="fonts/font2.fntdata"/><Relationship Id="rId67" Type="http://schemas.openxmlformats.org/officeDocument/2006/relationships/font" Target="fonts/font3.fntdata"/><Relationship Id="rId68" Type="http://schemas.openxmlformats.org/officeDocument/2006/relationships/font" Target="fonts/font4.fntdata"/><Relationship Id="rId69" Type="http://schemas.openxmlformats.org/officeDocument/2006/relationships/font" Target="fonts/font5.fntdata"/><Relationship Id="rId70" Type="http://schemas.openxmlformats.org/officeDocument/2006/relationships/font" Target="fonts/font6.fntdata"/><Relationship Id="rId71" Type="http://schemas.openxmlformats.org/officeDocument/2006/relationships/font" Target="fonts/font7.fntdata"/><Relationship Id="rId72" Type="http://schemas.openxmlformats.org/officeDocument/2006/relationships/font" Target="fonts/font8.fntdata"/><Relationship Id="rId73" Type="http://schemas.openxmlformats.org/officeDocument/2006/relationships/font" Target="fonts/font9.fntdata"/><Relationship Id="rId74" Type="http://schemas.openxmlformats.org/officeDocument/2006/relationships/font" Target="fonts/font10.fntdata"/><Relationship Id="rId75" Type="http://schemas.openxmlformats.org/officeDocument/2006/relationships/font" Target="fonts/font11.fntdata"/><Relationship Id="rId76" Type="http://schemas.openxmlformats.org/officeDocument/2006/relationships/font" Target="fonts/font12.fntdata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8/10/relationships/authors" Target="authors.xml"/><Relationship Id="rId82" Type="http://schemas.openxmlformats.org/officeDocument/2006/relationships/slide" Target="slides/slide59.xml"/><Relationship Id="rId83" Type="http://schemas.openxmlformats.org/officeDocument/2006/relationships/slide" Target="slides/slide60.xml"/><Relationship Id="rId84" Type="http://schemas.openxmlformats.org/officeDocument/2006/relationships/slide" Target="slides/slide6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7.pn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7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talk examines how an eight-GPU Blackwell workstation serves a long-sequence audiovisual generator in real time.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the template's standard 2-up Image 16:9 layout. Both visuals are copied directly from public vLLM-Omni materials: the official architecture figure and the PR #9194 ComfyUI workflow screenshot.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template's native Table Example is reused directly. NVIDIA publicly specifies 300 W TBP for RTX PRO 5000; the local eight-GPU system reports a 350 W configured/enforced power limit, so both values are labeled rather than conflated. SwPowerCap is reported as the share of valid NVML samples, not exact time under cap.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0" i="0">
                <a:solidFill>
                  <a:srgbClr val="757575"/>
                </a:solidFill>
                <a:latin typeface="NVIDIA Sans"/>
              </a:rPr>
              <a:t>Shunyang Li  |  Public Technical Brief  |  October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0" i="0">
                <a:solidFill>
                  <a:srgbClr val="313131"/>
                </a:solidFill>
                <a:latin typeface="NVIDIA Sans"/>
              </a:rPr>
              <a:t>MiniMax H3 with vLLM-Omni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Real-Time Video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Inference on 8×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NVIDIA RTX PRO 5000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0">
                <a:solidFill>
                  <a:srgbClr val="757575"/>
                </a:solidFill>
                <a:latin typeface="NVIDIA Sans"/>
              </a:rPr>
              <a:t>ComfyUI remains the authoring surface; vLLM-Omni owns serving, stage placement, batching, and multi-GPU execution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600" b="1" i="0">
                <a:solidFill>
                  <a:srgbClr val="000000"/>
                </a:solidFill>
                <a:latin typeface="NVIDIA Sans Medium"/>
              </a:rPr>
              <a:t>vLLM-Omni Connects Visual Workflows to Multi-GPU Serving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52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One serving layer spans omni-modal inputs, autoregressive reasoning, and DiT generation.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51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76B900"/>
                </a:solidFill>
                <a:latin typeface="NVIDIA Sans Medium"/>
              </a:rPr>
              <a:t>OFFICIAL vLLM-OMNI ARCHITECTURE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4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MiniMax-H3 character replacement calls the vLLM-Omni Generate Video endpoint; PR #9194 remains open.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55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0074DF"/>
                </a:solidFill>
                <a:latin typeface="NVIDIA Sans Medium"/>
              </a:rPr>
              <a:t>COMFYUI WORKFLOW · PR #9194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9431000"/>
            <a:ext cx="2148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vLLM-Omni v0.26 public deck, slide 22 · vLLM-Omni PR #9194 (open)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2</a:t>
            </a:r>
          </a:p>
        </p:txBody>
      </p:sp>
      <p:pic>
        <p:nvPicPr>
          <p:cNvPr id="12" name="Picture 11" descr="vllm-omni-architecture-official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799" y="7013487"/>
            <a:ext cx="16114094" cy="8208374"/>
          </a:xfrm>
          <a:prstGeom prst="rect">
            <a:avLst/>
          </a:prstGeom>
        </p:spPr>
      </p:pic>
      <p:pic>
        <p:nvPicPr>
          <p:cNvPr id="13" name="Picture 12" descr="pr9194_comfyui_single_character_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3048" y="6583679"/>
            <a:ext cx="14334208" cy="9067992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BDAAE77A-7210-CB41-C14A-7F60A48AB8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1308616"/>
              </p:ext>
            </p:extLst>
          </p:nvPr>
        </p:nvGraphicFramePr>
        <p:xfrm>
          <a:off x="4151376" y="5925312"/>
          <a:ext cx="28273248" cy="1079906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8961120">
                  <a:extLst>
                    <a:ext uri="{9D8B030D-6E8A-4147-A177-3AD203B41FA5}">
                      <a16:colId xmlns:a16="http://schemas.microsoft.com/office/drawing/2014/main" val="1714626306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16977485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387258115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543914041"/>
                    </a:ext>
                  </a:extLst>
                </a:gridCol>
                <a:gridCol w="6144768">
                  <a:extLst>
                    <a:ext uri="{9D8B030D-6E8A-4147-A177-3AD203B41FA5}">
                      <a16:colId xmlns:a16="http://schemas.microsoft.com/office/drawing/2014/main" val="2421839051"/>
                    </a:ext>
                  </a:extLst>
                </a:gridCol>
              </a:tblGrid>
              <a:tr h="1161288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ctr" defTabSz="2743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SKU</a:t>
                      </a:r>
                      <a:endParaRPr lang="en-US" sz="4000" b="0" dirty="0">
                        <a:solidFill>
                          <a:schemeClr val="bg1"/>
                        </a:solidFill>
                        <a:latin typeface="+mj-lt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CC / SMs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Memory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Power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Interconnect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958895191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RTX PRO 5000 Blackwell
8-GPU baseline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12.0 / 110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72 GB GDDR7 ECC
48 GB variant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1" i="0">
                          <a:solidFill>
                            <a:srgbClr val="EF9100"/>
                          </a:solidFill>
                          <a:latin typeface="NVIDIA Sans Medium"/>
                        </a:rPr>
                        <a:t>350 W configured*
300 W public TBP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PCIe Gen5 ×16
no GPU NVLink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1120594288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RTX PRO 6000 Blackwell
WS / Server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12.0 / 188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96 GB GDDR7 ECC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600 W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PCIe Gen5 ×16
no GPU NVLink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863754937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GeForce RTX 5090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12.0 / 170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32 GB GDDR7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575 W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PCIe Gen5 ×16
NVLink: no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568137814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DGX Spark · GB10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12.1 / 48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128 GB unified
LPDDR5X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140 W SoC
240 W system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NVLink-C2C in SoC
200 Gb/s ConnectX-7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2751747690"/>
                  </a:ext>
                </a:extLst>
              </a:tr>
            </a:tbl>
          </a:graphicData>
        </a:graphic>
      </p:graphicFrame>
      <p:sp>
        <p:nvSpPr>
          <p:cNvPr id="11" name="Title">
            <a:extLst>
              <a:ext uri="{FF2B5EF4-FFF2-40B4-BE49-F238E27FC236}">
                <a16:creationId xmlns:a16="http://schemas.microsoft.com/office/drawing/2014/main" id="{D5DB519C-86ED-8BA9-9938-EE1F80AA1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0" b="1" i="0">
                <a:solidFill>
                  <a:srgbClr val="000000"/>
                </a:solidFill>
                <a:latin typeface="NVIDIA Sans Medium"/>
              </a:rPr>
              <a:t>Frontier Models · The Cards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0965093-FCAD-1310-78F0-7CCDB828CD4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543800" y="19431000"/>
            <a:ext cx="21488400" cy="369332"/>
          </a:xfrm>
        </p:spPr>
        <p:txBody>
          <a:bodyPr wrap="square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NVIDIA product specifications · CUDA GPU Compute Capability · local system inventory and controlled clock study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1828800" y="3383280"/>
            <a:ext cx="3291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0">
                <a:solidFill>
                  <a:srgbClr val="757575"/>
                </a:solidFill>
                <a:latin typeface="NVIDIA Sans"/>
              </a:rPr>
              <a:t>One Blackwell architecture (CC 12.0/12.1) spans several very different deployment envelopes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17117568"/>
            <a:ext cx="282732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SHARED BY DISCRETE CARDS · BLACKWELL FP4 · GDDR7 · PCIe GEN5 · NO GPU-TO-GPU NVLINK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1376" y="17629632"/>
            <a:ext cx="282732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313131"/>
                </a:solidFill>
                <a:latin typeface="NVIDIA Sans Medium"/>
              </a:rPr>
              <a:t>Watch sustained clocks, not peak TOPS: controlled tensor-heavy tests reported SwPowerCap in 94.8–100% of valid samples; one rank stayed at 1.942 GHz and ran the same fine-attention input 6.78% slower. A 600 W-class design offers more headroom, but still requires a matched chassis A/B.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51376" y="18726912"/>
            <a:ext cx="282732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757575"/>
                </a:solidFill>
                <a:latin typeface="NVIDIA Sans"/>
              </a:rPr>
              <a:t>*350 W is the local configured/enforced limit; NVIDIA publicly specifies 300 W TBP for RTX PRO 5000.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D8A66332A4B643BA3F21C52B2B93D0" ma:contentTypeVersion="4" ma:contentTypeDescription="Create a new document." ma:contentTypeScope="" ma:versionID="8decfa97248364fabb228738731d1da1">
  <xsd:schema xmlns:xsd="http://www.w3.org/2001/XMLSchema" xmlns:xs="http://www.w3.org/2001/XMLSchema" xmlns:p="http://schemas.microsoft.com/office/2006/metadata/properties" xmlns:ns2="7a9fe218-95ae-41b4-8786-2f7d21b2ee85" targetNamespace="http://schemas.microsoft.com/office/2006/metadata/properties" ma:root="true" ma:fieldsID="d8702d7798b6dde85716cd96fe22432a" ns2:_="">
    <xsd:import namespace="7a9fe218-95ae-41b4-8786-2f7d21b2ee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9fe218-95ae-41b4-8786-2f7d21b2ee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BB32034-B9C2-45E1-BAA9-50B92CAE0F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a9fe218-95ae-41b4-8786-2f7d21b2ee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36BE7EB-3103-4BD6-89FC-147281D240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4018C0D-B231-48D3-BF16-B7FF90AABA23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NVIDIA26_Corp Template_LIGHT_v2</Template>
  <TotalTime>0</TotalTime>
  <Words>1883</Words>
  <Application>Microsoft Macintosh PowerPoint</Application>
  <PresentationFormat>自定义</PresentationFormat>
  <Paragraphs>441</Paragraphs>
  <Slides>58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58</vt:i4>
      </vt:variant>
    </vt:vector>
  </HeadingPairs>
  <TitlesOfParts>
    <vt:vector size="63" baseType="lpstr">
      <vt:lpstr>NVIDIA Sans</vt:lpstr>
      <vt:lpstr>NVIDIA Sans Medium</vt:lpstr>
      <vt:lpstr>Roboto Mono</vt:lpstr>
      <vt:lpstr>Roboto Mono Medium</vt:lpstr>
      <vt:lpstr>NVIDIA26_Corp Template_LIGHT_v2</vt:lpstr>
      <vt:lpstr>PowerPoint 演示文稿</vt:lpstr>
      <vt:lpstr>Helpful Resources</vt:lpstr>
      <vt:lpstr>PowerPoint 演示文稿</vt:lpstr>
      <vt:lpstr>PowerPoint 演示文稿</vt:lpstr>
      <vt:lpstr>PowerPoint 演示文稿</vt:lpstr>
      <vt:lpstr>PowerPoint 演示文稿</vt:lpstr>
      <vt:lpstr>Long or short—inspiring quote goes here up to multiple lines of text and should be followed with source credit.”</vt:lpstr>
      <vt:lpstr>Speaker Highlight</vt:lpstr>
      <vt:lpstr>Slide Layout  With No Subtitle</vt:lpstr>
      <vt:lpstr>Slide Title Goes Here</vt:lpstr>
      <vt:lpstr>Confidential Slides</vt:lpstr>
      <vt:lpstr>Confidential Watermark</vt:lpstr>
      <vt:lpstr>Single-Column Layout</vt:lpstr>
      <vt:lpstr>Two-Column Layout</vt:lpstr>
      <vt:lpstr>NVIDIA Coding Slide</vt:lpstr>
      <vt:lpstr>Customer Success Story and Use Case Example</vt:lpstr>
      <vt:lpstr>Stack Diagram Example</vt:lpstr>
      <vt:lpstr>Column Chart Example</vt:lpstr>
      <vt:lpstr>Column Chart Example</vt:lpstr>
      <vt:lpstr>Column Chart Example</vt:lpstr>
      <vt:lpstr>Column Chart Example</vt:lpstr>
      <vt:lpstr>Combo Chart Example</vt:lpstr>
      <vt:lpstr>Line Chart Example</vt:lpstr>
      <vt:lpstr>Doughnut Chart Example</vt:lpstr>
      <vt:lpstr>Doughnut Chart Example</vt:lpstr>
      <vt:lpstr>Doughnut Chart Example</vt:lpstr>
      <vt:lpstr>Doughnut Chart Example</vt:lpstr>
      <vt:lpstr>Table Example</vt:lpstr>
      <vt:lpstr>Icon Layout</vt:lpstr>
      <vt:lpstr>Stats Example</vt:lpstr>
      <vt:lpstr>One-up Layout</vt:lpstr>
      <vt:lpstr>One-up Layout Alternative</vt:lpstr>
      <vt:lpstr>One-up Layout Alternative</vt:lpstr>
      <vt:lpstr>One-up Layout Heavy Content</vt:lpstr>
      <vt:lpstr>Two-up Layout</vt:lpstr>
      <vt:lpstr>Two-up Layout</vt:lpstr>
      <vt:lpstr>Three-up Layout</vt:lpstr>
      <vt:lpstr>Three-up Layout</vt:lpstr>
      <vt:lpstr>Four-up Layout</vt:lpstr>
      <vt:lpstr>Four-up Layout</vt:lpstr>
      <vt:lpstr>Four-up Layout Alternative</vt:lpstr>
      <vt:lpstr>Four-up Layout Alternative</vt:lpstr>
      <vt:lpstr>Five-up Layout</vt:lpstr>
      <vt:lpstr>Six-up Layout</vt:lpstr>
      <vt:lpstr>Seven-up Layout</vt:lpstr>
      <vt:lpstr>Eight-up Layout</vt:lpstr>
      <vt:lpstr>Nine-up Layout</vt:lpstr>
      <vt:lpstr>Ten-up Layout</vt:lpstr>
      <vt:lpstr>Montage / Image Showcase</vt:lpstr>
      <vt:lpstr>PowerPoint 演示文稿</vt:lpstr>
      <vt:lpstr>PowerPoint 演示文稿</vt:lpstr>
      <vt:lpstr>Demo Title Goes Here</vt:lpstr>
      <vt:lpstr>Progression</vt:lpstr>
      <vt:lpstr>Timeline</vt:lpstr>
      <vt:lpstr>Image Timeline</vt:lpstr>
      <vt:lpstr>World Map</vt:lpstr>
      <vt:lpstr>World Map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MiniMax H3 Inference on 8 NVIDIA RTX PRO GPUs</dc:title>
  <dc:subject>Public technical brief on distributed video inference</dc:subject>
  <dc:creator>Shunyang Li</dc:creator>
  <cp:keywords>MiniMax H3, vLLM-Omni, NVIDIA RTX PRO, GPUDirect RDMA, CUDA Graph, VSA</cp:keywords>
  <dc:description/>
  <cp:lastModifiedBy>Shunyang Li</cp:lastModifiedBy>
  <cp:revision>1</cp:revision>
  <dcterms:created xsi:type="dcterms:W3CDTF">2026-10-22T18:06:46Z</dcterms:created>
  <dcterms:modified xsi:type="dcterms:W3CDTF">2026-10-22T18:07:42Z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0x010100AFD8A66332A4B643BA3F21C52B2B93D0</vt:lpwstr>
  </property>
</Properties>
</file>