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1" r:id="rId83"/>
    <p:sldId id="342" r:id="rId84"/>
    <p:sldId id="343" r:id="rId85"/>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59.xml"/><Relationship Id="rId83" Type="http://schemas.openxmlformats.org/officeDocument/2006/relationships/slide" Target="slides/slide60.xml"/><Relationship Id="rId84" Type="http://schemas.openxmlformats.org/officeDocument/2006/relationships/slide" Target="slides/slide61.xml"/><Relationship Id="rId85" Type="http://schemas.openxmlformats.org/officeDocument/2006/relationships/slide" Target="slides/slide6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talk examines how an eight-GPU Blackwell workstation serves a long-sequence audiovisual generator in real time.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Motivation and challenge for real-time video generation. The public MiniMax H3 system overview is retained as the primary visual. The 60K–1M range and 8-step × 50-block path describe the evaluated workload, not every possible MiniMax H3 request. Reference equivalence is the optimization requirement; full eight-GPU model validation remains to be rerun.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uses the template's standard 2-up Image 16:9 layout. Both visuals are copied directly from public vLLM-Omni materials: the official architecture figure and the PR #9194 ComfyUI workflow screenshot.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native Table Example is reused directly. NVIDIA publicly specifies 300 W TBP for RTX PRO 5000; the local eight-GPU system reports a 350 W configured/enforced power limit, so both values are labeled rather than conflated. SwPowerCap is reported as the share of valid NVML samples, not exact time under cap.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15.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 Id="rId3" Type="http://schemas.openxmlformats.org/officeDocument/2006/relationships/image" Target="../media/image16.jpg"/><Relationship Id="rId4" Type="http://schemas.openxmlformats.org/officeDocument/2006/relationships/image" Target="../media/image1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nchor="t"/>
          <a:lstStyle/>
          <a:p>
            <a:pPr algn="l">
              <a:spcBef>
                <a:spcPts val="0"/>
              </a:spcBef>
              <a:spcAft>
                <a:spcPts val="0"/>
              </a:spcAft>
              <a:buNone/>
            </a:pPr>
            <a:r>
              <a:rPr sz="4000" b="0" i="0">
                <a:solidFill>
                  <a:srgbClr val="757575"/>
                </a:solidFill>
                <a:latin typeface="NVIDIA Sans"/>
              </a:rPr>
              <a:t>Shunyang Li  |  Public Technical Brief  |  October 2026</a:t>
            </a:r>
          </a:p>
        </p:txBody>
      </p:sp>
      <p:sp>
        <p:nvSpPr>
          <p:cNvPr id="3" name="Text Placeholder 2"/>
          <p:cNvSpPr>
            <a:spLocks noGrp="1"/>
          </p:cNvSpPr>
          <p:nvPr>
            <p:ph type="body" idx="11" sz="quarter"/>
          </p:nvPr>
        </p:nvSpPr>
        <p:spPr/>
        <p:txBody>
          <a:bodyPr wrap="square" anchor="t"/>
          <a:lstStyle/>
          <a:p>
            <a:pPr algn="l">
              <a:spcBef>
                <a:spcPts val="0"/>
              </a:spcBef>
              <a:spcAft>
                <a:spcPts val="0"/>
              </a:spcAft>
              <a:buNone/>
            </a:pPr>
            <a:r>
              <a:rPr sz="4800" b="0" i="0">
                <a:solidFill>
                  <a:srgbClr val="313131"/>
                </a:solidFill>
                <a:latin typeface="NVIDIA Sans"/>
              </a:rPr>
              <a:t>MiniMax H3 with vLLM-Omni</a:t>
            </a:r>
          </a:p>
        </p:txBody>
      </p:sp>
      <p:sp>
        <p:nvSpPr>
          <p:cNvPr id="4" name="Text Placeholder 3"/>
          <p:cNvSpPr>
            <a:spLocks noGrp="1"/>
          </p:cNvSpPr>
          <p:nvPr>
            <p:ph type="body" idx="10" sz="quarter"/>
          </p:nvPr>
        </p:nvSpPr>
        <p:spPr/>
        <p:txBody>
          <a:bodyPr wrap="square" anchor="ctr"/>
          <a:lstStyle/>
          <a:p>
            <a:pPr algn="l">
              <a:spcBef>
                <a:spcPts val="0"/>
              </a:spcBef>
              <a:spcAft>
                <a:spcPts val="0"/>
              </a:spcAft>
              <a:buNone/>
            </a:pPr>
            <a:r>
              <a:rPr sz="9200" b="1" i="0">
                <a:solidFill>
                  <a:srgbClr val="000000"/>
                </a:solidFill>
                <a:latin typeface="NVIDIA Sans Medium"/>
              </a:rPr>
              <a:t>Real-Time Video</a:t>
            </a:r>
          </a:p>
          <a:p>
            <a:pPr algn="l">
              <a:spcBef>
                <a:spcPts val="0"/>
              </a:spcBef>
              <a:spcAft>
                <a:spcPts val="0"/>
              </a:spcAft>
              <a:buNone/>
            </a:pPr>
            <a:r>
              <a:rPr sz="9200" b="1" i="0">
                <a:solidFill>
                  <a:srgbClr val="000000"/>
                </a:solidFill>
                <a:latin typeface="NVIDIA Sans Medium"/>
              </a:rPr>
              <a:t>Inference on 8×</a:t>
            </a:r>
          </a:p>
          <a:p>
            <a:pPr algn="l">
              <a:spcBef>
                <a:spcPts val="0"/>
              </a:spcBef>
              <a:spcAft>
                <a:spcPts val="0"/>
              </a:spcAft>
              <a:buNone/>
            </a:pPr>
            <a:r>
              <a:rPr sz="9200" b="1" i="0">
                <a:solidFill>
                  <a:srgbClr val="000000"/>
                </a:solidFill>
                <a:latin typeface="NVIDIA Sans Medium"/>
              </a:rPr>
              <a:t>NVIDIA RTX PRO 5000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wrap="square" anchor="ctr"/>
          <a:lstStyle/>
          <a:p>
            <a:pPr algn="l">
              <a:spcBef>
                <a:spcPts val="0"/>
              </a:spcBef>
              <a:spcAft>
                <a:spcPts val="0"/>
              </a:spcAft>
              <a:buNone/>
            </a:pPr>
            <a:r>
              <a:rPr sz="3200" b="0" i="0">
                <a:solidFill>
                  <a:srgbClr val="757575"/>
                </a:solidFill>
                <a:latin typeface="NVIDIA Sans"/>
              </a:rPr>
              <a:t>For each request, the real-time target is end-to-end latency within the clip’s playback window; across the evaluated 60K–1M-token range, shape changes alter memory demand, kernel geometry, communication volume, and CUDA Graph reuse.</a:t>
            </a:r>
          </a:p>
        </p:txBody>
      </p:sp>
      <p:sp>
        <p:nvSpPr>
          <p:cNvPr id="3" name="Title 2"/>
          <p:cNvSpPr>
            <a:spLocks noGrp="1"/>
          </p:cNvSpPr>
          <p:nvPr>
            <p:ph type="title"/>
          </p:nvPr>
        </p:nvSpPr>
        <p:spPr/>
        <p:txBody>
          <a:bodyPr wrap="square" anchor="ctr"/>
          <a:lstStyle/>
          <a:p>
            <a:pPr algn="l">
              <a:spcBef>
                <a:spcPts val="0"/>
              </a:spcBef>
              <a:spcAft>
                <a:spcPts val="0"/>
              </a:spcAft>
              <a:buNone/>
            </a:pPr>
            <a:r>
              <a:rPr sz="6800" b="1" i="0">
                <a:solidFill>
                  <a:srgbClr val="000000"/>
                </a:solidFill>
                <a:latin typeface="NVIDIA Sans Medium"/>
              </a:rPr>
              <a:t>Real-Time Video Generation Is a Distributed-Systems Problem</a:t>
            </a:r>
          </a:p>
        </p:txBody>
      </p:sp>
      <p:sp>
        <p:nvSpPr>
          <p:cNvPr id="4" name="Text Placeholder 3"/>
          <p:cNvSpPr>
            <a:spLocks noGrp="1"/>
          </p:cNvSpPr>
          <p:nvPr>
            <p:ph type="body" idx="52" sz="quarter"/>
          </p:nvPr>
        </p:nvSpPr>
        <p:spPr>
          <a:xfrm>
            <a:off x="2377440" y="17300448"/>
            <a:ext cx="31821119" cy="1261872"/>
          </a:xfrm>
        </p:spPr>
        <p:txBody>
          <a:bodyPr wrap="square" anchor="t"/>
          <a:lstStyle/>
          <a:p>
            <a:pPr algn="l">
              <a:spcBef>
                <a:spcPts val="0"/>
              </a:spcBef>
              <a:spcAft>
                <a:spcPts val="0"/>
              </a:spcAft>
              <a:buNone/>
            </a:pPr>
            <a:r>
              <a:rPr sz="2600" b="0" i="0">
                <a:solidFill>
                  <a:srgbClr val="313131"/>
                </a:solidFill>
                <a:latin typeface="NVIDIA Sans"/>
              </a:rPr>
              <a:t>Under SP8, the evaluated path repeatedly couples compute with Q/K/V and Gate/O exchange; launch gaps, transport fences, rank skew, and the decoder tail accumulate on the critical path, while the optimized system must preserve numerical equivalence to the reference path under the defined tolerance.</a:t>
            </a:r>
          </a:p>
        </p:txBody>
      </p:sp>
      <p:sp>
        <p:nvSpPr>
          <p:cNvPr id="5" name="Text Placeholder 4"/>
          <p:cNvSpPr>
            <a:spLocks noGrp="1"/>
          </p:cNvSpPr>
          <p:nvPr>
            <p:ph type="body" idx="51" sz="quarter"/>
          </p:nvPr>
        </p:nvSpPr>
        <p:spPr>
          <a:xfrm>
            <a:off x="2377440" y="16687800"/>
            <a:ext cx="31821119" cy="512064"/>
          </a:xfrm>
        </p:spPr>
        <p:txBody>
          <a:bodyPr wrap="square" anchor="ctr"/>
          <a:lstStyle/>
          <a:p>
            <a:pPr algn="l">
              <a:spcBef>
                <a:spcPts val="0"/>
              </a:spcBef>
              <a:spcAft>
                <a:spcPts val="0"/>
              </a:spcAft>
              <a:buNone/>
            </a:pPr>
            <a:r>
              <a:rPr sz="2600" b="1" i="0">
                <a:solidFill>
                  <a:srgbClr val="76B900"/>
                </a:solidFill>
                <a:latin typeface="NVIDIA Sans Medium"/>
              </a:rPr>
              <a:t>EVALUATED PATH · 8 DiT STEPS × 50 BLOCKS = 400 REPEATED BLOCK EXECUTIONS</a:t>
            </a:r>
          </a:p>
        </p:txBody>
      </p:sp>
      <p:sp>
        <p:nvSpPr>
          <p:cNvPr id="7" name="TextBox 6"/>
          <p:cNvSpPr txBox="1"/>
          <p:nvPr/>
        </p:nvSpPr>
        <p:spPr>
          <a:xfrm>
            <a:off x="7543800" y="19431000"/>
            <a:ext cx="21488400" cy="365760"/>
          </a:xfrm>
          <a:prstGeom prst="rect">
            <a:avLst/>
          </a:prstGeom>
          <a:noFill/>
        </p:spPr>
        <p:txBody>
          <a:bodyPr wrap="square" anchor="ctr">
            <a:spAutoFit/>
          </a:bodyPr>
          <a:lstStyle/>
          <a:p>
            <a:pPr algn="ctr">
              <a:spcBef>
                <a:spcPts val="0"/>
              </a:spcBef>
              <a:spcAft>
                <a:spcPts val="0"/>
              </a:spcAft>
              <a:buNone/>
            </a:pPr>
            <a:r>
              <a:rPr sz="2000" b="0" i="0">
                <a:solidFill>
                  <a:srgbClr val="757575"/>
                </a:solidFill>
                <a:latin typeface="NVIDIA Sans"/>
              </a:rPr>
              <a:t>Sources: vLLM-Omni v0.26 public deck, slide 23 · author evaluated workload envelope and eight-GPU execution path</a:t>
            </a:r>
          </a:p>
        </p:txBody>
      </p:sp>
      <p:sp>
        <p:nvSpPr>
          <p:cNvPr id="8" name="TextBox 7"/>
          <p:cNvSpPr txBox="1"/>
          <p:nvPr/>
        </p:nvSpPr>
        <p:spPr>
          <a:xfrm>
            <a:off x="914400" y="19431000"/>
            <a:ext cx="640080" cy="365760"/>
          </a:xfrm>
          <a:prstGeom prst="rect">
            <a:avLst/>
          </a:prstGeom>
          <a:noFill/>
        </p:spPr>
        <p:txBody>
          <a:bodyPr wrap="square" anchor="ctr">
            <a:spAutoFit/>
          </a:bodyPr>
          <a:lstStyle/>
          <a:p>
            <a:pPr algn="l">
              <a:spcBef>
                <a:spcPts val="0"/>
              </a:spcBef>
              <a:spcAft>
                <a:spcPts val="0"/>
              </a:spcAft>
              <a:buNone/>
            </a:pPr>
            <a:r>
              <a:rPr sz="2000" b="0" i="0">
                <a:solidFill>
                  <a:srgbClr val="757575"/>
                </a:solidFill>
                <a:latin typeface="NVIDIA Sans"/>
              </a:rPr>
              <a:t>2</a:t>
            </a:r>
          </a:p>
        </p:txBody>
      </p:sp>
      <p:pic>
        <p:nvPicPr>
          <p:cNvPr id="9" name="Picture 8" descr="minimax-h3-system-overview-official.jpeg"/>
          <p:cNvPicPr>
            <a:picLocks noChangeAspect="1"/>
          </p:cNvPicPr>
          <p:nvPr/>
        </p:nvPicPr>
        <p:blipFill>
          <a:blip r:embed="rId3"/>
          <a:stretch>
            <a:fillRect/>
          </a:stretch>
        </p:blipFill>
        <p:spPr>
          <a:xfrm>
            <a:off x="2393626" y="4709160"/>
            <a:ext cx="31788747" cy="1175004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wrap="square" anchor="ctr"/>
          <a:lstStyle/>
          <a:p>
            <a:pPr algn="l">
              <a:spcBef>
                <a:spcPts val="0"/>
              </a:spcBef>
              <a:spcAft>
                <a:spcPts val="0"/>
              </a:spcAft>
              <a:buNone/>
            </a:pPr>
            <a:r>
              <a:rPr sz="3600" b="0" i="0">
                <a:solidFill>
                  <a:srgbClr val="757575"/>
                </a:solidFill>
                <a:latin typeface="NVIDIA Sans"/>
              </a:rPr>
              <a:t>ComfyUI remains the authoring surface; vLLM-Omni owns serving, stage placement, batching, and multi-GPU execution</a:t>
            </a:r>
          </a:p>
        </p:txBody>
      </p:sp>
      <p:sp>
        <p:nvSpPr>
          <p:cNvPr id="3" name="Title 2"/>
          <p:cNvSpPr>
            <a:spLocks noGrp="1"/>
          </p:cNvSpPr>
          <p:nvPr>
            <p:ph type="title"/>
          </p:nvPr>
        </p:nvSpPr>
        <p:spPr/>
        <p:txBody>
          <a:bodyPr wrap="square" anchor="ctr"/>
          <a:lstStyle/>
          <a:p>
            <a:pPr algn="l">
              <a:spcBef>
                <a:spcPts val="0"/>
              </a:spcBef>
              <a:spcAft>
                <a:spcPts val="0"/>
              </a:spcAft>
              <a:buNone/>
            </a:pPr>
            <a:r>
              <a:rPr sz="6600" b="1" i="0">
                <a:solidFill>
                  <a:srgbClr val="000000"/>
                </a:solidFill>
                <a:latin typeface="NVIDIA Sans Medium"/>
              </a:rPr>
              <a:t>vLLM-Omni Connects Visual Workflows to Multi-GPU Serving</a:t>
            </a:r>
          </a:p>
        </p:txBody>
      </p:sp>
      <p:sp>
        <p:nvSpPr>
          <p:cNvPr id="4" name="Text Placeholder 3"/>
          <p:cNvSpPr>
            <a:spLocks noGrp="1"/>
          </p:cNvSpPr>
          <p:nvPr>
            <p:ph type="body" idx="52" sz="quarter"/>
          </p:nvPr>
        </p:nvSpPr>
        <p:spPr/>
        <p:txBody>
          <a:bodyPr wrap="square" anchor="t"/>
          <a:lstStyle/>
          <a:p>
            <a:pPr algn="l">
              <a:spcBef>
                <a:spcPts val="0"/>
              </a:spcBef>
              <a:spcAft>
                <a:spcPts val="0"/>
              </a:spcAft>
              <a:buNone/>
            </a:pPr>
            <a:r>
              <a:rPr sz="2500" b="0" i="0">
                <a:solidFill>
                  <a:srgbClr val="313131"/>
                </a:solidFill>
                <a:latin typeface="NVIDIA Sans"/>
              </a:rPr>
              <a:t>One serving layer spans omni-modal inputs, autoregressive reasoning, and DiT generation.</a:t>
            </a:r>
          </a:p>
        </p:txBody>
      </p:sp>
      <p:sp>
        <p:nvSpPr>
          <p:cNvPr id="5" name="Text Placeholder 4"/>
          <p:cNvSpPr>
            <a:spLocks noGrp="1"/>
          </p:cNvSpPr>
          <p:nvPr>
            <p:ph type="body" idx="51" sz="quarter"/>
          </p:nvPr>
        </p:nvSpPr>
        <p:spPr/>
        <p:txBody>
          <a:bodyPr wrap="square" anchor="t"/>
          <a:lstStyle/>
          <a:p>
            <a:pPr algn="l">
              <a:spcBef>
                <a:spcPts val="0"/>
              </a:spcBef>
              <a:spcAft>
                <a:spcPts val="0"/>
              </a:spcAft>
              <a:buNone/>
            </a:pPr>
            <a:r>
              <a:rPr sz="2700" b="1" i="0">
                <a:solidFill>
                  <a:srgbClr val="76B900"/>
                </a:solidFill>
                <a:latin typeface="NVIDIA Sans Medium"/>
              </a:rPr>
              <a:t>OFFICIAL vLLM-OMNI ARCHITECTURE</a:t>
            </a:r>
          </a:p>
        </p:txBody>
      </p:sp>
      <p:sp>
        <p:nvSpPr>
          <p:cNvPr id="7" name="Text Placeholder 6"/>
          <p:cNvSpPr>
            <a:spLocks noGrp="1"/>
          </p:cNvSpPr>
          <p:nvPr>
            <p:ph type="body" idx="54" sz="quarter"/>
          </p:nvPr>
        </p:nvSpPr>
        <p:spPr/>
        <p:txBody>
          <a:bodyPr wrap="square" anchor="t"/>
          <a:lstStyle/>
          <a:p>
            <a:pPr algn="l">
              <a:spcBef>
                <a:spcPts val="0"/>
              </a:spcBef>
              <a:spcAft>
                <a:spcPts val="0"/>
              </a:spcAft>
              <a:buNone/>
            </a:pPr>
            <a:r>
              <a:rPr sz="2500" b="0" i="0">
                <a:solidFill>
                  <a:srgbClr val="313131"/>
                </a:solidFill>
                <a:latin typeface="NVIDIA Sans"/>
              </a:rPr>
              <a:t>MiniMax-H3 character replacement calls the vLLM-Omni Generate Video endpoint; PR #9194 remains open.</a:t>
            </a:r>
          </a:p>
        </p:txBody>
      </p:sp>
      <p:sp>
        <p:nvSpPr>
          <p:cNvPr id="8" name="Text Placeholder 7"/>
          <p:cNvSpPr>
            <a:spLocks noGrp="1"/>
          </p:cNvSpPr>
          <p:nvPr>
            <p:ph type="body" idx="55" sz="quarter"/>
          </p:nvPr>
        </p:nvSpPr>
        <p:spPr/>
        <p:txBody>
          <a:bodyPr wrap="square" anchor="t"/>
          <a:lstStyle/>
          <a:p>
            <a:pPr algn="l">
              <a:spcBef>
                <a:spcPts val="0"/>
              </a:spcBef>
              <a:spcAft>
                <a:spcPts val="0"/>
              </a:spcAft>
              <a:buNone/>
            </a:pPr>
            <a:r>
              <a:rPr sz="2700" b="1" i="0">
                <a:solidFill>
                  <a:srgbClr val="0074DF"/>
                </a:solidFill>
                <a:latin typeface="NVIDIA Sans Medium"/>
              </a:rPr>
              <a:t>COMFYUI WORKFLOW · PR #9194</a:t>
            </a:r>
          </a:p>
        </p:txBody>
      </p:sp>
      <p:sp>
        <p:nvSpPr>
          <p:cNvPr id="10" name="TextBox 9"/>
          <p:cNvSpPr txBox="1"/>
          <p:nvPr/>
        </p:nvSpPr>
        <p:spPr>
          <a:xfrm>
            <a:off x="7543800" y="19431000"/>
            <a:ext cx="21488400" cy="365760"/>
          </a:xfrm>
          <a:prstGeom prst="rect">
            <a:avLst/>
          </a:prstGeom>
          <a:noFill/>
        </p:spPr>
        <p:txBody>
          <a:bodyPr wrap="square" anchor="ctr">
            <a:spAutoFit/>
          </a:bodyPr>
          <a:lstStyle/>
          <a:p>
            <a:pPr algn="ctr">
              <a:spcBef>
                <a:spcPts val="0"/>
              </a:spcBef>
              <a:spcAft>
                <a:spcPts val="0"/>
              </a:spcAft>
              <a:buNone/>
            </a:pPr>
            <a:r>
              <a:rPr sz="2000" b="0" i="0">
                <a:solidFill>
                  <a:srgbClr val="757575"/>
                </a:solidFill>
                <a:latin typeface="NVIDIA Sans"/>
              </a:rPr>
              <a:t>Sources: vLLM-Omni v0.26 public deck, slide 22 · vLLM-Omni PR #9194 (open)</a:t>
            </a:r>
          </a:p>
        </p:txBody>
      </p:sp>
      <p:sp>
        <p:nvSpPr>
          <p:cNvPr id="11" name="TextBox 10"/>
          <p:cNvSpPr txBox="1"/>
          <p:nvPr/>
        </p:nvSpPr>
        <p:spPr>
          <a:xfrm>
            <a:off x="914400" y="19431000"/>
            <a:ext cx="640080" cy="365760"/>
          </a:xfrm>
          <a:prstGeom prst="rect">
            <a:avLst/>
          </a:prstGeom>
          <a:noFill/>
        </p:spPr>
        <p:txBody>
          <a:bodyPr wrap="square" anchor="ctr">
            <a:spAutoFit/>
          </a:bodyPr>
          <a:lstStyle/>
          <a:p>
            <a:pPr algn="l">
              <a:spcBef>
                <a:spcPts val="0"/>
              </a:spcBef>
              <a:spcAft>
                <a:spcPts val="0"/>
              </a:spcAft>
              <a:buNone/>
            </a:pPr>
            <a:r>
              <a:rPr sz="2000" b="0" i="0">
                <a:solidFill>
                  <a:srgbClr val="757575"/>
                </a:solidFill>
                <a:latin typeface="NVIDIA Sans"/>
              </a:rPr>
              <a:t>3</a:t>
            </a:r>
          </a:p>
        </p:txBody>
      </p:sp>
      <p:pic>
        <p:nvPicPr>
          <p:cNvPr id="12" name="Picture 11" descr="vllm-omni-architecture-official.jpeg"/>
          <p:cNvPicPr>
            <a:picLocks noChangeAspect="1"/>
          </p:cNvPicPr>
          <p:nvPr/>
        </p:nvPicPr>
        <p:blipFill>
          <a:blip r:embed="rId3"/>
          <a:stretch>
            <a:fillRect/>
          </a:stretch>
        </p:blipFill>
        <p:spPr>
          <a:xfrm>
            <a:off x="1828799" y="7013487"/>
            <a:ext cx="16114094" cy="8208374"/>
          </a:xfrm>
          <a:prstGeom prst="rect">
            <a:avLst/>
          </a:prstGeom>
        </p:spPr>
      </p:pic>
      <p:pic>
        <p:nvPicPr>
          <p:cNvPr id="13" name="Picture 12" descr="pr9194_comfyui_single_character_workflow.png"/>
          <p:cNvPicPr>
            <a:picLocks noChangeAspect="1"/>
          </p:cNvPicPr>
          <p:nvPr/>
        </p:nvPicPr>
        <p:blipFill>
          <a:blip r:embed="rId4"/>
          <a:stretch>
            <a:fillRect/>
          </a:stretch>
        </p:blipFill>
        <p:spPr>
          <a:xfrm>
            <a:off x="19523048" y="6583679"/>
            <a:ext cx="14334208" cy="9067992"/>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4" name="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1376" y="5925312"/>
          <a:ext cx="28273248" cy="10799064"/>
        </p:xfrm>
        <a:graphic>
          <a:graphicData uri="http://schemas.openxmlformats.org/drawingml/2006/table">
            <a:tbl>
              <a:tblPr firstRow="1" bandRow="1">
                <a:tableStyleId>{68D230F3-CF80-4859-8CE7-A43EE81993B5}</a:tableStyleId>
              </a:tblPr>
              <a:tblGrid>
                <a:gridCol w="8961120">
                  <a:extLst>
                    <a:ext uri="{9D8B030D-6E8A-4147-A177-3AD203B41FA5}">
                      <a16:colId xmlns:a16="http://schemas.microsoft.com/office/drawing/2014/main" val="1714626306"/>
                    </a:ext>
                  </a:extLst>
                </a:gridCol>
                <a:gridCol w="2926080">
                  <a:extLst>
                    <a:ext uri="{9D8B030D-6E8A-4147-A177-3AD203B41FA5}">
                      <a16:colId xmlns:a16="http://schemas.microsoft.com/office/drawing/2014/main" val="1697748500"/>
                    </a:ext>
                  </a:extLst>
                </a:gridCol>
                <a:gridCol w="6035040">
                  <a:extLst>
                    <a:ext uri="{9D8B030D-6E8A-4147-A177-3AD203B41FA5}">
                      <a16:colId xmlns:a16="http://schemas.microsoft.com/office/drawing/2014/main" val="3872581152"/>
                    </a:ext>
                  </a:extLst>
                </a:gridCol>
                <a:gridCol w="4206240">
                  <a:extLst>
                    <a:ext uri="{9D8B030D-6E8A-4147-A177-3AD203B41FA5}">
                      <a16:colId xmlns:a16="http://schemas.microsoft.com/office/drawing/2014/main" val="2543914041"/>
                    </a:ext>
                  </a:extLst>
                </a:gridCol>
                <a:gridCol w="6144768">
                  <a:extLst>
                    <a:ext uri="{9D8B030D-6E8A-4147-A177-3AD203B41FA5}">
                      <a16:colId xmlns:a16="http://schemas.microsoft.com/office/drawing/2014/main" val="2421839051"/>
                    </a:ext>
                  </a:extLst>
                </a:gridCol>
              </a:tblGrid>
              <a:tr h="1161288">
                <a:tc>
                  <a:txBody>
                    <a:bodyPr wrap="square"/>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marL="0" marR="0" lvl="0" indent="0" algn="ctr" defTabSz="2743200" rtl="0" eaLnBrk="1" fontAlgn="auto" latinLnBrk="0" hangingPunct="1">
                        <a:lnSpc>
                          <a:spcPct val="100000"/>
                        </a:lnSpc>
                        <a:spcBef>
                          <a:spcPts val="0"/>
                        </a:spcBef>
                        <a:spcAft>
                          <a:spcPts val="0"/>
                        </a:spcAft>
                        <a:buClrTx/>
                        <a:buSzTx/>
                        <a:buFontTx/>
                        <a:buNone/>
                        <a:tabLst/>
                        <a:defRPr/>
                      </a:pPr>
                      <a:r>
                        <a:rPr sz="3400" b="1" i="0">
                          <a:solidFill>
                            <a:srgbClr val="76B900"/>
                          </a:solidFill>
                          <a:latin typeface="NVIDIA Sans Medium"/>
                        </a:rPr>
                        <a:t>SKU</a:t>
                      </a:r>
                      <a:endParaRPr lang="en-US" sz="4000" b="0" dirty="0">
                        <a:solidFill>
                          <a:schemeClr val="bg1"/>
                        </a:solidFill>
                        <a:latin typeface="+mj-lt"/>
                        <a:cs typeface="NVIDIA Sans" panose="020B0503020203020204" pitchFamily="34" charset="0"/>
                      </a:endParaRPr>
                    </a:p>
                  </a:txBody>
                  <a:tcPr marL="365760" marR="182880" marT="91440" marB="91440" anchor="ctr">
                    <a:lnT w="12700" cap="flat" cmpd="sng" algn="ctr">
                      <a:noFill/>
                      <a:prstDash val="solid"/>
                      <a:round/>
                      <a:headEnd type="none" w="med" len="med"/>
                      <a:tailEnd type="none" w="med" len="med"/>
                    </a:lnT>
                  </a:tcPr>
                </a:tc>
                <a:tc>
                  <a:txBody>
                    <a:bodyPr wrap="square"/>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sz="3400" b="1" i="0">
                          <a:solidFill>
                            <a:srgbClr val="76B900"/>
                          </a:solidFill>
                          <a:latin typeface="NVIDIA Sans Medium"/>
                        </a:rPr>
                        <a:t>CC / SMs</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wrap="square"/>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sz="3400" b="1" i="0">
                          <a:solidFill>
                            <a:srgbClr val="76B900"/>
                          </a:solidFill>
                          <a:latin typeface="NVIDIA Sans Medium"/>
                        </a:rPr>
                        <a:t>Memory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wrap="square"/>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sz="3400" b="1" i="0">
                          <a:solidFill>
                            <a:srgbClr val="76B900"/>
                          </a:solidFill>
                          <a:latin typeface="NVIDIA Sans Medium"/>
                        </a:rPr>
                        <a:t>Power</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wrap="square"/>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sz="3400" b="1" i="0">
                          <a:solidFill>
                            <a:srgbClr val="76B900"/>
                          </a:solidFill>
                          <a:latin typeface="NVIDIA Sans Medium"/>
                        </a:rPr>
                        <a:t>Interconnect</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2409444">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sz="2900" b="1" i="0">
                          <a:solidFill>
                            <a:srgbClr val="76B900"/>
                          </a:solidFill>
                          <a:latin typeface="NVIDIA Sans Medium"/>
                        </a:rPr>
                        <a:t>RTX PRO 5000 Blackwell
8-GPU baseline</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sz="2900" b="0" i="0">
                          <a:solidFill>
                            <a:srgbClr val="313131"/>
                          </a:solidFill>
                          <a:latin typeface="NVIDIA Sans"/>
                        </a:rPr>
                        <a:t>12.0 / 110</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sz="2900" b="0" i="0">
                          <a:solidFill>
                            <a:srgbClr val="313131"/>
                          </a:solidFill>
                          <a:latin typeface="NVIDIA Sans"/>
                        </a:rPr>
                        <a:t>72 GB GDDR7 ECC
48 GB variant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sz="2900" b="1" i="0">
                          <a:solidFill>
                            <a:srgbClr val="EF9100"/>
                          </a:solidFill>
                          <a:latin typeface="NVIDIA Sans Medium"/>
                        </a:rPr>
                        <a:t>350 W configured*
300 W public TBP</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sz="2900" b="0" i="0">
                          <a:solidFill>
                            <a:srgbClr val="0074DF"/>
                          </a:solidFill>
                          <a:latin typeface="NVIDIA Sans"/>
                        </a:rPr>
                        <a:t>PCIe Gen5 ×16
no GPU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2409444">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sz="2900" b="1" i="0">
                          <a:solidFill>
                            <a:srgbClr val="313131"/>
                          </a:solidFill>
                          <a:latin typeface="NVIDIA Sans Medium"/>
                        </a:rPr>
                        <a:t>RTX PRO 6000 Blackwell
WS / Server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sz="2900" b="0" i="0">
                          <a:solidFill>
                            <a:srgbClr val="313131"/>
                          </a:solidFill>
                          <a:latin typeface="NVIDIA Sans"/>
                        </a:rPr>
                        <a:t>12.0 / 188</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sz="2900" b="0" i="0">
                          <a:solidFill>
                            <a:srgbClr val="313131"/>
                          </a:solidFill>
                          <a:latin typeface="NVIDIA Sans"/>
                        </a:rPr>
                        <a:t>96 GB GDDR7 ECC</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sz="2900" b="0" i="0">
                          <a:solidFill>
                            <a:srgbClr val="313131"/>
                          </a:solidFill>
                          <a:latin typeface="NVIDIA Sans"/>
                        </a:rPr>
                        <a:t>600 W</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sz="2900" b="0" i="0">
                          <a:solidFill>
                            <a:srgbClr val="0074DF"/>
                          </a:solidFill>
                          <a:latin typeface="NVIDIA Sans"/>
                        </a:rPr>
                        <a:t>PCIe Gen5 ×16
no GPU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2409444">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sz="2900" b="1" i="0">
                          <a:solidFill>
                            <a:srgbClr val="313131"/>
                          </a:solidFill>
                          <a:latin typeface="NVIDIA Sans Medium"/>
                        </a:rPr>
                        <a:t>GeForce RTX 5090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sz="2900" b="0" i="0">
                          <a:solidFill>
                            <a:srgbClr val="313131"/>
                          </a:solidFill>
                          <a:latin typeface="NVIDIA Sans"/>
                        </a:rPr>
                        <a:t>12.0 / 170</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sz="2900" b="0" i="0">
                          <a:solidFill>
                            <a:srgbClr val="313131"/>
                          </a:solidFill>
                          <a:latin typeface="NVIDIA Sans"/>
                        </a:rPr>
                        <a:t>32 GB GDDR7</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sz="2900" b="0" i="0">
                          <a:solidFill>
                            <a:srgbClr val="313131"/>
                          </a:solidFill>
                          <a:latin typeface="NVIDIA Sans"/>
                        </a:rPr>
                        <a:t>575 W</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sz="2900" b="0" i="0">
                          <a:solidFill>
                            <a:srgbClr val="0074DF"/>
                          </a:solidFill>
                          <a:latin typeface="NVIDIA Sans"/>
                        </a:rPr>
                        <a:t>PCIe Gen5 ×16
NVLink: no</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2409444">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sz="2900" b="1" i="0">
                          <a:solidFill>
                            <a:srgbClr val="313131"/>
                          </a:solidFill>
                          <a:latin typeface="NVIDIA Sans Medium"/>
                        </a:rPr>
                        <a:t>DGX Spark · GB10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sz="2900" b="0" i="0">
                          <a:solidFill>
                            <a:srgbClr val="313131"/>
                          </a:solidFill>
                          <a:latin typeface="NVIDIA Sans"/>
                        </a:rPr>
                        <a:t>12.1 / 48</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sz="2900" b="0" i="0">
                          <a:solidFill>
                            <a:srgbClr val="313131"/>
                          </a:solidFill>
                          <a:latin typeface="NVIDIA Sans"/>
                        </a:rPr>
                        <a:t>128 GB unified
LPDDR5X</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sz="2900" b="0" i="0">
                          <a:solidFill>
                            <a:srgbClr val="313131"/>
                          </a:solidFill>
                          <a:latin typeface="NVIDIA Sans"/>
                        </a:rPr>
                        <a:t>140 W SoC
240 W system</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wrap="square"/>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sz="2900" b="0" i="0">
                          <a:solidFill>
                            <a:srgbClr val="0074DF"/>
                          </a:solidFill>
                          <a:latin typeface="NVIDIA Sans"/>
                        </a:rPr>
                        <a:t>NVLink-C2C in SoC
200 Gb/s ConnectX-7</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bl>
          </a:graphicData>
        </a:graphic>
      </p:graphicFrame>
      <p:sp>
        <p:nvSpPr>
          <p:cNvPr id="11" name="Title">
            <a:extLst>
              <a:ext uri="{FF2B5EF4-FFF2-40B4-BE49-F238E27FC236}">
                <a16:creationId xmlns:a16="http://schemas.microsoft.com/office/drawing/2014/main" id="{D5DB519C-86ED-8BA9-9938-EE1F80AA1983}"/>
              </a:ext>
            </a:extLst>
          </p:cNvPr>
          <p:cNvSpPr>
            <a:spLocks noGrp="1"/>
          </p:cNvSpPr>
          <p:nvPr>
            <p:ph type="title"/>
          </p:nvPr>
        </p:nvSpPr>
        <p:spPr>
          <a:xfrm>
            <a:off x="1828800" y="914400"/>
            <a:ext cx="32918400" cy="2468880"/>
          </a:xfrm>
        </p:spPr>
        <p:txBody>
          <a:bodyPr wrap="square" anchor="ctr"/>
          <a:lstStyle/>
          <a:p>
            <a:pPr algn="l">
              <a:spcBef>
                <a:spcPts val="0"/>
              </a:spcBef>
              <a:spcAft>
                <a:spcPts val="0"/>
              </a:spcAft>
              <a:buNone/>
            </a:pPr>
            <a:r>
              <a:rPr sz="7800" b="1" i="0">
                <a:solidFill>
                  <a:srgbClr val="000000"/>
                </a:solidFill>
                <a:latin typeface="NVIDIA Sans Medium"/>
              </a:rPr>
              <a:t>Frontier Models · The Cards</a:t>
            </a:r>
          </a:p>
        </p:txBody>
      </p:sp>
      <p:sp>
        <p:nvSpPr>
          <p:cNvPr id="2" name="Footer Placeholder 1">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wrap="square" anchor="ctr"/>
          <a:lstStyle/>
          <a:p>
            <a:pPr algn="ctr">
              <a:lnSpc>
                <a:spcPct val="90000"/>
              </a:lnSpc>
              <a:spcBef>
                <a:spcPts val="0"/>
              </a:spcBef>
              <a:spcAft>
                <a:spcPts val="0"/>
              </a:spcAft>
              <a:buNone/>
            </a:pPr>
            <a:r>
              <a:rPr sz="2000" b="0" i="0">
                <a:solidFill>
                  <a:srgbClr val="757575"/>
                </a:solidFill>
                <a:latin typeface="NVIDIA Sans"/>
              </a:rPr>
              <a:t>Sources: NVIDIA product specifications · CUDA GPU Compute Capability · local system inventory and controlled clock study</a:t>
            </a:r>
            <a:endParaRPr lang="en-US" dirty="0"/>
          </a:p>
        </p:txBody>
      </p:sp>
      <p:sp>
        <p:nvSpPr>
          <p:cNvPr id="22" name="TextBox 21"/>
          <p:cNvSpPr txBox="1"/>
          <p:nvPr/>
        </p:nvSpPr>
        <p:spPr>
          <a:xfrm>
            <a:off x="1828800" y="3383280"/>
            <a:ext cx="32918400" cy="914400"/>
          </a:xfrm>
          <a:prstGeom prst="rect">
            <a:avLst/>
          </a:prstGeom>
          <a:noFill/>
        </p:spPr>
        <p:txBody>
          <a:bodyPr wrap="square" anchor="ctr" lIns="0" rIns="0" tIns="0" bIns="0">
            <a:spAutoFit/>
          </a:bodyPr>
          <a:lstStyle/>
          <a:p>
            <a:pPr algn="l">
              <a:spcBef>
                <a:spcPts val="0"/>
              </a:spcBef>
              <a:spcAft>
                <a:spcPts val="0"/>
              </a:spcAft>
              <a:buNone/>
            </a:pPr>
            <a:r>
              <a:rPr sz="3600" b="0" i="0">
                <a:solidFill>
                  <a:srgbClr val="757575"/>
                </a:solidFill>
                <a:latin typeface="NVIDIA Sans"/>
              </a:rPr>
              <a:t>One Blackwell architecture (CC 12.0/12.1) spans several very different deployment envelopes</a:t>
            </a:r>
          </a:p>
        </p:txBody>
      </p:sp>
      <p:sp>
        <p:nvSpPr>
          <p:cNvPr id="23" name="TextBox 22"/>
          <p:cNvSpPr txBox="1"/>
          <p:nvPr/>
        </p:nvSpPr>
        <p:spPr>
          <a:xfrm>
            <a:off x="914400" y="19431000"/>
            <a:ext cx="640080" cy="365760"/>
          </a:xfrm>
          <a:prstGeom prst="rect">
            <a:avLst/>
          </a:prstGeom>
          <a:noFill/>
        </p:spPr>
        <p:txBody>
          <a:bodyPr wrap="square" anchor="ctr">
            <a:spAutoFit/>
          </a:bodyPr>
          <a:lstStyle/>
          <a:p>
            <a:pPr algn="l">
              <a:spcBef>
                <a:spcPts val="0"/>
              </a:spcBef>
              <a:spcAft>
                <a:spcPts val="0"/>
              </a:spcAft>
              <a:buNone/>
            </a:pPr>
            <a:r>
              <a:rPr sz="2000" b="0" i="0">
                <a:solidFill>
                  <a:srgbClr val="757575"/>
                </a:solidFill>
                <a:latin typeface="NVIDIA Sans"/>
              </a:rPr>
              <a:t>4</a:t>
            </a:r>
          </a:p>
        </p:txBody>
      </p:sp>
      <p:sp>
        <p:nvSpPr>
          <p:cNvPr id="24" name="TextBox 23"/>
          <p:cNvSpPr txBox="1"/>
          <p:nvPr/>
        </p:nvSpPr>
        <p:spPr>
          <a:xfrm>
            <a:off x="4151376" y="17117568"/>
            <a:ext cx="28273248" cy="475488"/>
          </a:xfrm>
          <a:prstGeom prst="rect">
            <a:avLst/>
          </a:prstGeom>
          <a:noFill/>
        </p:spPr>
        <p:txBody>
          <a:bodyPr wrap="square" anchor="t" lIns="0" rIns="0" tIns="0" bIns="0">
            <a:spAutoFit/>
          </a:bodyPr>
          <a:lstStyle/>
          <a:p>
            <a:pPr algn="l">
              <a:spcBef>
                <a:spcPts val="0"/>
              </a:spcBef>
              <a:spcAft>
                <a:spcPts val="0"/>
              </a:spcAft>
              <a:buNone/>
            </a:pPr>
            <a:r>
              <a:rPr sz="2800" b="1" i="0">
                <a:solidFill>
                  <a:srgbClr val="757575"/>
                </a:solidFill>
                <a:latin typeface="NVIDIA Sans Medium"/>
              </a:rPr>
              <a:t>SHARED BY DISCRETE CARDS · BLACKWELL FP4 · GDDR7 · PCIe GEN5 · NO GPU-TO-GPU NVLINK</a:t>
            </a:r>
          </a:p>
        </p:txBody>
      </p:sp>
      <p:sp>
        <p:nvSpPr>
          <p:cNvPr id="25" name="TextBox 24"/>
          <p:cNvSpPr txBox="1"/>
          <p:nvPr/>
        </p:nvSpPr>
        <p:spPr>
          <a:xfrm>
            <a:off x="4151376" y="17629632"/>
            <a:ext cx="28273248" cy="1005840"/>
          </a:xfrm>
          <a:prstGeom prst="rect">
            <a:avLst/>
          </a:prstGeom>
          <a:noFill/>
        </p:spPr>
        <p:txBody>
          <a:bodyPr wrap="square" anchor="t" lIns="0" rIns="0" tIns="0" bIns="0">
            <a:spAutoFit/>
          </a:bodyPr>
          <a:lstStyle/>
          <a:p>
            <a:pPr algn="l">
              <a:spcBef>
                <a:spcPts val="0"/>
              </a:spcBef>
              <a:spcAft>
                <a:spcPts val="0"/>
              </a:spcAft>
              <a:buNone/>
            </a:pPr>
            <a:r>
              <a:rPr sz="2500" b="1" i="0">
                <a:solidFill>
                  <a:srgbClr val="313131"/>
                </a:solidFill>
                <a:latin typeface="NVIDIA Sans Medium"/>
              </a:rPr>
              <a:t>Watch sustained clocks, not peak TOPS: controlled tensor-heavy tests reported SwPowerCap in 94.8–100% of valid samples; one rank stayed at 1.942 GHz and ran the same fine-attention input 6.78% slower. A 600 W-class design offers more headroom, but still requires a matched chassis A/B.</a:t>
            </a:r>
          </a:p>
        </p:txBody>
      </p:sp>
      <p:sp>
        <p:nvSpPr>
          <p:cNvPr id="26" name="TextBox 25"/>
          <p:cNvSpPr txBox="1"/>
          <p:nvPr/>
        </p:nvSpPr>
        <p:spPr>
          <a:xfrm>
            <a:off x="4151376" y="18726912"/>
            <a:ext cx="28273248" cy="384048"/>
          </a:xfrm>
          <a:prstGeom prst="rect">
            <a:avLst/>
          </a:prstGeom>
          <a:noFill/>
        </p:spPr>
        <p:txBody>
          <a:bodyPr wrap="square" anchor="t" lIns="0" rIns="0" tIns="0" bIns="0">
            <a:spAutoFit/>
          </a:bodyPr>
          <a:lstStyle/>
          <a:p>
            <a:pPr algn="l">
              <a:spcBef>
                <a:spcPts val="0"/>
              </a:spcBef>
              <a:spcAft>
                <a:spcPts val="0"/>
              </a:spcAft>
              <a:buNone/>
            </a:pPr>
            <a:r>
              <a:rPr sz="2100" b="0" i="0">
                <a:solidFill>
                  <a:srgbClr val="757575"/>
                </a:solidFill>
                <a:latin typeface="NVIDIA Sans"/>
              </a:rPr>
              <a:t>*350 W is the local configured/enforced limit; NVIDIA publicly specifies 300 W TBP for RTX PRO 5000.</a:t>
            </a:r>
          </a:p>
        </p:txBody>
      </p:sp>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Inference on 8 NVIDIA RTX PRO GPUs</dc:title>
  <dc:subject>Public technical brief on distributed video inference</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