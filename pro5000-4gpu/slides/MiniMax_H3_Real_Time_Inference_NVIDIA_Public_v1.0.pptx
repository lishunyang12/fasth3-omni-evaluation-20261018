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4.xml" ContentType="application/vnd.openxmlformats-officedocument.drawingml.chart+xml"/>
  <Override PartName="/ppt/charts/colors4.xml" ContentType="application/vnd.ms-office.chartcolorstyle+xml"/>
  <Override PartName="/ppt/charts/style4.xml" ContentType="application/vnd.ms-office.chartstyl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40" r:id="rId82"/>
    <p:sldId id="341" r:id="rId83"/>
    <p:sldId id="342" r:id="rId84"/>
    <p:sldId id="343" r:id="rId85"/>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82" Type="http://schemas.openxmlformats.org/officeDocument/2006/relationships/slide" Target="slides/slide59.xml"/><Relationship Id="rId83" Type="http://schemas.openxmlformats.org/officeDocument/2006/relationships/slide" Target="slides/slide60.xml"/><Relationship Id="rId84" Type="http://schemas.openxmlformats.org/officeDocument/2006/relationships/slide" Target="slides/slide61.xml"/><Relationship Id="rId85" Type="http://schemas.openxmlformats.org/officeDocument/2006/relationships/slide" Target="slides/slide62.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___3.xlsx"/></Relationships>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5"/>
          <c:y val="0.055"/>
          <c:w val="0.750"/>
          <c:h val="0.835"/>
        </c:manualLayout>
      </c:layout>
      <c:barChart>
        <c:barDir val="bar"/>
        <c:grouping val="clustered"/>
        <c:varyColors val="0"/>
        <c:ser>
          <c:idx val="0"/>
          <c:order val="0"/>
          <c:tx>
            <c:strRef>
              <c:f>Sheet1!$B$1</c:f>
              <c:strCache>
                <c:ptCount val="1"/>
                <c:pt idx="0">
                  <c:v>Full parameters (B)</c:v>
                </c:pt>
              </c:strCache>
            </c:strRef>
          </c:tx>
          <c:spPr>
            <a:solidFill>
              <a:schemeClr val="accent6"/>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9282-4C7D-93A0-078375DDFF91}"/>
              </c:ext>
            </c:extLst>
          </c:dPt>
          <c:dPt>
            <c:idx val="1"/>
            <c:invertIfNegative val="0"/>
            <c:bubble3D val="0"/>
            <c:spPr>
              <a:solidFill>
                <a:schemeClr val="accent6"/>
              </a:solidFill>
              <a:ln>
                <a:noFill/>
              </a:ln>
              <a:effectLst/>
            </c:spPr>
            <c:extLst>
              <c:ext xmlns:c16="http://schemas.microsoft.com/office/drawing/2014/chart" uri="{C3380CC4-5D6E-409C-BE32-E72D297353CC}">
                <c16:uniqueId val="{00000003-9282-4C7D-93A0-078375DDFF91}"/>
              </c:ext>
            </c:extLst>
          </c:dPt>
          <c:dPt>
            <c:idx val="2"/>
            <c:invertIfNegative val="0"/>
            <c:bubble3D val="0"/>
            <c:spPr>
              <a:solidFill>
                <a:schemeClr val="accent6"/>
              </a:solidFill>
              <a:ln>
                <a:noFill/>
              </a:ln>
              <a:effectLst/>
            </c:spPr>
            <c:extLst>
              <c:ext xmlns:c16="http://schemas.microsoft.com/office/drawing/2014/chart" uri="{C3380CC4-5D6E-409C-BE32-E72D297353CC}">
                <c16:uniqueId val="{00000005-9282-4C7D-93A0-078375DDFF91}"/>
              </c:ext>
            </c:extLst>
          </c:dPt>
          <c:dLbls>
            <c:delete val="1"/>
          </c:dLbls>
          <c:cat>
            <c:strRef>
              <c:f>Sheet1!$A$2:$A$5</c:f>
              <c:strCache>
                <c:ptCount val="4"/>
                <c:pt idx="0">
                  <c:v>MiniMax H3</c:v>
                </c:pt>
                <c:pt idx="1">
                  <c:v>Wan2.2 A14B</c:v>
                </c:pt>
                <c:pt idx="2">
                  <c:v>LTX-2.5</c:v>
                </c:pt>
                <c:pt idx="3">
                  <c:v>HunyuanVideo-1.5</c:v>
                </c:pt>
              </c:strCache>
            </c:strRef>
          </c:cat>
          <c:val>
            <c:numRef>
              <c:f>Sheet1!$B$2:$B$5</c:f>
              <c:numCache>
                <c:formatCode>General</c:formatCode>
                <c:ptCount val="4"/>
                <c:pt idx="0">
                  <c:v>33</c:v>
                </c:pt>
                <c:pt idx="1">
                  <c:v>27</c:v>
                </c:pt>
                <c:pt idx="2">
                  <c:v>22</c:v>
                </c:pt>
                <c:pt idx="3">
                  <c:v>8.3</c:v>
                </c:pt>
              </c:numCache>
            </c:numRef>
          </c:val>
          <c:extLst>
            <c:ext xmlns:c16="http://schemas.microsoft.com/office/drawing/2014/chart" uri="{C3380CC4-5D6E-409C-BE32-E72D297353CC}">
              <c16:uniqueId val="{0000000A-9282-4C7D-93A0-078375DDFF91}"/>
            </c:ext>
          </c:extLst>
        </c:ser>
        <c:dLbls>
          <c:dLblPos val="outEnd"/>
          <c:showLegendKey val="0"/>
          <c:showVal val="1"/>
          <c:showCatName val="0"/>
          <c:showSerName val="0"/>
          <c:showPercent val="0"/>
          <c:showBubbleSize val="0"/>
        </c:dLbls>
        <c:gapWidth val="450"/>
        <c:overlap val="-50"/>
        <c:axId val="488380944"/>
        <c:axId val="488380464"/>
      </c:barChart>
      <c:catAx>
        <c:axId val="488380944"/>
        <c:scaling>
          <c:orientation val="maxMin"/>
        </c:scaling>
        <c:delete val="0"/>
        <c:axPos val="l"/>
        <c:numFmt formatCode="General" sourceLinked="1"/>
        <c:majorTickMark val="none"/>
        <c:minorTickMark val="none"/>
        <c:tickLblPos val="nextTo"/>
        <c:spPr>
          <a:noFill/>
          <a:ln w="38100" cap="flat" cmpd="sng" algn="ctr">
            <a:solidFill>
              <a:schemeClr val="accent6"/>
            </a:solidFill>
            <a:round/>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464"/>
        <c:crosses val="autoZero"/>
        <c:auto val="1"/>
        <c:lblAlgn val="ctr"/>
        <c:lblOffset val="100"/>
        <c:noMultiLvlLbl val="0"/>
      </c:catAx>
      <c:valAx>
        <c:axId val="488380464"/>
        <c:scaling>
          <c:orientation val="minMax"/>
          <c:max val="40.0"/>
          <c:min val="0.0"/>
        </c:scaling>
        <c:delete val="0"/>
        <c:axPos val="b"/>
        <c:majorGridlines>
          <c:spPr>
            <a:ln w="12700" cap="flat" cmpd="sng" algn="ctr">
              <a:solidFill>
                <a:schemeClr val="accent6">
                  <a:alpha val="50000"/>
                </a:schemeClr>
              </a:solidFill>
              <a:round/>
            </a:ln>
            <a:effectLst/>
          </c:spPr>
        </c:majorGridlines>
        <c:numFmt formatCode="General" sourceLinked="1"/>
        <c:majorTickMark val="none"/>
        <c:minorTickMark val="none"/>
        <c:tickLblPos val="nextTo"/>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9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3200"/>
      </a:pPr>
      <a:endParaRPr lang="en-US"/>
    </a:p>
  </c:txPr>
  <c:externalData r:id="rId3">
    <c:autoUpdate val="0"/>
  </c:externalData>
</c:chartSpac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talk examines how an eight-GPU Blackwell workstation serves a long-sequence audiovisual generator in real time.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time is RTF = end-to-end generation latency divided by finished-media duration, with RTF &lt;= 1.0. The example is 362 frames / 24 FPS = 15.08 s. MiniMax H3 uses a 33B dense Omni Transformer with 50 Transformer blocks; the reference workload runs 50 denoising steps. These are distinct dimensions. Wan2.2 A14B is 27B total / 14B active, LTX-2.5 uses its official 22B designation, and HunyuanVideo-1.5 is 8.3B. The comparison excludes text encoders. Open H3-Base targets native 768p; the H3-Regenerate-2K module is not part of the open release and is excluded. The 130 GB figure is the raw BF16 size of the 32B encoder plus 33B generator, before VAE, activations, attention workspace, and CUDA Graph pools. Sources: https://huggingface.co/MiniMaxAI/MiniMax-H3 ; https://github.com/Wan-Video/Wan2.2 ; https://huggingface.co/Lightricks/LTX-2.5 ; https://github.com/Tencent-Hunyuan/HunyuanVideo-1.5</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uses the template's standard 2-up Image 16:9 layout. Both visuals are copied directly from public vLLM-Omni materials: the official architecture figure and the PR #9194 ComfyUI workflow screenshot.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template's native Table Example is reused at its original coordinates with its native table style and typography. NVIDIA publicly specifies 300 W TBP for RTX PRO 5000; the local eight-GPU system reports a 350 W configured/enforced power limit, so both values are labeled rather than conflated. SwPowerCap is the share of valid NVML samples, not exact time under cap. The 600 W-class design offers more headroom but still requires a matched chassis A/B.</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4.xml"/><Relationship Id="rId3" Type="http://schemas.openxmlformats.org/officeDocument/2006/relationships/image" Target="../media/image15.png"/><Relationship Id="rId4" Type="http://schemas.openxmlformats.org/officeDocument/2006/relationships/notesSlide" Target="../notesSlides/notesSlide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Shunyang Li  |  Public Technical Brief  |  October 2026</a:t>
            </a:r>
          </a:p>
        </p:txBody>
      </p:sp>
      <p:sp>
        <p:nvSpPr>
          <p:cNvPr id="3" name="Text Placeholder 2"/>
          <p:cNvSpPr>
            <a:spLocks noGrp="1"/>
          </p:cNvSpPr>
          <p:nvPr>
            <p:ph type="body" idx="11" sz="quarter"/>
          </p:nvPr>
        </p:nvSpPr>
        <p:spPr/>
        <p:txBody>
          <a:bodyPr/>
          <a:lstStyle/>
          <a:p>
            <a:r>
              <a:t>MiniMax H3 with vLLM-Omni</a:t>
            </a:r>
          </a:p>
        </p:txBody>
      </p:sp>
      <p:sp>
        <p:nvSpPr>
          <p:cNvPr id="4" name="Text Placeholder 3"/>
          <p:cNvSpPr>
            <a:spLocks noGrp="1"/>
          </p:cNvSpPr>
          <p:nvPr>
            <p:ph type="body" idx="10" sz="quarter"/>
          </p:nvPr>
        </p:nvSpPr>
        <p:spPr/>
        <p:txBody>
          <a:bodyPr/>
          <a:lstStyle/>
          <a:p>
            <a:r>
              <a:t>Real-Time Video Inference
on 8× NVIDIA RTX PRO 5000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For 362 frames at 24 FPS, real time requires end-to-end latency &lt; 15.1 s (RTF &lt; 1.0)</a:t>
            </a:r>
          </a:p>
        </p:txBody>
      </p:sp>
      <p:sp>
        <p:nvSpPr>
          <p:cNvPr id="3" name="Title 2"/>
          <p:cNvSpPr>
            <a:spLocks noGrp="1"/>
          </p:cNvSpPr>
          <p:nvPr>
            <p:ph type="title"/>
          </p:nvPr>
        </p:nvSpPr>
        <p:spPr/>
        <p:txBody>
          <a:bodyPr/>
          <a:lstStyle/>
          <a:p>
            <a:r>
              <a:t>Real-Time 768p Raises the Systems Bar</a:t>
            </a:r>
          </a:p>
        </p:txBody>
      </p:sp>
      <p:sp>
        <p:nvSpPr>
          <p:cNvPr id="4" name="Text Placeholder 3"/>
          <p:cNvSpPr>
            <a:spLocks noGrp="1"/>
          </p:cNvSpPr>
          <p:nvPr>
            <p:ph type="body" idx="52" sz="quarter"/>
          </p:nvPr>
        </p:nvSpPr>
        <p:spPr/>
        <p:txBody>
          <a:bodyPr/>
          <a:lstStyle/>
          <a:p>
            <a:r>
              <a:t>RTF = latency / media duration. The real-time deadline here is 15.1 s. H3 is the largest dense backbone in this peer set; Wan2.2 = 27B total / 14B active.</a:t>
            </a:r>
          </a:p>
        </p:txBody>
      </p:sp>
      <p:sp>
        <p:nvSpPr>
          <p:cNvPr id="5" name="Text Placeholder 4"/>
          <p:cNvSpPr>
            <a:spLocks noGrp="1"/>
          </p:cNvSpPr>
          <p:nvPr>
            <p:ph type="body" idx="51" sz="quarter"/>
          </p:nvPr>
        </p:nvSpPr>
        <p:spPr/>
        <p:txBody>
          <a:bodyPr/>
          <a:lstStyle/>
          <a:p>
            <a:r>
              <a:t>GENERATIVE BACKBONE · FULL PARAMETERS (B)</a:t>
            </a:r>
          </a:p>
        </p:txBody>
      </p:sp>
      <p:sp>
        <p:nvSpPr>
          <p:cNvPr id="7" name="Text Placeholder 6"/>
          <p:cNvSpPr>
            <a:spLocks noGrp="1"/>
          </p:cNvSpPr>
          <p:nvPr>
            <p:ph type="body" idx="54" sz="quarter"/>
          </p:nvPr>
        </p:nvSpPr>
        <p:spPr/>
        <p:txBody>
          <a:bodyPr/>
          <a:lstStyle/>
          <a:p>
            <a:r>
              <a:t>32B encoder → 33B dense Omni Transformer → Visual/Audio VAE. 50 blocks × 50 denoising steps; full attention. ≈130 GB raw BF16; ~13B AdaLN cacheable.</a:t>
            </a:r>
          </a:p>
        </p:txBody>
      </p:sp>
      <p:sp>
        <p:nvSpPr>
          <p:cNvPr id="8" name="Text Placeholder 7"/>
          <p:cNvSpPr>
            <a:spLocks noGrp="1"/>
          </p:cNvSpPr>
          <p:nvPr>
            <p:ph type="body" idx="55" sz="quarter"/>
          </p:nvPr>
        </p:nvSpPr>
        <p:spPr/>
        <p:txBody>
          <a:bodyPr/>
          <a:lstStyle/>
          <a:p>
            <a:r>
              <a:t>OPEN H3-BASE · NATIVE 768P · 33B DENSE</a:t>
            </a:r>
          </a:p>
        </p:txBody>
      </p:sp>
      <p:pic>
        <p:nvPicPr>
          <p:cNvPr id="9" name="Picture Placeholder 8" descr="minimax-h3-full-arch-official.png"/>
          <p:cNvPicPr>
            <a:picLocks noGrp="1" noChangeAspect="1"/>
          </p:cNvPicPr>
          <p:nvPr>
            <p:ph type="pic" idx="56" sz="quarter"/>
          </p:nvPr>
        </p:nvPicPr>
        <p:blipFill>
          <a:blip r:embed="rId3"/>
          <a:srcRect l="653" r="653"/>
          <a:stretch>
            <a:fillRect/>
          </a:stretch>
        </p:blipFill>
        <p:spPr/>
      </p:pic>
      <p:graphicFrame>
        <p:nvGraphicFramePr>
          <p:cNvPr id="10" name="Official Peer Model Comparison">
            <a:extLst>
              <a:ext uri="{FF2B5EF4-FFF2-40B4-BE49-F238E27FC236}">
                <a16:creationId xmlns:a16="http://schemas.microsoft.com/office/drawing/2014/main" id="{F2889B58-350F-0276-FAA0-10762D276A99}"/>
              </a:ext>
            </a:extLst>
          </p:cNvPr>
          <p:cNvGraphicFramePr>
            <a:graphicFrameLocks noGrp="1"/>
          </p:cNvGraphicFramePr>
          <p:nvPr>
            <p:ph type="chart" sz="quarter" idx="17"/>
          </p:nvPr>
        </p:nvGraphicFramePr>
        <p:xfrm>
          <a:off x="1828799" y="6583679"/>
          <a:ext cx="16114094" cy="9067992"/>
        </p:xfrm>
        <a:graphic>
          <a:graphicData uri="http://schemas.openxmlformats.org/drawingml/2006/chart">
            <c:chart xmlns:c="http://schemas.openxmlformats.org/drawingml/2006/chart" r:id="rId2"/>
          </a:graphicData>
        </a:graphic>
      </p:graphicFrame>
      <p:sp>
        <p:nvSpPr>
          <p:cNvPr id="11"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MiniMax H3, Wan2.2, LTX-2.5 and HunyuanVideo-1.5 official releases · author 362-frame workload</a:t>
            </a:r>
            <a:endParaRPr lang="en-US" dirty="0"/>
          </a:p>
        </p:txBody>
      </p:sp>
      <p:sp>
        <p:nvSpPr>
          <p:cNvPr id="12"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2</a:t>
            </a:fld>
            <a:endParaRPr lang="en-US"/>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ComfyUI authors workflows; vLLM-Omni serves them across multiple GPUs</a:t>
            </a:r>
          </a:p>
        </p:txBody>
      </p:sp>
      <p:sp>
        <p:nvSpPr>
          <p:cNvPr id="3" name="Title 2"/>
          <p:cNvSpPr>
            <a:spLocks noGrp="1"/>
          </p:cNvSpPr>
          <p:nvPr>
            <p:ph type="title"/>
          </p:nvPr>
        </p:nvSpPr>
        <p:spPr/>
        <p:txBody>
          <a:bodyPr/>
          <a:lstStyle/>
          <a:p>
            <a:r>
              <a:t>vLLM-Omni Adds Multi-GPU Serving to ComfyUI</a:t>
            </a:r>
          </a:p>
        </p:txBody>
      </p:sp>
      <p:sp>
        <p:nvSpPr>
          <p:cNvPr id="4" name="Text Placeholder 3"/>
          <p:cNvSpPr>
            <a:spLocks noGrp="1"/>
          </p:cNvSpPr>
          <p:nvPr>
            <p:ph type="body" idx="52" sz="quarter"/>
          </p:nvPr>
        </p:nvSpPr>
        <p:spPr/>
        <p:txBody>
          <a:bodyPr/>
          <a:lstStyle/>
          <a:p>
            <a:r>
              <a:t>One serving layer spans multimodal inputs, autoregressive reasoning, and diffusion generation</a:t>
            </a:r>
          </a:p>
        </p:txBody>
      </p:sp>
      <p:sp>
        <p:nvSpPr>
          <p:cNvPr id="5" name="Text Placeholder 4"/>
          <p:cNvSpPr>
            <a:spLocks noGrp="1"/>
          </p:cNvSpPr>
          <p:nvPr>
            <p:ph type="body" idx="51" sz="quarter"/>
          </p:nvPr>
        </p:nvSpPr>
        <p:spPr/>
        <p:txBody>
          <a:bodyPr/>
          <a:lstStyle/>
          <a:p>
            <a:r>
              <a:t>Official vLLM-Omni Architecture</a:t>
            </a:r>
          </a:p>
        </p:txBody>
      </p:sp>
      <p:pic>
        <p:nvPicPr>
          <p:cNvPr id="6" name="Picture Placeholder 5" descr="vllm-omni-architecture-official-16x9.png"/>
          <p:cNvPicPr>
            <a:picLocks noGrp="1" noChangeAspect="1"/>
          </p:cNvPicPr>
          <p:nvPr>
            <p:ph type="pic" idx="53" sz="quarter"/>
          </p:nvPr>
        </p:nvPicPr>
        <p:blipFill>
          <a:blip r:embed="rId3"/>
          <a:srcRect l="37" r="37"/>
          <a:stretch>
            <a:fillRect/>
          </a:stretch>
        </p:blipFill>
        <p:spPr/>
      </p:pic>
      <p:sp>
        <p:nvSpPr>
          <p:cNvPr id="7" name="Text Placeholder 6"/>
          <p:cNvSpPr>
            <a:spLocks noGrp="1"/>
          </p:cNvSpPr>
          <p:nvPr>
            <p:ph type="body" idx="54" sz="quarter"/>
          </p:nvPr>
        </p:nvSpPr>
        <p:spPr/>
        <p:txBody>
          <a:bodyPr/>
          <a:lstStyle/>
          <a:p>
            <a:r>
              <a:t>MiniMax H3 character replacement calls the vLLM-Omni Generate Video endpoint; PR #9194 is open</a:t>
            </a:r>
          </a:p>
        </p:txBody>
      </p:sp>
      <p:sp>
        <p:nvSpPr>
          <p:cNvPr id="8" name="Text Placeholder 7"/>
          <p:cNvSpPr>
            <a:spLocks noGrp="1"/>
          </p:cNvSpPr>
          <p:nvPr>
            <p:ph type="body" idx="55" sz="quarter"/>
          </p:nvPr>
        </p:nvSpPr>
        <p:spPr/>
        <p:txBody>
          <a:bodyPr/>
          <a:lstStyle/>
          <a:p>
            <a:r>
              <a:t>ComfyUI Workflow · PR #9194</a:t>
            </a:r>
          </a:p>
        </p:txBody>
      </p:sp>
      <p:pic>
        <p:nvPicPr>
          <p:cNvPr id="9" name="Picture Placeholder 8" descr="pr9194_comfyui_single_character_workflow-16x9.png"/>
          <p:cNvPicPr>
            <a:picLocks noGrp="1" noChangeAspect="1"/>
          </p:cNvPicPr>
          <p:nvPr>
            <p:ph type="pic" idx="56" sz="quarter"/>
          </p:nvPr>
        </p:nvPicPr>
        <p:blipFill>
          <a:blip r:embed="rId4"/>
          <a:srcRect l="28" r="28"/>
          <a:stretch>
            <a:fillRect/>
          </a:stretch>
        </p:blipFill>
        <p:spPr/>
      </p:pic>
      <p:sp>
        <p:nvSpPr>
          <p:cNvPr id="10"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vLLM-Omni v0.26 public deck, slide 22 · vLLM-Omni PR #9194 (open)</a:t>
            </a:r>
            <a:endParaRPr lang="en-US" dirty="0"/>
          </a:p>
        </p:txBody>
      </p:sp>
      <p:sp>
        <p:nvSpPr>
          <p:cNvPr id="11"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3</a:t>
            </a:fld>
            <a:endParaRPr lang="en-US"/>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SM120 compute is strong; PCIe-only scaling and sustained clocks set the eight-GPU envelope</a:t>
            </a:r>
          </a:p>
        </p:txBody>
      </p:sp>
      <p:sp>
        <p:nvSpPr>
          <p:cNvPr id="3" name="Title 2"/>
          <p:cNvSpPr>
            <a:spLocks noGrp="1"/>
          </p:cNvSpPr>
          <p:nvPr>
            <p:ph type="title"/>
          </p:nvPr>
        </p:nvSpPr>
        <p:spPr/>
        <p:txBody>
          <a:bodyPr/>
          <a:lstStyle/>
          <a:p>
            <a:r>
              <a:t>Frontier Models · The Cards</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4</a:t>
            </a:fld>
            <a:endParaRPr lang="en-US"/>
          </a:p>
        </p:txBody>
      </p:sp>
      <p:graphicFrame>
        <p:nvGraphicFramePr>
          <p:cNvPr id="5" name="Official NVIDIA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275" cy="10799064"/>
        </p:xfrm>
        <a:graphic>
          <a:graphicData uri="http://schemas.openxmlformats.org/drawingml/2006/table">
            <a:tbl>
              <a:tblPr firstRow="1" bandRow="1">
                <a:tableStyleId>{68D230F3-CF80-4859-8CE7-A43EE81993B5}</a:tableStyleId>
              </a:tblPr>
              <a:tblGrid>
                <a:gridCol w="5654055">
                  <a:extLst>
                    <a:ext uri="{9D8B030D-6E8A-4147-A177-3AD203B41FA5}">
                      <a16:colId xmlns:a16="http://schemas.microsoft.com/office/drawing/2014/main" val="1714626306"/>
                    </a:ext>
                  </a:extLst>
                </a:gridCol>
                <a:gridCol w="5654055">
                  <a:extLst>
                    <a:ext uri="{9D8B030D-6E8A-4147-A177-3AD203B41FA5}">
                      <a16:colId xmlns:a16="http://schemas.microsoft.com/office/drawing/2014/main" val="1697748500"/>
                    </a:ext>
                  </a:extLst>
                </a:gridCol>
                <a:gridCol w="5654055">
                  <a:extLst>
                    <a:ext uri="{9D8B030D-6E8A-4147-A177-3AD203B41FA5}">
                      <a16:colId xmlns:a16="http://schemas.microsoft.com/office/drawing/2014/main" val="3872581152"/>
                    </a:ext>
                  </a:extLst>
                </a:gridCol>
                <a:gridCol w="5654055">
                  <a:extLst>
                    <a:ext uri="{9D8B030D-6E8A-4147-A177-3AD203B41FA5}">
                      <a16:colId xmlns:a16="http://schemas.microsoft.com/office/drawing/2014/main" val="2543914041"/>
                    </a:ext>
                  </a:extLst>
                </a:gridCol>
                <a:gridCol w="5654055">
                  <a:extLst>
                    <a:ext uri="{9D8B030D-6E8A-4147-A177-3AD203B41FA5}">
                      <a16:colId xmlns:a16="http://schemas.microsoft.com/office/drawing/2014/main" val="2421839051"/>
                    </a:ext>
                  </a:extLst>
                </a:gridCol>
              </a:tblGrid>
              <a:tr h="1161288">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SKU</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CC / SMs</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Memory</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Power</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Interconnect</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5000
Blackwell</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12.0
110 SMs</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72 GB GDDR7 ECC
48 GB variant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300 W public TBP
350 W local*</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GPU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6000
WS / Server</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12.0
188 SMs</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96 GB GDDR7 ECC</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600 W</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GPU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GeForce RTX 5090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12.0
170 SMs</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32 GB GDDR7</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575 W</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DGX Spark · GB10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12.1
48 SMs</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128 GB unified
LPDDR5X</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140 W SoC
240 W system</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NVLink-C2C in SoC
200 Gb/s ConnectX-7</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Sources: NVIDIA specs + CUDA GPU table · local clock study: SwPowerCap 94.8–100%; −6.78%</a:t>
            </a:r>
            <a:endParaRPr lang="en-US" dirty="0"/>
          </a:p>
        </p:txBody>
      </p:sp>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MiniMax H3 Inference on 8 NVIDIA RTX PRO GPUs</dc:title>
  <dc:subject>Public technical brief on distributed video inference</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