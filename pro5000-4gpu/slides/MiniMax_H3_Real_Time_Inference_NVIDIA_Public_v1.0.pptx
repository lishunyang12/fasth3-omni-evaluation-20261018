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1" r:id="rId83"/>
    <p:sldId id="342" r:id="rId84"/>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59.xml"/><Relationship Id="rId83" Type="http://schemas.openxmlformats.org/officeDocument/2006/relationships/slide" Target="slides/slide60.xml"/><Relationship Id="rId84" Type="http://schemas.openxmlformats.org/officeDocument/2006/relationships/slide" Target="slides/slide6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talk examines how an eight-GPU Blackwell workstation serves a long-sequence audiovisual generator in real time.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vLLM-Omni extends the vLLM serving model along three axes: omni-modality inputs, execution loops beyond autoregression, and heterogeneous outputs. MiniMax H3 maps to Text Encoder, DiT, and VAE Decoder stages.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sm_120 denotes CUDA compute capability 12.0, not the number of SMs. The board has 110 SMs, derived from 14,080 CUDA cores divided by 128 FP32 cores per CC 12.0 SM. Communication intensity is classified by tensor ownership changes, remote bytes, and synchronization frequency.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nchor="t"/>
          <a:lstStyle/>
          <a:p>
            <a:pPr algn="l">
              <a:spcBef>
                <a:spcPts val="0"/>
              </a:spcBef>
              <a:spcAft>
                <a:spcPts val="0"/>
              </a:spcAft>
              <a:buNone/>
            </a:pPr>
            <a:r>
              <a:rPr sz="4000" b="0" i="0">
                <a:solidFill>
                  <a:srgbClr val="757575"/>
                </a:solidFill>
                <a:latin typeface="NVIDIA Sans"/>
              </a:rPr>
              <a:t>Shunyang Li  |  Public Technical Brief  |  October 2026</a:t>
            </a:r>
          </a:p>
        </p:txBody>
      </p:sp>
      <p:sp>
        <p:nvSpPr>
          <p:cNvPr id="3" name="Text Placeholder 2"/>
          <p:cNvSpPr>
            <a:spLocks noGrp="1"/>
          </p:cNvSpPr>
          <p:nvPr>
            <p:ph type="body" idx="11" sz="quarter"/>
          </p:nvPr>
        </p:nvSpPr>
        <p:spPr/>
        <p:txBody>
          <a:bodyPr wrap="square" anchor="t"/>
          <a:lstStyle/>
          <a:p>
            <a:pPr algn="l">
              <a:spcBef>
                <a:spcPts val="0"/>
              </a:spcBef>
              <a:spcAft>
                <a:spcPts val="0"/>
              </a:spcAft>
              <a:buNone/>
            </a:pPr>
            <a:r>
              <a:rPr sz="4800" b="0" i="0">
                <a:solidFill>
                  <a:srgbClr val="313131"/>
                </a:solidFill>
                <a:latin typeface="NVIDIA Sans"/>
              </a:rPr>
              <a:t>MiniMax H3 with vLLM-Omni</a:t>
            </a:r>
          </a:p>
        </p:txBody>
      </p:sp>
      <p:sp>
        <p:nvSpPr>
          <p:cNvPr id="4" name="Text Placeholder 3"/>
          <p:cNvSpPr>
            <a:spLocks noGrp="1"/>
          </p:cNvSpPr>
          <p:nvPr>
            <p:ph type="body" idx="10" sz="quarter"/>
          </p:nvPr>
        </p:nvSpPr>
        <p:spPr/>
        <p:txBody>
          <a:bodyPr wrap="square" anchor="ctr"/>
          <a:lstStyle/>
          <a:p>
            <a:pPr algn="l">
              <a:spcBef>
                <a:spcPts val="0"/>
              </a:spcBef>
              <a:spcAft>
                <a:spcPts val="0"/>
              </a:spcAft>
              <a:buNone/>
            </a:pPr>
            <a:r>
              <a:rPr sz="9200" b="1" i="0">
                <a:solidFill>
                  <a:srgbClr val="000000"/>
                </a:solidFill>
                <a:latin typeface="NVIDIA Sans Medium"/>
              </a:rPr>
              <a:t>Real-Time Video</a:t>
            </a:r>
          </a:p>
          <a:p>
            <a:pPr algn="l">
              <a:spcBef>
                <a:spcPts val="0"/>
              </a:spcBef>
              <a:spcAft>
                <a:spcPts val="0"/>
              </a:spcAft>
              <a:buNone/>
            </a:pPr>
            <a:r>
              <a:rPr sz="9200" b="1" i="0">
                <a:solidFill>
                  <a:srgbClr val="000000"/>
                </a:solidFill>
                <a:latin typeface="NVIDIA Sans Medium"/>
              </a:rPr>
              <a:t>Inference on 8×</a:t>
            </a:r>
          </a:p>
          <a:p>
            <a:pPr algn="l">
              <a:spcBef>
                <a:spcPts val="0"/>
              </a:spcBef>
              <a:spcAft>
                <a:spcPts val="0"/>
              </a:spcAft>
              <a:buNone/>
            </a:pPr>
            <a:r>
              <a:rPr sz="9200" b="1" i="0">
                <a:solidFill>
                  <a:srgbClr val="000000"/>
                </a:solidFill>
                <a:latin typeface="NVIDIA Sans Medium"/>
              </a:rPr>
              <a:t>NVIDIA RTX PRO 5000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nchor="ctr"/>
          <a:lstStyle/>
          <a:p>
            <a:pPr algn="l">
              <a:spcBef>
                <a:spcPts val="0"/>
              </a:spcBef>
              <a:spcAft>
                <a:spcPts val="0"/>
              </a:spcAft>
              <a:buNone/>
            </a:pPr>
            <a:r>
              <a:rPr sz="4800" b="0" i="0">
                <a:solidFill>
                  <a:srgbClr val="757575"/>
                </a:solidFill>
                <a:latin typeface="NVIDIA Sans"/>
              </a:rPr>
              <a:t>One serving layer spans omni-modality inputs, multiple execution loops, and heterogeneous outputs</a:t>
            </a:r>
          </a:p>
        </p:txBody>
      </p:sp>
      <p:sp>
        <p:nvSpPr>
          <p:cNvPr id="3" name="Title 2"/>
          <p:cNvSpPr>
            <a:spLocks noGrp="1"/>
          </p:cNvSpPr>
          <p:nvPr>
            <p:ph type="title"/>
          </p:nvPr>
        </p:nvSpPr>
        <p:spPr/>
        <p:txBody>
          <a:bodyPr wrap="square" anchor="ctr"/>
          <a:lstStyle/>
          <a:p>
            <a:pPr algn="l">
              <a:spcBef>
                <a:spcPts val="0"/>
              </a:spcBef>
              <a:spcAft>
                <a:spcPts val="0"/>
              </a:spcAft>
              <a:buNone/>
            </a:pPr>
            <a:r>
              <a:rPr sz="8800" b="1" i="0">
                <a:solidFill>
                  <a:srgbClr val="000000"/>
                </a:solidFill>
                <a:latin typeface="NVIDIA Sans Medium"/>
              </a:rPr>
              <a:t>vLLM-Omni Extends vLLM Beyond Autoregression</a:t>
            </a:r>
          </a:p>
        </p:txBody>
      </p:sp>
      <p:sp>
        <p:nvSpPr>
          <p:cNvPr id="4" name="TextBox 3"/>
          <p:cNvSpPr txBox="1"/>
          <p:nvPr/>
        </p:nvSpPr>
        <p:spPr>
          <a:xfrm>
            <a:off x="7543800" y="19431000"/>
            <a:ext cx="21488400" cy="365760"/>
          </a:xfrm>
          <a:prstGeom prst="rect">
            <a:avLst/>
          </a:prstGeom>
          <a:noFill/>
        </p:spPr>
        <p:txBody>
          <a:bodyPr wrap="square" anchor="ctr">
            <a:spAutoFit/>
          </a:bodyPr>
          <a:lstStyle/>
          <a:p>
            <a:pPr algn="ctr">
              <a:spcBef>
                <a:spcPts val="0"/>
              </a:spcBef>
              <a:spcAft>
                <a:spcPts val="0"/>
              </a:spcAft>
              <a:buNone/>
            </a:pPr>
            <a:r>
              <a:rPr sz="2000" b="0" i="0">
                <a:solidFill>
                  <a:srgbClr val="757575"/>
                </a:solidFill>
                <a:latin typeface="NVIDIA Sans"/>
              </a:rPr>
              <a:t>Source: vLLM-Omni v0.26 public deck, slides 4 and 22–24 · architecture overview · arXiv:2602.02204</a:t>
            </a:r>
          </a:p>
        </p:txBody>
      </p:sp>
      <p:sp>
        <p:nvSpPr>
          <p:cNvPr id="5" name="TextBox 4"/>
          <p:cNvSpPr txBox="1"/>
          <p:nvPr/>
        </p:nvSpPr>
        <p:spPr>
          <a:xfrm>
            <a:off x="914400" y="19431000"/>
            <a:ext cx="640080" cy="365760"/>
          </a:xfrm>
          <a:prstGeom prst="rect">
            <a:avLst/>
          </a:prstGeom>
          <a:noFill/>
        </p:spPr>
        <p:txBody>
          <a:bodyPr wrap="square" anchor="ctr">
            <a:spAutoFit/>
          </a:bodyPr>
          <a:lstStyle/>
          <a:p>
            <a:pPr algn="l">
              <a:spcBef>
                <a:spcPts val="0"/>
              </a:spcBef>
              <a:spcAft>
                <a:spcPts val="0"/>
              </a:spcAft>
              <a:buNone/>
            </a:pPr>
            <a:r>
              <a:rPr sz="2000" b="0" i="0">
                <a:solidFill>
                  <a:srgbClr val="757575"/>
                </a:solidFill>
                <a:latin typeface="NVIDIA Sans"/>
              </a:rPr>
              <a:t>2</a:t>
            </a:r>
          </a:p>
        </p:txBody>
      </p:sp>
      <p:sp>
        <p:nvSpPr>
          <p:cNvPr id="6" name="TextBox 5"/>
          <p:cNvSpPr txBox="1"/>
          <p:nvPr/>
        </p:nvSpPr>
        <p:spPr>
          <a:xfrm>
            <a:off x="2057400" y="5074920"/>
            <a:ext cx="9875520" cy="475488"/>
          </a:xfrm>
          <a:prstGeom prst="rect">
            <a:avLst/>
          </a:prstGeom>
          <a:noFill/>
        </p:spPr>
        <p:txBody>
          <a:bodyPr wrap="square" anchor="t" lIns="0" rIns="0" tIns="0" bIns="0">
            <a:spAutoFit/>
          </a:bodyPr>
          <a:lstStyle/>
          <a:p>
            <a:pPr algn="l">
              <a:spcBef>
                <a:spcPts val="0"/>
              </a:spcBef>
              <a:spcAft>
                <a:spcPts val="0"/>
              </a:spcAft>
              <a:buNone/>
            </a:pPr>
            <a:r>
              <a:rPr sz="2800" b="1" i="0">
                <a:solidFill>
                  <a:srgbClr val="757575"/>
                </a:solidFill>
                <a:latin typeface="NVIDIA Sans Medium"/>
              </a:rPr>
              <a:t>WHAT vLLM-OMNI ADDS</a:t>
            </a:r>
          </a:p>
        </p:txBody>
      </p:sp>
      <p:sp>
        <p:nvSpPr>
          <p:cNvPr id="7" name="TextBox 6"/>
          <p:cNvSpPr txBox="1"/>
          <p:nvPr/>
        </p:nvSpPr>
        <p:spPr>
          <a:xfrm>
            <a:off x="2057400" y="5989320"/>
            <a:ext cx="1051560" cy="502920"/>
          </a:xfrm>
          <a:prstGeom prst="rect">
            <a:avLst/>
          </a:prstGeom>
          <a:noFill/>
        </p:spPr>
        <p:txBody>
          <a:bodyPr wrap="square" anchor="t" lIns="0" rIns="0" tIns="0" bIns="0">
            <a:spAutoFit/>
          </a:bodyPr>
          <a:lstStyle/>
          <a:p>
            <a:pPr algn="l">
              <a:spcBef>
                <a:spcPts val="0"/>
              </a:spcBef>
              <a:spcAft>
                <a:spcPts val="0"/>
              </a:spcAft>
              <a:buNone/>
            </a:pPr>
            <a:r>
              <a:rPr sz="3100" b="1" i="0">
                <a:solidFill>
                  <a:srgbClr val="1DBBA4"/>
                </a:solidFill>
                <a:latin typeface="NVIDIA Sans Medium"/>
              </a:rPr>
              <a:t>01</a:t>
            </a:r>
          </a:p>
        </p:txBody>
      </p:sp>
      <p:sp>
        <p:nvSpPr>
          <p:cNvPr id="8" name="TextBox 7"/>
          <p:cNvSpPr txBox="1"/>
          <p:nvPr/>
        </p:nvSpPr>
        <p:spPr>
          <a:xfrm>
            <a:off x="3337560" y="5971032"/>
            <a:ext cx="8458200" cy="594360"/>
          </a:xfrm>
          <a:prstGeom prst="rect">
            <a:avLst/>
          </a:prstGeom>
          <a:noFill/>
        </p:spPr>
        <p:txBody>
          <a:bodyPr wrap="square" anchor="t" lIns="0" rIns="0" tIns="0" bIns="0">
            <a:spAutoFit/>
          </a:bodyPr>
          <a:lstStyle/>
          <a:p>
            <a:pPr algn="l">
              <a:spcBef>
                <a:spcPts val="0"/>
              </a:spcBef>
              <a:spcAft>
                <a:spcPts val="0"/>
              </a:spcAft>
              <a:buNone/>
            </a:pPr>
            <a:r>
              <a:rPr sz="3500" b="1" i="0">
                <a:solidFill>
                  <a:srgbClr val="313131"/>
                </a:solidFill>
                <a:latin typeface="NVIDIA Sans Medium"/>
              </a:rPr>
              <a:t>Omni-modality</a:t>
            </a:r>
          </a:p>
        </p:txBody>
      </p:sp>
      <p:sp>
        <p:nvSpPr>
          <p:cNvPr id="9" name="TextBox 8"/>
          <p:cNvSpPr txBox="1"/>
          <p:nvPr/>
        </p:nvSpPr>
        <p:spPr>
          <a:xfrm>
            <a:off x="3337560" y="6684264"/>
            <a:ext cx="8458200" cy="1005840"/>
          </a:xfrm>
          <a:prstGeom prst="rect">
            <a:avLst/>
          </a:prstGeom>
          <a:noFill/>
        </p:spPr>
        <p:txBody>
          <a:bodyPr wrap="square" anchor="t" lIns="0" rIns="0" tIns="0" bIns="0">
            <a:spAutoFit/>
          </a:bodyPr>
          <a:lstStyle/>
          <a:p>
            <a:pPr algn="l">
              <a:spcBef>
                <a:spcPts val="0"/>
              </a:spcBef>
              <a:spcAft>
                <a:spcPts val="0"/>
              </a:spcAft>
              <a:buNone/>
            </a:pPr>
            <a:r>
              <a:rPr sz="2700" b="0" i="0">
                <a:solidFill>
                  <a:srgbClr val="757575"/>
                </a:solidFill>
                <a:latin typeface="NVIDIA Sans"/>
              </a:rPr>
              <a:t>Text, image, audio, and video enter one serving pipeline</a:t>
            </a:r>
          </a:p>
        </p:txBody>
      </p:sp>
      <p:cxnSp>
        <p:nvCxnSpPr>
          <p:cNvPr id="10" name="Connector 9"/>
          <p:cNvCxnSpPr/>
          <p:nvPr/>
        </p:nvCxnSpPr>
        <p:spPr>
          <a:xfrm>
            <a:off x="3337560" y="8092440"/>
            <a:ext cx="8458200" cy="0"/>
          </a:xfrm>
          <a:prstGeom prst="line">
            <a:avLst/>
          </a:prstGeom>
          <a:ln w="10160">
            <a:solidFill>
              <a:srgbClr val="D9D9D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057400" y="8961120"/>
            <a:ext cx="1051560" cy="502920"/>
          </a:xfrm>
          <a:prstGeom prst="rect">
            <a:avLst/>
          </a:prstGeom>
          <a:noFill/>
        </p:spPr>
        <p:txBody>
          <a:bodyPr wrap="square" anchor="t" lIns="0" rIns="0" tIns="0" bIns="0">
            <a:spAutoFit/>
          </a:bodyPr>
          <a:lstStyle/>
          <a:p>
            <a:pPr algn="l">
              <a:spcBef>
                <a:spcPts val="0"/>
              </a:spcBef>
              <a:spcAft>
                <a:spcPts val="0"/>
              </a:spcAft>
              <a:buNone/>
            </a:pPr>
            <a:r>
              <a:rPr sz="3100" b="1" i="0">
                <a:solidFill>
                  <a:srgbClr val="952FC6"/>
                </a:solidFill>
                <a:latin typeface="NVIDIA Sans Medium"/>
              </a:rPr>
              <a:t>02</a:t>
            </a:r>
          </a:p>
        </p:txBody>
      </p:sp>
      <p:sp>
        <p:nvSpPr>
          <p:cNvPr id="12" name="TextBox 11"/>
          <p:cNvSpPr txBox="1"/>
          <p:nvPr/>
        </p:nvSpPr>
        <p:spPr>
          <a:xfrm>
            <a:off x="3337560" y="8942832"/>
            <a:ext cx="8458200" cy="594360"/>
          </a:xfrm>
          <a:prstGeom prst="rect">
            <a:avLst/>
          </a:prstGeom>
          <a:noFill/>
        </p:spPr>
        <p:txBody>
          <a:bodyPr wrap="square" anchor="t" lIns="0" rIns="0" tIns="0" bIns="0">
            <a:spAutoFit/>
          </a:bodyPr>
          <a:lstStyle/>
          <a:p>
            <a:pPr algn="l">
              <a:spcBef>
                <a:spcPts val="0"/>
              </a:spcBef>
              <a:spcAft>
                <a:spcPts val="0"/>
              </a:spcAft>
              <a:buNone/>
            </a:pPr>
            <a:r>
              <a:rPr sz="3500" b="1" i="0">
                <a:solidFill>
                  <a:srgbClr val="313131"/>
                </a:solidFill>
                <a:latin typeface="NVIDIA Sans Medium"/>
              </a:rPr>
              <a:t>Multiple execution loops</a:t>
            </a:r>
          </a:p>
        </p:txBody>
      </p:sp>
      <p:sp>
        <p:nvSpPr>
          <p:cNvPr id="13" name="TextBox 12"/>
          <p:cNvSpPr txBox="1"/>
          <p:nvPr/>
        </p:nvSpPr>
        <p:spPr>
          <a:xfrm>
            <a:off x="3337560" y="9656064"/>
            <a:ext cx="8458200" cy="1005840"/>
          </a:xfrm>
          <a:prstGeom prst="rect">
            <a:avLst/>
          </a:prstGeom>
          <a:noFill/>
        </p:spPr>
        <p:txBody>
          <a:bodyPr wrap="square" anchor="t" lIns="0" rIns="0" tIns="0" bIns="0">
            <a:spAutoFit/>
          </a:bodyPr>
          <a:lstStyle/>
          <a:p>
            <a:pPr algn="l">
              <a:spcBef>
                <a:spcPts val="0"/>
              </a:spcBef>
              <a:spcAft>
                <a:spcPts val="0"/>
              </a:spcAft>
              <a:buNone/>
            </a:pPr>
            <a:r>
              <a:rPr sz="2700" b="0" i="0">
                <a:solidFill>
                  <a:srgbClr val="757575"/>
                </a:solidFill>
                <a:latin typeface="NVIDIA Sans"/>
              </a:rPr>
              <a:t>AR decoding and DiT denoising follow different schedules</a:t>
            </a:r>
          </a:p>
        </p:txBody>
      </p:sp>
      <p:cxnSp>
        <p:nvCxnSpPr>
          <p:cNvPr id="14" name="Connector 13"/>
          <p:cNvCxnSpPr/>
          <p:nvPr/>
        </p:nvCxnSpPr>
        <p:spPr>
          <a:xfrm>
            <a:off x="3337560" y="11064240"/>
            <a:ext cx="8458200" cy="0"/>
          </a:xfrm>
          <a:prstGeom prst="line">
            <a:avLst/>
          </a:prstGeom>
          <a:ln w="1016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057400" y="11932920"/>
            <a:ext cx="1051560" cy="502920"/>
          </a:xfrm>
          <a:prstGeom prst="rect">
            <a:avLst/>
          </a:prstGeom>
          <a:noFill/>
        </p:spPr>
        <p:txBody>
          <a:bodyPr wrap="square" anchor="t" lIns="0" rIns="0" tIns="0" bIns="0">
            <a:spAutoFit/>
          </a:bodyPr>
          <a:lstStyle/>
          <a:p>
            <a:pPr algn="l">
              <a:spcBef>
                <a:spcPts val="0"/>
              </a:spcBef>
              <a:spcAft>
                <a:spcPts val="0"/>
              </a:spcAft>
              <a:buNone/>
            </a:pPr>
            <a:r>
              <a:rPr sz="3100" b="1" i="0">
                <a:solidFill>
                  <a:srgbClr val="0074DF"/>
                </a:solidFill>
                <a:latin typeface="NVIDIA Sans Medium"/>
              </a:rPr>
              <a:t>03</a:t>
            </a:r>
          </a:p>
        </p:txBody>
      </p:sp>
      <p:sp>
        <p:nvSpPr>
          <p:cNvPr id="16" name="TextBox 15"/>
          <p:cNvSpPr txBox="1"/>
          <p:nvPr/>
        </p:nvSpPr>
        <p:spPr>
          <a:xfrm>
            <a:off x="3337560" y="11914632"/>
            <a:ext cx="8458200" cy="594360"/>
          </a:xfrm>
          <a:prstGeom prst="rect">
            <a:avLst/>
          </a:prstGeom>
          <a:noFill/>
        </p:spPr>
        <p:txBody>
          <a:bodyPr wrap="square" anchor="t" lIns="0" rIns="0" tIns="0" bIns="0">
            <a:spAutoFit/>
          </a:bodyPr>
          <a:lstStyle/>
          <a:p>
            <a:pPr algn="l">
              <a:spcBef>
                <a:spcPts val="0"/>
              </a:spcBef>
              <a:spcAft>
                <a:spcPts val="0"/>
              </a:spcAft>
              <a:buNone/>
            </a:pPr>
            <a:r>
              <a:rPr sz="3500" b="1" i="0">
                <a:solidFill>
                  <a:srgbClr val="313131"/>
                </a:solidFill>
                <a:latin typeface="NVIDIA Sans Medium"/>
              </a:rPr>
              <a:t>Heterogeneous outputs</a:t>
            </a:r>
          </a:p>
        </p:txBody>
      </p:sp>
      <p:sp>
        <p:nvSpPr>
          <p:cNvPr id="17" name="TextBox 16"/>
          <p:cNvSpPr txBox="1"/>
          <p:nvPr/>
        </p:nvSpPr>
        <p:spPr>
          <a:xfrm>
            <a:off x="3337560" y="12627864"/>
            <a:ext cx="8458200" cy="1005840"/>
          </a:xfrm>
          <a:prstGeom prst="rect">
            <a:avLst/>
          </a:prstGeom>
          <a:noFill/>
        </p:spPr>
        <p:txBody>
          <a:bodyPr wrap="square" anchor="t" lIns="0" rIns="0" tIns="0" bIns="0">
            <a:spAutoFit/>
          </a:bodyPr>
          <a:lstStyle/>
          <a:p>
            <a:pPr algn="l">
              <a:spcBef>
                <a:spcPts val="0"/>
              </a:spcBef>
              <a:spcAft>
                <a:spcPts val="0"/>
              </a:spcAft>
              <a:buNone/>
            </a:pPr>
            <a:r>
              <a:rPr sz="2700" b="0" i="0">
                <a:solidFill>
                  <a:srgbClr val="757575"/>
                </a:solidFill>
                <a:latin typeface="NVIDIA Sans"/>
              </a:rPr>
              <a:t>One request may emit text, image, audio, video, or actions</a:t>
            </a:r>
          </a:p>
        </p:txBody>
      </p:sp>
      <p:cxnSp>
        <p:nvCxnSpPr>
          <p:cNvPr id="18" name="Connector 17"/>
          <p:cNvCxnSpPr/>
          <p:nvPr/>
        </p:nvCxnSpPr>
        <p:spPr>
          <a:xfrm>
            <a:off x="13030200" y="5074920"/>
            <a:ext cx="0" cy="978408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4264640" y="5074920"/>
            <a:ext cx="9144000" cy="475488"/>
          </a:xfrm>
          <a:prstGeom prst="rect">
            <a:avLst/>
          </a:prstGeom>
          <a:noFill/>
        </p:spPr>
        <p:txBody>
          <a:bodyPr wrap="square" anchor="t" lIns="0" rIns="0" tIns="0" bIns="0">
            <a:spAutoFit/>
          </a:bodyPr>
          <a:lstStyle/>
          <a:p>
            <a:pPr algn="l">
              <a:spcBef>
                <a:spcPts val="0"/>
              </a:spcBef>
              <a:spcAft>
                <a:spcPts val="0"/>
              </a:spcAft>
              <a:buNone/>
            </a:pPr>
            <a:r>
              <a:rPr sz="2800" b="1" i="0">
                <a:solidFill>
                  <a:srgbClr val="757575"/>
                </a:solidFill>
                <a:latin typeface="NVIDIA Sans Medium"/>
              </a:rPr>
              <a:t>ONE ARCHITECTURE</a:t>
            </a:r>
          </a:p>
        </p:txBody>
      </p:sp>
      <p:sp>
        <p:nvSpPr>
          <p:cNvPr id="20" name="TextBox 19"/>
          <p:cNvSpPr txBox="1"/>
          <p:nvPr/>
        </p:nvSpPr>
        <p:spPr>
          <a:xfrm>
            <a:off x="14264640" y="6748272"/>
            <a:ext cx="3017520" cy="1645920"/>
          </a:xfrm>
          <a:prstGeom prst="rect">
            <a:avLst/>
          </a:prstGeom>
          <a:noFill/>
        </p:spPr>
        <p:txBody>
          <a:bodyPr wrap="square" anchor="ctr" lIns="0" rIns="0" tIns="0" bIns="0">
            <a:spAutoFit/>
          </a:bodyPr>
          <a:lstStyle/>
          <a:p>
            <a:pPr algn="ctr">
              <a:spcBef>
                <a:spcPts val="0"/>
              </a:spcBef>
              <a:spcAft>
                <a:spcPts val="0"/>
              </a:spcAft>
              <a:buNone/>
            </a:pPr>
            <a:r>
              <a:rPr sz="2300" b="1" i="0">
                <a:solidFill>
                  <a:srgbClr val="757575"/>
                </a:solidFill>
                <a:latin typeface="NVIDIA Sans Medium"/>
              </a:rPr>
              <a:t>TEXT · IMAGE</a:t>
            </a:r>
          </a:p>
          <a:p>
            <a:pPr algn="ctr">
              <a:spcBef>
                <a:spcPts val="0"/>
              </a:spcBef>
              <a:spcAft>
                <a:spcPts val="0"/>
              </a:spcAft>
              <a:buNone/>
            </a:pPr>
            <a:r>
              <a:rPr sz="2300" b="1" i="0">
                <a:solidFill>
                  <a:srgbClr val="757575"/>
                </a:solidFill>
                <a:latin typeface="NVIDIA Sans Medium"/>
              </a:rPr>
              <a:t>AUDIO · VIDEO</a:t>
            </a:r>
          </a:p>
          <a:p>
            <a:pPr algn="ctr">
              <a:spcBef>
                <a:spcPts val="0"/>
              </a:spcBef>
              <a:spcAft>
                <a:spcPts val="0"/>
              </a:spcAft>
              <a:buNone/>
            </a:pPr>
            <a:r>
              <a:rPr sz="2300" b="1" i="0">
                <a:solidFill>
                  <a:srgbClr val="757575"/>
                </a:solidFill>
                <a:latin typeface="NVIDIA Sans Medium"/>
              </a:rPr>
              <a:t>ACTION</a:t>
            </a:r>
          </a:p>
        </p:txBody>
      </p:sp>
      <p:sp>
        <p:nvSpPr>
          <p:cNvPr id="21" name="Rounded Rectangle 20"/>
          <p:cNvSpPr/>
          <p:nvPr/>
        </p:nvSpPr>
        <p:spPr>
          <a:xfrm>
            <a:off x="17967960" y="6446520"/>
            <a:ext cx="3566160" cy="2240280"/>
          </a:xfrm>
          <a:prstGeom prst="roundRect">
            <a:avLst/>
          </a:prstGeom>
          <a:solidFill>
            <a:srgbClr val="E9F8F5"/>
          </a:solidFill>
          <a:ln w="19050">
            <a:solidFill>
              <a:srgbClr val="1DBB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87415" y="6611112"/>
            <a:ext cx="3127248" cy="475488"/>
          </a:xfrm>
          <a:prstGeom prst="rect">
            <a:avLst/>
          </a:prstGeom>
          <a:noFill/>
        </p:spPr>
        <p:txBody>
          <a:bodyPr wrap="square" anchor="t" lIns="0" rIns="0" tIns="0" bIns="0">
            <a:spAutoFit/>
          </a:bodyPr>
          <a:lstStyle/>
          <a:p>
            <a:pPr algn="ctr">
              <a:spcBef>
                <a:spcPts val="0"/>
              </a:spcBef>
              <a:spcAft>
                <a:spcPts val="0"/>
              </a:spcAft>
              <a:buNone/>
            </a:pPr>
            <a:r>
              <a:rPr sz="3100" b="1" i="0">
                <a:solidFill>
                  <a:srgbClr val="313131"/>
                </a:solidFill>
                <a:latin typeface="NVIDIA Sans Medium"/>
              </a:rPr>
              <a:t>Modality</a:t>
            </a:r>
          </a:p>
          <a:p>
            <a:pPr algn="ctr">
              <a:spcBef>
                <a:spcPts val="0"/>
              </a:spcBef>
              <a:spcAft>
                <a:spcPts val="0"/>
              </a:spcAft>
              <a:buNone/>
            </a:pPr>
            <a:r>
              <a:rPr sz="3100" b="1" i="0">
                <a:solidFill>
                  <a:srgbClr val="313131"/>
                </a:solidFill>
                <a:latin typeface="NVIDIA Sans Medium"/>
              </a:rPr>
              <a:t>encoders</a:t>
            </a:r>
          </a:p>
        </p:txBody>
      </p:sp>
      <p:sp>
        <p:nvSpPr>
          <p:cNvPr id="23" name="TextBox 22"/>
          <p:cNvSpPr txBox="1"/>
          <p:nvPr/>
        </p:nvSpPr>
        <p:spPr>
          <a:xfrm>
            <a:off x="18187415" y="7141464"/>
            <a:ext cx="3127248" cy="1417320"/>
          </a:xfrm>
          <a:prstGeom prst="rect">
            <a:avLst/>
          </a:prstGeom>
          <a:noFill/>
        </p:spPr>
        <p:txBody>
          <a:bodyPr wrap="square" anchor="ctr" lIns="0" rIns="0" tIns="0" bIns="0">
            <a:spAutoFit/>
          </a:bodyPr>
          <a:lstStyle/>
          <a:p>
            <a:pPr algn="ctr">
              <a:spcBef>
                <a:spcPts val="0"/>
              </a:spcBef>
              <a:spcAft>
                <a:spcPts val="0"/>
              </a:spcAft>
              <a:buNone/>
            </a:pPr>
            <a:r>
              <a:rPr sz="2400" b="0" i="0">
                <a:solidFill>
                  <a:srgbClr val="757575"/>
                </a:solidFill>
                <a:latin typeface="NVIDIA Sans"/>
              </a:rPr>
              <a:t>Whisper · ViT · …</a:t>
            </a:r>
          </a:p>
        </p:txBody>
      </p:sp>
      <p:sp>
        <p:nvSpPr>
          <p:cNvPr id="24" name="Rounded Rectangle 23"/>
          <p:cNvSpPr/>
          <p:nvPr/>
        </p:nvSpPr>
        <p:spPr>
          <a:xfrm>
            <a:off x="22265640" y="6446520"/>
            <a:ext cx="2926080" cy="2240280"/>
          </a:xfrm>
          <a:prstGeom prst="roundRect">
            <a:avLst/>
          </a:prstGeom>
          <a:solidFill>
            <a:srgbClr val="F7F7F7"/>
          </a:solidFill>
          <a:ln w="19050">
            <a:solidFill>
              <a:srgbClr val="31313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485096" y="6611112"/>
            <a:ext cx="2487168" cy="475488"/>
          </a:xfrm>
          <a:prstGeom prst="rect">
            <a:avLst/>
          </a:prstGeom>
          <a:noFill/>
        </p:spPr>
        <p:txBody>
          <a:bodyPr wrap="square" anchor="t" lIns="0" rIns="0" tIns="0" bIns="0">
            <a:spAutoFit/>
          </a:bodyPr>
          <a:lstStyle/>
          <a:p>
            <a:pPr algn="ctr">
              <a:spcBef>
                <a:spcPts val="0"/>
              </a:spcBef>
              <a:spcAft>
                <a:spcPts val="0"/>
              </a:spcAft>
              <a:buNone/>
            </a:pPr>
            <a:r>
              <a:rPr sz="3100" b="1" i="0">
                <a:solidFill>
                  <a:srgbClr val="313131"/>
                </a:solidFill>
                <a:latin typeface="NVIDIA Sans Medium"/>
              </a:rPr>
              <a:t>LLM</a:t>
            </a:r>
          </a:p>
        </p:txBody>
      </p:sp>
      <p:sp>
        <p:nvSpPr>
          <p:cNvPr id="26" name="TextBox 25"/>
          <p:cNvSpPr txBox="1"/>
          <p:nvPr/>
        </p:nvSpPr>
        <p:spPr>
          <a:xfrm>
            <a:off x="22485096" y="7141464"/>
            <a:ext cx="2487168" cy="1417320"/>
          </a:xfrm>
          <a:prstGeom prst="rect">
            <a:avLst/>
          </a:prstGeom>
          <a:noFill/>
        </p:spPr>
        <p:txBody>
          <a:bodyPr wrap="square" anchor="ctr" lIns="0" rIns="0" tIns="0" bIns="0">
            <a:spAutoFit/>
          </a:bodyPr>
          <a:lstStyle/>
          <a:p>
            <a:pPr algn="ctr">
              <a:spcBef>
                <a:spcPts val="0"/>
              </a:spcBef>
              <a:spcAft>
                <a:spcPts val="0"/>
              </a:spcAft>
              <a:buNone/>
            </a:pPr>
            <a:r>
              <a:rPr sz="2400" b="0" i="0">
                <a:solidFill>
                  <a:srgbClr val="757575"/>
                </a:solidFill>
                <a:latin typeface="NVIDIA Sans"/>
              </a:rPr>
              <a:t>autoregressive</a:t>
            </a:r>
          </a:p>
        </p:txBody>
      </p:sp>
      <p:sp>
        <p:nvSpPr>
          <p:cNvPr id="27" name="Rounded Rectangle 26"/>
          <p:cNvSpPr/>
          <p:nvPr/>
        </p:nvSpPr>
        <p:spPr>
          <a:xfrm>
            <a:off x="25923240" y="6446520"/>
            <a:ext cx="3749039" cy="2240280"/>
          </a:xfrm>
          <a:prstGeom prst="roundRect">
            <a:avLst/>
          </a:prstGeom>
          <a:solidFill>
            <a:srgbClr val="F3EBF8"/>
          </a:solidFill>
          <a:ln w="19050">
            <a:solidFill>
              <a:srgbClr val="952F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142696" y="6611112"/>
            <a:ext cx="3310127" cy="475488"/>
          </a:xfrm>
          <a:prstGeom prst="rect">
            <a:avLst/>
          </a:prstGeom>
          <a:noFill/>
        </p:spPr>
        <p:txBody>
          <a:bodyPr wrap="square" anchor="t" lIns="0" rIns="0" tIns="0" bIns="0">
            <a:spAutoFit/>
          </a:bodyPr>
          <a:lstStyle/>
          <a:p>
            <a:pPr algn="ctr">
              <a:spcBef>
                <a:spcPts val="0"/>
              </a:spcBef>
              <a:spcAft>
                <a:spcPts val="0"/>
              </a:spcAft>
              <a:buNone/>
            </a:pPr>
            <a:r>
              <a:rPr sz="3100" b="1" i="0">
                <a:solidFill>
                  <a:srgbClr val="313131"/>
                </a:solidFill>
                <a:latin typeface="NVIDIA Sans Medium"/>
              </a:rPr>
              <a:t>Modality</a:t>
            </a:r>
          </a:p>
          <a:p>
            <a:pPr algn="ctr">
              <a:spcBef>
                <a:spcPts val="0"/>
              </a:spcBef>
              <a:spcAft>
                <a:spcPts val="0"/>
              </a:spcAft>
              <a:buNone/>
            </a:pPr>
            <a:r>
              <a:rPr sz="3100" b="1" i="0">
                <a:solidFill>
                  <a:srgbClr val="313131"/>
                </a:solidFill>
                <a:latin typeface="NVIDIA Sans Medium"/>
              </a:rPr>
              <a:t>generator</a:t>
            </a:r>
          </a:p>
        </p:txBody>
      </p:sp>
      <p:sp>
        <p:nvSpPr>
          <p:cNvPr id="29" name="TextBox 28"/>
          <p:cNvSpPr txBox="1"/>
          <p:nvPr/>
        </p:nvSpPr>
        <p:spPr>
          <a:xfrm>
            <a:off x="26142696" y="7141464"/>
            <a:ext cx="3310127" cy="1417320"/>
          </a:xfrm>
          <a:prstGeom prst="rect">
            <a:avLst/>
          </a:prstGeom>
          <a:noFill/>
        </p:spPr>
        <p:txBody>
          <a:bodyPr wrap="square" anchor="ctr" lIns="0" rIns="0" tIns="0" bIns="0">
            <a:spAutoFit/>
          </a:bodyPr>
          <a:lstStyle/>
          <a:p>
            <a:pPr algn="ctr">
              <a:spcBef>
                <a:spcPts val="0"/>
              </a:spcBef>
              <a:spcAft>
                <a:spcPts val="0"/>
              </a:spcAft>
              <a:buNone/>
            </a:pPr>
            <a:r>
              <a:rPr sz="2400" b="0" i="0">
                <a:solidFill>
                  <a:srgbClr val="757575"/>
                </a:solidFill>
                <a:latin typeface="NVIDIA Sans"/>
              </a:rPr>
              <a:t>DiT · …</a:t>
            </a:r>
          </a:p>
        </p:txBody>
      </p:sp>
      <p:cxnSp>
        <p:nvCxnSpPr>
          <p:cNvPr id="30" name="Connector 29"/>
          <p:cNvCxnSpPr/>
          <p:nvPr/>
        </p:nvCxnSpPr>
        <p:spPr>
          <a:xfrm>
            <a:off x="17282160" y="7571231"/>
            <a:ext cx="475488" cy="0"/>
          </a:xfrm>
          <a:prstGeom prst="line">
            <a:avLst/>
          </a:prstGeom>
          <a:ln w="25400">
            <a:solidFill>
              <a:srgbClr val="313131"/>
            </a:solidFill>
          </a:ln>
        </p:spPr>
        <p:style>
          <a:lnRef idx="2">
            <a:schemeClr val="accent1"/>
          </a:lnRef>
          <a:fillRef idx="0">
            <a:schemeClr val="accent1"/>
          </a:fillRef>
          <a:effectRef idx="1">
            <a:schemeClr val="accent1"/>
          </a:effectRef>
          <a:fontRef idx="minor">
            <a:schemeClr val="tx1"/>
          </a:fontRef>
        </p:style>
      </p:cxnSp>
      <p:sp>
        <p:nvSpPr>
          <p:cNvPr id="31" name="Isosceles Triangle 30"/>
          <p:cNvSpPr/>
          <p:nvPr/>
        </p:nvSpPr>
        <p:spPr>
          <a:xfrm rot="5400000">
            <a:off x="17666208" y="7479792"/>
            <a:ext cx="182880" cy="182880"/>
          </a:xfrm>
          <a:prstGeom prst="triangle">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21534120" y="7571231"/>
            <a:ext cx="521208" cy="0"/>
          </a:xfrm>
          <a:prstGeom prst="line">
            <a:avLst/>
          </a:prstGeom>
          <a:ln w="25400">
            <a:solidFill>
              <a:srgbClr val="313131"/>
            </a:solidFill>
          </a:ln>
        </p:spPr>
        <p:style>
          <a:lnRef idx="2">
            <a:schemeClr val="accent1"/>
          </a:lnRef>
          <a:fillRef idx="0">
            <a:schemeClr val="accent1"/>
          </a:fillRef>
          <a:effectRef idx="1">
            <a:schemeClr val="accent1"/>
          </a:effectRef>
          <a:fontRef idx="minor">
            <a:schemeClr val="tx1"/>
          </a:fontRef>
        </p:style>
      </p:cxnSp>
      <p:sp>
        <p:nvSpPr>
          <p:cNvPr id="33" name="Isosceles Triangle 32"/>
          <p:cNvSpPr/>
          <p:nvPr/>
        </p:nvSpPr>
        <p:spPr>
          <a:xfrm rot="5400000">
            <a:off x="21963888" y="7479792"/>
            <a:ext cx="182880" cy="182880"/>
          </a:xfrm>
          <a:prstGeom prst="triangle">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25191720" y="7571231"/>
            <a:ext cx="521208" cy="0"/>
          </a:xfrm>
          <a:prstGeom prst="line">
            <a:avLst/>
          </a:prstGeom>
          <a:ln w="25400">
            <a:solidFill>
              <a:srgbClr val="313131"/>
            </a:solidFill>
          </a:ln>
        </p:spPr>
        <p:style>
          <a:lnRef idx="2">
            <a:schemeClr val="accent1"/>
          </a:lnRef>
          <a:fillRef idx="0">
            <a:schemeClr val="accent1"/>
          </a:fillRef>
          <a:effectRef idx="1">
            <a:schemeClr val="accent1"/>
          </a:effectRef>
          <a:fontRef idx="minor">
            <a:schemeClr val="tx1"/>
          </a:fontRef>
        </p:style>
      </p:cxnSp>
      <p:sp>
        <p:nvSpPr>
          <p:cNvPr id="35" name="Isosceles Triangle 34"/>
          <p:cNvSpPr/>
          <p:nvPr/>
        </p:nvSpPr>
        <p:spPr>
          <a:xfrm rot="5400000">
            <a:off x="25621488" y="7479792"/>
            <a:ext cx="182880" cy="182880"/>
          </a:xfrm>
          <a:prstGeom prst="triangle">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29672280" y="7571231"/>
            <a:ext cx="521208" cy="0"/>
          </a:xfrm>
          <a:prstGeom prst="line">
            <a:avLst/>
          </a:prstGeom>
          <a:ln w="25400">
            <a:solidFill>
              <a:srgbClr val="313131"/>
            </a:solidFill>
          </a:ln>
        </p:spPr>
        <p:style>
          <a:lnRef idx="2">
            <a:schemeClr val="accent1"/>
          </a:lnRef>
          <a:fillRef idx="0">
            <a:schemeClr val="accent1"/>
          </a:fillRef>
          <a:effectRef idx="1">
            <a:schemeClr val="accent1"/>
          </a:effectRef>
          <a:fontRef idx="minor">
            <a:schemeClr val="tx1"/>
          </a:fontRef>
        </p:style>
      </p:cxnSp>
      <p:sp>
        <p:nvSpPr>
          <p:cNvPr id="37" name="Isosceles Triangle 36"/>
          <p:cNvSpPr/>
          <p:nvPr/>
        </p:nvSpPr>
        <p:spPr>
          <a:xfrm rot="5400000">
            <a:off x="30102048" y="7479792"/>
            <a:ext cx="182880" cy="182880"/>
          </a:xfrm>
          <a:prstGeom prst="triangle">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403800" y="6748272"/>
            <a:ext cx="4069080" cy="1645920"/>
          </a:xfrm>
          <a:prstGeom prst="rect">
            <a:avLst/>
          </a:prstGeom>
          <a:noFill/>
        </p:spPr>
        <p:txBody>
          <a:bodyPr wrap="square" anchor="ctr" lIns="0" rIns="0" tIns="0" bIns="0">
            <a:spAutoFit/>
          </a:bodyPr>
          <a:lstStyle/>
          <a:p>
            <a:pPr algn="ctr">
              <a:spcBef>
                <a:spcPts val="0"/>
              </a:spcBef>
              <a:spcAft>
                <a:spcPts val="0"/>
              </a:spcAft>
              <a:buNone/>
            </a:pPr>
            <a:r>
              <a:rPr sz="2300" b="1" i="0">
                <a:solidFill>
                  <a:srgbClr val="757575"/>
                </a:solidFill>
                <a:latin typeface="NVIDIA Sans Medium"/>
              </a:rPr>
              <a:t>TEXT · IMAGE</a:t>
            </a:r>
          </a:p>
          <a:p>
            <a:pPr algn="ctr">
              <a:spcBef>
                <a:spcPts val="0"/>
              </a:spcBef>
              <a:spcAft>
                <a:spcPts val="0"/>
              </a:spcAft>
              <a:buNone/>
            </a:pPr>
            <a:r>
              <a:rPr sz="2300" b="1" i="0">
                <a:solidFill>
                  <a:srgbClr val="757575"/>
                </a:solidFill>
                <a:latin typeface="NVIDIA Sans Medium"/>
              </a:rPr>
              <a:t>AUDIO · VIDEO</a:t>
            </a:r>
          </a:p>
          <a:p>
            <a:pPr algn="ctr">
              <a:spcBef>
                <a:spcPts val="0"/>
              </a:spcBef>
              <a:spcAft>
                <a:spcPts val="0"/>
              </a:spcAft>
              <a:buNone/>
            </a:pPr>
            <a:r>
              <a:rPr sz="2300" b="1" i="0">
                <a:solidFill>
                  <a:srgbClr val="757575"/>
                </a:solidFill>
                <a:latin typeface="NVIDIA Sans Medium"/>
              </a:rPr>
              <a:t>ACTION</a:t>
            </a:r>
          </a:p>
        </p:txBody>
      </p:sp>
      <p:cxnSp>
        <p:nvCxnSpPr>
          <p:cNvPr id="39" name="Connector 38"/>
          <p:cNvCxnSpPr/>
          <p:nvPr/>
        </p:nvCxnSpPr>
        <p:spPr>
          <a:xfrm>
            <a:off x="14264640" y="10195560"/>
            <a:ext cx="20208240" cy="0"/>
          </a:xfrm>
          <a:prstGeom prst="line">
            <a:avLst/>
          </a:prstGeom>
          <a:ln w="31750">
            <a:solidFill>
              <a:srgbClr val="76B90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4264640" y="10561320"/>
            <a:ext cx="3703320" cy="502920"/>
          </a:xfrm>
          <a:prstGeom prst="rect">
            <a:avLst/>
          </a:prstGeom>
          <a:noFill/>
        </p:spPr>
        <p:txBody>
          <a:bodyPr wrap="square" anchor="t" lIns="0" rIns="0" tIns="0" bIns="0">
            <a:spAutoFit/>
          </a:bodyPr>
          <a:lstStyle/>
          <a:p>
            <a:pPr algn="l">
              <a:spcBef>
                <a:spcPts val="0"/>
              </a:spcBef>
              <a:spcAft>
                <a:spcPts val="0"/>
              </a:spcAft>
              <a:buNone/>
            </a:pPr>
            <a:r>
              <a:rPr sz="2900" b="1" i="0">
                <a:solidFill>
                  <a:srgbClr val="76B900"/>
                </a:solidFill>
                <a:latin typeface="NVIDIA Sans Medium"/>
              </a:rPr>
              <a:t>STAGE GRAPH</a:t>
            </a:r>
          </a:p>
        </p:txBody>
      </p:sp>
      <p:sp>
        <p:nvSpPr>
          <p:cNvPr id="41" name="TextBox 40"/>
          <p:cNvSpPr txBox="1"/>
          <p:nvPr/>
        </p:nvSpPr>
        <p:spPr>
          <a:xfrm>
            <a:off x="18425160" y="10561320"/>
            <a:ext cx="16047720" cy="502920"/>
          </a:xfrm>
          <a:prstGeom prst="rect">
            <a:avLst/>
          </a:prstGeom>
          <a:noFill/>
        </p:spPr>
        <p:txBody>
          <a:bodyPr wrap="square" anchor="t" lIns="0" rIns="0" tIns="0" bIns="0">
            <a:spAutoFit/>
          </a:bodyPr>
          <a:lstStyle/>
          <a:p>
            <a:pPr algn="l">
              <a:spcBef>
                <a:spcPts val="0"/>
              </a:spcBef>
              <a:spcAft>
                <a:spcPts val="0"/>
              </a:spcAft>
              <a:buNone/>
            </a:pPr>
            <a:r>
              <a:rPr sz="2900" b="0" i="0">
                <a:solidFill>
                  <a:srgbClr val="313131"/>
                </a:solidFill>
                <a:latin typeface="NVIDIA Sans"/>
              </a:rPr>
              <a:t>placement  ·  batching  ·  transport  ·  lifecycle</a:t>
            </a:r>
          </a:p>
        </p:txBody>
      </p:sp>
      <p:sp>
        <p:nvSpPr>
          <p:cNvPr id="42" name="TextBox 41"/>
          <p:cNvSpPr txBox="1"/>
          <p:nvPr/>
        </p:nvSpPr>
        <p:spPr>
          <a:xfrm>
            <a:off x="14264640" y="11475720"/>
            <a:ext cx="20208240" cy="502920"/>
          </a:xfrm>
          <a:prstGeom prst="rect">
            <a:avLst/>
          </a:prstGeom>
          <a:noFill/>
        </p:spPr>
        <p:txBody>
          <a:bodyPr wrap="square" anchor="t" lIns="0" rIns="0" tIns="0" bIns="0">
            <a:spAutoFit/>
          </a:bodyPr>
          <a:lstStyle/>
          <a:p>
            <a:pPr algn="l">
              <a:spcBef>
                <a:spcPts val="0"/>
              </a:spcBef>
              <a:spcAft>
                <a:spcPts val="0"/>
              </a:spcAft>
              <a:buNone/>
            </a:pPr>
            <a:r>
              <a:rPr sz="2800" b="0" i="0">
                <a:solidFill>
                  <a:srgbClr val="757575"/>
                </a:solidFill>
                <a:latin typeface="NVIDIA Sans"/>
              </a:rPr>
              <a:t>Each stage owns its execution policy</a:t>
            </a:r>
          </a:p>
        </p:txBody>
      </p:sp>
      <p:cxnSp>
        <p:nvCxnSpPr>
          <p:cNvPr id="43" name="Connector 42"/>
          <p:cNvCxnSpPr/>
          <p:nvPr/>
        </p:nvCxnSpPr>
        <p:spPr>
          <a:xfrm>
            <a:off x="2057400" y="15041880"/>
            <a:ext cx="3241548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057400" y="15654528"/>
            <a:ext cx="3840480" cy="530352"/>
          </a:xfrm>
          <a:prstGeom prst="rect">
            <a:avLst/>
          </a:prstGeom>
          <a:noFill/>
        </p:spPr>
        <p:txBody>
          <a:bodyPr wrap="square" anchor="t" lIns="0" rIns="0" tIns="0" bIns="0">
            <a:spAutoFit/>
          </a:bodyPr>
          <a:lstStyle/>
          <a:p>
            <a:pPr algn="l">
              <a:spcBef>
                <a:spcPts val="0"/>
              </a:spcBef>
              <a:spcAft>
                <a:spcPts val="0"/>
              </a:spcAft>
              <a:buNone/>
            </a:pPr>
            <a:r>
              <a:rPr sz="3100" b="1" i="0">
                <a:solidFill>
                  <a:srgbClr val="76B900"/>
                </a:solidFill>
                <a:latin typeface="NVIDIA Sans Medium"/>
              </a:rPr>
              <a:t>MINIMAX H3</a:t>
            </a:r>
          </a:p>
        </p:txBody>
      </p:sp>
      <p:sp>
        <p:nvSpPr>
          <p:cNvPr id="45" name="TextBox 44"/>
          <p:cNvSpPr txBox="1"/>
          <p:nvPr/>
        </p:nvSpPr>
        <p:spPr>
          <a:xfrm>
            <a:off x="6675120" y="15480792"/>
            <a:ext cx="4389120" cy="960120"/>
          </a:xfrm>
          <a:prstGeom prst="rect">
            <a:avLst/>
          </a:prstGeom>
          <a:noFill/>
        </p:spPr>
        <p:txBody>
          <a:bodyPr wrap="square" anchor="ctr" lIns="0" rIns="0" tIns="0" bIns="0">
            <a:spAutoFit/>
          </a:bodyPr>
          <a:lstStyle/>
          <a:p>
            <a:pPr algn="ctr">
              <a:spcBef>
                <a:spcPts val="0"/>
              </a:spcBef>
              <a:spcAft>
                <a:spcPts val="0"/>
              </a:spcAft>
              <a:buNone/>
            </a:pPr>
            <a:r>
              <a:rPr sz="3100" b="1" i="0">
                <a:solidFill>
                  <a:srgbClr val="313131"/>
                </a:solidFill>
                <a:latin typeface="NVIDIA Sans Medium"/>
              </a:rPr>
              <a:t>Text Encoder</a:t>
            </a:r>
          </a:p>
        </p:txBody>
      </p:sp>
      <p:cxnSp>
        <p:nvCxnSpPr>
          <p:cNvPr id="46" name="Connector 45"/>
          <p:cNvCxnSpPr/>
          <p:nvPr/>
        </p:nvCxnSpPr>
        <p:spPr>
          <a:xfrm>
            <a:off x="11292840" y="15956280"/>
            <a:ext cx="731520" cy="0"/>
          </a:xfrm>
          <a:prstGeom prst="line">
            <a:avLst/>
          </a:prstGeom>
          <a:ln w="27940">
            <a:solidFill>
              <a:srgbClr val="76B900"/>
            </a:solidFill>
          </a:ln>
        </p:spPr>
        <p:style>
          <a:lnRef idx="2">
            <a:schemeClr val="accent1"/>
          </a:lnRef>
          <a:fillRef idx="0">
            <a:schemeClr val="accent1"/>
          </a:fillRef>
          <a:effectRef idx="1">
            <a:schemeClr val="accent1"/>
          </a:effectRef>
          <a:fontRef idx="minor">
            <a:schemeClr val="tx1"/>
          </a:fontRef>
        </p:style>
      </p:cxnSp>
      <p:sp>
        <p:nvSpPr>
          <p:cNvPr id="47" name="Isosceles Triangle 46"/>
          <p:cNvSpPr/>
          <p:nvPr/>
        </p:nvSpPr>
        <p:spPr>
          <a:xfrm rot="5400000">
            <a:off x="11932920" y="15864839"/>
            <a:ext cx="182880" cy="182880"/>
          </a:xfrm>
          <a:prstGeom prst="triangle">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252960" y="15480792"/>
            <a:ext cx="3383280" cy="960120"/>
          </a:xfrm>
          <a:prstGeom prst="rect">
            <a:avLst/>
          </a:prstGeom>
          <a:noFill/>
        </p:spPr>
        <p:txBody>
          <a:bodyPr wrap="square" anchor="ctr" lIns="0" rIns="0" tIns="0" bIns="0">
            <a:spAutoFit/>
          </a:bodyPr>
          <a:lstStyle/>
          <a:p>
            <a:pPr algn="ctr">
              <a:spcBef>
                <a:spcPts val="0"/>
              </a:spcBef>
              <a:spcAft>
                <a:spcPts val="0"/>
              </a:spcAft>
              <a:buNone/>
            </a:pPr>
            <a:r>
              <a:rPr sz="3600" b="1" i="0">
                <a:solidFill>
                  <a:srgbClr val="952FC6"/>
                </a:solidFill>
                <a:latin typeface="NVIDIA Sans Medium"/>
              </a:rPr>
              <a:t>DiT</a:t>
            </a:r>
          </a:p>
        </p:txBody>
      </p:sp>
      <p:cxnSp>
        <p:nvCxnSpPr>
          <p:cNvPr id="49" name="Connector 48"/>
          <p:cNvCxnSpPr/>
          <p:nvPr/>
        </p:nvCxnSpPr>
        <p:spPr>
          <a:xfrm>
            <a:off x="15864840" y="15956280"/>
            <a:ext cx="731519" cy="0"/>
          </a:xfrm>
          <a:prstGeom prst="line">
            <a:avLst/>
          </a:prstGeom>
          <a:ln w="27940">
            <a:solidFill>
              <a:srgbClr val="76B900"/>
            </a:solidFill>
          </a:ln>
        </p:spPr>
        <p:style>
          <a:lnRef idx="2">
            <a:schemeClr val="accent1"/>
          </a:lnRef>
          <a:fillRef idx="0">
            <a:schemeClr val="accent1"/>
          </a:fillRef>
          <a:effectRef idx="1">
            <a:schemeClr val="accent1"/>
          </a:effectRef>
          <a:fontRef idx="minor">
            <a:schemeClr val="tx1"/>
          </a:fontRef>
        </p:style>
      </p:cxnSp>
      <p:sp>
        <p:nvSpPr>
          <p:cNvPr id="50" name="Isosceles Triangle 49"/>
          <p:cNvSpPr/>
          <p:nvPr/>
        </p:nvSpPr>
        <p:spPr>
          <a:xfrm rot="5400000">
            <a:off x="16504919" y="15864839"/>
            <a:ext cx="182880" cy="182880"/>
          </a:xfrm>
          <a:prstGeom prst="triangle">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6824960" y="15480792"/>
            <a:ext cx="4846320" cy="960120"/>
          </a:xfrm>
          <a:prstGeom prst="rect">
            <a:avLst/>
          </a:prstGeom>
          <a:noFill/>
        </p:spPr>
        <p:txBody>
          <a:bodyPr wrap="square" anchor="ctr" lIns="0" rIns="0" tIns="0" bIns="0">
            <a:spAutoFit/>
          </a:bodyPr>
          <a:lstStyle/>
          <a:p>
            <a:pPr algn="ctr">
              <a:spcBef>
                <a:spcPts val="0"/>
              </a:spcBef>
              <a:spcAft>
                <a:spcPts val="0"/>
              </a:spcAft>
              <a:buNone/>
            </a:pPr>
            <a:r>
              <a:rPr sz="3100" b="1" i="0">
                <a:solidFill>
                  <a:srgbClr val="313131"/>
                </a:solidFill>
                <a:latin typeface="NVIDIA Sans Medium"/>
              </a:rPr>
              <a:t>VAE Decoder</a:t>
            </a:r>
          </a:p>
        </p:txBody>
      </p:sp>
      <p:sp>
        <p:nvSpPr>
          <p:cNvPr id="52" name="TextBox 51"/>
          <p:cNvSpPr txBox="1"/>
          <p:nvPr/>
        </p:nvSpPr>
        <p:spPr>
          <a:xfrm>
            <a:off x="23042880" y="15581376"/>
            <a:ext cx="11430000" cy="786384"/>
          </a:xfrm>
          <a:prstGeom prst="rect">
            <a:avLst/>
          </a:prstGeom>
          <a:noFill/>
        </p:spPr>
        <p:txBody>
          <a:bodyPr wrap="square" anchor="ctr" lIns="0" rIns="0" tIns="0" bIns="0">
            <a:spAutoFit/>
          </a:bodyPr>
          <a:lstStyle/>
          <a:p>
            <a:pPr algn="r">
              <a:spcBef>
                <a:spcPts val="0"/>
              </a:spcBef>
              <a:spcAft>
                <a:spcPts val="0"/>
              </a:spcAft>
              <a:buNone/>
            </a:pPr>
            <a:r>
              <a:rPr sz="2600" b="0" i="0">
                <a:solidFill>
                  <a:srgbClr val="757575"/>
                </a:solidFill>
                <a:latin typeface="NVIDIA Sans"/>
              </a:rPr>
              <a:t>Logical components stay co-located inside one diffusion stage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4" sz="quarter"/>
          </p:nvPr>
        </p:nvSpPr>
        <p:spPr/>
        <p:txBody>
          <a:bodyPr wrap="square" anchor="ctr"/>
          <a:lstStyle/>
          <a:p>
            <a:pPr algn="l">
              <a:spcBef>
                <a:spcPts val="0"/>
              </a:spcBef>
              <a:spcAft>
                <a:spcPts val="0"/>
              </a:spcAft>
              <a:buNone/>
            </a:pPr>
            <a:r>
              <a:rPr sz="4800" b="0" i="0">
                <a:solidFill>
                  <a:srgbClr val="757575"/>
                </a:solidFill>
                <a:latin typeface="NVIDIA Sans"/>
              </a:rPr>
              <a:t>Baseline: 8× NVIDIA RTX PRO 5000 72GB · compute capability 12.0 · 110 SM per GPU</a:t>
            </a:r>
          </a:p>
        </p:txBody>
      </p:sp>
      <p:sp>
        <p:nvSpPr>
          <p:cNvPr id="5" name="Title 4"/>
          <p:cNvSpPr>
            <a:spLocks noGrp="1"/>
          </p:cNvSpPr>
          <p:nvPr>
            <p:ph type="title"/>
          </p:nvPr>
        </p:nvSpPr>
        <p:spPr/>
        <p:txBody>
          <a:bodyPr wrap="square" anchor="ctr"/>
          <a:lstStyle/>
          <a:p>
            <a:pPr algn="l">
              <a:spcBef>
                <a:spcPts val="0"/>
              </a:spcBef>
              <a:spcAft>
                <a:spcPts val="0"/>
              </a:spcAft>
              <a:buNone/>
            </a:pPr>
            <a:r>
              <a:rPr sz="8800" b="1" i="0">
                <a:solidFill>
                  <a:srgbClr val="000000"/>
                </a:solidFill>
                <a:latin typeface="NVIDIA Sans Medium"/>
              </a:rPr>
              <a:t>SM120: Compute and Communication Regimes</a:t>
            </a:r>
          </a:p>
        </p:txBody>
      </p:sp>
      <p:sp>
        <p:nvSpPr>
          <p:cNvPr id="6" name="TextBox 5"/>
          <p:cNvSpPr txBox="1"/>
          <p:nvPr/>
        </p:nvSpPr>
        <p:spPr>
          <a:xfrm>
            <a:off x="7543800" y="19431000"/>
            <a:ext cx="21488400" cy="365760"/>
          </a:xfrm>
          <a:prstGeom prst="rect">
            <a:avLst/>
          </a:prstGeom>
          <a:noFill/>
        </p:spPr>
        <p:txBody>
          <a:bodyPr wrap="square" anchor="ctr">
            <a:spAutoFit/>
          </a:bodyPr>
          <a:lstStyle/>
          <a:p>
            <a:pPr algn="ctr">
              <a:spcBef>
                <a:spcPts val="0"/>
              </a:spcBef>
              <a:spcAft>
                <a:spcPts val="0"/>
              </a:spcAft>
              <a:buNone/>
            </a:pPr>
            <a:r>
              <a:rPr sz="2000" b="0" i="0">
                <a:solidFill>
                  <a:srgbClr val="757575"/>
                </a:solidFill>
                <a:latin typeface="NVIDIA Sans"/>
              </a:rPr>
              <a:t>Sources: NVIDIA RTX PRO 5000 Blackwell datasheet · CUDA GPU Compute Capability · CUDA C Programming Guide · measured system inventory</a:t>
            </a:r>
          </a:p>
        </p:txBody>
      </p:sp>
      <p:sp>
        <p:nvSpPr>
          <p:cNvPr id="7" name="TextBox 6"/>
          <p:cNvSpPr txBox="1"/>
          <p:nvPr/>
        </p:nvSpPr>
        <p:spPr>
          <a:xfrm>
            <a:off x="914400" y="19431000"/>
            <a:ext cx="640080" cy="365760"/>
          </a:xfrm>
          <a:prstGeom prst="rect">
            <a:avLst/>
          </a:prstGeom>
          <a:noFill/>
        </p:spPr>
        <p:txBody>
          <a:bodyPr wrap="square" anchor="ctr">
            <a:spAutoFit/>
          </a:bodyPr>
          <a:lstStyle/>
          <a:p>
            <a:pPr algn="l">
              <a:spcBef>
                <a:spcPts val="0"/>
              </a:spcBef>
              <a:spcAft>
                <a:spcPts val="0"/>
              </a:spcAft>
              <a:buNone/>
            </a:pPr>
            <a:r>
              <a:rPr sz="2000" b="0" i="0">
                <a:solidFill>
                  <a:srgbClr val="757575"/>
                </a:solidFill>
                <a:latin typeface="NVIDIA Sans"/>
              </a:rPr>
              <a:t>3</a:t>
            </a:r>
          </a:p>
        </p:txBody>
      </p:sp>
      <p:sp>
        <p:nvSpPr>
          <p:cNvPr id="8" name="TextBox 7"/>
          <p:cNvSpPr txBox="1"/>
          <p:nvPr/>
        </p:nvSpPr>
        <p:spPr>
          <a:xfrm>
            <a:off x="2148840" y="5303520"/>
            <a:ext cx="9784080" cy="1143000"/>
          </a:xfrm>
          <a:prstGeom prst="rect">
            <a:avLst/>
          </a:prstGeom>
          <a:noFill/>
        </p:spPr>
        <p:txBody>
          <a:bodyPr wrap="square" anchor="t" lIns="0" rIns="0" tIns="0" bIns="0">
            <a:spAutoFit/>
          </a:bodyPr>
          <a:lstStyle/>
          <a:p>
            <a:pPr algn="l">
              <a:spcBef>
                <a:spcPts val="0"/>
              </a:spcBef>
              <a:spcAft>
                <a:spcPts val="0"/>
              </a:spcAft>
              <a:buNone/>
            </a:pPr>
            <a:r>
              <a:rPr sz="8200" b="1" i="0">
                <a:solidFill>
                  <a:srgbClr val="76B900"/>
                </a:solidFill>
                <a:latin typeface="NVIDIA Sans Medium"/>
              </a:rPr>
              <a:t>sm_120</a:t>
            </a:r>
          </a:p>
        </p:txBody>
      </p:sp>
      <p:sp>
        <p:nvSpPr>
          <p:cNvPr id="9" name="TextBox 8"/>
          <p:cNvSpPr txBox="1"/>
          <p:nvPr/>
        </p:nvSpPr>
        <p:spPr>
          <a:xfrm>
            <a:off x="2148840" y="6492240"/>
            <a:ext cx="9784080" cy="457200"/>
          </a:xfrm>
          <a:prstGeom prst="rect">
            <a:avLst/>
          </a:prstGeom>
          <a:noFill/>
        </p:spPr>
        <p:txBody>
          <a:bodyPr wrap="square" anchor="t" lIns="0" rIns="0" tIns="0" bIns="0">
            <a:spAutoFit/>
          </a:bodyPr>
          <a:lstStyle/>
          <a:p>
            <a:pPr algn="l">
              <a:spcBef>
                <a:spcPts val="0"/>
              </a:spcBef>
              <a:spcAft>
                <a:spcPts val="0"/>
              </a:spcAft>
              <a:buNone/>
            </a:pPr>
            <a:r>
              <a:rPr sz="3100" b="0" i="0">
                <a:solidFill>
                  <a:srgbClr val="757575"/>
                </a:solidFill>
                <a:latin typeface="NVIDIA Sans"/>
              </a:rPr>
              <a:t>CUDA compute capability 12.0</a:t>
            </a:r>
          </a:p>
        </p:txBody>
      </p:sp>
      <p:cxnSp>
        <p:nvCxnSpPr>
          <p:cNvPr id="10" name="Connector 9"/>
          <p:cNvCxnSpPr/>
          <p:nvPr/>
        </p:nvCxnSpPr>
        <p:spPr>
          <a:xfrm>
            <a:off x="2148840" y="7360920"/>
            <a:ext cx="978408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48840" y="7909560"/>
            <a:ext cx="4617720" cy="640080"/>
          </a:xfrm>
          <a:prstGeom prst="rect">
            <a:avLst/>
          </a:prstGeom>
          <a:noFill/>
        </p:spPr>
        <p:txBody>
          <a:bodyPr wrap="square" anchor="t" lIns="0" rIns="0" tIns="0" bIns="0">
            <a:spAutoFit/>
          </a:bodyPr>
          <a:lstStyle/>
          <a:p>
            <a:pPr algn="l">
              <a:spcBef>
                <a:spcPts val="0"/>
              </a:spcBef>
              <a:spcAft>
                <a:spcPts val="0"/>
              </a:spcAft>
              <a:buNone/>
            </a:pPr>
            <a:r>
              <a:rPr sz="4300" b="1" i="0">
                <a:solidFill>
                  <a:srgbClr val="76B900"/>
                </a:solidFill>
                <a:latin typeface="NVIDIA Sans Medium"/>
              </a:rPr>
              <a:t>110</a:t>
            </a:r>
          </a:p>
        </p:txBody>
      </p:sp>
      <p:sp>
        <p:nvSpPr>
          <p:cNvPr id="12" name="TextBox 11"/>
          <p:cNvSpPr txBox="1"/>
          <p:nvPr/>
        </p:nvSpPr>
        <p:spPr>
          <a:xfrm>
            <a:off x="2148840" y="8613648"/>
            <a:ext cx="4617720" cy="438912"/>
          </a:xfrm>
          <a:prstGeom prst="rect">
            <a:avLst/>
          </a:prstGeom>
          <a:noFill/>
        </p:spPr>
        <p:txBody>
          <a:bodyPr wrap="square" anchor="t" lIns="0" rIns="0" tIns="0" bIns="0">
            <a:spAutoFit/>
          </a:bodyPr>
          <a:lstStyle/>
          <a:p>
            <a:pPr algn="l">
              <a:spcBef>
                <a:spcPts val="0"/>
              </a:spcBef>
              <a:spcAft>
                <a:spcPts val="0"/>
              </a:spcAft>
              <a:buNone/>
            </a:pPr>
            <a:r>
              <a:rPr sz="2500" b="0" i="0">
                <a:solidFill>
                  <a:srgbClr val="757575"/>
                </a:solidFill>
                <a:latin typeface="NVIDIA Sans"/>
              </a:rPr>
              <a:t>SM / GPU*</a:t>
            </a:r>
          </a:p>
        </p:txBody>
      </p:sp>
      <p:sp>
        <p:nvSpPr>
          <p:cNvPr id="13" name="TextBox 12"/>
          <p:cNvSpPr txBox="1"/>
          <p:nvPr/>
        </p:nvSpPr>
        <p:spPr>
          <a:xfrm>
            <a:off x="7223760" y="7909560"/>
            <a:ext cx="4617720" cy="640080"/>
          </a:xfrm>
          <a:prstGeom prst="rect">
            <a:avLst/>
          </a:prstGeom>
          <a:noFill/>
        </p:spPr>
        <p:txBody>
          <a:bodyPr wrap="square" anchor="t" lIns="0" rIns="0" tIns="0" bIns="0">
            <a:spAutoFit/>
          </a:bodyPr>
          <a:lstStyle/>
          <a:p>
            <a:pPr algn="l">
              <a:spcBef>
                <a:spcPts val="0"/>
              </a:spcBef>
              <a:spcAft>
                <a:spcPts val="0"/>
              </a:spcAft>
              <a:buNone/>
            </a:pPr>
            <a:r>
              <a:rPr sz="4300" b="1" i="0">
                <a:solidFill>
                  <a:srgbClr val="313131"/>
                </a:solidFill>
                <a:latin typeface="NVIDIA Sans Medium"/>
              </a:rPr>
              <a:t>72 GB</a:t>
            </a:r>
          </a:p>
        </p:txBody>
      </p:sp>
      <p:sp>
        <p:nvSpPr>
          <p:cNvPr id="14" name="TextBox 13"/>
          <p:cNvSpPr txBox="1"/>
          <p:nvPr/>
        </p:nvSpPr>
        <p:spPr>
          <a:xfrm>
            <a:off x="7223760" y="8613648"/>
            <a:ext cx="4617720" cy="438912"/>
          </a:xfrm>
          <a:prstGeom prst="rect">
            <a:avLst/>
          </a:prstGeom>
          <a:noFill/>
        </p:spPr>
        <p:txBody>
          <a:bodyPr wrap="square" anchor="t" lIns="0" rIns="0" tIns="0" bIns="0">
            <a:spAutoFit/>
          </a:bodyPr>
          <a:lstStyle/>
          <a:p>
            <a:pPr algn="l">
              <a:spcBef>
                <a:spcPts val="0"/>
              </a:spcBef>
              <a:spcAft>
                <a:spcPts val="0"/>
              </a:spcAft>
              <a:buNone/>
            </a:pPr>
            <a:r>
              <a:rPr sz="2500" b="0" i="0">
                <a:solidFill>
                  <a:srgbClr val="757575"/>
                </a:solidFill>
                <a:latin typeface="NVIDIA Sans"/>
              </a:rPr>
              <a:t>GDDR7 ECC / GPU</a:t>
            </a:r>
          </a:p>
        </p:txBody>
      </p:sp>
      <p:sp>
        <p:nvSpPr>
          <p:cNvPr id="15" name="TextBox 14"/>
          <p:cNvSpPr txBox="1"/>
          <p:nvPr/>
        </p:nvSpPr>
        <p:spPr>
          <a:xfrm>
            <a:off x="2148840" y="10332720"/>
            <a:ext cx="4617720" cy="640080"/>
          </a:xfrm>
          <a:prstGeom prst="rect">
            <a:avLst/>
          </a:prstGeom>
          <a:noFill/>
        </p:spPr>
        <p:txBody>
          <a:bodyPr wrap="square" anchor="t" lIns="0" rIns="0" tIns="0" bIns="0">
            <a:spAutoFit/>
          </a:bodyPr>
          <a:lstStyle/>
          <a:p>
            <a:pPr algn="l">
              <a:spcBef>
                <a:spcPts val="0"/>
              </a:spcBef>
              <a:spcAft>
                <a:spcPts val="0"/>
              </a:spcAft>
              <a:buNone/>
            </a:pPr>
            <a:r>
              <a:rPr sz="4300" b="1" i="0">
                <a:solidFill>
                  <a:srgbClr val="0074DF"/>
                </a:solidFill>
                <a:latin typeface="NVIDIA Sans Medium"/>
              </a:rPr>
              <a:t>1,344 GB/s</a:t>
            </a:r>
          </a:p>
        </p:txBody>
      </p:sp>
      <p:sp>
        <p:nvSpPr>
          <p:cNvPr id="16" name="TextBox 15"/>
          <p:cNvSpPr txBox="1"/>
          <p:nvPr/>
        </p:nvSpPr>
        <p:spPr>
          <a:xfrm>
            <a:off x="2148840" y="11036808"/>
            <a:ext cx="4617720" cy="438912"/>
          </a:xfrm>
          <a:prstGeom prst="rect">
            <a:avLst/>
          </a:prstGeom>
          <a:noFill/>
        </p:spPr>
        <p:txBody>
          <a:bodyPr wrap="square" anchor="t" lIns="0" rIns="0" tIns="0" bIns="0">
            <a:spAutoFit/>
          </a:bodyPr>
          <a:lstStyle/>
          <a:p>
            <a:pPr algn="l">
              <a:spcBef>
                <a:spcPts val="0"/>
              </a:spcBef>
              <a:spcAft>
                <a:spcPts val="0"/>
              </a:spcAft>
              <a:buNone/>
            </a:pPr>
            <a:r>
              <a:rPr sz="2500" b="0" i="0">
                <a:solidFill>
                  <a:srgbClr val="757575"/>
                </a:solidFill>
                <a:latin typeface="NVIDIA Sans"/>
              </a:rPr>
              <a:t>local memory BW / GPU</a:t>
            </a:r>
          </a:p>
        </p:txBody>
      </p:sp>
      <p:sp>
        <p:nvSpPr>
          <p:cNvPr id="17" name="TextBox 16"/>
          <p:cNvSpPr txBox="1"/>
          <p:nvPr/>
        </p:nvSpPr>
        <p:spPr>
          <a:xfrm>
            <a:off x="7223760" y="10332720"/>
            <a:ext cx="4617720" cy="640080"/>
          </a:xfrm>
          <a:prstGeom prst="rect">
            <a:avLst/>
          </a:prstGeom>
          <a:noFill/>
        </p:spPr>
        <p:txBody>
          <a:bodyPr wrap="square" anchor="t" lIns="0" rIns="0" tIns="0" bIns="0">
            <a:spAutoFit/>
          </a:bodyPr>
          <a:lstStyle/>
          <a:p>
            <a:pPr algn="l">
              <a:spcBef>
                <a:spcPts val="0"/>
              </a:spcBef>
              <a:spcAft>
                <a:spcPts val="0"/>
              </a:spcAft>
              <a:buNone/>
            </a:pPr>
            <a:r>
              <a:rPr sz="4300" b="1" i="0">
                <a:solidFill>
                  <a:srgbClr val="313131"/>
                </a:solidFill>
                <a:latin typeface="NVIDIA Sans Medium"/>
              </a:rPr>
              <a:t>PCIe 5.0 ×16</a:t>
            </a:r>
          </a:p>
        </p:txBody>
      </p:sp>
      <p:sp>
        <p:nvSpPr>
          <p:cNvPr id="18" name="TextBox 17"/>
          <p:cNvSpPr txBox="1"/>
          <p:nvPr/>
        </p:nvSpPr>
        <p:spPr>
          <a:xfrm>
            <a:off x="7223760" y="11036808"/>
            <a:ext cx="4617720" cy="438912"/>
          </a:xfrm>
          <a:prstGeom prst="rect">
            <a:avLst/>
          </a:prstGeom>
          <a:noFill/>
        </p:spPr>
        <p:txBody>
          <a:bodyPr wrap="square" anchor="t" lIns="0" rIns="0" tIns="0" bIns="0">
            <a:spAutoFit/>
          </a:bodyPr>
          <a:lstStyle/>
          <a:p>
            <a:pPr algn="l">
              <a:spcBef>
                <a:spcPts val="0"/>
              </a:spcBef>
              <a:spcAft>
                <a:spcPts val="0"/>
              </a:spcAft>
              <a:buNone/>
            </a:pPr>
            <a:r>
              <a:rPr sz="2500" b="0" i="0">
                <a:solidFill>
                  <a:srgbClr val="757575"/>
                </a:solidFill>
                <a:latin typeface="NVIDIA Sans"/>
              </a:rPr>
              <a:t>system interface</a:t>
            </a:r>
          </a:p>
        </p:txBody>
      </p:sp>
      <p:cxnSp>
        <p:nvCxnSpPr>
          <p:cNvPr id="19" name="Connector 18"/>
          <p:cNvCxnSpPr/>
          <p:nvPr/>
        </p:nvCxnSpPr>
        <p:spPr>
          <a:xfrm>
            <a:off x="2148840" y="13121640"/>
            <a:ext cx="978408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148840" y="13642848"/>
            <a:ext cx="3154680" cy="585216"/>
          </a:xfrm>
          <a:prstGeom prst="rect">
            <a:avLst/>
          </a:prstGeom>
          <a:noFill/>
        </p:spPr>
        <p:txBody>
          <a:bodyPr wrap="square" anchor="t" lIns="0" rIns="0" tIns="0" bIns="0">
            <a:spAutoFit/>
          </a:bodyPr>
          <a:lstStyle/>
          <a:p>
            <a:pPr algn="l">
              <a:spcBef>
                <a:spcPts val="0"/>
              </a:spcBef>
              <a:spcAft>
                <a:spcPts val="0"/>
              </a:spcAft>
              <a:buNone/>
            </a:pPr>
            <a:r>
              <a:rPr sz="3900" b="1" i="0">
                <a:solidFill>
                  <a:srgbClr val="313131"/>
                </a:solidFill>
                <a:latin typeface="NVIDIA Sans Medium"/>
              </a:rPr>
              <a:t>8 GPUs</a:t>
            </a:r>
          </a:p>
        </p:txBody>
      </p:sp>
      <p:sp>
        <p:nvSpPr>
          <p:cNvPr id="21" name="TextBox 20"/>
          <p:cNvSpPr txBox="1"/>
          <p:nvPr/>
        </p:nvSpPr>
        <p:spPr>
          <a:xfrm>
            <a:off x="5440680" y="13642848"/>
            <a:ext cx="6492240" cy="585216"/>
          </a:xfrm>
          <a:prstGeom prst="rect">
            <a:avLst/>
          </a:prstGeom>
          <a:noFill/>
        </p:spPr>
        <p:txBody>
          <a:bodyPr wrap="square" anchor="t" lIns="0" rIns="0" tIns="0" bIns="0">
            <a:spAutoFit/>
          </a:bodyPr>
          <a:lstStyle/>
          <a:p>
            <a:pPr algn="r">
              <a:spcBef>
                <a:spcPts val="0"/>
              </a:spcBef>
              <a:spcAft>
                <a:spcPts val="0"/>
              </a:spcAft>
              <a:buNone/>
            </a:pPr>
            <a:r>
              <a:rPr sz="3900" b="1" i="0">
                <a:solidFill>
                  <a:srgbClr val="76B900"/>
                </a:solidFill>
                <a:latin typeface="NVIDIA Sans Medium"/>
              </a:rPr>
              <a:t>880 SM  ·  576 GB</a:t>
            </a:r>
          </a:p>
        </p:txBody>
      </p:sp>
      <p:sp>
        <p:nvSpPr>
          <p:cNvPr id="22" name="TextBox 21"/>
          <p:cNvSpPr txBox="1"/>
          <p:nvPr/>
        </p:nvSpPr>
        <p:spPr>
          <a:xfrm>
            <a:off x="2148840" y="14401800"/>
            <a:ext cx="9784080" cy="402336"/>
          </a:xfrm>
          <a:prstGeom prst="rect">
            <a:avLst/>
          </a:prstGeom>
          <a:noFill/>
        </p:spPr>
        <p:txBody>
          <a:bodyPr wrap="square" anchor="t" lIns="0" rIns="0" tIns="0" bIns="0">
            <a:spAutoFit/>
          </a:bodyPr>
          <a:lstStyle/>
          <a:p>
            <a:pPr algn="l">
              <a:spcBef>
                <a:spcPts val="0"/>
              </a:spcBef>
              <a:spcAft>
                <a:spcPts val="0"/>
              </a:spcAft>
              <a:buNone/>
            </a:pPr>
            <a:r>
              <a:rPr sz="2400" b="0" i="0">
                <a:solidFill>
                  <a:srgbClr val="757575"/>
                </a:solidFill>
                <a:latin typeface="NVIDIA Sans"/>
              </a:rPr>
              <a:t>aggregate sums · memory is not pooled</a:t>
            </a:r>
          </a:p>
        </p:txBody>
      </p:sp>
      <p:sp>
        <p:nvSpPr>
          <p:cNvPr id="23" name="TextBox 22"/>
          <p:cNvSpPr txBox="1"/>
          <p:nvPr/>
        </p:nvSpPr>
        <p:spPr>
          <a:xfrm>
            <a:off x="2148840" y="16870680"/>
            <a:ext cx="9784080" cy="594360"/>
          </a:xfrm>
          <a:prstGeom prst="rect">
            <a:avLst/>
          </a:prstGeom>
          <a:noFill/>
        </p:spPr>
        <p:txBody>
          <a:bodyPr wrap="square" anchor="t" lIns="0" rIns="0" tIns="0" bIns="0">
            <a:spAutoFit/>
          </a:bodyPr>
          <a:lstStyle/>
          <a:p>
            <a:pPr algn="l">
              <a:spcBef>
                <a:spcPts val="0"/>
              </a:spcBef>
              <a:spcAft>
                <a:spcPts val="0"/>
              </a:spcAft>
              <a:buNone/>
            </a:pPr>
            <a:r>
              <a:rPr sz="2300" b="0" i="0">
                <a:solidFill>
                  <a:srgbClr val="757575"/>
                </a:solidFill>
                <a:latin typeface="NVIDIA Sans"/>
              </a:rPr>
              <a:t>*14,080 CUDA cores ÷ 128 FP32 cores per CC 12.0 SM</a:t>
            </a:r>
          </a:p>
        </p:txBody>
      </p:sp>
      <p:cxnSp>
        <p:nvCxnSpPr>
          <p:cNvPr id="24" name="Connector 23"/>
          <p:cNvCxnSpPr/>
          <p:nvPr/>
        </p:nvCxnSpPr>
        <p:spPr>
          <a:xfrm>
            <a:off x="13304520" y="5120640"/>
            <a:ext cx="0" cy="1275588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493240" y="5166360"/>
            <a:ext cx="10972800" cy="475488"/>
          </a:xfrm>
          <a:prstGeom prst="rect">
            <a:avLst/>
          </a:prstGeom>
          <a:noFill/>
        </p:spPr>
        <p:txBody>
          <a:bodyPr wrap="square" anchor="t" lIns="0" rIns="0" tIns="0" bIns="0">
            <a:spAutoFit/>
          </a:bodyPr>
          <a:lstStyle/>
          <a:p>
            <a:pPr algn="l">
              <a:spcBef>
                <a:spcPts val="0"/>
              </a:spcBef>
              <a:spcAft>
                <a:spcPts val="0"/>
              </a:spcAft>
              <a:buNone/>
            </a:pPr>
            <a:r>
              <a:rPr sz="2800" b="1" i="0">
                <a:solidFill>
                  <a:srgbClr val="757575"/>
                </a:solidFill>
                <a:latin typeface="NVIDIA Sans Medium"/>
              </a:rPr>
              <a:t>CLASSIFY BY TENSOR OWNERSHIP</a:t>
            </a:r>
          </a:p>
        </p:txBody>
      </p:sp>
      <p:sp>
        <p:nvSpPr>
          <p:cNvPr id="26" name="TextBox 25"/>
          <p:cNvSpPr txBox="1"/>
          <p:nvPr/>
        </p:nvSpPr>
        <p:spPr>
          <a:xfrm>
            <a:off x="14493240" y="6126480"/>
            <a:ext cx="8549640" cy="475488"/>
          </a:xfrm>
          <a:prstGeom prst="rect">
            <a:avLst/>
          </a:prstGeom>
          <a:noFill/>
        </p:spPr>
        <p:txBody>
          <a:bodyPr wrap="square" anchor="t" lIns="0" rIns="0" tIns="0" bIns="0">
            <a:spAutoFit/>
          </a:bodyPr>
          <a:lstStyle/>
          <a:p>
            <a:pPr algn="l">
              <a:spcBef>
                <a:spcPts val="0"/>
              </a:spcBef>
              <a:spcAft>
                <a:spcPts val="0"/>
              </a:spcAft>
              <a:buNone/>
            </a:pPr>
            <a:r>
              <a:rPr sz="3100" b="1" i="0">
                <a:solidFill>
                  <a:srgbClr val="952FC6"/>
                </a:solidFill>
                <a:latin typeface="NVIDIA Sans Medium"/>
              </a:rPr>
              <a:t>COMMUNICATION-MODEST</a:t>
            </a:r>
          </a:p>
        </p:txBody>
      </p:sp>
      <p:sp>
        <p:nvSpPr>
          <p:cNvPr id="27" name="TextBox 26"/>
          <p:cNvSpPr txBox="1"/>
          <p:nvPr/>
        </p:nvSpPr>
        <p:spPr>
          <a:xfrm>
            <a:off x="25420320" y="6126480"/>
            <a:ext cx="8915400" cy="475488"/>
          </a:xfrm>
          <a:prstGeom prst="rect">
            <a:avLst/>
          </a:prstGeom>
          <a:noFill/>
        </p:spPr>
        <p:txBody>
          <a:bodyPr wrap="square" anchor="t" lIns="0" rIns="0" tIns="0" bIns="0">
            <a:spAutoFit/>
          </a:bodyPr>
          <a:lstStyle/>
          <a:p>
            <a:pPr algn="r">
              <a:spcBef>
                <a:spcPts val="0"/>
              </a:spcBef>
              <a:spcAft>
                <a:spcPts val="0"/>
              </a:spcAft>
              <a:buNone/>
            </a:pPr>
            <a:r>
              <a:rPr sz="3100" b="1" i="0">
                <a:solidFill>
                  <a:srgbClr val="0074DF"/>
                </a:solidFill>
                <a:latin typeface="NVIDIA Sans Medium"/>
              </a:rPr>
              <a:t>COMMUNICATION-INTENSIVE</a:t>
            </a:r>
          </a:p>
        </p:txBody>
      </p:sp>
      <p:cxnSp>
        <p:nvCxnSpPr>
          <p:cNvPr id="28" name="Connector 27"/>
          <p:cNvCxnSpPr/>
          <p:nvPr/>
        </p:nvCxnSpPr>
        <p:spPr>
          <a:xfrm>
            <a:off x="24094440" y="6080760"/>
            <a:ext cx="0" cy="498348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4493240" y="7059168"/>
            <a:ext cx="2148840" cy="384048"/>
          </a:xfrm>
          <a:prstGeom prst="rect">
            <a:avLst/>
          </a:prstGeom>
          <a:noFill/>
        </p:spPr>
        <p:txBody>
          <a:bodyPr wrap="square" anchor="t" lIns="0" rIns="0" tIns="0" bIns="0">
            <a:spAutoFit/>
          </a:bodyPr>
          <a:lstStyle/>
          <a:p>
            <a:pPr algn="l">
              <a:spcBef>
                <a:spcPts val="0"/>
              </a:spcBef>
              <a:spcAft>
                <a:spcPts val="0"/>
              </a:spcAft>
              <a:buNone/>
            </a:pPr>
            <a:r>
              <a:rPr sz="2300" b="1" i="0">
                <a:solidFill>
                  <a:srgbClr val="757575"/>
                </a:solidFill>
                <a:latin typeface="NVIDIA Sans Medium"/>
              </a:rPr>
              <a:t>PLACEMENT</a:t>
            </a:r>
          </a:p>
        </p:txBody>
      </p:sp>
      <p:sp>
        <p:nvSpPr>
          <p:cNvPr id="30" name="TextBox 29"/>
          <p:cNvSpPr txBox="1"/>
          <p:nvPr/>
        </p:nvSpPr>
        <p:spPr>
          <a:xfrm>
            <a:off x="16687800" y="7013448"/>
            <a:ext cx="6949440" cy="530352"/>
          </a:xfrm>
          <a:prstGeom prst="rect">
            <a:avLst/>
          </a:prstGeom>
          <a:noFill/>
        </p:spPr>
        <p:txBody>
          <a:bodyPr wrap="square" anchor="t" lIns="0" rIns="0" tIns="0" bIns="0">
            <a:spAutoFit/>
          </a:bodyPr>
          <a:lstStyle/>
          <a:p>
            <a:pPr algn="l">
              <a:spcBef>
                <a:spcPts val="0"/>
              </a:spcBef>
              <a:spcAft>
                <a:spcPts val="0"/>
              </a:spcAft>
              <a:buNone/>
            </a:pPr>
            <a:r>
              <a:rPr sz="2700" b="0" i="0">
                <a:solidFill>
                  <a:srgbClr val="313131"/>
                </a:solidFill>
                <a:latin typeface="NVIDIA Sans"/>
              </a:rPr>
              <a:t>tensors remain local</a:t>
            </a:r>
          </a:p>
        </p:txBody>
      </p:sp>
      <p:sp>
        <p:nvSpPr>
          <p:cNvPr id="31" name="TextBox 30"/>
          <p:cNvSpPr txBox="1"/>
          <p:nvPr/>
        </p:nvSpPr>
        <p:spPr>
          <a:xfrm>
            <a:off x="24734520" y="7059168"/>
            <a:ext cx="2148840" cy="384048"/>
          </a:xfrm>
          <a:prstGeom prst="rect">
            <a:avLst/>
          </a:prstGeom>
          <a:noFill/>
        </p:spPr>
        <p:txBody>
          <a:bodyPr wrap="square" anchor="t" lIns="0" rIns="0" tIns="0" bIns="0">
            <a:spAutoFit/>
          </a:bodyPr>
          <a:lstStyle/>
          <a:p>
            <a:pPr algn="l">
              <a:spcBef>
                <a:spcPts val="0"/>
              </a:spcBef>
              <a:spcAft>
                <a:spcPts val="0"/>
              </a:spcAft>
              <a:buNone/>
            </a:pPr>
            <a:r>
              <a:rPr sz="2300" b="1" i="0">
                <a:solidFill>
                  <a:srgbClr val="757575"/>
                </a:solidFill>
                <a:latin typeface="NVIDIA Sans Medium"/>
              </a:rPr>
              <a:t>PLACEMENT</a:t>
            </a:r>
          </a:p>
        </p:txBody>
      </p:sp>
      <p:sp>
        <p:nvSpPr>
          <p:cNvPr id="32" name="TextBox 31"/>
          <p:cNvSpPr txBox="1"/>
          <p:nvPr/>
        </p:nvSpPr>
        <p:spPr>
          <a:xfrm>
            <a:off x="26929080" y="7013448"/>
            <a:ext cx="7406640" cy="530352"/>
          </a:xfrm>
          <a:prstGeom prst="rect">
            <a:avLst/>
          </a:prstGeom>
          <a:noFill/>
        </p:spPr>
        <p:txBody>
          <a:bodyPr wrap="square" anchor="t" lIns="0" rIns="0" tIns="0" bIns="0">
            <a:spAutoFit/>
          </a:bodyPr>
          <a:lstStyle/>
          <a:p>
            <a:pPr algn="l">
              <a:spcBef>
                <a:spcPts val="0"/>
              </a:spcBef>
              <a:spcAft>
                <a:spcPts val="0"/>
              </a:spcAft>
              <a:buNone/>
            </a:pPr>
            <a:r>
              <a:rPr sz="2700" b="0" i="0">
                <a:solidFill>
                  <a:srgbClr val="313131"/>
                </a:solidFill>
                <a:latin typeface="NVIDIA Sans"/>
              </a:rPr>
              <a:t>Q / K / V / Gate / O change rank</a:t>
            </a:r>
          </a:p>
        </p:txBody>
      </p:sp>
      <p:sp>
        <p:nvSpPr>
          <p:cNvPr id="33" name="TextBox 32"/>
          <p:cNvSpPr txBox="1"/>
          <p:nvPr/>
        </p:nvSpPr>
        <p:spPr>
          <a:xfrm>
            <a:off x="14493240" y="8412480"/>
            <a:ext cx="2148840" cy="384048"/>
          </a:xfrm>
          <a:prstGeom prst="rect">
            <a:avLst/>
          </a:prstGeom>
          <a:noFill/>
        </p:spPr>
        <p:txBody>
          <a:bodyPr wrap="square" anchor="t" lIns="0" rIns="0" tIns="0" bIns="0">
            <a:spAutoFit/>
          </a:bodyPr>
          <a:lstStyle/>
          <a:p>
            <a:pPr algn="l">
              <a:spcBef>
                <a:spcPts val="0"/>
              </a:spcBef>
              <a:spcAft>
                <a:spcPts val="0"/>
              </a:spcAft>
              <a:buNone/>
            </a:pPr>
            <a:r>
              <a:rPr sz="2300" b="1" i="0">
                <a:solidFill>
                  <a:srgbClr val="757575"/>
                </a:solidFill>
                <a:latin typeface="NVIDIA Sans Medium"/>
              </a:rPr>
              <a:t>SYNC</a:t>
            </a:r>
          </a:p>
        </p:txBody>
      </p:sp>
      <p:sp>
        <p:nvSpPr>
          <p:cNvPr id="34" name="TextBox 33"/>
          <p:cNvSpPr txBox="1"/>
          <p:nvPr/>
        </p:nvSpPr>
        <p:spPr>
          <a:xfrm>
            <a:off x="16687800" y="8366759"/>
            <a:ext cx="6949440" cy="530352"/>
          </a:xfrm>
          <a:prstGeom prst="rect">
            <a:avLst/>
          </a:prstGeom>
          <a:noFill/>
        </p:spPr>
        <p:txBody>
          <a:bodyPr wrap="square" anchor="t" lIns="0" rIns="0" tIns="0" bIns="0">
            <a:spAutoFit/>
          </a:bodyPr>
          <a:lstStyle/>
          <a:p>
            <a:pPr algn="l">
              <a:spcBef>
                <a:spcPts val="0"/>
              </a:spcBef>
              <a:spcAft>
                <a:spcPts val="0"/>
              </a:spcAft>
              <a:buNone/>
            </a:pPr>
            <a:r>
              <a:rPr sz="2700" b="0" i="0">
                <a:solidFill>
                  <a:srgbClr val="313131"/>
                </a:solidFill>
                <a:latin typeface="NVIDIA Sans"/>
              </a:rPr>
              <a:t>few readiness fences</a:t>
            </a:r>
          </a:p>
        </p:txBody>
      </p:sp>
      <p:sp>
        <p:nvSpPr>
          <p:cNvPr id="35" name="TextBox 34"/>
          <p:cNvSpPr txBox="1"/>
          <p:nvPr/>
        </p:nvSpPr>
        <p:spPr>
          <a:xfrm>
            <a:off x="24734520" y="8412480"/>
            <a:ext cx="2148840" cy="384048"/>
          </a:xfrm>
          <a:prstGeom prst="rect">
            <a:avLst/>
          </a:prstGeom>
          <a:noFill/>
        </p:spPr>
        <p:txBody>
          <a:bodyPr wrap="square" anchor="t" lIns="0" rIns="0" tIns="0" bIns="0">
            <a:spAutoFit/>
          </a:bodyPr>
          <a:lstStyle/>
          <a:p>
            <a:pPr algn="l">
              <a:spcBef>
                <a:spcPts val="0"/>
              </a:spcBef>
              <a:spcAft>
                <a:spcPts val="0"/>
              </a:spcAft>
              <a:buNone/>
            </a:pPr>
            <a:r>
              <a:rPr sz="2300" b="1" i="0">
                <a:solidFill>
                  <a:srgbClr val="757575"/>
                </a:solidFill>
                <a:latin typeface="NVIDIA Sans Medium"/>
              </a:rPr>
              <a:t>SYNC</a:t>
            </a:r>
          </a:p>
        </p:txBody>
      </p:sp>
      <p:sp>
        <p:nvSpPr>
          <p:cNvPr id="36" name="TextBox 35"/>
          <p:cNvSpPr txBox="1"/>
          <p:nvPr/>
        </p:nvSpPr>
        <p:spPr>
          <a:xfrm>
            <a:off x="26929080" y="8366759"/>
            <a:ext cx="7406640" cy="530352"/>
          </a:xfrm>
          <a:prstGeom prst="rect">
            <a:avLst/>
          </a:prstGeom>
          <a:noFill/>
        </p:spPr>
        <p:txBody>
          <a:bodyPr wrap="square" anchor="t" lIns="0" rIns="0" tIns="0" bIns="0">
            <a:spAutoFit/>
          </a:bodyPr>
          <a:lstStyle/>
          <a:p>
            <a:pPr algn="l">
              <a:spcBef>
                <a:spcPts val="0"/>
              </a:spcBef>
              <a:spcAft>
                <a:spcPts val="0"/>
              </a:spcAft>
              <a:buNone/>
            </a:pPr>
            <a:r>
              <a:rPr sz="2700" b="0" i="0">
                <a:solidFill>
                  <a:srgbClr val="313131"/>
                </a:solidFill>
                <a:latin typeface="NVIDIA Sans"/>
              </a:rPr>
              <a:t>barriers sit on the dependency path</a:t>
            </a:r>
          </a:p>
        </p:txBody>
      </p:sp>
      <p:sp>
        <p:nvSpPr>
          <p:cNvPr id="37" name="TextBox 36"/>
          <p:cNvSpPr txBox="1"/>
          <p:nvPr/>
        </p:nvSpPr>
        <p:spPr>
          <a:xfrm>
            <a:off x="14493240" y="9765792"/>
            <a:ext cx="2148840" cy="384048"/>
          </a:xfrm>
          <a:prstGeom prst="rect">
            <a:avLst/>
          </a:prstGeom>
          <a:noFill/>
        </p:spPr>
        <p:txBody>
          <a:bodyPr wrap="square" anchor="t" lIns="0" rIns="0" tIns="0" bIns="0">
            <a:spAutoFit/>
          </a:bodyPr>
          <a:lstStyle/>
          <a:p>
            <a:pPr algn="l">
              <a:spcBef>
                <a:spcPts val="0"/>
              </a:spcBef>
              <a:spcAft>
                <a:spcPts val="0"/>
              </a:spcAft>
              <a:buNone/>
            </a:pPr>
            <a:r>
              <a:rPr sz="2300" b="1" i="0">
                <a:solidFill>
                  <a:srgbClr val="757575"/>
                </a:solidFill>
                <a:latin typeface="NVIDIA Sans Medium"/>
              </a:rPr>
              <a:t>EXAMPLES</a:t>
            </a:r>
          </a:p>
        </p:txBody>
      </p:sp>
      <p:sp>
        <p:nvSpPr>
          <p:cNvPr id="38" name="TextBox 37"/>
          <p:cNvSpPr txBox="1"/>
          <p:nvPr/>
        </p:nvSpPr>
        <p:spPr>
          <a:xfrm>
            <a:off x="16687800" y="9720072"/>
            <a:ext cx="6949440" cy="530352"/>
          </a:xfrm>
          <a:prstGeom prst="rect">
            <a:avLst/>
          </a:prstGeom>
          <a:noFill/>
        </p:spPr>
        <p:txBody>
          <a:bodyPr wrap="square" anchor="t" lIns="0" rIns="0" tIns="0" bIns="0">
            <a:spAutoFit/>
          </a:bodyPr>
          <a:lstStyle/>
          <a:p>
            <a:pPr algn="l">
              <a:spcBef>
                <a:spcPts val="0"/>
              </a:spcBef>
              <a:spcAft>
                <a:spcPts val="0"/>
              </a:spcAft>
              <a:buNone/>
            </a:pPr>
            <a:r>
              <a:rPr sz="2700" b="0" i="0">
                <a:solidFill>
                  <a:srgbClr val="313131"/>
                </a:solidFill>
                <a:latin typeface="NVIDIA Sans"/>
              </a:rPr>
              <a:t>projection · MLP · local VSA tiles</a:t>
            </a:r>
          </a:p>
        </p:txBody>
      </p:sp>
      <p:sp>
        <p:nvSpPr>
          <p:cNvPr id="39" name="TextBox 38"/>
          <p:cNvSpPr txBox="1"/>
          <p:nvPr/>
        </p:nvSpPr>
        <p:spPr>
          <a:xfrm>
            <a:off x="24734520" y="9765792"/>
            <a:ext cx="2148840" cy="384048"/>
          </a:xfrm>
          <a:prstGeom prst="rect">
            <a:avLst/>
          </a:prstGeom>
          <a:noFill/>
        </p:spPr>
        <p:txBody>
          <a:bodyPr wrap="square" anchor="t" lIns="0" rIns="0" tIns="0" bIns="0">
            <a:spAutoFit/>
          </a:bodyPr>
          <a:lstStyle/>
          <a:p>
            <a:pPr algn="l">
              <a:spcBef>
                <a:spcPts val="0"/>
              </a:spcBef>
              <a:spcAft>
                <a:spcPts val="0"/>
              </a:spcAft>
              <a:buNone/>
            </a:pPr>
            <a:r>
              <a:rPr sz="2300" b="1" i="0">
                <a:solidFill>
                  <a:srgbClr val="757575"/>
                </a:solidFill>
                <a:latin typeface="NVIDIA Sans Medium"/>
              </a:rPr>
              <a:t>EXAMPLE</a:t>
            </a:r>
          </a:p>
        </p:txBody>
      </p:sp>
      <p:sp>
        <p:nvSpPr>
          <p:cNvPr id="40" name="TextBox 39"/>
          <p:cNvSpPr txBox="1"/>
          <p:nvPr/>
        </p:nvSpPr>
        <p:spPr>
          <a:xfrm>
            <a:off x="26929080" y="9720072"/>
            <a:ext cx="7406640" cy="530352"/>
          </a:xfrm>
          <a:prstGeom prst="rect">
            <a:avLst/>
          </a:prstGeom>
          <a:noFill/>
        </p:spPr>
        <p:txBody>
          <a:bodyPr wrap="square" anchor="t" lIns="0" rIns="0" tIns="0" bIns="0">
            <a:spAutoFit/>
          </a:bodyPr>
          <a:lstStyle/>
          <a:p>
            <a:pPr algn="l">
              <a:spcBef>
                <a:spcPts val="0"/>
              </a:spcBef>
              <a:spcAft>
                <a:spcPts val="0"/>
              </a:spcAft>
              <a:buNone/>
            </a:pPr>
            <a:r>
              <a:rPr sz="2700" b="0" i="0">
                <a:solidFill>
                  <a:srgbClr val="313131"/>
                </a:solidFill>
                <a:latin typeface="NVIDIA Sans"/>
              </a:rPr>
              <a:t>Ulysses SP8 attention</a:t>
            </a:r>
          </a:p>
        </p:txBody>
      </p:sp>
      <p:cxnSp>
        <p:nvCxnSpPr>
          <p:cNvPr id="41" name="Connector 40"/>
          <p:cNvCxnSpPr/>
          <p:nvPr/>
        </p:nvCxnSpPr>
        <p:spPr>
          <a:xfrm>
            <a:off x="14721840" y="12161520"/>
            <a:ext cx="19202400" cy="0"/>
          </a:xfrm>
          <a:prstGeom prst="line">
            <a:avLst/>
          </a:prstGeom>
          <a:ln w="25400">
            <a:solidFill>
              <a:srgbClr val="757575"/>
            </a:solidFill>
          </a:ln>
        </p:spPr>
        <p:style>
          <a:lnRef idx="2">
            <a:schemeClr val="accent1"/>
          </a:lnRef>
          <a:fillRef idx="0">
            <a:schemeClr val="accent1"/>
          </a:fillRef>
          <a:effectRef idx="1">
            <a:schemeClr val="accent1"/>
          </a:effectRef>
          <a:fontRef idx="minor">
            <a:schemeClr val="tx1"/>
          </a:fontRef>
        </p:style>
      </p:cxnSp>
      <p:sp>
        <p:nvSpPr>
          <p:cNvPr id="42" name="Isosceles Triangle 41"/>
          <p:cNvSpPr/>
          <p:nvPr/>
        </p:nvSpPr>
        <p:spPr>
          <a:xfrm rot="5400000">
            <a:off x="33768792" y="12006072"/>
            <a:ext cx="310896" cy="310896"/>
          </a:xfrm>
          <a:prstGeom prst="triangl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6532352" y="11960352"/>
            <a:ext cx="402336" cy="402336"/>
          </a:xfrm>
          <a:prstGeom prst="ellipse">
            <a:avLst/>
          </a:prstGeom>
          <a:solidFill>
            <a:srgbClr val="952F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721840" y="12573000"/>
            <a:ext cx="4023360" cy="868680"/>
          </a:xfrm>
          <a:prstGeom prst="rect">
            <a:avLst/>
          </a:prstGeom>
          <a:noFill/>
        </p:spPr>
        <p:txBody>
          <a:bodyPr wrap="square" anchor="t" lIns="0" rIns="0" tIns="0" bIns="0">
            <a:spAutoFit/>
          </a:bodyPr>
          <a:lstStyle/>
          <a:p>
            <a:pPr algn="ctr">
              <a:spcBef>
                <a:spcPts val="0"/>
              </a:spcBef>
              <a:spcAft>
                <a:spcPts val="0"/>
              </a:spcAft>
              <a:buNone/>
            </a:pPr>
            <a:r>
              <a:rPr sz="2400" b="1" i="0">
                <a:solidFill>
                  <a:srgbClr val="952FC6"/>
                </a:solidFill>
                <a:latin typeface="NVIDIA Sans Medium"/>
              </a:rPr>
              <a:t>LOCAL</a:t>
            </a:r>
          </a:p>
          <a:p>
            <a:pPr algn="ctr">
              <a:spcBef>
                <a:spcPts val="0"/>
              </a:spcBef>
              <a:spcAft>
                <a:spcPts val="0"/>
              </a:spcAft>
              <a:buNone/>
            </a:pPr>
            <a:r>
              <a:rPr sz="2400" b="1" i="0">
                <a:solidFill>
                  <a:srgbClr val="952FC6"/>
                </a:solidFill>
                <a:latin typeface="NVIDIA Sans Medium"/>
              </a:rPr>
              <a:t>KERNELS</a:t>
            </a:r>
          </a:p>
        </p:txBody>
      </p:sp>
      <p:sp>
        <p:nvSpPr>
          <p:cNvPr id="45" name="Oval 44"/>
          <p:cNvSpPr/>
          <p:nvPr/>
        </p:nvSpPr>
        <p:spPr>
          <a:xfrm>
            <a:off x="23436072" y="11960352"/>
            <a:ext cx="402336" cy="402336"/>
          </a:xfrm>
          <a:prstGeom prst="ellipse">
            <a:avLst/>
          </a:prstGeom>
          <a:solidFill>
            <a:srgbClr val="1DBB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1625560" y="12573000"/>
            <a:ext cx="4023360" cy="868680"/>
          </a:xfrm>
          <a:prstGeom prst="rect">
            <a:avLst/>
          </a:prstGeom>
          <a:noFill/>
        </p:spPr>
        <p:txBody>
          <a:bodyPr wrap="square" anchor="t" lIns="0" rIns="0" tIns="0" bIns="0">
            <a:spAutoFit/>
          </a:bodyPr>
          <a:lstStyle/>
          <a:p>
            <a:pPr algn="ctr">
              <a:spcBef>
                <a:spcPts val="0"/>
              </a:spcBef>
              <a:spcAft>
                <a:spcPts val="0"/>
              </a:spcAft>
              <a:buNone/>
            </a:pPr>
            <a:r>
              <a:rPr sz="2400" b="1" i="0">
                <a:solidFill>
                  <a:srgbClr val="1DBBA4"/>
                </a:solidFill>
                <a:latin typeface="NVIDIA Sans Medium"/>
              </a:rPr>
              <a:t>VSA FINE</a:t>
            </a:r>
          </a:p>
          <a:p>
            <a:pPr algn="ctr">
              <a:spcBef>
                <a:spcPts val="0"/>
              </a:spcBef>
              <a:spcAft>
                <a:spcPts val="0"/>
              </a:spcAft>
              <a:buNone/>
            </a:pPr>
            <a:r>
              <a:rPr sz="2400" b="1" i="0">
                <a:solidFill>
                  <a:srgbClr val="1DBBA4"/>
                </a:solidFill>
                <a:latin typeface="NVIDIA Sans Medium"/>
              </a:rPr>
              <a:t>COMPUTE</a:t>
            </a:r>
          </a:p>
        </p:txBody>
      </p:sp>
      <p:sp>
        <p:nvSpPr>
          <p:cNvPr id="47" name="Oval 46"/>
          <p:cNvSpPr/>
          <p:nvPr/>
        </p:nvSpPr>
        <p:spPr>
          <a:xfrm>
            <a:off x="31437072" y="11960352"/>
            <a:ext cx="402336" cy="402336"/>
          </a:xfrm>
          <a:prstGeom prst="ellipse">
            <a:avLst/>
          </a:prstGeom>
          <a:solidFill>
            <a:srgbClr val="007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626560" y="12573000"/>
            <a:ext cx="4023360" cy="868680"/>
          </a:xfrm>
          <a:prstGeom prst="rect">
            <a:avLst/>
          </a:prstGeom>
          <a:noFill/>
        </p:spPr>
        <p:txBody>
          <a:bodyPr wrap="square" anchor="t" lIns="0" rIns="0" tIns="0" bIns="0">
            <a:spAutoFit/>
          </a:bodyPr>
          <a:lstStyle/>
          <a:p>
            <a:pPr algn="ctr">
              <a:spcBef>
                <a:spcPts val="0"/>
              </a:spcBef>
              <a:spcAft>
                <a:spcPts val="0"/>
              </a:spcAft>
              <a:buNone/>
            </a:pPr>
            <a:r>
              <a:rPr sz="2400" b="1" i="0">
                <a:solidFill>
                  <a:srgbClr val="0074DF"/>
                </a:solidFill>
                <a:latin typeface="NVIDIA Sans Medium"/>
              </a:rPr>
              <a:t>H3 BASELINE</a:t>
            </a:r>
          </a:p>
          <a:p>
            <a:pPr algn="ctr">
              <a:spcBef>
                <a:spcPts val="0"/>
              </a:spcBef>
              <a:spcAft>
                <a:spcPts val="0"/>
              </a:spcAft>
              <a:buNone/>
            </a:pPr>
            <a:r>
              <a:rPr sz="2400" b="1" i="0">
                <a:solidFill>
                  <a:srgbClr val="0074DF"/>
                </a:solidFill>
                <a:latin typeface="NVIDIA Sans Medium"/>
              </a:rPr>
              <a:t>ULYSSES SP8</a:t>
            </a:r>
          </a:p>
        </p:txBody>
      </p:sp>
      <p:sp>
        <p:nvSpPr>
          <p:cNvPr id="49" name="TextBox 48"/>
          <p:cNvSpPr txBox="1"/>
          <p:nvPr/>
        </p:nvSpPr>
        <p:spPr>
          <a:xfrm>
            <a:off x="14721840" y="13716000"/>
            <a:ext cx="19202400" cy="411480"/>
          </a:xfrm>
          <a:prstGeom prst="rect">
            <a:avLst/>
          </a:prstGeom>
          <a:noFill/>
        </p:spPr>
        <p:txBody>
          <a:bodyPr wrap="square" anchor="t" lIns="0" rIns="0" tIns="0" bIns="0">
            <a:spAutoFit/>
          </a:bodyPr>
          <a:lstStyle/>
          <a:p>
            <a:pPr algn="ctr">
              <a:spcBef>
                <a:spcPts val="0"/>
              </a:spcBef>
              <a:spcAft>
                <a:spcPts val="0"/>
              </a:spcAft>
              <a:buNone/>
            </a:pPr>
            <a:r>
              <a:rPr sz="2400" b="0" i="0">
                <a:solidFill>
                  <a:srgbClr val="757575"/>
                </a:solidFill>
                <a:latin typeface="NVIDIA Sans"/>
              </a:rPr>
              <a:t>increasing remote bytes + synchronization frequency</a:t>
            </a:r>
          </a:p>
        </p:txBody>
      </p:sp>
      <p:cxnSp>
        <p:nvCxnSpPr>
          <p:cNvPr id="50" name="Connector 49"/>
          <p:cNvCxnSpPr/>
          <p:nvPr/>
        </p:nvCxnSpPr>
        <p:spPr>
          <a:xfrm>
            <a:off x="14493240" y="14676120"/>
            <a:ext cx="1984248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4493240" y="15288767"/>
            <a:ext cx="4709160" cy="566928"/>
          </a:xfrm>
          <a:prstGeom prst="rect">
            <a:avLst/>
          </a:prstGeom>
          <a:noFill/>
        </p:spPr>
        <p:txBody>
          <a:bodyPr wrap="square" anchor="t" lIns="0" rIns="0" tIns="0" bIns="0">
            <a:spAutoFit/>
          </a:bodyPr>
          <a:lstStyle/>
          <a:p>
            <a:pPr algn="l">
              <a:spcBef>
                <a:spcPts val="0"/>
              </a:spcBef>
              <a:spcAft>
                <a:spcPts val="0"/>
              </a:spcAft>
              <a:buNone/>
            </a:pPr>
            <a:r>
              <a:rPr sz="3800" b="1" i="0">
                <a:solidFill>
                  <a:srgbClr val="76B900"/>
                </a:solidFill>
                <a:latin typeface="NVIDIA Sans Medium"/>
              </a:rPr>
              <a:t>1,344 GB/s</a:t>
            </a:r>
          </a:p>
        </p:txBody>
      </p:sp>
      <p:sp>
        <p:nvSpPr>
          <p:cNvPr id="52" name="TextBox 51"/>
          <p:cNvSpPr txBox="1"/>
          <p:nvPr/>
        </p:nvSpPr>
        <p:spPr>
          <a:xfrm>
            <a:off x="14493240" y="15910559"/>
            <a:ext cx="4709160" cy="393192"/>
          </a:xfrm>
          <a:prstGeom prst="rect">
            <a:avLst/>
          </a:prstGeom>
          <a:noFill/>
        </p:spPr>
        <p:txBody>
          <a:bodyPr wrap="square" anchor="t" lIns="0" rIns="0" tIns="0" bIns="0">
            <a:spAutoFit/>
          </a:bodyPr>
          <a:lstStyle/>
          <a:p>
            <a:pPr algn="l">
              <a:spcBef>
                <a:spcPts val="0"/>
              </a:spcBef>
              <a:spcAft>
                <a:spcPts val="0"/>
              </a:spcAft>
              <a:buNone/>
            </a:pPr>
            <a:r>
              <a:rPr sz="2400" b="0" i="0">
                <a:solidFill>
                  <a:srgbClr val="757575"/>
                </a:solidFill>
                <a:latin typeface="NVIDIA Sans"/>
              </a:rPr>
              <a:t>local GDDR7</a:t>
            </a:r>
          </a:p>
        </p:txBody>
      </p:sp>
      <p:sp>
        <p:nvSpPr>
          <p:cNvPr id="53" name="TextBox 52"/>
          <p:cNvSpPr txBox="1"/>
          <p:nvPr/>
        </p:nvSpPr>
        <p:spPr>
          <a:xfrm>
            <a:off x="19431000" y="15316200"/>
            <a:ext cx="1234440" cy="502920"/>
          </a:xfrm>
          <a:prstGeom prst="rect">
            <a:avLst/>
          </a:prstGeom>
          <a:noFill/>
        </p:spPr>
        <p:txBody>
          <a:bodyPr wrap="square" anchor="t" lIns="0" rIns="0" tIns="0" bIns="0">
            <a:spAutoFit/>
          </a:bodyPr>
          <a:lstStyle/>
          <a:p>
            <a:pPr algn="ctr">
              <a:spcBef>
                <a:spcPts val="0"/>
              </a:spcBef>
              <a:spcAft>
                <a:spcPts val="0"/>
              </a:spcAft>
              <a:buNone/>
            </a:pPr>
            <a:r>
              <a:rPr sz="2800" b="1" i="0">
                <a:solidFill>
                  <a:srgbClr val="757575"/>
                </a:solidFill>
                <a:latin typeface="NVIDIA Sans Medium"/>
              </a:rPr>
              <a:t>vs</a:t>
            </a:r>
          </a:p>
        </p:txBody>
      </p:sp>
      <p:sp>
        <p:nvSpPr>
          <p:cNvPr id="54" name="TextBox 53"/>
          <p:cNvSpPr txBox="1"/>
          <p:nvPr/>
        </p:nvSpPr>
        <p:spPr>
          <a:xfrm>
            <a:off x="20848320" y="15288767"/>
            <a:ext cx="4251960" cy="566928"/>
          </a:xfrm>
          <a:prstGeom prst="rect">
            <a:avLst/>
          </a:prstGeom>
          <a:noFill/>
        </p:spPr>
        <p:txBody>
          <a:bodyPr wrap="square" anchor="t" lIns="0" rIns="0" tIns="0" bIns="0">
            <a:spAutoFit/>
          </a:bodyPr>
          <a:lstStyle/>
          <a:p>
            <a:pPr algn="l">
              <a:spcBef>
                <a:spcPts val="0"/>
              </a:spcBef>
              <a:spcAft>
                <a:spcPts val="0"/>
              </a:spcAft>
              <a:buNone/>
            </a:pPr>
            <a:r>
              <a:rPr sz="3800" b="1" i="0">
                <a:solidFill>
                  <a:srgbClr val="0074DF"/>
                </a:solidFill>
                <a:latin typeface="NVIDIA Sans Medium"/>
              </a:rPr>
              <a:t>50 GB/s</a:t>
            </a:r>
          </a:p>
        </p:txBody>
      </p:sp>
      <p:sp>
        <p:nvSpPr>
          <p:cNvPr id="55" name="TextBox 54"/>
          <p:cNvSpPr txBox="1"/>
          <p:nvPr/>
        </p:nvSpPr>
        <p:spPr>
          <a:xfrm>
            <a:off x="20848320" y="15910559"/>
            <a:ext cx="5669280" cy="393192"/>
          </a:xfrm>
          <a:prstGeom prst="rect">
            <a:avLst/>
          </a:prstGeom>
          <a:noFill/>
        </p:spPr>
        <p:txBody>
          <a:bodyPr wrap="square" anchor="t" lIns="0" rIns="0" tIns="0" bIns="0">
            <a:spAutoFit/>
          </a:bodyPr>
          <a:lstStyle/>
          <a:p>
            <a:pPr algn="l">
              <a:spcBef>
                <a:spcPts val="0"/>
              </a:spcBef>
              <a:spcAft>
                <a:spcPts val="0"/>
              </a:spcAft>
              <a:buNone/>
            </a:pPr>
            <a:r>
              <a:rPr sz="2400" b="0" i="0">
                <a:solidFill>
                  <a:srgbClr val="757575"/>
                </a:solidFill>
                <a:latin typeface="NVIDIA Sans"/>
              </a:rPr>
              <a:t>nominal 400 Gb/s port</a:t>
            </a:r>
          </a:p>
        </p:txBody>
      </p:sp>
      <p:sp>
        <p:nvSpPr>
          <p:cNvPr id="56" name="TextBox 55"/>
          <p:cNvSpPr txBox="1"/>
          <p:nvPr/>
        </p:nvSpPr>
        <p:spPr>
          <a:xfrm>
            <a:off x="26837640" y="15343632"/>
            <a:ext cx="7498079" cy="502920"/>
          </a:xfrm>
          <a:prstGeom prst="rect">
            <a:avLst/>
          </a:prstGeom>
          <a:noFill/>
        </p:spPr>
        <p:txBody>
          <a:bodyPr wrap="square" anchor="t" lIns="0" rIns="0" tIns="0" bIns="0">
            <a:spAutoFit/>
          </a:bodyPr>
          <a:lstStyle/>
          <a:p>
            <a:pPr algn="r">
              <a:spcBef>
                <a:spcPts val="0"/>
              </a:spcBef>
              <a:spcAft>
                <a:spcPts val="0"/>
              </a:spcAft>
              <a:buNone/>
            </a:pPr>
            <a:r>
              <a:rPr sz="3000" b="1" i="0">
                <a:solidFill>
                  <a:srgbClr val="313131"/>
                </a:solidFill>
                <a:latin typeface="NVIDIA Sans Medium"/>
              </a:rPr>
              <a:t>26.9× raw-rate ratio*</a:t>
            </a:r>
          </a:p>
        </p:txBody>
      </p:sp>
      <p:sp>
        <p:nvSpPr>
          <p:cNvPr id="57" name="TextBox 56"/>
          <p:cNvSpPr txBox="1"/>
          <p:nvPr/>
        </p:nvSpPr>
        <p:spPr>
          <a:xfrm>
            <a:off x="14493240" y="16843248"/>
            <a:ext cx="19842480" cy="530352"/>
          </a:xfrm>
          <a:prstGeom prst="rect">
            <a:avLst/>
          </a:prstGeom>
          <a:noFill/>
        </p:spPr>
        <p:txBody>
          <a:bodyPr wrap="square" anchor="t" lIns="0" rIns="0" tIns="0" bIns="0">
            <a:spAutoFit/>
          </a:bodyPr>
          <a:lstStyle/>
          <a:p>
            <a:pPr algn="r">
              <a:spcBef>
                <a:spcPts val="0"/>
              </a:spcBef>
              <a:spcAft>
                <a:spcPts val="0"/>
              </a:spcAft>
              <a:buNone/>
            </a:pPr>
            <a:r>
              <a:rPr sz="2100" b="0" i="0">
                <a:solidFill>
                  <a:srgbClr val="757575"/>
                </a:solidFill>
                <a:latin typeface="NVIDIA Sans"/>
              </a:rPr>
              <a:t>8 active 400 Gb/s ports · *local memory bandwidth ÷ nominal NIC line rate; not end-to-end payload throughput</a:t>
            </a:r>
          </a:p>
        </p:txBody>
      </p:sp>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Inference on 8 NVIDIA RTX PRO GPUs</dc:title>
  <dc:subject>Public technical brief on distributed video inference</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