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63"/>
  </p:notesMasterIdLst>
  <p:handoutMasterIdLst>
    <p:handoutMasterId r:id="rId64"/>
  </p:handoutMasterIdLst>
  <p:sldIdLst>
    <p:sldId id="340" r:id="rId82"/>
    <p:sldId id="341" r:id="rId83"/>
    <p:sldId id="342" r:id="rId84"/>
    <p:sldId id="343" r:id="rId85"/>
  </p:sldIdLst>
  <p:sldSz cx="36576000" cy="20574000"/>
  <p:notesSz cx="6858000" cy="9144000"/>
  <p:embeddedFontLst>
    <p:embeddedFont>
      <p:font typeface="NVIDIA Sans" panose="020B0503020203020204" pitchFamily="34" charset="0"/>
      <p:regular r:id="rId65"/>
      <p:bold r:id="rId66"/>
      <p:italic r:id="rId67"/>
      <p:boldItalic r:id="rId68"/>
    </p:embeddedFont>
    <p:embeddedFont>
      <p:font typeface="NVIDIA Sans Medium" panose="020B0503020203020204" pitchFamily="34" charset="0"/>
      <p:regular r:id="rId69"/>
      <p:italic r:id="rId70"/>
    </p:embeddedFont>
    <p:embeddedFont>
      <p:font typeface="Roboto Mono" pitchFamily="49" charset="0"/>
      <p:regular r:id="rId71"/>
      <p:bold r:id="rId72"/>
      <p:italic r:id="rId73"/>
      <p:boldItalic r:id="rId74"/>
    </p:embeddedFont>
    <p:embeddedFont>
      <p:font typeface="Roboto Mono Medium" panose="00000009000000000000" pitchFamily="49" charset="0"/>
      <p:regular r:id="rId75"/>
      <p:italic r:id="rId7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DFCC83-3E81-21FA-A956-02F202B4A25D}" name="Ashley Piersons" initials="AP" userId="S::apiersons@nvidia.com::ed6063d9-7721-4b59-a04e-d5ea60483c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FFFFFF"/>
    <a:srgbClr val="68A300"/>
    <a:srgbClr val="A4C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2671" autoAdjust="0"/>
  </p:normalViewPr>
  <p:slideViewPr>
    <p:cSldViewPr snapToGrid="0" showGuides="1">
      <p:cViewPr varScale="1">
        <p:scale>
          <a:sx n="39" d="100"/>
          <a:sy n="39" d="100"/>
        </p:scale>
        <p:origin x="624" y="184"/>
      </p:cViewPr>
      <p:guideLst>
        <p:guide/>
        <p:guide pos="23040"/>
        <p:guide pos="576"/>
        <p:guide pos="22464"/>
        <p:guide orient="horz"/>
        <p:guide orient="horz" pos="12960"/>
        <p:guide orient="horz" pos="576"/>
        <p:guide orient="horz" pos="12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8328"/>
    </p:cViewPr>
  </p:sorterViewPr>
  <p:notesViewPr>
    <p:cSldViewPr snapToGrid="0" showGuides="1">
      <p:cViewPr varScale="1">
        <p:scale>
          <a:sx n="114" d="100"/>
          <a:sy n="114" d="100"/>
        </p:scale>
        <p:origin x="25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font" Target="fonts/font1.fntdata"/><Relationship Id="rId66" Type="http://schemas.openxmlformats.org/officeDocument/2006/relationships/font" Target="fonts/font2.fntdata"/><Relationship Id="rId67" Type="http://schemas.openxmlformats.org/officeDocument/2006/relationships/font" Target="fonts/font3.fntdata"/><Relationship Id="rId68" Type="http://schemas.openxmlformats.org/officeDocument/2006/relationships/font" Target="fonts/font4.fntdata"/><Relationship Id="rId69" Type="http://schemas.openxmlformats.org/officeDocument/2006/relationships/font" Target="fonts/font5.fntdata"/><Relationship Id="rId70" Type="http://schemas.openxmlformats.org/officeDocument/2006/relationships/font" Target="fonts/font6.fntdata"/><Relationship Id="rId71" Type="http://schemas.openxmlformats.org/officeDocument/2006/relationships/font" Target="fonts/font7.fntdata"/><Relationship Id="rId72" Type="http://schemas.openxmlformats.org/officeDocument/2006/relationships/font" Target="fonts/font8.fntdata"/><Relationship Id="rId73" Type="http://schemas.openxmlformats.org/officeDocument/2006/relationships/font" Target="fonts/font9.fntdata"/><Relationship Id="rId74" Type="http://schemas.openxmlformats.org/officeDocument/2006/relationships/font" Target="fonts/font10.fntdata"/><Relationship Id="rId75" Type="http://schemas.openxmlformats.org/officeDocument/2006/relationships/font" Target="fonts/font11.fntdata"/><Relationship Id="rId76" Type="http://schemas.openxmlformats.org/officeDocument/2006/relationships/font" Target="fonts/font12.fnt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microsoft.com/office/2018/10/relationships/authors" Target="authors.xml"/><Relationship Id="rId82" Type="http://schemas.openxmlformats.org/officeDocument/2006/relationships/slide" Target="slides/slide59.xml"/><Relationship Id="rId83" Type="http://schemas.openxmlformats.org/officeDocument/2006/relationships/slide" Target="slides/slide60.xml"/><Relationship Id="rId84" Type="http://schemas.openxmlformats.org/officeDocument/2006/relationships/slide" Target="slides/slide61.xml"/><Relationship Id="rId85" Type="http://schemas.openxmlformats.org/officeDocument/2006/relationships/slide" Target="slides/slide6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7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D52E6-A280-0EB1-7695-16D51113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32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	Second level</a:t>
            </a:r>
          </a:p>
          <a:p>
            <a:pPr lvl="0"/>
            <a:r>
              <a:rPr lang="en-US" dirty="0"/>
              <a:t>		Third level</a:t>
            </a:r>
          </a:p>
          <a:p>
            <a:pPr lvl="0"/>
            <a:r>
              <a:rPr lang="en-US" dirty="0"/>
              <a:t>			Fourth level</a:t>
            </a:r>
          </a:p>
          <a:p>
            <a:pPr lvl="0"/>
            <a:r>
              <a:rPr lang="en-US" dirty="0"/>
              <a:t>				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8458B-708F-5BA6-F1E0-71698020D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1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13716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27432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41148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54864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68580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this talk examines how an eight-GPU Blackwell workstation serves a long-sequence audiovisual generator in real time.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is defined as RTF = end-to-end generation latency divided by finished-media duration, with RTF &lt;= 1.0. The 15.08 s example is 362 frames at 24 FPS. Parameter bars compare published video-generation transformer sizes, not full serving stacks or measured FLOPs. H3 is 33B dense with about 13B in AdaLN branches whose outputs can be precomputed and cached for inference-only deployment. Wan2.2 A14B is 27B total and 14B active per denoising step. LTX-2.5 uses its official 22B checkpoint designation. Sources: https://huggingface.co/MiniMaxAI/MiniMax-H3 ; https://huggingface.co/Lightricks/LTX-2.5 ; https://github.com/Wan-Video/Wan2.2 ; https://github.com/Tencent-Hunyuan/HunyuanVideo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the template's standard 2-up Image 16:9 layout. Both visuals are copied directly from public vLLM-Omni materials: the official architecture figure and the PR #9194 ComfyUI workflow screenshot.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template's native Table Example is reused directly. NVIDIA publicly specifies 300 W TBP for RTX PRO 5000; the local eight-GPU system reports a 350 W configured/enforced power limit, so both values are labeled rather than conflated. SwPowerCap is reported as the share of valid NVML samples, not exact time under cap.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V Cover">
            <a:extLst>
              <a:ext uri="{FF2B5EF4-FFF2-40B4-BE49-F238E27FC236}">
                <a16:creationId xmlns:a16="http://schemas.microsoft.com/office/drawing/2014/main" id="{1159C106-99AA-D6FE-4680-F5FA37DEFB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6" name="Gradient">
            <a:extLst>
              <a:ext uri="{FF2B5EF4-FFF2-40B4-BE49-F238E27FC236}">
                <a16:creationId xmlns:a16="http://schemas.microsoft.com/office/drawing/2014/main" id="{AB8E17C0-2F94-AA60-3059-BB1990DAB0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32FCE6-27DF-71BF-764C-6A33A1DC24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8800" y="16919165"/>
            <a:ext cx="16459200" cy="1828800"/>
          </a:xfrm>
          <a:prstGeom prst="rect">
            <a:avLst/>
          </a:prstGeom>
        </p:spPr>
        <p:txBody>
          <a:bodyPr lIns="0" tIns="45720" rIns="0" bIns="4572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Event Details  |  Date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6A7270C-E57A-891D-68FA-E278EDAFD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16002000"/>
            <a:ext cx="16459200" cy="72943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speaker name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B05952E-BEBB-3131-39CE-8BE18E92B6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7360" y="6858000"/>
            <a:ext cx="16459200" cy="840230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aseline="0">
                <a:latin typeface="+mj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Logo Text">
            <a:extLst>
              <a:ext uri="{FF2B5EF4-FFF2-40B4-BE49-F238E27FC236}">
                <a16:creationId xmlns:a16="http://schemas.microsoft.com/office/drawing/2014/main" id="{EDAA1242-21FF-D853-07AB-7B5BC2BE0B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3129472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Logo Eye">
            <a:extLst>
              <a:ext uri="{FF2B5EF4-FFF2-40B4-BE49-F238E27FC236}">
                <a16:creationId xmlns:a16="http://schemas.microsoft.com/office/drawing/2014/main" id="{7397046C-7F78-E4D8-0656-B1D73F72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Agenda">
            <a:extLst>
              <a:ext uri="{FF2B5EF4-FFF2-40B4-BE49-F238E27FC236}">
                <a16:creationId xmlns:a16="http://schemas.microsoft.com/office/drawing/2014/main" id="{286A11D6-2655-138C-4E2C-CC95BD1E31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Gradient">
            <a:extLst>
              <a:ext uri="{FF2B5EF4-FFF2-40B4-BE49-F238E27FC236}">
                <a16:creationId xmlns:a16="http://schemas.microsoft.com/office/drawing/2014/main" id="{BCF38184-F10E-5413-DFC7-636D799CF9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6365200" cy="20574000"/>
          </a:xfrm>
          <a:prstGeom prst="rect">
            <a:avLst/>
          </a:prstGeom>
          <a:gradFill flip="none" rotWithShape="1">
            <a:gsLst>
              <a:gs pos="50000">
                <a:srgbClr val="FFFFFF">
                  <a:alpha val="75000"/>
                </a:srgbClr>
              </a:gs>
              <a:gs pos="0">
                <a:schemeClr val="bg1">
                  <a:alpha val="8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5E6BF86-B8AE-0D7A-9EED-4667F43D1A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0" y="3200400"/>
            <a:ext cx="14173200" cy="14173200"/>
          </a:xfrm>
          <a:prstGeom prst="rect">
            <a:avLst/>
          </a:prstGeom>
        </p:spPr>
        <p:txBody>
          <a:bodyPr lIns="0" tIns="45720" rIns="0" bIns="45720" anchor="ctr">
            <a:noAutofit/>
          </a:bodyPr>
          <a:lstStyle>
            <a:lvl1pPr marL="0" indent="0">
              <a:lnSpc>
                <a:spcPct val="90000"/>
              </a:lnSpc>
              <a:spcBef>
                <a:spcPts val="3000"/>
              </a:spcBef>
              <a:spcAft>
                <a:spcPts val="3000"/>
              </a:spcAft>
              <a:buNone/>
              <a:defRPr sz="5400" kern="1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</p:txBody>
      </p:sp>
      <p:sp>
        <p:nvSpPr>
          <p:cNvPr id="7" name="Agenda Title">
            <a:extLst>
              <a:ext uri="{FF2B5EF4-FFF2-40B4-BE49-F238E27FC236}">
                <a16:creationId xmlns:a16="http://schemas.microsoft.com/office/drawing/2014/main" id="{28EF0C95-765E-4725-72B9-B01FAF7A27C6}"/>
              </a:ext>
            </a:extLst>
          </p:cNvPr>
          <p:cNvSpPr txBox="1"/>
          <p:nvPr userDrawn="1"/>
        </p:nvSpPr>
        <p:spPr>
          <a:xfrm>
            <a:off x="1828800" y="9355604"/>
            <a:ext cx="5732660" cy="1938992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12000" kern="100" baseline="0" dirty="0"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437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V Transition">
            <a:extLst>
              <a:ext uri="{FF2B5EF4-FFF2-40B4-BE49-F238E27FC236}">
                <a16:creationId xmlns:a16="http://schemas.microsoft.com/office/drawing/2014/main" id="{F0FDF11B-123E-E679-C0FA-F41F44F136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">
            <a:extLst>
              <a:ext uri="{FF2B5EF4-FFF2-40B4-BE49-F238E27FC236}">
                <a16:creationId xmlns:a16="http://schemas.microsoft.com/office/drawing/2014/main" id="{AE985F00-3D1C-4B62-A80F-86E9A2D77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59400" y="2470666"/>
            <a:ext cx="16687800" cy="341632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200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Transition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27305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Quote">
            <a:extLst>
              <a:ext uri="{FF2B5EF4-FFF2-40B4-BE49-F238E27FC236}">
                <a16:creationId xmlns:a16="http://schemas.microsoft.com/office/drawing/2014/main" id="{C1489B41-1ACE-E5CA-AA75-542FCC920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5902D4C3-9D78-F0C7-D1DE-4ED685302D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DEBA1E2-C4F3-9C5A-7504-F537799FE5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680" y="15882170"/>
            <a:ext cx="23317200" cy="757130"/>
          </a:xfrm>
        </p:spPr>
        <p:txBody>
          <a:bodyPr>
            <a:noAutofit/>
          </a:bodyPr>
          <a:lstStyle>
            <a:lvl1pPr marL="1005840">
              <a:spcBef>
                <a:spcPts val="0"/>
              </a:spcBef>
              <a:spcAft>
                <a:spcPts val="0"/>
              </a:spcAft>
              <a:buNone/>
              <a:defRPr sz="4800" baseline="0">
                <a:latin typeface="+mn-lt"/>
              </a:defRPr>
            </a:lvl1pPr>
          </a:lstStyle>
          <a:p>
            <a:pPr lvl="0"/>
            <a:r>
              <a:rPr lang="en-US" dirty="0"/>
              <a:t>Name, Company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14548-19C6-5111-D0E3-F080E8B0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3962400"/>
            <a:ext cx="23317200" cy="10972800"/>
          </a:xfrm>
        </p:spPr>
        <p:txBody>
          <a:bodyPr anchor="t">
            <a:normAutofit/>
          </a:bodyPr>
          <a:lstStyle>
            <a:lvl1pPr marL="914400" indent="-685800" defTabSz="914400">
              <a:lnSpc>
                <a:spcPct val="100000"/>
              </a:lnSpc>
              <a:buSzPct val="100000"/>
              <a:buFont typeface="NVIDIA Sans" panose="020B0503020203020204" pitchFamily="34" charset="0"/>
              <a:buChar char="“"/>
              <a:defRPr sz="15000" kern="100" baseline="0">
                <a:latin typeface="+mn-lt"/>
              </a:defRPr>
            </a:lvl1pPr>
          </a:lstStyle>
          <a:p>
            <a:r>
              <a:rPr lang="en-US" dirty="0"/>
              <a:t>Quote placeholder.”</a:t>
            </a:r>
          </a:p>
        </p:txBody>
      </p:sp>
    </p:spTree>
    <p:extLst>
      <p:ext uri="{BB962C8B-B14F-4D97-AF65-F5344CB8AC3E}">
        <p14:creationId xmlns:p14="http://schemas.microsoft.com/office/powerpoint/2010/main" val="190287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Speaker">
            <a:extLst>
              <a:ext uri="{FF2B5EF4-FFF2-40B4-BE49-F238E27FC236}">
                <a16:creationId xmlns:a16="http://schemas.microsoft.com/office/drawing/2014/main" id="{CFF18E61-3C4B-6028-6E3C-5A0C25F567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0"/>
            <a:ext cx="36575996" cy="20573997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8000293E-AB43-EBF8-BC82-0C817228C41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15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794AC3DC-E5C8-57AA-F1F0-E4E9A2F01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1" y="5943600"/>
            <a:ext cx="20116800" cy="41148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C04FA0E0-9C96-392B-D33F-3466D05F7D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buFontTx/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A7E842F0-73CD-B6BE-1671-CF2E4C3D6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2" name="Occupation Placeholder 3">
            <a:extLst>
              <a:ext uri="{FF2B5EF4-FFF2-40B4-BE49-F238E27FC236}">
                <a16:creationId xmlns:a16="http://schemas.microsoft.com/office/drawing/2014/main" id="{0EB760A4-0BDA-FCD7-294C-06DD045808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544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6" name="Name Placeholder 3">
            <a:extLst>
              <a:ext uri="{FF2B5EF4-FFF2-40B4-BE49-F238E27FC236}">
                <a16:creationId xmlns:a16="http://schemas.microsoft.com/office/drawing/2014/main" id="{2A7EE98A-14CA-4FDE-3BBC-547CA78134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44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65035A17-84AD-B446-290E-48C215AFB5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544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6" name="Occupation Placeholder 2">
            <a:extLst>
              <a:ext uri="{FF2B5EF4-FFF2-40B4-BE49-F238E27FC236}">
                <a16:creationId xmlns:a16="http://schemas.microsoft.com/office/drawing/2014/main" id="{3BCECAB6-EED4-6C61-619E-0CB03435E4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17" name="Name Placeholder 2">
            <a:extLst>
              <a:ext uri="{FF2B5EF4-FFF2-40B4-BE49-F238E27FC236}">
                <a16:creationId xmlns:a16="http://schemas.microsoft.com/office/drawing/2014/main" id="{AD4CF95F-54EF-099D-AB51-5F454C5C20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6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903A1C07-C832-6984-03F5-70F355004B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686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9" name="Occupation Placeholder 1">
            <a:extLst>
              <a:ext uri="{FF2B5EF4-FFF2-40B4-BE49-F238E27FC236}">
                <a16:creationId xmlns:a16="http://schemas.microsoft.com/office/drawing/2014/main" id="{2CF04087-50EE-96A6-22F4-7B9B652690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28800" y="17866936"/>
            <a:ext cx="6400800" cy="92093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20" name="Name Placeholder 1">
            <a:extLst>
              <a:ext uri="{FF2B5EF4-FFF2-40B4-BE49-F238E27FC236}">
                <a16:creationId xmlns:a16="http://schemas.microsoft.com/office/drawing/2014/main" id="{44AB9F9F-C0EC-6E66-8AE9-84E99191AB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17118410"/>
            <a:ext cx="6400800" cy="707886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ED721DC3-5019-6710-1D8A-B709232FCF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28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>
            <a:normAutofit/>
          </a:bodyPr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51278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Closing">
            <a:extLst>
              <a:ext uri="{FF2B5EF4-FFF2-40B4-BE49-F238E27FC236}">
                <a16:creationId xmlns:a16="http://schemas.microsoft.com/office/drawing/2014/main" id="{D163A2C7-4DBD-77C7-03F3-50784ABE87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Gradient">
            <a:extLst>
              <a:ext uri="{FF2B5EF4-FFF2-40B4-BE49-F238E27FC236}">
                <a16:creationId xmlns:a16="http://schemas.microsoft.com/office/drawing/2014/main" id="{FD412695-43ED-8E18-EE2A-6688B5CBA1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ogo Text">
            <a:extLst>
              <a:ext uri="{FF2B5EF4-FFF2-40B4-BE49-F238E27FC236}">
                <a16:creationId xmlns:a16="http://schemas.microsoft.com/office/drawing/2014/main" id="{80BCAFA5-89AF-533D-D6D2-1C914E182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17905019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E8AAC571-D4E5-31AA-5989-EA3B40295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17709469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9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order Bottom">
            <a:extLst>
              <a:ext uri="{FF2B5EF4-FFF2-40B4-BE49-F238E27FC236}">
                <a16:creationId xmlns:a16="http://schemas.microsoft.com/office/drawing/2014/main" id="{A47B56B7-6189-B712-00D6-DE875C5A82EA}"/>
              </a:ext>
            </a:extLst>
          </p:cNvPr>
          <p:cNvSpPr/>
          <p:nvPr userDrawn="1"/>
        </p:nvSpPr>
        <p:spPr>
          <a:xfrm>
            <a:off x="0" y="2034540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6" name="Red Border Top">
            <a:extLst>
              <a:ext uri="{FF2B5EF4-FFF2-40B4-BE49-F238E27FC236}">
                <a16:creationId xmlns:a16="http://schemas.microsoft.com/office/drawing/2014/main" id="{BE43CC2B-153E-856F-4121-4368A04664A1}"/>
              </a:ext>
            </a:extLst>
          </p:cNvPr>
          <p:cNvSpPr/>
          <p:nvPr userDrawn="1"/>
        </p:nvSpPr>
        <p:spPr>
          <a:xfrm>
            <a:off x="0" y="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00B4E871-88C4-CC33-C003-7170BE2B6E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" name="Confidential Tag">
            <a:extLst>
              <a:ext uri="{FF2B5EF4-FFF2-40B4-BE49-F238E27FC236}">
                <a16:creationId xmlns:a16="http://schemas.microsoft.com/office/drawing/2014/main" id="{BDF10C9D-ED7C-EA69-42A0-05377844B8F1}"/>
              </a:ext>
            </a:extLst>
          </p:cNvPr>
          <p:cNvSpPr txBox="1"/>
          <p:nvPr userDrawn="1"/>
        </p:nvSpPr>
        <p:spPr>
          <a:xfrm>
            <a:off x="1814511" y="10711668"/>
            <a:ext cx="8271495" cy="40011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en-US" sz="2000" b="1" kern="100" spc="0" baseline="0" dirty="0">
                <a:latin typeface="+mn-lt"/>
              </a:rPr>
              <a:t>DO NOT DISTRIBUTE UNTIL DATES LISTED.  NVIDIA CONFIDENTIAL.</a:t>
            </a:r>
          </a:p>
        </p:txBody>
      </p:sp>
      <p:sp>
        <p:nvSpPr>
          <p:cNvPr id="29" name="Zone Placeholder">
            <a:extLst>
              <a:ext uri="{FF2B5EF4-FFF2-40B4-BE49-F238E27FC236}">
                <a16:creationId xmlns:a16="http://schemas.microsoft.com/office/drawing/2014/main" id="{453B8D8C-ECFD-FFDC-F4B5-AD3BAF326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450825" y="5476814"/>
            <a:ext cx="3657600" cy="11197937"/>
          </a:xfrm>
        </p:spPr>
        <p:txBody>
          <a:bodyPr wrap="square" tIns="274320" bIns="4572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None/>
              <a:defRPr sz="4000">
                <a:latin typeface="+mn-lt"/>
              </a:defRPr>
            </a:lvl1pPr>
          </a:lstStyle>
          <a:p>
            <a:r>
              <a:rPr lang="en-US" dirty="0"/>
              <a:t>PT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BRT</a:t>
            </a:r>
          </a:p>
          <a:p>
            <a:r>
              <a:rPr lang="en-US" dirty="0"/>
              <a:t>GMT</a:t>
            </a:r>
          </a:p>
          <a:p>
            <a:r>
              <a:rPr lang="en-US" dirty="0"/>
              <a:t>CET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TST</a:t>
            </a:r>
          </a:p>
          <a:p>
            <a:r>
              <a:rPr lang="en-US" dirty="0"/>
              <a:t>JST</a:t>
            </a:r>
          </a:p>
          <a:p>
            <a:r>
              <a:rPr lang="en-US" dirty="0"/>
              <a:t>KST</a:t>
            </a:r>
          </a:p>
        </p:txBody>
      </p:sp>
      <p:sp>
        <p:nvSpPr>
          <p:cNvPr id="18" name="Zone">
            <a:extLst>
              <a:ext uri="{FF2B5EF4-FFF2-40B4-BE49-F238E27FC236}">
                <a16:creationId xmlns:a16="http://schemas.microsoft.com/office/drawing/2014/main" id="{18A3DAFC-DC66-A706-DDC5-1D0E8DF4B4CE}"/>
              </a:ext>
            </a:extLst>
          </p:cNvPr>
          <p:cNvSpPr txBox="1"/>
          <p:nvPr userDrawn="1"/>
        </p:nvSpPr>
        <p:spPr>
          <a:xfrm>
            <a:off x="29450825" y="4661205"/>
            <a:ext cx="32004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Zone</a:t>
            </a:r>
          </a:p>
        </p:txBody>
      </p:sp>
      <p:sp>
        <p:nvSpPr>
          <p:cNvPr id="26" name="Time Placeholder">
            <a:extLst>
              <a:ext uri="{FF2B5EF4-FFF2-40B4-BE49-F238E27FC236}">
                <a16:creationId xmlns:a16="http://schemas.microsoft.com/office/drawing/2014/main" id="{41A97F96-C8E8-4872-4734-05D60C181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08741" y="5476814"/>
            <a:ext cx="4572000" cy="11197937"/>
          </a:xfrm>
        </p:spPr>
        <p:txBody>
          <a:bodyPr wrap="square"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4000">
                <a:latin typeface="+mn-lt"/>
              </a:defRPr>
            </a:lvl1pPr>
          </a:lstStyle>
          <a:p>
            <a:pPr lvl="0"/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</p:txBody>
      </p:sp>
      <p:sp>
        <p:nvSpPr>
          <p:cNvPr id="17" name="Time">
            <a:extLst>
              <a:ext uri="{FF2B5EF4-FFF2-40B4-BE49-F238E27FC236}">
                <a16:creationId xmlns:a16="http://schemas.microsoft.com/office/drawing/2014/main" id="{804F5858-E9C3-CFB5-42CB-5027BBDA563C}"/>
              </a:ext>
            </a:extLst>
          </p:cNvPr>
          <p:cNvSpPr txBox="1"/>
          <p:nvPr userDrawn="1"/>
        </p:nvSpPr>
        <p:spPr>
          <a:xfrm>
            <a:off x="24208740" y="4661205"/>
            <a:ext cx="45720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Time</a:t>
            </a:r>
          </a:p>
        </p:txBody>
      </p:sp>
      <p:sp>
        <p:nvSpPr>
          <p:cNvPr id="25" name="Country Placeholder">
            <a:extLst>
              <a:ext uri="{FF2B5EF4-FFF2-40B4-BE49-F238E27FC236}">
                <a16:creationId xmlns:a16="http://schemas.microsoft.com/office/drawing/2014/main" id="{C90BA070-345E-CFCC-E29A-AC447F4F8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23856" y="5476815"/>
            <a:ext cx="4114800" cy="11197937"/>
          </a:xfrm>
        </p:spPr>
        <p:txBody>
          <a:bodyPr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4000">
                <a:latin typeface="+mn-lt"/>
              </a:defRPr>
            </a:lvl1pPr>
          </a:lstStyle>
          <a:p>
            <a:pPr lvl="0"/>
            <a:r>
              <a:rPr lang="en-US" dirty="0"/>
              <a:t>U.S.</a:t>
            </a:r>
          </a:p>
          <a:p>
            <a:pPr lvl="0"/>
            <a:r>
              <a:rPr lang="en-US" dirty="0"/>
              <a:t>Mexico</a:t>
            </a:r>
          </a:p>
          <a:p>
            <a:pPr lvl="0"/>
            <a:r>
              <a:rPr lang="en-US" dirty="0"/>
              <a:t>Brazil</a:t>
            </a:r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U.K.</a:t>
            </a:r>
          </a:p>
          <a:p>
            <a:pPr lvl="0"/>
            <a:r>
              <a:rPr lang="en-US" dirty="0"/>
              <a:t>France</a:t>
            </a:r>
          </a:p>
          <a:p>
            <a:pPr lvl="0"/>
            <a:r>
              <a:rPr lang="en-US" dirty="0"/>
              <a:t>Israel</a:t>
            </a:r>
          </a:p>
          <a:p>
            <a:pPr lvl="0"/>
            <a:r>
              <a:rPr lang="en-US" dirty="0"/>
              <a:t>India</a:t>
            </a:r>
          </a:p>
          <a:p>
            <a:pPr lvl="0"/>
            <a:r>
              <a:rPr lang="en-US" dirty="0"/>
              <a:t>China</a:t>
            </a:r>
          </a:p>
          <a:p>
            <a:pPr lvl="0"/>
            <a:r>
              <a:rPr lang="en-US" dirty="0"/>
              <a:t>Taiwan</a:t>
            </a:r>
          </a:p>
          <a:p>
            <a:pPr lvl="0"/>
            <a:r>
              <a:rPr lang="en-US" dirty="0"/>
              <a:t>Japan</a:t>
            </a:r>
          </a:p>
          <a:p>
            <a:pPr lvl="0"/>
            <a:r>
              <a:rPr lang="en-US" dirty="0"/>
              <a:t>Korea</a:t>
            </a:r>
          </a:p>
        </p:txBody>
      </p:sp>
      <p:sp>
        <p:nvSpPr>
          <p:cNvPr id="16" name="Country">
            <a:extLst>
              <a:ext uri="{FF2B5EF4-FFF2-40B4-BE49-F238E27FC236}">
                <a16:creationId xmlns:a16="http://schemas.microsoft.com/office/drawing/2014/main" id="{DCCA50C4-A863-2072-4B0F-46D70AB18021}"/>
              </a:ext>
            </a:extLst>
          </p:cNvPr>
          <p:cNvSpPr txBox="1"/>
          <p:nvPr userDrawn="1"/>
        </p:nvSpPr>
        <p:spPr>
          <a:xfrm>
            <a:off x="19423855" y="4661205"/>
            <a:ext cx="4571999" cy="815608"/>
          </a:xfrm>
          <a:prstGeom prst="rect">
            <a:avLst/>
          </a:prstGeom>
          <a:noFill/>
        </p:spPr>
        <p:txBody>
          <a:bodyPr wrap="squar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Region</a:t>
            </a:r>
          </a:p>
        </p:txBody>
      </p:sp>
      <p:cxnSp>
        <p:nvCxnSpPr>
          <p:cNvPr id="14" name="Divider">
            <a:extLst>
              <a:ext uri="{FF2B5EF4-FFF2-40B4-BE49-F238E27FC236}">
                <a16:creationId xmlns:a16="http://schemas.microsoft.com/office/drawing/2014/main" id="{6F6275F5-FE84-974B-9A2C-6D9492927BDB}"/>
              </a:ext>
            </a:extLst>
          </p:cNvPr>
          <p:cNvCxnSpPr>
            <a:cxnSpLocks/>
          </p:cNvCxnSpPr>
          <p:nvPr userDrawn="1"/>
        </p:nvCxnSpPr>
        <p:spPr>
          <a:xfrm>
            <a:off x="19423856" y="5476815"/>
            <a:ext cx="13716000" cy="0"/>
          </a:xfrm>
          <a:prstGeom prst="line">
            <a:avLst/>
          </a:prstGeom>
          <a:ln w="38100">
            <a:solidFill>
              <a:schemeClr val="accent6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 Holder">
            <a:extLst>
              <a:ext uri="{FF2B5EF4-FFF2-40B4-BE49-F238E27FC236}">
                <a16:creationId xmlns:a16="http://schemas.microsoft.com/office/drawing/2014/main" id="{9E22579E-7446-930A-8426-64D7BF1D6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423856" y="3429003"/>
            <a:ext cx="13684569" cy="782637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Embargo Title">
            <a:extLst>
              <a:ext uri="{FF2B5EF4-FFF2-40B4-BE49-F238E27FC236}">
                <a16:creationId xmlns:a16="http://schemas.microsoft.com/office/drawing/2014/main" id="{89A97FCA-DE57-3016-B1E1-200846768D66}"/>
              </a:ext>
            </a:extLst>
          </p:cNvPr>
          <p:cNvSpPr txBox="1"/>
          <p:nvPr userDrawn="1"/>
        </p:nvSpPr>
        <p:spPr>
          <a:xfrm>
            <a:off x="1681161" y="8708544"/>
            <a:ext cx="8907888" cy="2169825"/>
          </a:xfrm>
          <a:prstGeom prst="rect">
            <a:avLst/>
          </a:prstGeom>
          <a:noFill/>
        </p:spPr>
        <p:txBody>
          <a:bodyPr wrap="none" lIns="0" tIns="45720" rIns="0" bIns="45720" rtlCol="0" anchor="ctr">
            <a:noAutofit/>
          </a:bodyPr>
          <a:lstStyle/>
          <a:p>
            <a:r>
              <a:rPr lang="en-US" sz="13500" kern="100" spc="0" baseline="0" dirty="0">
                <a:solidFill>
                  <a:srgbClr val="E52020"/>
                </a:solidFill>
                <a:latin typeface="+mj-lt"/>
              </a:rPr>
              <a:t>EMBARGO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8EE1D5E4-E8E0-5B54-14BB-7082F4260A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72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Font Picture">
            <a:extLst>
              <a:ext uri="{FF2B5EF4-FFF2-40B4-BE49-F238E27FC236}">
                <a16:creationId xmlns:a16="http://schemas.microsoft.com/office/drawing/2014/main" id="{D9701711-BA88-9042-4DDD-CA4C10E16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6669145" y="10425922"/>
            <a:ext cx="8076057" cy="5608374"/>
          </a:xfrm>
          <a:prstGeom prst="rect">
            <a:avLst/>
          </a:prstGeom>
        </p:spPr>
      </p:pic>
      <p:sp>
        <p:nvSpPr>
          <p:cNvPr id="18" name="Green BG">
            <a:extLst>
              <a:ext uri="{FF2B5EF4-FFF2-40B4-BE49-F238E27FC236}">
                <a16:creationId xmlns:a16="http://schemas.microsoft.com/office/drawing/2014/main" id="{AC415708-C6CC-CDE5-C6D4-5A403B13D4BA}"/>
              </a:ext>
            </a:extLst>
          </p:cNvPr>
          <p:cNvSpPr/>
          <p:nvPr userDrawn="1"/>
        </p:nvSpPr>
        <p:spPr>
          <a:xfrm>
            <a:off x="18287997" y="10420755"/>
            <a:ext cx="8079105" cy="5607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DAECE55-6771-C733-9CFD-B279E6B29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37627" y="12382072"/>
            <a:ext cx="6616065" cy="3108960"/>
          </a:xfrm>
        </p:spPr>
        <p:txBody>
          <a:bodyPr t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200" b="0" kern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Our font for everything NVIDIA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3E418B-71D8-FC79-0AD9-C6D48912F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37627" y="11089410"/>
            <a:ext cx="6616065" cy="1292662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NVIDIA Sans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554122E-9D0A-381B-D4D0-ED3BB16BFEBC}"/>
              </a:ext>
            </a:extLst>
          </p:cNvPr>
          <p:cNvSpPr txBox="1"/>
          <p:nvPr userDrawn="1"/>
        </p:nvSpPr>
        <p:spPr>
          <a:xfrm>
            <a:off x="1828801" y="9052560"/>
            <a:ext cx="13715999" cy="24688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indent="0" defTabSz="2743200">
              <a:lnSpc>
                <a:spcPct val="90000"/>
              </a:lnSpc>
              <a:spcBef>
                <a:spcPct val="0"/>
              </a:spcBef>
              <a:buNone/>
              <a:defRPr sz="8800" kern="100" baseline="0">
                <a:latin typeface="NVIDIA Sans Medium" panose="020B0603020203020204" pitchFamily="34" charset="0"/>
                <a:ea typeface="+mj-ea"/>
                <a:cs typeface="NVIDIA Sans Medium" panose="020B0603020203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Verify Font Installation</a:t>
            </a:r>
          </a:p>
        </p:txBody>
      </p:sp>
    </p:spTree>
    <p:extLst>
      <p:ext uri="{BB962C8B-B14F-4D97-AF65-F5344CB8AC3E}">
        <p14:creationId xmlns:p14="http://schemas.microsoft.com/office/powerpoint/2010/main" val="3572167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341B8CF2-B385-0A17-DF26-955E724914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893490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B06A4EB-9D74-56F2-6D42-35250B0A9A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77169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63AA810-376A-2B32-E021-D6793220544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63C3F9-10F6-FB3C-63A1-FB218F33FC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2024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87D5860D-3075-A83E-2DFD-54EE7058E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88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596741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BA5C1DDE-90E4-324D-81E3-E1F31AD59F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buNone/>
              <a:defRPr sz="4000"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2pPr>
            <a:lvl3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3pPr>
            <a:lvl4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4pPr>
            <a:lvl5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Roboto Mono Medium" panose="00000009000000000000" pitchFamily="49" charset="0"/>
                <a:ea typeface="Roboto Mono Medium" panose="00000009000000000000" pitchFamily="49" charset="0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387195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90B3C34B-D852-977A-37E2-E62EC4EB6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052560"/>
            <a:ext cx="13716000" cy="2468880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436833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54672F0-4512-6FA1-6D35-6858289285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07749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157ECE47-239F-9043-F44A-45C6E5E1E4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Picture Placeholder">
            <a:extLst>
              <a:ext uri="{FF2B5EF4-FFF2-40B4-BE49-F238E27FC236}">
                <a16:creationId xmlns:a16="http://schemas.microsoft.com/office/drawing/2014/main" id="{6310BC71-DCA8-9CA8-DE44-1F98FCBE3423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17145000" y="1828800"/>
            <a:ext cx="17602200" cy="1691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0" name="Text Placeholder">
            <a:extLst>
              <a:ext uri="{FF2B5EF4-FFF2-40B4-BE49-F238E27FC236}">
                <a16:creationId xmlns:a16="http://schemas.microsoft.com/office/drawing/2014/main" id="{6833AC61-E20E-97B9-03B7-59761B154F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8800" y="11109960"/>
            <a:ext cx="13716000" cy="7635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758F76B7-AB11-4A28-11A1-32B4E453D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5685246"/>
            <a:ext cx="13716000" cy="4967514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40" name="Logo Placeholder">
            <a:extLst>
              <a:ext uri="{FF2B5EF4-FFF2-40B4-BE49-F238E27FC236}">
                <a16:creationId xmlns:a16="http://schemas.microsoft.com/office/drawing/2014/main" id="{38FD308E-A1B1-F84B-1B5D-9DD25CF0391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7182681" y="2933923"/>
            <a:ext cx="3840480" cy="73152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cxnSp>
        <p:nvCxnSpPr>
          <p:cNvPr id="35" name="Divider Line">
            <a:extLst>
              <a:ext uri="{FF2B5EF4-FFF2-40B4-BE49-F238E27FC236}">
                <a16:creationId xmlns:a16="http://schemas.microsoft.com/office/drawing/2014/main" id="{07A22438-1615-4D9D-035B-BD830FCDDDEE}"/>
              </a:ext>
            </a:extLst>
          </p:cNvPr>
          <p:cNvCxnSpPr>
            <a:cxnSpLocks/>
          </p:cNvCxnSpPr>
          <p:nvPr userDrawn="1"/>
        </p:nvCxnSpPr>
        <p:spPr>
          <a:xfrm>
            <a:off x="6424897" y="2453110"/>
            <a:ext cx="0" cy="1693145"/>
          </a:xfrm>
          <a:prstGeom prst="line">
            <a:avLst/>
          </a:prstGeom>
          <a:ln w="38100">
            <a:solidFill>
              <a:schemeClr val="tx2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ogo Text">
            <a:extLst>
              <a:ext uri="{FF2B5EF4-FFF2-40B4-BE49-F238E27FC236}">
                <a16:creationId xmlns:a16="http://schemas.microsoft.com/office/drawing/2014/main" id="{7181261B-26AC-4005-DDC1-BC3536B314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115929" y="3071500"/>
            <a:ext cx="2565187" cy="480812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Logo Eye">
            <a:extLst>
              <a:ext uri="{FF2B5EF4-FFF2-40B4-BE49-F238E27FC236}">
                <a16:creationId xmlns:a16="http://schemas.microsoft.com/office/drawing/2014/main" id="{9BF956D7-DF9A-8474-03DC-1D535E1AF1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105476" cy="731520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950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94EB9A7-773A-461B-557E-0A579E6D3E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" name="Chart Placeholder">
            <a:extLst>
              <a:ext uri="{FF2B5EF4-FFF2-40B4-BE49-F238E27FC236}">
                <a16:creationId xmlns:a16="http://schemas.microsoft.com/office/drawing/2014/main" id="{612780E9-97C1-3353-3B19-EC6E50C425E5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5120639" y="6812280"/>
            <a:ext cx="26334720" cy="9692640"/>
          </a:xfrm>
        </p:spPr>
        <p:txBody>
          <a:bodyPr tIns="0" bIns="2103120" anchor="ctr"/>
          <a:lstStyle>
            <a:lvl1pPr algn="ctr">
              <a:defRPr sz="28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Click icon to place chart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3D6C3D75-6FFF-9EB8-DBF8-913CC6C1EE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0" y="5552182"/>
            <a:ext cx="16459200" cy="1077218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6"/>
                </a:solidFill>
              </a:defRPr>
            </a:lvl2pPr>
            <a:lvl3pPr algn="ctr">
              <a:buNone/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61AB175-E8DE-A841-4B8F-E21ED9AEA4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49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2E9C3B1-E578-9546-78AF-A91BCF2187F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A48B7B-5A22-B5DB-CF09-43E03E4D8D9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66CDA03-9F6B-B45E-4491-BEA246B29A9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31200" y="17866936"/>
            <a:ext cx="19913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55D3AFFC-2277-939B-5E7E-1C91C2E44E0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31200" y="17241080"/>
            <a:ext cx="19913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F9432913-9912-7965-4991-AF53AA33AF98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8331200" y="5806441"/>
            <a:ext cx="199136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521419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2AF26A46-42AB-DF4F-23C8-722587870AE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9F6F523-D18E-7B85-4402-5643E55B3A3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489FF99-1831-0DF9-96D8-11325791CEA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552660" y="17866936"/>
            <a:ext cx="15194539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7" name="Image Text Placeholder 1">
            <a:extLst>
              <a:ext uri="{FF2B5EF4-FFF2-40B4-BE49-F238E27FC236}">
                <a16:creationId xmlns:a16="http://schemas.microsoft.com/office/drawing/2014/main" id="{A3F58F9F-B870-3263-F3DA-BE2292FA36E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552660" y="17241080"/>
            <a:ext cx="15194539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57BC260F-02B3-8D2B-42BC-6A5E5047804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9552659" y="1828799"/>
            <a:ext cx="15194539" cy="151790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322090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tex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8A3DE93-2758-FED4-5A4D-0F3E593B509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9552660" y="17866936"/>
            <a:ext cx="15194539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7" name="Image Text Placeholder 1">
            <a:extLst>
              <a:ext uri="{FF2B5EF4-FFF2-40B4-BE49-F238E27FC236}">
                <a16:creationId xmlns:a16="http://schemas.microsoft.com/office/drawing/2014/main" id="{B9398613-710D-4865-371A-946865EB5A7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552660" y="17241080"/>
            <a:ext cx="15194539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49C45D48-BD52-B9A0-732B-FA64DCFE4D4D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9552659" y="1828799"/>
            <a:ext cx="15194539" cy="151790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55883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heavy text 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168145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stitial Single Image w/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9D6F27D6-4614-ED9E-5693-91C78E06D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Logo Eye">
            <a:extLst>
              <a:ext uri="{FF2B5EF4-FFF2-40B4-BE49-F238E27FC236}">
                <a16:creationId xmlns:a16="http://schemas.microsoft.com/office/drawing/2014/main" id="{985EF0C2-DA2E-AAEA-FFD4-BAAA50EFB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URL Placeholder">
            <a:extLst>
              <a:ext uri="{FF2B5EF4-FFF2-40B4-BE49-F238E27FC236}">
                <a16:creationId xmlns:a16="http://schemas.microsoft.com/office/drawing/2014/main" id="{5226E1C4-07C1-2954-049D-77E09DA13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16651" y="16323353"/>
            <a:ext cx="4572000" cy="701731"/>
          </a:xfrm>
        </p:spPr>
        <p:txBody>
          <a:bodyPr wrap="square" anchor="ctr">
            <a:noAutofit/>
          </a:bodyPr>
          <a:lstStyle>
            <a:lvl1pPr>
              <a:buNone/>
              <a:defRPr lang="en-US" sz="4400" b="1" u="sng" kern="100" baseline="0" dirty="0" smtClean="0"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1pPr>
            <a:lvl2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2pPr>
            <a:lvl3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3pPr>
            <a:lvl4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4pPr>
            <a:lvl5pPr>
              <a:defRPr lang="en-US" sz="4400" b="1" u="sng" kern="1200" dirty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URL text</a:t>
            </a:r>
          </a:p>
        </p:txBody>
      </p:sp>
      <p:sp>
        <p:nvSpPr>
          <p:cNvPr id="2" name="QR Placeholder">
            <a:extLst>
              <a:ext uri="{FF2B5EF4-FFF2-40B4-BE49-F238E27FC236}">
                <a16:creationId xmlns:a16="http://schemas.microsoft.com/office/drawing/2014/main" id="{047A5165-7513-5095-7248-ADE53DEB1B9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426464" y="14392656"/>
            <a:ext cx="4572000" cy="4572000"/>
          </a:xfrm>
          <a:noFill/>
          <a:ln>
            <a:noFill/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8229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6607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6A1F60C-3CCE-DF11-DC3E-EF0687B9E5D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9004407-D31C-D373-A3F5-01540EF7DD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6BC34D6-8DA8-62F3-C4A5-0A0FEC0CDE9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799" y="16510766"/>
            <a:ext cx="16114094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177DC77-7F2C-E8FC-2CDE-5AAC4F8253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799" y="15884910"/>
            <a:ext cx="16114094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753BC23-DCCB-C3D7-C895-2D393A014C60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799" y="6583679"/>
            <a:ext cx="16114094" cy="9067992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2435354-F5C5-05C1-E1C7-7E065BFD8E8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633106" y="16510766"/>
            <a:ext cx="16114093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0F8ACF7E-0030-50A0-D85A-4EE4E128618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633106" y="15884910"/>
            <a:ext cx="16114093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0F7F8E4-D9D6-AE31-E63B-120BB054530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8633106" y="6583679"/>
            <a:ext cx="16114094" cy="9067992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149391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8310A183-293A-11AA-3184-B8D45B728B6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088ADE0-25BE-3E24-0D45-E13A54AA610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4316FE9-EFB5-B502-D80B-58C700B9A37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741493" y="17866936"/>
            <a:ext cx="112014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15648AF9-5D21-C55C-50D0-96E31ACF3A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41493" y="17241080"/>
            <a:ext cx="112014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76125F03-AC1F-128A-BA68-7071018BEC7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741493" y="5806441"/>
            <a:ext cx="112014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69DD0CA-6122-E4E8-7442-680BF49033F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633107" y="17866936"/>
            <a:ext cx="112014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2" name="Image Text Placeholder 2">
            <a:extLst>
              <a:ext uri="{FF2B5EF4-FFF2-40B4-BE49-F238E27FC236}">
                <a16:creationId xmlns:a16="http://schemas.microsoft.com/office/drawing/2014/main" id="{3A83E94B-F03A-A8F4-B0FE-74E5234C8B2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8633107" y="17241080"/>
            <a:ext cx="112014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B6BA6D6-DE4B-9D43-AB0B-4FC40D8CC866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8633107" y="5806441"/>
            <a:ext cx="11201400" cy="11201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765220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2D0C93E-4F1F-5DAD-D5EF-B0685542FDE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02D0AFCD-8D50-99AE-D7F0-FCC4A5EBD23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1B44D39-6100-C773-3F91-47C5994A926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680" y="14455080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5EC83629-467F-BCD7-68B9-3BAC22BB0C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680" y="13829224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19E092C-D874-79CA-ABAB-947657DFB00A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798EC41-5120-B538-7AC3-88E72857542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3030847" y="14455080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2C5A1394-8081-7AD2-5890-4DDDBE4D2A4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030847" y="13829224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5F7F591-C716-E009-C823-90D5057809DE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3030200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51DB240-39A0-04BE-1CDD-E6EEE91AC77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4231601" y="14455080"/>
            <a:ext cx="10515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3">
            <a:extLst>
              <a:ext uri="{FF2B5EF4-FFF2-40B4-BE49-F238E27FC236}">
                <a16:creationId xmlns:a16="http://schemas.microsoft.com/office/drawing/2014/main" id="{0034F399-18E8-4520-3F5F-0B6DBB8B679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231601" y="13829224"/>
            <a:ext cx="10515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8EC521D-B4C2-799A-C6A3-69D700BE76C1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4231600" y="7681205"/>
            <a:ext cx="10515600" cy="591478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625094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5FB1E77-1D8B-DB8A-F0B4-5CF69DFA1FB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6FE65824-D718-233E-6C82-1A23D19682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E989AB6-3F8A-A6ED-AEAA-3F4507FAE2A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679" y="17181135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729B0D1C-E74A-6F76-763E-92270DC8521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679" y="16555279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3654486B-3E43-161E-6F9D-7970C825ED51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5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3C0214F-858F-1E84-7ED0-A95E5B48C9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3030846" y="17181135"/>
            <a:ext cx="1051430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74E97535-A80D-5E31-72B1-DEDF80DC12A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030846" y="16555279"/>
            <a:ext cx="1051430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676709D-CEED-E005-62E2-4CCF531B5FF4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3030199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2BC77D-45BF-7FDA-7EE9-8D65EF1E8E2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4231600" y="17181135"/>
            <a:ext cx="1051560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3">
            <a:extLst>
              <a:ext uri="{FF2B5EF4-FFF2-40B4-BE49-F238E27FC236}">
                <a16:creationId xmlns:a16="http://schemas.microsoft.com/office/drawing/2014/main" id="{6C79E746-D7C4-814F-EBF8-ABC47AE2B43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4231600" y="16555279"/>
            <a:ext cx="1051560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C065D92D-38E1-039A-DFD5-9DC9C8B2918B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4231599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83860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CC0E6E6-0FA6-353D-0B63-3616975CAB4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D469060-A1A3-4959-883E-BB99F7B74C3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EA58440-CE73-CF57-A5D3-F04B9BC8C4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021" y="13658409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65692E4-AE1D-AF93-35F5-37E53D0E10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021" y="13032553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482BED8-85E9-155E-CAB6-03B9511045E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0B187E3-3ED9-A3C3-676A-A55F0061F8A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8359" y="13658409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2B3E8CC9-E7D8-3011-48CE-2439EF0A4EB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8359" y="13032553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431FA93-762C-283A-FBA5-617E6FBED603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6090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88DE121-B036-8DB7-1405-0F594E0DE4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30426" y="13658409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874E24E6-0D3F-F95F-BF6A-AF4A6AE3E8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30426" y="13032553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736223F6-ED4F-5EB7-24DB-8928CCD0CAB7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7794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31287F0-44BE-1A7C-7C97-7CB8156721D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184" y="13658409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4">
            <a:extLst>
              <a:ext uri="{FF2B5EF4-FFF2-40B4-BE49-F238E27FC236}">
                <a16:creationId xmlns:a16="http://schemas.microsoft.com/office/drawing/2014/main" id="{A3604A9E-3F18-C956-DBA1-BAF9223D669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184" y="13032553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D49BD1B3-F0BB-0985-BCDE-55C4D1B7A116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27029498" y="8458200"/>
            <a:ext cx="771785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962152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E22162D2-27B1-6EF8-EC6D-3B5993A84E3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588EFE2A-60CE-8999-2B97-A707CAAB6F7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2EF665F-9D0A-0403-3D51-144BAE4168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5021" y="15754671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C443B728-38A9-6A14-7F65-ADDB3F8A36A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5021" y="15128815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F2D3DCE-C6B1-3A69-F3C0-56DC23888CF5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4386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5905AF9-2F65-7BF7-FC63-55E2A9CD41D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8359" y="15754671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4" name="Image Text Placeholder 2">
            <a:extLst>
              <a:ext uri="{FF2B5EF4-FFF2-40B4-BE49-F238E27FC236}">
                <a16:creationId xmlns:a16="http://schemas.microsoft.com/office/drawing/2014/main" id="{AE1C74E4-2132-AD47-ED08-2369DE447A5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8359" y="15128815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035698C-1109-8300-B0FB-A35C03D3D74E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6090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5DFBE2B-369F-F09A-65BC-FF0DBB72C15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30426" y="15754671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357DC4B3-E29C-793D-AEB4-BBA50DFB2BC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30426" y="15128815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F10DEB43-363E-B53B-77E4-9F82FC85D2AC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7794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9041DC-1795-EED4-DDFE-D3AD657A98F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184" y="15754671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4">
            <a:extLst>
              <a:ext uri="{FF2B5EF4-FFF2-40B4-BE49-F238E27FC236}">
                <a16:creationId xmlns:a16="http://schemas.microsoft.com/office/drawing/2014/main" id="{5561A87B-4FBB-4FC4-8C9B-B8680657BFB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184" y="15128815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2C37A541-A293-8F4C-0BF2-0D815710DE2F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498" y="7178040"/>
            <a:ext cx="771785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564818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E5BC1D6A-70F5-168E-30D3-7A25C6F23B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F6783655-2C3A-8997-8FD4-699FDCE78F2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1E79C4-9B0C-46C7-60B4-6967DE29993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626963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3E06B777-E79F-FFC8-EF9B-CDE4545CCE2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26963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C8B3A7F-5AE2-F8E5-87CC-20365DF66F4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626328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DBBE60-4AF1-670D-E84D-BABD51D4E2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30301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2">
            <a:extLst>
              <a:ext uri="{FF2B5EF4-FFF2-40B4-BE49-F238E27FC236}">
                <a16:creationId xmlns:a16="http://schemas.microsoft.com/office/drawing/2014/main" id="{E39037D6-9F9D-5080-0BAE-F8A253C9F8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30301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69F8812A-C8DB-AC9E-EBA1-083A2F95F6A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27029506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5315ECD-854E-8EF0-38DF-8D5CCC50960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6013" y="16468722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3">
            <a:extLst>
              <a:ext uri="{FF2B5EF4-FFF2-40B4-BE49-F238E27FC236}">
                <a16:creationId xmlns:a16="http://schemas.microsoft.com/office/drawing/2014/main" id="{5ECD1294-0328-1129-68E8-AAE34DBFC92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6013" y="15842866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53AA046-BEA5-C6DF-0D01-1143CD367C23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6328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DB95454-AD37-062B-F77D-DF4B010799D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2" y="16468722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4">
            <a:extLst>
              <a:ext uri="{FF2B5EF4-FFF2-40B4-BE49-F238E27FC236}">
                <a16:creationId xmlns:a16="http://schemas.microsoft.com/office/drawing/2014/main" id="{F3412B85-B6C4-A7D9-058F-3589C209799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2" y="15842866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065589F0-4249-3363-1606-46E3EB63CB68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6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305492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w/ tex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A2A64D7E-BC82-4FB8-514C-DDFA40A50EF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15F1B169-6F46-A072-DF80-3E0E2F54BE5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6E5CC214-A7D0-91DF-4B31-5CB895D819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66D807F3-F817-1D7D-5A63-52E37E677E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CBFD7689-EE78-2757-7F54-D84D241EF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4C779D-1289-7F23-4E19-51847B7A15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626963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" name="Image Text Placeholder 1">
            <a:extLst>
              <a:ext uri="{FF2B5EF4-FFF2-40B4-BE49-F238E27FC236}">
                <a16:creationId xmlns:a16="http://schemas.microsoft.com/office/drawing/2014/main" id="{F76961B5-F844-4038-F188-A49A39698E0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26963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6C120A5-07CB-24F7-DEC3-1A083DB8BBC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626328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797122-CD5F-BC47-54A7-CDDE8ED1FE9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30301" y="10125477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3" name="Image Text Placeholder 2">
            <a:extLst>
              <a:ext uri="{FF2B5EF4-FFF2-40B4-BE49-F238E27FC236}">
                <a16:creationId xmlns:a16="http://schemas.microsoft.com/office/drawing/2014/main" id="{DA1BC0F2-421E-35D2-6412-53FE2276AAE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30301" y="9499621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A93A493-6E6A-9DF1-33B6-08C4085805AB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27029506" y="4925269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2FC3CCE9-700E-9738-BC0E-BA6F9152235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6013" y="16468722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6" name="Image Text Placeholder 3">
            <a:extLst>
              <a:ext uri="{FF2B5EF4-FFF2-40B4-BE49-F238E27FC236}">
                <a16:creationId xmlns:a16="http://schemas.microsoft.com/office/drawing/2014/main" id="{D8679204-EF4D-054E-A2BC-86DA76EA0E2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6013" y="15842866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29E129EE-2038-7A83-2F5C-CBEB36A7D937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6328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BB27D65-9EE9-7CEE-0656-743DCE5A356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2" y="16468722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9" name="Image Text Placeholder 4">
            <a:extLst>
              <a:ext uri="{FF2B5EF4-FFF2-40B4-BE49-F238E27FC236}">
                <a16:creationId xmlns:a16="http://schemas.microsoft.com/office/drawing/2014/main" id="{510D12E5-14C8-9A05-8C28-162A2A62092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2" y="15842866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AE316532-0119-5CFD-ED05-9D2A2CFCB85B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6" y="11268514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910055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019A8FC-131A-A19C-6416-BED69D99B546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7F58BA19-A429-4685-28B0-D483FC5B599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AAB18B-9133-491C-1E1C-6BD5DB04A14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6529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DF593F3D-53E7-743F-A7AB-FD173EC6B9D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26529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8ABA80F-3B27-63BC-0780-B8706E846457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02589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4612C4-2B22-1A13-9F38-A6071B7679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29867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2">
            <a:extLst>
              <a:ext uri="{FF2B5EF4-FFF2-40B4-BE49-F238E27FC236}">
                <a16:creationId xmlns:a16="http://schemas.microsoft.com/office/drawing/2014/main" id="{890A0AB1-58E8-9767-0FFD-53160155C9A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9867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03A865E-9B3C-F764-75DD-CA2578A664F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4429072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D0EEA9-9F7A-BC6A-58B0-47F71162388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831934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3">
            <a:extLst>
              <a:ext uri="{FF2B5EF4-FFF2-40B4-BE49-F238E27FC236}">
                <a16:creationId xmlns:a16="http://schemas.microsoft.com/office/drawing/2014/main" id="{6358D607-A7E9-759C-60F6-E7FC907EC92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831934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35E8AE4-9A02-9810-1E15-BCA5A0C1536F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2832249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9D0247F-FA89-44E4-1CA1-1F5AEE78752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227169" y="17349893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4">
            <a:extLst>
              <a:ext uri="{FF2B5EF4-FFF2-40B4-BE49-F238E27FC236}">
                <a16:creationId xmlns:a16="http://schemas.microsoft.com/office/drawing/2014/main" id="{448E8154-F1A2-E4A4-85EE-DCD89AFA221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27169" y="16724037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958483D-099B-4C62-19C9-2B85FC8AC7D2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10227483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BD74182-8588-BED7-CB44-072C8348CA9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630661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5">
            <a:extLst>
              <a:ext uri="{FF2B5EF4-FFF2-40B4-BE49-F238E27FC236}">
                <a16:creationId xmlns:a16="http://schemas.microsoft.com/office/drawing/2014/main" id="{9944992B-DC18-0E0F-439B-CF5C3C53DFF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630661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60631FB-B5DA-07AA-ABD5-3A8EC0F4C822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8630661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589373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4FF9D0C9-ABFF-CDF9-8A1A-45D588F3425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8" name="Slide Number Placeholder">
            <a:extLst>
              <a:ext uri="{FF2B5EF4-FFF2-40B4-BE49-F238E27FC236}">
                <a16:creationId xmlns:a16="http://schemas.microsoft.com/office/drawing/2014/main" id="{33ACBAC0-D6B3-5128-F31B-B91DBBE4355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3D154E7-1249-288A-E918-3888EF51EA1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26529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A6414C37-B65D-7CFA-A936-13DD6985E4B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26529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A30AF97F-0DF5-2039-130A-AFA6905358C9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602589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D628B38-5048-7037-2221-587E87B736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29867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2">
            <a:extLst>
              <a:ext uri="{FF2B5EF4-FFF2-40B4-BE49-F238E27FC236}">
                <a16:creationId xmlns:a16="http://schemas.microsoft.com/office/drawing/2014/main" id="{1559EC85-71F8-78BA-14E5-E387758E373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9867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B7CBA0B-C380-3AC2-AC3D-1A857EAD6A58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4429232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E3AE4FC-B0E7-62F1-6FD6-0A1971A66E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2831934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3">
            <a:extLst>
              <a:ext uri="{FF2B5EF4-FFF2-40B4-BE49-F238E27FC236}">
                <a16:creationId xmlns:a16="http://schemas.microsoft.com/office/drawing/2014/main" id="{6D6580E3-F809-71DE-F83B-A584CBC85B9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2831934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9A4FA4A2-4CAA-6FA7-31D5-D43DEBDB5A75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22832249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AD7B08-053C-9190-0D12-F1BAB2E286B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25581" y="17349893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4">
            <a:extLst>
              <a:ext uri="{FF2B5EF4-FFF2-40B4-BE49-F238E27FC236}">
                <a16:creationId xmlns:a16="http://schemas.microsoft.com/office/drawing/2014/main" id="{4FA4ED94-57E4-AE6B-B890-F274DC4FC0D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25581" y="16724037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9E19E24C-979D-3C9A-9C76-CB5B03D44096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602589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6964C24-EB2D-973F-CAEE-52230749F92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4429072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5">
            <a:extLst>
              <a:ext uri="{FF2B5EF4-FFF2-40B4-BE49-F238E27FC236}">
                <a16:creationId xmlns:a16="http://schemas.microsoft.com/office/drawing/2014/main" id="{ED4E3AFB-8939-61FB-5FF0-F1534EC387E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4429072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A1B13653-F43D-0A5E-38A6-CB5001465815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4429232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5FC1EDC-3D2A-65A9-871F-F197CDBEA69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2832249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6">
            <a:extLst>
              <a:ext uri="{FF2B5EF4-FFF2-40B4-BE49-F238E27FC236}">
                <a16:creationId xmlns:a16="http://schemas.microsoft.com/office/drawing/2014/main" id="{44682B27-3A3D-0B94-5ECC-DDBB5EF455C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832249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128F8CF0-9FA1-4567-B0F3-85953E786502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22832249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089732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DBB066-9949-0A07-6A34-D87EAC495DA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65D794E-40CD-F20A-D069-AEE573942939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30764C-4CB7-CC58-55C7-3434EE0A9C5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4423268B-E454-8182-6279-77138725F4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DAC03B5C-BB34-99BA-EFE5-0FE346472297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800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71458BD-9DE8-FE1C-2920-68BCEC79588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9723" y="11006648"/>
            <a:ext cx="7717221" cy="867930"/>
          </a:xfrm>
        </p:spPr>
        <p:txBody>
          <a:bodyPr/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04109424-82FD-CF0B-FFDE-7FAC1BA6DAC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9723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E5B7F7B-783A-A0EA-4897-EDF8C1F02592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9088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6727525-F12D-CFFD-1ED0-4E2EC8BCCDC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8848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3">
            <a:extLst>
              <a:ext uri="{FF2B5EF4-FFF2-40B4-BE49-F238E27FC236}">
                <a16:creationId xmlns:a16="http://schemas.microsoft.com/office/drawing/2014/main" id="{076934D6-602D-6CCF-6B31-35575C07928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8848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E3916C6-FCD1-6F9A-445E-3D0915995F1A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9376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C58D469-AAB0-CB8B-CE5A-DF474F6D8C1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1" y="11006648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4">
            <a:extLst>
              <a:ext uri="{FF2B5EF4-FFF2-40B4-BE49-F238E27FC236}">
                <a16:creationId xmlns:a16="http://schemas.microsoft.com/office/drawing/2014/main" id="{157879AC-2842-1C0D-BE88-A53BB7AC05C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1" y="10381469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623824F2-BD7A-FF50-B0BD-D3C1B01D9489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C68CEEF-5DD1-4DA6-978B-0EE9C83F2FD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028944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5">
            <a:extLst>
              <a:ext uri="{FF2B5EF4-FFF2-40B4-BE49-F238E27FC236}">
                <a16:creationId xmlns:a16="http://schemas.microsoft.com/office/drawing/2014/main" id="{7851B54C-7488-089C-D52C-4A52B32CC48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028944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1ED7823-61D2-2FFA-CA90-BF25752944E3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602894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D513BBBB-DE5A-527D-46E8-1743A8031B8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4429232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6">
            <a:extLst>
              <a:ext uri="{FF2B5EF4-FFF2-40B4-BE49-F238E27FC236}">
                <a16:creationId xmlns:a16="http://schemas.microsoft.com/office/drawing/2014/main" id="{7E60EE3D-5E59-F26C-8AD9-2188B7C9652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429232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3EDD73EC-F926-8897-6059-C200AC5FE9EE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4429232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6E0E99-4BE8-903E-B9C7-B082801EF3D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2829520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7">
            <a:extLst>
              <a:ext uri="{FF2B5EF4-FFF2-40B4-BE49-F238E27FC236}">
                <a16:creationId xmlns:a16="http://schemas.microsoft.com/office/drawing/2014/main" id="{ED6A66F4-9D18-8D19-BF9D-6CD753BA735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2829520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6876670D-7D23-4CF6-8548-FE090C8A76B3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22829520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749407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E20898E1-3C2D-56B3-EB64-8545413A1DC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D744ED2D-1CB0-DF46-4299-C65986BE384C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978D673-0BDB-8A27-A8D7-CE578AEA3CB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1532DC11-96E1-4F5D-35B2-D80108E71F6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E6D5051-4FCC-CB02-0C06-B1F5332FD706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1828800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2CDFFA7-9E02-725D-0EDB-D93305C6A6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229723" y="11006648"/>
            <a:ext cx="771722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2">
            <a:extLst>
              <a:ext uri="{FF2B5EF4-FFF2-40B4-BE49-F238E27FC236}">
                <a16:creationId xmlns:a16="http://schemas.microsoft.com/office/drawing/2014/main" id="{B0CA0F5C-334B-B584-E06F-1E2F109F9A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29723" y="10381469"/>
            <a:ext cx="771722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536FB7D-F1F0-781E-34AB-3F1ABF5CE19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229088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1F4CC7B-C72C-4672-E74C-6D61EC92881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628848" y="11006648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3">
            <a:extLst>
              <a:ext uri="{FF2B5EF4-FFF2-40B4-BE49-F238E27FC236}">
                <a16:creationId xmlns:a16="http://schemas.microsoft.com/office/drawing/2014/main" id="{641EC321-A433-3051-F6F8-BF4CB5E9408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8628848" y="10381469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DED3346E-BCE7-4488-337D-3A6A02329800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8629376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AF78149-262D-6518-1A2F-47D582DC9B5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7029351" y="11006648"/>
            <a:ext cx="7718170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4">
            <a:extLst>
              <a:ext uri="{FF2B5EF4-FFF2-40B4-BE49-F238E27FC236}">
                <a16:creationId xmlns:a16="http://schemas.microsoft.com/office/drawing/2014/main" id="{1AD5F046-F946-28E3-7E59-15789CD8545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7029351" y="10381469"/>
            <a:ext cx="7718170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148034F7-3860-40F0-3BFE-91AD4D05A0F8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7029664" y="5806440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7E32F74-3796-25BA-BB04-53971CE7834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28165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3" name="Image Text Placeholder 5">
            <a:extLst>
              <a:ext uri="{FF2B5EF4-FFF2-40B4-BE49-F238E27FC236}">
                <a16:creationId xmlns:a16="http://schemas.microsoft.com/office/drawing/2014/main" id="{AC0EEF07-6B9F-F5FC-B330-CB47B5A55A5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28165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4" name="Picture Placeholder 5">
            <a:extLst>
              <a:ext uri="{FF2B5EF4-FFF2-40B4-BE49-F238E27FC236}">
                <a16:creationId xmlns:a16="http://schemas.microsoft.com/office/drawing/2014/main" id="{AEF5DC33-5308-239C-B13F-2AA57684D6B9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18281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8B41D1B9-66C7-13BB-2E1F-CD69E9131E1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228665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6" name="Image Text Placeholder 6">
            <a:extLst>
              <a:ext uri="{FF2B5EF4-FFF2-40B4-BE49-F238E27FC236}">
                <a16:creationId xmlns:a16="http://schemas.microsoft.com/office/drawing/2014/main" id="{C5498CBA-E497-16C1-742F-C3C26EC95DB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228665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213EF361-63C9-84EA-0E58-4BC930EB7A36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02286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3B075A3F-076B-6F14-D6D7-7BB067058D1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8629164" y="17350073"/>
            <a:ext cx="7717856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9" name="Image Text Placeholder 7">
            <a:extLst>
              <a:ext uri="{FF2B5EF4-FFF2-40B4-BE49-F238E27FC236}">
                <a16:creationId xmlns:a16="http://schemas.microsoft.com/office/drawing/2014/main" id="{5AE371D2-9890-D27E-0C89-F23BED97E6B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8629164" y="16724037"/>
            <a:ext cx="7717856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0" name="Picture Placeholder 7">
            <a:extLst>
              <a:ext uri="{FF2B5EF4-FFF2-40B4-BE49-F238E27FC236}">
                <a16:creationId xmlns:a16="http://schemas.microsoft.com/office/drawing/2014/main" id="{F2777701-1439-D1A7-FE1A-91F9E6F53389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18629165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E3611A72-8635-0768-FE24-C8BE5A06804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7029664" y="17350073"/>
            <a:ext cx="7718171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2" name="Image Text Placeholder 8">
            <a:extLst>
              <a:ext uri="{FF2B5EF4-FFF2-40B4-BE49-F238E27FC236}">
                <a16:creationId xmlns:a16="http://schemas.microsoft.com/office/drawing/2014/main" id="{15F22903-F879-146C-D653-1C953D51F1D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7029664" y="16724037"/>
            <a:ext cx="7718171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3" name="Picture Placeholder 8">
            <a:extLst>
              <a:ext uri="{FF2B5EF4-FFF2-40B4-BE49-F238E27FC236}">
                <a16:creationId xmlns:a16="http://schemas.microsoft.com/office/drawing/2014/main" id="{C9A3B76A-47E4-4BBA-C00F-A605F3B99E75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27029664" y="12149685"/>
            <a:ext cx="7717856" cy="434129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9539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6F3B741-4BA7-CA11-FB9A-C2A65AC3C33F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9B6C075D-B159-7804-C8F7-7176810B5084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0131B47-B5B7-F148-4002-DAA1E5650E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C28ABF7D-29F2-B0CE-ED9F-DA065CC298B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2880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EF7AEB09-C474-CC1F-2F31-49DF258D068D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E648B61-48E8-01D9-A502-3E3367EC173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549005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0" name="Image Text Placeholder 2">
            <a:extLst>
              <a:ext uri="{FF2B5EF4-FFF2-40B4-BE49-F238E27FC236}">
                <a16:creationId xmlns:a16="http://schemas.microsoft.com/office/drawing/2014/main" id="{8F5F26B8-D130-D082-2689-D29B5286034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9005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E9B78BB-2018-F789-2158-46DB09119372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8549639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D95C055-507D-5FF5-F328-389CA07DE9F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27048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 3">
            <a:extLst>
              <a:ext uri="{FF2B5EF4-FFF2-40B4-BE49-F238E27FC236}">
                <a16:creationId xmlns:a16="http://schemas.microsoft.com/office/drawing/2014/main" id="{41777126-549B-A339-2679-A2A046510D0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7048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76135777-EFA0-9BD8-210B-552D97D43DD2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15270478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5D2C89D-8974-CC88-56D5-D4BD012703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990686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6" name="Image Text Placeholder 4">
            <a:extLst>
              <a:ext uri="{FF2B5EF4-FFF2-40B4-BE49-F238E27FC236}">
                <a16:creationId xmlns:a16="http://schemas.microsoft.com/office/drawing/2014/main" id="{635F3C2A-EFEC-FA7C-C6D2-B28E72D1C6C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90686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BF0B83C-1493-7A37-3CF6-731E6F6E6A62}"/>
              </a:ext>
            </a:extLst>
          </p:cNvPr>
          <p:cNvSpPr>
            <a:spLocks noGrp="1" noChangeAspect="1"/>
          </p:cNvSpPr>
          <p:nvPr>
            <p:ph type="pic" sz="quarter" idx="61" hasCustomPrompt="1"/>
          </p:nvPr>
        </p:nvSpPr>
        <p:spPr>
          <a:xfrm>
            <a:off x="21991317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D0BCB15C-5A68-FE62-7189-812C1AFDDAE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871216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9" name="Image Text Placeholder 5">
            <a:extLst>
              <a:ext uri="{FF2B5EF4-FFF2-40B4-BE49-F238E27FC236}">
                <a16:creationId xmlns:a16="http://schemas.microsoft.com/office/drawing/2014/main" id="{BBAA1C0A-15A8-D7A5-8438-1586FF72B38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71216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54DF6266-8BCE-586C-72A7-55A96425A734}"/>
              </a:ext>
            </a:extLst>
          </p:cNvPr>
          <p:cNvSpPr>
            <a:spLocks noGrp="1" noChangeAspect="1"/>
          </p:cNvSpPr>
          <p:nvPr>
            <p:ph type="pic" sz="quarter" idx="64" hasCustomPrompt="1"/>
          </p:nvPr>
        </p:nvSpPr>
        <p:spPr>
          <a:xfrm>
            <a:off x="2871216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66E5329-4388-E232-62F0-6321508ED4A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188902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2" name="Image Text Placeholder 6">
            <a:extLst>
              <a:ext uri="{FF2B5EF4-FFF2-40B4-BE49-F238E27FC236}">
                <a16:creationId xmlns:a16="http://schemas.microsoft.com/office/drawing/2014/main" id="{C8C7CD6C-8D24-F322-0F0C-F048846B1B0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188902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2987E90-FC5A-5018-2FE1-CA06551E8D25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518922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A58AAC9-BDA0-4352-363F-2C4B20AC270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1909741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5" name="Image Text Placeholder 7">
            <a:extLst>
              <a:ext uri="{FF2B5EF4-FFF2-40B4-BE49-F238E27FC236}">
                <a16:creationId xmlns:a16="http://schemas.microsoft.com/office/drawing/2014/main" id="{416F6586-0240-36B8-9B04-583616DB2AF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909741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9C92ADFF-6064-8070-CF54-2062716EC50B}"/>
              </a:ext>
            </a:extLst>
          </p:cNvPr>
          <p:cNvSpPr>
            <a:spLocks noGrp="1" noChangeAspect="1"/>
          </p:cNvSpPr>
          <p:nvPr>
            <p:ph type="pic" sz="quarter" idx="70" hasCustomPrompt="1"/>
          </p:nvPr>
        </p:nvSpPr>
        <p:spPr>
          <a:xfrm>
            <a:off x="1191006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CDD1216-1AB2-3445-C1F2-C6212232509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63058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28" name="Image Text Placeholder 8">
            <a:extLst>
              <a:ext uri="{FF2B5EF4-FFF2-40B4-BE49-F238E27FC236}">
                <a16:creationId xmlns:a16="http://schemas.microsoft.com/office/drawing/2014/main" id="{7DDF0955-0E96-8C32-2EA7-67141F5F86C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63058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345C2C78-DA02-9F5C-15A6-E68CD36D0C74}"/>
              </a:ext>
            </a:extLst>
          </p:cNvPr>
          <p:cNvSpPr>
            <a:spLocks noGrp="1" noChangeAspect="1"/>
          </p:cNvSpPr>
          <p:nvPr>
            <p:ph type="pic" sz="quarter" idx="73" hasCustomPrompt="1"/>
          </p:nvPr>
        </p:nvSpPr>
        <p:spPr>
          <a:xfrm>
            <a:off x="1863090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7A1BDC1E-1B14-3737-389C-3D1609D760B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5351419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9">
            <a:extLst>
              <a:ext uri="{FF2B5EF4-FFF2-40B4-BE49-F238E27FC236}">
                <a16:creationId xmlns:a16="http://schemas.microsoft.com/office/drawing/2014/main" id="{57FFD21B-106E-D0F6-6084-C07EBEE9CB8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5351419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F4798C5A-7E62-4B47-5ACD-F9CF8E66C7EB}"/>
              </a:ext>
            </a:extLst>
          </p:cNvPr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2535174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130637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C42F0877-E0D9-ACDF-6AC8-31F04A799FC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0" name="Slide Number Placeholder">
            <a:extLst>
              <a:ext uri="{FF2B5EF4-FFF2-40B4-BE49-F238E27FC236}">
                <a16:creationId xmlns:a16="http://schemas.microsoft.com/office/drawing/2014/main" id="{05F8B37A-9AE1-01F7-40F2-93080E37DBC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541D50E-AD73-9B43-6942-5D3896418D1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82880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 1">
            <a:extLst>
              <a:ext uri="{FF2B5EF4-FFF2-40B4-BE49-F238E27FC236}">
                <a16:creationId xmlns:a16="http://schemas.microsoft.com/office/drawing/2014/main" id="{0A8DB497-AE6A-0DF8-9C97-FC43C5D277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82880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58D13341-F599-599A-5F0F-2EF6A1BED6F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6B8157A-B098-20EA-AFC9-9B4CC65D4D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549005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1" name="Image Text Placeholder 2">
            <a:extLst>
              <a:ext uri="{FF2B5EF4-FFF2-40B4-BE49-F238E27FC236}">
                <a16:creationId xmlns:a16="http://schemas.microsoft.com/office/drawing/2014/main" id="{9F7772A2-141A-2C32-35BF-03721C006E4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9005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9D12C4FE-EA14-DC16-E035-07F6E2255DD5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8549005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0ECDEBEB-E52F-C256-D4BC-3CD8FBACF26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27048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34" name="Image Text Placeholder 3">
            <a:extLst>
              <a:ext uri="{FF2B5EF4-FFF2-40B4-BE49-F238E27FC236}">
                <a16:creationId xmlns:a16="http://schemas.microsoft.com/office/drawing/2014/main" id="{785D8308-6DC4-5070-FBE7-A99AC647842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27048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DEC4416E-D910-82FA-849C-D1F0138FE8BF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1527048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EFC9957-6324-44FA-A937-12E8D28D27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90686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3" name="Image Text Placeholder 4">
            <a:extLst>
              <a:ext uri="{FF2B5EF4-FFF2-40B4-BE49-F238E27FC236}">
                <a16:creationId xmlns:a16="http://schemas.microsoft.com/office/drawing/2014/main" id="{54145343-115A-7C6C-5025-8D78035AC08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90686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2E9E9CA-B252-105A-7EE9-3C32BD1E338C}"/>
              </a:ext>
            </a:extLst>
          </p:cNvPr>
          <p:cNvSpPr>
            <a:spLocks noGrp="1" noChangeAspect="1"/>
          </p:cNvSpPr>
          <p:nvPr>
            <p:ph type="pic" sz="quarter" idx="62" hasCustomPrompt="1"/>
          </p:nvPr>
        </p:nvSpPr>
        <p:spPr>
          <a:xfrm>
            <a:off x="21990686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5A65FBD-41FC-DAE1-70F8-6970F6A0650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712160" y="11006828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6" name="Image Text Placeholder 5">
            <a:extLst>
              <a:ext uri="{FF2B5EF4-FFF2-40B4-BE49-F238E27FC236}">
                <a16:creationId xmlns:a16="http://schemas.microsoft.com/office/drawing/2014/main" id="{7E4F8B92-A608-0712-63DC-7D0B8D25C99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712160" y="10381469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47" name="Picture Placeholder 5">
            <a:extLst>
              <a:ext uri="{FF2B5EF4-FFF2-40B4-BE49-F238E27FC236}">
                <a16:creationId xmlns:a16="http://schemas.microsoft.com/office/drawing/2014/main" id="{3040C462-A8E3-CAE7-C8B2-CC88CC2BCB82}"/>
              </a:ext>
            </a:extLst>
          </p:cNvPr>
          <p:cNvSpPr>
            <a:spLocks noGrp="1" noChangeAspect="1"/>
          </p:cNvSpPr>
          <p:nvPr>
            <p:ph type="pic" sz="quarter" idx="65" hasCustomPrompt="1"/>
          </p:nvPr>
        </p:nvSpPr>
        <p:spPr>
          <a:xfrm>
            <a:off x="28712160" y="6753024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F3DBD58A-06EA-C55D-B36A-08E3CA5C6AF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82880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9" name="Image Text Placeholder 6">
            <a:extLst>
              <a:ext uri="{FF2B5EF4-FFF2-40B4-BE49-F238E27FC236}">
                <a16:creationId xmlns:a16="http://schemas.microsoft.com/office/drawing/2014/main" id="{DFF6D880-1D4D-A370-FD0B-8E202643296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82880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0" name="Picture Placeholder 6">
            <a:extLst>
              <a:ext uri="{FF2B5EF4-FFF2-40B4-BE49-F238E27FC236}">
                <a16:creationId xmlns:a16="http://schemas.microsoft.com/office/drawing/2014/main" id="{FE36365B-485F-9C95-7F33-A795DDA0A970}"/>
              </a:ext>
            </a:extLst>
          </p:cNvPr>
          <p:cNvSpPr>
            <a:spLocks noGrp="1" noChangeAspect="1"/>
          </p:cNvSpPr>
          <p:nvPr>
            <p:ph type="pic" sz="quarter" idx="68" hasCustomPrompt="1"/>
          </p:nvPr>
        </p:nvSpPr>
        <p:spPr>
          <a:xfrm>
            <a:off x="182880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327C785F-6851-A93B-5694-C244F8852E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549005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2" name="Image Text Placeholder 7">
            <a:extLst>
              <a:ext uri="{FF2B5EF4-FFF2-40B4-BE49-F238E27FC236}">
                <a16:creationId xmlns:a16="http://schemas.microsoft.com/office/drawing/2014/main" id="{BE2B5C28-9A8B-0D8E-F12E-37E98398B72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549005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3" name="Picture Placeholder 7">
            <a:extLst>
              <a:ext uri="{FF2B5EF4-FFF2-40B4-BE49-F238E27FC236}">
                <a16:creationId xmlns:a16="http://schemas.microsoft.com/office/drawing/2014/main" id="{DEDF76AC-53F8-1E95-4B55-FA0C90102307}"/>
              </a:ext>
            </a:extLst>
          </p:cNvPr>
          <p:cNvSpPr>
            <a:spLocks noGrp="1" noChangeAspect="1"/>
          </p:cNvSpPr>
          <p:nvPr>
            <p:ph type="pic" sz="quarter" idx="71" hasCustomPrompt="1"/>
          </p:nvPr>
        </p:nvSpPr>
        <p:spPr>
          <a:xfrm>
            <a:off x="8549005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541B0966-B263-1076-F94D-E177A8FCCA7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5270480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5" name="Image Text Placeholder 8">
            <a:extLst>
              <a:ext uri="{FF2B5EF4-FFF2-40B4-BE49-F238E27FC236}">
                <a16:creationId xmlns:a16="http://schemas.microsoft.com/office/drawing/2014/main" id="{64B1456B-F08A-3269-C378-571FD4FE263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5270480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6" name="Picture Placeholder 8">
            <a:extLst>
              <a:ext uri="{FF2B5EF4-FFF2-40B4-BE49-F238E27FC236}">
                <a16:creationId xmlns:a16="http://schemas.microsoft.com/office/drawing/2014/main" id="{B29738B8-4871-A0AD-A2D9-79A88A3D4161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15270480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1A3A7327-F757-246B-FF7D-069AFC0F9CF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990686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58" name="Image Text Placeholder 9">
            <a:extLst>
              <a:ext uri="{FF2B5EF4-FFF2-40B4-BE49-F238E27FC236}">
                <a16:creationId xmlns:a16="http://schemas.microsoft.com/office/drawing/2014/main" id="{935A0663-9E19-FC04-89A2-4495D29EB0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990686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A06CCEF2-4324-2A20-E13B-C9A34D87D13F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21990686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2424D5C6-2CED-3EF1-7441-B207A8A8C9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8710892" y="16402883"/>
            <a:ext cx="6035675" cy="867930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800"/>
              </a:spcAft>
              <a:defRPr sz="2800"/>
            </a:lvl1pPr>
            <a:lvl2pPr algn="ctr">
              <a:defRPr sz="2800"/>
            </a:lvl2pPr>
            <a:lvl3pPr algn="ctr">
              <a:defRPr sz="2800"/>
            </a:lvl3pPr>
            <a:lvl4pPr algn="ctr">
              <a:defRPr sz="2800"/>
            </a:lvl4pPr>
            <a:lvl5pPr algn="ctr">
              <a:defRPr sz="2800"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64" name="Image Text Placeholder 10">
            <a:extLst>
              <a:ext uri="{FF2B5EF4-FFF2-40B4-BE49-F238E27FC236}">
                <a16:creationId xmlns:a16="http://schemas.microsoft.com/office/drawing/2014/main" id="{FA33B5F6-D7B6-0FFB-553F-29C7E13AAB5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8710892" y="15779883"/>
            <a:ext cx="6035675" cy="585216"/>
          </a:xfrm>
        </p:spPr>
        <p:txBody>
          <a:bodyPr/>
          <a:lstStyle>
            <a:lvl1pPr algn="ctr">
              <a:spcBef>
                <a:spcPts val="0"/>
              </a:spcBef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Image Title</a:t>
            </a:r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B995E01A-8631-5C16-CF95-C2D61216BF22}"/>
              </a:ext>
            </a:extLst>
          </p:cNvPr>
          <p:cNvSpPr>
            <a:spLocks noGrp="1" noChangeAspect="1"/>
          </p:cNvSpPr>
          <p:nvPr>
            <p:ph type="pic" sz="quarter" idx="80" hasCustomPrompt="1"/>
          </p:nvPr>
        </p:nvSpPr>
        <p:spPr>
          <a:xfrm>
            <a:off x="28710892" y="12149079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393957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10603E2E-FCBB-9670-399F-4E1AA8DE52A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7" name="Slide Number Placeholder">
            <a:extLst>
              <a:ext uri="{FF2B5EF4-FFF2-40B4-BE49-F238E27FC236}">
                <a16:creationId xmlns:a16="http://schemas.microsoft.com/office/drawing/2014/main" id="{2845A55B-51B5-DA67-0B9D-B48DB2A149A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BC038FD9-0AFF-00C8-0AA3-223BDB8DBBF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630900" y="12024360"/>
            <a:ext cx="17030700" cy="672083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FAAF3530-C3FF-2C2D-7DBE-DE264BE2B6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1494844" y="13258800"/>
            <a:ext cx="645178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558BCBFD-EB59-D408-424E-9AC9033C56F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4400" y="13258800"/>
            <a:ext cx="9896168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0A174EF8-9FF4-51FA-A66C-17A876EABB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0" y="7086600"/>
            <a:ext cx="1112520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D4D98DE-6896-9804-F8F6-36DBA25F64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" y="7086600"/>
            <a:ext cx="522122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E1A4A1E-E7C9-F04E-34E1-36E29C5273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403800" y="914400"/>
            <a:ext cx="5257800" cy="1042416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F5AEEAC-F2C1-5A18-FE0A-094F2B9E4F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373168" y="914400"/>
            <a:ext cx="13382932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D0FC23F-D808-9291-07E6-D31D82FEAE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888794" y="914400"/>
            <a:ext cx="579857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D9B9429-F845-30E8-36A1-DB2BB86ADC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914400"/>
            <a:ext cx="828859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484569-FB15-3B4E-EF2D-43C609DE2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29375" y="7086600"/>
            <a:ext cx="11125199" cy="4251960"/>
          </a:xfrm>
        </p:spPr>
        <p:txBody>
          <a:bodyPr anchor="ctr"/>
          <a:lstStyle>
            <a:lvl1pPr algn="ctr">
              <a:defRPr sz="5400"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56676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4E6B04E9-AFDA-A682-186B-6C9E617F31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36576000" cy="20574000"/>
          </a:xfrm>
          <a:solidFill>
            <a:schemeClr val="bg2"/>
          </a:solidFill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4120327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6C2B65C0-8411-4E1E-BB2A-A35D3E68956B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36576000" cy="20574000"/>
          </a:xfrm>
          <a:solidFill>
            <a:schemeClr val="bg2"/>
          </a:solidFill>
        </p:spPr>
        <p:txBody>
          <a:bodyPr vert="horz" lIns="0" tIns="0" rIns="0" bIns="2103120" rtlCol="0" anchor="ctr">
            <a:no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icon to place video</a:t>
            </a:r>
          </a:p>
        </p:txBody>
      </p:sp>
    </p:spTree>
    <p:extLst>
      <p:ext uri="{BB962C8B-B14F-4D97-AF65-F5344CB8AC3E}">
        <p14:creationId xmlns:p14="http://schemas.microsoft.com/office/powerpoint/2010/main" val="22255020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54E04377-1EF8-BEB3-073F-B3A8DF9467DF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5486400" y="3104193"/>
            <a:ext cx="25603200" cy="14401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video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04389443-080A-7AA4-3085-E70BDC8F8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2454442"/>
            <a:ext cx="32918400" cy="625475"/>
          </a:xfrm>
        </p:spPr>
        <p:txBody>
          <a:bodyPr anchor="t"/>
          <a:lstStyle>
            <a:lvl1pPr algn="ctr">
              <a:spcBef>
                <a:spcPts val="0"/>
              </a:spcBef>
              <a:spcAft>
                <a:spcPts val="0"/>
              </a:spcAft>
              <a:defRPr sz="32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subtitle description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70F4D80-EF7D-3626-2F98-566AC0DAC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776548"/>
            <a:ext cx="32918400" cy="625642"/>
          </a:xfrm>
        </p:spPr>
        <p:txBody>
          <a:bodyPr/>
          <a:lstStyle>
            <a:lvl1pPr algn="ctr">
              <a:spcAft>
                <a:spcPts val="0"/>
              </a:spcAft>
              <a:defRPr sz="4400">
                <a:latin typeface="+mj-lt"/>
              </a:defRPr>
            </a:lvl1pPr>
          </a:lstStyle>
          <a:p>
            <a:r>
              <a:rPr lang="en-US" dirty="0"/>
              <a:t>Demo Title Goes Here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60EBBCC-FBDE-8093-F4FD-0B4F364BCAB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7543800" y="19431000"/>
            <a:ext cx="2148840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EB50A31F-A2CF-8090-6E63-67B213D66B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14400" y="19431000"/>
            <a:ext cx="640080" cy="369332"/>
          </a:xfrm>
        </p:spPr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234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64B3AED4-78D5-2F14-5B4B-21B821017D1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1B3CD7F-5DB5-8DB6-34DE-A76A3CB040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319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319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309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6309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98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298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103730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6CB6789-A0C4-095B-4F78-A1935A3E79A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E22358C3-92D5-2D07-2859-E0B77BBAAB9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7468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755AA01-CD1A-BA1A-6267-72402A650C1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AEBDFF6D-5282-AD34-8B0E-F3B5DB237CA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B7F07BEA-9328-83D7-7A86-EF49E5AB367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903220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272FF6CA-4EAC-CC1F-F26F-2BCDDEECA983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22311361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F05EA37B-1E0F-5633-E2D2-0B1F3E9CBD61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559052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D4D4623-91D4-3807-8FEA-A1445E516A8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86968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2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56269049-A39A-59CE-F6F5-56614D1F130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148840" y="10736828"/>
            <a:ext cx="5714999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5857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(Cent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48C0C1F-BDEF-41A8-0F04-DDA5A236CB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672345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687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1BF75DB8-C4B4-5045-D3CD-0BB9D247A7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5530284D-5EA9-3120-4325-FD1BC8D498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4FAE9B2E-10E6-DEBE-165A-2C6E8B9C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3800" y="19431000"/>
            <a:ext cx="21488400" cy="36933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lnSpc>
                <a:spcPct val="90000"/>
              </a:lnSpc>
              <a:defRPr sz="2000" kern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FCDFCB45-17BD-2C7E-0517-95E82587D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19431000"/>
            <a:ext cx="6400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C331F8D2-7838-5A11-2D90-06BE8391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5943600"/>
            <a:ext cx="32918400" cy="128016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F6E4B95-41AA-56A9-319C-9DB7C4A7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pPr indent="0">
              <a:lnSpc>
                <a:spcPct val="90000"/>
              </a:lnSpc>
            </a:pPr>
            <a:r>
              <a:rPr lang="en-US" sz="8800" dirty="0"/>
              <a:t>Click to Edit Title Here</a:t>
            </a:r>
            <a:br>
              <a:rPr lang="en-US" sz="8800" dirty="0"/>
            </a:br>
            <a:r>
              <a:rPr lang="en-US" sz="8800" dirty="0"/>
              <a:t>2-lines Maximum Length</a:t>
            </a:r>
          </a:p>
        </p:txBody>
      </p:sp>
      <p:sp>
        <p:nvSpPr>
          <p:cNvPr id="5" name="Date (Confidential) Placeholder">
            <a:extLst>
              <a:ext uri="{FF2B5EF4-FFF2-40B4-BE49-F238E27FC236}">
                <a16:creationId xmlns:a16="http://schemas.microsoft.com/office/drawing/2014/main" id="{EE584683-E47B-15C6-C9DA-D716A0132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19431000"/>
            <a:ext cx="56692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>
                <a:cs typeface="NVIDIA Sans" panose="020B05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11670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23" r:id="rId7"/>
    <p:sldLayoutId id="2147483707" r:id="rId8"/>
    <p:sldLayoutId id="2147483662" r:id="rId9"/>
    <p:sldLayoutId id="2147483667" r:id="rId10"/>
    <p:sldLayoutId id="2147483674" r:id="rId11"/>
    <p:sldLayoutId id="2147483668" r:id="rId12"/>
    <p:sldLayoutId id="2147483673" r:id="rId13"/>
    <p:sldLayoutId id="2147483672" r:id="rId14"/>
    <p:sldLayoutId id="2147483694" r:id="rId15"/>
    <p:sldLayoutId id="2147483759" r:id="rId16"/>
    <p:sldLayoutId id="2147483682" r:id="rId17"/>
    <p:sldLayoutId id="2147483683" r:id="rId18"/>
    <p:sldLayoutId id="2147483684" r:id="rId19"/>
    <p:sldLayoutId id="2147483708" r:id="rId20"/>
    <p:sldLayoutId id="2147483709" r:id="rId21"/>
    <p:sldLayoutId id="2147483685" r:id="rId22"/>
    <p:sldLayoutId id="2147483688" r:id="rId23"/>
    <p:sldLayoutId id="2147483690" r:id="rId24"/>
    <p:sldLayoutId id="2147483689" r:id="rId25"/>
    <p:sldLayoutId id="2147483691" r:id="rId26"/>
    <p:sldLayoutId id="2147483692" r:id="rId27"/>
    <p:sldLayoutId id="2147483693" r:id="rId28"/>
    <p:sldLayoutId id="2147483703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5" r:id="rId37"/>
    <p:sldLayoutId id="2147483716" r:id="rId38"/>
    <p:sldLayoutId id="2147483704" r:id="rId39"/>
    <p:sldLayoutId id="2147483675" r:id="rId40"/>
    <p:sldLayoutId id="2147483676" r:id="rId41"/>
    <p:sldLayoutId id="2147483677" r:id="rId42"/>
    <p:sldLayoutId id="2147483681" r:id="rId43"/>
    <p:sldLayoutId id="2147483669" r:id="rId44"/>
  </p:sldLayoutIdLst>
  <p:hf hdr="0" dt="0"/>
  <p:txStyles>
    <p:titleStyle>
      <a:lvl1pPr indent="0" algn="l" defTabSz="2743200" rtl="0" eaLnBrk="1" latinLnBrk="0" hangingPunct="1">
        <a:lnSpc>
          <a:spcPct val="90000"/>
        </a:lnSpc>
        <a:spcBef>
          <a:spcPct val="0"/>
        </a:spcBef>
        <a:buNone/>
        <a:defRPr sz="8800" kern="100" baseline="0">
          <a:solidFill>
            <a:schemeClr val="tx1"/>
          </a:solidFill>
          <a:latin typeface="+mj-lt"/>
          <a:ea typeface="+mj-ea"/>
          <a:cs typeface="NVIDIA Sans Medium" panose="020B0603020203020204" pitchFamily="34" charset="0"/>
        </a:defRPr>
      </a:lvl1pPr>
    </p:titleStyle>
    <p:bodyStyle>
      <a:lvl1pPr marL="0" indent="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​"/>
        <a:defRPr sz="44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1pPr>
      <a:lvl2pPr marL="457200" indent="-45720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•"/>
        <a:defRPr sz="40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2pPr>
      <a:lvl3pPr marL="9144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36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3pPr>
      <a:lvl4pPr marL="13716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32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4pPr>
      <a:lvl5pPr marL="18288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28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65151"/>
          </p15:clr>
        </p15:guide>
        <p15:guide id="2" pos="23040" userDrawn="1">
          <p15:clr>
            <a:srgbClr val="F65151"/>
          </p15:clr>
        </p15:guide>
        <p15:guide id="3" pos="1152" userDrawn="1">
          <p15:clr>
            <a:srgbClr val="F65151"/>
          </p15:clr>
        </p15:guide>
        <p15:guide id="4" pos="21888" userDrawn="1">
          <p15:clr>
            <a:srgbClr val="F65151"/>
          </p15:clr>
        </p15:guide>
        <p15:guide id="5" orient="horz" userDrawn="1">
          <p15:clr>
            <a:srgbClr val="F65151"/>
          </p15:clr>
        </p15:guide>
        <p15:guide id="6" orient="horz" pos="12960" userDrawn="1">
          <p15:clr>
            <a:srgbClr val="F65151"/>
          </p15:clr>
        </p15:guide>
        <p15:guide id="7" orient="horz" pos="1152" userDrawn="1">
          <p15:clr>
            <a:srgbClr val="F65151"/>
          </p15:clr>
        </p15:guide>
        <p15:guide id="8" orient="horz" pos="11808" userDrawn="1">
          <p15:clr>
            <a:srgbClr val="F65151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>
                <a:solidFill>
                  <a:srgbClr val="757575"/>
                </a:solidFill>
                <a:latin typeface="NVIDIA Sans"/>
              </a:rPr>
              <a:t>Shunyang Li  |  Public Technical Brief  |  October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0" i="0">
                <a:solidFill>
                  <a:srgbClr val="313131"/>
                </a:solidFill>
                <a:latin typeface="NVIDIA Sans"/>
              </a:rPr>
              <a:t>MiniMax H3 with vLLM-Omni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200" b="1" i="0">
                <a:solidFill>
                  <a:srgbClr val="000000"/>
                </a:solidFill>
                <a:latin typeface="NVIDIA Sans Medium"/>
              </a:rPr>
              <a:t>Real-Time Video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200" b="1" i="0">
                <a:solidFill>
                  <a:srgbClr val="000000"/>
                </a:solidFill>
                <a:latin typeface="NVIDIA Sans Medium"/>
              </a:rPr>
              <a:t>Inference on 8×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200" b="1" i="0">
                <a:solidFill>
                  <a:srgbClr val="000000"/>
                </a:solidFill>
                <a:latin typeface="NVIDIA Sans Medium"/>
              </a:rPr>
              <a:t>NVIDIA RTX PRO 5000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757575"/>
                </a:solidFill>
                <a:latin typeface="NVIDIA Sans"/>
              </a:rPr>
              <a:t>For 362 frames at 24 FPS, the encoder, eight DiT steps, communication, and VAE decode share one 15.08 s end-to-end budget.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5800" b="1" i="0">
                <a:solidFill>
                  <a:srgbClr val="000000"/>
                </a:solidFill>
                <a:latin typeface="NVIDIA Sans Medium"/>
              </a:rPr>
              <a:t>Real-Time 768p: The Full Pipeline Must Fit Within the Clip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9431000"/>
            <a:ext cx="2148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Sources: official MiniMax H3, LTX-2.5, HunyuanVideo and Wan2.2 repositories · author 362-frame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310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532120"/>
            <a:ext cx="6400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76B900"/>
                </a:solidFill>
                <a:latin typeface="NVIDIA Sans Medium"/>
              </a:rPr>
              <a:t>REAL-TIME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126480"/>
            <a:ext cx="1536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313131"/>
                </a:solidFill>
                <a:latin typeface="NVIDIA Sans Medium"/>
              </a:rPr>
              <a:t>RTF = end-to-end latency ÷ media duration ≤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7022592"/>
            <a:ext cx="1536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0" i="0">
                <a:solidFill>
                  <a:srgbClr val="757575"/>
                </a:solidFill>
                <a:latin typeface="NVIDIA Sans"/>
              </a:rPr>
              <a:t>768p · 362 frames @ 24 FPS · 15.08 s media  →  ≤ 15.08 s end to 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7882127"/>
            <a:ext cx="15316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8247888"/>
            <a:ext cx="152704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313131"/>
                </a:solidFill>
                <a:latin typeface="NVIDIA Sans Medium"/>
              </a:rPr>
              <a:t>PUBLISHED VIDEO DENOISER SCALE · BILLION PARAMETERS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37960" y="9272016"/>
            <a:ext cx="0" cy="5742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0216" y="8887968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757575"/>
                </a:solidFill>
                <a:latin typeface="NVIDIA Sans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0432" y="9272016"/>
            <a:ext cx="0" cy="5742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12688" y="8887968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757575"/>
                </a:solidFill>
                <a:latin typeface="NVIDIA Sans"/>
              </a:rPr>
              <a:t>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162905" y="9272016"/>
            <a:ext cx="0" cy="5742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925161" y="8887968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757575"/>
                </a:solidFill>
                <a:latin typeface="NVIDIA Sans"/>
              </a:rPr>
              <a:t>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975378" y="9272016"/>
            <a:ext cx="0" cy="5742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737634" y="8887968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757575"/>
                </a:solidFill>
                <a:latin typeface="NVIDIA Sans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9473184"/>
            <a:ext cx="4434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313131"/>
                </a:solidFill>
                <a:latin typeface="NVIDIA Sans Medium"/>
              </a:rPr>
              <a:t>MiniMax H3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9491472"/>
            <a:ext cx="9281160" cy="5303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956280" y="9464040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76B900"/>
                </a:solidFill>
                <a:latin typeface="NVIDIA Sans Medium"/>
              </a:rPr>
              <a:t>33B dense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10826496"/>
            <a:ext cx="4434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13131"/>
                </a:solidFill>
                <a:latin typeface="NVIDIA Sans"/>
              </a:rPr>
              <a:t>Wan2.2 A14B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10844784"/>
            <a:ext cx="7593676" cy="530352"/>
          </a:xfrm>
          <a:prstGeom prst="rect">
            <a:avLst/>
          </a:prstGeom>
          <a:solidFill>
            <a:srgbClr val="F3EBF8"/>
          </a:solidFill>
          <a:ln w="12700">
            <a:solidFill>
              <a:srgbClr val="952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10844784"/>
            <a:ext cx="3937461" cy="530352"/>
          </a:xfrm>
          <a:prstGeom prst="rect">
            <a:avLst/>
          </a:prstGeom>
          <a:solidFill>
            <a:srgbClr val="952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96228" y="10817352"/>
            <a:ext cx="1965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313131"/>
                </a:solidFill>
                <a:latin typeface="NVIDIA Sans Medium"/>
              </a:rPr>
              <a:t>27B total / 14B 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12179808"/>
            <a:ext cx="4434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13131"/>
                </a:solidFill>
                <a:latin typeface="NVIDIA Sans"/>
              </a:rPr>
              <a:t>LTX-2.5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2198096"/>
            <a:ext cx="6187440" cy="530352"/>
          </a:xfrm>
          <a:prstGeom prst="rect">
            <a:avLst/>
          </a:prstGeom>
          <a:solidFill>
            <a:srgbClr val="007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89992" y="12170664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313131"/>
                </a:solidFill>
                <a:latin typeface="NVIDIA Sans Medium"/>
              </a:rPr>
              <a:t>22B*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13533120"/>
            <a:ext cx="4434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13131"/>
                </a:solidFill>
                <a:latin typeface="NVIDIA Sans"/>
              </a:rPr>
              <a:t>HunyuanVideo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13551408"/>
            <a:ext cx="3656214" cy="530352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58766" y="13523976"/>
            <a:ext cx="1417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313131"/>
                </a:solidFill>
                <a:latin typeface="NVIDIA Sans Medium"/>
              </a:rPr>
              <a:t>13B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15032736"/>
            <a:ext cx="1531620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757575"/>
                </a:solidFill>
                <a:latin typeface="NVIDIA Sans"/>
              </a:rPr>
              <a:t>*LTX-2.5 uses the official 22B checkpoint designation. Parameter count is a scale proxy; architecture, active paths, sequence length, and denoising steps determine actual FLOPs.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74519" y="16203167"/>
            <a:ext cx="0" cy="2103121"/>
          </a:xfrm>
          <a:prstGeom prst="line">
            <a:avLst/>
          </a:prstGeom>
          <a:ln w="381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40280" y="16148304"/>
            <a:ext cx="14813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313131"/>
                </a:solidFill>
                <a:latin typeface="NVIDIA Sans Medium"/>
              </a:rPr>
              <a:t>Largest dense video transformer in this peer set: 33B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16843248"/>
            <a:ext cx="14813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757575"/>
                </a:solidFill>
                <a:latin typeface="NVIDIA Sans"/>
              </a:rPr>
              <a:t>At native 768p, the dense generator operates over long audio-video sequences; the initial open release uses full attention, making tensor throughput and memory movement first-order serving constraints.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0" y="5532120"/>
            <a:ext cx="15361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76B900"/>
                </a:solidFill>
                <a:latin typeface="NVIDIA Sans Medium"/>
              </a:rPr>
              <a:t>MINIMAX H3-BASE · OFFICIAL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0" y="60533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952FC6"/>
                </a:solidFill>
                <a:latin typeface="NVIDIA Sans Medium"/>
              </a:rPr>
              <a:t>32B ENCODER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951440" y="6263640"/>
            <a:ext cx="749808" cy="0"/>
          </a:xfrm>
          <a:prstGeom prst="line">
            <a:avLst/>
          </a:prstGeom>
          <a:ln w="1651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23609808" y="6172200"/>
            <a:ext cx="182880" cy="182880"/>
          </a:xfrm>
          <a:prstGeom prst="triangle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865840" y="6053328"/>
            <a:ext cx="523036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313131"/>
                </a:solidFill>
                <a:latin typeface="NVIDIA Sans Medium"/>
              </a:rPr>
              <a:t>33B DENSE DiT × 50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9141928" y="6263640"/>
            <a:ext cx="731520" cy="0"/>
          </a:xfrm>
          <a:prstGeom prst="line">
            <a:avLst/>
          </a:prstGeom>
          <a:ln w="1651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29782008" y="6172200"/>
            <a:ext cx="182880" cy="182880"/>
          </a:xfrm>
          <a:prstGeom prst="triangle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038040" y="6053328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DBBA4"/>
                </a:solidFill>
                <a:latin typeface="NVIDIA Sans Medium"/>
              </a:rPr>
              <a:t>VISUAL + AUDIO VAE</a:t>
            </a:r>
          </a:p>
        </p:txBody>
      </p:sp>
      <p:pic>
        <p:nvPicPr>
          <p:cNvPr id="46" name="Picture 45" descr="minimax-h3-full-arch-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0" y="6629739"/>
            <a:ext cx="16002000" cy="8887289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19202400" y="15782544"/>
            <a:ext cx="155448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9202400" y="16047720"/>
            <a:ext cx="4937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EF9100"/>
                </a:solidFill>
                <a:latin typeface="NVIDIA Sans Medium"/>
              </a:rPr>
              <a:t>MODEL RESIDENCY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0" y="16568928"/>
            <a:ext cx="475488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>
                <a:solidFill>
                  <a:srgbClr val="EF9100"/>
                </a:solidFill>
                <a:latin typeface="NVIDIA Sans Medium"/>
              </a:rPr>
              <a:t>≈130 GB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11560" y="16559784"/>
            <a:ext cx="108356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>
                <a:solidFill>
                  <a:srgbClr val="313131"/>
                </a:solidFill>
                <a:latin typeface="NVIDIA Sans"/>
              </a:rPr>
              <a:t>raw BF16 weights for the 32B encoder + 33B generator—about 1.8× one 72 GB GPU—before Visual/Audio VAE, activations, attention workspace, and graph pools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0" y="17785080"/>
            <a:ext cx="15544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Stage placement, precision, offload, and workspace reuse are therefore part of performance. About 13B H3 AdaLN parameters can be precomputed and cached for inference-only deployment.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757575"/>
                </a:solidFill>
                <a:latin typeface="NVIDIA Sans"/>
              </a:rPr>
              <a:t>ComfyUI remains the authoring surface; vLLM-Omni owns serving, stage placement, batching, and multi-GPU execution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000000"/>
                </a:solidFill>
                <a:latin typeface="NVIDIA Sans Medium"/>
              </a:rPr>
              <a:t>vLLM-Omni Connects Visual Workflows to Multi-GPU Serving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52" sz="quarter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13131"/>
                </a:solidFill>
                <a:latin typeface="NVIDIA Sans"/>
              </a:rPr>
              <a:t>One serving layer spans omni-modal inputs, autoregressive reasoning, and DiT generation.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51" sz="quarter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76B900"/>
                </a:solidFill>
                <a:latin typeface="NVIDIA Sans Medium"/>
              </a:rPr>
              <a:t>OFFICIAL vLLM-OMNI ARCHITECTURE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4" sz="quarter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13131"/>
                </a:solidFill>
                <a:latin typeface="NVIDIA Sans"/>
              </a:rPr>
              <a:t>MiniMax-H3 character replacement calls the vLLM-Omni Generate Video endpoint; PR #9194 remains open.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5" sz="quarter"/>
          </p:nvPr>
        </p:nvSpPr>
        <p:spPr/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0074DF"/>
                </a:solidFill>
                <a:latin typeface="NVIDIA Sans Medium"/>
              </a:rPr>
              <a:t>COMFYUI WORKFLOW · PR #9194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9431000"/>
            <a:ext cx="2148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Sources: vLLM-Omni v0.26 public deck, slide 22 · vLLM-Omni PR #9194 (open)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4310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3</a:t>
            </a:r>
          </a:p>
        </p:txBody>
      </p:sp>
      <p:pic>
        <p:nvPicPr>
          <p:cNvPr id="12" name="Picture 11" descr="vllm-omni-architecture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9" y="7013487"/>
            <a:ext cx="16114094" cy="8208374"/>
          </a:xfrm>
          <a:prstGeom prst="rect">
            <a:avLst/>
          </a:prstGeom>
        </p:spPr>
      </p:pic>
      <p:pic>
        <p:nvPicPr>
          <p:cNvPr id="13" name="Picture 12" descr="pr9194_comfyui_single_character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3048" y="6583679"/>
            <a:ext cx="14334208" cy="906799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BDAAE77A-7210-CB41-C14A-7F60A48AB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308616"/>
              </p:ext>
            </p:extLst>
          </p:nvPr>
        </p:nvGraphicFramePr>
        <p:xfrm>
          <a:off x="4151376" y="5925312"/>
          <a:ext cx="28273248" cy="1079906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961120">
                  <a:extLst>
                    <a:ext uri="{9D8B030D-6E8A-4147-A177-3AD203B41FA5}">
                      <a16:colId xmlns:a16="http://schemas.microsoft.com/office/drawing/2014/main" val="1714626306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6977485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387258115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543914041"/>
                    </a:ext>
                  </a:extLst>
                </a:gridCol>
                <a:gridCol w="6144768">
                  <a:extLst>
                    <a:ext uri="{9D8B030D-6E8A-4147-A177-3AD203B41FA5}">
                      <a16:colId xmlns:a16="http://schemas.microsoft.com/office/drawing/2014/main" val="2421839051"/>
                    </a:ext>
                  </a:extLst>
                </a:gridCol>
              </a:tblGrid>
              <a:tr h="1161288"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marL="0" marR="0" lvl="0" indent="0" algn="ctr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3400" b="1" i="0">
                          <a:solidFill>
                            <a:srgbClr val="76B900"/>
                          </a:solidFill>
                          <a:latin typeface="NVIDIA Sans Medium"/>
                        </a:rPr>
                        <a:t>SKU</a:t>
                      </a:r>
                      <a:endParaRPr lang="en-US" sz="4000" b="0" dirty="0">
                        <a:solidFill>
                          <a:schemeClr val="bg1"/>
                        </a:solidFill>
                        <a:latin typeface="+mj-lt"/>
                        <a:cs typeface="NVIDIA Sans" panose="020B0503020203020204" pitchFamily="34" charset="0"/>
                      </a:endParaRPr>
                    </a:p>
                  </a:txBody>
                  <a:tcPr marL="365760" marR="182880" marT="91440" marB="9144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3400" b="1" i="0">
                          <a:solidFill>
                            <a:srgbClr val="76B900"/>
                          </a:solidFill>
                          <a:latin typeface="NVIDIA Sans Medium"/>
                        </a:rPr>
                        <a:t>CC / SMs</a:t>
                      </a:r>
                      <a:endParaRPr lang="en-US" sz="4400" b="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3400" b="1" i="0">
                          <a:solidFill>
                            <a:srgbClr val="76B900"/>
                          </a:solidFill>
                          <a:latin typeface="NVIDIA Sans Medium"/>
                        </a:rPr>
                        <a:t>Memory</a:t>
                      </a:r>
                      <a:endParaRPr lang="en-US" sz="4400" b="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3400" b="1" i="0">
                          <a:solidFill>
                            <a:srgbClr val="76B900"/>
                          </a:solidFill>
                          <a:latin typeface="NVIDIA Sans Medium"/>
                        </a:rPr>
                        <a:t>Power</a:t>
                      </a:r>
                      <a:endParaRPr lang="en-US" sz="4400" b="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b="1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3400" b="1" i="0">
                          <a:solidFill>
                            <a:srgbClr val="76B900"/>
                          </a:solidFill>
                          <a:latin typeface="NVIDIA Sans Medium"/>
                        </a:rPr>
                        <a:t>Interconnect</a:t>
                      </a:r>
                      <a:endParaRPr lang="en-US" sz="4400" b="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58895191"/>
                  </a:ext>
                </a:extLst>
              </a:tr>
              <a:tr h="2409444"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900" b="1" i="0">
                          <a:solidFill>
                            <a:srgbClr val="76B900"/>
                          </a:solidFill>
                          <a:latin typeface="NVIDIA Sans Medium"/>
                        </a:rPr>
                        <a:t>RTX PRO 5000 Blackwell
8-GPU baseline</a:t>
                      </a:r>
                      <a:endParaRPr kumimoji="0" lang="en-US" sz="3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36576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12.0 / 110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72 GB GDDR7 ECC
48 GB variant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1" i="0">
                          <a:solidFill>
                            <a:srgbClr val="EF9100"/>
                          </a:solidFill>
                          <a:latin typeface="NVIDIA Sans Medium"/>
                        </a:rPr>
                        <a:t>350 W configured*
300 W public TBP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0074DF"/>
                          </a:solidFill>
                          <a:latin typeface="NVIDIA Sans"/>
                        </a:rPr>
                        <a:t>PCIe Gen5 ×16
no GPU NVLink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extLst>
                  <a:ext uri="{0D108BD9-81ED-4DB2-BD59-A6C34878D82A}">
                    <a16:rowId xmlns:a16="http://schemas.microsoft.com/office/drawing/2014/main" val="1120594288"/>
                  </a:ext>
                </a:extLst>
              </a:tr>
              <a:tr h="2409444"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900" b="1" i="0">
                          <a:solidFill>
                            <a:srgbClr val="313131"/>
                          </a:solidFill>
                          <a:latin typeface="NVIDIA Sans Medium"/>
                        </a:rPr>
                        <a:t>RTX PRO 6000 Blackwell
WS / Server</a:t>
                      </a:r>
                      <a:endParaRPr kumimoji="0" lang="en-US" sz="3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36576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12.0 / 188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96 GB GDDR7 ECC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600 W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0074DF"/>
                          </a:solidFill>
                          <a:latin typeface="NVIDIA Sans"/>
                        </a:rPr>
                        <a:t>PCIe Gen5 ×16
no GPU NVLink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extLst>
                  <a:ext uri="{0D108BD9-81ED-4DB2-BD59-A6C34878D82A}">
                    <a16:rowId xmlns:a16="http://schemas.microsoft.com/office/drawing/2014/main" val="863754937"/>
                  </a:ext>
                </a:extLst>
              </a:tr>
              <a:tr h="2409444"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900" b="1" i="0">
                          <a:solidFill>
                            <a:srgbClr val="313131"/>
                          </a:solidFill>
                          <a:latin typeface="NVIDIA Sans Medium"/>
                        </a:rPr>
                        <a:t>GeForce RTX 5090</a:t>
                      </a:r>
                      <a:endParaRPr kumimoji="0" lang="en-US" sz="3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36576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12.0 / 170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32 GB GDDR7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575 W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0074DF"/>
                          </a:solidFill>
                          <a:latin typeface="NVIDIA Sans"/>
                        </a:rPr>
                        <a:t>PCIe Gen5 ×16
NVLink: no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extLst>
                  <a:ext uri="{0D108BD9-81ED-4DB2-BD59-A6C34878D82A}">
                    <a16:rowId xmlns:a16="http://schemas.microsoft.com/office/drawing/2014/main" val="568137814"/>
                  </a:ext>
                </a:extLst>
              </a:tr>
              <a:tr h="2409444"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900" b="1" i="0">
                          <a:solidFill>
                            <a:srgbClr val="313131"/>
                          </a:solidFill>
                          <a:latin typeface="NVIDIA Sans Medium"/>
                        </a:rPr>
                        <a:t>DGX Spark · GB10</a:t>
                      </a:r>
                      <a:endParaRPr kumimoji="0" lang="en-US" sz="3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NVIDIA Sans" panose="020B0503020203020204" pitchFamily="34" charset="0"/>
                      </a:endParaRPr>
                    </a:p>
                  </a:txBody>
                  <a:tcPr marL="36576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12.1 / 48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128 GB unified
LPDDR5X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ctr"/>
                      <a:r>
                        <a:rPr sz="2900" b="0" i="0">
                          <a:solidFill>
                            <a:srgbClr val="313131"/>
                          </a:solidFill>
                          <a:latin typeface="NVIDIA Sans"/>
                        </a:rPr>
                        <a:t>140 W SoC
240 W system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tc>
                  <a:txBody>
                    <a:bodyPr wrap="square"/>
                    <a:lstStyle>
                      <a:lvl1pPr marL="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1pPr>
                      <a:lvl2pPr marL="1371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2pPr>
                      <a:lvl3pPr marL="2743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3pPr>
                      <a:lvl4pPr marL="4114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4pPr>
                      <a:lvl5pPr marL="54864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5pPr>
                      <a:lvl6pPr marL="68580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6pPr>
                      <a:lvl7pPr marL="82296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7pPr>
                      <a:lvl8pPr marL="96012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8pPr>
                      <a:lvl9pPr marL="10972800" algn="l" defTabSz="2743200" rtl="0" eaLnBrk="1" latinLnBrk="0" hangingPunct="1">
                        <a:defRPr sz="5400" kern="1200">
                          <a:solidFill>
                            <a:schemeClr val="tx1"/>
                          </a:solidFill>
                          <a:latin typeface="NVIDIA Sans"/>
                        </a:defRPr>
                      </a:lvl9pPr>
                    </a:lstStyle>
                    <a:p>
                      <a:pPr algn="l"/>
                      <a:r>
                        <a:rPr sz="2900" b="0" i="0">
                          <a:solidFill>
                            <a:srgbClr val="0074DF"/>
                          </a:solidFill>
                          <a:latin typeface="NVIDIA Sans"/>
                        </a:rPr>
                        <a:t>NVLink-C2C in SoC
200 Gb/s ConnectX-7</a:t>
                      </a:r>
                      <a:endParaRPr lang="en-US" sz="3200" dirty="0">
                        <a:solidFill>
                          <a:schemeClr val="tx1"/>
                        </a:solidFill>
                        <a:latin typeface="+mn-lt"/>
                        <a:cs typeface="NVIDIA Sans" panose="020B0503020203020204" pitchFamily="34" charset="0"/>
                      </a:endParaRPr>
                    </a:p>
                  </a:txBody>
                  <a:tcPr marL="182880" marR="182880" marT="91440" marB="91440" anchor="ctr"/>
                </a:tc>
                <a:extLst>
                  <a:ext uri="{0D108BD9-81ED-4DB2-BD59-A6C34878D82A}">
                    <a16:rowId xmlns:a16="http://schemas.microsoft.com/office/drawing/2014/main" val="2751747690"/>
                  </a:ext>
                </a:extLst>
              </a:tr>
            </a:tbl>
          </a:graphicData>
        </a:graphic>
      </p:graphicFrame>
      <p:sp>
        <p:nvSpPr>
          <p:cNvPr id="11" name="Title">
            <a:extLst>
              <a:ext uri="{FF2B5EF4-FFF2-40B4-BE49-F238E27FC236}">
                <a16:creationId xmlns:a16="http://schemas.microsoft.com/office/drawing/2014/main" id="{D5DB519C-86ED-8BA9-9938-EE1F80AA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800" b="1" i="0">
                <a:solidFill>
                  <a:srgbClr val="000000"/>
                </a:solidFill>
                <a:latin typeface="NVIDIA Sans Medium"/>
              </a:rPr>
              <a:t>Frontier Models · The Cards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965093-FCAD-1310-78F0-7CCDB828CD4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543800" y="19431000"/>
            <a:ext cx="21488400" cy="369332"/>
          </a:xfrm>
        </p:spPr>
        <p:txBody>
          <a:bodyPr wrap="square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Sources: NVIDIA product specifications · CUDA GPU Compute Capability · local system inventory and controlled clock study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828800" y="3383280"/>
            <a:ext cx="3291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757575"/>
                </a:solidFill>
                <a:latin typeface="NVIDIA Sans"/>
              </a:rPr>
              <a:t>One Blackwell architecture (CC 12.0/12.1) spans several very different deployment envelopes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94310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757575"/>
                </a:solidFill>
                <a:latin typeface="NVIDI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17117568"/>
            <a:ext cx="2827324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757575"/>
                </a:solidFill>
                <a:latin typeface="NVIDIA Sans Medium"/>
              </a:rPr>
              <a:t>SHARED BY DISCRETE CARDS · BLACKWELL FP4 · GDDR7 · PCIe GEN5 · NO GPU-TO-GPU NVLINK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1376" y="17629632"/>
            <a:ext cx="282732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313131"/>
                </a:solidFill>
                <a:latin typeface="NVIDIA Sans Medium"/>
              </a:rPr>
              <a:t>Watch sustained clocks, not peak TOPS: controlled tensor-heavy tests reported SwPowerCap in 94.8–100% of valid samples; one rank stayed at 1.942 GHz and ran the same fine-attention input 6.78% slower. A 600 W-class design offers more headroom, but still requires a matched chassis A/B.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1376" y="18726912"/>
            <a:ext cx="282732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757575"/>
                </a:solidFill>
                <a:latin typeface="NVIDIA Sans"/>
              </a:rPr>
              <a:t>*350 W is the local configured/enforced limit; NVIDIA publicly specifies 300 W TBP for RTX PRO 5000.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VIDIA26_Corp Template_LIGHT_v2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rIns="0"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w="lg" len="lg"/>
          <a:tailEnd type="triangle" w="lg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spcAft>
            <a:spcPts val="800"/>
          </a:spcAft>
          <a:defRPr sz="4400" kern="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PPT_Light_External_v2.potx" id="{89D8623C-2635-485F-9CA6-5E5546024BA4}" vid="{EC5B26FE-8EF1-484B-8617-0D0B03B15F25}"/>
    </a:ext>
  </a:extLst>
</a:theme>
</file>

<file path=ppt/theme/theme2.xml><?xml version="1.0" encoding="utf-8"?>
<a:theme xmlns:a="http://schemas.openxmlformats.org/drawingml/2006/main" name="Office Theme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D8A66332A4B643BA3F21C52B2B93D0" ma:contentTypeVersion="4" ma:contentTypeDescription="Create a new document." ma:contentTypeScope="" ma:versionID="8decfa97248364fabb228738731d1da1">
  <xsd:schema xmlns:xsd="http://www.w3.org/2001/XMLSchema" xmlns:xs="http://www.w3.org/2001/XMLSchema" xmlns:p="http://schemas.microsoft.com/office/2006/metadata/properties" xmlns:ns2="7a9fe218-95ae-41b4-8786-2f7d21b2ee85" targetNamespace="http://schemas.microsoft.com/office/2006/metadata/properties" ma:root="true" ma:fieldsID="d8702d7798b6dde85716cd96fe22432a" ns2:_="">
    <xsd:import namespace="7a9fe218-95ae-41b4-8786-2f7d21b2ee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9fe218-95ae-41b4-8786-2f7d21b2ee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B32034-B9C2-45E1-BAA9-50B92CAE0F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9fe218-95ae-41b4-8786-2f7d21b2ee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6BE7EB-3103-4BD6-89FC-147281D240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018C0D-B231-48D3-BF16-B7FF90AABA23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NVIDIA26_Corp Template_LIGHT_v2</Template>
  <TotalTime>0</TotalTime>
  <Words>1883</Words>
  <Application>Microsoft Macintosh PowerPoint</Application>
  <PresentationFormat>自定义</PresentationFormat>
  <Paragraphs>441</Paragraphs>
  <Slides>58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3" baseType="lpstr">
      <vt:lpstr>NVIDIA Sans</vt:lpstr>
      <vt:lpstr>NVIDIA Sans Medium</vt:lpstr>
      <vt:lpstr>Roboto Mono</vt:lpstr>
      <vt:lpstr>Roboto Mono Medium</vt:lpstr>
      <vt:lpstr>NVIDIA26_Corp Template_LIGHT_v2</vt:lpstr>
      <vt:lpstr>PowerPoint 演示文稿</vt:lpstr>
      <vt:lpstr>Helpful Resources</vt:lpstr>
      <vt:lpstr>PowerPoint 演示文稿</vt:lpstr>
      <vt:lpstr>PowerPoint 演示文稿</vt:lpstr>
      <vt:lpstr>PowerPoint 演示文稿</vt:lpstr>
      <vt:lpstr>PowerPoint 演示文稿</vt:lpstr>
      <vt:lpstr>Long or short—inspiring quote goes here up to multiple lines of text and should be followed with source credit.”</vt:lpstr>
      <vt:lpstr>Speaker Highlight</vt:lpstr>
      <vt:lpstr>Slide Layout  With No Subtitle</vt:lpstr>
      <vt:lpstr>Slide Title Goes Here</vt:lpstr>
      <vt:lpstr>Confidential Slides</vt:lpstr>
      <vt:lpstr>Confidential Watermark</vt:lpstr>
      <vt:lpstr>Single-Column Layout</vt:lpstr>
      <vt:lpstr>Two-Column Layout</vt:lpstr>
      <vt:lpstr>NVIDIA Coding Slide</vt:lpstr>
      <vt:lpstr>Customer Success Story and Use Case Example</vt:lpstr>
      <vt:lpstr>Stack Diagram Example</vt:lpstr>
      <vt:lpstr>Column Chart Example</vt:lpstr>
      <vt:lpstr>Column Chart Example</vt:lpstr>
      <vt:lpstr>Column Chart Example</vt:lpstr>
      <vt:lpstr>Column Chart Example</vt:lpstr>
      <vt:lpstr>Combo Chart Example</vt:lpstr>
      <vt:lpstr>Line Chart Example</vt:lpstr>
      <vt:lpstr>Doughnut Chart Example</vt:lpstr>
      <vt:lpstr>Doughnut Chart Example</vt:lpstr>
      <vt:lpstr>Doughnut Chart Example</vt:lpstr>
      <vt:lpstr>Doughnut Chart Example</vt:lpstr>
      <vt:lpstr>Table Example</vt:lpstr>
      <vt:lpstr>Icon Layout</vt:lpstr>
      <vt:lpstr>Stats Example</vt:lpstr>
      <vt:lpstr>One-up Layout</vt:lpstr>
      <vt:lpstr>One-up Layout Alternative</vt:lpstr>
      <vt:lpstr>One-up Layout Alternative</vt:lpstr>
      <vt:lpstr>One-up Layout Heavy Content</vt:lpstr>
      <vt:lpstr>Two-up Layout</vt:lpstr>
      <vt:lpstr>Two-up Layout</vt:lpstr>
      <vt:lpstr>Three-up Layout</vt:lpstr>
      <vt:lpstr>Three-up Layout</vt:lpstr>
      <vt:lpstr>Four-up Layout</vt:lpstr>
      <vt:lpstr>Four-up Layout</vt:lpstr>
      <vt:lpstr>Four-up Layout Alternative</vt:lpstr>
      <vt:lpstr>Four-up Layout Alternative</vt:lpstr>
      <vt:lpstr>Five-up Layout</vt:lpstr>
      <vt:lpstr>Six-up Layout</vt:lpstr>
      <vt:lpstr>Seven-up Layout</vt:lpstr>
      <vt:lpstr>Eight-up Layout</vt:lpstr>
      <vt:lpstr>Nine-up Layout</vt:lpstr>
      <vt:lpstr>Ten-up Layout</vt:lpstr>
      <vt:lpstr>Montage / Image Showcase</vt:lpstr>
      <vt:lpstr>PowerPoint 演示文稿</vt:lpstr>
      <vt:lpstr>PowerPoint 演示文稿</vt:lpstr>
      <vt:lpstr>Demo Title Goes Here</vt:lpstr>
      <vt:lpstr>Progression</vt:lpstr>
      <vt:lpstr>Timeline</vt:lpstr>
      <vt:lpstr>Image Timeline</vt:lpstr>
      <vt:lpstr>World Map</vt:lpstr>
      <vt:lpstr>World Map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MiniMax H3 Inference on 8 NVIDIA RTX PRO GPUs</dc:title>
  <dc:subject>Public technical brief on distributed video inference</dc:subject>
  <dc:creator>Shunyang Li</dc:creator>
  <cp:keywords>MiniMax H3, vLLM-Omni, NVIDIA RTX PRO, GPUDirect RDMA, CUDA Graph, VSA</cp:keywords>
  <dc:description/>
  <cp:lastModifiedBy>Shunyang Li</cp:lastModifiedBy>
  <cp:revision>1</cp:revision>
  <dcterms:created xsi:type="dcterms:W3CDTF">2026-10-22T18:06:46Z</dcterms:created>
  <dcterms:modified xsi:type="dcterms:W3CDTF">2026-10-22T18:07:42Z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0x010100AFD8A66332A4B643BA3F21C52B2B93D0</vt:lpwstr>
  </property>
</Properties>
</file>