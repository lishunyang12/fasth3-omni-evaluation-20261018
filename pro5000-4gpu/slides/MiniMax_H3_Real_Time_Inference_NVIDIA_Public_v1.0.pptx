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4"/>
  </p:sldMasterIdLst>
  <p:notesMasterIdLst>
    <p:notesMasterId r:id="rId63"/>
  </p:notesMasterIdLst>
  <p:handoutMasterIdLst>
    <p:handoutMasterId r:id="rId64"/>
  </p:handoutMasterIdLst>
  <p:sldIdLst>
    <p:sldId id="340" r:id="rId82"/>
    <p:sldId id="341" r:id="rId83"/>
    <p:sldId id="342" r:id="rId84"/>
    <p:sldId id="343" r:id="rId85"/>
  </p:sldIdLst>
  <p:sldSz cx="36576000" cy="20574000"/>
  <p:notesSz cx="6858000" cy="9144000"/>
  <p:embeddedFontLst>
    <p:embeddedFont>
      <p:font typeface="NVIDIA Sans" panose="020B0503020203020204" pitchFamily="34" charset="0"/>
      <p:regular r:id="rId65"/>
      <p:bold r:id="rId66"/>
      <p:italic r:id="rId67"/>
      <p:boldItalic r:id="rId68"/>
    </p:embeddedFont>
    <p:embeddedFont>
      <p:font typeface="NVIDIA Sans Medium" panose="020B0503020203020204" pitchFamily="34" charset="0"/>
      <p:regular r:id="rId69"/>
      <p:italic r:id="rId70"/>
    </p:embeddedFont>
    <p:embeddedFont>
      <p:font typeface="Roboto Mono" pitchFamily="49" charset="0"/>
      <p:regular r:id="rId71"/>
      <p:bold r:id="rId72"/>
      <p:italic r:id="rId73"/>
      <p:boldItalic r:id="rId74"/>
    </p:embeddedFont>
    <p:embeddedFont>
      <p:font typeface="Roboto Mono Medium" panose="00000009000000000000" pitchFamily="49" charset="0"/>
      <p:regular r:id="rId75"/>
      <p:italic r:id="rId7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2671" autoAdjust="0"/>
  </p:normalViewPr>
  <p:slideViewPr>
    <p:cSldViewPr snapToGrid="0" showGuides="1">
      <p:cViewPr varScale="1">
        <p:scale>
          <a:sx n="39" d="100"/>
          <a:sy n="39" d="100"/>
        </p:scale>
        <p:origin x="624" y="184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3" Type="http://schemas.openxmlformats.org/officeDocument/2006/relationships/notesMaster" Target="notesMasters/notesMaster1.xml"/><Relationship Id="rId64" Type="http://schemas.openxmlformats.org/officeDocument/2006/relationships/handoutMaster" Target="handoutMasters/handoutMaster1.xml"/><Relationship Id="rId65" Type="http://schemas.openxmlformats.org/officeDocument/2006/relationships/font" Target="fonts/font1.fntdata"/><Relationship Id="rId66" Type="http://schemas.openxmlformats.org/officeDocument/2006/relationships/font" Target="fonts/font2.fntdata"/><Relationship Id="rId67" Type="http://schemas.openxmlformats.org/officeDocument/2006/relationships/font" Target="fonts/font3.fntdata"/><Relationship Id="rId68" Type="http://schemas.openxmlformats.org/officeDocument/2006/relationships/font" Target="fonts/font4.fntdata"/><Relationship Id="rId69" Type="http://schemas.openxmlformats.org/officeDocument/2006/relationships/font" Target="fonts/font5.fntdata"/><Relationship Id="rId70" Type="http://schemas.openxmlformats.org/officeDocument/2006/relationships/font" Target="fonts/font6.fntdata"/><Relationship Id="rId71" Type="http://schemas.openxmlformats.org/officeDocument/2006/relationships/font" Target="fonts/font7.fntdata"/><Relationship Id="rId72" Type="http://schemas.openxmlformats.org/officeDocument/2006/relationships/font" Target="fonts/font8.fntdata"/><Relationship Id="rId73" Type="http://schemas.openxmlformats.org/officeDocument/2006/relationships/font" Target="fonts/font9.fntdata"/><Relationship Id="rId74" Type="http://schemas.openxmlformats.org/officeDocument/2006/relationships/font" Target="fonts/font10.fntdata"/><Relationship Id="rId75" Type="http://schemas.openxmlformats.org/officeDocument/2006/relationships/font" Target="fonts/font11.fntdata"/><Relationship Id="rId76" Type="http://schemas.openxmlformats.org/officeDocument/2006/relationships/font" Target="fonts/font12.fntdata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Relationship Id="rId81" Type="http://schemas.microsoft.com/office/2018/10/relationships/authors" Target="authors.xml"/><Relationship Id="rId82" Type="http://schemas.openxmlformats.org/officeDocument/2006/relationships/slide" Target="slides/slide59.xml"/><Relationship Id="rId83" Type="http://schemas.openxmlformats.org/officeDocument/2006/relationships/slide" Target="slides/slide60.xml"/><Relationship Id="rId84" Type="http://schemas.openxmlformats.org/officeDocument/2006/relationships/slide" Target="slides/slide61.xml"/><Relationship Id="rId85" Type="http://schemas.openxmlformats.org/officeDocument/2006/relationships/slide" Target="slides/slide6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7.png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7.png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this talk examines how an eight-GPU Blackwell workstation serves a long-sequence audiovisual generator in real time.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 and challenge for real-time video generation. The public MiniMax H3 system overview is retained as the primary visual. The 60K–1M range and 8-step × 50-block path describe the evaluated workload, not every possible MiniMax H3 request. Reference equivalence is the optimization requirement; full eight-GPU model validation remains to be rerun.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uses the template's standard 2-up Image 16:9 layout. Both visuals are copied directly from public vLLM-Omni materials: the official architecture figure and the PR #9194 ComfyUI workflow screenshot.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template's native Table Example is reused directly. NVIDIA publicly specifies 300 W TBP for RTX PRO 5000; the local eight-GPU system reports a 350 W configured/enforced power limit, so both values are labeled rather than conflated. SwPowerCap is reported as the share of valid NVML samples, not exact time under cap.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jpg"/><Relationship Id="rId4" Type="http://schemas.openxmlformats.org/officeDocument/2006/relationships/image" Target="../media/image1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0" i="0">
                <a:solidFill>
                  <a:srgbClr val="757575"/>
                </a:solidFill>
                <a:latin typeface="NVIDIA Sans"/>
              </a:rPr>
              <a:t>Shunyang Li  |  Public Technical Brief  |  October 2026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800" b="0" i="0">
                <a:solidFill>
                  <a:srgbClr val="313131"/>
                </a:solidFill>
                <a:latin typeface="NVIDIA Sans"/>
              </a:rPr>
              <a:t>MiniMax H3 with vLLM-Omni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200" b="1" i="0">
                <a:solidFill>
                  <a:srgbClr val="000000"/>
                </a:solidFill>
                <a:latin typeface="NVIDIA Sans Medium"/>
              </a:rPr>
              <a:t>Real-Time Video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200" b="1" i="0">
                <a:solidFill>
                  <a:srgbClr val="000000"/>
                </a:solidFill>
                <a:latin typeface="NVIDIA Sans Medium"/>
              </a:rPr>
              <a:t>Inference on 8×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200" b="1" i="0">
                <a:solidFill>
                  <a:srgbClr val="000000"/>
                </a:solidFill>
                <a:latin typeface="NVIDIA Sans Medium"/>
              </a:rPr>
              <a:t>NVIDIA RTX PRO 5000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>
                <a:solidFill>
                  <a:srgbClr val="757575"/>
                </a:solidFill>
                <a:latin typeface="NVIDIA Sans"/>
              </a:rPr>
              <a:t>For each request, end-to-end latency must stay within the generated clip’s playback window while the evaluated 60K–1M-token workload reshapes memory, kernels, communication volume, and graph reuse.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800" b="1" i="0">
                <a:solidFill>
                  <a:srgbClr val="000000"/>
                </a:solidFill>
                <a:latin typeface="NVIDIA Sans Medium"/>
              </a:rPr>
              <a:t>Real-Time Video Generation Is a Distributed-Systems Problem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52" sz="quarter"/>
          </p:nvPr>
        </p:nvSpPr>
        <p:spPr>
          <a:xfrm>
            <a:off x="2377440" y="17300448"/>
            <a:ext cx="31821119" cy="1261872"/>
          </a:xfrm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700" b="0" i="0">
                <a:solidFill>
                  <a:srgbClr val="313131"/>
                </a:solidFill>
                <a:latin typeface="NVIDIA Sans"/>
              </a:rPr>
              <a:t>Across SP8, the evaluated path repeatedly couples compute with Q/K/V and Gate/O exchange; launch gaps, transport fences, rank imbalance, and the decoder tail accumulate on the critical path, while the optimized system must preserve the reference output contract.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51" sz="quarter"/>
          </p:nvPr>
        </p:nvSpPr>
        <p:spPr>
          <a:xfrm>
            <a:off x="2377440" y="16687800"/>
            <a:ext cx="31821119" cy="512064"/>
          </a:xfrm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600" b="1" i="0">
                <a:solidFill>
                  <a:srgbClr val="76B900"/>
                </a:solidFill>
                <a:latin typeface="NVIDIA Sans Medium"/>
              </a:rPr>
              <a:t>EVALUATED PATH · 8 DIT STEPS × 50 BLOCKS = 400 REPEATED BLOCK EXECUTIONS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9431000"/>
            <a:ext cx="2148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Sources: vLLM-Omni v0.26 public deck, slide 23 · author evaluated workload envelope and eight-GPU execution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43100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2</a:t>
            </a:r>
          </a:p>
        </p:txBody>
      </p:sp>
      <p:pic>
        <p:nvPicPr>
          <p:cNvPr id="9" name="Picture 8" descr="minimax-h3-system-overview-official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3626" y="4709160"/>
            <a:ext cx="31788747" cy="1175004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600" b="0" i="0">
                <a:solidFill>
                  <a:srgbClr val="757575"/>
                </a:solidFill>
                <a:latin typeface="NVIDIA Sans"/>
              </a:rPr>
              <a:t>ComfyUI remains the authoring surface; vLLM-Omni owns serving, stage placement, batching, and multi-GPU execution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6600" b="1" i="0">
                <a:solidFill>
                  <a:srgbClr val="000000"/>
                </a:solidFill>
                <a:latin typeface="NVIDIA Sans Medium"/>
              </a:rPr>
              <a:t>vLLM-Omni Connects Visual Workflows to Multi-GPU Serving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52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313131"/>
                </a:solidFill>
                <a:latin typeface="NVIDIA Sans"/>
              </a:rPr>
              <a:t>One serving layer spans omni-modal inputs, autoregressive reasoning, and DiT generation.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51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>
                <a:solidFill>
                  <a:srgbClr val="76B900"/>
                </a:solidFill>
                <a:latin typeface="NVIDIA Sans Medium"/>
              </a:rPr>
              <a:t>OFFICIAL vLLM-OMNI ARCHITECTURE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54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0" i="0">
                <a:solidFill>
                  <a:srgbClr val="313131"/>
                </a:solidFill>
                <a:latin typeface="NVIDIA Sans"/>
              </a:rPr>
              <a:t>MiniMax-H3 character replacement calls the vLLM-Omni Generate Video endpoint; PR #9194 remains open.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55" sz="quarter"/>
          </p:nvPr>
        </p:nvSpPr>
        <p:spPr/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700" b="1" i="0">
                <a:solidFill>
                  <a:srgbClr val="0074DF"/>
                </a:solidFill>
                <a:latin typeface="NVIDIA Sans Medium"/>
              </a:rPr>
              <a:t>COMFYUI WORKFLOW · PR #9194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19431000"/>
            <a:ext cx="21488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Sources: vLLM-Omni v0.26 public deck, slide 22 · vLLM-Omni PR #9194 (open)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43100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3</a:t>
            </a:r>
          </a:p>
        </p:txBody>
      </p:sp>
      <p:pic>
        <p:nvPicPr>
          <p:cNvPr id="12" name="Picture 11" descr="vllm-omni-architecture-official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799" y="7013487"/>
            <a:ext cx="16114094" cy="8208374"/>
          </a:xfrm>
          <a:prstGeom prst="rect">
            <a:avLst/>
          </a:prstGeom>
        </p:spPr>
      </p:pic>
      <p:pic>
        <p:nvPicPr>
          <p:cNvPr id="13" name="Picture 12" descr="pr9194_comfyui_single_character_work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23048" y="6583679"/>
            <a:ext cx="14334208" cy="9067992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BDAAE77A-7210-CB41-C14A-7F60A48AB8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1308616"/>
              </p:ext>
            </p:extLst>
          </p:nvPr>
        </p:nvGraphicFramePr>
        <p:xfrm>
          <a:off x="4151376" y="5925312"/>
          <a:ext cx="28273248" cy="10799064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8961120">
                  <a:extLst>
                    <a:ext uri="{9D8B030D-6E8A-4147-A177-3AD203B41FA5}">
                      <a16:colId xmlns:a16="http://schemas.microsoft.com/office/drawing/2014/main" val="1714626306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16977485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3872581152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543914041"/>
                    </a:ext>
                  </a:extLst>
                </a:gridCol>
                <a:gridCol w="6144768">
                  <a:extLst>
                    <a:ext uri="{9D8B030D-6E8A-4147-A177-3AD203B41FA5}">
                      <a16:colId xmlns:a16="http://schemas.microsoft.com/office/drawing/2014/main" val="2421839051"/>
                    </a:ext>
                  </a:extLst>
                </a:gridCol>
              </a:tblGrid>
              <a:tr h="1161288"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marL="0" marR="0" lvl="0" indent="0" algn="ctr" defTabSz="2743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34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SKU</a:t>
                      </a:r>
                      <a:endParaRPr lang="en-US" sz="4000" b="0" dirty="0">
                        <a:solidFill>
                          <a:schemeClr val="bg1"/>
                        </a:solidFill>
                        <a:latin typeface="+mj-lt"/>
                        <a:cs typeface="NVIDIA Sans" panose="020B0503020203020204" pitchFamily="34" charset="0"/>
                      </a:endParaRPr>
                    </a:p>
                  </a:txBody>
                  <a:tcPr marL="365760" marR="182880" marT="91440" marB="9144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34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CC / SMs</a:t>
                      </a:r>
                      <a:endParaRPr lang="en-US" sz="4400" b="0" kern="1200" dirty="0">
                        <a:solidFill>
                          <a:schemeClr val="accent1"/>
                        </a:solidFill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34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Memory</a:t>
                      </a:r>
                      <a:endParaRPr lang="en-US" sz="4400" b="0" kern="1200" dirty="0">
                        <a:solidFill>
                          <a:schemeClr val="accent1"/>
                        </a:solidFill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34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Power</a:t>
                      </a:r>
                      <a:endParaRPr lang="en-US" sz="4400" b="0" kern="1200" dirty="0">
                        <a:solidFill>
                          <a:schemeClr val="accent1"/>
                        </a:solidFill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b="1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34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Interconnect</a:t>
                      </a:r>
                      <a:endParaRPr lang="en-US" sz="4400" b="0" kern="1200" dirty="0">
                        <a:solidFill>
                          <a:schemeClr val="accent1"/>
                        </a:solidFill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958895191"/>
                  </a:ext>
                </a:extLst>
              </a:tr>
              <a:tr h="2409444"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2900" b="1" i="0">
                          <a:solidFill>
                            <a:srgbClr val="76B900"/>
                          </a:solidFill>
                          <a:latin typeface="NVIDIA Sans Medium"/>
                        </a:rPr>
                        <a:t>RTX PRO 5000 Blackwell
8-GPU baseline</a:t>
                      </a:r>
                      <a:endParaRPr kumimoji="0" lang="en-US" sz="3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36576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12.0 / 110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72 GB GDDR7 ECC
48 GB variant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1" i="0">
                          <a:solidFill>
                            <a:srgbClr val="EF9100"/>
                          </a:solidFill>
                          <a:latin typeface="NVIDIA Sans Medium"/>
                        </a:rPr>
                        <a:t>350 W configured*
300 W public TBP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0074DF"/>
                          </a:solidFill>
                          <a:latin typeface="NVIDIA Sans"/>
                        </a:rPr>
                        <a:t>PCIe Gen5 ×16
no GPU NVLink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extLst>
                  <a:ext uri="{0D108BD9-81ED-4DB2-BD59-A6C34878D82A}">
                    <a16:rowId xmlns:a16="http://schemas.microsoft.com/office/drawing/2014/main" val="1120594288"/>
                  </a:ext>
                </a:extLst>
              </a:tr>
              <a:tr h="2409444"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2900" b="1" i="0">
                          <a:solidFill>
                            <a:srgbClr val="313131"/>
                          </a:solidFill>
                          <a:latin typeface="NVIDIA Sans Medium"/>
                        </a:rPr>
                        <a:t>RTX PRO 6000 Blackwell
WS / Server</a:t>
                      </a:r>
                      <a:endParaRPr kumimoji="0" lang="en-US" sz="3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36576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12.0 / 188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96 GB GDDR7 ECC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600 W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0074DF"/>
                          </a:solidFill>
                          <a:latin typeface="NVIDIA Sans"/>
                        </a:rPr>
                        <a:t>PCIe Gen5 ×16
no GPU NVLink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extLst>
                  <a:ext uri="{0D108BD9-81ED-4DB2-BD59-A6C34878D82A}">
                    <a16:rowId xmlns:a16="http://schemas.microsoft.com/office/drawing/2014/main" val="863754937"/>
                  </a:ext>
                </a:extLst>
              </a:tr>
              <a:tr h="2409444"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2900" b="1" i="0">
                          <a:solidFill>
                            <a:srgbClr val="313131"/>
                          </a:solidFill>
                          <a:latin typeface="NVIDIA Sans Medium"/>
                        </a:rPr>
                        <a:t>GeForce RTX 5090</a:t>
                      </a:r>
                      <a:endParaRPr kumimoji="0" lang="en-US" sz="3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36576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12.0 / 170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32 GB GDDR7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575 W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0074DF"/>
                          </a:solidFill>
                          <a:latin typeface="NVIDIA Sans"/>
                        </a:rPr>
                        <a:t>PCIe Gen5 ×16
NVLink: no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extLst>
                  <a:ext uri="{0D108BD9-81ED-4DB2-BD59-A6C34878D82A}">
                    <a16:rowId xmlns:a16="http://schemas.microsoft.com/office/drawing/2014/main" val="568137814"/>
                  </a:ext>
                </a:extLst>
              </a:tr>
              <a:tr h="2409444"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2900" b="1" i="0">
                          <a:solidFill>
                            <a:srgbClr val="313131"/>
                          </a:solidFill>
                          <a:latin typeface="NVIDIA Sans Medium"/>
                        </a:rPr>
                        <a:t>DGX Spark · GB10</a:t>
                      </a:r>
                      <a:endParaRPr kumimoji="0" lang="en-US" sz="3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j-lt"/>
                        <a:ea typeface="+mn-ea"/>
                        <a:cs typeface="NVIDIA Sans" panose="020B0503020203020204" pitchFamily="34" charset="0"/>
                      </a:endParaRPr>
                    </a:p>
                  </a:txBody>
                  <a:tcPr marL="36576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12.1 / 48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128 GB unified
LPDDR5X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ctr"/>
                      <a:r>
                        <a:rPr sz="2900" b="0" i="0">
                          <a:solidFill>
                            <a:srgbClr val="313131"/>
                          </a:solidFill>
                          <a:latin typeface="NVIDIA Sans"/>
                        </a:rPr>
                        <a:t>140 W SoC
240 W system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tc>
                  <a:txBody>
                    <a:bodyPr wrap="square"/>
                    <a:lstStyle>
                      <a:lvl1pPr marL="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1pPr>
                      <a:lvl2pPr marL="1371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2pPr>
                      <a:lvl3pPr marL="2743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3pPr>
                      <a:lvl4pPr marL="4114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4pPr>
                      <a:lvl5pPr marL="54864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5pPr>
                      <a:lvl6pPr marL="68580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6pPr>
                      <a:lvl7pPr marL="82296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7pPr>
                      <a:lvl8pPr marL="96012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8pPr>
                      <a:lvl9pPr marL="10972800" algn="l" defTabSz="2743200" rtl="0" eaLnBrk="1" latinLnBrk="0" hangingPunct="1">
                        <a:defRPr sz="5400" kern="1200">
                          <a:solidFill>
                            <a:schemeClr val="tx1"/>
                          </a:solidFill>
                          <a:latin typeface="NVIDIA Sans"/>
                        </a:defRPr>
                      </a:lvl9pPr>
                    </a:lstStyle>
                    <a:p>
                      <a:pPr algn="l"/>
                      <a:r>
                        <a:rPr sz="2900" b="0" i="0">
                          <a:solidFill>
                            <a:srgbClr val="0074DF"/>
                          </a:solidFill>
                          <a:latin typeface="NVIDIA Sans"/>
                        </a:rPr>
                        <a:t>NVLink-C2C in SoC
200 Gb/s ConnectX-7</a:t>
                      </a:r>
                      <a:endParaRPr lang="en-US" sz="3200" dirty="0">
                        <a:solidFill>
                          <a:schemeClr val="tx1"/>
                        </a:solidFill>
                        <a:latin typeface="+mn-lt"/>
                        <a:cs typeface="NVIDIA Sans" panose="020B0503020203020204" pitchFamily="34" charset="0"/>
                      </a:endParaRPr>
                    </a:p>
                  </a:txBody>
                  <a:tcPr marL="182880" marR="182880" marT="91440" marB="91440" anchor="ctr"/>
                </a:tc>
                <a:extLst>
                  <a:ext uri="{0D108BD9-81ED-4DB2-BD59-A6C34878D82A}">
                    <a16:rowId xmlns:a16="http://schemas.microsoft.com/office/drawing/2014/main" val="2751747690"/>
                  </a:ext>
                </a:extLst>
              </a:tr>
            </a:tbl>
          </a:graphicData>
        </a:graphic>
      </p:graphicFrame>
      <p:sp>
        <p:nvSpPr>
          <p:cNvPr id="11" name="Title">
            <a:extLst>
              <a:ext uri="{FF2B5EF4-FFF2-40B4-BE49-F238E27FC236}">
                <a16:creationId xmlns:a16="http://schemas.microsoft.com/office/drawing/2014/main" id="{D5DB519C-86ED-8BA9-9938-EE1F80AA1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800" b="1" i="0">
                <a:solidFill>
                  <a:srgbClr val="000000"/>
                </a:solidFill>
                <a:latin typeface="NVIDIA Sans Medium"/>
              </a:rPr>
              <a:t>Frontier Models · The Cards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0965093-FCAD-1310-78F0-7CCDB828CD4F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543800" y="19431000"/>
            <a:ext cx="21488400" cy="369332"/>
          </a:xfrm>
        </p:spPr>
        <p:txBody>
          <a:bodyPr wrap="square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Sources: NVIDIA product specifications · CUDA GPU Compute Capability · local system inventory and controlled clock study</a:t>
            </a:r>
            <a:endParaRPr lang="en-US" dirty="0"/>
          </a:p>
        </p:txBody>
      </p:sp>
      <p:sp>
        <p:nvSpPr>
          <p:cNvPr id="22" name="TextBox 21"/>
          <p:cNvSpPr txBox="1"/>
          <p:nvPr/>
        </p:nvSpPr>
        <p:spPr>
          <a:xfrm>
            <a:off x="1828800" y="3383280"/>
            <a:ext cx="3291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600" b="0" i="0">
                <a:solidFill>
                  <a:srgbClr val="757575"/>
                </a:solidFill>
                <a:latin typeface="NVIDIA Sans"/>
              </a:rPr>
              <a:t>One Blackwell architecture (CC 12.0/12.1) spans several very different deployment envelopes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9431000"/>
            <a:ext cx="6400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757575"/>
                </a:solidFill>
                <a:latin typeface="NVIDIA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1376" y="17117568"/>
            <a:ext cx="2827324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757575"/>
                </a:solidFill>
                <a:latin typeface="NVIDIA Sans Medium"/>
              </a:rPr>
              <a:t>SHARED BY DISCRETE CARDS · BLACKWELL FP4 · GDDR7 · PCIe GEN5 · NO GPU-TO-GPU NVLINK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51376" y="17629632"/>
            <a:ext cx="2827324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>
                <a:solidFill>
                  <a:srgbClr val="313131"/>
                </a:solidFill>
                <a:latin typeface="NVIDIA Sans Medium"/>
              </a:rPr>
              <a:t>Watch sustained clocks, not peak TOPS: controlled tensor-heavy tests reported SwPowerCap in 94.8–100% of valid samples; one rank stayed at 1.942 GHz and ran the same fine-attention input 6.78% slower. A 600 W-class design offers more headroom, but still requires a matched chassis A/B.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51376" y="18726912"/>
            <a:ext cx="282732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757575"/>
                </a:solidFill>
                <a:latin typeface="NVIDIA Sans"/>
              </a:rPr>
              <a:t>*350 W is the local configured/enforced limit; NVIDIA publicly specifies 300 W TBP for RTX PRO 5000.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D8A66332A4B643BA3F21C52B2B93D0" ma:contentTypeVersion="4" ma:contentTypeDescription="Create a new document." ma:contentTypeScope="" ma:versionID="8decfa97248364fabb228738731d1da1">
  <xsd:schema xmlns:xsd="http://www.w3.org/2001/XMLSchema" xmlns:xs="http://www.w3.org/2001/XMLSchema" xmlns:p="http://schemas.microsoft.com/office/2006/metadata/properties" xmlns:ns2="7a9fe218-95ae-41b4-8786-2f7d21b2ee85" targetNamespace="http://schemas.microsoft.com/office/2006/metadata/properties" ma:root="true" ma:fieldsID="d8702d7798b6dde85716cd96fe22432a" ns2:_="">
    <xsd:import namespace="7a9fe218-95ae-41b4-8786-2f7d21b2ee8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9fe218-95ae-41b4-8786-2f7d21b2ee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BB32034-B9C2-45E1-BAA9-50B92CAE0F3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a9fe218-95ae-41b4-8786-2f7d21b2ee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36BE7EB-3103-4BD6-89FC-147281D2401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4018C0D-B231-48D3-BF16-B7FF90AABA23}">
  <ds:schemaRefs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NVIDIA26_Corp Template_LIGHT_v2</Template>
  <TotalTime>0</TotalTime>
  <Words>1883</Words>
  <Application>Microsoft Macintosh PowerPoint</Application>
  <PresentationFormat>自定义</PresentationFormat>
  <Paragraphs>441</Paragraphs>
  <Slides>58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58</vt:i4>
      </vt:variant>
    </vt:vector>
  </HeadingPairs>
  <TitlesOfParts>
    <vt:vector size="63" baseType="lpstr">
      <vt:lpstr>NVIDIA Sans</vt:lpstr>
      <vt:lpstr>NVIDIA Sans Medium</vt:lpstr>
      <vt:lpstr>Roboto Mono</vt:lpstr>
      <vt:lpstr>Roboto Mono Medium</vt:lpstr>
      <vt:lpstr>NVIDIA26_Corp Template_LIGHT_v2</vt:lpstr>
      <vt:lpstr>PowerPoint 演示文稿</vt:lpstr>
      <vt:lpstr>Helpful Resources</vt:lpstr>
      <vt:lpstr>PowerPoint 演示文稿</vt:lpstr>
      <vt:lpstr>PowerPoint 演示文稿</vt:lpstr>
      <vt:lpstr>PowerPoint 演示文稿</vt:lpstr>
      <vt:lpstr>PowerPoint 演示文稿</vt:lpstr>
      <vt:lpstr>Long or short—inspiring quote goes here up to multiple lines of text and should be followed with source credit.”</vt:lpstr>
      <vt:lpstr>Speaker Highlight</vt:lpstr>
      <vt:lpstr>Slide Layout  With No Subtitle</vt:lpstr>
      <vt:lpstr>Slide Title Goes Here</vt:lpstr>
      <vt:lpstr>Confidential Slides</vt:lpstr>
      <vt:lpstr>Confidential Watermark</vt:lpstr>
      <vt:lpstr>Single-Column Layout</vt:lpstr>
      <vt:lpstr>Two-Column Layout</vt:lpstr>
      <vt:lpstr>NVIDIA Coding Slide</vt:lpstr>
      <vt:lpstr>Customer Success Story and Use Case Example</vt:lpstr>
      <vt:lpstr>Stack Diagram Example</vt:lpstr>
      <vt:lpstr>Column Chart Example</vt:lpstr>
      <vt:lpstr>Column Chart Example</vt:lpstr>
      <vt:lpstr>Column Chart Example</vt:lpstr>
      <vt:lpstr>Column Chart Example</vt:lpstr>
      <vt:lpstr>Combo Chart Example</vt:lpstr>
      <vt:lpstr>Line Chart Example</vt:lpstr>
      <vt:lpstr>Doughnut Chart Example</vt:lpstr>
      <vt:lpstr>Doughnut Chart Example</vt:lpstr>
      <vt:lpstr>Doughnut Chart Example</vt:lpstr>
      <vt:lpstr>Doughnut Chart Example</vt:lpstr>
      <vt:lpstr>Table Example</vt:lpstr>
      <vt:lpstr>Icon Layout</vt:lpstr>
      <vt:lpstr>Stats Example</vt:lpstr>
      <vt:lpstr>One-up Layout</vt:lpstr>
      <vt:lpstr>One-up Layout Alternative</vt:lpstr>
      <vt:lpstr>One-up Layout Alternative</vt:lpstr>
      <vt:lpstr>One-up Layout Heavy Content</vt:lpstr>
      <vt:lpstr>Two-up Layout</vt:lpstr>
      <vt:lpstr>Two-up Layout</vt:lpstr>
      <vt:lpstr>Three-up Layout</vt:lpstr>
      <vt:lpstr>Three-up Layout</vt:lpstr>
      <vt:lpstr>Four-up Layout</vt:lpstr>
      <vt:lpstr>Four-up Layout</vt:lpstr>
      <vt:lpstr>Four-up Layout Alternative</vt:lpstr>
      <vt:lpstr>Four-up Layout Alternative</vt:lpstr>
      <vt:lpstr>Five-up Layout</vt:lpstr>
      <vt:lpstr>Six-up Layout</vt:lpstr>
      <vt:lpstr>Seven-up Layout</vt:lpstr>
      <vt:lpstr>Eight-up Layout</vt:lpstr>
      <vt:lpstr>Nine-up Layout</vt:lpstr>
      <vt:lpstr>Ten-up Layout</vt:lpstr>
      <vt:lpstr>Montage / Image Showcase</vt:lpstr>
      <vt:lpstr>PowerPoint 演示文稿</vt:lpstr>
      <vt:lpstr>PowerPoint 演示文稿</vt:lpstr>
      <vt:lpstr>Demo Title Goes Here</vt:lpstr>
      <vt:lpstr>Progression</vt:lpstr>
      <vt:lpstr>Timeline</vt:lpstr>
      <vt:lpstr>Image Timeline</vt:lpstr>
      <vt:lpstr>World Map</vt:lpstr>
      <vt:lpstr>World Map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MiniMax H3 Inference on 8 NVIDIA RTX PRO GPUs</dc:title>
  <dc:subject>Public technical brief on distributed video inference</dc:subject>
  <dc:creator>Shunyang Li</dc:creator>
  <cp:keywords>MiniMax H3, vLLM-Omni, NVIDIA RTX PRO, GPUDirect RDMA, CUDA Graph, VSA</cp:keywords>
  <dc:description/>
  <cp:lastModifiedBy>Shunyang Li</cp:lastModifiedBy>
  <cp:revision>1</cp:revision>
  <dcterms:created xsi:type="dcterms:W3CDTF">2026-10-22T18:06:46Z</dcterms:created>
  <dcterms:modified xsi:type="dcterms:W3CDTF">2026-10-22T18:07:42Z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0x010100AFD8A66332A4B643BA3F21C52B2B93D0</vt:lpwstr>
  </property>
</Properties>
</file>