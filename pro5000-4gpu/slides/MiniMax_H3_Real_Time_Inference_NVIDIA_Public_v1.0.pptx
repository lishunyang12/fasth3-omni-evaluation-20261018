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63"/>
  </p:notesMasterIdLst>
  <p:handoutMasterIdLst>
    <p:handoutMasterId r:id="rId64"/>
  </p:handoutMasterIdLst>
  <p:sldIdLst>
    <p:sldId id="340" r:id="rId82"/>
    <p:sldId id="341" r:id="rId83"/>
    <p:sldId id="342" r:id="rId84"/>
  </p:sldIdLst>
  <p:sldSz cx="36576000" cy="20574000"/>
  <p:notesSz cx="6858000" cy="9144000"/>
  <p:embeddedFontLst>
    <p:embeddedFont>
      <p:font typeface="NVIDIA Sans" panose="020B0503020203020204" pitchFamily="34" charset="0"/>
      <p:regular r:id="rId65"/>
      <p:bold r:id="rId66"/>
      <p:italic r:id="rId67"/>
      <p:boldItalic r:id="rId68"/>
    </p:embeddedFont>
    <p:embeddedFont>
      <p:font typeface="NVIDIA Sans Medium" panose="020B0503020203020204" pitchFamily="34" charset="0"/>
      <p:regular r:id="rId69"/>
      <p:italic r:id="rId70"/>
    </p:embeddedFont>
    <p:embeddedFont>
      <p:font typeface="Roboto Mono" pitchFamily="49" charset="0"/>
      <p:regular r:id="rId71"/>
      <p:bold r:id="rId72"/>
      <p:italic r:id="rId73"/>
      <p:boldItalic r:id="rId74"/>
    </p:embeddedFont>
    <p:embeddedFont>
      <p:font typeface="Roboto Mono Medium" panose="00000009000000000000" pitchFamily="49" charset="0"/>
      <p:regular r:id="rId75"/>
      <p:italic r:id="rId7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2671" autoAdjust="0"/>
  </p:normalViewPr>
  <p:slideViewPr>
    <p:cSldViewPr snapToGrid="0" showGuides="1">
      <p:cViewPr varScale="1">
        <p:scale>
          <a:sx n="39" d="100"/>
          <a:sy n="39" d="100"/>
        </p:scale>
        <p:origin x="624" y="184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3" Type="http://schemas.openxmlformats.org/officeDocument/2006/relationships/notesMaster" Target="notesMasters/notesMaster1.xml"/><Relationship Id="rId64" Type="http://schemas.openxmlformats.org/officeDocument/2006/relationships/handoutMaster" Target="handoutMasters/handoutMaster1.xml"/><Relationship Id="rId65" Type="http://schemas.openxmlformats.org/officeDocument/2006/relationships/font" Target="fonts/font1.fntdata"/><Relationship Id="rId66" Type="http://schemas.openxmlformats.org/officeDocument/2006/relationships/font" Target="fonts/font2.fntdata"/><Relationship Id="rId67" Type="http://schemas.openxmlformats.org/officeDocument/2006/relationships/font" Target="fonts/font3.fntdata"/><Relationship Id="rId68" Type="http://schemas.openxmlformats.org/officeDocument/2006/relationships/font" Target="fonts/font4.fntdata"/><Relationship Id="rId69" Type="http://schemas.openxmlformats.org/officeDocument/2006/relationships/font" Target="fonts/font5.fntdata"/><Relationship Id="rId70" Type="http://schemas.openxmlformats.org/officeDocument/2006/relationships/font" Target="fonts/font6.fntdata"/><Relationship Id="rId71" Type="http://schemas.openxmlformats.org/officeDocument/2006/relationships/font" Target="fonts/font7.fntdata"/><Relationship Id="rId72" Type="http://schemas.openxmlformats.org/officeDocument/2006/relationships/font" Target="fonts/font8.fntdata"/><Relationship Id="rId73" Type="http://schemas.openxmlformats.org/officeDocument/2006/relationships/font" Target="fonts/font9.fntdata"/><Relationship Id="rId74" Type="http://schemas.openxmlformats.org/officeDocument/2006/relationships/font" Target="fonts/font10.fntdata"/><Relationship Id="rId75" Type="http://schemas.openxmlformats.org/officeDocument/2006/relationships/font" Target="fonts/font11.fntdata"/><Relationship Id="rId76" Type="http://schemas.openxmlformats.org/officeDocument/2006/relationships/font" Target="fonts/font12.fntdata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8/10/relationships/authors" Target="authors.xml"/><Relationship Id="rId82" Type="http://schemas.openxmlformats.org/officeDocument/2006/relationships/slide" Target="slides/slide59.xml"/><Relationship Id="rId83" Type="http://schemas.openxmlformats.org/officeDocument/2006/relationships/slide" Target="slides/slide60.xml"/><Relationship Id="rId84" Type="http://schemas.openxmlformats.org/officeDocument/2006/relationships/slide" Target="slides/slide6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7.pn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7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talk examines how an eight-GPU Blackwell workstation serves a long-sequence audiovisual generator in real time.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visuals are copied directly from public vLLM-Omni materials. The official architecture figure defines the serving scope; the PR screenshot proves the ComfyUI frontend integration. PR #9194 remains open, so this slide describes a demonstrated integration rather than a released feature.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SM120 provides strong local compute and memory throughput; distributed attention changes tensor ownership and puts the fabric on the dependency path. The 26.9× figure compares raw nominal rates and excludes protocol overhead, topology, contention, and overlap.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0" i="0">
                <a:solidFill>
                  <a:srgbClr val="757575"/>
                </a:solidFill>
                <a:latin typeface="NVIDIA Sans"/>
              </a:rPr>
              <a:t>Shunyang Li  |  Public Technical Brief  |  October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0" i="0">
                <a:solidFill>
                  <a:srgbClr val="313131"/>
                </a:solidFill>
                <a:latin typeface="NVIDIA Sans"/>
              </a:rPr>
              <a:t>MiniMax H3 with vLLM-Omni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Real-Time Video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Inference on 8×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NVIDIA RTX PRO 5000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400" b="0" i="0">
                <a:solidFill>
                  <a:srgbClr val="757575"/>
                </a:solidFill>
                <a:latin typeface="NVIDIA Sans"/>
              </a:rPr>
              <a:t>PR #9194 demonstrates MiniMax-H3 character replacement through a visual graph while stage placement, batching, and parallelism remain inside the serving runtime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600" b="1" i="0">
                <a:solidFill>
                  <a:srgbClr val="000000"/>
                </a:solidFill>
                <a:latin typeface="NVIDIA Sans Medium"/>
              </a:rPr>
              <a:t>vLLM-Omni Connects ComfyUI Workflows to Multi-GPU Serving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43800" y="19431000"/>
            <a:ext cx="2148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vLLM-Omni v0.26 public deck, slides 22–24 · vLLM-Omni PR #9194 (open)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5029200"/>
            <a:ext cx="138988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SERVING ARCHITECTURE · OFFICIAL v0.26 FIGURE</a:t>
            </a:r>
          </a:p>
        </p:txBody>
      </p:sp>
      <p:pic>
        <p:nvPicPr>
          <p:cNvPr id="7" name="Picture 6" descr="vllm-omni-architecture-official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5672597"/>
            <a:ext cx="13898880" cy="7079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57400" y="13304520"/>
            <a:ext cx="138988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WHAT THE SEPARATION ENABLES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57400" y="14218920"/>
            <a:ext cx="0" cy="694944"/>
          </a:xfrm>
          <a:prstGeom prst="line">
            <a:avLst/>
          </a:prstGeom>
          <a:ln w="38100">
            <a:solidFill>
              <a:srgbClr val="76B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77440" y="14063472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76B900"/>
                </a:solidFill>
                <a:latin typeface="NVIDIA Sans Medium"/>
              </a:rPr>
              <a:t>Visual authoring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063472"/>
            <a:ext cx="941832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References, LoRA, sampling, and continuation stay editable in ComfyUI.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57400" y="15471648"/>
            <a:ext cx="0" cy="694944"/>
          </a:xfrm>
          <a:prstGeom prst="line">
            <a:avLst/>
          </a:prstGeom>
          <a:ln w="38100">
            <a:solidFill>
              <a:srgbClr val="3131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377440" y="15316200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313131"/>
                </a:solidFill>
                <a:latin typeface="NVIDIA Sans Medium"/>
              </a:rPr>
              <a:t>Serving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5316200"/>
            <a:ext cx="941832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The graph calls the vLLM-Omni Generate Video endpoint.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57400" y="16724376"/>
            <a:ext cx="0" cy="694944"/>
          </a:xfrm>
          <a:prstGeom prst="line">
            <a:avLst/>
          </a:prstGeom>
          <a:ln w="38100">
            <a:solidFill>
              <a:srgbClr val="007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377440" y="16568928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0074DF"/>
                </a:solidFill>
                <a:latin typeface="NVIDIA Sans Medium"/>
              </a:rPr>
              <a:t>Multi-GPU 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568928"/>
            <a:ext cx="941832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Placement and TP / SP / CFG / EP policy remain stage-local.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779240" y="5029200"/>
            <a:ext cx="0" cy="1300276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7465040" y="5029200"/>
            <a:ext cx="170535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COMFYUI WORKFLOW · PR #9194</a:t>
            </a:r>
          </a:p>
        </p:txBody>
      </p:sp>
      <p:pic>
        <p:nvPicPr>
          <p:cNvPr id="20" name="Picture 19" descr="pr9194_comfyui_single_character_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5040" y="5670096"/>
            <a:ext cx="17053560" cy="1078828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465040" y="16779240"/>
            <a:ext cx="17053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MiniMax-H3 single-character replacement: Load Image + Load Video → Video References → vLLM-Omni Generate Video → Save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465040" y="17721072"/>
            <a:ext cx="17053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757575"/>
                </a:solidFill>
                <a:latin typeface="NVIDIA Sans"/>
              </a:rPr>
              <a:t>Public PR #9194 · open as of 24 Oct 2026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800" b="0" i="0">
                <a:solidFill>
                  <a:srgbClr val="757575"/>
                </a:solidFill>
                <a:latin typeface="NVIDIA Sans"/>
              </a:rPr>
              <a:t>Ulysses SP8 moves Q/K/V and Gate/O across ranks, placing transfers and barriers on the dependency path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 i="0">
                <a:solidFill>
                  <a:srgbClr val="000000"/>
                </a:solidFill>
                <a:latin typeface="NVIDIA Sans Medium"/>
              </a:rPr>
              <a:t>SM120 Is Compute-Rich; Fabric Bandwidth Sets Scale-Out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43800" y="19431000"/>
            <a:ext cx="2148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72 GB &amp; 1,344 GB/s — NVIDIA RTX PRO 5000 Blackwell datasheet · 110 SM/CC 12.0 &amp; 8×400 Gb/s — measured system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4892040"/>
            <a:ext cx="118872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PER-GPU BASELINE · EIGHT-GPU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5715000"/>
            <a:ext cx="72694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900" b="1" i="0">
                <a:solidFill>
                  <a:srgbClr val="76B900"/>
                </a:solidFill>
                <a:latin typeface="NVIDIA Sans Medium"/>
              </a:rPr>
              <a:t>110 SM/GPU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6565392"/>
            <a:ext cx="7269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757575"/>
                </a:solidFill>
                <a:latin typeface="NVIDIA Sans"/>
              </a:rPr>
              <a:t>compute capability 12.0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0" y="5687568"/>
            <a:ext cx="0" cy="146304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95560" y="5715000"/>
            <a:ext cx="72694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900" b="1" i="0">
                <a:solidFill>
                  <a:srgbClr val="313131"/>
                </a:solidFill>
                <a:latin typeface="NVIDIA Sans Medium"/>
              </a:rPr>
              <a:t>72 GB/GPU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6565392"/>
            <a:ext cx="7269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757575"/>
                </a:solidFill>
                <a:latin typeface="NVIDIA Sans"/>
              </a:rPr>
              <a:t>GDDR7 ECC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830800" y="5687568"/>
            <a:ext cx="0" cy="146304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333720" y="5715000"/>
            <a:ext cx="72694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900" b="1" i="0">
                <a:solidFill>
                  <a:srgbClr val="76B900"/>
                </a:solidFill>
                <a:latin typeface="NVIDIA Sans Medium"/>
              </a:rPr>
              <a:t>1,344 GB/s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33720" y="6565392"/>
            <a:ext cx="7269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757575"/>
                </a:solidFill>
                <a:latin typeface="NVIDIA Sans"/>
              </a:rPr>
              <a:t>local memory / GPU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968960" y="5687568"/>
            <a:ext cx="0" cy="146304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471880" y="5715000"/>
            <a:ext cx="72694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900" b="1" i="0">
                <a:solidFill>
                  <a:srgbClr val="0074DF"/>
                </a:solidFill>
                <a:latin typeface="NVIDIA Sans Medium"/>
              </a:rPr>
              <a:t>400 Gb/s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0" y="6565392"/>
            <a:ext cx="7269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757575"/>
                </a:solidFill>
                <a:latin typeface="NVIDIA Sans"/>
              </a:rPr>
              <a:t>per active fabric 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7498079"/>
            <a:ext cx="32461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>
                <a:solidFill>
                  <a:srgbClr val="757575"/>
                </a:solidFill>
                <a:latin typeface="NVIDIA Sans"/>
              </a:rPr>
              <a:t>8-GPU system: 880 SM · 576 GB GPU-local memory · 8 active 400 Gb/s fabric ports · memory is not pooled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8275320"/>
            <a:ext cx="32461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057400" y="8823960"/>
            <a:ext cx="91440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TWO EXECUTION REGIMES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057400" y="9464040"/>
          <a:ext cx="18333720" cy="557784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4983480"/>
                <a:gridCol w="5120640"/>
                <a:gridCol w="5074920"/>
                <a:gridCol w="3154680"/>
              </a:tblGrid>
              <a:tr h="1859280">
                <a:tc>
                  <a:txBody>
                    <a:bodyPr wrap="square"/>
                    <a:lstStyle/>
                    <a:p>
                      <a:pPr algn="ctr"/>
                      <a:r>
                        <a:rPr sz="30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Path</a:t>
                      </a: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30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Tensor ownership</a:t>
                      </a: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30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Synchronization</a:t>
                      </a: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30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Fabric pressure</a:t>
                      </a:r>
                    </a:p>
                  </a:txBody>
                  <a:tcPr marL="182880" marR="182880" marT="91440" marB="91440" anchor="ctr"/>
                </a:tc>
              </a:tr>
              <a:tr h="1859280">
                <a:tc>
                  <a:txBody>
                    <a:bodyPr wrap="square"/>
                    <a:lstStyle/>
                    <a:p>
                      <a:pPr algn="l"/>
                      <a:r>
                        <a:rPr sz="27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Projection / MLP /
local VSA tiles</a:t>
                      </a: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700" b="0" i="0">
                          <a:solidFill>
                            <a:srgbClr val="313131"/>
                          </a:solidFill>
                          <a:latin typeface="NVIDIA Sans"/>
                        </a:rPr>
                        <a:t>Stays on one GPU</a:t>
                      </a: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700" b="0" i="0">
                          <a:solidFill>
                            <a:srgbClr val="313131"/>
                          </a:solidFill>
                          <a:latin typeface="NVIDIA Sans"/>
                        </a:rPr>
                        <a:t>Few readiness fences</a:t>
                      </a: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700" b="1" i="0">
                          <a:solidFill>
                            <a:srgbClr val="757575"/>
                          </a:solidFill>
                          <a:latin typeface="NVIDIA Sans Medium"/>
                        </a:rPr>
                        <a:t>Modest</a:t>
                      </a:r>
                    </a:p>
                  </a:txBody>
                  <a:tcPr marL="182880" marR="182880" marT="91440" marB="91440" anchor="ctr"/>
                </a:tc>
              </a:tr>
              <a:tr h="1859280">
                <a:tc>
                  <a:txBody>
                    <a:bodyPr wrap="square"/>
                    <a:lstStyle/>
                    <a:p>
                      <a:pPr algn="l"/>
                      <a:r>
                        <a:rPr sz="27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Ulysses SP8
attention</a:t>
                      </a: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700" b="0" i="0">
                          <a:solidFill>
                            <a:srgbClr val="313131"/>
                          </a:solidFill>
                          <a:latin typeface="NVIDIA Sans"/>
                        </a:rPr>
                        <a:t>Q/K/V + Gate/O
move across ranks</a:t>
                      </a: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700" b="0" i="0">
                          <a:solidFill>
                            <a:srgbClr val="313131"/>
                          </a:solidFill>
                          <a:latin typeface="NVIDIA Sans"/>
                        </a:rPr>
                        <a:t>Transfers + barriers
on dependency path</a:t>
                      </a: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700" b="1" i="0">
                          <a:solidFill>
                            <a:srgbClr val="0074DF"/>
                          </a:solidFill>
                          <a:latin typeface="NVIDIA Sans Medium"/>
                        </a:rPr>
                        <a:t>High</a:t>
                      </a:r>
                    </a:p>
                  </a:txBody>
                  <a:tcPr marL="182880" marR="182880" marT="91440" marB="91440" anchor="ctr"/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2057400" y="15681959"/>
            <a:ext cx="18333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313131"/>
                </a:solidFill>
                <a:latin typeface="NVIDIA Sans Medium"/>
              </a:rPr>
              <a:t>Communication pressure is determined by where tensors must move, not by operator FLOPs alone.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442680" y="8778240"/>
            <a:ext cx="0" cy="873252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539960" y="8823960"/>
            <a:ext cx="91440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WHY BANDWIDTH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539960" y="9582912"/>
            <a:ext cx="1197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0074DF"/>
                </a:solidFill>
                <a:latin typeface="NVIDIA Sans Medium"/>
              </a:rPr>
              <a:t>400 Gb/s ÷ 8 = 50 GB/s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39960" y="10149840"/>
            <a:ext cx="1197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757575"/>
                </a:solidFill>
                <a:latin typeface="NVIDIA Sans"/>
              </a:rPr>
              <a:t>port line rate converted to bytes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39960" y="1084478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100" b="1" i="0">
                <a:solidFill>
                  <a:srgbClr val="76B900"/>
                </a:solidFill>
                <a:latin typeface="NVIDIA Sans Medium"/>
              </a:rPr>
              <a:t>1,344 GB/s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20520" y="10872216"/>
            <a:ext cx="914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3400" b="1" i="0">
                <a:solidFill>
                  <a:srgbClr val="757575"/>
                </a:solidFill>
                <a:latin typeface="NVIDIA Sans Medium"/>
              </a:rPr>
              <a:t>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80640" y="10844784"/>
            <a:ext cx="3429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100" b="1" i="0">
                <a:solidFill>
                  <a:srgbClr val="0074DF"/>
                </a:solidFill>
                <a:latin typeface="NVIDIA Sans Medium"/>
              </a:rPr>
              <a:t>50 GB/s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409640" y="10872216"/>
            <a:ext cx="731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3400" b="1" i="0">
                <a:solidFill>
                  <a:srgbClr val="757575"/>
                </a:solidFill>
                <a:latin typeface="NVIDIA Sans Medium"/>
              </a:rPr>
              <a:t>=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186880" y="10844784"/>
            <a:ext cx="23317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4100" b="1" i="0">
                <a:solidFill>
                  <a:srgbClr val="313131"/>
                </a:solidFill>
                <a:latin typeface="NVIDIA Sans Medium"/>
              </a:rPr>
              <a:t>26.9×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2539960" y="11814048"/>
            <a:ext cx="11978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2539960" y="12435840"/>
            <a:ext cx="1197864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313131"/>
                </a:solidFill>
                <a:latin typeface="NVIDIA Sans Medium"/>
              </a:rPr>
              <a:t>The nominal local-memory rate is 26.9× one 400 Gb/s port’s line rate; effective payload bandwidth and exposed communication therefore set the remaining scale-out headroom.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539960" y="16504920"/>
            <a:ext cx="11978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757575"/>
                </a:solidFill>
                <a:latin typeface="NVIDIA Sans"/>
              </a:rPr>
              <a:t>*Raw-rate comparison; excludes protocol overhead, topology, contention, and overlap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D8A66332A4B643BA3F21C52B2B93D0" ma:contentTypeVersion="4" ma:contentTypeDescription="Create a new document." ma:contentTypeScope="" ma:versionID="8decfa97248364fabb228738731d1da1">
  <xsd:schema xmlns:xsd="http://www.w3.org/2001/XMLSchema" xmlns:xs="http://www.w3.org/2001/XMLSchema" xmlns:p="http://schemas.microsoft.com/office/2006/metadata/properties" xmlns:ns2="7a9fe218-95ae-41b4-8786-2f7d21b2ee85" targetNamespace="http://schemas.microsoft.com/office/2006/metadata/properties" ma:root="true" ma:fieldsID="d8702d7798b6dde85716cd96fe22432a" ns2:_="">
    <xsd:import namespace="7a9fe218-95ae-41b4-8786-2f7d21b2ee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9fe218-95ae-41b4-8786-2f7d21b2ee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BB32034-B9C2-45E1-BAA9-50B92CAE0F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a9fe218-95ae-41b4-8786-2f7d21b2ee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36BE7EB-3103-4BD6-89FC-147281D240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4018C0D-B231-48D3-BF16-B7FF90AABA23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NVIDIA26_Corp Template_LIGHT_v2</Template>
  <TotalTime>0</TotalTime>
  <Words>1883</Words>
  <Application>Microsoft Macintosh PowerPoint</Application>
  <PresentationFormat>自定义</PresentationFormat>
  <Paragraphs>441</Paragraphs>
  <Slides>58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58</vt:i4>
      </vt:variant>
    </vt:vector>
  </HeadingPairs>
  <TitlesOfParts>
    <vt:vector size="63" baseType="lpstr">
      <vt:lpstr>NVIDIA Sans</vt:lpstr>
      <vt:lpstr>NVIDIA Sans Medium</vt:lpstr>
      <vt:lpstr>Roboto Mono</vt:lpstr>
      <vt:lpstr>Roboto Mono Medium</vt:lpstr>
      <vt:lpstr>NVIDIA26_Corp Template_LIGHT_v2</vt:lpstr>
      <vt:lpstr>PowerPoint 演示文稿</vt:lpstr>
      <vt:lpstr>Helpful Resources</vt:lpstr>
      <vt:lpstr>PowerPoint 演示文稿</vt:lpstr>
      <vt:lpstr>PowerPoint 演示文稿</vt:lpstr>
      <vt:lpstr>PowerPoint 演示文稿</vt:lpstr>
      <vt:lpstr>PowerPoint 演示文稿</vt:lpstr>
      <vt:lpstr>Long or short—inspiring quote goes here up to multiple lines of text and should be followed with source credit.”</vt:lpstr>
      <vt:lpstr>Speaker Highlight</vt:lpstr>
      <vt:lpstr>Slide Layout  With No Subtitle</vt:lpstr>
      <vt:lpstr>Slide Title Goes Here</vt:lpstr>
      <vt:lpstr>Confidential Slides</vt:lpstr>
      <vt:lpstr>Confidential Watermark</vt:lpstr>
      <vt:lpstr>Single-Column Layout</vt:lpstr>
      <vt:lpstr>Two-Column Layout</vt:lpstr>
      <vt:lpstr>NVIDIA Coding Slide</vt:lpstr>
      <vt:lpstr>Customer Success Story and Use Case Example</vt:lpstr>
      <vt:lpstr>Stack Diagram Example</vt:lpstr>
      <vt:lpstr>Column Chart Example</vt:lpstr>
      <vt:lpstr>Column Chart Example</vt:lpstr>
      <vt:lpstr>Column Chart Example</vt:lpstr>
      <vt:lpstr>Column Chart Example</vt:lpstr>
      <vt:lpstr>Combo Chart Example</vt:lpstr>
      <vt:lpstr>Line Chart Example</vt:lpstr>
      <vt:lpstr>Doughnut Chart Example</vt:lpstr>
      <vt:lpstr>Doughnut Chart Example</vt:lpstr>
      <vt:lpstr>Doughnut Chart Example</vt:lpstr>
      <vt:lpstr>Doughnut Chart Example</vt:lpstr>
      <vt:lpstr>Table Example</vt:lpstr>
      <vt:lpstr>Icon Layout</vt:lpstr>
      <vt:lpstr>Stats Example</vt:lpstr>
      <vt:lpstr>One-up Layout</vt:lpstr>
      <vt:lpstr>One-up Layout Alternative</vt:lpstr>
      <vt:lpstr>One-up Layout Alternative</vt:lpstr>
      <vt:lpstr>One-up Layout Heavy Content</vt:lpstr>
      <vt:lpstr>Two-up Layout</vt:lpstr>
      <vt:lpstr>Two-up Layout</vt:lpstr>
      <vt:lpstr>Three-up Layout</vt:lpstr>
      <vt:lpstr>Three-up Layout</vt:lpstr>
      <vt:lpstr>Four-up Layout</vt:lpstr>
      <vt:lpstr>Four-up Layout</vt:lpstr>
      <vt:lpstr>Four-up Layout Alternative</vt:lpstr>
      <vt:lpstr>Four-up Layout Alternative</vt:lpstr>
      <vt:lpstr>Five-up Layout</vt:lpstr>
      <vt:lpstr>Six-up Layout</vt:lpstr>
      <vt:lpstr>Seven-up Layout</vt:lpstr>
      <vt:lpstr>Eight-up Layout</vt:lpstr>
      <vt:lpstr>Nine-up Layout</vt:lpstr>
      <vt:lpstr>Ten-up Layout</vt:lpstr>
      <vt:lpstr>Montage / Image Showcase</vt:lpstr>
      <vt:lpstr>PowerPoint 演示文稿</vt:lpstr>
      <vt:lpstr>PowerPoint 演示文稿</vt:lpstr>
      <vt:lpstr>Demo Title Goes Here</vt:lpstr>
      <vt:lpstr>Progression</vt:lpstr>
      <vt:lpstr>Timeline</vt:lpstr>
      <vt:lpstr>Image Timeline</vt:lpstr>
      <vt:lpstr>World Map</vt:lpstr>
      <vt:lpstr>World Map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MiniMax H3 Inference on 8 NVIDIA RTX PRO GPUs</dc:title>
  <dc:subject>Public technical brief on distributed video inference</dc:subject>
  <dc:creator>Shunyang Li</dc:creator>
  <cp:keywords>MiniMax H3, vLLM-Omni, NVIDIA RTX PRO, GPUDirect RDMA, CUDA Graph, VSA</cp:keywords>
  <dc:description/>
  <cp:lastModifiedBy>Shunyang Li</cp:lastModifiedBy>
  <cp:revision>1</cp:revision>
  <dcterms:created xsi:type="dcterms:W3CDTF">2026-10-22T18:06:46Z</dcterms:created>
  <dcterms:modified xsi:type="dcterms:W3CDTF">2026-10-22T18:07:42Z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0x010100AFD8A66332A4B643BA3F21C52B2B93D0</vt:lpwstr>
  </property>
</Properties>
</file>