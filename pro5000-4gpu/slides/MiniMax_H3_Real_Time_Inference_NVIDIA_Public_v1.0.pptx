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3.xml" ContentType="application/vnd.openxmlformats-officedocument.drawingml.chart+xml"/>
  <Override PartName="/ppt/charts/chart4.xml" ContentType="application/vnd.openxmlformats-officedocument.drawingml.chart+xml"/>
  <Override PartName="/ppt/charts/colors3.xml" ContentType="application/vnd.ms-office.chartcolorstyle+xml"/>
  <Override PartName="/ppt/charts/colors4.xml" ContentType="application/vnd.ms-office.chartcolorstyle+xml"/>
  <Override PartName="/ppt/charts/style3.xml" ContentType="application/vnd.ms-office.chartstyle+xml"/>
  <Override PartName="/ppt/charts/style4.xml" ContentType="application/vnd.ms-office.chart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 id="343" r:id="rId85"/>
    <p:sldId id="344" r:id="rId86"/>
    <p:sldId id="345" r:id="rId87"/>
    <p:sldId id="346" r:id="rId88"/>
    <p:sldId id="347" r:id="rId89"/>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 Id="rId85" Type="http://schemas.openxmlformats.org/officeDocument/2006/relationships/slide" Target="slides/slide62.xml"/><Relationship Id="rId86" Type="http://schemas.openxmlformats.org/officeDocument/2006/relationships/slide" Target="slides/slide63.xml"/><Relationship Id="rId87" Type="http://schemas.openxmlformats.org/officeDocument/2006/relationships/slide" Target="slides/slide64.xml"/><Relationship Id="rId88" Type="http://schemas.openxmlformats.org/officeDocument/2006/relationships/slide" Target="slides/slide65.xml"/><Relationship Id="rId89" Type="http://schemas.openxmlformats.org/officeDocument/2006/relationships/slide" Target="slides/slide66.xml"/></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___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Latency (s)</c:v>
                </c:pt>
              </c:strCache>
            </c:strRef>
          </c:tx>
          <c:spPr>
            <a:solidFill>
              <a:schemeClr val="accent6"/>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3D18-4932-A9A6-1E7E09332C5B}"/>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3D18-4932-A9A6-1E7E09332C5B}"/>
              </c:ext>
            </c:extLst>
          </c:dPt>
          <c:dPt>
            <c:idx val="2"/>
            <c:invertIfNegative val="0"/>
            <c:bubble3D val="0"/>
            <c:spPr>
              <a:solidFill>
                <a:schemeClr val="accent3"/>
              </a:solidFill>
              <a:ln>
                <a:noFill/>
              </a:ln>
              <a:effectLst/>
            </c:spPr>
            <c:extLst>
              <c:ext xmlns:c16="http://schemas.microsoft.com/office/drawing/2014/chart" uri="{C3380CC4-5D6E-409C-BE32-E72D297353CC}">
                <c16:uniqueId val="{00000005-3D18-4932-A9A6-1E7E09332C5B}"/>
              </c:ext>
            </c:extLst>
          </c:dPt>
          <c:dPt>
            <c:idx val="3"/>
            <c:invertIfNegative val="0"/>
            <c:bubble3D val="0"/>
            <c:spPr>
              <a:solidFill>
                <a:schemeClr val="accent4"/>
              </a:solidFill>
              <a:ln>
                <a:noFill/>
              </a:ln>
              <a:effectLst/>
            </c:spPr>
            <c:extLst>
              <c:ext xmlns:c16="http://schemas.microsoft.com/office/drawing/2014/chart" uri="{C3380CC4-5D6E-409C-BE32-E72D297353CC}">
                <c16:uniqueId val="{00000007-3D18-4932-A9A6-1E7E09332C5B}"/>
              </c:ext>
            </c:extLst>
          </c:dPt>
          <c:dPt>
            <c:idx val="4"/>
            <c:invertIfNegative val="0"/>
            <c:bubble3D val="0"/>
            <c:spPr>
              <a:solidFill>
                <a:schemeClr val="accent5"/>
              </a:solidFill>
              <a:ln>
                <a:noFill/>
              </a:ln>
              <a:effectLst/>
            </c:spPr>
            <c:extLst>
              <c:ext xmlns:c16="http://schemas.microsoft.com/office/drawing/2014/chart" uri="{C3380CC4-5D6E-409C-BE32-E72D297353CC}">
                <c16:uniqueId val="{00000009-3D18-4932-A9A6-1E7E09332C5B}"/>
              </c:ext>
            </c:extLst>
          </c:dPt>
          <c:dLbls>
            <c:spPr>
              <a:noFill/>
              <a:ln>
                <a:noFill/>
              </a:ln>
              <a:effectLst/>
            </c:spPr>
            <c:txPr>
              <a:bodyPr rot="0" spcFirstLastPara="1" vertOverflow="ellipsis" vert="horz" wrap="square" anchor="ctr" anchorCtr="1"/>
              <a:lstStyle/>
              <a:p>
                <a:pPr>
                  <a:defRPr sz="4000" b="0" i="0" u="none" strike="noStrike" kern="1200" baseline="0">
                    <a:solidFill>
                      <a:schemeClr val="tx1"/>
                    </a:solidFill>
                    <a:latin typeface="+mj-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DiT · 96.6%</c:v>
                </c:pt>
                <c:pt idx="1">
                  <c:v>Other · 3.4%</c:v>
                </c:pt>
              </c:strCache>
            </c:strRef>
          </c:cat>
          <c:val>
            <c:numRef>
              <c:f>Sheet1!$B$2:$B$3</c:f>
              <c:numCache>
                <c:formatCode>General</c:formatCode>
                <c:ptCount val="2"/>
                <c:pt idx="0">
                  <c:v>584.707</c:v>
                </c:pt>
                <c:pt idx="1">
                  <c:v>20.641</c:v>
                </c:pt>
              </c:numCache>
            </c:numRef>
          </c:val>
          <c:extLst>
            <c:ext xmlns:c16="http://schemas.microsoft.com/office/drawing/2014/chart" uri="{C3380CC4-5D6E-409C-BE32-E72D297353CC}">
              <c16:uniqueId val="{00000024-3D18-4932-A9A6-1E7E09332C5B}"/>
            </c:ext>
          </c:extLst>
        </c:ser>
        <c:dLbls>
          <c:dLblPos val="outEnd"/>
          <c:showLegendKey val="0"/>
          <c:showVal val="1"/>
          <c:showCatName val="0"/>
          <c:showSerName val="0"/>
          <c:showPercent val="0"/>
          <c:showBubbleSize val="0"/>
        </c:dLbls>
        <c:gapWidth val="333"/>
        <c:overlap val="-27"/>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chemeClr val="accent6"/>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700.0"/>
          <c:min val="0.0"/>
        </c:scaling>
        <c:delete val="0"/>
        <c:axPos val="b"/>
        <c:majorGridlines>
          <c:spPr>
            <a:ln w="12700" cap="flat" cmpd="sng" algn="ctr">
              <a:solidFill>
                <a:schemeClr val="accent6">
                  <a:alpha val="50000"/>
                </a:scheme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chemeClr val="accent6"/>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chemeClr val="accent6"/>
              </a:solidFill>
              <a:ln>
                <a:noFill/>
              </a:ln>
              <a:effectLst/>
            </c:spPr>
            <c:extLst>
              <c:ext xmlns:c16="http://schemas.microsoft.com/office/drawing/2014/chart" uri="{C3380CC4-5D6E-409C-BE32-E72D297353CC}">
                <c16:uniqueId val="{00000005-9282-4C7D-93A0-078375DDFF91}"/>
              </c:ext>
            </c:extLst>
          </c:dPt>
          <c:dPt>
            <c:idx val="3"/>
            <c:spPr>
              <a:solidFill>
                <a:schemeClr val="accent6"/>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chemeClr val="accent6"/>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chemeClr val="accent6">
                  <a:alpha val="50000"/>
                </a:scheme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covers the real-time target, platform constraints, bottleneck analysis, distributed optimization, and validation. Part two uses the public ComfyUI integration and PR #9194 workflows as the application story.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moves from the real-time definition to the eight-GPU baseline, bottleneck analysis, optimization, and validation.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example is 362 frames / 24 FPS = 15.08 s.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RTX PRO 5000, RTX PRO 6000 and GeForce RTX 5090 use compute capability 12.0 / SM120; each has fifth-generation Tensor Cores with FP4 support. DGX Spark's GB10 uses compute capability 12.1 / SM121 and fifth-generation Tensor Cores with FP4 support. The planned RTX PRO 5000 scale-out path is GPU memory to PCIe Gen5 to a compatible NIC and then the RDMA fabric. This path is a deployment plan, not a measured result; GPUDirect RDMA requires compatible software and PCIe topology. On click, the slide reveals the selected RTX PRO 5000 row and the eight-GPU baseline. Sources: https://developer.nvidia.com/cuda/gpus ; https://www.nvidia.com/en-gb/products/workstations/professional-desktop-gpus/rtx-pro-5000/ ; https://docs.nvidia.com/cuda/gpudirect-rdma/</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is the original MiniMax H3 BF16 baseline with 50 denoising steps, TP1/SP8, encoder TP8, exact AdaLN precompute/cache, and regular NCCL Ulysses collectives without the custom FlashInfer RDMA path. The product setting has 50 scheduler sigma points and 49 adjacent denoiser updates. The measured request takes 605.348 seconds end to end, of which 584.707 seconds is DiT and 20.641 seconds is outside DiT. The right chart is a provisional request-stage view because s1_nsys_breakdown.json is absent; it must not be cited as an Nsight kernel breakdown.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focuses on ComfyUI workflows backed by vLLM-Omni multi-GPU serving, beginning with the public MiniMax H3 character-replacement work in PR #9194.</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opens part two. It uses the official vLLM-Omni architecture and the public PR #9194 ComfyUI character-replacement workflow. The pull request is open as of October 24, 2026.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xml"/><Relationship Id="rId3" Type="http://schemas.openxmlformats.org/officeDocument/2006/relationships/notesSlide" Target="../notesSlides/notesSlide1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7.png"/></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Shunyang Li  |  Public Technical Brief  |  October 2026</a:t>
            </a:r>
          </a:p>
        </p:txBody>
      </p:sp>
      <p:sp>
        <p:nvSpPr>
          <p:cNvPr id="3" name="Text Placeholder 2"/>
          <p:cNvSpPr>
            <a:spLocks noGrp="1"/>
          </p:cNvSpPr>
          <p:nvPr>
            <p:ph type="body" idx="11" sz="quarter"/>
          </p:nvPr>
        </p:nvSpPr>
        <p:spPr/>
        <p:txBody>
          <a:bodyPr/>
          <a:lstStyle/>
          <a:p>
            <a:r>
              <a:t>8× RTX PRO 5000 · vLLM-Omni + ComfyUI</a:t>
            </a:r>
          </a:p>
        </p:txBody>
      </p:sp>
      <p:sp>
        <p:nvSpPr>
          <p:cNvPr id="4" name="Text Placeholder 3"/>
          <p:cNvSpPr>
            <a:spLocks noGrp="1"/>
          </p:cNvSpPr>
          <p:nvPr>
            <p:ph type="body" idx="10" sz="quarter"/>
          </p:nvPr>
        </p:nvSpPr>
        <p:spPr/>
        <p:txBody>
          <a:bodyPr/>
          <a:lstStyle/>
          <a:p>
            <a:r>
              <a:t>Real-Time Video Generation
with MiniMax H3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01  Toward Real-Time H3 Generation</a:t>
            </a:r>
          </a:p>
          <a:p>
            <a:r>
              <a:t>02  vLLM-Omni + ComfyUI Applications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01 · Real-Time H3
Generation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For 362 frames at 24 FPS, real time requires end-to-end latency &lt; 15.1 s (RTF &lt; 1.0)</a:t>
            </a:r>
          </a:p>
        </p:txBody>
      </p:sp>
      <p:sp>
        <p:nvSpPr>
          <p:cNvPr id="3" name="Title 2"/>
          <p:cNvSpPr>
            <a:spLocks noGrp="1"/>
          </p:cNvSpPr>
          <p:nvPr>
            <p:ph type="title"/>
          </p:nvPr>
        </p:nvSpPr>
        <p:spPr/>
        <p:txBody>
          <a:bodyPr/>
          <a:lstStyle/>
          <a:p>
            <a:r>
              <a:t>Real-Time 768p Raises the Systems Bar</a:t>
            </a:r>
          </a:p>
        </p:txBody>
      </p:sp>
      <p:sp>
        <p:nvSpPr>
          <p:cNvPr id="4" name="Text Placeholder 3"/>
          <p:cNvSpPr>
            <a:spLocks noGrp="1"/>
          </p:cNvSpPr>
          <p:nvPr>
            <p:ph type="body" idx="52" sz="quarter"/>
          </p:nvPr>
        </p:nvSpPr>
        <p:spPr/>
        <p:txBody>
          <a:bodyPr/>
          <a:lstStyle/>
          <a:p>
            <a:r>
              <a:t>RTF = latency / media duration. The real-time deadline here is 15.1 s. H3 is the largest dense backbone in this peer set; Wan2.2 = 27B total / 14B active.</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p:txBody>
          <a:bodyPr/>
          <a:lstStyle/>
          <a:p>
            <a:r>
              <a:t>32B encoder → 33B dense Omni Transformer → Visual/Audio VAE. 50 blocks × 50 denoising steps; full attention. ≈130 GB raw BF16; ~13B AdaLN cacheable.</a:t>
            </a:r>
          </a:p>
        </p:txBody>
      </p:sp>
      <p:sp>
        <p:nvSpPr>
          <p:cNvPr id="8" name="Text Placeholder 7"/>
          <p:cNvSpPr>
            <a:spLocks noGrp="1"/>
          </p:cNvSpPr>
          <p:nvPr>
            <p:ph type="body" idx="55" sz="quarter"/>
          </p:nvPr>
        </p:nvSpPr>
        <p:spPr/>
        <p:txBody>
          <a:bodyPr/>
          <a:lstStyle/>
          <a:p>
            <a:r>
              <a:t>OPEN H3-BASE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MiniMax H3, Wan2.2, LTX-2.5 and HunyuanVideo-1.5 official releases · author 362-frame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4</a:t>
            </a:fld>
            <a:endParaRPr lang="en-US"/>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Every discrete SM120 card combines fifth-generation Tensor Cores with FP4 and GDDR7; memory capacity and PCIe-to-fabric bandwidth define the deployment envelope</a:t>
            </a:r>
          </a:p>
        </p:txBody>
      </p:sp>
      <p:sp>
        <p:nvSpPr>
          <p:cNvPr id="3" name="Title 2"/>
          <p:cNvSpPr>
            <a:spLocks noGrp="1"/>
          </p:cNvSpPr>
          <p:nvPr>
            <p:ph type="title"/>
          </p:nvPr>
        </p:nvSpPr>
        <p:spPr/>
        <p:txBody>
          <a:bodyPr/>
          <a:lstStyle/>
          <a:p>
            <a:r>
              <a:t>Frontier Models · The Cards</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5</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9064"/>
        </p:xfrm>
        <a:graphic>
          <a:graphicData uri="http://schemas.openxmlformats.org/drawingml/2006/table">
            <a:tbl>
              <a:tblPr firstRow="1" bandRow="1">
                <a:tableStyleId>{68D230F3-CF80-4859-8CE7-A43EE81993B5}</a:tableStyleId>
              </a:tblPr>
              <a:tblGrid>
                <a:gridCol w="6812280">
                  <a:extLst>
                    <a:ext uri="{9D8B030D-6E8A-4147-A177-3AD203B41FA5}">
                      <a16:colId xmlns:a16="http://schemas.microsoft.com/office/drawing/2014/main" val="1714626306"/>
                    </a:ext>
                  </a:extLst>
                </a:gridCol>
                <a:gridCol w="7406640">
                  <a:extLst>
                    <a:ext uri="{9D8B030D-6E8A-4147-A177-3AD203B41FA5}">
                      <a16:colId xmlns:a16="http://schemas.microsoft.com/office/drawing/2014/main" val="1697748500"/>
                    </a:ext>
                  </a:extLst>
                </a:gridCol>
                <a:gridCol w="6629400">
                  <a:extLst>
                    <a:ext uri="{9D8B030D-6E8A-4147-A177-3AD203B41FA5}">
                      <a16:colId xmlns:a16="http://schemas.microsoft.com/office/drawing/2014/main" val="3872581152"/>
                    </a:ext>
                  </a:extLst>
                </a:gridCol>
                <a:gridCol w="7422001">
                  <a:extLst>
                    <a:ext uri="{9D8B030D-6E8A-4147-A177-3AD203B41FA5}">
                      <a16:colId xmlns:a16="http://schemas.microsoft.com/office/drawing/2014/main" val="254391404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Compute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GPU I/O / Fabric</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5000
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110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72 GB GDDR7 ECC
48 GB variant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Planned: NIC → RDMA*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6000
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188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170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32 GB GDDR7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SM121 · 48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128 GB unified
LPDDR5X</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NVLink-C2C in SoC
200 Gb/s ConnectX-7</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 Planned system path; GPUDirect RDMA requires a compatible NIC and PCIe topology · Sources: NVIDIA product specs, CUDA GPU table, GPUDirect RDMA guide</a:t>
            </a:r>
            <a:endParaRPr lang="en-US" dirty="0"/>
          </a:p>
        </p:txBody>
      </p:sp>
      <p:cxnSp>
        <p:nvCxnSpPr>
          <p:cNvPr id="7" name="Selected RTX PRO 5000 Top">
            <a:extLst>
              <a:ext uri="{FF2B5EF4-FFF2-40B4-BE49-F238E27FC236}">
                <a16:creationId xmlns:a16="http://schemas.microsoft.com/office/drawing/2014/main" id="{F54C2F02-CA89-E9E9-1E67-E8559241B4DA}"/>
              </a:ext>
            </a:extLst>
          </p:cNvPr>
          <p:cNvCxnSpPr>
            <a:cxnSpLocks/>
          </p:cNvCxnSpPr>
          <p:nvPr/>
        </p:nvCxnSpPr>
        <p:spPr>
          <a:xfrm>
            <a:off x="4152826" y="7087091"/>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8" name="Selected RTX PRO 5000 Bottom">
            <a:extLst>
              <a:ext uri="{FF2B5EF4-FFF2-40B4-BE49-F238E27FC236}">
                <a16:creationId xmlns:a16="http://schemas.microsoft.com/office/drawing/2014/main" id="{F54C2F02-CA89-E9E9-1E67-E8559241B4DA}"/>
              </a:ext>
            </a:extLst>
          </p:cNvPr>
          <p:cNvCxnSpPr>
            <a:cxnSpLocks/>
          </p:cNvCxnSpPr>
          <p:nvPr/>
        </p:nvCxnSpPr>
        <p:spPr>
          <a:xfrm>
            <a:off x="4152826" y="9496535"/>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9" name="Selected RTX PRO 5000 Left">
            <a:extLst>
              <a:ext uri="{FF2B5EF4-FFF2-40B4-BE49-F238E27FC236}">
                <a16:creationId xmlns:a16="http://schemas.microsoft.com/office/drawing/2014/main" id="{F54C2F02-CA89-E9E9-1E67-E8559241B4DA}"/>
              </a:ext>
            </a:extLst>
          </p:cNvPr>
          <p:cNvCxnSpPr>
            <a:cxnSpLocks/>
          </p:cNvCxnSpPr>
          <p:nvPr/>
        </p:nvCxnSpPr>
        <p:spPr>
          <a:xfrm>
            <a:off x="4152826"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10" name="Selected RTX PRO 5000 Right">
            <a:extLst>
              <a:ext uri="{FF2B5EF4-FFF2-40B4-BE49-F238E27FC236}">
                <a16:creationId xmlns:a16="http://schemas.microsoft.com/office/drawing/2014/main" id="{F54C2F02-CA89-E9E9-1E67-E8559241B4DA}"/>
              </a:ext>
            </a:extLst>
          </p:cNvPr>
          <p:cNvCxnSpPr>
            <a:cxnSpLocks/>
          </p:cNvCxnSpPr>
          <p:nvPr/>
        </p:nvCxnSpPr>
        <p:spPr>
          <a:xfrm>
            <a:off x="32423147"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1" name="Eight GPUs"/>
          <p:cNvSpPr txBox="1"/>
          <p:nvPr/>
        </p:nvSpPr>
        <p:spPr>
          <a:xfrm>
            <a:off x="32662368" y="7516368"/>
            <a:ext cx="2011680" cy="1005840"/>
          </a:xfrm>
          <a:prstGeom prst="rect">
            <a:avLst/>
          </a:prstGeom>
          <a:noFill/>
        </p:spPr>
        <p:txBody>
          <a:bodyPr wrap="square" anchor="ctr" lIns="0" rIns="0" tIns="0" bIns="0">
            <a:spAutoFit/>
          </a:bodyPr>
          <a:lstStyle/>
          <a:p>
            <a:pPr algn="ctr">
              <a:spcBef>
                <a:spcPts val="0"/>
              </a:spcBef>
              <a:spcAft>
                <a:spcPts val="0"/>
              </a:spcAft>
              <a:buNone/>
            </a:pPr>
            <a:r>
              <a:rPr sz="6000" b="1" i="0">
                <a:solidFill>
                  <a:srgbClr val="76B900"/>
                </a:solidFill>
                <a:latin typeface="NVIDIA Sans Medium"/>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fill="hold" nodeType="clickEffect" presetClass="entr" presetID="1" presetSubtype="0">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fill="hold" nodeType="withEffect" presetClass="entr" presetID="1" presetSubtype="0">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fill="hold" nodeType="withEffect" presetClass="entr" presetID="1" presetSubtype="0">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fill="hold" nodeType="withEffect" presetClass="entr" presetID="1" presetSubtype="0">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fill="hold" nodeType="withEffect" presetClass="entr" presetID="1" presetSubtype="0">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Request-stage latency (s)</a:t>
            </a:r>
          </a:p>
          <a:p>
            <a:r>
              <a:t>605.348 s E2E · RTF 40.1 · 50σ → 49 DiT calls</a:t>
            </a:r>
          </a:p>
        </p:txBody>
      </p:sp>
      <p:sp>
        <p:nvSpPr>
          <p:cNvPr id="4" name="Text Placeholder 3"/>
          <p:cNvSpPr>
            <a:spLocks noGrp="1"/>
          </p:cNvSpPr>
          <p:nvPr>
            <p:ph type="body" idx="13" sz="quarter"/>
          </p:nvPr>
        </p:nvSpPr>
        <p:spPr/>
        <p:txBody>
          <a:bodyPr/>
          <a:lstStyle/>
          <a:p>
            <a:r>
              <a:t>8× RTX PRO 5000 · BF16 · 1280×704 / 362f @ 24 FPS · 50 steps · TP1/SP8 · AdaLN cached · NCCL Ulysses</a:t>
            </a:r>
          </a:p>
        </p:txBody>
      </p:sp>
      <p:sp>
        <p:nvSpPr>
          <p:cNvPr id="5" name="Title 4"/>
          <p:cNvSpPr>
            <a:spLocks noGrp="1"/>
          </p:cNvSpPr>
          <p:nvPr>
            <p:ph type="title"/>
          </p:nvPr>
        </p:nvSpPr>
        <p:spPr/>
        <p:txBody>
          <a:bodyPr/>
          <a:lstStyle/>
          <a:p>
            <a:r>
              <a:t>50-Step H3 Baseline: 96.6% of Latency Is DiT</a:t>
            </a:r>
          </a:p>
        </p:txBody>
      </p:sp>
      <p:graphicFrame>
        <p:nvGraphicFramePr>
          <p:cNvPr id="6" name="Official S1 Latency Breakdown">
            <a:extLst>
              <a:ext uri="{FF2B5EF4-FFF2-40B4-BE49-F238E27FC236}">
                <a16:creationId xmlns:a16="http://schemas.microsoft.com/office/drawing/2014/main" id="{1737E0B8-8DF2-7017-AAD1-C876C8002742}"/>
              </a:ext>
            </a:extLst>
          </p:cNvPr>
          <p:cNvGraphicFramePr>
            <a:graphicFrameLocks noGrp="1"/>
          </p:cNvGraphicFramePr>
          <p:nvPr>
            <p:ph type="chart" sz="quarter" idx="17"/>
            <p:extLst>
              <p:ext uri="{D42A27DB-BD31-4B8C-83A1-F6EECF244321}">
                <p14:modId xmlns:p14="http://schemas.microsoft.com/office/powerpoint/2010/main" val="1898045962"/>
              </p:ext>
            </p:extLst>
          </p:nvPr>
        </p:nvGraphicFramePr>
        <p:xfrm>
          <a:off x="5120639" y="6812280"/>
          <a:ext cx="26334720" cy="9692640"/>
        </p:xfrm>
        <a:graphic>
          <a:graphicData uri="http://schemas.openxmlformats.org/drawingml/2006/chart">
            <c:chart xmlns:c="http://schemas.openxmlformats.org/drawingml/2006/chart" r:id="rId2"/>
          </a:graphicData>
        </a:graphic>
      </p:graphicFrame>
      <p:sp>
        <p:nvSpPr>
          <p:cNvPr id="7"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Author S1 request-stage timing · Nsight category JSON not yet supplied</a:t>
            </a:r>
            <a:endParaRPr lang="en-US" dirty="0"/>
          </a:p>
        </p:txBody>
      </p:sp>
      <p:sp>
        <p:nvSpPr>
          <p:cNvPr id="8"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6</a:t>
            </a:fld>
            <a:endParaRPr lang="en-US"/>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02 · vLLM-Omni
ComfyUI Apps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Open PR #9194: character replacement, continuation-aware references, and chainable LoRA controls</a:t>
            </a:r>
          </a:p>
        </p:txBody>
      </p:sp>
      <p:sp>
        <p:nvSpPr>
          <p:cNvPr id="3" name="Title 2"/>
          <p:cNvSpPr>
            <a:spLocks noGrp="1"/>
          </p:cNvSpPr>
          <p:nvPr>
            <p:ph type="title"/>
          </p:nvPr>
        </p:nvSpPr>
        <p:spPr/>
        <p:txBody>
          <a:bodyPr/>
          <a:lstStyle/>
          <a:p>
            <a:r>
              <a:t>vLLM-Omni Connects ComfyUI to Multi-GPU H3 Serving</a:t>
            </a:r>
          </a:p>
        </p:txBody>
      </p:sp>
      <p:sp>
        <p:nvSpPr>
          <p:cNvPr id="4" name="Text Placeholder 3"/>
          <p:cNvSpPr>
            <a:spLocks noGrp="1"/>
          </p:cNvSpPr>
          <p:nvPr>
            <p:ph type="body" idx="52" sz="quarter"/>
          </p:nvPr>
        </p:nvSpPr>
        <p:spPr/>
        <p:txBody>
          <a:bodyPr/>
          <a:lstStyle/>
          <a:p>
            <a:r>
              <a:t>ComfyUI remains the visual frontend; vLLM-Omni owns model execution, scheduling, and multi-GPU deployment</a:t>
            </a:r>
          </a:p>
        </p:txBody>
      </p:sp>
      <p:sp>
        <p:nvSpPr>
          <p:cNvPr id="5" name="Text Placeholder 4"/>
          <p:cNvSpPr>
            <a:spLocks noGrp="1"/>
          </p:cNvSpPr>
          <p:nvPr>
            <p:ph type="body" idx="51" sz="quarter"/>
          </p:nvPr>
        </p:nvSpPr>
        <p:spPr/>
        <p:txBody>
          <a:bodyPr/>
          <a:lstStyle/>
          <a:p>
            <a:r>
              <a:t>Official vLLM-Omni Architecture</a:t>
            </a:r>
          </a:p>
        </p:txBody>
      </p:sp>
      <p:pic>
        <p:nvPicPr>
          <p:cNvPr id="6" name="Picture Placeholder 5" descr="vllm-omni-architecture-official-16x9.png"/>
          <p:cNvPicPr>
            <a:picLocks noGrp="1" noChangeAspect="1"/>
          </p:cNvPicPr>
          <p:nvPr>
            <p:ph type="pic" idx="53" sz="quarter"/>
          </p:nvPr>
        </p:nvPicPr>
        <p:blipFill>
          <a:blip r:embed="rId3"/>
          <a:srcRect l="37" r="37"/>
          <a:stretch>
            <a:fillRect/>
          </a:stretch>
        </p:blipFill>
        <p:spPr/>
      </p:pic>
      <p:sp>
        <p:nvSpPr>
          <p:cNvPr id="7" name="Text Placeholder 6"/>
          <p:cNvSpPr>
            <a:spLocks noGrp="1"/>
          </p:cNvSpPr>
          <p:nvPr>
            <p:ph type="body" idx="54" sz="quarter"/>
          </p:nvPr>
        </p:nvSpPr>
        <p:spPr/>
        <p:txBody>
          <a:bodyPr/>
          <a:lstStyle/>
          <a:p>
            <a:r>
              <a:t>Single- and multi-character replacement, source-derived duration, long-video continuation, and LoRA controls</a:t>
            </a:r>
          </a:p>
        </p:txBody>
      </p:sp>
      <p:sp>
        <p:nvSpPr>
          <p:cNvPr id="8" name="Text Placeholder 7"/>
          <p:cNvSpPr>
            <a:spLocks noGrp="1"/>
          </p:cNvSpPr>
          <p:nvPr>
            <p:ph type="body" idx="55" sz="quarter"/>
          </p:nvPr>
        </p:nvSpPr>
        <p:spPr/>
        <p:txBody>
          <a:bodyPr/>
          <a:lstStyle/>
          <a:p>
            <a:r>
              <a:t>ComfyUI Workflow · PR #9194</a:t>
            </a:r>
          </a:p>
        </p:txBody>
      </p:sp>
      <p:pic>
        <p:nvPicPr>
          <p:cNvPr id="9" name="Picture Placeholder 8" descr="pr9194_comfyui_single_character_workflow-16x9.png"/>
          <p:cNvPicPr>
            <a:picLocks noGrp="1" noChangeAspect="1"/>
          </p:cNvPicPr>
          <p:nvPr>
            <p:ph type="pic" idx="56" sz="quarter"/>
          </p:nvPr>
        </p:nvPicPr>
        <p:blipFill>
          <a:blip r:embed="rId4"/>
          <a:srcRect l="28" r="28"/>
          <a:stretch>
            <a:fillRect/>
          </a:stretch>
        </p:blipFill>
        <p:spPr/>
      </p:pic>
      <p:sp>
        <p:nvSpPr>
          <p:cNvPr id="10"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vLLM-Omni v0.26 public deck, slide 22 · vLLM-Omni PR #9194 (open)</a:t>
            </a:r>
            <a:endParaRPr lang="en-US" dirty="0"/>
          </a:p>
        </p:txBody>
      </p:sp>
      <p:sp>
        <p:nvSpPr>
          <p:cNvPr id="11"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8</a:t>
            </a:fld>
            <a:endParaRPr lang="en-US"/>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