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4129158921447812E-2"/>
          <c:y val="4.025865729268216E-2"/>
          <c:w val="0.93587084107855234"/>
          <c:h val="0.72698638605439725"/>
        </c:manualLayout>
      </c:layout>
      <c:barChart>
        <c:barDir val="col"/>
        <c:grouping val="clustered"/>
        <c:varyColors val="0"/>
        <c:ser>
          <c:idx val="0"/>
          <c:order val="0"/>
          <c:tx>
            <c:strRef>
              <c:f>Sheet1!$B$1</c:f>
              <c:strCache>
                <c:ptCount val="1"/>
                <c:pt idx="0">
                  <c:v>Peer models</c:v>
                </c:pt>
              </c:strCache>
            </c:strRef>
          </c:tx>
          <c:spPr>
            <a:solidFill>
              <a:schemeClr val="accent6"/>
            </a:solidFill>
            <a:ln>
              <a:noFill/>
            </a:ln>
            <a:effectLst/>
          </c:spPr>
          <c:invertIfNegative val="0"/>
          <c:dPt>
            <c:idx val="0"/>
            <c:invertIfNegative val="0"/>
            <c:bubble3D val="0"/>
            <c:spPr>
              <a:solidFill>
                <a:schemeClr val="accent6"/>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chemeClr val="accent6"/>
              </a:solidFill>
              <a:ln>
                <a:noFill/>
              </a:ln>
              <a:effectLst/>
            </c:spPr>
            <c:extLst>
              <c:ext xmlns:c16="http://schemas.microsoft.com/office/drawing/2014/chart" uri="{C3380CC4-5D6E-409C-BE32-E72D297353CC}">
                <c16:uniqueId val="{00000005-9282-4C7D-93A0-078375DDFF91}"/>
              </c:ext>
            </c:extLst>
          </c:dPt>
          <c:dLbls>
            <c:delete val="1"/>
          </c:dLbls>
          <c:cat>
            <c:strRef>
              <c:f>Sheet1!$A$2:$A$5</c:f>
              <c:strCache>
                <c:ptCount val="4"/>
                <c:pt idx="0">
                  <c:v>HunyuanVideo-1.5</c:v>
                </c:pt>
                <c:pt idx="1">
                  <c:v>LTX-2.5</c:v>
                </c:pt>
                <c:pt idx="2">
                  <c:v>Wan2.2 A14B</c:v>
                </c:pt>
                <c:pt idx="3">
                  <c:v>MiniMax H3</c:v>
                </c:pt>
              </c:strCache>
            </c:strRef>
          </c:cat>
          <c:val>
            <c:numRef>
              <c:f>Sheet1!$B$2:$B$5</c:f>
              <c:numCache>
                <c:formatCode>General</c:formatCode>
                <c:ptCount val="4"/>
                <c:pt idx="0">
                  <c:v>8.3</c:v>
                </c:pt>
                <c:pt idx="1">
                  <c:v>22</c:v>
                </c:pt>
                <c:pt idx="2">
                  <c:v>27</c:v>
                </c:pt>
              </c:numCache>
            </c:numRef>
          </c:val>
          <c:extLst>
            <c:ext xmlns:c16="http://schemas.microsoft.com/office/drawing/2014/chart" uri="{C3380CC4-5D6E-409C-BE32-E72D297353CC}">
              <c16:uniqueId val="{0000000A-9282-4C7D-93A0-078375DDFF91}"/>
            </c:ext>
          </c:extLst>
        </c:ser>
        <c:ser>
          <c:idx val="1"/>
          <c:order val="1"/>
          <c:tx>
            <c:strRef>
              <c:f>Sheet1!$C$1</c:f>
              <c:strCache>
                <c:ptCount val="1"/>
                <c:pt idx="0">
                  <c:v>H3 dense</c:v>
                </c:pt>
              </c:strCache>
            </c:strRef>
          </c:tx>
          <c:spPr>
            <a:solidFill>
              <a:schemeClr val="accent1"/>
            </a:solidFill>
            <a:ln>
              <a:noFill/>
            </a:ln>
            <a:effectLst/>
          </c:spPr>
          <c:invertIfNegative val="0"/>
          <c:dLbls>
            <c:delete val="1"/>
          </c:dLbls>
          <c:cat>
            <c:strRef>
              <c:f>Sheet1!$A$2:$A$5</c:f>
              <c:strCache>
                <c:ptCount val="4"/>
                <c:pt idx="0">
                  <c:v>HunyuanVideo-1.5</c:v>
                </c:pt>
                <c:pt idx="1">
                  <c:v>LTX-2.5</c:v>
                </c:pt>
                <c:pt idx="2">
                  <c:v>Wan2.2 A14B</c:v>
                </c:pt>
                <c:pt idx="3">
                  <c:v>MiniMax H3</c:v>
                </c:pt>
              </c:strCache>
            </c:strRef>
          </c:cat>
          <c:val>
            <c:numRef>
              <c:f>Sheet1!$C$2:$C$5</c:f>
              <c:numCache>
                <c:formatCode>General</c:formatCode>
                <c:ptCount val="4"/>
                <c:pt idx="3">
                  <c:v>33</c:v>
                </c:pt>
              </c:numCache>
            </c:numRef>
          </c:val>
          <c:extLst>
            <c:ext xmlns:c16="http://schemas.microsoft.com/office/drawing/2014/chart" uri="{C3380CC4-5D6E-409C-BE32-E72D297353CC}">
              <c16:uniqueId val="{0000000B-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inMax"/>
        </c:scaling>
        <c:delete val="0"/>
        <c:axPos val="b"/>
        <c:title>
          <c:tx>
            <c:rich>
              <a:bodyPr rot="0" spcFirstLastPara="1" vertOverflow="ellipsis" vert="horz" wrap="square" anchor="ctr" anchorCtr="1"/>
              <a:lstStyle/>
              <a:p>
                <a:pPr>
                  <a:defRPr sz="3200" b="0" i="0" u="none" strike="noStrike" kern="1200" baseline="0">
                    <a:solidFill>
                      <a:schemeClr val="accent6"/>
                    </a:solidFill>
                    <a:latin typeface="+mn-lt"/>
                    <a:ea typeface="+mn-ea"/>
                    <a:cs typeface="+mn-cs"/>
                  </a:defRPr>
                </a:pPr>
                <a:r>
                  <a:rPr lang="en-US">
                    <a:solidFill>
                      <a:schemeClr val="accent6"/>
                    </a:solidFill>
                  </a:rPr>
                  <a:t>Open video model</a:t>
                </a:r>
              </a:p>
            </c:rich>
          </c:tx>
          <c:layout>
            <c:manualLayout>
              <c:xMode val="edge"/>
              <c:yMode val="edge"/>
              <c:x val="0.43805418583588546"/>
              <c:y val="0.86970440846875796"/>
            </c:manualLayout>
          </c:layout>
          <c:overlay val="0"/>
          <c:spPr>
            <a:noFill/>
            <a:ln>
              <a:noFill/>
            </a:ln>
            <a:effectLst/>
          </c:spPr>
          <c:txPr>
            <a:bodyPr rot="0" spcFirstLastPara="1" vertOverflow="ellipsis" vert="horz" wrap="square" anchor="ctr" anchorCtr="1"/>
            <a:lstStyle/>
            <a:p>
              <a:pPr>
                <a:defRPr sz="3200" b="0" i="0" u="none" strike="noStrike" kern="1200" baseline="0">
                  <a:solidFill>
                    <a:schemeClr val="accent6"/>
                  </a:solidFill>
                  <a:latin typeface="+mn-lt"/>
                  <a:ea typeface="+mn-ea"/>
                  <a:cs typeface="+mn-cs"/>
                </a:defRPr>
              </a:pPr>
              <a:endParaRPr lang="en-US"/>
            </a:p>
          </c:txPr>
        </c:title>
        <c:numFmt formatCode="General" sourceLinked="1"/>
        <c:majorTickMark val="none"/>
        <c:minorTickMark val="none"/>
        <c:tickLblPos val="nextTo"/>
        <c:spPr>
          <a:noFill/>
          <a:ln w="38100" cap="flat" cmpd="sng" algn="ctr">
            <a:solidFill>
              <a:schemeClr val="accent6"/>
            </a:solidFill>
            <a:round/>
          </a:ln>
          <a:effectLst/>
        </c:spPr>
        <c:txPr>
          <a:bodyPr rot="-6000000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scaling>
        <c:delete val="0"/>
        <c:axPos val="l"/>
        <c:majorGridlines>
          <c:spPr>
            <a:ln w="12700" cap="flat" cmpd="sng" algn="ctr">
              <a:solidFill>
                <a:schemeClr val="accent6">
                  <a:alpha val="50000"/>
                </a:schemeClr>
              </a:solidFill>
              <a:round/>
            </a:ln>
            <a:effectLst/>
          </c:spPr>
        </c:majorGridlines>
        <c:title>
          <c:tx>
            <c:rich>
              <a:bodyPr rot="-5400000" spcFirstLastPara="1" vertOverflow="ellipsis" vert="horz" wrap="square" anchor="ctr" anchorCtr="1"/>
              <a:lstStyle/>
              <a:p>
                <a:pPr>
                  <a:defRPr sz="3200" b="0" i="0" u="none" strike="noStrike" kern="1200" baseline="0">
                    <a:solidFill>
                      <a:schemeClr val="accent6"/>
                    </a:solidFill>
                    <a:latin typeface="+mn-lt"/>
                    <a:ea typeface="+mn-ea"/>
                    <a:cs typeface="+mn-cs"/>
                  </a:defRPr>
                </a:pPr>
                <a:r>
                  <a:rPr lang="en-US">
                    <a:solidFill>
                      <a:schemeClr val="accent6"/>
                    </a:solidFill>
                  </a:rPr>
                  <a:t>Full parameters (B)</a:t>
                </a:r>
              </a:p>
            </c:rich>
          </c:tx>
          <c:layout>
            <c:manualLayout>
              <c:xMode val="edge"/>
              <c:yMode val="edge"/>
              <c:x val="3.0317713782280712E-3"/>
              <c:y val="0.15172601623290374"/>
            </c:manualLayout>
          </c:layout>
          <c:overlay val="0"/>
          <c:spPr>
            <a:noFill/>
            <a:ln>
              <a:noFill/>
            </a:ln>
            <a:effectLst/>
          </c:spPr>
          <c:txPr>
            <a:bodyPr rot="-5400000" spcFirstLastPara="1" vertOverflow="ellipsis" vert="horz" wrap="square" anchor="ctr" anchorCtr="1"/>
            <a:lstStyle/>
            <a:p>
              <a:pPr>
                <a:defRPr sz="3200" b="0" i="0" u="none" strike="noStrike" kern="1200" baseline="0">
                  <a:solidFill>
                    <a:schemeClr val="accent6"/>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2"/>
      </c:valAx>
      <c:spPr>
        <a:noFill/>
        <a:ln>
          <a:noFill/>
        </a:ln>
        <a:effectLst/>
      </c:spPr>
    </c:plotArea>
    <c:legend>
      <c:legendPos val="b"/>
      <c:layout>
        <c:manualLayout>
          <c:xMode val="edge"/>
          <c:yMode val="edge"/>
          <c:x val="0.43379150851863313"/>
          <c:y val="0.94505396782821083"/>
          <c:w val="0.19125465899834621"/>
          <c:h val="4.7084911962159331E-2"/>
        </c:manualLayout>
      </c:layout>
      <c:overlay val="0"/>
      <c:spPr>
        <a:noFill/>
        <a:ln>
          <a:noFill/>
        </a:ln>
        <a:effectLst/>
      </c:spPr>
      <c:txPr>
        <a:bodyPr rot="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talk examines how an eight-GPU Blackwell workstation serves a long-sequence audiovisual generator in real time.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example is 362 frames / 24 FPS = 15.08 s.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uses the template's standard 2-up Image 16:9 layout. Both visuals are copied directly from public vLLM-Omni materials: the official architecture figure and the PR #9194 ComfyUI workflow screenshot.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NVIDIA publicly specifies 300 W TBP for RTX PRO 5000; the local eight-GPU system reports a 350 W configured/enforced power limit, so both values are labeled rather than conflated. SwPowerCap is the share of valid NVML samples, not exact time under cap. The 600 W-class design offers more headroom but still requires a matched chassis A/B.</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Shunyang Li  |  Public Technical Brief  |  October 2026</a:t>
            </a:r>
          </a:p>
        </p:txBody>
      </p:sp>
      <p:sp>
        <p:nvSpPr>
          <p:cNvPr id="3" name="Text Placeholder 2"/>
          <p:cNvSpPr>
            <a:spLocks noGrp="1"/>
          </p:cNvSpPr>
          <p:nvPr>
            <p:ph type="body" idx="11" sz="quarter"/>
          </p:nvPr>
        </p:nvSpPr>
        <p:spPr/>
        <p:txBody>
          <a:bodyPr/>
          <a:lstStyle/>
          <a:p>
            <a:r>
              <a:t>MiniMax H3 with vLLM-Omni</a:t>
            </a:r>
          </a:p>
        </p:txBody>
      </p:sp>
      <p:sp>
        <p:nvSpPr>
          <p:cNvPr id="4" name="Text Placeholder 3"/>
          <p:cNvSpPr>
            <a:spLocks noGrp="1"/>
          </p:cNvSpPr>
          <p:nvPr>
            <p:ph type="body" idx="10" sz="quarter"/>
          </p:nvPr>
        </p:nvSpPr>
        <p:spPr/>
        <p:txBody>
          <a:bodyPr/>
          <a:lstStyle/>
          <a:p>
            <a:r>
              <a:t>Real-Time Video Inference
on 8× NVIDIA RTX PRO 5000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362 frames ÷ 24 FPS = 15.08 s; real time means end-to-end latency ≤ 15.08 s</a:t>
            </a:r>
          </a:p>
        </p:txBody>
      </p:sp>
      <p:sp>
        <p:nvSpPr>
          <p:cNvPr id="3" name="Title 2"/>
          <p:cNvSpPr>
            <a:spLocks noGrp="1"/>
          </p:cNvSpPr>
          <p:nvPr>
            <p:ph type="title"/>
          </p:nvPr>
        </p:nvSpPr>
        <p:spPr/>
        <p:txBody>
          <a:bodyPr/>
          <a:lstStyle/>
          <a:p>
            <a:r>
              <a:t>Real-Time 768p Raises the Systems Bar</a:t>
            </a:r>
          </a:p>
        </p:txBody>
      </p:sp>
      <p:sp>
        <p:nvSpPr>
          <p:cNvPr id="4" name="Text Placeholder 3"/>
          <p:cNvSpPr>
            <a:spLocks noGrp="1"/>
          </p:cNvSpPr>
          <p:nvPr>
            <p:ph type="body" idx="52" sz="quarter"/>
          </p:nvPr>
        </p:nvSpPr>
        <p:spPr/>
        <p:txBody>
          <a:bodyPr/>
          <a:lstStyle/>
          <a:p>
            <a:r>
              <a:t>RTF = end-to-end latency / media duration ≤ 1. H3 is the largest dense backbone in this peer set; Wan2.2 = 27B total / 14B active.</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p:txBody>
          <a:bodyPr/>
          <a:lstStyle/>
          <a:p>
            <a:r>
              <a:t>32B encoder → 33B dense Omni Transformer → Visual/Audio VAE. 50 blocks × 50 denoising steps; full attention. ≈130 GB raw BF16; ~13B AdaLN cacheable.</a:t>
            </a:r>
          </a:p>
        </p:txBody>
      </p:sp>
      <p:sp>
        <p:nvSpPr>
          <p:cNvPr id="8" name="Text Placeholder 7"/>
          <p:cNvSpPr>
            <a:spLocks noGrp="1"/>
          </p:cNvSpPr>
          <p:nvPr>
            <p:ph type="body" idx="55" sz="quarter"/>
          </p:nvPr>
        </p:nvSpPr>
        <p:spPr/>
        <p:txBody>
          <a:bodyPr/>
          <a:lstStyle/>
          <a:p>
            <a:r>
              <a:t>OPEN H3-BASE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MiniMax H3, Wan2.2, LTX-2.5 and HunyuanVideo-1.5 official releases · author 362-frame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2</a:t>
            </a:fld>
            <a:endParaRPr lang="en-US"/>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ComfyUI authors workflows; vLLM-Omni serves them across multiple GPUs</a:t>
            </a:r>
          </a:p>
        </p:txBody>
      </p:sp>
      <p:sp>
        <p:nvSpPr>
          <p:cNvPr id="3" name="Title 2"/>
          <p:cNvSpPr>
            <a:spLocks noGrp="1"/>
          </p:cNvSpPr>
          <p:nvPr>
            <p:ph type="title"/>
          </p:nvPr>
        </p:nvSpPr>
        <p:spPr/>
        <p:txBody>
          <a:bodyPr/>
          <a:lstStyle/>
          <a:p>
            <a:r>
              <a:t>vLLM-Omni Adds Multi-GPU Serving to ComfyUI</a:t>
            </a:r>
          </a:p>
        </p:txBody>
      </p:sp>
      <p:sp>
        <p:nvSpPr>
          <p:cNvPr id="4" name="Text Placeholder 3"/>
          <p:cNvSpPr>
            <a:spLocks noGrp="1"/>
          </p:cNvSpPr>
          <p:nvPr>
            <p:ph type="body" idx="52" sz="quarter"/>
          </p:nvPr>
        </p:nvSpPr>
        <p:spPr/>
        <p:txBody>
          <a:bodyPr/>
          <a:lstStyle/>
          <a:p>
            <a:r>
              <a:t>One serving layer spans multimodal inputs, autoregressive reasoning, and diffusion generation</a:t>
            </a:r>
          </a:p>
        </p:txBody>
      </p:sp>
      <p:sp>
        <p:nvSpPr>
          <p:cNvPr id="5" name="Text Placeholder 4"/>
          <p:cNvSpPr>
            <a:spLocks noGrp="1"/>
          </p:cNvSpPr>
          <p:nvPr>
            <p:ph type="body" idx="51" sz="quarter"/>
          </p:nvPr>
        </p:nvSpPr>
        <p:spPr/>
        <p:txBody>
          <a:bodyPr/>
          <a:lstStyle/>
          <a:p>
            <a:r>
              <a:t>Official vLLM-Omni Architecture</a:t>
            </a:r>
          </a:p>
        </p:txBody>
      </p:sp>
      <p:pic>
        <p:nvPicPr>
          <p:cNvPr id="6" name="Picture Placeholder 5" descr="vllm-omni-architecture-official-16x9.png"/>
          <p:cNvPicPr>
            <a:picLocks noGrp="1" noChangeAspect="1"/>
          </p:cNvPicPr>
          <p:nvPr>
            <p:ph type="pic" idx="53" sz="quarter"/>
          </p:nvPr>
        </p:nvPicPr>
        <p:blipFill>
          <a:blip r:embed="rId3"/>
          <a:srcRect l="37" r="37"/>
          <a:stretch>
            <a:fillRect/>
          </a:stretch>
        </p:blipFill>
        <p:spPr/>
      </p:pic>
      <p:sp>
        <p:nvSpPr>
          <p:cNvPr id="7" name="Text Placeholder 6"/>
          <p:cNvSpPr>
            <a:spLocks noGrp="1"/>
          </p:cNvSpPr>
          <p:nvPr>
            <p:ph type="body" idx="54" sz="quarter"/>
          </p:nvPr>
        </p:nvSpPr>
        <p:spPr/>
        <p:txBody>
          <a:bodyPr/>
          <a:lstStyle/>
          <a:p>
            <a:r>
              <a:t>MiniMax H3 character replacement calls the vLLM-Omni Generate Video endpoint; PR #9194 is open</a:t>
            </a:r>
          </a:p>
        </p:txBody>
      </p:sp>
      <p:sp>
        <p:nvSpPr>
          <p:cNvPr id="8" name="Text Placeholder 7"/>
          <p:cNvSpPr>
            <a:spLocks noGrp="1"/>
          </p:cNvSpPr>
          <p:nvPr>
            <p:ph type="body" idx="55" sz="quarter"/>
          </p:nvPr>
        </p:nvSpPr>
        <p:spPr/>
        <p:txBody>
          <a:bodyPr/>
          <a:lstStyle/>
          <a:p>
            <a:r>
              <a:t>ComfyUI Workflow · PR #9194</a:t>
            </a:r>
          </a:p>
        </p:txBody>
      </p:sp>
      <p:pic>
        <p:nvPicPr>
          <p:cNvPr id="9" name="Picture Placeholder 8" descr="pr9194_comfyui_single_character_workflow-16x9.png"/>
          <p:cNvPicPr>
            <a:picLocks noGrp="1" noChangeAspect="1"/>
          </p:cNvPicPr>
          <p:nvPr>
            <p:ph type="pic" idx="56" sz="quarter"/>
          </p:nvPr>
        </p:nvPicPr>
        <p:blipFill>
          <a:blip r:embed="rId4"/>
          <a:srcRect l="28" r="28"/>
          <a:stretch>
            <a:fillRect/>
          </a:stretch>
        </p:blipFill>
        <p:spPr/>
      </p:pic>
      <p:sp>
        <p:nvSpPr>
          <p:cNvPr id="10"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vLLM-Omni v0.26 public deck, slide 22 · vLLM-Omni PR #9194 (open)</a:t>
            </a:r>
            <a:endParaRPr lang="en-US" dirty="0"/>
          </a:p>
        </p:txBody>
      </p:sp>
      <p:sp>
        <p:nvSpPr>
          <p:cNvPr id="11"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3</a:t>
            </a:fld>
            <a:endParaRPr lang="en-US"/>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SM120 compute is strong; PCIe-only scaling and sustained clocks set the eight-GPU envelope</a:t>
            </a:r>
          </a:p>
        </p:txBody>
      </p:sp>
      <p:sp>
        <p:nvSpPr>
          <p:cNvPr id="3" name="Title 2"/>
          <p:cNvSpPr>
            <a:spLocks noGrp="1"/>
          </p:cNvSpPr>
          <p:nvPr>
            <p:ph type="title"/>
          </p:nvPr>
        </p:nvSpPr>
        <p:spPr/>
        <p:txBody>
          <a:bodyPr/>
          <a:lstStyle/>
          <a:p>
            <a:r>
              <a:t>Frontier Models · The Cards</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4</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275" cy="10799064"/>
        </p:xfrm>
        <a:graphic>
          <a:graphicData uri="http://schemas.openxmlformats.org/drawingml/2006/table">
            <a:tbl>
              <a:tblPr firstRow="1" bandRow="1">
                <a:tableStyleId>{68D230F3-CF80-4859-8CE7-A43EE81993B5}</a:tableStyleId>
              </a:tblPr>
              <a:tblGrid>
                <a:gridCol w="5654055">
                  <a:extLst>
                    <a:ext uri="{9D8B030D-6E8A-4147-A177-3AD203B41FA5}">
                      <a16:colId xmlns:a16="http://schemas.microsoft.com/office/drawing/2014/main" val="1714626306"/>
                    </a:ext>
                  </a:extLst>
                </a:gridCol>
                <a:gridCol w="5654055">
                  <a:extLst>
                    <a:ext uri="{9D8B030D-6E8A-4147-A177-3AD203B41FA5}">
                      <a16:colId xmlns:a16="http://schemas.microsoft.com/office/drawing/2014/main" val="1697748500"/>
                    </a:ext>
                  </a:extLst>
                </a:gridCol>
                <a:gridCol w="5654055">
                  <a:extLst>
                    <a:ext uri="{9D8B030D-6E8A-4147-A177-3AD203B41FA5}">
                      <a16:colId xmlns:a16="http://schemas.microsoft.com/office/drawing/2014/main" val="3872581152"/>
                    </a:ext>
                  </a:extLst>
                </a:gridCol>
                <a:gridCol w="5654055">
                  <a:extLst>
                    <a:ext uri="{9D8B030D-6E8A-4147-A177-3AD203B41FA5}">
                      <a16:colId xmlns:a16="http://schemas.microsoft.com/office/drawing/2014/main" val="2543914041"/>
                    </a:ext>
                  </a:extLst>
                </a:gridCol>
                <a:gridCol w="5654055">
                  <a:extLst>
                    <a:ext uri="{9D8B030D-6E8A-4147-A177-3AD203B41FA5}">
                      <a16:colId xmlns:a16="http://schemas.microsoft.com/office/drawing/2014/main" val="242183905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CC / SMs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Power</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Interconnect</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5000
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110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300 W public TBP
350 W local*</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6000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188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600 W</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12.0
170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575 W</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12.1
48 SMs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140 W SoC
240 W system</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Sources: NVIDIA specs + CUDA GPU table · local clock study: SwPowerCap 94.8–100%; −6.78%</a:t>
            </a:r>
            <a:endParaRPr lang="en-US" dirty="0"/>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Inference on 8 NVIDIA RTX PRO GPUs</dc:title>
  <dc:subject>Public technical brief on distributed video inference</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