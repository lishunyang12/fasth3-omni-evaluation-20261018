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 id="344" r:id="rId86"/>
    <p:sldId id="345" r:id="rId87"/>
    <p:sldId id="346" r:id="rId88"/>
    <p:sldId id="347" r:id="rId89"/>
    <p:sldId id="348" r:id="rId90"/>
    <p:sldId id="349" r:id="rId91"/>
    <p:sldId id="350" r:id="rId92"/>
    <p:sldId id="351" r:id="rId93"/>
    <p:sldId id="352" r:id="rId94"/>
    <p:sldId id="353" r:id="rId95"/>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 Id="rId86" Type="http://schemas.openxmlformats.org/officeDocument/2006/relationships/slide" Target="slides/slide63.xml"/><Relationship Id="rId87" Type="http://schemas.openxmlformats.org/officeDocument/2006/relationships/slide" Target="slides/slide64.xml"/><Relationship Id="rId88" Type="http://schemas.openxmlformats.org/officeDocument/2006/relationships/slide" Target="slides/slide65.xml"/><Relationship Id="rId89" Type="http://schemas.openxmlformats.org/officeDocument/2006/relationships/slide" Target="slides/slide66.xml"/><Relationship Id="rId90" Type="http://schemas.openxmlformats.org/officeDocument/2006/relationships/slide" Target="slides/slide67.xml"/><Relationship Id="rId91" Type="http://schemas.openxmlformats.org/officeDocument/2006/relationships/slide" Target="slides/slide68.xml"/><Relationship Id="rId92" Type="http://schemas.openxmlformats.org/officeDocument/2006/relationships/slide" Target="slides/slide69.xml"/><Relationship Id="rId93" Type="http://schemas.openxmlformats.org/officeDocument/2006/relationships/slide" Target="slides/slide70.xml"/><Relationship Id="rId94" Type="http://schemas.openxmlformats.org/officeDocument/2006/relationships/slide" Target="slides/slide71.xml"/><Relationship Id="rId95" Type="http://schemas.openxmlformats.org/officeDocument/2006/relationships/slide" Target="slides/slide72.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Pt>
            <c:idx val="3"/>
            <c:spPr>
              <a:solidFill>
                <a:schemeClr val="accent6"/>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covers the real-time target, platform constraints, bottleneck analysis, distributed optimization, and validation. Part two uses the public ComfyUI integration and PR #9194 workflows as the application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moves from the real-time definition to the eight-GPU baseline, bottleneck analysis, optimization, and validation.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On click, the slide reveals the selected RTX PRO 5000 row and the eight-GPU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measured baseline is MiniMax H3 Base Ref2VA at 960x544, 124 frames, 24 FPS, 50 denoising steps, BF16, and eight RTX PRO 5000 GPUs with USP8. Communication uses local NCCL; RDMA is disabled. The media duration is exactly 124 / 24 = 5.1667 seconds, shown as 5.167 seconds. The five rows are mutually exclusive accounting buckets. Three steady measured requests took 247.956, 246.201 and 248.298 seconds; the median is 247.956 seconds and RTF 47.992. All three measured outputs share one SHA-256 and fully decode. The maximum sampled steady-state memory is 60,813 MiB on one GPU; cold initialize reaches 72,539 MiB, leaving 876 MiB of the 73,415 MiB visible capacity. The matched Nsight request passed the eight-device, kernel-count, attribution, transport and exclusive-accounting gates, and its CUDA kernel and memory totals match independent nsys stats exactly. The displayed denominator is kernel, memcpy and memset duration summed across all eight GPUs; it is aggregate GPU operation time, so concurrent device and stream work prevents interpreting these shares as E2E wall-clock latency. NCCL kernel duration includes synchronization and waiting, so its 46.2 percent share is not an achieved-bandwidth measurement. DiT host-to-device copies contribute 295.5 aggregate GPU-seconds and 8.94 TB of CUPTI logical bytes; the launch configuration identifies this as the default SM120 weight-offload path. Step distillation comes first because it reduces the entire repeated DiT loop before attention, GEMM, and communication kernel tuning. The public task-specific H3 Ref2VA PDD release is the eight-NFE lane. This predicts interval means rather than retaining eight of the original 50 solver steps. Relative to this 50-step workload, block executions fall from 2,500 to 400 (84% fewer); that is workload arithmetic, not an end-to-end speedup claim. The Nsight rows use five exclusive operation-time buckets over kernels, memcpy and memset aggregated across eight ranks. VSA, NVFP4 W4A4 QAD linears plus SageAttention, and communication overlap follow. NIC-based GPUDirect RDMA is a later, topology-qualified path and is not part of this local-NCCL baseline.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locked Base workload uses 50 denoising evaluations and 50 DiT blocks, for 2,500 repeated block executions. The released task-specific H3 Ref2VA PDD adapter is the eight-NFE lane. Its public loader uses 32 fine intervals with a block size of four, so one transformer evaluation predicts four interval means and the complete schedule takes eight evaluations. It therefore executes 8 times 50, or 400, DiT blocks: 84 percent fewer than Base50. This removes attention, GEMM/MLP and USP communication together. PDD does not retain eight of the original 50 solver steps, and 2,500 to 400 is workload arithmetic, not a measured end-to-end speedup. NVIDIA Figure 2 is the generic N=12, L=4 mechanism illustration; the H3 N=32, L=4 schedule is stated separately. Matched 960x544 latency, peak memory and quality remain pending.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PDD removes denoiser calls, dense attention still compares every valid token with every other valid token. For the locked 544P request, 34,373 valid packed rows imply 1,181,503,129 candidate pairs for each head in each DiT block. Video Sparse Attention first partitions the video latent into spatiotemporal cubes. In the paper default, a 4 by 4 by 4 cube represents 64 tokens. Coarse global attention scores the cubes, top-k selection chooses the relevant regions, and fine sparse attention gathers the original K and V tokens only from selected cubes; a learned gate combines coarse and fine outputs. The paper default uses Kc=32. Keep three implementation granularities separate: the paper cube contains 64 tokens, the current H3 logical routing tile is 128 rows, and the fine kernel tile is 64 rows. VSA reduces attended token pairs and attention compute. In the current strict Ulysses route, Q, K and V are exchanged before attention and O is exchanged on the return path, so VSA alone does not automatically reduce collective payload; the learned gate adds a Q-sized forward exchange when present. The public Ref2VA PDD8 adapter and public FastH3 VSA student are separate artifacts, so this slide describes the optimization sequence rather than claiming a released combined checkpoint. The communication result is source-derived, not a measured bandwidth claim.</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QAD is an accuracy-recovery training method: a quantized student learns under a frozen BF16 teacher. The public FastH3 Omni NVFP4-QAD artifact is an eight-forward Ref2VA checkpoint with its own PDD grid 32, 90 percent VSA and tile128 contract. The local vLLM-Omni Sage-VSA route is a separate tile64 SM120 path. It accepts BF16 tensors, quantizes Q and mean-centered K to INT8 and V to FP8 E4M3 inside the sparse fine attention kernel, and returns BF16. The token refiner stays on Torch SDPA. Ulysses exchanges Q, K and V before this local quantization and exchanges O afterward, so the current collective payload remains BF16. Do not add the public QAD artifact, Alibaba Ref2VA PDD adapter, tile64 VSA and local Sage kernel into one cumulative speedup until the exact combined path passes matched latency and quality validation.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Strict Ulysses runs three forward Q, K and V all-to-alls and one reverse O all-to-all in each of 50 DiT blocks. At 50 denoiser evaluations that is 10,000 synchronized collective rounds. The 4.319 TB figure counts remote logical payload once at the sender. It excludes protocol and topology amplification and is not a wire-byte measurement. Dividing by the 5.167-second media duration gives a lower-bound payload rate, not an observed link rate. PDD8 removes the global step multiplier, but VSA and SageAttention do not automatically shrink BF16 Q, K, V and O exchange; overlap, exchanged dtype and layout, and topology-qualified RDMA must be measured separately.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as an evidence ledger, not as a performance ladder. Green means the exact locked benchmark. Blue means a result qualified inside its own study but not comparable with the green row. Orange is the acceptance work still required before we publish a cumulative optimization story.</a:t>
            </a:r>
          </a:p>
          <a:p/>
          <a:p>
            <a:r>
              <a:t>Row A is the only current result on the locked MiniMax H3 Base Ref2VA request: 960 by 544, 124 frames at 24 FPS, 5.1667 seconds of media, the Miles reference image and voice, the locked prompt, seed 43, 50 denoising steps, BF16 dense attention, eight RTX PRO 5000 GPUs, TP1 and USP8, local NCCL, and no RDMA. After initialization and one warmup, three formal requests took 247.956, 246.201, and 248.298 seconds. The median is 247.956 seconds, or RTF 47.992. All three formal outputs and the warmup share the same MP4 SHA-256 and fully decode. The 70.84 GiB value is the maximum sampled whole-device reading across ranks over cold initialization and steady requests. It is not a PyTorch allocator high-water mark, and the ranks are materially imbalanced. Slide 6 reports the same run as 60,813 MiB steady and 72,539 MiB during cold initialization.</a:t>
            </a:r>
          </a:p>
          <a:p/>
          <a:p>
            <a:r>
              <a:t>Row B is a different 15.083-second request: 960 by 544, 362 frames, one Zhiwei image, no external voice, an eight-forward NVFP4-QAD 36-layer decoder with VSA, and three samples per arm. Its original NCCL control averaged 17.681 seconds, while the final production arm averaged 14.974 seconds, changing RTF from 1.172 to 0.993. All three final requests met the 15.083-second media-duration budget. This is not sustained-stream evidence; the worst final request was 14.999848 seconds, only 0.152 milliseconds below a nominal 15.000-second threshold. The RDMA path also changes direct Ulysses layout handling, so its delta must not be described as isolated network transport.</a:t>
            </a:r>
          </a:p>
          <a:p/>
          <a:p>
            <a:r>
              <a:t>Row C is internally paired but historical. Both arms use the same 960 by 544, 243-frame input and seed in that study. The original Base50 arm took 263.847 seconds; a distinct four-step Turbo, MXFP8, dense-Sage, NVFP4-VAE, TP1/SP8 and RDMA production stack took 6.958 seconds. RTF moves from 26.059 to 0.687. There is one formal sample per arm, and many material axes change together. This proves endpoint feasibility for that study, not a PDD8, VSA, QAD, Sage, or RDMA ablation.</a:t>
            </a:r>
          </a:p>
          <a:p/>
          <a:p>
            <a:r>
              <a:t>Row D is the portrait live-avatar workload: 576 by 1024, a 124-frame request window with five-frame overlap, and therefore 119 new frames or 4.958 seconds of new media per continuation. It uses a four-step MXFP8 stack, BF16 Sage on the first sensitive attention path, NVFP4 video VAE, USP8 and RDMA. The initial request took 4.644 seconds. Five continuations have a 4.459-second median and RTF 0.899. The n label 1 + 5 means one initial request plus five continuation requests; it is not six steady samples. This is useful live-feasibility evidence, but it has no matched Base50 arm, no long-run P95, and no complete perceptual or lip-sync qualification.</a:t>
            </a:r>
          </a:p>
          <a:p/>
          <a:p>
            <a:r>
              <a:t>The orange row is the publication gate. Keep the row-A image, audio, prompt, seed, geometry, frame count, request mode, hardware placement, timing boundary and memory method fixed. Measure Base50, PDD8, PDD8 plus VSA, the selected QAD or Sage path, and the RDMA plus overlap path with at least three steady requests per stage. Record end-to-end latency, RTF, peak GPU memory under one method, output exactness or a stated quality metric, and matched Nsight cost centers and overlap. Only then may these stages be connected as a cumulative waterfall.</a:t>
            </a:r>
          </a:p>
          <a:p/>
          <a:p>
            <a:r>
              <a:t>The four-GPU real-RDMA precheck on the previous slide is correctness-only and is therefore absent from the performance rows. It did not run the full eight-GPU H3 model, measure end-to-end latency, or measure overlap. The 87.11 percent overlap value belongs to the separate 362-frame QAD trace and must not be attached to the Base50 row. A successful 1344 by 768 PDD8/VSA BF16 study is also component evidence only and does not fill a stage in the locked 544P chain.</a:t>
            </a:r>
          </a:p>
          <a:p/>
          <a:p>
            <a:r>
              <a:t>Visible footer note: the 70.84 GiB value is the whole-device nvidia-smi maximum across cold and steady execution, not allocator high-water. Rows B through D are independent evidence, not a staged sequence.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focuses on ComfyUI workflows backed by vLLM-Omni multi-GPU serving, beginning with the public MiniMax H3 character-replacement work in PR #9194.</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part two. It uses the official vLLM-Omni architecture and the public PR #9194 ComfyUI character-replacement workflow. The pull request is open as of October 24,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0.png"/></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8× RTX PRO 5000 · vLLM-Omni + ComfyUI</a:t>
            </a:r>
          </a:p>
        </p:txBody>
      </p:sp>
      <p:sp>
        <p:nvSpPr>
          <p:cNvPr id="4" name="Text Placeholder 3"/>
          <p:cNvSpPr>
            <a:spLocks noGrp="1"/>
          </p:cNvSpPr>
          <p:nvPr>
            <p:ph type="body" idx="10" sz="quarter"/>
          </p:nvPr>
        </p:nvSpPr>
        <p:spPr/>
        <p:txBody>
          <a:bodyPr/>
          <a:lstStyle/>
          <a:p>
            <a:r>
              <a:t>Real-Time Video Generation
with MiniMax H3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01  Toward Real-Time H3 Generation</a:t>
            </a:r>
          </a:p>
          <a:p>
            <a:r>
              <a:t>02  vLLM-Omni + ComfyUI Applications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01 · Real-Time H3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124 frames at 24 FPS, real time requires end-to-end latency &lt; 5.167 s (RTF &lt; 1.0)</a:t>
            </a:r>
          </a:p>
        </p:txBody>
      </p:sp>
      <p:sp>
        <p:nvSpPr>
          <p:cNvPr id="3" name="Title 2"/>
          <p:cNvSpPr>
            <a:spLocks noGrp="1"/>
          </p:cNvSpPr>
          <p:nvPr>
            <p:ph type="title"/>
          </p:nvPr>
        </p:nvSpPr>
        <p:spPr/>
        <p:txBody>
          <a:bodyPr/>
          <a:lstStyle/>
          <a:p>
            <a:r>
              <a:t>Real-Time Ref2VA Raises the Systems Bar</a:t>
            </a:r>
          </a:p>
        </p:txBody>
      </p:sp>
      <p:sp>
        <p:nvSpPr>
          <p:cNvPr id="4" name="Text Placeholder 3"/>
          <p:cNvSpPr>
            <a:spLocks noGrp="1"/>
          </p:cNvSpPr>
          <p:nvPr>
            <p:ph type="body" idx="52" sz="quarter"/>
          </p:nvPr>
        </p:nvSpPr>
        <p:spPr/>
        <p:txBody>
          <a:bodyPr/>
          <a:lstStyle/>
          <a:p>
            <a:r>
              <a:t>RTF = latency / media duration. The real-time deadline here is 5.167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4</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Every discrete SM120 card combines fifth-generation Tensor Cores with FP4 and GDDR7; memory capacity and PCIe-to-fabric bandwidth define the deployment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5</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firstRow="1" bandRow="1">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110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Planned: NIC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188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170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SM121 · 48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 Planned system path; GPUDirect RDMA requires a compatible NIC and PCIe topology · Sources: NVIDIA product specs, CUDA GPU table, GPUDirect RDMA guide</a:t>
            </a:r>
            <a:endParaRPr lang="en-US" dirty="0"/>
          </a:p>
        </p:txBody>
      </p:sp>
      <p:cxnSp>
        <p:nvCxnSpPr>
          <p:cNvPr id="7" name="Selected RTX PRO 5000 Top">
            <a:extLst>
              <a:ext uri="{FF2B5EF4-FFF2-40B4-BE49-F238E27FC236}">
                <a16:creationId xmlns:a16="http://schemas.microsoft.com/office/drawing/2014/main" id="{F54C2F02-CA89-E9E9-1E67-E8559241B4DA}"/>
              </a:ext>
            </a:extLst>
          </p:cNvPr>
          <p:cNvCxnSpPr>
            <a:cxnSpLocks/>
          </p:cNvCxnSpPr>
          <p:nvPr/>
        </p:nvCxnSpPr>
        <p:spPr>
          <a:xfrm>
            <a:off x="4152826" y="7087091"/>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8" name="Selected RTX PRO 5000 Bottom">
            <a:extLst>
              <a:ext uri="{FF2B5EF4-FFF2-40B4-BE49-F238E27FC236}">
                <a16:creationId xmlns:a16="http://schemas.microsoft.com/office/drawing/2014/main" id="{F54C2F02-CA89-E9E9-1E67-E8559241B4DA}"/>
              </a:ext>
            </a:extLst>
          </p:cNvPr>
          <p:cNvCxnSpPr>
            <a:cxnSpLocks/>
          </p:cNvCxnSpPr>
          <p:nvPr/>
        </p:nvCxnSpPr>
        <p:spPr>
          <a:xfrm>
            <a:off x="4152826" y="9496535"/>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9" name="Selected RTX PRO 5000 Left">
            <a:extLst>
              <a:ext uri="{FF2B5EF4-FFF2-40B4-BE49-F238E27FC236}">
                <a16:creationId xmlns:a16="http://schemas.microsoft.com/office/drawing/2014/main" id="{F54C2F02-CA89-E9E9-1E67-E8559241B4DA}"/>
              </a:ext>
            </a:extLst>
          </p:cNvPr>
          <p:cNvCxnSpPr>
            <a:cxnSpLocks/>
          </p:cNvCxnSpPr>
          <p:nvPr/>
        </p:nvCxnSpPr>
        <p:spPr>
          <a:xfrm>
            <a:off x="4152826"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10" name="Selected RTX PRO 5000 Right">
            <a:extLst>
              <a:ext uri="{FF2B5EF4-FFF2-40B4-BE49-F238E27FC236}">
                <a16:creationId xmlns:a16="http://schemas.microsoft.com/office/drawing/2014/main" id="{F54C2F02-CA89-E9E9-1E67-E8559241B4DA}"/>
              </a:ext>
            </a:extLst>
          </p:cNvPr>
          <p:cNvCxnSpPr>
            <a:cxnSpLocks/>
          </p:cNvCxnSpPr>
          <p:nvPr/>
        </p:nvCxnSpPr>
        <p:spPr>
          <a:xfrm>
            <a:off x="32423147"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1" name="Eight GPUs"/>
          <p:cNvSpPr txBox="1"/>
          <p:nvPr/>
        </p:nvSpPr>
        <p:spPr>
          <a:xfrm>
            <a:off x="32662368" y="7516368"/>
            <a:ext cx="2011680" cy="1005840"/>
          </a:xfrm>
          <a:prstGeom prst="rect">
            <a:avLst/>
          </a:prstGeom>
          <a:noFill/>
        </p:spPr>
        <p:txBody>
          <a:bodyPr wrap="square" anchor="ctr" lIns="0" rIns="0" tIns="0" bIns="0">
            <a:spAutoFit/>
          </a:bodyPr>
          <a:lstStyle/>
          <a:p>
            <a:pPr algn="ctr">
              <a:spcBef>
                <a:spcPts val="0"/>
              </a:spcBef>
              <a:spcAft>
                <a:spcPts val="0"/>
              </a:spcAft>
              <a:buNone/>
            </a:pPr>
            <a:r>
              <a:rPr sz="6000" b="1" i="0">
                <a:solidFill>
                  <a:srgbClr val="76B900"/>
                </a:solidFill>
                <a:latin typeface="NVIDIA Sans Medium"/>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fill="hold" nodeType="clickEffect" presetClass="entr" presetID="1" presetSubtype="0">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fill="hold" nodeType="withEffect" presetClass="entr" presetID="1" presetSubtype="0">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fill="hold" nodeType="withEffect" presetClass="entr" presetID="1" presetSubtype="0">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fill="hold" nodeType="withEffect" presetClass="entr" presetID="1" presetSubtype="0">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fill="hold" nodeType="withEffect" presetClass="entr" presetID="1" presetSubtype="0">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MiniMax H3 Base Ref2VA · 960×544 · 124f @ 24 FPS · 50 steps · BF16 · 8× RTX PRO 5000</a:t>
            </a:r>
          </a:p>
        </p:txBody>
      </p:sp>
      <p:sp>
        <p:nvSpPr>
          <p:cNvPr id="3" name="Title 2"/>
          <p:cNvSpPr>
            <a:spLocks noGrp="1"/>
          </p:cNvSpPr>
          <p:nvPr>
            <p:ph type="title"/>
          </p:nvPr>
        </p:nvSpPr>
        <p:spPr/>
        <p:txBody>
          <a:bodyPr/>
          <a:lstStyle/>
          <a:p>
            <a:r>
              <a:t>Base50 Takes 248 s; NCCL + Copies Account for 61.7% of GPU Operation Time</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6</a:t>
            </a:fld>
            <a:endParaRPr lang="en-US"/>
          </a:p>
        </p:txBody>
      </p:sp>
      <p:graphicFrame>
        <p:nvGraphicFramePr>
          <p:cNvPr id="5" name="Official NVIDIA Baselin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50"/>
        </p:xfrm>
        <a:graphic>
          <a:graphicData uri="http://schemas.openxmlformats.org/drawingml/2006/table">
            <a:tbl>
              <a:tblPr firstRow="1" bandRow="1">
                <a:tableStyleId>{68D230F3-CF80-4859-8CE7-A43EE81993B5}</a:tableStyleId>
              </a:tblPr>
              <a:tblGrid>
                <a:gridCol w="5577840">
                  <a:extLst>
                    <a:ext uri="{9D8B030D-6E8A-4147-A177-3AD203B41FA5}">
                      <a16:colId xmlns:a16="http://schemas.microsoft.com/office/drawing/2014/main" val="1714626306"/>
                    </a:ext>
                  </a:extLst>
                </a:gridCol>
                <a:gridCol w="5486400">
                  <a:extLst>
                    <a:ext uri="{9D8B030D-6E8A-4147-A177-3AD203B41FA5}">
                      <a16:colId xmlns:a16="http://schemas.microsoft.com/office/drawing/2014/main" val="1697748500"/>
                    </a:ext>
                  </a:extLst>
                </a:gridCol>
                <a:gridCol w="2468880">
                  <a:extLst>
                    <a:ext uri="{9D8B030D-6E8A-4147-A177-3AD203B41FA5}">
                      <a16:colId xmlns:a16="http://schemas.microsoft.com/office/drawing/2014/main" val="3872581152"/>
                    </a:ext>
                  </a:extLst>
                </a:gridCol>
                <a:gridCol w="14737201">
                  <a:extLst>
                    <a:ext uri="{9D8B030D-6E8A-4147-A177-3AD203B41FA5}">
                      <a16:colId xmlns:a16="http://schemas.microsoft.com/office/drawing/2014/main" val="2543914041"/>
                    </a:ext>
                  </a:extLst>
                </a:gridCol>
              </a:tblGrid>
              <a:tr h="1325880">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Metric / cost center</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Time*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Share / RTF</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Evidence · scaling reason · intended optimization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114300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chemeClr val="accent6"/>
                          </a:solidFill>
                          <a:effectLst/>
                          <a:uLnTx/>
                          <a:uFillTx/>
                          <a:latin typeface="+mj-lt"/>
                        </a:rPr>
                        <a:t>MEASURED BASELINE</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chemeClr val="accent1"/>
                          </a:solidFill>
                          <a:latin typeface="+mn-lt"/>
                        </a:rPr>
                        <a:t>247.956 s median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chemeClr val="accent1"/>
                          </a:solidFill>
                          <a:latin typeface="+mn-lt"/>
                        </a:rPr>
                        <a:t>RTF 47.992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EF9100"/>
                          </a:solidFill>
                          <a:latin typeface="+mn-lt"/>
                        </a:rPr>
                        <a:t>Max sampled GPU memory 60,813 MiB steady · 72,539 MiB cold initialize</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14365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0074DF"/>
                          </a:solidFill>
                          <a:effectLst/>
                          <a:uLnTx/>
                          <a:uFillTx/>
                          <a:latin typeface="+mj-lt"/>
                        </a:rPr>
                        <a:t>DiT attention</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362.6 GPU-s · 45.3 s/GPU</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0074DF"/>
                          </a:solidFill>
                          <a:latin typeface="+mn-lt"/>
                        </a:rPr>
                        <a:t>18.3%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20,000 dense cuDNN SDPA launches · VSA, then SageAttention</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14365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952FC6"/>
                          </a:solidFill>
                          <a:effectLst/>
                          <a:uLnTx/>
                          <a:uFillTx/>
                          <a:latin typeface="+mj-lt"/>
                        </a:rPr>
                        <a:t>DiT GEMM / MLP</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313.7 GPU-s · 39.2 s/GPU</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952FC6"/>
                          </a:solidFill>
                          <a:latin typeface="+mn-lt"/>
                        </a:rPr>
                        <a:t>15.8%</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142,496 measured ops · NVFP4 W4A4 QAD linears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14365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EF9100"/>
                          </a:solidFill>
                          <a:effectLst/>
                          <a:uLnTx/>
                          <a:uFillTx/>
                          <a:latin typeface="+mj-lt"/>
                        </a:rPr>
                        <a:t>DiT NCCL collectives</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917.8 GPU-s · 114.7 s/GPU</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EF9100"/>
                          </a:solidFill>
                          <a:latin typeface="+mn-lt"/>
                        </a:rPr>
                        <a:t>46.2%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10,000/rank SendRecv launches · overlap; GPUDirect RDMA later</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r h="14365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1DBBA4"/>
                          </a:solidFill>
                          <a:effectLst/>
                          <a:uLnTx/>
                          <a:uFillTx/>
                          <a:latin typeface="+mj-lt"/>
                        </a:rPr>
                        <a:t>DiT H→D / layout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307.8 GPU-s · 38.5 s/GPU</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1DBBA4"/>
                          </a:solidFill>
                          <a:latin typeface="+mn-lt"/>
                        </a:rPr>
                        <a:t>15.5%</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CUPTI: 8.94 TB logical H→D across 8 GPUs · lower precision / residency</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690260899"/>
                  </a:ext>
                </a:extLst>
              </a:tr>
              <a:tr h="14365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757575"/>
                          </a:solidFill>
                          <a:effectLst/>
                          <a:uLnTx/>
                          <a:uFillTx/>
                          <a:latin typeface="+mj-lt"/>
                        </a:rPr>
                        <a:t>VAE + other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84.6 GPU-s · 10.6 s/GPU</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757575"/>
                          </a:solidFill>
                          <a:latin typeface="+mn-lt"/>
                        </a:rPr>
                        <a:t>4.3%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Text encoding, VAE and residual DiT work · optimize after the repeated loop</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618141472"/>
                  </a:ext>
                </a:extLst>
              </a:tr>
              <a:tr h="114300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chemeClr val="accent1"/>
                          </a:solidFill>
                          <a:effectLst/>
                          <a:uLnTx/>
                          <a:uFillTx/>
                          <a:latin typeface="+mj-lt"/>
                        </a:rPr>
                        <a:t>STEP REDUCTION FIRST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0">
                          <a:solidFill>
                            <a:schemeClr val="accent6"/>
                          </a:solidFill>
                          <a:latin typeface="+mn-lt"/>
                        </a:rPr>
                        <a:t>Base50 · 2,500 block calls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0">
                          <a:solidFill>
                            <a:schemeClr val="accent6"/>
                          </a:solidFill>
                          <a:latin typeface="+mn-lt"/>
                        </a:rPr>
                        <a: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0">
                          <a:solidFill>
                            <a:schemeClr val="accent6"/>
                          </a:solidFill>
                          <a:latin typeface="+mn-lt"/>
                        </a:rPr>
                        <a:t>PDD8 · 400 calls (−84%)  →  VSA  →  NVFP4 QAD + Sage  →  comm overlap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864763436"/>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Base50 n=3 E2E median · Nsight matched request: Σ8 GPU operation time (kernel + memcpy + memset), not E2E · local NCCL · RDMA off</a:t>
            </a:r>
            <a:endParaRPr lang="en-US"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wrap="square" lIns="0" rIns="0" tIns="0" bIns="0"/>
          <a:lstStyle/>
          <a:p>
            <a:pPr algn="l">
              <a:spcBef>
                <a:spcPts val="0"/>
              </a:spcBef>
              <a:spcAft>
                <a:spcPts val="300"/>
              </a:spcAft>
              <a:buNone/>
            </a:pPr>
            <a:r>
              <a:rPr sz="2800" b="1" i="0">
                <a:solidFill>
                  <a:srgbClr val="757575"/>
                </a:solidFill>
                <a:latin typeface="NVIDIA Sans Medium"/>
              </a:rPr>
              <a:t>BASE REF2VA</a:t>
            </a:r>
          </a:p>
          <a:p>
            <a:pPr algn="l">
              <a:spcBef>
                <a:spcPts val="0"/>
              </a:spcBef>
              <a:spcAft>
                <a:spcPts val="100"/>
              </a:spcAft>
              <a:buNone/>
            </a:pPr>
            <a:r>
              <a:rPr sz="4000" b="1" i="0">
                <a:solidFill>
                  <a:srgbClr val="313131"/>
                </a:solidFill>
                <a:latin typeface="NVIDIA Sans Medium"/>
              </a:rPr>
              <a:t>50 NFE × 50 blocks = 2,500</a:t>
            </a:r>
          </a:p>
          <a:p>
            <a:pPr algn="l">
              <a:spcBef>
                <a:spcPts val="0"/>
              </a:spcBef>
              <a:spcAft>
                <a:spcPts val="1300"/>
              </a:spcAft>
              <a:buNone/>
            </a:pPr>
            <a:r>
              <a:rPr sz="2600" b="0" i="0">
                <a:solidFill>
                  <a:srgbClr val="757575"/>
                </a:solidFill>
                <a:latin typeface="NVIDIA Sans"/>
              </a:rPr>
              <a:t>Repeated DiT block executions</a:t>
            </a:r>
          </a:p>
          <a:p>
            <a:pPr algn="l">
              <a:spcBef>
                <a:spcPts val="0"/>
              </a:spcBef>
              <a:spcAft>
                <a:spcPts val="300"/>
              </a:spcAft>
              <a:buNone/>
            </a:pPr>
            <a:r>
              <a:rPr sz="2800" b="1" i="0">
                <a:solidFill>
                  <a:srgbClr val="76B900"/>
                </a:solidFill>
                <a:latin typeface="NVIDIA Sans Medium"/>
              </a:rPr>
              <a:t>REF2VA PDD · ACC-8STEP</a:t>
            </a:r>
          </a:p>
          <a:p>
            <a:pPr algn="l">
              <a:spcBef>
                <a:spcPts val="0"/>
              </a:spcBef>
              <a:spcAft>
                <a:spcPts val="100"/>
              </a:spcAft>
              <a:buNone/>
            </a:pPr>
            <a:r>
              <a:rPr sz="4000" b="1" i="0">
                <a:solidFill>
                  <a:srgbClr val="76B900"/>
                </a:solidFill>
                <a:latin typeface="NVIDIA Sans Medium"/>
              </a:rPr>
              <a:t>8 NFE × 50 blocks = 400</a:t>
            </a:r>
          </a:p>
          <a:p>
            <a:pPr algn="l">
              <a:spcBef>
                <a:spcPts val="0"/>
              </a:spcBef>
              <a:spcAft>
                <a:spcPts val="1300"/>
              </a:spcAft>
              <a:buNone/>
            </a:pPr>
            <a:r>
              <a:rPr sz="2600" b="0" i="0">
                <a:solidFill>
                  <a:srgbClr val="757575"/>
                </a:solidFill>
                <a:latin typeface="NVIDIA Sans"/>
              </a:rPr>
              <a:t>H3 release schedule · N = 32, L = 4 → 8 NFE</a:t>
            </a:r>
          </a:p>
          <a:p>
            <a:pPr algn="l">
              <a:spcBef>
                <a:spcPts val="0"/>
              </a:spcBef>
              <a:spcAft>
                <a:spcPts val="1000"/>
              </a:spcAft>
              <a:buNone/>
            </a:pPr>
            <a:r>
              <a:rPr sz="4400" b="1" i="0">
                <a:solidFill>
                  <a:srgbClr val="76B900"/>
                </a:solidFill>
                <a:latin typeface="NVIDIA Sans Medium"/>
              </a:rPr>
              <a:t>−84% repeated block executions</a:t>
            </a:r>
          </a:p>
          <a:p>
            <a:pPr algn="l">
              <a:spcBef>
                <a:spcPts val="0"/>
              </a:spcBef>
              <a:spcAft>
                <a:spcPts val="1200"/>
              </a:spcAft>
              <a:buNone/>
            </a:pPr>
            <a:r>
              <a:rPr sz="2800" b="0" i="0">
                <a:solidFill>
                  <a:srgbClr val="313131"/>
                </a:solidFill>
                <a:latin typeface="NVIDIA Sans"/>
              </a:rPr>
              <a:t>One Transformer evaluation predicts the mean velocities for every interval in the current block.</a:t>
            </a:r>
          </a:p>
          <a:p>
            <a:pPr algn="l">
              <a:spcBef>
                <a:spcPts val="0"/>
              </a:spcBef>
              <a:spcAft>
                <a:spcPts val="0"/>
              </a:spcAft>
              <a:buNone/>
            </a:pPr>
            <a:r>
              <a:rPr sz="2400" b="0" i="0">
                <a:solidFill>
                  <a:srgbClr val="757575"/>
                </a:solidFill>
                <a:latin typeface="NVIDIA Sans"/>
              </a:rPr>
              <a:t>Public BF16 artifact available; matched 960×544 E2E latency, memory and quality remain pending.</a:t>
            </a:r>
          </a:p>
        </p:txBody>
      </p:sp>
      <p:sp>
        <p:nvSpPr>
          <p:cNvPr id="3" name="Text Placeholder 2"/>
          <p:cNvSpPr>
            <a:spLocks noGrp="1"/>
          </p:cNvSpPr>
          <p:nvPr>
            <p:ph type="body" idx="14" sz="quarter"/>
          </p:nvPr>
        </p:nvSpPr>
        <p:spPr/>
        <p:txBody>
          <a:bodyPr/>
          <a:lstStyle/>
          <a:p>
            <a:r>
              <a:t>H3 Ref2VA · 50 NFE  →  PDD · 8 NFE</a:t>
            </a:r>
          </a:p>
        </p:txBody>
      </p:sp>
      <p:sp>
        <p:nvSpPr>
          <p:cNvPr id="4" name="Title 3"/>
          <p:cNvSpPr>
            <a:spLocks noGrp="1"/>
          </p:cNvSpPr>
          <p:nvPr>
            <p:ph type="title"/>
          </p:nvPr>
        </p:nvSpPr>
        <p:spPr/>
        <p:txBody>
          <a:bodyPr/>
          <a:lstStyle/>
          <a:p>
            <a:r>
              <a:t>PDD Removes 84% of Repeated DiT Work</a:t>
            </a:r>
          </a:p>
        </p:txBody>
      </p:sp>
      <p:sp>
        <p:nvSpPr>
          <p:cNvPr id="5" name="Text Placeholder 4"/>
          <p:cNvSpPr>
            <a:spLocks noGrp="1"/>
          </p:cNvSpPr>
          <p:nvPr>
            <p:ph type="body" idx="52" sz="quarter"/>
          </p:nvPr>
        </p:nvSpPr>
        <p:spPr/>
        <p:txBody>
          <a:bodyPr/>
          <a:lstStyle/>
          <a:p>
            <a:r>
              <a:t>Generic Figure 2 illustration: N = 12 intervals, grouped L = 4 per Transformer evaluation</a:t>
            </a:r>
          </a:p>
        </p:txBody>
      </p:sp>
      <p:sp>
        <p:nvSpPr>
          <p:cNvPr id="6" name="Text Placeholder 5"/>
          <p:cNvSpPr>
            <a:spLocks noGrp="1"/>
          </p:cNvSpPr>
          <p:nvPr>
            <p:ph type="body" idx="51" sz="quarter"/>
          </p:nvPr>
        </p:nvSpPr>
        <p:spPr/>
        <p:txBody>
          <a:bodyPr/>
          <a:lstStyle/>
          <a:p>
            <a:r>
              <a:t>NVIDIA PDD · PARALLEL DECODER</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Sources: NVIDIA PDD, Fig. 2 (arXiv:2607.26004) · Alibaba-PAI MiniMax-H3-Acc-LoRAs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7</a:t>
            </a:fld>
            <a:endParaRPr lang="en-US"/>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Video Sparse Attention (VSA) = trainable, content-aware block sparsity over 3-D video cubes</a:t>
            </a:r>
          </a:p>
        </p:txBody>
      </p:sp>
      <p:sp>
        <p:nvSpPr>
          <p:cNvPr id="3" name="Title 2"/>
          <p:cNvSpPr>
            <a:spLocks noGrp="1"/>
          </p:cNvSpPr>
          <p:nvPr>
            <p:ph type="title"/>
          </p:nvPr>
        </p:nvSpPr>
        <p:spPr/>
        <p:txBody>
          <a:bodyPr/>
          <a:lstStyle/>
          <a:p>
            <a:r>
              <a:t>After PDD, Attention Still Scores Every Pair</a:t>
            </a:r>
          </a:p>
        </p:txBody>
      </p:sp>
      <p:sp>
        <p:nvSpPr>
          <p:cNvPr id="4" name="Text Placeholder 3"/>
          <p:cNvSpPr>
            <a:spLocks noGrp="1"/>
          </p:cNvSpPr>
          <p:nvPr>
            <p:ph type="body" idx="52" sz="quarter"/>
          </p:nvPr>
        </p:nvSpPr>
        <p:spPr/>
        <p:txBody>
          <a:bodyPr/>
          <a:lstStyle/>
          <a:p>
            <a:r>
              <a:t>Locked 544P: Svalid = 34,373 → 1.181B candidate pairs/head/block. Current USP8 still exchanges full Q/K/V/O (+ gate).</a:t>
            </a:r>
          </a:p>
        </p:txBody>
      </p:sp>
      <p:sp>
        <p:nvSpPr>
          <p:cNvPr id="5" name="Text Placeholder 4"/>
          <p:cNvSpPr>
            <a:spLocks noGrp="1"/>
          </p:cNvSpPr>
          <p:nvPr>
            <p:ph type="body" idx="51" sz="quarter"/>
          </p:nvPr>
        </p:nvSpPr>
        <p:spPr/>
        <p:txBody>
          <a:bodyPr/>
          <a:lstStyle/>
          <a:p>
            <a:r>
              <a:t>DENSE  Θ(S²)  →  VSA  O((S/B)² + S·K·B)</a:t>
            </a:r>
          </a:p>
        </p:txBody>
      </p:sp>
      <p:pic>
        <p:nvPicPr>
          <p:cNvPr id="6" name="Picture Placeholder 5" descr="vsa-figure1-16x9.png"/>
          <p:cNvPicPr>
            <a:picLocks noGrp="1" noChangeAspect="1"/>
          </p:cNvPicPr>
          <p:nvPr>
            <p:ph type="pic" idx="53" sz="quarter"/>
          </p:nvPr>
        </p:nvPicPr>
        <p:blipFill>
          <a:blip r:embed="rId3"/>
          <a:srcRect t="9" b="9"/>
          <a:stretch>
            <a:fillRect/>
          </a:stretch>
        </p:blipFill>
        <p:spPr/>
      </p:pic>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Video Sparse Attention, arXiv:2505.13389, Fig. 1 · current H3 Ulysses communication path audited from source</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8</a:t>
            </a:fld>
            <a:endParaRPr lang="en-US"/>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The two paths target different SM120 kernels and remain separately qualified in current public evidence</a:t>
            </a:r>
          </a:p>
        </p:txBody>
      </p:sp>
      <p:sp>
        <p:nvSpPr>
          <p:cNvPr id="3" name="Title 2"/>
          <p:cNvSpPr>
            <a:spLocks noGrp="1"/>
          </p:cNvSpPr>
          <p:nvPr>
            <p:ph type="title"/>
          </p:nvPr>
        </p:nvSpPr>
        <p:spPr/>
        <p:txBody>
          <a:bodyPr/>
          <a:lstStyle/>
          <a:p>
            <a:r>
              <a:t>QAD Trains NVFP4; Sage Quantizes VSA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9</a:t>
            </a:fld>
            <a:endParaRPr lang="en-US"/>
          </a:p>
        </p:txBody>
      </p:sp>
      <p:graphicFrame>
        <p:nvGraphicFramePr>
          <p:cNvPr id="5" name="Official NVIDIA QAD Sag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48"/>
        </p:xfrm>
        <a:graphic>
          <a:graphicData uri="http://schemas.openxmlformats.org/drawingml/2006/table">
            <a:tbl>
              <a:tblPr firstRow="1" bandRow="1">
                <a:tableStyleId>{68D230F3-CF80-4859-8CE7-A43EE81993B5}</a:tableStyleId>
              </a:tblPr>
              <a:tblGrid>
                <a:gridCol w="5303520">
                  <a:extLst>
                    <a:ext uri="{9D8B030D-6E8A-4147-A177-3AD203B41FA5}">
                      <a16:colId xmlns:a16="http://schemas.microsoft.com/office/drawing/2014/main" val="1714626306"/>
                    </a:ext>
                  </a:extLst>
                </a:gridCol>
                <a:gridCol w="7772400">
                  <a:extLst>
                    <a:ext uri="{9D8B030D-6E8A-4147-A177-3AD203B41FA5}">
                      <a16:colId xmlns:a16="http://schemas.microsoft.com/office/drawing/2014/main" val="1697748500"/>
                    </a:ext>
                  </a:extLst>
                </a:gridCol>
                <a:gridCol w="7315200">
                  <a:extLst>
                    <a:ext uri="{9D8B030D-6E8A-4147-A177-3AD203B41FA5}">
                      <a16:colId xmlns:a16="http://schemas.microsoft.com/office/drawing/2014/main" val="3872581152"/>
                    </a:ext>
                  </a:extLst>
                </a:gridCol>
                <a:gridCol w="7879201">
                  <a:extLst>
                    <a:ext uri="{9D8B030D-6E8A-4147-A177-3AD203B41FA5}">
                      <a16:colId xmlns:a16="http://schemas.microsoft.com/office/drawing/2014/main" val="2543914041"/>
                    </a:ext>
                  </a:extLst>
                </a:gridCol>
              </a:tblGrid>
              <a:tr h="1005840">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PATH</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NUMERICAL ROUTE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WHAT IT CHANGES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VALIDATED SCOPE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76B900"/>
                          </a:solidFill>
                          <a:effectLst/>
                          <a:uLnTx/>
                          <a:uFillTx/>
                          <a:latin typeface="+mj-lt"/>
                        </a:rPr>
                        <a:t>QAD CHECKPOINT · PUBLIC</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Packed NVFP4 linears; calibrated BF16 exceptions remain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A quantized student learns from a frozen BF16 teacher to recover quantization error</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8 forwards · PDD grid 32
VSA 90% · tile128 · Ref2VA artifact</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0074DF"/>
                          </a:solidFill>
                          <a:effectLst/>
                          <a:uLnTx/>
                          <a:uFillTx/>
                          <a:latin typeface="+mj-lt"/>
                        </a:rPr>
                        <a:t>SAGE VSA · LOCAL BRANCH</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BF16 in → Q,K INT8
V FP8 E4M3 → BF16 out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Low precision only inside tile64 fine attention after top-k routing</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SM120 · head dim 128
explicit opt-in · pure Ulysses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313131"/>
                          </a:solidFill>
                          <a:effectLst/>
                          <a:uLnTx/>
                          <a:uFillTx/>
                          <a:latin typeface="+mj-lt"/>
                        </a:rPr>
                        <a:t>HIGH-PRECISION ISLAND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Token refiner → TORCH_SDPA
VSA default → BF16</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Keeps the short, sensitive path outside approximate Sage math</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Same-seed BF16 quality comparison required</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EF9100"/>
                          </a:solidFill>
                          <a:effectLst/>
                          <a:uLnTx/>
                          <a:uFillTx/>
                          <a:latin typeface="+mj-lt"/>
                        </a:rPr>
                        <a:t>INTER-GPU TRANSPORT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Q/K/V A2A before Sage
O A2A after Sage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Arithmetic changes locally; collective tensors remain BF16</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No payload-byte reduction from QAD or Sage alone</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FastH3 Omni NVFP4-QAD rev 0087718 · NVIDIA ModelOpt QAD · vLLM-Omni SM120 Sage-VSA @ 63487a7</a:t>
            </a:r>
            <a:endParaRPr lang="en-US"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Base50 · S = 34,432 · 2,500 blocks · BF16 · 8× RTX PRO 5000 · local NCCL · no RDMA · 5.167 s deadline</a:t>
            </a:r>
          </a:p>
        </p:txBody>
      </p:sp>
      <p:sp>
        <p:nvSpPr>
          <p:cNvPr id="3" name="Title 2"/>
          <p:cNvSpPr>
            <a:spLocks noGrp="1"/>
          </p:cNvSpPr>
          <p:nvPr>
            <p:ph type="title"/>
          </p:nvPr>
        </p:nvSpPr>
        <p:spPr/>
        <p:txBody>
          <a:bodyPr/>
          <a:lstStyle/>
          <a:p>
            <a:r>
              <a:t>USP8 Issues Four All-to-Alls per DiT Block</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10</a:t>
            </a:fld>
            <a:endParaRPr lang="en-US"/>
          </a:p>
        </p:txBody>
      </p:sp>
      <p:sp>
        <p:nvSpPr>
          <p:cNvPr id="5"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Source-derived @ vLLM-Omni H3 rev 63487a7f · logical one-way off-rank payload lower bound; not measured PCIe/NIC traffic or achieved bandwidth</a:t>
            </a:r>
            <a:endParaRPr lang="en-US" dirty="0"/>
          </a:p>
        </p:txBody>
      </p:sp>
      <p:graphicFrame>
        <p:nvGraphicFramePr>
          <p:cNvPr id="6" name="Official NVIDIA Communication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48"/>
        </p:xfrm>
        <a:graphic>
          <a:graphicData uri="http://schemas.openxmlformats.org/drawingml/2006/table">
            <a:tbl>
              <a:tblPr firstRow="1" bandRow="1">
                <a:tableStyleId>{68D230F3-CF80-4859-8CE7-A43EE81993B5}</a:tableStyleId>
              </a:tblPr>
              <a:tblGrid>
                <a:gridCol w="4754880">
                  <a:extLst>
                    <a:ext uri="{9D8B030D-6E8A-4147-A177-3AD203B41FA5}">
                      <a16:colId xmlns:a16="http://schemas.microsoft.com/office/drawing/2014/main" val="1714626306"/>
                    </a:ext>
                  </a:extLst>
                </a:gridCol>
                <a:gridCol w="8229600">
                  <a:extLst>
                    <a:ext uri="{9D8B030D-6E8A-4147-A177-3AD203B41FA5}">
                      <a16:colId xmlns:a16="http://schemas.microsoft.com/office/drawing/2014/main" val="1697748500"/>
                    </a:ext>
                  </a:extLst>
                </a:gridCol>
                <a:gridCol w="4023360">
                  <a:extLst>
                    <a:ext uri="{9D8B030D-6E8A-4147-A177-3AD203B41FA5}">
                      <a16:colId xmlns:a16="http://schemas.microsoft.com/office/drawing/2014/main" val="3872581152"/>
                    </a:ext>
                  </a:extLst>
                </a:gridCol>
                <a:gridCol w="6217920">
                  <a:extLst>
                    <a:ext uri="{9D8B030D-6E8A-4147-A177-3AD203B41FA5}">
                      <a16:colId xmlns:a16="http://schemas.microsoft.com/office/drawing/2014/main" val="2543914041"/>
                    </a:ext>
                  </a:extLst>
                </a:gridCol>
                <a:gridCol w="5044561">
                  <a:extLst>
                    <a:ext uri="{9D8B030D-6E8A-4147-A177-3AD203B41FA5}">
                      <a16:colId xmlns:a16="http://schemas.microsoft.com/office/drawing/2014/main" val="2421839051"/>
                    </a:ext>
                  </a:extLst>
                </a:gridCol>
              </a:tblGrid>
              <a:tr h="1188720">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4400" b="0" kern="1200" dirty="0">
                          <a:solidFill>
                            <a:schemeClr val="accent1"/>
                          </a:solidFill>
                          <a:latin typeface="+mj-lt"/>
                        </a:rPr>
                        <a:t>SCOPE</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TENSOR / EXECUTION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A2A ROUNDS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MIN. OFF-RANK PAYLOAD*</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RATE @ 5.167 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ONE DIT BLOCK</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Q / K / V forward + O reverse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1.727660 GB</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61.702 MB/rank/A2A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chemeClr val="accent6"/>
                          </a:solidFill>
                          <a:effectLst/>
                          <a:uLnTx/>
                          <a:uFillTx/>
                          <a:latin typeface="+mj-lt"/>
                        </a:rPr>
                        <a:t>BASE50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50 steps × 50 blocks = 2,500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10,000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4.319150 TB</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835.96 GB/s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PDD8</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8 steps × 50 blocks = 400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1,600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691.064 GB</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133.75 GB/s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BOUNDARY</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Current VSA / Sage keeps dense BF16 exchange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logical bytes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not achieved BW</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wrap="square" lIns="0" rIns="0" tIns="0" bIns="0"/>
          <a:lstStyle/>
          <a:p>
            <a:pPr algn="l">
              <a:spcBef>
                <a:spcPts val="0"/>
              </a:spcBef>
              <a:spcAft>
                <a:spcPts val="200"/>
              </a:spcAft>
              <a:buNone/>
            </a:pPr>
            <a:r>
              <a:rPr sz="2800" b="1" i="0">
                <a:solidFill>
                  <a:srgbClr val="0074DF"/>
                </a:solidFill>
                <a:latin typeface="NVIDIA Sans Medium"/>
              </a:rPr>
              <a:t>Q / K FIRST</a:t>
            </a:r>
          </a:p>
          <a:p>
            <a:pPr algn="l">
              <a:spcBef>
                <a:spcPts val="0"/>
              </a:spcBef>
              <a:spcAft>
                <a:spcPts val="1100"/>
              </a:spcAft>
              <a:buNone/>
            </a:pPr>
            <a:r>
              <a:rPr sz="2800" b="0" i="0">
                <a:solidFill>
                  <a:srgbClr val="313131"/>
                </a:solidFill>
                <a:latin typeface="NVIDIA Sans"/>
              </a:rPr>
              <a:t>Transmit Q and K while V is deliberately unavailable; gate the V transfer on an explicit CUDA event.</a:t>
            </a:r>
          </a:p>
          <a:p>
            <a:pPr algn="l">
              <a:spcBef>
                <a:spcPts val="0"/>
              </a:spcBef>
              <a:spcAft>
                <a:spcPts val="200"/>
              </a:spcAft>
              <a:buNone/>
            </a:pPr>
            <a:r>
              <a:rPr sz="2800" b="1" i="0">
                <a:solidFill>
                  <a:srgbClr val="76B900"/>
                </a:solidFill>
                <a:latin typeface="NVIDIA Sans Medium"/>
              </a:rPr>
              <a:t>GRAPH REPLAY</a:t>
            </a:r>
          </a:p>
          <a:p>
            <a:pPr algn="l">
              <a:spcBef>
                <a:spcPts val="0"/>
              </a:spcBef>
              <a:spcAft>
                <a:spcPts val="1100"/>
              </a:spcAft>
              <a:buNone/>
            </a:pPr>
            <a:r>
              <a:rPr sz="2800" b="0" i="0">
                <a:solidFill>
                  <a:srgbClr val="313131"/>
                </a:solidFill>
                <a:latin typeface="NVIDIA Sans"/>
              </a:rPr>
              <a:t>Fixed-address split-QKV unpack remains byte-exact after input mutation and replay.</a:t>
            </a:r>
          </a:p>
          <a:p>
            <a:pPr algn="l">
              <a:spcBef>
                <a:spcPts val="0"/>
              </a:spcBef>
              <a:spcAft>
                <a:spcPts val="200"/>
              </a:spcAft>
              <a:buNone/>
            </a:pPr>
            <a:r>
              <a:rPr sz="2800" b="1" i="0">
                <a:solidFill>
                  <a:srgbClr val="0074DF"/>
                </a:solidFill>
                <a:latin typeface="NVIDIA Sans Medium"/>
              </a:rPr>
              <a:t>TILED O RETURN</a:t>
            </a:r>
          </a:p>
          <a:p>
            <a:pPr algn="l">
              <a:spcBef>
                <a:spcPts val="0"/>
              </a:spcBef>
              <a:spcAft>
                <a:spcPts val="1100"/>
              </a:spcAft>
              <a:buNone/>
            </a:pPr>
            <a:r>
              <a:rPr sz="2800" b="0" i="0">
                <a:solidFill>
                  <a:srgbClr val="313131"/>
                </a:solidFill>
                <a:latin typeface="NVIDIA Sans"/>
              </a:rPr>
              <a:t>Whole return and two row chunks—including the repeated coarse tail—match byte for byte.</a:t>
            </a:r>
          </a:p>
          <a:p>
            <a:pPr algn="l">
              <a:spcBef>
                <a:spcPts val="0"/>
              </a:spcBef>
              <a:spcAft>
                <a:spcPts val="200"/>
              </a:spcAft>
              <a:buNone/>
            </a:pPr>
            <a:r>
              <a:rPr sz="2800" b="1" i="0">
                <a:solidFill>
                  <a:srgbClr val="EF9100"/>
                </a:solidFill>
                <a:latin typeface="NVIDIA Sans Medium"/>
              </a:rPr>
              <a:t>8-GPU ACCEPTANCE GATE</a:t>
            </a:r>
          </a:p>
          <a:p>
            <a:pPr algn="l">
              <a:spcBef>
                <a:spcPts val="0"/>
              </a:spcBef>
              <a:spcAft>
                <a:spcPts val="0"/>
              </a:spcAft>
              <a:buNone/>
            </a:pPr>
            <a:r>
              <a:rPr sz="2800" b="0" i="0">
                <a:solidFill>
                  <a:srgbClr val="757575"/>
                </a:solidFill>
                <a:latin typeface="NVIDIA Sans"/>
              </a:rPr>
              <a:t>Full attention + W_O · output exactness · E2E · peak GPU memory · Nsight overlap</a:t>
            </a:r>
          </a:p>
        </p:txBody>
      </p:sp>
      <p:sp>
        <p:nvSpPr>
          <p:cNvPr id="3" name="Text Placeholder 2"/>
          <p:cNvSpPr>
            <a:spLocks noGrp="1"/>
          </p:cNvSpPr>
          <p:nvPr>
            <p:ph type="body" idx="14" sz="quarter"/>
          </p:nvPr>
        </p:nvSpPr>
        <p:spPr/>
        <p:txBody>
          <a:bodyPr/>
          <a:lstStyle/>
          <a:p>
            <a:r>
              <a:t>4-GPU real-RDMA · 96/96 rank-cases exact · 8-GPU H3 candidate pending</a:t>
            </a:r>
          </a:p>
        </p:txBody>
      </p:sp>
      <p:sp>
        <p:nvSpPr>
          <p:cNvPr id="4" name="Title 3"/>
          <p:cNvSpPr>
            <a:spLocks noGrp="1"/>
          </p:cNvSpPr>
          <p:nvPr>
            <p:ph type="title"/>
          </p:nvPr>
        </p:nvSpPr>
        <p:spPr/>
        <p:txBody>
          <a:bodyPr/>
          <a:lstStyle/>
          <a:p>
            <a:r>
              <a:t>RDMA Precheck for the A2A Critical Path</a:t>
            </a:r>
          </a:p>
        </p:txBody>
      </p:sp>
      <p:sp>
        <p:nvSpPr>
          <p:cNvPr id="5" name="Text Placeholder 4"/>
          <p:cNvSpPr>
            <a:spLocks noGrp="1"/>
          </p:cNvSpPr>
          <p:nvPr>
            <p:ph type="body" idx="52" sz="quarter"/>
          </p:nvPr>
        </p:nvSpPr>
        <p:spPr/>
        <p:txBody>
          <a:bodyPr/>
          <a:lstStyle/>
          <a:p>
            <a:r>
              <a:t>24 configs × 4 ranks · 8-GPU H3 candidate pending</a:t>
            </a:r>
          </a:p>
        </p:txBody>
      </p:sp>
      <p:sp>
        <p:nvSpPr>
          <p:cNvPr id="6" name="Text Placeholder 5"/>
          <p:cNvSpPr>
            <a:spLocks noGrp="1"/>
          </p:cNvSpPr>
          <p:nvPr>
            <p:ph type="body" idx="51" sz="quarter"/>
          </p:nvPr>
        </p:nvSpPr>
        <p:spPr/>
        <p:txBody>
          <a:bodyPr/>
          <a:lstStyle/>
          <a:p>
            <a:r>
              <a:t>4-GPU REAL-RDMA · 96 / 96 RANK-CASES EXACT</a:t>
            </a:r>
          </a:p>
        </p:txBody>
      </p:sp>
      <p:pic>
        <p:nvPicPr>
          <p:cNvPr id="7" name="Picture Placeholder 6" descr="rdma-overlap-timeline.png"/>
          <p:cNvPicPr>
            <a:picLocks noGrp="1" noChangeAspect="1"/>
          </p:cNvPicPr>
          <p:nvPr>
            <p:ph type="pic" idx="53" sz="quarter"/>
          </p:nvPr>
        </p:nvPicPr>
        <p:blipFill>
          <a:blip r:embed="rId3"/>
          <a:srcRect t="51" b="51"/>
          <a:stretch>
            <a:fillRect/>
          </a:stretch>
        </p:blipFill>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Measured evidence: real-rdma-four-gpu-20261024-v2 · 2026-10-24 · candidate correctness precheck; latency and overlap not measured</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11</a:t>
            </a:fld>
            <a:endParaRPr lang="en-US"/>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Only Base50 is measured on the locked 960×544 / 124f request; optimized results retain their own workload contracts</a:t>
            </a:r>
          </a:p>
        </p:txBody>
      </p:sp>
      <p:sp>
        <p:nvSpPr>
          <p:cNvPr id="3" name="Title 2"/>
          <p:cNvSpPr>
            <a:spLocks noGrp="1"/>
          </p:cNvSpPr>
          <p:nvPr>
            <p:ph type="title"/>
          </p:nvPr>
        </p:nvSpPr>
        <p:spPr/>
        <p:txBody>
          <a:bodyPr/>
          <a:lstStyle/>
          <a:p>
            <a:r>
              <a:t>Real-Time Demonstrated; Attribution Pending</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12</a:t>
            </a:fld>
            <a:endParaRPr lang="en-US"/>
          </a:p>
        </p:txBody>
      </p:sp>
      <p:graphicFrame>
        <p:nvGraphicFramePr>
          <p:cNvPr id="5" name="Official NVIDIA Results Evidenc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74"/>
        </p:xfrm>
        <a:graphic>
          <a:graphicData uri="http://schemas.openxmlformats.org/drawingml/2006/table">
            <a:tbl>
              <a:tblPr firstRow="1" bandRow="1">
                <a:tableStyleId>{68D230F3-CF80-4859-8CE7-A43EE81993B5}</a:tableStyleId>
              </a:tblPr>
              <a:tblGrid>
                <a:gridCol w="3246120">
                  <a:extLst>
                    <a:ext uri="{9D8B030D-6E8A-4147-A177-3AD203B41FA5}">
                      <a16:colId xmlns:a16="http://schemas.microsoft.com/office/drawing/2014/main" val="1714626306"/>
                    </a:ext>
                  </a:extLst>
                </a:gridCol>
                <a:gridCol w="6126480">
                  <a:extLst>
                    <a:ext uri="{9D8B030D-6E8A-4147-A177-3AD203B41FA5}">
                      <a16:colId xmlns:a16="http://schemas.microsoft.com/office/drawing/2014/main" val="1697748500"/>
                    </a:ext>
                  </a:extLst>
                </a:gridCol>
                <a:gridCol w="6720840">
                  <a:extLst>
                    <a:ext uri="{9D8B030D-6E8A-4147-A177-3AD203B41FA5}">
                      <a16:colId xmlns:a16="http://schemas.microsoft.com/office/drawing/2014/main" val="3872581152"/>
                    </a:ext>
                  </a:extLst>
                </a:gridCol>
                <a:gridCol w="1645920">
                  <a:extLst>
                    <a:ext uri="{9D8B030D-6E8A-4147-A177-3AD203B41FA5}">
                      <a16:colId xmlns:a16="http://schemas.microsoft.com/office/drawing/2014/main" val="2543914041"/>
                    </a:ext>
                  </a:extLst>
                </a:gridCol>
                <a:gridCol w="5074920">
                  <a:extLst>
                    <a:ext uri="{9D8B030D-6E8A-4147-A177-3AD203B41FA5}">
                      <a16:colId xmlns:a16="http://schemas.microsoft.com/office/drawing/2014/main" val="2421839051"/>
                    </a:ext>
                  </a:extLst>
                </a:gridCol>
                <a:gridCol w="5456041">
                  <a:extLst>
                    <a:ext uri="{9D8B030D-6E8A-4147-A177-3AD203B41FA5}">
                      <a16:colId xmlns:a16="http://schemas.microsoft.com/office/drawing/2014/main" val="2805133130"/>
                    </a:ext>
                  </a:extLst>
                </a:gridCol>
              </a:tblGrid>
              <a:tr h="1005840">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STATUS</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WORKLOAD CONTRACT</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WITHIN-STUDY SYSTEM / COMPARISON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spcBef>
                          <a:spcPts val="0"/>
                        </a:spcBef>
                        <a:spcAft>
                          <a:spcPts val="0"/>
                        </a:spcAft>
                      </a:pPr>
                      <a:r>
                        <a:rPr lang="en-US" sz="2000" b="0" kern="1200" dirty="0">
                          <a:solidFill>
                            <a:srgbClr val="76B900"/>
                          </a:solidFill>
                          <a:latin typeface="NVIDIA Sans"/>
                        </a:rPr>
                        <a:t>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spcBef>
                          <a:spcPts val="0"/>
                        </a:spcBef>
                        <a:spcAft>
                          <a:spcPts val="0"/>
                        </a:spcAft>
                      </a:pPr>
                      <a:r>
                        <a:rPr lang="en-US" sz="2000" b="0" kern="1200" dirty="0">
                          <a:solidFill>
                            <a:srgbClr val="76B900"/>
                          </a:solidFill>
                          <a:latin typeface="NVIDIA Sans"/>
                        </a:rPr>
                        <a:t>E2E · RTF</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EVIDENCE BOUNDARY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76B900"/>
                          </a:solidFill>
                          <a:effectLst/>
                          <a:uLnTx/>
                          <a:uFillTx/>
                          <a:latin typeface="NVIDIA Sans Medium"/>
                        </a:rPr>
                        <a:t>MEASURED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76B900"/>
                          </a:solidFill>
                          <a:effectLst/>
                          <a:uLnTx/>
                          <a:uFillTx/>
                          <a:latin typeface="NVIDIA Sans Medium"/>
                        </a:rPr>
                        <a:t>MATCHED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960×544 · 124f @ 24</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5.167 s · Miles image + voice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seed 43 · independent request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Base50 · 50-step BF16 dense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USP8 · local NCCL · no RDMA</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1">
                          <a:solidFill>
                            <a:srgbClr val="76B900"/>
                          </a:solidFill>
                          <a:latin typeface="NVIDIA Sans Medium"/>
                        </a:rPr>
                        <a:t>247.956 s median</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76B900"/>
                          </a:solidFill>
                          <a:latin typeface="NVIDIA Sans Medium"/>
                        </a:rPr>
                        <a:t>RTF 47.992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Locked baseline only</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same MP4 hash across 3 formal runs</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70.84 GiB max sampled device memory*</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QUALIFIED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SEPARATE · 15 s</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960×544 · 362f @ 24</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15.083 s · Zhiwei image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no voice reference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8-step NVFP4-QAD + VSA</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NCCL control → RDMA / overlap / output pipeline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3 / arm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17.681 → 14.974 s mean</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0074DF"/>
                          </a:solidFill>
                          <a:latin typeface="NVIDIA Sans Medium"/>
                        </a:rPr>
                        <a:t>RTF 1.172 → 0.993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3 / 3 final requests met the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15.083 s media budget</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not Base50 / 124f</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QUALIFIED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SEPARATE · 10 s</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960×544 · 243f @ 24</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10.125 s · same input / seed</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within this study</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Base50 BF16 TP8 → 4-step Turbo</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MXFP8 + dense Sage + RDMA stack</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1 / arm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263.847 → 6.958 s</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0074DF"/>
                          </a:solidFill>
                          <a:latin typeface="NVIDIA Sans Medium"/>
                        </a:rPr>
                        <a:t>RTF 26.059 → 0.687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Paired endpoint proof</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many axes changed together;</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no stage attribution</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QUALIFIED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SEPARATE · PORTRAIT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576×1024 · 124f window</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119 new frames / 4.958 s</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Miles portrait + voice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4-step MXFP8</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BF16 Sage first-attn · NVFP4 VAE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USP8 · RDMA · rolling continuation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1 + 5</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4.644 s initial</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0">
                          <a:solidFill>
                            <a:srgbClr val="313131"/>
                          </a:solidFill>
                          <a:latin typeface="NVIDIA Sans"/>
                        </a:rPr>
                        <a:t>4.459 s continuation median</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0074DF"/>
                          </a:solidFill>
                          <a:latin typeface="NVIDIA Sans Medium"/>
                        </a:rPr>
                        <a:t>RTF 0.899</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Portrait live feasibility</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no long-run P95 or matched</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Base50 arm</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r h="192499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EF9100"/>
                          </a:solidFill>
                          <a:effectLst/>
                          <a:uLnTx/>
                          <a:uFillTx/>
                          <a:latin typeface="NVIDIA Sans Medium"/>
                        </a:rPr>
                        <a:t>PENDING</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EF9100"/>
                          </a:solidFill>
                          <a:effectLst/>
                          <a:uLnTx/>
                          <a:uFillTx/>
                          <a:latin typeface="NVIDIA Sans Medium"/>
                        </a:rPr>
                        <a:t>MATCHED GATE</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Hold row-1 image · audio · prompt</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seed · shape · request mode fixed</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PDD8 → VSA → QAD / Sage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 RDMA + overlap</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≥3 / stage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E2E · RTF · peak GPU memory</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0">
                          <a:solidFill>
                            <a:srgbClr val="313131"/>
                          </a:solidFill>
                          <a:latin typeface="NVIDIA Sans"/>
                        </a:rPr>
                        <a:t>quality · Nsight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1">
                          <a:solidFill>
                            <a:srgbClr val="EF9100"/>
                          </a:solidFill>
                          <a:latin typeface="NVIDIA Sans Medium"/>
                        </a:rPr>
                        <a:t>Publish a cumulative ladder only</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1">
                          <a:solidFill>
                            <a:srgbClr val="313131"/>
                          </a:solidFill>
                          <a:latin typeface="NVIDIA Sans Medium"/>
                        </a:rPr>
                        <a:t>after every stage shares the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1">
                          <a:solidFill>
                            <a:srgbClr val="313131"/>
                          </a:solidFill>
                          <a:latin typeface="NVIDIA Sans Medium"/>
                        </a:rPr>
                        <a:t>same measurement contract</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690260899"/>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[A] Base50 r4 · [B] QAD 15 s cohort · [C] paired 10 s study · [D] portrait production · compare only within a row; timing and memory methods differ</a:t>
            </a:r>
            <a:endParaRPr lang="en-US"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02 · vLLM-Omni
ComfyUI Apps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Open PR #9194: character replacement, continuation-aware references, and chainable LoRA controls</a:t>
            </a:r>
          </a:p>
        </p:txBody>
      </p:sp>
      <p:sp>
        <p:nvSpPr>
          <p:cNvPr id="3" name="Title 2"/>
          <p:cNvSpPr>
            <a:spLocks noGrp="1"/>
          </p:cNvSpPr>
          <p:nvPr>
            <p:ph type="title"/>
          </p:nvPr>
        </p:nvSpPr>
        <p:spPr/>
        <p:txBody>
          <a:bodyPr/>
          <a:lstStyle/>
          <a:p>
            <a:r>
              <a:t>vLLM-Omni Connects ComfyUI to Multi-GPU H3 Serving</a:t>
            </a:r>
          </a:p>
        </p:txBody>
      </p:sp>
      <p:sp>
        <p:nvSpPr>
          <p:cNvPr id="4" name="Text Placeholder 3"/>
          <p:cNvSpPr>
            <a:spLocks noGrp="1"/>
          </p:cNvSpPr>
          <p:nvPr>
            <p:ph type="body" idx="52" sz="quarter"/>
          </p:nvPr>
        </p:nvSpPr>
        <p:spPr/>
        <p:txBody>
          <a:bodyPr/>
          <a:lstStyle/>
          <a:p>
            <a:r>
              <a:t>ComfyUI remains the visual frontend; vLLM-Omni owns model execution, scheduling, and multi-GPU deployment</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Single- and multi-character replacement, source-derived duration, long-video continuation, and LoRA controls</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14</a:t>
            </a:fld>
            <a:endParaRPr lang="en-US"/>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