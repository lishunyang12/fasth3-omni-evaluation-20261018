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QAD is an accuracy-recovery training method: a quantized student learns under a frozen BF16 teacher. The public FastH3 Omni NVFP4-QAD artifact is an eight-forward Ref2VA checkpoint with its own PDD grid 32, 90 percent VSA and tile128 contract. The local vLLM-Omni Sage-VSA route is a separate tile64 SM120 path. It accepts BF16 tensors, quantizes Q and mean-centered K to INT8 and V to FP8 E4M3 inside the sparse fine attention kernel, and returns BF16. The token refiner stays on Torch SDPA. Ulysses exchanges Q, K and V before this local quantization and exchanges O afterward, so the current collective payload remains BF16. Do not add the public QAD artifact, Alibaba Ref2VA PDD adapter, tile64 VSA and local Sage kernel into one cumulative speedup until the exact combined path passes matched latency and quality validation.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2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mean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Mean Time per GPU*</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*mean across 8 GPU timelines</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38.5 s/GPU,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p:txBody>
          <a:bodyPr/>
          <a:lstStyle/>
          <a:p>
            <a:r>
              <a:t>H3 follows a learned velocity field from noise toward clean video and audio latents</a:t>
            </a:r>
          </a:p>
        </p:txBody>
      </p:sp>
      <p:sp>
        <p:nvSpPr>
          <p:cNvPr id="4" name="Title 3"/>
          <p:cNvSpPr>
            <a:spLocks noGrp="1"/>
          </p:cNvSpPr>
          <p:nvPr>
            <p:ph type="title"/>
          </p:nvPr>
        </p:nvSpPr>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Teacher targets</a:t>
            </a:r>
          </a:p>
          <a:p>
            <a:pPr lvl="1" algn="l"/>
            <a:r>
              <a:rPr b="0">
                <a:solidFill>
                  <a:srgbClr val="313131"/>
                </a:solidFill>
                <a:latin typeface="NVIDIA Sans"/>
              </a:rPr>
              <a:t>Base H3 supplies the mean denoising direction for each fine interval</a:t>
            </a:r>
          </a:p>
          <a:p>
            <a:pPr algn="l"/>
            <a:r>
              <a:rPr b="1">
                <a:solidFill>
                  <a:srgbClr val="76B900"/>
                </a:solidFill>
                <a:latin typeface="NVIDIA Sans Medium"/>
              </a:rPr>
              <a:t>One student pass</a:t>
            </a:r>
          </a:p>
          <a:p>
            <a:pPr lvl="1" algn="l"/>
            <a:r>
              <a:rPr b="0">
                <a:solidFill>
                  <a:srgbClr val="313131"/>
                </a:solidFill>
                <a:latin typeface="NVIDIA Sans"/>
              </a:rPr>
              <a:t>From the same noisy latent, predict four consecutive directions in parallel</a:t>
            </a:r>
          </a:p>
          <a:p>
            <a:pPr algn="l"/>
            <a:r>
              <a:rPr b="1">
                <a:solidFill>
                  <a:srgbClr val="313131"/>
                </a:solidFill>
                <a:latin typeface="NVIDIA Sans Medium"/>
              </a:rPr>
              <a:t>Advance and repeat</a:t>
            </a:r>
          </a:p>
          <a:p>
            <a:pPr lvl="1" algn="l"/>
            <a:r>
              <a:rPr b="0">
                <a:solidFill>
                  <a:srgbClr val="313131"/>
                </a:solidFill>
                <a:latin typeface="NVIDIA Sans"/>
              </a:rPr>
              <a:t>Combine the four predictions to cross one block; repeat from the new latent</a:t>
            </a:r>
          </a:p>
          <a:p>
            <a:pPr algn="l"/>
            <a:r>
              <a:rPr b="1">
                <a:solidFill>
                  <a:srgbClr val="313131"/>
                </a:solidFill>
                <a:latin typeface="NVIDIA Sans Medium"/>
              </a:rPr>
              <a:t>H3 PDD8</a:t>
            </a:r>
          </a:p>
          <a:p>
            <a:pPr lvl="1" algn="l"/>
            <a:r>
              <a:rPr b="0">
                <a:solidFill>
                  <a:srgbClr val="313131"/>
                </a:solidFill>
                <a:latin typeface="NVIDIA Sans"/>
              </a:rPr>
              <a:t>Train a new 32-interval grid: 32 ÷ 4 = 8 passes</a:t>
            </a:r>
          </a:p>
          <a:p>
            <a:pPr lvl="1" algn="l"/>
            <a:r>
              <a:rPr b="0">
                <a:solidFill>
                  <a:srgbClr val="313131"/>
                </a:solidFill>
                <a:latin typeface="NVIDIA Sans"/>
              </a:rPr>
              <a:t>Repeated block calls: 2,500 → 400 (−84%)</a:t>
            </a:r>
          </a:p>
        </p:txBody>
      </p:sp>
      <p:sp>
        <p:nvSpPr>
          <p:cNvPr id="3" name="Text Placeholder 2"/>
          <p:cNvSpPr>
            <a:spLocks noGrp="1"/>
          </p:cNvSpPr>
          <p:nvPr>
            <p:ph type="body" idx="14" sz="quarter"/>
          </p:nvPr>
        </p:nvSpPr>
        <p:spPr/>
        <p:txBody>
          <a:bodyPr/>
          <a:lstStyle/>
          <a:p>
            <a:r>
              <a:t>Predict four denoising directions in parallel; advance one interval block per pass</a:t>
            </a:r>
          </a:p>
        </p:txBody>
      </p:sp>
      <p:sp>
        <p:nvSpPr>
          <p:cNvPr id="4" name="Title 3"/>
          <p:cNvSpPr>
            <a:spLocks noGrp="1"/>
          </p:cNvSpPr>
          <p:nvPr>
            <p:ph type="title"/>
          </p:nvPr>
        </p:nvSpPr>
        <p:spPr/>
        <p:txBody>
          <a:bodyPr/>
          <a:lstStyle/>
          <a:p>
            <a:r>
              <a:t>PDD Turns 50 DiT Passes Into 8</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Dense workload</a:t>
            </a:r>
          </a:p>
          <a:p>
            <a:pPr lvl="1" algn="l"/>
            <a:r>
              <a:rPr b="0">
                <a:solidFill>
                  <a:srgbClr val="313131"/>
                </a:solidFill>
                <a:latin typeface="NVIDIA Sans"/>
              </a:rPr>
              <a:t>34,373 tokens → 1.181B pairs/head/block at 544P</a:t>
            </a:r>
          </a:p>
          <a:p>
            <a:pPr algn="l"/>
            <a:r>
              <a:rPr b="1">
                <a:solidFill>
                  <a:srgbClr val="76B900"/>
                </a:solidFill>
                <a:latin typeface="NVIDIA Sans Medium"/>
              </a:rPr>
              <a:t>Learned VSA route</a:t>
            </a:r>
          </a:p>
          <a:p>
            <a:pPr lvl="1" algn="l"/>
            <a:r>
              <a:rPr b="0">
                <a:solidFill>
                  <a:srgbClr val="313131"/>
                </a:solidFill>
                <a:latin typeface="NVIDIA Sans"/>
              </a:rPr>
              <a:t>Partition → coarse score → Top-K → fine attention → gate</a:t>
            </a:r>
          </a:p>
          <a:p>
            <a:pPr algn="l"/>
            <a:r>
              <a:rPr b="1">
                <a:solidFill>
                  <a:srgbClr val="313131"/>
                </a:solidFill>
                <a:latin typeface="NVIDIA Sans Medium"/>
              </a:rPr>
              <a:t>Paper defaults</a:t>
            </a:r>
          </a:p>
          <a:p>
            <a:pPr lvl="1" algn="l"/>
            <a:r>
              <a:rPr b="0">
                <a:solidFill>
                  <a:srgbClr val="313131"/>
                </a:solidFill>
                <a:latin typeface="NVIDIA Sans"/>
              </a:rPr>
              <a:t>4 × 4 × 4 = 64 tokens per cube · Top-K = 32 KV cubes</a:t>
            </a:r>
          </a:p>
          <a:p>
            <a:pPr algn="l"/>
            <a:r>
              <a:rPr b="1">
                <a:solidFill>
                  <a:srgbClr val="313131"/>
                </a:solidFill>
                <a:latin typeface="NVIDIA Sans Medium"/>
              </a:rPr>
              <a:t>System boundary</a:t>
            </a:r>
          </a:p>
          <a:p>
            <a:pPr lvl="1" algn="l"/>
            <a:r>
              <a:rPr b="0">
                <a:solidFill>
                  <a:srgbClr val="313131"/>
                </a:solidFill>
                <a:latin typeface="NVIDIA Sans"/>
              </a:rPr>
              <a:t>Attention compute becomes sparse; USP8 still exchanges full-length Q/K/V/O</a:t>
            </a:r>
          </a:p>
          <a:p>
            <a:pPr lvl="1" algn="l"/>
            <a:r>
              <a:rPr b="0">
                <a:solidFill>
                  <a:srgbClr val="313131"/>
                </a:solidFill>
                <a:latin typeface="NVIDIA Sans"/>
              </a:rPr>
              <a:t>Needs sparse-trained routing and gate weights</a:t>
            </a:r>
          </a:p>
        </p:txBody>
      </p:sp>
      <p:sp>
        <p:nvSpPr>
          <p:cNvPr id="3" name="Text Placeholder 2"/>
          <p:cNvSpPr>
            <a:spLocks noGrp="1"/>
          </p:cNvSpPr>
          <p:nvPr>
            <p:ph type="body" idx="14" sz="quarter"/>
          </p:nvPr>
        </p:nvSpPr>
        <p:spPr/>
        <p:txBody>
          <a:bodyPr/>
          <a:lstStyle/>
          <a:p>
            <a:r>
              <a:t>Video Sparse Attention learns which 3-D video cubes matter</a:t>
            </a:r>
          </a:p>
        </p:txBody>
      </p:sp>
      <p:sp>
        <p:nvSpPr>
          <p:cNvPr id="4" name="Title 3"/>
          <p:cNvSpPr>
            <a:spLocks noGrp="1"/>
          </p:cNvSpPr>
          <p:nvPr>
            <p:ph type="title"/>
          </p:nvPr>
        </p:nvSpPr>
        <p:spPr/>
        <p:txBody>
          <a:bodyPr/>
          <a:lstStyle/>
          <a:p>
            <a:r>
              <a:t>VSA Makes Attention Sparse</a:t>
            </a:r>
          </a:p>
        </p:txBody>
      </p:sp>
      <p:sp>
        <p:nvSpPr>
          <p:cNvPr id="5" name="Text Placeholder 4"/>
          <p:cNvSpPr>
            <a:spLocks noGrp="1"/>
          </p:cNvSpPr>
          <p:nvPr>
            <p:ph type="body" idx="52" sz="quarter"/>
          </p:nvPr>
        </p:nvSpPr>
        <p:spPr/>
        <p:txBody>
          <a:bodyPr/>
          <a:lstStyle/>
          <a:p>
            <a:r>
              <a:t>Paper: 64-token cubes · Top-K = 32 KV cubes/query · H3: route 128 rows, kernel 64 rows</a:t>
            </a:r>
          </a:p>
        </p:txBody>
      </p:sp>
      <p:sp>
        <p:nvSpPr>
          <p:cNvPr id="6" name="Text Placeholder 5"/>
          <p:cNvSpPr>
            <a:spLocks noGrp="1"/>
          </p:cNvSpPr>
          <p:nvPr>
            <p:ph type="body" idx="51" sz="quarter"/>
          </p:nvPr>
        </p:nvSpPr>
        <p:spPr/>
        <p:txBody>
          <a:bodyPr/>
          <a:lstStyle/>
          <a:p>
            <a:r>
              <a:t>Partition → Coarse → Top-K → Fine → Gate</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Each path targets different SM120 kernels, and current evidence validates them separately</a:t>
            </a:r>
          </a:p>
        </p:txBody>
      </p:sp>
      <p:sp>
        <p:nvSpPr>
          <p:cNvPr id="3" name="Title 2"/>
          <p:cNvSpPr>
            <a:spLocks noGrp="1"/>
          </p:cNvSpPr>
          <p:nvPr>
            <p:ph type="title"/>
          </p:nvPr>
        </p:nvSpPr>
        <p:spPr/>
        <p:txBody>
          <a:bodyPr/>
          <a:lstStyle/>
          <a:p>
            <a:r>
              <a:t>QAD Quantizes Linears; Sage Quantizes VSA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10</a:t>
            </a:fld>
            <a:endParaRPr lang="en-US"/>
          </a:p>
        </p:txBody>
      </p:sp>
      <p:graphicFrame>
        <p:nvGraphicFramePr>
          <p:cNvPr id="5" name="Official NVIDIA QAD Sag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303520">
                  <a:extLst>
                    <a:ext uri="{9D8B030D-6E8A-4147-A177-3AD203B41FA5}">
                      <a16:colId xmlns:a16="http://schemas.microsoft.com/office/drawing/2014/main" val="1714626306"/>
                    </a:ext>
                  </a:extLst>
                </a:gridCol>
                <a:gridCol w="7772400">
                  <a:extLst>
                    <a:ext uri="{9D8B030D-6E8A-4147-A177-3AD203B41FA5}">
                      <a16:colId xmlns:a16="http://schemas.microsoft.com/office/drawing/2014/main" val="1697748500"/>
                    </a:ext>
                  </a:extLst>
                </a:gridCol>
                <a:gridCol w="7315200">
                  <a:extLst>
                    <a:ext uri="{9D8B030D-6E8A-4147-A177-3AD203B41FA5}">
                      <a16:colId xmlns:a16="http://schemas.microsoft.com/office/drawing/2014/main" val="3872581152"/>
                    </a:ext>
                  </a:extLst>
                </a:gridCol>
                <a:gridCol w="7879201">
                  <a:extLst>
                    <a:ext uri="{9D8B030D-6E8A-4147-A177-3AD203B41FA5}">
                      <a16:colId xmlns:a16="http://schemas.microsoft.com/office/drawing/2014/main" val="2543914041"/>
                    </a:ext>
                  </a:extLst>
                </a:gridCol>
              </a:tblGrid>
              <a:tr h="100584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Path</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Numerical Route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Effect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Validated Scope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QAD checkpoint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NVFP4 linears; BF16 exceptions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Recovers quantization error during distillation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forwards; PDD32; VSA 90%; tile 128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Sage VSA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Q/K INT8; V FP8; BF16 output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Quantizes tile64 fine attention after routing</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d=128; opt-in; Ulysses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Precision island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Token refiner: BF16; VSA default: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Keeps the sensitive short path in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Same-seed quality check pending</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Inter-GPU transport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BF16 Q/K/V before Sage; BF16 O after Sage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Keeps collective payloads in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QAD and Sage do not reduce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FastH3 Omni NVFP4-QAD rev 0087718 · NVIDIA ModelOpt QAD · vLLM-Omni SM120 Sage-VSA @ 63487a7</a:t>
            </a:r>
            <a:endParaRPr lang="en-US" dirty="0"/>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Base50 runs 2,500 blocks at S = 34,432 on eight RTX PRO 5000 GPUs with local NCCL and no RDMA against a 5.167 s deadline</a:t>
            </a:r>
          </a:p>
        </p:txBody>
      </p:sp>
      <p:sp>
        <p:nvSpPr>
          <p:cNvPr id="3" name="Title 2"/>
          <p:cNvSpPr>
            <a:spLocks noGrp="1"/>
          </p:cNvSpPr>
          <p:nvPr>
            <p:ph type="title"/>
          </p:nvPr>
        </p:nvSpPr>
        <p:spPr/>
        <p:txBody>
          <a:bodyPr/>
          <a:lstStyle/>
          <a:p>
            <a:r>
              <a:t>USP8 Issues Four All-to-Alls per DiT Block</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Rate at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61.7 MB/rank/A2A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Logical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Not achieved bandwidth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p:txBody>
          <a:bodyPr/>
          <a:lstStyle/>
          <a:p>
            <a:r>
              <a:t>Four GPUs are byte-exact; eight-GPU H3 remains pending</a:t>
            </a:r>
          </a:p>
        </p:txBody>
      </p:sp>
      <p:sp>
        <p:nvSpPr>
          <p:cNvPr id="4" name="Title 3"/>
          <p:cNvSpPr>
            <a:spLocks noGrp="1"/>
          </p:cNvSpPr>
          <p:nvPr>
            <p:ph type="title"/>
          </p:nvPr>
        </p:nvSpPr>
        <p:spPr/>
        <p:txBody>
          <a:bodyPr/>
          <a:lstStyle/>
          <a:p>
            <a:r>
              <a:t>RDMA Precheck Passes 96/96</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13</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15</a:t>
            </a:fld>
            <a:endParaRPr lang="en-US"/>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