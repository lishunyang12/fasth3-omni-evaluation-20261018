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1.svg" ContentType="image/svg+xml"/>
  <Override PartName="/ppt/media/h3vector12.svg" ContentType="image/svg+xml"/>
  <Override PartName="/ppt/media/h3vector13.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64" r:id="rId48"/>
    <p:sldId id="363" r:id="rId47"/>
    <p:sldId id="366" r:id="rId50"/>
    <p:sldId id="353" r:id="rId95"/>
    <p:sldId id="354" r:id="rId96"/>
    <p:sldId id="355" r:id="rId97"/>
    <p:sldId id="361" r:id="rId45"/>
    <p:sldId id="367" r:id="rId44"/>
    <p:sldId id="368" r:id="rId51"/>
    <p:sldId id="369" r:id="rId49"/>
    <p:sldId id="370" r:id="rId43"/>
    <p:sldId id="357" r:id="rId99"/>
    <p:sldId id="358" r:id="rId100"/>
    <p:sldId id="359" r:id="rId10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3" Type="http://schemas.openxmlformats.org/officeDocument/2006/relationships/slide" Target="slides/slide28.xml"/><Relationship Id="rId44" Type="http://schemas.openxmlformats.org/officeDocument/2006/relationships/slide" Target="slides/slide19.xml"/><Relationship Id="rId45" Type="http://schemas.openxmlformats.org/officeDocument/2006/relationships/slide" Target="slides/slide16.xml"/><Relationship Id="rId47" Type="http://schemas.openxmlformats.org/officeDocument/2006/relationships/slide" Target="slides/slide11.xml"/><Relationship Id="rId48" Type="http://schemas.openxmlformats.org/officeDocument/2006/relationships/slide" Target="slides/slide10.xml"/><Relationship Id="rId49" Type="http://schemas.openxmlformats.org/officeDocument/2006/relationships/slide" Target="slides/slide27.xml"/><Relationship Id="rId50" Type="http://schemas.openxmlformats.org/officeDocument/2006/relationships/slide" Target="slides/slide12.xml"/><Relationship Id="rId51" Type="http://schemas.openxmlformats.org/officeDocument/2006/relationships/slide" Target="slides/slide20.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3" Type="http://schemas.openxmlformats.org/officeDocument/2006/relationships/slide" Target="slides/slide2.xml"/><Relationship Id="rId84" Type="http://schemas.openxmlformats.org/officeDocument/2006/relationships/slide" Target="slides/slide3.xml"/><Relationship Id="rId85" Type="http://schemas.openxmlformats.org/officeDocument/2006/relationships/slide" Target="slides/slide4.xml"/><Relationship Id="rId86" Type="http://schemas.openxmlformats.org/officeDocument/2006/relationships/slide" Target="slides/slide5.xml"/><Relationship Id="rId87" Type="http://schemas.openxmlformats.org/officeDocument/2006/relationships/slide" Target="slides/slide6.xml"/><Relationship Id="rId88" Type="http://schemas.openxmlformats.org/officeDocument/2006/relationships/slide" Target="slides/slide7.xml"/><Relationship Id="rId89" Type="http://schemas.openxmlformats.org/officeDocument/2006/relationships/slide" Target="slides/slide8.xml"/><Relationship Id="rId90" Type="http://schemas.openxmlformats.org/officeDocument/2006/relationships/slide" Target="slides/slide9.xml"/><Relationship Id="rId95" Type="http://schemas.openxmlformats.org/officeDocument/2006/relationships/slide" Target="slides/slide13.xml"/><Relationship Id="rId96" Type="http://schemas.openxmlformats.org/officeDocument/2006/relationships/slide" Target="slides/slide14.xml"/><Relationship Id="rId97" Type="http://schemas.openxmlformats.org/officeDocument/2006/relationships/slide" Target="slides/slide15.xml"/><Relationship Id="rId99" Type="http://schemas.openxmlformats.org/officeDocument/2006/relationships/slide" Target="slides/slide23.xml"/><Relationship Id="rId100" Type="http://schemas.openxmlformats.org/officeDocument/2006/relationships/slide" Target="slides/slide24.xml"/><Relationship Id="rId101" Type="http://schemas.openxmlformats.org/officeDocument/2006/relationships/slide" Target="slides/slide25.xml"/><Relationship Id="rId102" Type="http://schemas.openxmlformats.org/officeDocument/2006/relationships/slide" Target="slides/slide26.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Output loss: at each selected rung and for each of video/audio, MSE(student x0, teacher x0) divided by the initial PTQ MSE for that modality and rung. Video/audio weights are equal. Reconstruction: each student attention/FFN unit receives the teacher unit input with stop-gradient and matches its output using relative squared error. Target-video, target-audio and conditioning group weights are 1,1,0.25, normalized over present groups. Sequence-parallel-global denominators and gradient scaling preserve group weighting. Reconstruction is streamed per block and normalized by its step-zero value per rung. With recon_lambda=1, output and reconstruction terms have equal coefficients. The teacher walks all eight rungs; four rungs per row receive student loss. From step 20, student rollout is selected with probability 0.25. OmniRef YAML sets 200 training steps and identifies release step 120; do not reuse the V2 300-step recipe or V2 quality improvements as Omni measurements. Deployment adapter preserves packed weights, per-projection global scales, Q/K/V execution order and tensor-parallel scale swizzling. No QAD training was performed by this project. https://github.com/hao-ai-lab/FastVideo/blob/ea3275dfd1ce48cbb01f9fc7f28e918e857a0536/fastvideo/train/methods/knowledge_distillation/pdd_qad.py</a:t>
            </a:r>
          </a:p>
          <a:p>
            <a:r>
              <a:t>https://github.com/hao-ai-lab/FastVideo/blob/ea3275dfd1ce48cbb01f9fc7f28e918e857a0536/fastvideo/train/methods/knowledge_distillation/pdd_qad_recon.py</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videos are embedded as separate MP4 objects on this same slide, left to right: BF16 reference, Online NVFP4 without QAD training, and published QAD NVFP4. The video frames are not cropped or stretched. Videos start together at slide entry and are muted by default. Same request JSON: two family reference views, prompt, seed 1234, 1344x768, 124 frames at 24 FPS, eight transformer evaluations, cuDNN BF16 VSA and original video/audio decoders. Online NVFP4 quantizes untouched BF16 checkpoint 88d512c5 weights. No calibration dataset or table is loaded. Every DiT projection computes its activation global scale as 2688/max(abs(current_input)) on each forward; weights use their own tensor amax. Per-16 E4M3 block scales are computed dynamically. Weights are quantized once and cached before loading; activations are dynamically quantized on each forward. This is PTQ, without teacher supervision or QAD weight updates. It does not use the FP4 attention emulator. BF16 and Online NVFP4 use the original BF16 text encoder; the retained published QAD run uses its checkpoint encoder. Therefore this is a checkpoint-level visual comparison, not an isolated DiT QAD ablation. The original BF16 run uses HSDP, whereas quantized runs do not. No latency attribution or universal quality claim is made. The PDF contains frame-24 posters; video playback is in the PPTX or local HTML preview. https://github.com/hao-ai-lab/FastVideo/blob/ea3275dfd1ce48cbb01f9fc7f28e918e857a0536/examples/train/configs/knowledge_distillation/minimax_h3/omniref_nvfp4_qad.yaml</a:t>
            </a:r>
          </a:p>
          <a:p>
            <a:r>
              <a:t>Measured decoded-video similarity: {"online_nvfp4": {"lpips_alex_v0_1": {"mean": 0.2977905738497934, "std_population": 0.1439843131812286, "min": 0.09652196615934372, "max": 0.5121737718582153, "frames": 124}, "ssim_rgb": {"mean": 0.5777637524457234, "std_population": 0.13019779426300312, "min": 0.4346516289486761, "max": 0.8592144454339667, "frames": 124}}, "qad_nvfp4": {"lpips_alex_v0_1": {"mean": 0.2501977474819268, "std_population": 0.1342112506959792, "min": 0.08768212795257568, "max": 0.44881367683410645, "frames": 124}, "ssim_rgb": {"mean": 0.6437721022708937, "std_population": 0.13355167661847192, "min": 0.5014632406551502, "max": 0.8743636803808933, "frames": 124}}}</a:t>
            </a:r>
          </a:p>
          <a:p>
            <a:r>
              <a:t>LPIPS: pretrained AlexNet v0.1, FP32 RGB [-1,1]. SSIM: RGB, Gaussian 11x11 sigma 1.5, population covariance, data range 255. All 124 frames at original 1344x768; same frame-index alignment; no resize. Single-prompt checkpoint similarity, not general video quality. Request curl time_total is recorded in video-generation-times.json and displayed above. The online request was the first inference after startup, whereas retained runs used already-active servers. Timings exclude model loading and prepacking, include encoding/download; do not infer a quantization speedup.</a:t>
            </a:r>
          </a:p>
          <a:p>
            <a:r>
              <a:t>Direct Online NVFP4 uses the algorithm on the untouched BF16 checkpoint without numerical tuning. Amax scaling is part of the quantization algorithm. Videos and previously reported request times and LPIPS/SSIM are unchanged in v1.26.</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AdaLN host-to-device weight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More than 99.998 percent of that H-to-D time comes from staging AdaLN projection BF16 weight and bias on exact-cache misses. The run uses the default 256 MiB runtime output cache and does not configure a complete offline schedule sidecar. Ordinary Attention, MLP and QKV weights remain resident after initialization.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defines the sampling terms used by the rest of the deck. A latent state x(t) is the current compressed video and audio representation. The DiT reads that state, its time coordinate and the prompt or reference conditioning, then predicts a data-ward velocity. The Euler solver uses that velocity to construct the next latent. Conventional sampling is sequential because the next DiT call requires the state produced by the previous update. NFE means network function evaluation; one NFE is one complete DiT forward, not one Transformer block. Base H3 uses 50 sequential NFEs. Each NFE traverses the 50-block main Transformer trunk, so the repeated trunk workload is 50 times 50, or 2,500 main-block passes. Under USP8, each of eight ranks executes its local shard, which is why a system trace can show 20,000 rank-local attention launches. Prompt and reference encoding happen before the repeated loop, and VAE decoding happens after it. H3 uses separate shifted Euler schedules for video and audio; x(t) and delta-t on this page deliberately abstract those two modality-specific updates, which share one joint DiT forward. Sources: https://research.nvidia.com/labs/genair/pdd/ ; https://github.com/MiniMax-AI/MiniMax-H3/blob/main/transformer/config.json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Actual Nsight Systems GUI screenshot of FastH3_QAD36L_8xPRO5000_960x544_PCIe_GPU_NIC.nsys-rep. This is the pre-head-pipeline RDMA baseline; it already overlaps V/g projection with the first exchange. Q/K/V/G and O are otherwise whole-head operands. Exposed transport is defined using event-sync return to closing barrier CPU launch, intersected with productive CUDA kernels, excluding pack/unpack/copy/barrier kernels. Mean over eight GPUs: phase 3.761780366 s, exposed 3.244157462 s, covered 13.760%. Includes host posting/CQ polling/flush; not exact NIC wire time or E2E attribution. Screenshot does not show the proposed 2/3/2 schedule. Nsight reported possible incomplete CUDA/NVTX/OSRT collection; expected windows reconcile.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parallelism starts with a token shard on every GPU. For this measured 362-frame profile, the aligned sequence has 56,960 tokens, so USP8 gives each rank 7,120 tokens and all 56 attention heads. After the local Q, K, V and learned VSA gate projections, Ulysses runs an all-to-all that gathers the full sequence while scattering heads. The local tensor changes from [B, S/8, 56, 128] to [B, S, 7, 128]. Each rank can now compute full-sequence attention locally for its own seven heads. A reverse all-to-all on O restores [B, S/8, 56, 128], and output projection, residual and MLP continue on the local token shard. The element count is preserved: (S/8) times 56 equals S times 7. USP reduces the per-rank activation and head workload; it does not reduce the global attention math. New Q, K, V and gate tensors are produced in every attention block, so this exchange repeats block by block. The 56,960-token shape belongs to the measured 960 by 544, 362-frame communication study; it is not the 124-frame Base50 shape.</a:t>
            </a:r>
          </a:p>
          <a:p/>
          <a:p>
            <a:r>
              <a:t>v1.21: Title changed to Ulysses. The original website SVG and PNG are embedded without artwork edits. The schematic is the website P=4, S=15104 Q/K/V/O example, not the P=8, S=56960 measured H3 configuration described at left. The illustration does not include the extra learned VSA gate slot in the measured H3 profile. Retained website source: https://grateful-requirements-dictionaries-impacts.trycloudflare.com/scaling/ulysses.svg. The old tunnel is currently unavailable; original local website files were recovered.</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3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 Id="rId3" Type="http://schemas.openxmlformats.org/officeDocument/2006/relationships/image" Target="../media/image35.png"/><Relationship Id="rId4" Type="http://schemas.openxmlformats.org/officeDocument/2006/relationships/image" Target="../media/h3vector13.sv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solidFill>
                  <a:srgbClr val="313131"/>
                </a:solidFill>
              </a:rPr>
              <a:t>Shunyang Li | Public technical brief | October 2026</a:t>
            </a:r>
          </a:p>
        </p:txBody>
      </p:sp>
      <p:sp>
        <p:nvSpPr>
          <p:cNvPr id="3" name="Text Placeholder 2"/>
          <p:cNvSpPr>
            <a:spLocks noGrp="1"/>
          </p:cNvSpPr>
          <p:nvPr>
            <p:ph type="body" idx="11" sz="quarter"/>
          </p:nvPr>
        </p:nvSpPr>
        <p:spPr/>
        <p:txBody>
          <a:bodyPr/>
          <a:lstStyle/>
          <a:p>
            <a:r>
              <a:rPr sz="7700">
                <a:latin typeface="NVIDIA Sans"/>
              </a:rPr>
              <a:t>8× RTX PRO 5000 · vLLM-Omni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p:txBody>
          <a:bodyPr/>
          <a:lstStyle/>
          <a:p>
            <a:r>
              <a:t>32B encoder → 33B dense Omni Transformer → visual/audio VAE. Fifty blocks × 50 steps keep compute and memory pressure high; about 13B AdaLN parameters can be cached</a:t>
            </a:r>
          </a:p>
        </p:txBody>
      </p:sp>
      <p:sp>
        <p:nvSpPr>
          <p:cNvPr id="8" name="Text Placeholder 7"/>
          <p:cNvSpPr>
            <a:spLocks noGrp="1"/>
          </p:cNvSpPr>
          <p:nvPr>
            <p:ph type="body" idx="55" sz="quarter"/>
          </p:nvPr>
        </p:nvSpPr>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NIC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average GPU timeline</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Average GPU Time*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weight staging + device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default AdaLN offload · local NCCL / RDMA off · *sum across 8 GPU timelines ÷ 8</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Of the 38.5 s average, 36.9 s is AdaLN projection weight staging from CPU; layout is 1.5 s</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This run uses the default runtime cache, not a complete precomputed schedule sidecar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State and direction</a:t>
            </a:r>
          </a:p>
          <a:p>
            <a:pPr lvl="1" algn="l"/>
            <a:r>
              <a:rPr b="0">
                <a:solidFill>
                  <a:srgbClr val="313131"/>
                </a:solidFill>
                <a:latin typeface="NVIDIA Sans"/>
              </a:rPr>
              <a:t>x(t) is the current latent; the DiT predicts a data-ward velocity</a:t>
            </a:r>
          </a:p>
          <a:p>
            <a:pPr algn="l"/>
            <a:r>
              <a:rPr b="1">
                <a:solidFill>
                  <a:srgbClr val="313131"/>
                </a:solidFill>
                <a:latin typeface="NVIDIA Sans Medium"/>
              </a:rPr>
              <a:t>Solver update</a:t>
            </a:r>
          </a:p>
          <a:p>
            <a:pPr lvl="1" algn="l"/>
            <a:r>
              <a:rPr b="0">
                <a:solidFill>
                  <a:srgbClr val="313131"/>
                </a:solidFill>
                <a:latin typeface="NVIDIA Sans"/>
              </a:rPr>
              <a:t>Euler advances x(t) by a small interval along that velocity</a:t>
            </a:r>
          </a:p>
          <a:p>
            <a:pPr lvl="1" algn="l"/>
            <a:r>
              <a:rPr b="0">
                <a:solidFill>
                  <a:srgbClr val="313131"/>
                </a:solidFill>
                <a:latin typeface="NVIDIA Sans"/>
              </a:rPr>
              <a:t>The next DiT call needs the new latent, so conventional steps run in sequence</a:t>
            </a:r>
          </a:p>
          <a:p>
            <a:pPr algn="l"/>
            <a:r>
              <a:rPr b="1">
                <a:solidFill>
                  <a:srgbClr val="76B900"/>
                </a:solidFill>
                <a:latin typeface="NVIDIA Sans Medium"/>
              </a:rPr>
              <a:t>Network function evaluation (NFE)</a:t>
            </a:r>
          </a:p>
          <a:p>
            <a:pPr lvl="1" algn="l"/>
            <a:r>
              <a:rPr b="0">
                <a:solidFill>
                  <a:srgbClr val="313131"/>
                </a:solidFill>
                <a:latin typeface="NVIDIA Sans"/>
              </a:rPr>
              <a:t>One NFE is one complete DiT forward</a:t>
            </a:r>
          </a:p>
          <a:p>
            <a:pPr algn="l"/>
            <a:r>
              <a:rPr b="1">
                <a:solidFill>
                  <a:srgbClr val="313131"/>
                </a:solidFill>
                <a:latin typeface="NVIDIA Sans Medium"/>
              </a:rPr>
              <a:t>Base H3</a:t>
            </a:r>
          </a:p>
          <a:p>
            <a:pPr lvl="1" algn="l"/>
            <a:r>
              <a:rPr b="0">
                <a:solidFill>
                  <a:srgbClr val="313131"/>
                </a:solidFill>
                <a:latin typeface="NVIDIA Sans"/>
              </a:rPr>
              <a:t>50 NFE × 50 main blocks = 2,500 main-block passes</a:t>
            </a:r>
          </a:p>
        </p:txBody>
      </p:sp>
      <p:sp>
        <p:nvSpPr>
          <p:cNvPr id="3" name="Text Placeholder 2"/>
          <p:cNvSpPr>
            <a:spLocks noGrp="1"/>
          </p:cNvSpPr>
          <p:nvPr>
            <p:ph type="body" idx="14" sz="quarter"/>
          </p:nvPr>
        </p:nvSpPr>
        <p:spPr>
          <a:xfrm>
            <a:off x="1828800" y="5806440"/>
            <a:ext cx="13716000" cy="1417320"/>
          </a:xfrm>
        </p:spPr>
        <p:txBody>
          <a:bodyPr/>
          <a:lstStyle/>
          <a:p>
            <a:r>
              <a:t>H3 follows a learned velocity field from noise toward clean video and audio latents</a:t>
            </a:r>
          </a:p>
        </p:txBody>
      </p:sp>
      <p:sp>
        <p:nvSpPr>
          <p:cNvPr id="4" name="Title 3"/>
          <p:cNvSpPr>
            <a:spLocks noGrp="1"/>
          </p:cNvSpPr>
          <p:nvPr>
            <p:ph type="title"/>
          </p:nvPr>
        </p:nvSpPr>
        <p:spPr>
          <a:xfrm>
            <a:off x="1828800" y="1828800"/>
            <a:ext cx="13716000" cy="3840480"/>
          </a:xfrm>
        </p:spPr>
        <p:txBody>
          <a:bodyPr/>
          <a:lstStyle/>
          <a:p>
            <a:r>
              <a:t>How Denoising Works</a:t>
            </a:r>
          </a:p>
        </p:txBody>
      </p:sp>
      <p:sp>
        <p:nvSpPr>
          <p:cNvPr id="5" name="Text Placeholder 4"/>
          <p:cNvSpPr>
            <a:spLocks noGrp="1"/>
          </p:cNvSpPr>
          <p:nvPr>
            <p:ph type="body" idx="52" sz="quarter"/>
          </p:nvPr>
        </p:nvSpPr>
        <p:spPr/>
        <p:txBody>
          <a:bodyPr/>
          <a:lstStyle/>
          <a:p>
            <a:r>
              <a:t>A chain of dependent solver updates turns noise into clean latents</a:t>
            </a:r>
          </a:p>
        </p:txBody>
      </p:sp>
      <p:sp>
        <p:nvSpPr>
          <p:cNvPr id="6" name="Text Placeholder 5"/>
          <p:cNvSpPr>
            <a:spLocks noGrp="1"/>
          </p:cNvSpPr>
          <p:nvPr>
            <p:ph type="body" idx="51" sz="quarter"/>
          </p:nvPr>
        </p:nvSpPr>
        <p:spPr/>
        <p:txBody>
          <a:bodyPr/>
          <a:lstStyle/>
          <a:p>
            <a:r>
              <a:t>Classical Flow-Matching Sampling</a:t>
            </a:r>
          </a:p>
        </p:txBody>
      </p:sp>
      <p:pic>
        <p:nvPicPr>
          <p:cNvPr id="7" name="Picture Placeholder 6" descr="denoising-basic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 H3 Base configuration · NVIDIA FastGen-PDD sampling background (arXiv:2607.26004) · author abstraction</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50 → 8 DiT calls; 2,500 → 400 repeated block passes (−84%)</a:t>
            </a:r>
          </a:p>
        </p:txBody>
      </p:sp>
      <p:sp>
        <p:nvSpPr>
          <p:cNvPr id="3" name="Text Placeholder 2"/>
          <p:cNvSpPr>
            <a:spLocks noGrp="1"/>
          </p:cNvSpPr>
          <p:nvPr>
            <p:ph type="body" idx="14" sz="quarter"/>
          </p:nvPr>
        </p:nvSpPr>
        <p:spPr>
          <a:xfrm>
            <a:off x="1828800" y="5806440"/>
            <a:ext cx="13716000" cy="1417320"/>
          </a:xfrm>
        </p:spPr>
        <p:txBody>
          <a:bodyPr/>
          <a:lstStyle/>
          <a:p>
            <a:r>
              <a:t>PDD predicts four denoising intervals per DiT call: 50 calls → 8</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4173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p:txBody>
          <a:bodyPr/>
          <a:lstStyle/>
          <a:p>
            <a:r>
              <a:t>Global coarse context + selected fine detail · FastH3 adaptation: G_f = 1</a:t>
            </a:r>
          </a:p>
        </p:txBody>
      </p:sp>
      <p:sp>
        <p:nvSpPr>
          <p:cNvPr id="6" name="Text Placeholder 5"/>
          <p:cNvSpPr>
            <a:spLocks noGrp="1"/>
          </p:cNvSpPr>
          <p:nvPr>
            <p:ph type="body" idx="51" sz="quarter"/>
          </p:nvPr>
        </p:nvSpPr>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10</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BF16 reference · Direct Online NVFP4 · Published QAD checkpoint</a:t>
            </a:r>
          </a:p>
        </p:txBody>
      </p:sp>
      <p:sp>
        <p:nvSpPr>
          <p:cNvPr id="4" name="Title 3"/>
          <p:cNvSpPr>
            <a:spLocks noGrp="1"/>
          </p:cNvSpPr>
          <p:nvPr>
            <p:ph type="title"/>
          </p:nvPr>
        </p:nvSpPr>
        <p:spPr/>
        <p:txBody>
          <a:bodyPr/>
          <a:lstStyle/>
          <a:p>
            <a:r>
              <a:t>Quantization: Three-Way Video Comparison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Matched request · cuDNN BF16 attention + original VAE · checkpoint comparison, including encoder precision</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11</a:t>
            </a:fld>
            <a:endParaRPr lang="en-US"/>
          </a:p>
        </p:txBody>
      </p:sp>
      <p:sp>
        <p:nvSpPr>
          <p:cNvPr id="7" name="BF16 Reference"/>
          <p:cNvSpPr txBox="1"/>
          <p:nvPr/>
        </p:nvSpPr>
        <p:spPr>
          <a:xfrm>
            <a:off x="1828800" y="5715000"/>
            <a:ext cx="10515600" cy="91440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828800" y="7315200"/>
            <a:ext cx="10515600" cy="6008914"/>
          </a:xfrm>
          <a:prstGeom prst="rect">
            <a:avLst/>
          </a:prstGeom>
          <a:ln w="9525">
            <a:solidFill>
              <a:srgbClr val="A7A7A7"/>
            </a:solidFill>
          </a:ln>
        </p:spPr>
      </p:pic>
      <p:sp>
        <p:nvSpPr>
          <p:cNvPr id="9" name="Original BF16 weights"/>
          <p:cNvSpPr txBox="1"/>
          <p:nvPr/>
        </p:nvSpPr>
        <p:spPr>
          <a:xfrm>
            <a:off x="1828800" y="13827034"/>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Original BF16 weights</a:t>
            </a:r>
          </a:p>
        </p:txBody>
      </p:sp>
      <p:sp>
        <p:nvSpPr>
          <p:cNvPr id="10" name="Request E2E: 48.12 s*"/>
          <p:cNvSpPr txBox="1"/>
          <p:nvPr/>
        </p:nvSpPr>
        <p:spPr>
          <a:xfrm>
            <a:off x="1828800" y="1490472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E2E: 48.12 s*</a:t>
            </a:r>
          </a:p>
        </p:txBody>
      </p:sp>
      <p:sp>
        <p:nvSpPr>
          <p:cNvPr id="11" name="LPIPS ↓ 0.0000  |  SSIM ↑ 1.0000"/>
          <p:cNvSpPr txBox="1"/>
          <p:nvPr/>
        </p:nvSpPr>
        <p:spPr>
          <a:xfrm>
            <a:off x="1828800" y="15910559"/>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LPIPS ↓ 0.0000  |  SSIM ↑ 1.0000</a:t>
            </a:r>
          </a:p>
        </p:txBody>
      </p:sp>
      <p:sp>
        <p:nvSpPr>
          <p:cNvPr id="12" name="Online NVFP4"/>
          <p:cNvSpPr txBox="1"/>
          <p:nvPr/>
        </p:nvSpPr>
        <p:spPr>
          <a:xfrm>
            <a:off x="13030200" y="5715000"/>
            <a:ext cx="10515600" cy="91440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3030200" y="7315200"/>
            <a:ext cx="10515600" cy="6008914"/>
          </a:xfrm>
          <a:prstGeom prst="rect">
            <a:avLst/>
          </a:prstGeom>
          <a:ln w="9525">
            <a:solidFill>
              <a:srgbClr val="A7A7A7"/>
            </a:solidFill>
          </a:ln>
        </p:spPr>
      </p:pic>
      <p:sp>
        <p:nvSpPr>
          <p:cNvPr id="14" name="No calibration · No QAD"/>
          <p:cNvSpPr txBox="1"/>
          <p:nvPr/>
        </p:nvSpPr>
        <p:spPr>
          <a:xfrm>
            <a:off x="13030200" y="13827034"/>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No calibration / fine-tuning / QAD</a:t>
            </a:r>
          </a:p>
        </p:txBody>
      </p:sp>
      <p:sp>
        <p:nvSpPr>
          <p:cNvPr id="15" name="Request E2E: 32.44 s*"/>
          <p:cNvSpPr txBox="1"/>
          <p:nvPr/>
        </p:nvSpPr>
        <p:spPr>
          <a:xfrm>
            <a:off x="13030200" y="1490472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E2E: 32.44 s*</a:t>
            </a:r>
          </a:p>
        </p:txBody>
      </p:sp>
      <p:sp>
        <p:nvSpPr>
          <p:cNvPr id="16" name="LPIPS ↓ 0.2978  |  SSIM ↑ 0.5778"/>
          <p:cNvSpPr txBox="1"/>
          <p:nvPr/>
        </p:nvSpPr>
        <p:spPr>
          <a:xfrm>
            <a:off x="13030200" y="15910559"/>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LPIPS ↓ 0.2978  |  SSIM ↑ 0.5778</a:t>
            </a:r>
          </a:p>
        </p:txBody>
      </p:sp>
      <p:sp>
        <p:nvSpPr>
          <p:cNvPr id="17" name="QAD NVFP4"/>
          <p:cNvSpPr txBox="1"/>
          <p:nvPr/>
        </p:nvSpPr>
        <p:spPr>
          <a:xfrm>
            <a:off x="24231600" y="5715000"/>
            <a:ext cx="10515600" cy="91440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24231600" y="7315200"/>
            <a:ext cx="10515600" cy="6008914"/>
          </a:xfrm>
          <a:prstGeom prst="rect">
            <a:avLst/>
          </a:prstGeom>
          <a:ln w="9525">
            <a:solidFill>
              <a:srgbClr val="A7A7A7"/>
            </a:solidFill>
          </a:ln>
        </p:spPr>
      </p:pic>
      <p:sp>
        <p:nvSpPr>
          <p:cNvPr id="19" name="Published QAD checkpoint"/>
          <p:cNvSpPr txBox="1"/>
          <p:nvPr/>
        </p:nvSpPr>
        <p:spPr>
          <a:xfrm>
            <a:off x="24231600" y="13827034"/>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Published QAD checkpoint</a:t>
            </a:r>
          </a:p>
        </p:txBody>
      </p:sp>
      <p:sp>
        <p:nvSpPr>
          <p:cNvPr id="20" name="Request E2E: 28.40 s*"/>
          <p:cNvSpPr txBox="1"/>
          <p:nvPr/>
        </p:nvSpPr>
        <p:spPr>
          <a:xfrm>
            <a:off x="24231600" y="1490472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E2E: 28.40 s*</a:t>
            </a:r>
          </a:p>
        </p:txBody>
      </p:sp>
      <p:sp>
        <p:nvSpPr>
          <p:cNvPr id="21" name="LPIPS ↓ 0.2502  |  SSIM ↑ 0.6438"/>
          <p:cNvSpPr txBox="1"/>
          <p:nvPr/>
        </p:nvSpPr>
        <p:spPr>
          <a:xfrm>
            <a:off x="24231600" y="15910559"/>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LPIPS ↓ 0.2502  |  SSIM ↑ 0.6438</a:t>
            </a:r>
          </a:p>
        </p:txBody>
      </p:sp>
      <p:sp>
        <p:nvSpPr>
          <p:cNvPr id="22" name="1344 × 768  ·  124 frames @ 24 FPS  ·  8 steps  ·  Seed 1234"/>
          <p:cNvSpPr txBox="1"/>
          <p:nvPr/>
        </p:nvSpPr>
        <p:spPr>
          <a:xfrm>
            <a:off x="1828800" y="17190720"/>
            <a:ext cx="32918400" cy="822960"/>
          </a:xfrm>
          <a:prstGeom prst="rect">
            <a:avLst/>
          </a:prstGeom>
          <a:noFill/>
        </p:spPr>
        <p:txBody>
          <a:bodyPr wrap="square" lIns="0" rIns="0" tIns="0" bIns="0">
            <a:spAutoFit/>
          </a:bodyPr>
          <a:lstStyle/>
          <a:p>
            <a:pPr algn="ctr">
              <a:lnSpc>
                <a:spcPct val="108000"/>
              </a:lnSpc>
              <a:spcBef>
                <a:spcPts val="0"/>
              </a:spcBef>
              <a:spcAft>
                <a:spcPts val="1200"/>
              </a:spcAft>
            </a:pPr>
            <a:r>
              <a:rPr sz="3400" b="0">
                <a:solidFill>
                  <a:srgbClr val="313131"/>
                </a:solidFill>
                <a:latin typeface="NVIDIA Sans"/>
              </a:rPr>
              <a:t>1344 × 768  ·  124 frames @ 24 FPS  ·  8 steps  ·  Seed 1234</a:t>
            </a:r>
          </a:p>
        </p:txBody>
      </p:sp>
      <p:sp>
        <p:nvSpPr>
          <p:cNvPr id="23" name="*Single requests; warmup / encoder / HSDP differ. Metrics: all frames vs. BF16."/>
          <p:cNvSpPr txBox="1"/>
          <p:nvPr/>
        </p:nvSpPr>
        <p:spPr>
          <a:xfrm>
            <a:off x="1828800" y="18288000"/>
            <a:ext cx="329184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*Single requests; warmup / encoder / HSDP differ. Metrics: all frames vs. BF16.</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Match denoised outputs and local activations while keeping VSA gate weights frozen</a:t>
            </a:r>
          </a:p>
        </p:txBody>
      </p:sp>
      <p:sp>
        <p:nvSpPr>
          <p:cNvPr id="4" name="Title 3"/>
          <p:cNvSpPr>
            <a:spLocks noGrp="1"/>
          </p:cNvSpPr>
          <p:nvPr>
            <p:ph type="title"/>
          </p:nvPr>
        </p:nvSpPr>
        <p:spPr/>
        <p:txBody>
          <a:bodyPr/>
          <a:lstStyle/>
          <a:p>
            <a:r>
              <a:t>QAD: Recover Video and Audio</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pdd_qad.py + pdd_qad_recon.py + OmniRef YAML @ ea3275d · public recipe, not our training benchmark</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12</a:t>
            </a:fld>
            <a:endParaRPr lang="en-US"/>
          </a:p>
        </p:txBody>
      </p:sp>
      <p:sp>
        <p:nvSpPr>
          <p:cNvPr id="7" name="1  Denoised output"/>
          <p:cNvSpPr txBox="1"/>
          <p:nvPr/>
        </p:nvSpPr>
        <p:spPr>
          <a:xfrm>
            <a:off x="1828800" y="5669280"/>
            <a:ext cx="10424160" cy="1097280"/>
          </a:xfrm>
          <a:prstGeom prst="rect">
            <a:avLst/>
          </a:prstGeom>
          <a:noFill/>
        </p:spPr>
        <p:txBody>
          <a:bodyPr wrap="square" lIns="0" rIns="0" tIns="0" bIns="0">
            <a:spAutoFit/>
          </a:bodyPr>
          <a:lstStyle/>
          <a:p>
            <a:pPr algn="l">
              <a:lnSpc>
                <a:spcPct val="108000"/>
              </a:lnSpc>
              <a:spcBef>
                <a:spcPts val="0"/>
              </a:spcBef>
              <a:spcAft>
                <a:spcPts val="1200"/>
              </a:spcAft>
            </a:pPr>
            <a:r>
              <a:rPr sz="4200" b="1">
                <a:solidFill>
                  <a:srgbClr val="76B900"/>
                </a:solidFill>
                <a:latin typeface="NVIDIA Sans Medium"/>
              </a:rPr>
              <a:t>1  Denoised output</a:t>
            </a:r>
          </a:p>
        </p:txBody>
      </p:sp>
      <p:sp>
        <p:nvSpPr>
          <p:cNvPr id="8" name="Match student x0 to teacher x0"/>
          <p:cNvSpPr txBox="1"/>
          <p:nvPr/>
        </p:nvSpPr>
        <p:spPr>
          <a:xfrm>
            <a:off x="1828800" y="7315200"/>
            <a:ext cx="10424160" cy="2286000"/>
          </a:xfrm>
          <a:prstGeom prst="rect">
            <a:avLst/>
          </a:prstGeom>
          <a:noFill/>
        </p:spPr>
        <p:txBody>
          <a:bodyPr wrap="square" lIns="0" rIns="0" tIns="0" bIns="0">
            <a:spAutoFit/>
          </a:bodyPr>
          <a:lstStyle/>
          <a:p>
            <a:pPr algn="l">
              <a:lnSpc>
                <a:spcPct val="108000"/>
              </a:lnSpc>
              <a:spcBef>
                <a:spcPts val="0"/>
              </a:spcBef>
              <a:spcAft>
                <a:spcPts val="1200"/>
              </a:spcAft>
            </a:pPr>
            <a:r>
              <a:rPr sz="4000" b="1">
                <a:solidFill>
                  <a:srgbClr val="313131"/>
                </a:solidFill>
                <a:latin typeface="NVIDIA Sans Medium"/>
              </a:rPr>
              <a:t>Match student x0 to teacher x0</a:t>
            </a:r>
          </a:p>
        </p:txBody>
      </p:sp>
      <p:sp>
        <p:nvSpPr>
          <p:cNvPr id="9" name="Normalize each sampling step and modality by its initial PTQ error"/>
          <p:cNvSpPr txBox="1"/>
          <p:nvPr/>
        </p:nvSpPr>
        <p:spPr>
          <a:xfrm>
            <a:off x="1828800" y="10058400"/>
            <a:ext cx="10424160" cy="3200400"/>
          </a:xfrm>
          <a:prstGeom prst="rect">
            <a:avLst/>
          </a:prstGeom>
          <a:noFill/>
        </p:spPr>
        <p:txBody>
          <a:bodyPr wrap="square" lIns="0" rIns="0" tIns="0" bIns="0">
            <a:spAutoFit/>
          </a:bodyPr>
          <a:lstStyle/>
          <a:p>
            <a:pPr algn="l">
              <a:lnSpc>
                <a:spcPct val="108000"/>
              </a:lnSpc>
              <a:spcBef>
                <a:spcPts val="0"/>
              </a:spcBef>
              <a:spcAft>
                <a:spcPts val="1200"/>
              </a:spcAft>
            </a:pPr>
            <a:r>
              <a:rPr sz="3600" b="0">
                <a:solidFill>
                  <a:srgbClr val="313131"/>
                </a:solidFill>
                <a:latin typeface="NVIDIA Sans"/>
              </a:rPr>
              <a:t>Normalize each sampling step and modality by its initial PTQ error</a:t>
            </a:r>
          </a:p>
        </p:txBody>
      </p:sp>
      <p:sp>
        <p:nvSpPr>
          <p:cNvPr id="10" name="Video and audio carry equal weight"/>
          <p:cNvSpPr txBox="1"/>
          <p:nvPr/>
        </p:nvSpPr>
        <p:spPr>
          <a:xfrm>
            <a:off x="1828800" y="13807440"/>
            <a:ext cx="10424160" cy="2103120"/>
          </a:xfrm>
          <a:prstGeom prst="rect">
            <a:avLst/>
          </a:prstGeom>
          <a:noFill/>
        </p:spPr>
        <p:txBody>
          <a:bodyPr wrap="square" lIns="0" rIns="0" tIns="0" bIns="0">
            <a:spAutoFit/>
          </a:bodyPr>
          <a:lstStyle/>
          <a:p>
            <a:pPr algn="l">
              <a:lnSpc>
                <a:spcPct val="108000"/>
              </a:lnSpc>
              <a:spcBef>
                <a:spcPts val="0"/>
              </a:spcBef>
              <a:spcAft>
                <a:spcPts val="1200"/>
              </a:spcAft>
            </a:pPr>
            <a:r>
              <a:rPr sz="3200" b="0">
                <a:solidFill>
                  <a:srgbClr val="313131"/>
                </a:solidFill>
                <a:latin typeface="NVIDIA Sans"/>
              </a:rPr>
              <a:t>Video and audio carry equal weight</a:t>
            </a:r>
          </a:p>
        </p:txBody>
      </p:sp>
      <p:sp>
        <p:nvSpPr>
          <p:cNvPr id="11" name="2  Layer reconstruction"/>
          <p:cNvSpPr txBox="1"/>
          <p:nvPr/>
        </p:nvSpPr>
        <p:spPr>
          <a:xfrm>
            <a:off x="13075920" y="5669280"/>
            <a:ext cx="10424160" cy="1097280"/>
          </a:xfrm>
          <a:prstGeom prst="rect">
            <a:avLst/>
          </a:prstGeom>
          <a:noFill/>
        </p:spPr>
        <p:txBody>
          <a:bodyPr wrap="square" lIns="0" rIns="0" tIns="0" bIns="0">
            <a:spAutoFit/>
          </a:bodyPr>
          <a:lstStyle/>
          <a:p>
            <a:pPr algn="l">
              <a:lnSpc>
                <a:spcPct val="108000"/>
              </a:lnSpc>
              <a:spcBef>
                <a:spcPts val="0"/>
              </a:spcBef>
              <a:spcAft>
                <a:spcPts val="1200"/>
              </a:spcAft>
            </a:pPr>
            <a:r>
              <a:rPr sz="4200" b="1">
                <a:solidFill>
                  <a:srgbClr val="76B900"/>
                </a:solidFill>
                <a:latin typeface="NVIDIA Sans Medium"/>
              </a:rPr>
              <a:t>2  Layer reconstruction</a:t>
            </a:r>
          </a:p>
        </p:txBody>
      </p:sp>
      <p:sp>
        <p:nvSpPr>
          <p:cNvPr id="12" name="Give each student unit the teacher’s input"/>
          <p:cNvSpPr txBox="1"/>
          <p:nvPr/>
        </p:nvSpPr>
        <p:spPr>
          <a:xfrm>
            <a:off x="13075920" y="7315200"/>
            <a:ext cx="10424160" cy="2286000"/>
          </a:xfrm>
          <a:prstGeom prst="rect">
            <a:avLst/>
          </a:prstGeom>
          <a:noFill/>
        </p:spPr>
        <p:txBody>
          <a:bodyPr wrap="square" lIns="0" rIns="0" tIns="0" bIns="0">
            <a:spAutoFit/>
          </a:bodyPr>
          <a:lstStyle/>
          <a:p>
            <a:pPr algn="l">
              <a:lnSpc>
                <a:spcPct val="108000"/>
              </a:lnSpc>
              <a:spcBef>
                <a:spcPts val="0"/>
              </a:spcBef>
              <a:spcAft>
                <a:spcPts val="1200"/>
              </a:spcAft>
            </a:pPr>
            <a:r>
              <a:rPr sz="4000" b="1">
                <a:solidFill>
                  <a:srgbClr val="313131"/>
                </a:solidFill>
                <a:latin typeface="NVIDIA Sans Medium"/>
              </a:rPr>
              <a:t>Give each student unit the teacher’s input</a:t>
            </a:r>
          </a:p>
        </p:txBody>
      </p:sp>
      <p:sp>
        <p:nvSpPr>
          <p:cNvPr id="13" name="Correct attention and FFN error locally, with per-block backward"/>
          <p:cNvSpPr txBox="1"/>
          <p:nvPr/>
        </p:nvSpPr>
        <p:spPr>
          <a:xfrm>
            <a:off x="13075920" y="10058400"/>
            <a:ext cx="10424160" cy="3200400"/>
          </a:xfrm>
          <a:prstGeom prst="rect">
            <a:avLst/>
          </a:prstGeom>
          <a:noFill/>
        </p:spPr>
        <p:txBody>
          <a:bodyPr wrap="square" lIns="0" rIns="0" tIns="0" bIns="0">
            <a:spAutoFit/>
          </a:bodyPr>
          <a:lstStyle/>
          <a:p>
            <a:pPr algn="l">
              <a:lnSpc>
                <a:spcPct val="108000"/>
              </a:lnSpc>
              <a:spcBef>
                <a:spcPts val="0"/>
              </a:spcBef>
              <a:spcAft>
                <a:spcPts val="1200"/>
              </a:spcAft>
            </a:pPr>
            <a:r>
              <a:rPr sz="3600" b="0">
                <a:solidFill>
                  <a:srgbClr val="313131"/>
                </a:solidFill>
                <a:latin typeface="NVIDIA Sans"/>
              </a:rPr>
              <a:t>Correct attention and FFN error locally, with per-block backward</a:t>
            </a:r>
          </a:p>
        </p:txBody>
      </p:sp>
      <p:sp>
        <p:nvSpPr>
          <p:cNvPr id="14" name="Video : audio : conditioning"/>
          <p:cNvSpPr txBox="1"/>
          <p:nvPr/>
        </p:nvSpPr>
        <p:spPr>
          <a:xfrm>
            <a:off x="13075920" y="13807440"/>
            <a:ext cx="10424160" cy="2103120"/>
          </a:xfrm>
          <a:prstGeom prst="rect">
            <a:avLst/>
          </a:prstGeom>
          <a:noFill/>
        </p:spPr>
        <p:txBody>
          <a:bodyPr wrap="square" lIns="0" rIns="0" tIns="0" bIns="0">
            <a:spAutoFit/>
          </a:bodyPr>
          <a:lstStyle/>
          <a:p>
            <a:pPr algn="l">
              <a:lnSpc>
                <a:spcPct val="108000"/>
              </a:lnSpc>
              <a:spcBef>
                <a:spcPts val="0"/>
              </a:spcBef>
              <a:spcAft>
                <a:spcPts val="1200"/>
              </a:spcAft>
            </a:pPr>
            <a:r>
              <a:rPr sz="3200" b="0">
                <a:solidFill>
                  <a:srgbClr val="313131"/>
                </a:solidFill>
                <a:latin typeface="NVIDIA Sans"/>
              </a:rPr>
              <a:t>Video : audio : conditioning</a:t>
            </a:r>
          </a:p>
          <a:p>
            <a:pPr algn="l">
              <a:lnSpc>
                <a:spcPct val="108000"/>
              </a:lnSpc>
              <a:spcBef>
                <a:spcPts val="0"/>
              </a:spcBef>
              <a:spcAft>
                <a:spcPts val="1200"/>
              </a:spcAft>
            </a:pPr>
            <a:r>
              <a:rPr sz="3200" b="0">
                <a:solidFill>
                  <a:srgbClr val="313131"/>
                </a:solidFill>
                <a:latin typeface="NVIDIA Sans"/>
              </a:rPr>
              <a:t>1 : 1 : 0.25</a:t>
            </a:r>
          </a:p>
        </p:txBody>
      </p:sp>
      <p:sp>
        <p:nvSpPr>
          <p:cNvPr id="15" name="3  Student rollout"/>
          <p:cNvSpPr txBox="1"/>
          <p:nvPr/>
        </p:nvSpPr>
        <p:spPr>
          <a:xfrm>
            <a:off x="24323040" y="5669280"/>
            <a:ext cx="10424160" cy="1097280"/>
          </a:xfrm>
          <a:prstGeom prst="rect">
            <a:avLst/>
          </a:prstGeom>
          <a:noFill/>
        </p:spPr>
        <p:txBody>
          <a:bodyPr wrap="square" lIns="0" rIns="0" tIns="0" bIns="0">
            <a:spAutoFit/>
          </a:bodyPr>
          <a:lstStyle/>
          <a:p>
            <a:pPr algn="l">
              <a:lnSpc>
                <a:spcPct val="108000"/>
              </a:lnSpc>
              <a:spcBef>
                <a:spcPts val="0"/>
              </a:spcBef>
              <a:spcAft>
                <a:spcPts val="1200"/>
              </a:spcAft>
            </a:pPr>
            <a:r>
              <a:rPr sz="4200" b="1">
                <a:solidFill>
                  <a:srgbClr val="76B900"/>
                </a:solidFill>
                <a:latin typeface="NVIDIA Sans Medium"/>
              </a:rPr>
              <a:t>3  Student rollout</a:t>
            </a:r>
          </a:p>
        </p:txBody>
      </p:sp>
      <p:sp>
        <p:nvSpPr>
          <p:cNvPr id="16" name="Train on the student’s own trajectory"/>
          <p:cNvSpPr txBox="1"/>
          <p:nvPr/>
        </p:nvSpPr>
        <p:spPr>
          <a:xfrm>
            <a:off x="24323040" y="7315200"/>
            <a:ext cx="10424160" cy="2286000"/>
          </a:xfrm>
          <a:prstGeom prst="rect">
            <a:avLst/>
          </a:prstGeom>
          <a:noFill/>
        </p:spPr>
        <p:txBody>
          <a:bodyPr wrap="square" lIns="0" rIns="0" tIns="0" bIns="0">
            <a:spAutoFit/>
          </a:bodyPr>
          <a:lstStyle/>
          <a:p>
            <a:pPr algn="l">
              <a:lnSpc>
                <a:spcPct val="108000"/>
              </a:lnSpc>
              <a:spcBef>
                <a:spcPts val="0"/>
              </a:spcBef>
              <a:spcAft>
                <a:spcPts val="1200"/>
              </a:spcAft>
            </a:pPr>
            <a:r>
              <a:rPr sz="4000" b="1">
                <a:solidFill>
                  <a:srgbClr val="313131"/>
                </a:solidFill>
                <a:latin typeface="NVIDIA Sans Medium"/>
              </a:rPr>
              <a:t>Train on the student’s own trajectory</a:t>
            </a:r>
          </a:p>
        </p:txBody>
      </p:sp>
      <p:sp>
        <p:nvSpPr>
          <p:cNvPr id="17" name="After step 20, use student rollout on 25% of rows"/>
          <p:cNvSpPr txBox="1"/>
          <p:nvPr/>
        </p:nvSpPr>
        <p:spPr>
          <a:xfrm>
            <a:off x="24323040" y="10058400"/>
            <a:ext cx="10424160" cy="3200400"/>
          </a:xfrm>
          <a:prstGeom prst="rect">
            <a:avLst/>
          </a:prstGeom>
          <a:noFill/>
        </p:spPr>
        <p:txBody>
          <a:bodyPr wrap="square" lIns="0" rIns="0" tIns="0" bIns="0">
            <a:spAutoFit/>
          </a:bodyPr>
          <a:lstStyle/>
          <a:p>
            <a:pPr algn="l">
              <a:lnSpc>
                <a:spcPct val="108000"/>
              </a:lnSpc>
              <a:spcBef>
                <a:spcPts val="0"/>
              </a:spcBef>
              <a:spcAft>
                <a:spcPts val="1200"/>
              </a:spcAft>
            </a:pPr>
            <a:r>
              <a:rPr sz="3600" b="0">
                <a:solidFill>
                  <a:srgbClr val="313131"/>
                </a:solidFill>
                <a:latin typeface="NVIDIA Sans"/>
              </a:rPr>
              <a:t>After step 20, use student rollout on 25% of rows</a:t>
            </a:r>
          </a:p>
        </p:txBody>
      </p:sp>
      <p:sp>
        <p:nvSpPr>
          <p:cNvPr id="18" name="Reduce exposure to teacher-only states"/>
          <p:cNvSpPr txBox="1"/>
          <p:nvPr/>
        </p:nvSpPr>
        <p:spPr>
          <a:xfrm>
            <a:off x="24323040" y="13807440"/>
            <a:ext cx="10424160" cy="2103120"/>
          </a:xfrm>
          <a:prstGeom prst="rect">
            <a:avLst/>
          </a:prstGeom>
          <a:noFill/>
        </p:spPr>
        <p:txBody>
          <a:bodyPr wrap="square" lIns="0" rIns="0" tIns="0" bIns="0">
            <a:spAutoFit/>
          </a:bodyPr>
          <a:lstStyle/>
          <a:p>
            <a:pPr algn="l">
              <a:lnSpc>
                <a:spcPct val="108000"/>
              </a:lnSpc>
              <a:spcBef>
                <a:spcPts val="0"/>
              </a:spcBef>
              <a:spcAft>
                <a:spcPts val="1200"/>
              </a:spcAft>
            </a:pPr>
            <a:r>
              <a:rPr sz="3200" b="0">
                <a:solidFill>
                  <a:srgbClr val="313131"/>
                </a:solidFill>
                <a:latin typeface="NVIDIA Sans"/>
              </a:rPr>
              <a:t>Reduce exposure to teacher-only states</a:t>
            </a:r>
          </a:p>
        </p:txBody>
      </p:sp>
      <p:sp>
        <p:nvSpPr>
          <p:cNvPr id="19" name="Day-0 deployment: preserve packed weights, independent projection scales and TP scale layout"/>
          <p:cNvSpPr txBox="1"/>
          <p:nvPr/>
        </p:nvSpPr>
        <p:spPr>
          <a:xfrm>
            <a:off x="1828800" y="17007840"/>
            <a:ext cx="32918400" cy="11887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313131"/>
                </a:solidFill>
                <a:latin typeface="NVIDIA Sans Medium"/>
              </a:rPr>
              <a:t>Day-0 deployment: preserve packed weights, independent projection scales and TP scale layout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Start with token shards</a:t>
            </a:r>
          </a:p>
          <a:p>
            <a:pPr lvl="1" algn="l"/>
            <a:r>
              <a:rPr b="0">
                <a:solidFill>
                  <a:srgbClr val="313131"/>
                </a:solidFill>
                <a:latin typeface="NVIDIA Sans"/>
              </a:rPr>
              <a:t>Eight GPUs split 56,960 tokens; each rank keeps 7,120 tokens and all 56 heads</a:t>
            </a:r>
          </a:p>
          <a:p>
            <a:pPr algn="l"/>
            <a:r>
              <a:rPr b="1">
                <a:solidFill>
                  <a:srgbClr val="76B900"/>
                </a:solidFill>
                <a:latin typeface="NVIDIA Sans Medium"/>
              </a:rPr>
              <a:t>Swap the sharding axis</a:t>
            </a:r>
          </a:p>
          <a:p>
            <a:pPr lvl="1" algn="l"/>
            <a:r>
              <a:rPr b="0">
                <a:solidFill>
                  <a:srgbClr val="313131"/>
                </a:solidFill>
                <a:latin typeface="NVIDIA Sans"/>
              </a:rPr>
              <a:t>Q/K/V/G all-to-all changes [S/8, 56] into [S, 7]</a:t>
            </a:r>
          </a:p>
          <a:p>
            <a:pPr algn="l"/>
            <a:r>
              <a:rPr b="1">
                <a:solidFill>
                  <a:srgbClr val="76B900"/>
                </a:solidFill>
                <a:latin typeface="NVIDIA Sans Medium"/>
              </a:rPr>
              <a:t>Do the expensive part locally</a:t>
            </a:r>
          </a:p>
          <a:p>
            <a:pPr lvl="1" algn="l"/>
            <a:r>
              <a:rPr b="0">
                <a:solidFill>
                  <a:srgbClr val="313131"/>
                </a:solidFill>
                <a:latin typeface="NVIDIA Sans"/>
              </a:rPr>
              <a:t>Each GPU sees the full sequence for its own seven heads</a:t>
            </a:r>
          </a:p>
          <a:p>
            <a:pPr algn="l"/>
            <a:r>
              <a:rPr b="1">
                <a:solidFill>
                  <a:srgbClr val="76B900"/>
                </a:solidFill>
                <a:latin typeface="NVIDIA Sans Medium"/>
              </a:rPr>
              <a:t>Switch back for the block</a:t>
            </a:r>
          </a:p>
          <a:p>
            <a:pPr lvl="1" algn="l"/>
            <a:r>
              <a:rPr b="0">
                <a:solidFill>
                  <a:srgbClr val="313131"/>
                </a:solidFill>
                <a:latin typeface="NVIDIA Sans"/>
              </a:rPr>
              <a:t>The O all-to-all restores token shards for projection, residual, and MLP</a:t>
            </a:r>
          </a:p>
        </p:txBody>
      </p:sp>
      <p:sp>
        <p:nvSpPr>
          <p:cNvPr id="3" name="Text Placeholder 2"/>
          <p:cNvSpPr>
            <a:spLocks noGrp="1"/>
          </p:cNvSpPr>
          <p:nvPr>
            <p:ph type="body" idx="14" sz="quarter"/>
          </p:nvPr>
        </p:nvSpPr>
        <p:spPr>
          <a:xfrm>
            <a:off x="1828800" y="5806440"/>
            <a:ext cx="13716000" cy="1417320"/>
          </a:xfrm>
        </p:spPr>
        <p:txBody>
          <a:bodyPr/>
          <a:lstStyle/>
          <a:p>
            <a:r>
              <a:t>Each GPU swaps a token shard for seven full-sequence heads</a:t>
            </a:r>
          </a:p>
        </p:txBody>
      </p:sp>
      <p:sp>
        <p:nvSpPr>
          <p:cNvPr id="4" name="Title 3"/>
          <p:cNvSpPr>
            <a:spLocks noGrp="1"/>
          </p:cNvSpPr>
          <p:nvPr>
            <p:ph type="title"/>
          </p:nvPr>
        </p:nvSpPr>
        <p:spPr>
          <a:xfrm>
            <a:off x="1828800" y="1828800"/>
            <a:ext cx="13716000" cy="3840480"/>
          </a:xfrm>
        </p:spPr>
        <p:txBody>
          <a:bodyPr/>
          <a:lstStyle/>
          <a:p>
            <a:r>
              <a:t>Ulysses</a:t>
            </a:r>
          </a:p>
        </p:txBody>
      </p:sp>
      <p:sp>
        <p:nvSpPr>
          <p:cNvPr id="5" name="Text Placeholder 4"/>
          <p:cNvSpPr>
            <a:spLocks noGrp="1"/>
          </p:cNvSpPr>
          <p:nvPr>
            <p:ph type="body" idx="52" sz="quarter"/>
          </p:nvPr>
        </p:nvSpPr>
        <p:spPr>
          <a:xfrm>
            <a:off x="17373600" y="16824960"/>
            <a:ext cx="17373600" cy="1097280"/>
          </a:xfrm>
        </p:spPr>
        <p:txBody>
          <a:bodyPr/>
          <a:lstStyle/>
          <a:p>
            <a:r>
              <a:t>Original website illustration: P = 4
Measured H3 configuration at left: P = 8</a:t>
            </a:r>
          </a:p>
        </p:txBody>
      </p:sp>
      <p:sp>
        <p:nvSpPr>
          <p:cNvPr id="6" name="Text Placeholder 5"/>
          <p:cNvSpPr>
            <a:spLocks noGrp="1"/>
          </p:cNvSpPr>
          <p:nvPr>
            <p:ph type="body" idx="51" sz="quarter"/>
          </p:nvPr>
        </p:nvSpPr>
        <p:spPr>
          <a:xfrm>
            <a:off x="17373600" y="16002000"/>
            <a:ext cx="17373600" cy="685800"/>
          </a:xfrm>
        </p:spPr>
        <p:txBody>
          <a:bodyPr/>
          <a:lstStyle/>
          <a:p>
            <a:r>
              <a:t>Sequence shards → head shards → sequence shards</a:t>
            </a:r>
          </a:p>
        </p:txBody>
      </p:sp>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retained scaling website · Ulysses illustration P=4 · H3 profile at left P=8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13</a:t>
            </a:fld>
            <a:endParaRPr lang="en-US"/>
          </a:p>
        </p:txBody>
      </p:sp>
      <p:pic>
        <p:nvPicPr>
          <p:cNvPr id="10" name="Original website Ulysses schematic — P=4 illustration" descr="Original website Ulysses schematic — P=4 illustration">
            <a:hlinkClick r:id="rId6"/>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373600" y="4310538"/>
            <a:ext cx="17373600" cy="11129962"/>
          </a:xfrm>
          <a:prstGeom prst="rect">
            <a:avLst/>
          </a:prstGeom>
          <a:ln w="9525">
            <a:solidFill>
              <a:srgbClr val="A7A7A7"/>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5943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14</a:t>
            </a:fld>
            <a:endParaRPr lang="en-US"/>
          </a:p>
        </p:txBody>
      </p:sp>
      <p:pic>
        <p:nvPicPr>
          <p:cNvPr id="9" name="Topology with one-way capacity model" descr="topology-bandwidth.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Matched eight-GPU Q/K/V/O exchanges · FI RDMA is 2.33–2.47× faster across three sequence lengths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15</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sp>
        <p:nvSpPr>
          <p:cNvPr id="7" name="Bandwidth bounds — native template text"/>
          <p:cNvSpPr>
            <a:spLocks noGrp="1"/>
          </p:cNvSpPr>
          <p:nvPr>
            <p:ph type="body" idx="20" sz="quarter"/>
          </p:nvPr>
        </p:nvSpPr>
        <p:spPr>
          <a:xfrm>
            <a:off x="1828800" y="5303520"/>
            <a:ext cx="15636240" cy="7772400"/>
          </a:xfrm>
        </p:spPr>
        <p:txBody>
          <a:bodyPr wrap="square" lIns="0" rIns="0" tIns="0" bIns="0"/>
          <a:lstStyle/>
          <a:p>
            <a:pPr algn="l"/>
            <a:r>
              <a:rPr b="1">
                <a:solidFill>
                  <a:srgbClr val="76B900"/>
                </a:solidFill>
                <a:latin typeface="NVIDIA Sans Medium"/>
              </a:rPr>
              <a:t>Local NCCL: one P2P peer, six SHM peers</a:t>
            </a:r>
          </a:p>
          <a:p>
            <a:pPr lvl="1" algn="l"/>
            <a:r>
              <a:rPr b="0">
                <a:solidFill>
                  <a:srgbClr val="313131"/>
                </a:solidFill>
                <a:latin typeface="NVIDIA Sans"/>
              </a:rPr>
              <a:t>Cross-subtree payload uses host memory</a:t>
            </a:r>
          </a:p>
          <a:p>
            <a:pPr lvl="1" algn="l"/>
            <a:r>
              <a:rPr b="0">
                <a:solidFill>
                  <a:srgbClr val="313131"/>
                </a:solidFill>
                <a:latin typeface="NVIDIA Sans"/>
              </a:rPr>
              <a:t>Two GPUs share one 63.0 GB/s uplink</a:t>
            </a:r>
          </a:p>
          <a:p>
            <a:pPr lvl="1" algn="l"/>
            <a:r>
              <a:rPr b="0">
                <a:solidFill>
                  <a:srgbClr val="313131"/>
                </a:solidFill>
                <a:latin typeface="NVIDIA Sans"/>
              </a:rPr>
              <a:t>2 × B × 6/7 ≤ 63.0  →  B ≤ 36.8 GB/s</a:t>
            </a:r>
          </a:p>
          <a:p>
            <a:pPr algn="l"/>
            <a:r>
              <a:rPr b="1">
                <a:solidFill>
                  <a:srgbClr val="76B900"/>
                </a:solidFill>
                <a:latin typeface="NVIDIA Sans Medium"/>
              </a:rPr>
              <a:t>Cross-NUMA: C = 256 GB/s (raw model)</a:t>
            </a:r>
          </a:p>
          <a:p>
            <a:pPr lvl="1" algn="l"/>
            <a:r>
              <a:rPr b="0">
                <a:solidFill>
                  <a:srgbClr val="313131"/>
                </a:solidFill>
                <a:latin typeface="NVIDIA Sans"/>
              </a:rPr>
              <a:t>4 × B × 4/7 ≤ 256 → B ≤ 112 GB/s</a:t>
            </a:r>
          </a:p>
          <a:p>
            <a:pPr lvl="1" algn="l"/>
            <a:r>
              <a:rPr b="0">
                <a:solidFill>
                  <a:srgbClr val="313131"/>
                </a:solidFill>
                <a:latin typeface="NVIDIA Sans"/>
              </a:rPr>
              <a:t>Local ceiling: min(36.8, 112) = 36.8</a:t>
            </a:r>
          </a:p>
          <a:p>
            <a:pPr algn="l"/>
            <a:r>
              <a:rPr b="1">
                <a:solidFill>
                  <a:srgbClr val="76B900"/>
                </a:solidFill>
                <a:latin typeface="NVIDIA Sans Medium"/>
              </a:rPr>
              <a:t>FI RDMA: one nearest 400G port per GPU</a:t>
            </a:r>
          </a:p>
          <a:p>
            <a:pPr lvl="1" algn="l"/>
            <a:r>
              <a:rPr b="0">
                <a:solidFill>
                  <a:srgbClr val="313131"/>
                </a:solidFill>
                <a:latin typeface="NVIDIA Sans"/>
              </a:rPr>
              <a:t>Bypasses host buffers and CPU-facing uplinks</a:t>
            </a:r>
          </a:p>
          <a:p>
            <a:pPr lvl="1" algn="l"/>
            <a:r>
              <a:rPr b="0">
                <a:solidFill>
                  <a:srgbClr val="313131"/>
                </a:solidFill>
                <a:latin typeface="NVIDIA Sans"/>
              </a:rPr>
              <a:t>B ≤ min(63.0, 128/2, 50) = 50 GB/s</a:t>
            </a:r>
          </a:p>
        </p:txBody>
      </p:sp>
      <p:sp>
        <p:nvSpPr>
          <p:cNvPr id="10" name="Bandwidth variable definitions"/>
          <p:cNvSpPr>
            <a:spLocks noGrp="1"/>
          </p:cNvSpPr>
          <p:nvPr>
            <p:ph type="body" idx="52" sz="quarter"/>
          </p:nvPr>
        </p:nvSpPr>
        <p:spPr>
          <a:xfrm>
            <a:off x="1828800" y="17465040"/>
            <a:ext cx="15636240" cy="1143000"/>
          </a:xfrm>
        </p:spPr>
        <p:txBody>
          <a:bodyPr/>
          <a:lstStyle/>
          <a:p>
            <a:r>
              <a:t>B: off-rank TX per GPU · C: raw xGMI model input
Necessary link bounds; effective capacity can be lower</a:t>
            </a:r>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922240" y="5224272"/>
            <a:ext cx="16824960" cy="11497056"/>
          </a:xfrm>
          <a:prstGeom prst="rect">
            <a:avLst/>
          </a:prstGeom>
          <a:ln w="9525">
            <a:solidFill>
              <a:srgbClr val="A7A7A7"/>
            </a:solidFill>
          </a:ln>
        </p:spPr>
      </p:pic>
      <p:sp>
        <p:nvSpPr>
          <p:cNvPr id="12" name="Shared PCIe uplink is the tighter raw bound"/>
          <p:cNvSpPr txBox="1"/>
          <p:nvPr/>
        </p:nvSpPr>
        <p:spPr>
          <a:xfrm>
            <a:off x="1828800" y="13258800"/>
            <a:ext cx="15636240" cy="822960"/>
          </a:xfrm>
          <a:prstGeom prst="rect">
            <a:avLst/>
          </a:prstGeom>
          <a:noFill/>
        </p:spPr>
        <p:txBody>
          <a:bodyPr wrap="square" lIns="0" rIns="0" tIns="0" bIns="0">
            <a:spAutoFit/>
          </a:bodyPr>
          <a:lstStyle/>
          <a:p>
            <a:pPr algn="l">
              <a:lnSpc>
                <a:spcPct val="108000"/>
              </a:lnSpc>
              <a:spcBef>
                <a:spcPts val="0"/>
              </a:spcBef>
              <a:spcAft>
                <a:spcPts val="1200"/>
              </a:spcAft>
            </a:pPr>
            <a:r>
              <a:rPr sz="3300" b="1">
                <a:solidFill>
                  <a:srgbClr val="76B900"/>
                </a:solidFill>
                <a:latin typeface="NVIDIA Sans Medium"/>
              </a:rPr>
              <a:t>Shared PCIe uplink is the tighter raw bound</a:t>
            </a:r>
          </a:p>
        </p:txBody>
      </p:sp>
      <p:sp>
        <p:nvSpPr>
          <p:cNvPr id="13" name="SHM, layout and scheduling add further cost."/>
          <p:cNvSpPr txBox="1"/>
          <p:nvPr/>
        </p:nvSpPr>
        <p:spPr>
          <a:xfrm>
            <a:off x="1828800" y="14310360"/>
            <a:ext cx="15636240" cy="2377440"/>
          </a:xfrm>
          <a:prstGeom prst="rect">
            <a:avLst/>
          </a:prstGeom>
          <a:noFill/>
        </p:spPr>
        <p:txBody>
          <a:bodyPr wrap="square" lIns="0" rIns="0" tIns="0" bIns="0">
            <a:spAutoFit/>
          </a:bodyPr>
          <a:lstStyle/>
          <a:p>
            <a:pPr algn="l">
              <a:lnSpc>
                <a:spcPct val="108000"/>
              </a:lnSpc>
              <a:spcBef>
                <a:spcPts val="0"/>
              </a:spcBef>
              <a:spcAft>
                <a:spcPts val="1200"/>
              </a:spcAft>
            </a:pPr>
            <a:r>
              <a:rPr sz="3100" b="0">
                <a:solidFill>
                  <a:srgbClr val="313131"/>
                </a:solidFill>
                <a:latin typeface="NVIDIA Sans"/>
              </a:rPr>
              <a:t>SHM, layout and scheduling add further cost.</a:t>
            </a:r>
          </a:p>
          <a:p>
            <a:pPr algn="l">
              <a:lnSpc>
                <a:spcPct val="108000"/>
              </a:lnSpc>
              <a:spcBef>
                <a:spcPts val="0"/>
              </a:spcBef>
              <a:spcAft>
                <a:spcPts val="1200"/>
              </a:spcAft>
            </a:pPr>
            <a:r>
              <a:rPr sz="3100" b="0">
                <a:solidFill>
                  <a:srgbClr val="313131"/>
                </a:solidFill>
                <a:latin typeface="NVIDIA Sans"/>
              </a:rPr>
              <a:t>Next: hide waits with 2 / 3 / 2 head bands,</a:t>
            </a:r>
          </a:p>
          <a:p>
            <a:pPr algn="l">
              <a:lnSpc>
                <a:spcPct val="108000"/>
              </a:lnSpc>
              <a:spcBef>
                <a:spcPts val="0"/>
              </a:spcBef>
              <a:spcAft>
                <a:spcPts val="1200"/>
              </a:spcAft>
            </a:pPr>
            <a:r>
              <a:rPr sz="3100" b="0">
                <a:solidFill>
                  <a:srgbClr val="313131"/>
                </a:solidFill>
                <a:latin typeface="NVIDIA Sans"/>
              </a:rPr>
              <a:t>then reduce compute launch cost with graphs.</a:t>
            </a:r>
          </a:p>
        </p:txBody>
      </p:sp>
      <p:sp>
        <p:nvSpPr>
          <p:cNvPr id="14" name="Measured: communication + layout + scheduling; not E2E."/>
          <p:cNvSpPr txBox="1"/>
          <p:nvPr/>
        </p:nvSpPr>
        <p:spPr>
          <a:xfrm>
            <a:off x="17922240" y="17053560"/>
            <a:ext cx="16824960" cy="64008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Measured: communication + layout + scheduling; not E2E.</a:t>
            </a:r>
          </a:p>
        </p:txBody>
      </p:sp>
      <p:sp>
        <p:nvSpPr>
          <p:cNvPr id="15" name="Separate Q/K-first candidate: 96/96 rank checks exact"/>
          <p:cNvSpPr txBox="1"/>
          <p:nvPr/>
        </p:nvSpPr>
        <p:spPr>
          <a:xfrm>
            <a:off x="17922240" y="17785080"/>
            <a:ext cx="16824960" cy="114300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Separate Q/K-first candidate: 96/96 rank checks exact</a:t>
            </a:r>
          </a:p>
          <a:p>
            <a:pPr algn="l">
              <a:lnSpc>
                <a:spcPct val="108000"/>
              </a:lnSpc>
              <a:spcBef>
                <a:spcPts val="0"/>
              </a:spcBef>
              <a:spcAft>
                <a:spcPts val="1200"/>
              </a:spcAft>
            </a:pPr>
            <a:r>
              <a:rPr sz="2700" b="0">
                <a:solidFill>
                  <a:srgbClr val="313131"/>
                </a:solidFill>
                <a:latin typeface="NVIDIA Sans"/>
              </a:rPr>
              <a:t>on four GPUs; full eight-GPU H3 validation pending.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5577840"/>
            <a:ext cx="23042880" cy="11155680"/>
          </a:xfrm>
        </p:spPr>
        <p:txBody>
          <a:bodyPr wrap="none" lIns="0" rIns="0" tIns="0" bIns="0"/>
          <a:lstStyle/>
          <a:p>
            <a:pPr>
              <a:spcAft>
                <a:spcPts val="1800"/>
              </a:spcAft>
            </a:pPr>
            <a:r>
              <a:rPr sz="3800" b="0">
                <a:solidFill>
                  <a:srgbClr val="A7A7A7"/>
                </a:solidFill>
                <a:latin typeface="Roboto Mono"/>
              </a:rPr>
              <a:t># comm.py:44–62 · original Q/K/V branch</a:t>
            </a:r>
          </a:p>
          <a:p>
            <a:pPr>
              <a:spcAft>
                <a:spcPts val="1800"/>
              </a:spcAft>
            </a:pPr>
            <a:r>
              <a:rPr sz="3800" b="0">
                <a:solidFill>
                  <a:srgbClr val="313131"/>
                </a:solidFill>
                <a:latin typeface="Roboto Mono"/>
              </a:rPr>
              <a:t>input_t = (</a:t>
            </a:r>
          </a:p>
          <a:p>
            <a:pPr>
              <a:spcAft>
                <a:spcPts val="1800"/>
              </a:spcAft>
            </a:pPr>
            <a:r>
              <a:rPr sz="3800" b="0">
                <a:solidFill>
                  <a:srgbClr val="313131"/>
                </a:solidFill>
                <a:latin typeface="Roboto Mono"/>
              </a:rPr>
              <a:t>    input.reshape(bs, shard_seqlen,</a:t>
            </a:r>
          </a:p>
          <a:p>
            <a:pPr>
              <a:spcAft>
                <a:spcPts val="1800"/>
              </a:spcAft>
            </a:pPr>
            <a:r>
              <a:rPr sz="3800" b="0">
                <a:solidFill>
                  <a:srgbClr val="313131"/>
                </a:solidFill>
                <a:latin typeface="Roboto Mono"/>
              </a:rPr>
              <a:t>                  seq_world_size, shard_hc, hs)</a:t>
            </a:r>
          </a:p>
          <a:p>
            <a:pPr>
              <a:spcAft>
                <a:spcPts val="1800"/>
              </a:spcAft>
            </a:pPr>
            <a:r>
              <a:rPr sz="3800" b="0">
                <a:solidFill>
                  <a:srgbClr val="313131"/>
                </a:solidFill>
                <a:latin typeface="Roboto Mono"/>
              </a:rPr>
              <a:t>    .transpose(0, 2).contiguous()</a:t>
            </a:r>
          </a:p>
          <a:p>
            <a:pPr>
              <a:spcAft>
                <a:spcPts val="1800"/>
              </a:spcAft>
            </a:pPr>
            <a:r>
              <a:rPr sz="3800" b="0">
                <a:solidFill>
                  <a:srgbClr val="313131"/>
                </a:solidFill>
                <a:latin typeface="Roboto Mono"/>
              </a:rPr>
              <a:t>)</a:t>
            </a:r>
          </a:p>
          <a:p>
            <a:pPr>
              <a:spcAft>
                <a:spcPts val="1800"/>
              </a:spcAft>
            </a:pPr>
            <a:r>
              <a:rPr sz="3800" b="0">
                <a:solidFill>
                  <a:srgbClr val="313131"/>
                </a:solidFill>
                <a:latin typeface="Roboto Mono"/>
              </a:rPr>
              <a:t>output = torch.empty_like(input_t)</a:t>
            </a:r>
          </a:p>
          <a:p>
            <a:pPr>
              <a:spcAft>
                <a:spcPts val="1800"/>
              </a:spcAft>
            </a:pPr>
            <a:r>
              <a:rPr sz="3800" b="1">
                <a:solidFill>
                  <a:srgbClr val="76B900"/>
                </a:solidFill>
                <a:latin typeface="Roboto Mono"/>
              </a:rPr>
              <a:t>dist.all_to_all_single(output, input_t, group=group)</a:t>
            </a:r>
          </a:p>
          <a:p>
            <a:pPr>
              <a:spcAft>
                <a:spcPts val="1800"/>
              </a:spcAft>
            </a:pPr>
            <a:r>
              <a:rPr sz="3800" b="0">
                <a:solidFill>
                  <a:srgbClr val="313131"/>
                </a:solidFill>
                <a:latin typeface="Roboto Mono"/>
              </a:rPr>
              <a:t>output = output.reshape(seqlen, bs, shard_hc, hs)</a:t>
            </a:r>
          </a:p>
          <a:p>
            <a:pPr>
              <a:spcAft>
                <a:spcPts val="1800"/>
              </a:spcAft>
            </a:pPr>
            <a:r>
              <a:rPr sz="3800" b="0">
                <a:solidFill>
                  <a:srgbClr val="313131"/>
                </a:solidFill>
                <a:latin typeface="Roboto Mono"/>
              </a:rPr>
              <a:t>output = (output.transpose(0, 1).contiguous()</a:t>
            </a:r>
          </a:p>
          <a:p>
            <a:pPr>
              <a:spcAft>
                <a:spcPts val="1800"/>
              </a:spcAft>
            </a:pPr>
            <a:r>
              <a:rPr sz="3800" b="0">
                <a:solidFill>
                  <a:srgbClr val="313131"/>
                </a:solidFill>
                <a:latin typeface="Roboto Mono"/>
              </a:rPr>
              <a:t>          .reshape(bs, seqlen, shard_hc, hs))</a:t>
            </a:r>
          </a:p>
        </p:txBody>
      </p:sp>
      <p:sp>
        <p:nvSpPr>
          <p:cNvPr id="3" name="Text Placeholder 2"/>
          <p:cNvSpPr>
            <a:spLocks noGrp="1"/>
          </p:cNvSpPr>
          <p:nvPr>
            <p:ph type="body" idx="14" sz="quarter"/>
          </p:nvPr>
        </p:nvSpPr>
        <p:spPr/>
        <p:txBody>
          <a:bodyPr/>
          <a:lstStyle/>
          <a:p>
            <a:r>
              <a:t>Q/K/V: pack head shards → NCCL all-to-all → restore sequence layout</a:t>
            </a:r>
          </a:p>
        </p:txBody>
      </p:sp>
      <p:sp>
        <p:nvSpPr>
          <p:cNvPr id="4" name="Title 3"/>
          <p:cNvSpPr>
            <a:spLocks noGrp="1"/>
          </p:cNvSpPr>
          <p:nvPr>
            <p:ph type="title"/>
          </p:nvPr>
        </p:nvSpPr>
        <p:spPr/>
        <p:txBody>
          <a:bodyPr/>
          <a:lstStyle/>
          <a:p>
            <a:r>
              <a:t>Original vLLM-Omni Ulysses</a:t>
            </a:r>
          </a:p>
        </p:txBody>
      </p:sp>
      <p:sp>
        <p:nvSpPr>
          <p:cNvPr id="5" name="Original Ulysses source notes"/>
          <p:cNvSpPr>
            <a:spLocks noGrp="1"/>
          </p:cNvSpPr>
          <p:nvPr>
            <p:ph type="body" idx="20" sz="quarter"/>
          </p:nvPr>
        </p:nvSpPr>
        <p:spPr>
          <a:xfrm>
            <a:off x="25603200" y="5577840"/>
            <a:ext cx="9144000" cy="11887200"/>
          </a:xfrm>
        </p:spPr>
        <p:txBody>
          <a:bodyPr wrap="square" lIns="0" rIns="0" tIns="0" bIns="0"/>
          <a:lstStyle/>
          <a:p>
            <a:pPr algn="l"/>
            <a:r>
              <a:rPr b="1">
                <a:solidFill>
                  <a:srgbClr val="76B900"/>
                </a:solidFill>
                <a:latin typeface="NVIDIA Sans Medium"/>
              </a:rPr>
              <a:t>Four exchanges per dense block</a:t>
            </a:r>
          </a:p>
          <a:p>
            <a:pPr lvl="1" algn="l"/>
            <a:r>
              <a:rPr b="0">
                <a:solidFill>
                  <a:srgbClr val="313131"/>
                </a:solidFill>
                <a:latin typeface="NVIDIA Sans"/>
              </a:rPr>
              <a:t>Q / K / V: scatter heads</a:t>
            </a:r>
          </a:p>
          <a:p>
            <a:pPr lvl="1" algn="l"/>
            <a:r>
              <a:rPr b="0">
                <a:solidFill>
                  <a:srgbClr val="313131"/>
                </a:solidFill>
                <a:latin typeface="NVIDIA Sans"/>
              </a:rPr>
              <a:t>O: scatter sequence</a:t>
            </a:r>
          </a:p>
          <a:p>
            <a:pPr algn="l"/>
            <a:r>
              <a:rPr b="1">
                <a:solidFill>
                  <a:srgbClr val="76B900"/>
                </a:solidFill>
                <a:latin typeface="NVIDIA Sans Medium"/>
              </a:rPr>
              <a:t>NCCL selects the route</a:t>
            </a:r>
          </a:p>
          <a:p>
            <a:pPr lvl="1" algn="l"/>
            <a:r>
              <a:rPr b="0">
                <a:solidFill>
                  <a:srgbClr val="313131"/>
                </a:solidFill>
                <a:latin typeface="NVIDIA Sans"/>
              </a:rPr>
              <a:t>P2P / SHM / NET depend on topology and configuration</a:t>
            </a:r>
          </a:p>
          <a:p>
            <a:pPr algn="l"/>
            <a:r>
              <a:rPr b="1">
                <a:solidFill>
                  <a:srgbClr val="76B900"/>
                </a:solidFill>
                <a:latin typeface="NVIDIA Sans Medium"/>
              </a:rPr>
              <a:t>At batch = 1</a:t>
            </a:r>
          </a:p>
          <a:p>
            <a:pPr lvl="1" algn="l"/>
            <a:r>
              <a:rPr b="0">
                <a:solidFill>
                  <a:srgbClr val="313131"/>
                </a:solidFill>
                <a:latin typeface="NVIDIA Sans"/>
              </a:rPr>
              <a:t>Q/K/V output transpose is a view; contiguous() does not always copy</a:t>
            </a:r>
          </a:p>
        </p:txBody>
      </p:sp>
      <p:sp>
        <p:nvSpPr>
          <p:cNvPr id="6" name="Ulysses call-chain source"/>
          <p:cNvSpPr>
            <a:spLocks noGrp="1"/>
          </p:cNvSpPr>
          <p:nvPr>
            <p:ph type="body" idx="52" sz="quarter"/>
          </p:nvPr>
        </p:nvSpPr>
        <p:spPr>
          <a:xfrm>
            <a:off x="1828800" y="16916400"/>
            <a:ext cx="32918400" cy="1417320"/>
          </a:xfrm>
        </p:spPr>
        <p:txBody>
          <a:bodyPr/>
          <a:lstStyle/>
          <a:p>
            <a:r>
              <a:t>ulysses.py:538–547 → SeqAllToAll4D.forward → all_to_all_4D → PyTorch NCCL
O reverses the exchange at ulysses.py:721 · pinned source: 63487a7f22db</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Base50 checkout 63487a7f22db · comm.py:44–62 · line wrapping adjusted;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16</a:t>
            </a:fld>
            <a:endParaRPr lang="en-US"/>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Faster transfers leave a dependency bubble when all heads move as one group</a:t>
            </a:r>
          </a:p>
        </p:txBody>
      </p:sp>
      <p:sp>
        <p:nvSpPr>
          <p:cNvPr id="4" name="Title 3"/>
          <p:cNvSpPr>
            <a:spLocks noGrp="1"/>
          </p:cNvSpPr>
          <p:nvPr>
            <p:ph type="title"/>
          </p:nvPr>
        </p:nvSpPr>
        <p:spPr/>
        <p:txBody>
          <a:bodyPr/>
          <a:lstStyle/>
          <a:p>
            <a:r>
              <a:t>RDMA Still Leaves Ulysses Waiting</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Nsight Systems 2025.3.2 · retained FI RDMA baseline · 8 × RTX PRO 5000 · 960 × 544 · 362 frames · 8 steps</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17</a:t>
            </a:fld>
            <a:endParaRPr lang="en-US"/>
          </a:p>
        </p:txBody>
      </p:sp>
      <p:pic>
        <p:nvPicPr>
          <p:cNvPr id="7" name="Actual Nsight Systems RDMA baseline" descr="nsys-rdma-baseline.png"/>
          <p:cNvPicPr>
            <a:picLocks noChangeAspect="1"/>
          </p:cNvPicPr>
          <p:nvPr/>
        </p:nvPicPr>
        <p:blipFill>
          <a:blip r:embed="rId3"/>
          <a:stretch>
            <a:fillRect/>
          </a:stretch>
        </p:blipFill>
        <p:spPr>
          <a:xfrm>
            <a:off x="2145650" y="5303520"/>
            <a:ext cx="22226299" cy="10698480"/>
          </a:xfrm>
          <a:prstGeom prst="rect">
            <a:avLst/>
          </a:prstGeom>
          <a:ln w="9525">
            <a:solidFill>
              <a:srgbClr val="A7A7A7"/>
            </a:solidFill>
          </a:ln>
        </p:spPr>
      </p:pic>
      <p:sp>
        <p:nvSpPr>
          <p:cNvPr id="8" name="Annotation: exposed communication waits"/>
          <p:cNvSpPr/>
          <p:nvPr/>
        </p:nvSpPr>
        <p:spPr>
          <a:xfrm>
            <a:off x="10853714" y="6530942"/>
            <a:ext cx="3433465" cy="2421671"/>
          </a:xfrm>
          <a:prstGeom prst="rect">
            <a:avLst/>
          </a:prstGeom>
          <a:noFill/>
          <a:ln w="9525">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y bubbles remain"/>
          <p:cNvSpPr txBox="1"/>
          <p:nvPr/>
        </p:nvSpPr>
        <p:spPr>
          <a:xfrm>
            <a:off x="25786080" y="5486400"/>
            <a:ext cx="8961120" cy="1005840"/>
          </a:xfrm>
          <a:prstGeom prst="rect">
            <a:avLst/>
          </a:prstGeom>
          <a:noFill/>
        </p:spPr>
        <p:txBody>
          <a:bodyPr wrap="square" lIns="0" rIns="0" tIns="0" bIns="0">
            <a:spAutoFit/>
          </a:bodyPr>
          <a:lstStyle/>
          <a:p>
            <a:pPr algn="l">
              <a:lnSpc>
                <a:spcPct val="108000"/>
              </a:lnSpc>
              <a:spcBef>
                <a:spcPts val="0"/>
              </a:spcBef>
              <a:spcAft>
                <a:spcPts val="1200"/>
              </a:spcAft>
            </a:pPr>
            <a:r>
              <a:rPr sz="4000" b="1">
                <a:solidFill>
                  <a:srgbClr val="76B900"/>
                </a:solidFill>
                <a:latin typeface="NVIDIA Sans Medium"/>
              </a:rPr>
              <a:t>Why bubbles remain</a:t>
            </a:r>
          </a:p>
        </p:txBody>
      </p:sp>
      <p:sp>
        <p:nvSpPr>
          <p:cNvPr id="10" name="Attention waits for complete Q/K/V."/>
          <p:cNvSpPr txBox="1"/>
          <p:nvPr/>
        </p:nvSpPr>
        <p:spPr>
          <a:xfrm>
            <a:off x="25786080" y="6858000"/>
            <a:ext cx="8961120" cy="3657600"/>
          </a:xfrm>
          <a:prstGeom prst="rect">
            <a:avLst/>
          </a:prstGeom>
          <a:noFill/>
        </p:spPr>
        <p:txBody>
          <a:bodyPr wrap="square" lIns="0" rIns="0" tIns="0" bIns="0">
            <a:spAutoFit/>
          </a:bodyPr>
          <a:lstStyle/>
          <a:p>
            <a:pPr algn="l">
              <a:lnSpc>
                <a:spcPct val="108000"/>
              </a:lnSpc>
              <a:spcBef>
                <a:spcPts val="0"/>
              </a:spcBef>
              <a:spcAft>
                <a:spcPts val="1200"/>
              </a:spcAft>
            </a:pPr>
            <a:r>
              <a:rPr sz="3600" b="0">
                <a:solidFill>
                  <a:srgbClr val="313131"/>
                </a:solidFill>
                <a:latin typeface="NVIDIA Sans"/>
              </a:rPr>
              <a:t>Attention waits for complete Q/K/V.</a:t>
            </a:r>
          </a:p>
          <a:p>
            <a:pPr algn="l">
              <a:lnSpc>
                <a:spcPct val="108000"/>
              </a:lnSpc>
              <a:spcBef>
                <a:spcPts val="0"/>
              </a:spcBef>
              <a:spcAft>
                <a:spcPts val="1200"/>
              </a:spcAft>
            </a:pPr>
            <a:r>
              <a:rPr sz="3600" b="0">
                <a:solidFill>
                  <a:srgbClr val="313131"/>
                </a:solidFill>
                <a:latin typeface="NVIDIA Sans"/>
              </a:rPr>
              <a:t>Output projection waits for the returned O.</a:t>
            </a:r>
          </a:p>
        </p:txBody>
      </p:sp>
      <p:sp>
        <p:nvSpPr>
          <p:cNvPr id="11" name="3.24 s / GPU"/>
          <p:cNvSpPr txBox="1"/>
          <p:nvPr/>
        </p:nvSpPr>
        <p:spPr>
          <a:xfrm>
            <a:off x="25786080" y="11338560"/>
            <a:ext cx="8961120" cy="1097280"/>
          </a:xfrm>
          <a:prstGeom prst="rect">
            <a:avLst/>
          </a:prstGeom>
          <a:noFill/>
        </p:spPr>
        <p:txBody>
          <a:bodyPr wrap="square" lIns="0" rIns="0" tIns="0" bIns="0">
            <a:spAutoFit/>
          </a:bodyPr>
          <a:lstStyle/>
          <a:p>
            <a:pPr algn="l">
              <a:lnSpc>
                <a:spcPct val="108000"/>
              </a:lnSpc>
              <a:spcBef>
                <a:spcPts val="0"/>
              </a:spcBef>
              <a:spcAft>
                <a:spcPts val="1200"/>
              </a:spcAft>
            </a:pPr>
            <a:r>
              <a:rPr sz="4800" b="1">
                <a:solidFill>
                  <a:srgbClr val="76B900"/>
                </a:solidFill>
                <a:latin typeface="NVIDIA Sans Medium"/>
              </a:rPr>
              <a:t>3.24 s / GPU</a:t>
            </a:r>
          </a:p>
        </p:txBody>
      </p:sp>
      <p:sp>
        <p:nvSpPr>
          <p:cNvPr id="12" name="Exposed transport phase"/>
          <p:cNvSpPr txBox="1"/>
          <p:nvPr/>
        </p:nvSpPr>
        <p:spPr>
          <a:xfrm>
            <a:off x="25786080" y="12710160"/>
            <a:ext cx="8961120" cy="2377440"/>
          </a:xfrm>
          <a:prstGeom prst="rect">
            <a:avLst/>
          </a:prstGeom>
          <a:noFill/>
        </p:spPr>
        <p:txBody>
          <a:bodyPr wrap="square" lIns="0" rIns="0" tIns="0" bIns="0">
            <a:spAutoFit/>
          </a:bodyPr>
          <a:lstStyle/>
          <a:p>
            <a:pPr algn="l">
              <a:lnSpc>
                <a:spcPct val="108000"/>
              </a:lnSpc>
              <a:spcBef>
                <a:spcPts val="0"/>
              </a:spcBef>
              <a:spcAft>
                <a:spcPts val="1200"/>
              </a:spcAft>
            </a:pPr>
            <a:r>
              <a:rPr sz="3200" b="0">
                <a:solidFill>
                  <a:srgbClr val="313131"/>
                </a:solidFill>
                <a:latin typeface="NVIDIA Sans"/>
              </a:rPr>
              <a:t>Exposed transport phase</a:t>
            </a:r>
          </a:p>
          <a:p>
            <a:pPr algn="l">
              <a:lnSpc>
                <a:spcPct val="108000"/>
              </a:lnSpc>
              <a:spcBef>
                <a:spcPts val="0"/>
              </a:spcBef>
              <a:spcAft>
                <a:spcPts val="1200"/>
              </a:spcAft>
            </a:pPr>
            <a:r>
              <a:rPr sz="3200" b="0">
                <a:solidFill>
                  <a:srgbClr val="313131"/>
                </a:solidFill>
                <a:latin typeface="NVIDIA Sans"/>
              </a:rPr>
              <a:t>8-GPU mean, full DiT trace</a:t>
            </a:r>
          </a:p>
        </p:txBody>
      </p:sp>
      <p:sp>
        <p:nvSpPr>
          <p:cNvPr id="13" name="Compute-lane gaps overlap communication phases; NIC work need not appear as a CUDA kernel."/>
          <p:cNvSpPr txBox="1"/>
          <p:nvPr/>
        </p:nvSpPr>
        <p:spPr>
          <a:xfrm>
            <a:off x="1828800" y="16550640"/>
            <a:ext cx="32918400" cy="91440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313131"/>
                </a:solidFill>
                <a:latin typeface="NVIDIA Sans Medium"/>
              </a:rPr>
              <a:t>Compute-lane gaps overlap communication phases; NIC work need not appear as a CUDA kernel.</a:t>
            </a:r>
          </a:p>
        </p:txBody>
      </p:sp>
      <p:sp>
        <p:nvSpPr>
          <p:cNvPr id="14" name="Transport phase includes host posting / CQ polling / flush. This is a profiled baseline, not a 2/3/2 result."/>
          <p:cNvSpPr txBox="1"/>
          <p:nvPr/>
        </p:nvSpPr>
        <p:spPr>
          <a:xfrm>
            <a:off x="1828800" y="17830800"/>
            <a:ext cx="32918400" cy="91440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Transport phase includes host posting / CQ polling / flush. This is a profiled baseline, not a 2/3/2 result.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2 → 3 → 2 heads per GPU to overlap communication and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18</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Then reduce launch cost</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Repeated small compute islands motivate CUDA Graph replay.</a:t>
            </a:r>
          </a:p>
        </p:txBody>
      </p:sp>
      <p:pic>
        <p:nvPicPr>
          <p:cNvPr id="14" name="Three-band Ulysses dependency schedule" descr="head-pipeline-232.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28800" y="5326380"/>
            <a:ext cx="32918400" cy="11109959"/>
          </a:xfrm>
          <a:prstGeom prst="rect">
            <a:avLst/>
          </a:prstGeom>
          <a:ln w="9525">
            <a:solidFill>
              <a:srgbClr val="A7A7A7"/>
            </a:solidFill>
          </a:ln>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Only Base50 uses the locked 960×544, 124-frame request; each optimized result uses a different workload</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21</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3"/>
        </p:xfrm>
        <a:graphic>
          <a:graphicData uri="http://schemas.openxmlformats.org/drawingml/2006/table">
            <a:tbl>
              <a:tblPr>
                <a:tableStyleId>{68D230F3-CF80-4859-8CE7-A43EE81993B5}</a:tableStyleId>
              </a:tblPr>
              <a:tblGrid>
                <a:gridCol w="457200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8686800">
                  <a:extLst>
                    <a:ext uri="{9D8B030D-6E8A-4147-A177-3AD203B41FA5}">
                      <a16:colId xmlns:a16="http://schemas.microsoft.com/office/drawing/2014/main" val="3872581152"/>
                    </a:ext>
                  </a:extLst>
                </a:gridCol>
                <a:gridCol w="6781921">
                  <a:extLst>
                    <a:ext uri="{9D8B030D-6E8A-4147-A177-3AD203B41FA5}">
                      <a16:colId xmlns:a16="http://schemas.microsoft.com/office/drawing/2014/main" val="254391404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Workload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System</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Result / Limit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baseline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124f · 5.167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Base50 · BF16 · USP8 · NCCL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247.956 s · RTF 47.992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15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362f · 15.083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QAD · VSA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14.974 s mean · RTF 0.993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10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243f · 10.125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Turbo · MXFP8 · 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6.958 s · RTF 0.687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Portrait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576×1024 · 119 new frames · 4.958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MXFP8 · Sage · FP4 VAE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4.459 s median · RTF 0.899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21337">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Required matched test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Lock image, audio, prompt, seed, shape, and request mode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VSA → QAD/Sage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least 3 runs per stage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ComfyUI Apps
With vLLM-Omni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23</a:t>
            </a:fld>
            <a:endParaRPr lang="en-US"/>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After head pipelining, replay each stable compute band with one graph launch</a:t>
            </a:r>
          </a:p>
        </p:txBody>
      </p:sp>
      <p:sp>
        <p:nvSpPr>
          <p:cNvPr id="4" name="Title 3"/>
          <p:cNvSpPr>
            <a:spLocks noGrp="1"/>
          </p:cNvSpPr>
          <p:nvPr>
            <p:ph type="title"/>
          </p:nvPr>
        </p:nvSpPr>
        <p:spPr/>
        <p:txBody>
          <a:bodyPr/>
          <a:lstStyle/>
          <a:p>
            <a:r>
              <a:t>CUDA Graph: Reduce Submission Gaps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H3 compute-graph prototype and retained measurements · NVIDIA CUDA Programming Guide · conceptual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19</a:t>
            </a:fld>
            <a:endParaRPr lang="en-US"/>
          </a:p>
        </p:txBody>
      </p:sp>
      <p:pic>
        <p:nvPicPr>
          <p:cNvPr id="7" name="CUDA Graph before and after submission timeline" descr="cuda-graph-before-after.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28800" y="4937760"/>
            <a:ext cx="32918400" cy="10698480"/>
          </a:xfrm>
          <a:prstGeom prst="rect">
            <a:avLst/>
          </a:prstGeom>
          <a:ln w="9525">
            <a:solidFill>
              <a:srgbClr val="A7A7A7"/>
            </a:solidFill>
          </a:ln>
        </p:spPr>
      </p:pic>
      <p:sp>
        <p:nvSpPr>
          <p:cNvPr id="8" name="Historical 1 / 2 / 3 / 1 · measured separately"/>
          <p:cNvSpPr txBox="1"/>
          <p:nvPr/>
        </p:nvSpPr>
        <p:spPr>
          <a:xfrm>
            <a:off x="1828800" y="16047720"/>
            <a:ext cx="32918400" cy="731520"/>
          </a:xfrm>
          <a:prstGeom prst="rect">
            <a:avLst/>
          </a:prstGeom>
          <a:noFill/>
        </p:spPr>
        <p:txBody>
          <a:bodyPr wrap="square" lIns="0" rIns="0" tIns="0" bIns="0">
            <a:spAutoFit/>
          </a:bodyPr>
          <a:lstStyle/>
          <a:p>
            <a:pPr algn="l">
              <a:lnSpc>
                <a:spcPct val="108000"/>
              </a:lnSpc>
              <a:spcBef>
                <a:spcPts val="0"/>
              </a:spcBef>
              <a:spcAft>
                <a:spcPts val="1200"/>
              </a:spcAft>
            </a:pPr>
            <a:r>
              <a:rPr sz="3000" b="1">
                <a:solidFill>
                  <a:srgbClr val="313131"/>
                </a:solidFill>
                <a:latin typeface="NVIDIA Sans Medium"/>
              </a:rPr>
              <a:t>Historical 1 / 2 / 3 / 1 · measured separately</a:t>
            </a:r>
          </a:p>
        </p:txBody>
      </p:sp>
      <p:sp>
        <p:nvSpPr>
          <p:cNvPr id="9" name="8-GPU request: 13.250 → 11.994 s  (−9.48%)"/>
          <p:cNvSpPr txBox="1"/>
          <p:nvPr/>
        </p:nvSpPr>
        <p:spPr>
          <a:xfrm>
            <a:off x="1828800" y="16962120"/>
            <a:ext cx="1645920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8-GPU request: 13.250 → 11.994 s  (−9.48%)</a:t>
            </a:r>
          </a:p>
        </p:txBody>
      </p:sp>
      <p:sp>
        <p:nvSpPr>
          <p:cNvPr id="10" name="Compute only: 12.323 → 12.040 ms  (−2.30%)"/>
          <p:cNvSpPr txBox="1"/>
          <p:nvPr/>
        </p:nvSpPr>
        <p:spPr>
          <a:xfrm>
            <a:off x="18653760" y="16962120"/>
            <a:ext cx="1609344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Compute only: 12.323 → 12.040 ms  (−2.30%)</a:t>
            </a:r>
          </a:p>
        </p:txBody>
      </p:sp>
      <p:sp>
        <p:nvSpPr>
          <p:cNvPr id="11" name="Warmed request cohorts; full output MP4 included."/>
          <p:cNvSpPr txBox="1"/>
          <p:nvPr/>
        </p:nvSpPr>
        <p:spPr>
          <a:xfrm>
            <a:off x="1828800" y="17922240"/>
            <a:ext cx="16459200" cy="64008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Warmed request cohorts; full output MP4 included.</a:t>
            </a:r>
          </a:p>
        </p:txBody>
      </p:sp>
      <p:sp>
        <p:nvSpPr>
          <p:cNvPr id="12" name="Single GPU · unpack + VSA + pack · no RDMA"/>
          <p:cNvSpPr txBox="1"/>
          <p:nvPr/>
        </p:nvSpPr>
        <p:spPr>
          <a:xfrm>
            <a:off x="18653760" y="17922240"/>
            <a:ext cx="16093440" cy="64008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 GPU · unpack + VSA + pack · no RDMA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Fixed video geometry and stable buffers make repeated head-band compute reusable</a:t>
            </a:r>
          </a:p>
        </p:txBody>
      </p:sp>
      <p:sp>
        <p:nvSpPr>
          <p:cNvPr id="4" name="Title 3"/>
          <p:cNvSpPr>
            <a:spLocks noGrp="1"/>
          </p:cNvSpPr>
          <p:nvPr>
            <p:ph type="title"/>
          </p:nvPr>
        </p:nvSpPr>
        <p:spPr/>
        <p:txBody>
          <a:bodyPr/>
          <a:lstStyle/>
          <a:p>
            <a:r>
              <a:t>Why CUDA Graph Fits H3</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H3 prototype capture/key audit · 50 DiT blocks × 8 evaluations · proposed production profile dispatch</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20</a:t>
            </a:fld>
            <a:endParaRPr lang="en-US"/>
          </a:p>
        </p:txBody>
      </p:sp>
      <p:sp>
        <p:nvSpPr>
          <p:cNvPr id="7" name="Repeated work"/>
          <p:cNvSpPr txBox="1"/>
          <p:nvPr/>
        </p:nvSpPr>
        <p:spPr>
          <a:xfrm>
            <a:off x="1828800" y="5303520"/>
            <a:ext cx="15544800" cy="777240"/>
          </a:xfrm>
          <a:prstGeom prst="rect">
            <a:avLst/>
          </a:prstGeom>
          <a:noFill/>
        </p:spPr>
        <p:txBody>
          <a:bodyPr wrap="square" lIns="0" rIns="0" tIns="0" bIns="0">
            <a:spAutoFit/>
          </a:bodyPr>
          <a:lstStyle/>
          <a:p>
            <a:pPr algn="l">
              <a:lnSpc>
                <a:spcPct val="108000"/>
              </a:lnSpc>
              <a:spcBef>
                <a:spcPts val="0"/>
              </a:spcBef>
              <a:spcAft>
                <a:spcPts val="1200"/>
              </a:spcAft>
            </a:pPr>
            <a:r>
              <a:rPr sz="3700" b="1">
                <a:solidFill>
                  <a:srgbClr val="76B900"/>
                </a:solidFill>
                <a:latin typeface="NVIDIA Sans Medium"/>
              </a:rPr>
              <a:t>Repeated work</a:t>
            </a:r>
          </a:p>
        </p:txBody>
      </p:sp>
      <p:sp>
        <p:nvSpPr>
          <p:cNvPr id="8" name="50 blocks × 8 steps = 400 calls per band"/>
          <p:cNvSpPr txBox="1"/>
          <p:nvPr/>
        </p:nvSpPr>
        <p:spPr>
          <a:xfrm>
            <a:off x="1828800" y="6263640"/>
            <a:ext cx="15544800" cy="155448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50 blocks × 8 steps = 400 calls per band</a:t>
            </a:r>
          </a:p>
          <a:p>
            <a:pPr algn="l">
              <a:lnSpc>
                <a:spcPct val="108000"/>
              </a:lnSpc>
              <a:spcBef>
                <a:spcPts val="0"/>
              </a:spcBef>
              <a:spcAft>
                <a:spcPts val="1200"/>
              </a:spcAft>
            </a:pPr>
            <a:r>
              <a:rPr sz="3000" b="0">
                <a:solidFill>
                  <a:srgbClr val="313131"/>
                </a:solidFill>
                <a:latin typeface="NVIDIA Sans"/>
              </a:rPr>
              <a:t>for one unchanged execution profile.</a:t>
            </a:r>
          </a:p>
        </p:txBody>
      </p:sp>
      <p:sp>
        <p:nvSpPr>
          <p:cNvPr id="9" name="Stable shapes and buffers"/>
          <p:cNvSpPr txBox="1"/>
          <p:nvPr/>
        </p:nvSpPr>
        <p:spPr>
          <a:xfrm>
            <a:off x="1828800" y="8229600"/>
            <a:ext cx="15544800" cy="777240"/>
          </a:xfrm>
          <a:prstGeom prst="rect">
            <a:avLst/>
          </a:prstGeom>
          <a:noFill/>
        </p:spPr>
        <p:txBody>
          <a:bodyPr wrap="square" lIns="0" rIns="0" tIns="0" bIns="0">
            <a:spAutoFit/>
          </a:bodyPr>
          <a:lstStyle/>
          <a:p>
            <a:pPr algn="l">
              <a:lnSpc>
                <a:spcPct val="108000"/>
              </a:lnSpc>
              <a:spcBef>
                <a:spcPts val="0"/>
              </a:spcBef>
              <a:spcAft>
                <a:spcPts val="1200"/>
              </a:spcAft>
            </a:pPr>
            <a:r>
              <a:rPr sz="3700" b="1">
                <a:solidFill>
                  <a:srgbClr val="76B900"/>
                </a:solidFill>
                <a:latin typeface="NVIDIA Sans Medium"/>
              </a:rPr>
              <a:t>Stable shapes and buffers</a:t>
            </a:r>
          </a:p>
        </p:txBody>
      </p:sp>
      <p:sp>
        <p:nvSpPr>
          <p:cNvPr id="10" name="Refresh Q/K/V values in registered storage."/>
          <p:cNvSpPr txBox="1"/>
          <p:nvPr/>
        </p:nvSpPr>
        <p:spPr>
          <a:xfrm>
            <a:off x="1828800" y="9189720"/>
            <a:ext cx="15544800" cy="155448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Refresh Q/K/V values in registered storage.</a:t>
            </a:r>
          </a:p>
          <a:p>
            <a:pPr algn="l">
              <a:lnSpc>
                <a:spcPct val="108000"/>
              </a:lnSpc>
              <a:spcBef>
                <a:spcPts val="0"/>
              </a:spcBef>
              <a:spcAft>
                <a:spcPts val="1200"/>
              </a:spcAft>
            </a:pPr>
            <a:r>
              <a:rPr sz="3000" b="0">
                <a:solidFill>
                  <a:srgbClr val="313131"/>
                </a:solidFill>
                <a:latin typeface="NVIDIA Sans"/>
              </a:rPr>
              <a:t>Keep geometry, addresses and launch structure fixed.</a:t>
            </a:r>
          </a:p>
        </p:txBody>
      </p:sp>
      <p:sp>
        <p:nvSpPr>
          <p:cNvPr id="11" name="More launches after head splitting"/>
          <p:cNvSpPr txBox="1"/>
          <p:nvPr/>
        </p:nvSpPr>
        <p:spPr>
          <a:xfrm>
            <a:off x="1828800" y="11155680"/>
            <a:ext cx="15544800" cy="777240"/>
          </a:xfrm>
          <a:prstGeom prst="rect">
            <a:avLst/>
          </a:prstGeom>
          <a:noFill/>
        </p:spPr>
        <p:txBody>
          <a:bodyPr wrap="square" lIns="0" rIns="0" tIns="0" bIns="0">
            <a:spAutoFit/>
          </a:bodyPr>
          <a:lstStyle/>
          <a:p>
            <a:pPr algn="l">
              <a:lnSpc>
                <a:spcPct val="108000"/>
              </a:lnSpc>
              <a:spcBef>
                <a:spcPts val="0"/>
              </a:spcBef>
              <a:spcAft>
                <a:spcPts val="1200"/>
              </a:spcAft>
            </a:pPr>
            <a:r>
              <a:rPr sz="3700" b="1">
                <a:solidFill>
                  <a:srgbClr val="76B900"/>
                </a:solidFill>
                <a:latin typeface="NVIDIA Sans Medium"/>
              </a:rPr>
              <a:t>More launches after head splitting</a:t>
            </a:r>
          </a:p>
        </p:txBody>
      </p:sp>
      <p:sp>
        <p:nvSpPr>
          <p:cNvPr id="12" name="Capture unpack → VSA → pack together."/>
          <p:cNvSpPr txBox="1"/>
          <p:nvPr/>
        </p:nvSpPr>
        <p:spPr>
          <a:xfrm>
            <a:off x="1828800" y="12115800"/>
            <a:ext cx="15544800" cy="155448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Capture unpack → VSA → pack together.</a:t>
            </a:r>
          </a:p>
          <a:p>
            <a:pPr algn="l">
              <a:lnSpc>
                <a:spcPct val="108000"/>
              </a:lnSpc>
              <a:spcBef>
                <a:spcPts val="0"/>
              </a:spcBef>
              <a:spcAft>
                <a:spcPts val="1200"/>
              </a:spcAft>
            </a:pPr>
            <a:r>
              <a:rPr sz="3000" b="0">
                <a:solidFill>
                  <a:srgbClr val="313131"/>
                </a:solidFill>
                <a:latin typeface="NVIDIA Sans"/>
              </a:rPr>
              <a:t>Amortize capture over repeated band execution.</a:t>
            </a:r>
          </a:p>
        </p:txBody>
      </p:sp>
      <p:pic>
        <p:nvPicPr>
          <p:cNvPr id="13" name="CUDA Graph capture scope and eager boundaries" descr="cuda-graph-capture-scop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562724" y="5303520"/>
            <a:ext cx="16184070" cy="10972800"/>
          </a:xfrm>
          <a:prstGeom prst="rect">
            <a:avLst/>
          </a:prstGeom>
          <a:ln w="9525">
            <a:solidFill>
              <a:srgbClr val="A7A7A7"/>
            </a:solidFill>
          </a:ln>
        </p:spPr>
      </p:pic>
      <p:sp>
        <p:nvSpPr>
          <p:cNvPr id="14" name="Reuse has conditions"/>
          <p:cNvSpPr txBox="1"/>
          <p:nvPr/>
        </p:nvSpPr>
        <p:spPr>
          <a:xfrm>
            <a:off x="1828800" y="14721840"/>
            <a:ext cx="15544800" cy="731520"/>
          </a:xfrm>
          <a:prstGeom prst="rect">
            <a:avLst/>
          </a:prstGeom>
          <a:noFill/>
        </p:spPr>
        <p:txBody>
          <a:bodyPr wrap="square" lIns="0" rIns="0" tIns="0" bIns="0">
            <a:spAutoFit/>
          </a:bodyPr>
          <a:lstStyle/>
          <a:p>
            <a:pPr algn="l">
              <a:lnSpc>
                <a:spcPct val="108000"/>
              </a:lnSpc>
              <a:spcBef>
                <a:spcPts val="0"/>
              </a:spcBef>
              <a:spcAft>
                <a:spcPts val="1200"/>
              </a:spcAft>
            </a:pPr>
            <a:r>
              <a:rPr sz="3700" b="1">
                <a:solidFill>
                  <a:srgbClr val="76B900"/>
                </a:solidFill>
                <a:latin typeface="NVIDIA Sans Medium"/>
              </a:rPr>
              <a:t>Reuse has conditions</a:t>
            </a:r>
          </a:p>
        </p:txBody>
      </p:sp>
      <p:sp>
        <p:nvSpPr>
          <p:cNvPr id="15" name="New geometry needs a separately qualified graph."/>
          <p:cNvSpPr txBox="1"/>
          <p:nvPr/>
        </p:nvSpPr>
        <p:spPr>
          <a:xfrm>
            <a:off x="1828800" y="15681959"/>
            <a:ext cx="15544800" cy="192024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New geometry needs a separately qualified graph.</a:t>
            </a:r>
          </a:p>
          <a:p>
            <a:pPr algn="l">
              <a:lnSpc>
                <a:spcPct val="108000"/>
              </a:lnSpc>
              <a:spcBef>
                <a:spcPts val="0"/>
              </a:spcBef>
              <a:spcAft>
                <a:spcPts val="1200"/>
              </a:spcAft>
            </a:pPr>
            <a:r>
              <a:rPr sz="2900" b="0">
                <a:solidFill>
                  <a:srgbClr val="313131"/>
                </a:solidFill>
                <a:latin typeface="NVIDIA Sans"/>
              </a:rPr>
              <a:t>Budget capture time and private-pool memory.</a:t>
            </a:r>
          </a:p>
          <a:p>
            <a:pPr algn="l">
              <a:lnSpc>
                <a:spcPct val="108000"/>
              </a:lnSpc>
              <a:spcBef>
                <a:spcPts val="0"/>
              </a:spcBef>
              <a:spcAft>
                <a:spcPts val="1200"/>
              </a:spcAft>
            </a:pPr>
            <a:r>
              <a:rPr sz="2900" b="0">
                <a:solidFill>
                  <a:srgbClr val="313131"/>
                </a:solidFill>
                <a:latin typeface="NVIDIA Sans"/>
              </a:rPr>
              <a:t>Compute-bound kernels may gain little.</a:t>
            </a:r>
          </a:p>
        </p:txBody>
      </p:sp>
      <p:sp>
        <p:nvSpPr>
          <p:cNvPr id="16" name="H3: stable video / head profiles     ·     LLM decode: often batch / token profiles"/>
          <p:cNvSpPr txBox="1"/>
          <p:nvPr/>
        </p:nvSpPr>
        <p:spPr>
          <a:xfrm>
            <a:off x="1828800" y="18196560"/>
            <a:ext cx="32918400" cy="685800"/>
          </a:xfrm>
          <a:prstGeom prst="rect">
            <a:avLst/>
          </a:prstGeom>
          <a:noFill/>
        </p:spPr>
        <p:txBody>
          <a:bodyPr wrap="square" lIns="0" rIns="0" tIns="0" bIns="0">
            <a:spAutoFit/>
          </a:bodyPr>
          <a:lstStyle/>
          <a:p>
            <a:pPr algn="l">
              <a:lnSpc>
                <a:spcPct val="108000"/>
              </a:lnSpc>
              <a:spcBef>
                <a:spcPts val="0"/>
              </a:spcBef>
              <a:spcAft>
                <a:spcPts val="1200"/>
              </a:spcAft>
            </a:pPr>
            <a:r>
              <a:rPr sz="2800" b="1">
                <a:solidFill>
                  <a:srgbClr val="313131"/>
                </a:solidFill>
                <a:latin typeface="NVIDIA Sans Medium"/>
              </a:rPr>
              <a:t>H3: stable video / head profiles     ·     LLM decode: often batch / token profiles</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