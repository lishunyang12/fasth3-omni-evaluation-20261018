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 Id="rId88" Type="http://schemas.openxmlformats.org/officeDocument/2006/relationships/slide" Target="slides/slide65.xml"/><Relationship Id="rId89" Type="http://schemas.openxmlformats.org/officeDocument/2006/relationships/slide" Target="slides/slide66.xml"/><Relationship Id="rId90" Type="http://schemas.openxmlformats.org/officeDocument/2006/relationships/slide" Target="slides/slide67.xml"/><Relationship Id="rId91" Type="http://schemas.openxmlformats.org/officeDocument/2006/relationships/slide" Target="slides/slide68.xml"/><Relationship Id="rId92" Type="http://schemas.openxmlformats.org/officeDocument/2006/relationships/slide" Target="slides/slide69.xml"/><Relationship Id="rId93" Type="http://schemas.openxmlformats.org/officeDocument/2006/relationships/slide" Target="slides/slide70.xml"/><Relationship Id="rId94" Type="http://schemas.openxmlformats.org/officeDocument/2006/relationships/slide" Target="slides/slide71.xml"/><Relationship Id="rId95" Type="http://schemas.openxmlformats.org/officeDocument/2006/relationships/slide" Target="slides/slide72.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chemeClr val="accent6"/>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chemeClr val="accent6"/>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chemeClr val="accent6"/>
              </a:solidFill>
              <a:ln>
                <a:noFill/>
              </a:ln>
              <a:effectLst/>
            </c:spPr>
            <c:extLst>
              <c:ext xmlns:c16="http://schemas.microsoft.com/office/drawing/2014/chart" uri="{C3380CC4-5D6E-409C-BE32-E72D297353CC}">
                <c16:uniqueId val="{00000005-9282-4C7D-93A0-078375DDFF91}"/>
              </c:ext>
            </c:extLst>
          </c:dPt>
          <c:dPt>
            <c:idx val="3"/>
            <c:spPr>
              <a:solidFill>
                <a:schemeClr val="accent6"/>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chemeClr val="accent6"/>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chemeClr val="accent6">
                  <a:alpha val="50000"/>
                </a:scheme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On click, the slide reveals the selected RTX PRO 5000 row and the eight-GPU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five rows are mutually exclusive accounting buckets. Three steady measured requests took 247.956, 246.201 and 248.298 seconds; the median is 247.956 seconds and RTF 47.992. All three measured outputs share one SHA-256 and fully decode. The maximum sampled steady-state memory is 60,813 MiB on one GPU; cold initialize reaches 72,539 MiB, leaving 876 MiB of the 73,415 MiB visible capacity. The table is a hierarchy: the profiled mean GPU timeline contains the repeated DiT loop and VAE/other work; the DiT loop contains communication/movement and tensor compute; those branches contain the five exclusive measured cost centers. The matched Nsight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its 46.2 percent share is serialized collective residency rather than pure transfer time or an achieved-bandwidth measurement. The repeated loop issues 10,000 SendRecv kernels per rank: four per DiT block across 50 steps and 50 blocks. DiT host-to-device copies contribute 295.5 aggregate GPU-seconds and 8.94 TB of CUPTI logical bytes; the launch configuration identifies this as the default SM120 weight-offload path.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locked Base workload uses 50 denoising evaluations and 50 DiT blocks, for 2,500 repeated block executions. The released task-specific H3 Ref2VA PDD adapter is the eight-NFE lane. Its public loader uses 32 fine intervals with a block size of four, so one transformer evaluation predicts four interval means and the complete schedule takes eight evaluations. It therefore executes 8 times 50, or 400, DiT blocks: 84 percent fewer than Base50. This removes attention, GEMM/MLP and USP communication together. PDD does not retain eight of the original 50 solver steps, and 2,500 to 400 is workload arithmetic, not a measured end-to-end speedup. NVIDIA Figure 2 is the generic N=12, L=4 mechanism illustration; the H3 N=32, L=4 schedule is stated separately. Matched 960x544 latency, peak memory and quality remain pending.</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uses Kc=32.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QAD is an accuracy-recovery training method: a quantized student learns under a frozen BF16 teacher. The public FastH3 Omni NVFP4-QAD artifact is an eight-forward Ref2VA checkpoint with its own PDD grid 32, 90 percent VSA and tile128 contract. The local vLLM-Omni Sage-VSA route is a separate tile64 SM120 path. It accepts BF16 tensors, quantizes Q and mean-centered K to INT8 and V to FP8 E4M3 inside the sparse fine attention kernel, and returns BF16. The token refiner stays on Torch SDPA. Ulysses exchanges Q, K and V before this local quantization and exchanges O afterward, so the current collective payload remains BF16. Do not add the public QAD artifact, Alibaba Ref2VA PDD adapter, tile64 VSA and local Sage kernel into one cumulative speedup until the exact combined path passes matched latency and quality validation.</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20.png"/></Relationships>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t>Shunyang Li  |  Public Technical Brief  |  October 2026</a:t>
            </a:r>
          </a:p>
        </p:txBody>
      </p:sp>
      <p:sp>
        <p:nvSpPr>
          <p:cNvPr id="3" name="Text Placeholder 2"/>
          <p:cNvSpPr>
            <a:spLocks noGrp="1"/>
          </p:cNvSpPr>
          <p:nvPr>
            <p:ph type="body" idx="11" sz="quarter"/>
          </p:nvPr>
        </p:nvSpPr>
        <p:spPr/>
        <p:txBody>
          <a:bodyPr/>
          <a:lstStyle/>
          <a:p>
            <a:r>
              <a:t>8× RTX PRO 5000 · vLLM-Omni + ComfyUI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 ComfyUI Applications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For 124 frames at 24 FPS, real time requires end-to-end latency &lt; 5.167 s (RTF &lt; 1.0)</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real-time deadline here is 5.167 s. H3 is the largest dense backbone in this peer set; Wan2.2 = 27B total / 14B active.</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50 blocks × 50 denoising steps; full attention. ≈130 GB raw BF16; ~13B AdaLN cacheable.</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Every discrete SM120 card combines fifth-generation Tensor Cores with FP4 and GDDR7; memory capacity and PCIe-to-fabric bandwidth define the deployment envelope</a:t>
            </a:r>
          </a:p>
        </p:txBody>
      </p:sp>
      <p:sp>
        <p:nvSpPr>
          <p:cNvPr id="3" name="Title 2"/>
          <p:cNvSpPr>
            <a:spLocks noGrp="1"/>
          </p:cNvSpPr>
          <p:nvPr>
            <p:ph type="title"/>
          </p:nvPr>
        </p:nvSpPr>
        <p:spPr/>
        <p:txBody>
          <a:bodyPr/>
          <a:lstStyle/>
          <a:p>
            <a:r>
              <a:t>Frontier Models · The Cards</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firstRow="1" bandRow="1">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RTX PRO 5000
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SM120 · 110 SMs
5th-gen Tensor · FP4</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72 GB GDDR7 ECC
48 GB variant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PCIe Gen5 ×16
Planned: NIC → RDMA*</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RTX PRO 6000
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SM120 · 188 SMs
5th-gen Tensor · FP4</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PCIe Gen5 ×16
No GPU NVLink</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SM120 · 170 SMs
5th-gen Tensor · FP4</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32 GB GDDR7</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PCIe Gen5 ×16
No NVLink</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SM121 · 48 SMs
5th-gen Tensor · FP4</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128 GB unified
LPDDR5X</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NVLink-C2C in SoC
200 Gb/s ConnectX-7</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a:t>* Planned system path; GPUDirect RDMA requires a compatible NIC and PCIe topology · Sources: NVIDIA product specs, CUDA GPU table, GPUDirect RDMA guide</a:t>
            </a:r>
            <a:endParaRPr lang="en-US" dirty="0"/>
          </a:p>
        </p:txBody>
      </p:sp>
      <p:cxnSp>
        <p:nvCxnSpPr>
          <p:cNvPr id="7" name="Selected RTX PRO 5000 Top">
            <a:extLst>
              <a:ext uri="{FF2B5EF4-FFF2-40B4-BE49-F238E27FC236}">
                <a16:creationId xmlns:a16="http://schemas.microsoft.com/office/drawing/2014/main" id="{F54C2F02-CA89-E9E9-1E67-E8559241B4DA}"/>
              </a:ext>
            </a:extLst>
          </p:cNvPr>
          <p:cNvCxnSpPr>
            <a:cxnSpLocks/>
          </p:cNvCxnSpPr>
          <p:nvPr/>
        </p:nvCxnSpPr>
        <p:spPr>
          <a:xfrm>
            <a:off x="4152826" y="7087091"/>
            <a:ext cx="28270321" cy="0"/>
          </a:xfrm>
          <a:prstGeom prst="line">
            <a:avLst/>
          </a:prstGeom>
          <a:ln w="190500">
            <a:solidFill>
              <a:schemeClr val="accent1"/>
            </a:solidFill>
            <a:headEnd w="lg" len="lg"/>
            <a:tailEnd w="lg" len="lg"/>
          </a:ln>
        </p:spPr>
        <p:style>
          <a:lnRef idx="2">
            <a:schemeClr val="accent1"/>
          </a:lnRef>
          <a:fillRef idx="0">
            <a:schemeClr val="accent1"/>
          </a:fillRef>
          <a:effectRef idx="1">
            <a:schemeClr val="accent1"/>
          </a:effectRef>
          <a:fontRef idx="minor">
            <a:schemeClr val="tx1"/>
          </a:fontRef>
        </p:style>
      </p:cxnSp>
      <p:cxnSp>
        <p:nvCxnSpPr>
          <p:cNvPr id="8" name="Selected RTX PRO 5000 Bottom">
            <a:extLst>
              <a:ext uri="{FF2B5EF4-FFF2-40B4-BE49-F238E27FC236}">
                <a16:creationId xmlns:a16="http://schemas.microsoft.com/office/drawing/2014/main" id="{F54C2F02-CA89-E9E9-1E67-E8559241B4DA}"/>
              </a:ext>
            </a:extLst>
          </p:cNvPr>
          <p:cNvCxnSpPr>
            <a:cxnSpLocks/>
          </p:cNvCxnSpPr>
          <p:nvPr/>
        </p:nvCxnSpPr>
        <p:spPr>
          <a:xfrm>
            <a:off x="4152826" y="9496535"/>
            <a:ext cx="28270321" cy="0"/>
          </a:xfrm>
          <a:prstGeom prst="line">
            <a:avLst/>
          </a:prstGeom>
          <a:ln w="190500">
            <a:solidFill>
              <a:schemeClr val="accent1"/>
            </a:solidFill>
            <a:headEnd w="lg" len="lg"/>
            <a:tailEnd w="lg" len="lg"/>
          </a:ln>
        </p:spPr>
        <p:style>
          <a:lnRef idx="2">
            <a:schemeClr val="accent1"/>
          </a:lnRef>
          <a:fillRef idx="0">
            <a:schemeClr val="accent1"/>
          </a:fillRef>
          <a:effectRef idx="1">
            <a:schemeClr val="accent1"/>
          </a:effectRef>
          <a:fontRef idx="minor">
            <a:schemeClr val="tx1"/>
          </a:fontRef>
        </p:style>
      </p:cxnSp>
      <p:cxnSp>
        <p:nvCxnSpPr>
          <p:cNvPr id="9" name="Selected RTX PRO 5000 Left">
            <a:extLst>
              <a:ext uri="{FF2B5EF4-FFF2-40B4-BE49-F238E27FC236}">
                <a16:creationId xmlns:a16="http://schemas.microsoft.com/office/drawing/2014/main" id="{F54C2F02-CA89-E9E9-1E67-E8559241B4DA}"/>
              </a:ext>
            </a:extLst>
          </p:cNvPr>
          <p:cNvCxnSpPr>
            <a:cxnSpLocks/>
          </p:cNvCxnSpPr>
          <p:nvPr/>
        </p:nvCxnSpPr>
        <p:spPr>
          <a:xfrm>
            <a:off x="4152826" y="7087091"/>
            <a:ext cx="0" cy="2409444"/>
          </a:xfrm>
          <a:prstGeom prst="line">
            <a:avLst/>
          </a:prstGeom>
          <a:ln w="190500">
            <a:solidFill>
              <a:schemeClr val="accent1"/>
            </a:solidFill>
            <a:headEnd w="lg" len="lg"/>
            <a:tailEnd w="lg" len="lg"/>
          </a:ln>
        </p:spPr>
        <p:style>
          <a:lnRef idx="2">
            <a:schemeClr val="accent1"/>
          </a:lnRef>
          <a:fillRef idx="0">
            <a:schemeClr val="accent1"/>
          </a:fillRef>
          <a:effectRef idx="1">
            <a:schemeClr val="accent1"/>
          </a:effectRef>
          <a:fontRef idx="minor">
            <a:schemeClr val="tx1"/>
          </a:fontRef>
        </p:style>
      </p:cxnSp>
      <p:cxnSp>
        <p:nvCxnSpPr>
          <p:cNvPr id="10" name="Selected RTX PRO 5000 Right">
            <a:extLst>
              <a:ext uri="{FF2B5EF4-FFF2-40B4-BE49-F238E27FC236}">
                <a16:creationId xmlns:a16="http://schemas.microsoft.com/office/drawing/2014/main" id="{F54C2F02-CA89-E9E9-1E67-E8559241B4DA}"/>
              </a:ext>
            </a:extLst>
          </p:cNvPr>
          <p:cNvCxnSpPr>
            <a:cxnSpLocks/>
          </p:cNvCxnSpPr>
          <p:nvPr/>
        </p:nvCxnSpPr>
        <p:spPr>
          <a:xfrm>
            <a:off x="32423147" y="7087091"/>
            <a:ext cx="0" cy="2409444"/>
          </a:xfrm>
          <a:prstGeom prst="line">
            <a:avLst/>
          </a:prstGeom>
          <a:ln w="190500">
            <a:solidFill>
              <a:schemeClr val="accent1"/>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1" name="Eight GPUs"/>
          <p:cNvSpPr txBox="1"/>
          <p:nvPr/>
        </p:nvSpPr>
        <p:spPr>
          <a:xfrm>
            <a:off x="32662368" y="7516368"/>
            <a:ext cx="2011680" cy="1005840"/>
          </a:xfrm>
          <a:prstGeom prst="rect">
            <a:avLst/>
          </a:prstGeom>
          <a:noFill/>
        </p:spPr>
        <p:txBody>
          <a:bodyPr wrap="square" anchor="ctr" lIns="0" rIns="0" tIns="0" bIns="0">
            <a:spAutoFit/>
          </a:bodyPr>
          <a:lstStyle/>
          <a:p>
            <a:pPr algn="ctr">
              <a:spcBef>
                <a:spcPts val="0"/>
              </a:spcBef>
              <a:spcAft>
                <a:spcPts val="0"/>
              </a:spcAft>
              <a:buNone/>
            </a:pPr>
            <a:r>
              <a:rPr sz="6000" b="1" i="0">
                <a:solidFill>
                  <a:srgbClr val="76B900"/>
                </a:solidFill>
                <a:latin typeface="NVIDIA Sans Medium"/>
              </a:rPr>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fill="hold" nodeType="clickEffect" presetClass="entr" presetID="1" presetSubtype="0">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fill="hold" nodeType="withEffect" presetClass="entr" presetID="1" presetSubtype="0">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fill="hold" nodeType="withEffect" presetClass="entr" presetID="1" presetSubtype="0">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fill="hold" nodeType="withEffect" presetClass="entr" presetID="1" presetSubtype="0">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fill="hold" nodeType="withEffect" presetClass="entr" presetID="1" presetSubtype="0">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Base50 · 248 s latency for 5.17 s output · RTF 48.0</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firstRow="1" bandRow="1">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Cost center</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Avg. time / GPU*</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u="none" strike="noStrike" kern="1200" cap="none" spc="0" normalizeH="0" baseline="0" noProof="0" dirty="0">
                          <a:ln>
                            <a:noFill/>
                          </a:ln>
                          <a:solidFill>
                            <a:srgbClr val="313131"/>
                          </a:solidFill>
                          <a:effectLst/>
                          <a:uLnTx/>
                          <a:uFillTx/>
                          <a:latin typeface="+mj-lt"/>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248.3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100.0%</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u="none" strike="noStrike" kern="1200" cap="none" spc="0" normalizeH="0" baseline="0" noProof="0" dirty="0">
                          <a:ln>
                            <a:noFill/>
                          </a:ln>
                          <a:solidFill>
                            <a:srgbClr val="313131"/>
                          </a:solidFill>
                          <a:effectLst/>
                          <a:uLnTx/>
                          <a:uFillTx/>
                          <a:latin typeface="+mj-lt"/>
                        </a:rPr>
                        <a:t>Repeated DiT loop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237.7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95.7%</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u="none" strike="noStrike" kern="1200" cap="none" spc="0" normalizeH="0" baseline="0" noProof="0" dirty="0">
                          <a:ln>
                            <a:noFill/>
                          </a:ln>
                          <a:solidFill>
                            <a:srgbClr val="76B900"/>
                          </a:solidFill>
                          <a:effectLst/>
                          <a:uLnTx/>
                          <a:uFillTx/>
                          <a:latin typeface="+mj-lt"/>
                        </a:rPr>
                        <a:t>Communication + movement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153.2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76B900"/>
                          </a:solidFill>
                          <a:latin typeface="+mn-lt"/>
                        </a:rPr>
                        <a:t>61.7%</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u="none" strike="noStrike" kern="1200" cap="none" spc="0" normalizeH="0" baseline="0" noProof="0" dirty="0">
                          <a:ln>
                            <a:noFill/>
                          </a:ln>
                          <a:solidFill>
                            <a:srgbClr val="76B900"/>
                          </a:solidFill>
                          <a:effectLst/>
                          <a:uLnTx/>
                          <a:uFillTx/>
                          <a:latin typeface="+mj-lt"/>
                        </a:rPr>
                        <a:t>DiT USP8 all-to-all (NCCL)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7830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313131"/>
                          </a:solidFill>
                          <a:latin typeface="+mn-lt"/>
                        </a:rPr>
                        <a:t>114.7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76B900"/>
                          </a:solidFill>
                          <a:latin typeface="+mn-lt"/>
                        </a:rPr>
                        <a:t>46.2%</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u="none" strike="noStrike" kern="1200" cap="none" spc="0" normalizeH="0" baseline="0" noProof="0" dirty="0">
                          <a:ln>
                            <a:noFill/>
                          </a:ln>
                          <a:solidFill>
                            <a:srgbClr val="76B900"/>
                          </a:solidFill>
                          <a:effectLst/>
                          <a:uLnTx/>
                          <a:uFillTx/>
                          <a:latin typeface="+mj-lt"/>
                        </a:rPr>
                        <a:t>AdaLN weight staging +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7830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313131"/>
                          </a:solidFill>
                          <a:latin typeface="+mn-lt"/>
                        </a:rPr>
                        <a:t>38.5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76B900"/>
                          </a:solidFill>
                          <a:latin typeface="+mn-lt"/>
                        </a:rPr>
                        <a:t>15.5%</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u="none" strike="noStrike" kern="1200" cap="none" spc="0" normalizeH="0" baseline="0" noProof="0" dirty="0">
                          <a:ln>
                            <a:noFill/>
                          </a:ln>
                          <a:solidFill>
                            <a:srgbClr val="313131"/>
                          </a:solidFill>
                          <a:effectLst/>
                          <a:uLnTx/>
                          <a:uFillTx/>
                          <a:latin typeface="+mj-lt"/>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84.5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34.0%</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u="none" strike="noStrike" kern="1200" cap="none" spc="0" normalizeH="0" baseline="0" noProof="0" dirty="0">
                          <a:ln>
                            <a:noFill/>
                          </a:ln>
                          <a:solidFill>
                            <a:srgbClr val="313131"/>
                          </a:solidFill>
                          <a:effectLst/>
                          <a:uLnTx/>
                          <a:uFillTx/>
                          <a:latin typeface="+mj-lt"/>
                        </a:rPr>
                        <a:t>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7830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313131"/>
                          </a:solidFill>
                          <a:latin typeface="+mn-lt"/>
                        </a:rPr>
                        <a:t>45.3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313131"/>
                          </a:solidFill>
                          <a:latin typeface="+mn-lt"/>
                        </a:rPr>
                        <a:t>18.3%</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u="none" strike="noStrike" kern="1200" cap="none" spc="0" normalizeH="0" baseline="0" noProof="0" dirty="0">
                          <a:ln>
                            <a:noFill/>
                          </a:ln>
                          <a:solidFill>
                            <a:srgbClr val="313131"/>
                          </a:solidFill>
                          <a:effectLst/>
                          <a:uLnTx/>
                          <a:uFillTx/>
                          <a:latin typeface="+mj-lt"/>
                        </a:rPr>
                        <a:t>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7830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313131"/>
                          </a:solidFill>
                          <a:latin typeface="+mn-lt"/>
                        </a:rPr>
                        <a:t>39.2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313131"/>
                          </a:solidFill>
                          <a:latin typeface="+mn-lt"/>
                        </a:rPr>
                        <a:t>15.8%</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u="none" strike="noStrike" kern="1200" cap="none" spc="0" normalizeH="0" baseline="0" noProof="0" dirty="0">
                          <a:ln>
                            <a:noFill/>
                          </a:ln>
                          <a:solidFill>
                            <a:srgbClr val="757575"/>
                          </a:solidFill>
                          <a:effectLst/>
                          <a:uLnTx/>
                          <a:uFillTx/>
                          <a:latin typeface="+mj-lt"/>
                        </a:rPr>
                        <a:t>VAE + other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10.6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757575"/>
                          </a:solidFill>
                          <a:latin typeface="+mn-lt"/>
                        </a:rPr>
                        <a:t>4.3%</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a:t>Base Ref2VA · 960×544 · 124f @ 24 FPS · 50 steps · BF16 · 8× PRO 5000 · local NCCL / RDMA off · *mean across 8 GPU timelines; NCCL includes sync / peer wait</a:t>
            </a:r>
            <a:endParaRPr lang="en-US" dirty="0"/>
          </a:p>
        </p:txBody>
      </p:sp>
      <p:sp>
        <p:nvSpPr>
          <p:cNvPr id="7" name="TextBox 6"/>
          <p:cNvSpPr txBox="1"/>
          <p:nvPr/>
        </p:nvSpPr>
        <p:spPr>
          <a:xfrm>
            <a:off x="4160520" y="16898112"/>
            <a:ext cx="28254960" cy="1417320"/>
          </a:xfrm>
          <a:prstGeom prst="rect">
            <a:avLst/>
          </a:prstGeom>
          <a:noFill/>
        </p:spPr>
        <p:txBody>
          <a:bodyPr wrap="square" anchor="ctr" lIns="0" rIns="0" tIns="0" bIns="0">
            <a:spAutoFit/>
          </a:bodyPr>
          <a:lstStyle/>
          <a:p>
            <a:pPr algn="l">
              <a:spcBef>
                <a:spcPts val="0"/>
              </a:spcBef>
              <a:spcAft>
                <a:spcPts val="0"/>
              </a:spcAft>
              <a:buNone/>
            </a:pPr>
            <a:r>
              <a:rPr sz="2800" b="0" i="0">
                <a:solidFill>
                  <a:srgbClr val="313131"/>
                </a:solidFill>
                <a:latin typeface="NVIDIA Sans"/>
              </a:rPr>
              <a:t>• This row is mainly BF16 AdaLN weights staged from CPU memory to GPU.</a:t>
            </a:r>
          </a:p>
          <a:p>
            <a:pPr algn="l">
              <a:spcBef>
                <a:spcPts val="0"/>
              </a:spcBef>
              <a:spcAft>
                <a:spcPts val="0"/>
              </a:spcAft>
              <a:buNone/>
            </a:pPr>
            <a:r>
              <a:rPr sz="2800" b="0" i="0">
                <a:solidFill>
                  <a:srgbClr val="313131"/>
                </a:solidFill>
                <a:latin typeface="NVIDIA Sans"/>
              </a:rPr>
              <a:t>• Reduce repeated DiT work first; then optimize the remaining compute and communication.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313131"/>
                </a:solidFill>
                <a:latin typeface="NVIDIA Sans Medium"/>
              </a:rPr>
              <a:t>BASE REF2VA</a:t>
            </a:r>
          </a:p>
          <a:p>
            <a:pPr lvl="1" algn="l"/>
            <a:r>
              <a:rPr b="1">
                <a:solidFill>
                  <a:srgbClr val="313131"/>
                </a:solidFill>
                <a:latin typeface="NVIDIA Sans Medium"/>
              </a:rPr>
              <a:t>50 NFE × 50 blocks = 2,500</a:t>
            </a:r>
          </a:p>
          <a:p>
            <a:pPr lvl="2" algn="l"/>
            <a:r>
              <a:rPr b="0">
                <a:solidFill>
                  <a:srgbClr val="757575"/>
                </a:solidFill>
                <a:latin typeface="NVIDIA Sans"/>
              </a:rPr>
              <a:t>Every attention, MLP and USP exchange repeats</a:t>
            </a:r>
          </a:p>
          <a:p>
            <a:pPr algn="l"/>
            <a:r>
              <a:rPr b="1">
                <a:solidFill>
                  <a:srgbClr val="76B900"/>
                </a:solidFill>
                <a:latin typeface="NVIDIA Sans Medium"/>
              </a:rPr>
              <a:t>REF2VA PDD8</a:t>
            </a:r>
          </a:p>
          <a:p>
            <a:pPr lvl="1" algn="l"/>
            <a:r>
              <a:rPr b="1">
                <a:solidFill>
                  <a:srgbClr val="76B900"/>
                </a:solidFill>
                <a:latin typeface="NVIDIA Sans Medium"/>
              </a:rPr>
              <a:t>8 NFE × 50 blocks = 400</a:t>
            </a:r>
          </a:p>
          <a:p>
            <a:pPr lvl="2" algn="l"/>
            <a:r>
              <a:rPr b="0">
                <a:solidFill>
                  <a:srgbClr val="757575"/>
                </a:solidFill>
                <a:latin typeface="NVIDIA Sans"/>
              </a:rPr>
              <a:t>N = 32, L = 4 → 8 evaluations</a:t>
            </a:r>
          </a:p>
          <a:p>
            <a:pPr algn="l"/>
            <a:r>
              <a:rPr b="1">
                <a:solidFill>
                  <a:srgbClr val="76B900"/>
                </a:solidFill>
                <a:latin typeface="NVIDIA Sans Medium"/>
              </a:rPr>
              <a:t>−84% repeated DiT block calls</a:t>
            </a:r>
          </a:p>
          <a:p>
            <a:pPr lvl="1" algn="l"/>
            <a:r>
              <a:rPr b="0">
                <a:solidFill>
                  <a:srgbClr val="757575"/>
                </a:solidFill>
                <a:latin typeface="NVIDIA Sans"/>
              </a:rPr>
              <a:t>Matched E2E, memory and quality remain pending</a:t>
            </a:r>
          </a:p>
        </p:txBody>
      </p:sp>
      <p:sp>
        <p:nvSpPr>
          <p:cNvPr id="3" name="Text Placeholder 2"/>
          <p:cNvSpPr>
            <a:spLocks noGrp="1"/>
          </p:cNvSpPr>
          <p:nvPr>
            <p:ph type="body" idx="14" sz="quarter"/>
          </p:nvPr>
        </p:nvSpPr>
        <p:spPr/>
        <p:txBody>
          <a:bodyPr/>
          <a:lstStyle/>
          <a:p>
            <a:r>
              <a:t>H3 Ref2VA · 50 NFE  →  PDD · 8 NFE</a:t>
            </a:r>
          </a:p>
        </p:txBody>
      </p:sp>
      <p:sp>
        <p:nvSpPr>
          <p:cNvPr id="4" name="Title 3"/>
          <p:cNvSpPr>
            <a:spLocks noGrp="1"/>
          </p:cNvSpPr>
          <p:nvPr>
            <p:ph type="title"/>
          </p:nvPr>
        </p:nvSpPr>
        <p:spPr/>
        <p:txBody>
          <a:bodyPr/>
          <a:lstStyle/>
          <a:p>
            <a:r>
              <a:t>PDD Removes 84% of Repeated DiT Work</a:t>
            </a:r>
          </a:p>
        </p:txBody>
      </p:sp>
      <p:sp>
        <p:nvSpPr>
          <p:cNvPr id="5" name="Text Placeholder 4"/>
          <p:cNvSpPr>
            <a:spLocks noGrp="1"/>
          </p:cNvSpPr>
          <p:nvPr>
            <p:ph type="body" idx="52" sz="quarter"/>
          </p:nvPr>
        </p:nvSpPr>
        <p:spPr/>
        <p:txBody>
          <a:bodyPr/>
          <a:lstStyle/>
          <a:p>
            <a:r>
              <a:t>Generic Figure 2 illustration: N = 12 intervals, grouped L = 4 per Transformer evaluation</a:t>
            </a:r>
          </a:p>
        </p:txBody>
      </p:sp>
      <p:sp>
        <p:nvSpPr>
          <p:cNvPr id="6" name="Text Placeholder 5"/>
          <p:cNvSpPr>
            <a:spLocks noGrp="1"/>
          </p:cNvSpPr>
          <p:nvPr>
            <p:ph type="body" idx="51" sz="quarter"/>
          </p:nvPr>
        </p:nvSpPr>
        <p:spPr/>
        <p:txBody>
          <a:bodyPr/>
          <a:lstStyle/>
          <a:p>
            <a:r>
              <a:t>NVIDIA PDD · PARALLEL DECODER</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Sources: NVIDIA PDD, Fig. 2 (arXiv:2607.26004) · Alibaba-PAI MiniMax-H3-Acc-LoRAs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Video Sparse Attention (VSA) = trainable, content-aware block sparsity over 3-D video cubes</a:t>
            </a:r>
          </a:p>
        </p:txBody>
      </p:sp>
      <p:sp>
        <p:nvSpPr>
          <p:cNvPr id="3" name="Title 2"/>
          <p:cNvSpPr>
            <a:spLocks noGrp="1"/>
          </p:cNvSpPr>
          <p:nvPr>
            <p:ph type="title"/>
          </p:nvPr>
        </p:nvSpPr>
        <p:spPr/>
        <p:txBody>
          <a:bodyPr/>
          <a:lstStyle/>
          <a:p>
            <a:r>
              <a:t>After PDD, Attention Still Scores Every Pair</a:t>
            </a:r>
          </a:p>
        </p:txBody>
      </p:sp>
      <p:sp>
        <p:nvSpPr>
          <p:cNvPr id="4" name="Text Placeholder 3"/>
          <p:cNvSpPr>
            <a:spLocks noGrp="1"/>
          </p:cNvSpPr>
          <p:nvPr>
            <p:ph type="body" idx="52" sz="quarter"/>
          </p:nvPr>
        </p:nvSpPr>
        <p:spPr/>
        <p:txBody>
          <a:bodyPr/>
          <a:lstStyle/>
          <a:p>
            <a:r>
              <a:t>Locked 544P: Svalid = 34,373 → 1.181B candidate pairs/head/block. Current USP8 still exchanges full Q/K/V/O (+ gate).</a:t>
            </a:r>
          </a:p>
        </p:txBody>
      </p:sp>
      <p:sp>
        <p:nvSpPr>
          <p:cNvPr id="5" name="Text Placeholder 4"/>
          <p:cNvSpPr>
            <a:spLocks noGrp="1"/>
          </p:cNvSpPr>
          <p:nvPr>
            <p:ph type="body" idx="51" sz="quarter"/>
          </p:nvPr>
        </p:nvSpPr>
        <p:spPr/>
        <p:txBody>
          <a:bodyPr/>
          <a:lstStyle/>
          <a:p>
            <a:r>
              <a:t>DENSE  Θ(S²)  →  VSA  O((S/B)² + S·K·B)</a:t>
            </a:r>
          </a:p>
        </p:txBody>
      </p:sp>
      <p:pic>
        <p:nvPicPr>
          <p:cNvPr id="6" name="Picture Placeholder 5" descr="vsa-figure1-16x9.png"/>
          <p:cNvPicPr>
            <a:picLocks noGrp="1" noChangeAspect="1"/>
          </p:cNvPicPr>
          <p:nvPr>
            <p:ph type="pic" idx="53" sz="quarter"/>
          </p:nvPr>
        </p:nvPicPr>
        <p:blipFill>
          <a:blip r:embed="rId3"/>
          <a:srcRect t="9" b="9"/>
          <a:stretch>
            <a:fillRect/>
          </a:stretch>
        </p:blipFill>
        <p:spPr/>
      </p:pic>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Video Sparse Attention, arXiv:2505.13389, Fig. 1 · current H3 Ulysses communication path audited from source</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The two paths target different SM120 kernels and remain separately qualified in current public evidence</a:t>
            </a:r>
          </a:p>
        </p:txBody>
      </p:sp>
      <p:sp>
        <p:nvSpPr>
          <p:cNvPr id="3" name="Title 2"/>
          <p:cNvSpPr>
            <a:spLocks noGrp="1"/>
          </p:cNvSpPr>
          <p:nvPr>
            <p:ph type="title"/>
          </p:nvPr>
        </p:nvSpPr>
        <p:spPr/>
        <p:txBody>
          <a:bodyPr/>
          <a:lstStyle/>
          <a:p>
            <a:r>
              <a:t>QAD Trains NVFP4; Sage Quantizes VSA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9</a:t>
            </a:fld>
            <a:endParaRPr lang="en-US"/>
          </a:p>
        </p:txBody>
      </p:sp>
      <p:graphicFrame>
        <p:nvGraphicFramePr>
          <p:cNvPr id="5" name="Official NVIDIA QAD Sag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firstRow="1" bandRow="1">
                <a:tableStyleId>{68D230F3-CF80-4859-8CE7-A43EE81993B5}</a:tableStyleId>
              </a:tblPr>
              <a:tblGrid>
                <a:gridCol w="5303520">
                  <a:extLst>
                    <a:ext uri="{9D8B030D-6E8A-4147-A177-3AD203B41FA5}">
                      <a16:colId xmlns:a16="http://schemas.microsoft.com/office/drawing/2014/main" val="1714626306"/>
                    </a:ext>
                  </a:extLst>
                </a:gridCol>
                <a:gridCol w="7772400">
                  <a:extLst>
                    <a:ext uri="{9D8B030D-6E8A-4147-A177-3AD203B41FA5}">
                      <a16:colId xmlns:a16="http://schemas.microsoft.com/office/drawing/2014/main" val="1697748500"/>
                    </a:ext>
                  </a:extLst>
                </a:gridCol>
                <a:gridCol w="7315200">
                  <a:extLst>
                    <a:ext uri="{9D8B030D-6E8A-4147-A177-3AD203B41FA5}">
                      <a16:colId xmlns:a16="http://schemas.microsoft.com/office/drawing/2014/main" val="3872581152"/>
                    </a:ext>
                  </a:extLst>
                </a:gridCol>
                <a:gridCol w="7879201">
                  <a:extLst>
                    <a:ext uri="{9D8B030D-6E8A-4147-A177-3AD203B41FA5}">
                      <a16:colId xmlns:a16="http://schemas.microsoft.com/office/drawing/2014/main" val="2543914041"/>
                    </a:ext>
                  </a:extLst>
                </a:gridCol>
              </a:tblGrid>
              <a:tr h="1005840">
                <a:tc>
                  <a:txBody>
                    <a:bodyPr anchor="ct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r>
                        <a:rPr lang="en-US" sz="2400" b="0" kern="1200" dirty="0">
                          <a:solidFill>
                            <a:schemeClr val="accent1"/>
                          </a:solidFill>
                          <a:latin typeface="+mj-lt"/>
                        </a:rPr>
                        <a:t>PATH</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lnT w="12700" cap="flat" cmpd="sng" algn="ctr">
                      <a:noFill/>
                      <a:prstDash val="solid"/>
                      <a:round/>
                      <a:headEnd type="none" w="med" len="med"/>
                      <a:tailEnd type="none" w="med" len="med"/>
                    </a:lnT>
                  </a:tcPr>
                </a:tc>
                <a:tc>
                  <a:txBody>
                    <a:bodyPr anchor="ct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r>
                        <a:rPr lang="en-US" sz="2400" b="0" kern="1200" dirty="0">
                          <a:solidFill>
                            <a:schemeClr val="accent1"/>
                          </a:solidFill>
                          <a:latin typeface="+mj-lt"/>
                        </a:rPr>
                        <a:t>NUMERICAL ROUTE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nchor="ct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r>
                        <a:rPr lang="en-US" sz="2400" b="0" kern="1200" dirty="0">
                          <a:solidFill>
                            <a:schemeClr val="accent1"/>
                          </a:solidFill>
                          <a:latin typeface="+mj-lt"/>
                        </a:rPr>
                        <a:t>WHAT IT CHANGES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nchor="ct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r>
                        <a:rPr lang="en-US" sz="2400" b="0" kern="1200" dirty="0">
                          <a:solidFill>
                            <a:schemeClr val="accent1"/>
                          </a:solidFill>
                          <a:latin typeface="+mj-lt"/>
                        </a:rPr>
                        <a:t>VALIDATED SCOPE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extLst>
                  <a:ext uri="{0D108BD9-81ED-4DB2-BD59-A6C34878D82A}">
                    <a16:rowId xmlns:a16="http://schemas.microsoft.com/office/drawing/2014/main" val="958895191"/>
                  </a:ext>
                </a:extLst>
              </a:tr>
              <a:tr h="2447202">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u="none" strike="noStrike" kern="1200" cap="none" spc="0" normalizeH="0" baseline="0" noProof="0" dirty="0">
                          <a:ln>
                            <a:noFill/>
                          </a:ln>
                          <a:solidFill>
                            <a:srgbClr val="76B900"/>
                          </a:solidFill>
                          <a:effectLst/>
                          <a:uLnTx/>
                          <a:uFillTx/>
                          <a:latin typeface="+mj-lt"/>
                        </a:rPr>
                        <a:t>QAD CHECKPOINT · PUBLIC</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Packed NVFP4 linears; calibrated BF16 exceptions remain</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A quantized student learns from a frozen BF16 teacher to recover quantization error</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8 forwards · PDD grid 32
VSA 90% · tile128 · Ref2VA artifact</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120594288"/>
                  </a:ext>
                </a:extLst>
              </a:tr>
              <a:tr h="2447202">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u="none" strike="noStrike" kern="1200" cap="none" spc="0" normalizeH="0" baseline="0" noProof="0" dirty="0">
                          <a:ln>
                            <a:noFill/>
                          </a:ln>
                          <a:solidFill>
                            <a:srgbClr val="0074DF"/>
                          </a:solidFill>
                          <a:effectLst/>
                          <a:uLnTx/>
                          <a:uFillTx/>
                          <a:latin typeface="+mj-lt"/>
                        </a:rPr>
                        <a:t>SAGE VSA · LOCAL BRANCH</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BF16 in → Q,K INT8
V FP8 E4M3 → BF16 out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Low precision only inside tile64 fine attention after top-k routing</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SM120 · head dim 128
explicit opt-in · pure Ulysses</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863754937"/>
                  </a:ext>
                </a:extLst>
              </a:tr>
              <a:tr h="2447202">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u="none" strike="noStrike" kern="1200" cap="none" spc="0" normalizeH="0" baseline="0" noProof="0" dirty="0">
                          <a:ln>
                            <a:noFill/>
                          </a:ln>
                          <a:solidFill>
                            <a:srgbClr val="313131"/>
                          </a:solidFill>
                          <a:effectLst/>
                          <a:uLnTx/>
                          <a:uFillTx/>
                          <a:latin typeface="+mj-lt"/>
                        </a:rPr>
                        <a:t>HIGH-PRECISION ISLAND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Token refiner → TORCH_SDPA
VSA default → BF16</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Keeps the short, sensitive path outside approximate Sage math</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Same-seed BF16 quality comparison required</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568137814"/>
                  </a:ext>
                </a:extLst>
              </a:tr>
              <a:tr h="2447202">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u="none" strike="noStrike" kern="1200" cap="none" spc="0" normalizeH="0" baseline="0" noProof="0" dirty="0">
                          <a:ln>
                            <a:noFill/>
                          </a:ln>
                          <a:solidFill>
                            <a:srgbClr val="EF9100"/>
                          </a:solidFill>
                          <a:effectLst/>
                          <a:uLnTx/>
                          <a:uFillTx/>
                          <a:latin typeface="+mj-lt"/>
                        </a:rPr>
                        <a:t>INTER-GPU TRANSPORT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Q/K/V A2A before Sage
O A2A after Sage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Arithmetic changes locally; collective tensors remain BF16</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No payload-byte reduction from QAD or Sage alone</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a:t>Sources: FastH3 Omni NVFP4-QAD rev 0087718 · NVIDIA ModelOpt QAD · vLLM-Omni SM120 Sage-VSA @ 63487a7</a:t>
            </a:r>
            <a:endParaRPr lang="en-US" dirty="0"/>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Base50 · S = 34,432 · 2,500 blocks · BF16 · 8× RTX PRO 5000 · local NCCL · no RDMA · 5.167 s deadline</a:t>
            </a:r>
          </a:p>
        </p:txBody>
      </p:sp>
      <p:sp>
        <p:nvSpPr>
          <p:cNvPr id="3" name="Title 2"/>
          <p:cNvSpPr>
            <a:spLocks noGrp="1"/>
          </p:cNvSpPr>
          <p:nvPr>
            <p:ph type="title"/>
          </p:nvPr>
        </p:nvSpPr>
        <p:spPr/>
        <p:txBody>
          <a:bodyPr/>
          <a:lstStyle/>
          <a:p>
            <a:r>
              <a:t>USP8 Issues Four All-to-Alls per DiT Block</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10</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firstRow="1" bandRow="1">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r>
                        <a:rPr lang="en-US" sz="4400" b="0" kern="1200" dirty="0">
                          <a:solidFill>
                            <a:schemeClr val="accent1"/>
                          </a:solidFill>
                          <a:latin typeface="+mj-lt"/>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r>
                        <a:rPr lang="en-US" sz="4400" b="0" kern="1200" dirty="0">
                          <a:solidFill>
                            <a:schemeClr val="accent1"/>
                          </a:solidFill>
                          <a:latin typeface="+mj-lt"/>
                        </a:rPr>
                        <a:t>TENSOR / 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r>
                        <a:rPr lang="en-US" sz="4400" b="0" kern="1200" dirty="0">
                          <a:solidFill>
                            <a:schemeClr val="accent1"/>
                          </a:solidFill>
                          <a:latin typeface="+mj-lt"/>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r>
                        <a:rPr lang="en-US" sz="4400" b="0" kern="1200" dirty="0">
                          <a:solidFill>
                            <a:schemeClr val="accent1"/>
                          </a:solidFill>
                          <a:latin typeface="+mj-lt"/>
                        </a:rPr>
                        <a:t>MIN.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r>
                        <a:rPr lang="en-US" sz="4400" b="0" kern="1200" dirty="0">
                          <a:solidFill>
                            <a:schemeClr val="accent1"/>
                          </a:solidFill>
                          <a:latin typeface="+mj-lt"/>
                        </a:rPr>
                        <a:t>RATE @ 5.167 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4</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1.727660 GB</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61.702 MB/rank/A2A</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u="none" strike="noStrike" kern="1200" cap="none" spc="0" normalizeH="0" baseline="0" noProof="0" dirty="0">
                          <a:ln>
                            <a:noFill/>
                          </a:ln>
                          <a:solidFill>
                            <a:schemeClr val="accent6"/>
                          </a:solidFill>
                          <a:effectLst/>
                          <a:uLnTx/>
                          <a:uFillTx/>
                          <a:latin typeface="+mj-lt"/>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b="1">
                          <a:solidFill>
                            <a:schemeClr val="accent1"/>
                          </a:solidFill>
                          <a:latin typeface="+mn-lt"/>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b="1">
                          <a:solidFill>
                            <a:schemeClr val="accent1"/>
                          </a:solidFill>
                          <a:latin typeface="+mn-lt"/>
                        </a:rPr>
                        <a:t>10,000</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b="1">
                          <a:solidFill>
                            <a:schemeClr val="accent1"/>
                          </a:solidFill>
                          <a:latin typeface="+mn-lt"/>
                        </a:rPr>
                        <a:t>4.319150 TB</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b="1">
                          <a:solidFill>
                            <a:schemeClr val="accent1"/>
                          </a:solidFill>
                          <a:latin typeface="+mn-lt"/>
                        </a:rPr>
                        <a:t>835.96 GB/s</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1,600</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691.064 GB</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133.75 GB/s</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BOUNDARY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Current VSA / Sage keeps dense BF16 exchange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logical bytes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not achieved BW</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751747690"/>
                  </a:ext>
                </a:extLst>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76B900"/>
                </a:solidFill>
                <a:latin typeface="NVIDIA Sans Medium"/>
              </a:rPr>
              <a:t>Q / K FIRST</a:t>
            </a:r>
          </a:p>
          <a:p>
            <a:pPr lvl="1" algn="l"/>
            <a:r>
              <a:rPr b="0">
                <a:solidFill>
                  <a:srgbClr val="313131"/>
                </a:solidFill>
                <a:latin typeface="NVIDIA Sans"/>
              </a:rPr>
              <a:t>V waits on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stays exact after input mutation</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8-GPU ACCEPTANCE GATE</a:t>
            </a:r>
          </a:p>
          <a:p>
            <a:pPr lvl="1" algn="l"/>
            <a:r>
              <a:rPr b="0">
                <a:solidFill>
                  <a:srgbClr val="757575"/>
                </a:solidFill>
                <a:latin typeface="NVIDIA Sans"/>
              </a:rPr>
              <a:t>Full attention + W_O · E2E · memory · Nsight overlap</a:t>
            </a:r>
          </a:p>
        </p:txBody>
      </p:sp>
      <p:sp>
        <p:nvSpPr>
          <p:cNvPr id="3" name="Text Placeholder 2"/>
          <p:cNvSpPr>
            <a:spLocks noGrp="1"/>
          </p:cNvSpPr>
          <p:nvPr>
            <p:ph type="body" idx="14" sz="quarter"/>
          </p:nvPr>
        </p:nvSpPr>
        <p:spPr/>
        <p:txBody>
          <a:bodyPr/>
          <a:lstStyle/>
          <a:p>
            <a:r>
              <a:t>4-GPU real-RDMA · 96/96 rank-cases exact · 8-GPU H3 candidate pending</a:t>
            </a:r>
          </a:p>
        </p:txBody>
      </p:sp>
      <p:sp>
        <p:nvSpPr>
          <p:cNvPr id="4" name="Title 3"/>
          <p:cNvSpPr>
            <a:spLocks noGrp="1"/>
          </p:cNvSpPr>
          <p:nvPr>
            <p:ph type="title"/>
          </p:nvPr>
        </p:nvSpPr>
        <p:spPr/>
        <p:txBody>
          <a:bodyPr/>
          <a:lstStyle/>
          <a:p>
            <a:r>
              <a:t>RDMA Precheck for the A2A Critical Path</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4-GPU REAL-RDMA · 96 / 96 RANK-CASES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11</a:t>
            </a:fld>
            <a:endParaRPr lang="en-US"/>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is measured on the locked 960×544 / 124f request; optimized results retain their own workload contracts</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12</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4"/>
        </p:xfrm>
        <a:graphic>
          <a:graphicData uri="http://schemas.openxmlformats.org/drawingml/2006/table">
            <a:tbl>
              <a:tblPr firstRow="1" bandRow="1">
                <a:tableStyleId>{68D230F3-CF80-4859-8CE7-A43EE81993B5}</a:tableStyleId>
              </a:tblPr>
              <a:tblGrid>
                <a:gridCol w="3246120">
                  <a:extLst>
                    <a:ext uri="{9D8B030D-6E8A-4147-A177-3AD203B41FA5}">
                      <a16:colId xmlns:a16="http://schemas.microsoft.com/office/drawing/2014/main" val="1714626306"/>
                    </a:ext>
                  </a:extLst>
                </a:gridCol>
                <a:gridCol w="6126480">
                  <a:extLst>
                    <a:ext uri="{9D8B030D-6E8A-4147-A177-3AD203B41FA5}">
                      <a16:colId xmlns:a16="http://schemas.microsoft.com/office/drawing/2014/main" val="1697748500"/>
                    </a:ext>
                  </a:extLst>
                </a:gridCol>
                <a:gridCol w="6720840">
                  <a:extLst>
                    <a:ext uri="{9D8B030D-6E8A-4147-A177-3AD203B41FA5}">
                      <a16:colId xmlns:a16="http://schemas.microsoft.com/office/drawing/2014/main" val="3872581152"/>
                    </a:ext>
                  </a:extLst>
                </a:gridCol>
                <a:gridCol w="1645920">
                  <a:extLst>
                    <a:ext uri="{9D8B030D-6E8A-4147-A177-3AD203B41FA5}">
                      <a16:colId xmlns:a16="http://schemas.microsoft.com/office/drawing/2014/main" val="2543914041"/>
                    </a:ext>
                  </a:extLst>
                </a:gridCol>
                <a:gridCol w="5074920">
                  <a:extLst>
                    <a:ext uri="{9D8B030D-6E8A-4147-A177-3AD203B41FA5}">
                      <a16:colId xmlns:a16="http://schemas.microsoft.com/office/drawing/2014/main" val="2421839051"/>
                    </a:ext>
                  </a:extLst>
                </a:gridCol>
                <a:gridCol w="5456041">
                  <a:extLst>
                    <a:ext uri="{9D8B030D-6E8A-4147-A177-3AD203B41FA5}">
                      <a16:colId xmlns:a16="http://schemas.microsoft.com/office/drawing/2014/main" val="2805133130"/>
                    </a:ext>
                  </a:extLst>
                </a:gridCol>
              </a:tblGrid>
              <a:tr h="100584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spcBef>
                          <a:spcPts val="0"/>
                        </a:spcBef>
                        <a:spcAft>
                          <a:spcPts val="0"/>
                        </a:spcAft>
                      </a:pPr>
                      <a:r>
                        <a:rPr lang="en-US" sz="2000" b="0" kern="1200" dirty="0">
                          <a:solidFill>
                            <a:srgbClr val="76B900"/>
                          </a:solidFill>
                          <a:latin typeface="NVIDIA Sans"/>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spcBef>
                          <a:spcPts val="0"/>
                        </a:spcBef>
                        <a:spcAft>
                          <a:spcPts val="0"/>
                        </a:spcAft>
                      </a:pPr>
                      <a:r>
                        <a:rPr lang="en-US" sz="2000" b="0" kern="1200" dirty="0">
                          <a:solidFill>
                            <a:srgbClr val="76B900"/>
                          </a:solidFill>
                          <a:latin typeface="NVIDIA Sans"/>
                        </a:rPr>
                        <a:t>WORKLOAD CONTRACT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spcBef>
                          <a:spcPts val="0"/>
                        </a:spcBef>
                        <a:spcAft>
                          <a:spcPts val="0"/>
                        </a:spcAft>
                      </a:pPr>
                      <a:r>
                        <a:rPr lang="en-US" sz="2000" b="0" kern="1200" dirty="0">
                          <a:solidFill>
                            <a:srgbClr val="76B900"/>
                          </a:solidFill>
                          <a:latin typeface="NVIDIA Sans"/>
                        </a:rPr>
                        <a:t>WITHIN-STUDY SYSTEM / COMPARISON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spcBef>
                          <a:spcPts val="0"/>
                        </a:spcBef>
                        <a:spcAft>
                          <a:spcPts val="0"/>
                        </a:spcAft>
                      </a:pPr>
                      <a:r>
                        <a:rPr lang="en-US" sz="2000" b="0" kern="1200" dirty="0">
                          <a:solidFill>
                            <a:srgbClr val="76B900"/>
                          </a:solidFill>
                          <a:latin typeface="NVIDIA Sans"/>
                        </a:rPr>
                        <a:t>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spcBef>
                          <a:spcPts val="0"/>
                        </a:spcBef>
                        <a:spcAft>
                          <a:spcPts val="0"/>
                        </a:spcAft>
                      </a:pPr>
                      <a:r>
                        <a:rPr lang="en-US" sz="2000" b="0" kern="1200" dirty="0">
                          <a:solidFill>
                            <a:srgbClr val="76B900"/>
                          </a:solidFill>
                          <a:latin typeface="NVIDIA Sans"/>
                        </a:rPr>
                        <a:t>E2E · RTF</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spcBef>
                          <a:spcPts val="0"/>
                        </a:spcBef>
                        <a:spcAft>
                          <a:spcPts val="0"/>
                        </a:spcAft>
                      </a:pPr>
                      <a:r>
                        <a:rPr lang="en-US" sz="2000" b="0" kern="1200" dirty="0">
                          <a:solidFill>
                            <a:srgbClr val="76B900"/>
                          </a:solidFill>
                          <a:latin typeface="NVIDIA Sans"/>
                        </a:rPr>
                        <a:t>EVIDENCE BOUNDARY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extLst>
                  <a:ext uri="{0D108BD9-81ED-4DB2-BD59-A6C34878D82A}">
                    <a16:rowId xmlns:a16="http://schemas.microsoft.com/office/drawing/2014/main" val="958895191"/>
                  </a:ext>
                </a:extLst>
              </a:tr>
              <a:tr h="196596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76B900"/>
                          </a:solidFill>
                          <a:effectLst/>
                          <a:uLnTx/>
                          <a:uFillTx/>
                          <a:latin typeface="NVIDIA Sans Medium"/>
                        </a:rPr>
                        <a:t>MEASURED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76B900"/>
                          </a:solidFill>
                          <a:effectLst/>
                          <a:uLnTx/>
                          <a:uFillTx/>
                          <a:latin typeface="NVIDIA Sans Medium"/>
                        </a:rPr>
                        <a:t>MATCHED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960×544 · 124f @ 24</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5.167 s · Miles image + voice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seed 43 · independent request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Base50 · 50-step BF16 dense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USP8 · local NCCL · no RDMA</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spcBef>
                          <a:spcPts val="0"/>
                        </a:spcBef>
                        <a:spcAft>
                          <a:spcPts val="0"/>
                        </a:spcAft>
                      </a:pPr>
                      <a:r>
                        <a:rPr lang="en-US" sz="2000" dirty="0" b="0">
                          <a:solidFill>
                            <a:srgbClr val="313131"/>
                          </a:solidFill>
                          <a:latin typeface="NVIDIA Sans"/>
                        </a:rPr>
                        <a:t>3</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000" dirty="0" b="1">
                          <a:solidFill>
                            <a:srgbClr val="76B900"/>
                          </a:solidFill>
                          <a:latin typeface="NVIDIA Sans Medium"/>
                        </a:rPr>
                        <a:t>247.956 s median</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1">
                          <a:solidFill>
                            <a:srgbClr val="76B900"/>
                          </a:solidFill>
                          <a:latin typeface="NVIDIA Sans Medium"/>
                        </a:rPr>
                        <a:t>RTF 47.992</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757575"/>
                          </a:solidFill>
                          <a:latin typeface="NVIDIA Sans"/>
                        </a:rPr>
                        <a:t>Locked baseline only</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same MP4 hash across 3 formal runs</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70.84 GiB max sampled device memory*</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120594288"/>
                  </a:ext>
                </a:extLst>
              </a:tr>
              <a:tr h="196596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QUALIFIED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SEPARATE · 15 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960×544 · 362f @ 24</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15.083 s · Zhiwei image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no voice reference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8-step NVFP4-QAD + VSA</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NCCL control → RDMA / overlap / output pipeline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spcBef>
                          <a:spcPts val="0"/>
                        </a:spcBef>
                        <a:spcAft>
                          <a:spcPts val="0"/>
                        </a:spcAft>
                      </a:pPr>
                      <a:r>
                        <a:rPr lang="en-US" sz="2000" dirty="0" b="0">
                          <a:solidFill>
                            <a:srgbClr val="313131"/>
                          </a:solidFill>
                          <a:latin typeface="NVIDIA Sans"/>
                        </a:rPr>
                        <a:t>3 / arm</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000" dirty="0" b="0">
                          <a:solidFill>
                            <a:srgbClr val="313131"/>
                          </a:solidFill>
                          <a:latin typeface="NVIDIA Sans"/>
                        </a:rPr>
                        <a:t>17.681 → 14.974 s mean</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1">
                          <a:solidFill>
                            <a:srgbClr val="0074DF"/>
                          </a:solidFill>
                          <a:latin typeface="NVIDIA Sans Medium"/>
                        </a:rPr>
                        <a:t>RTF 1.172 → 0.993</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757575"/>
                          </a:solidFill>
                          <a:latin typeface="NVIDIA Sans"/>
                        </a:rPr>
                        <a:t>3 / 3 final requests met the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15.083 s media budget</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not Base50 / 124f</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863754937"/>
                  </a:ext>
                </a:extLst>
              </a:tr>
              <a:tr h="196596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QUALIFIED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SEPARATE · 10 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960×544 · 243f @ 24</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10.125 s · same input / seed</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within this study</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Base50 BF16 TP8 → 4-step Turbo</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MXFP8 + dense Sage + RDMA stack</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spcBef>
                          <a:spcPts val="0"/>
                        </a:spcBef>
                        <a:spcAft>
                          <a:spcPts val="0"/>
                        </a:spcAft>
                      </a:pPr>
                      <a:r>
                        <a:rPr lang="en-US" sz="2000" dirty="0" b="0">
                          <a:solidFill>
                            <a:srgbClr val="313131"/>
                          </a:solidFill>
                          <a:latin typeface="NVIDIA Sans"/>
                        </a:rPr>
                        <a:t>1 / arm</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000" dirty="0" b="0">
                          <a:solidFill>
                            <a:srgbClr val="313131"/>
                          </a:solidFill>
                          <a:latin typeface="NVIDIA Sans"/>
                        </a:rPr>
                        <a:t>263.847 → 6.958 s</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1">
                          <a:solidFill>
                            <a:srgbClr val="0074DF"/>
                          </a:solidFill>
                          <a:latin typeface="NVIDIA Sans Medium"/>
                        </a:rPr>
                        <a:t>RTF 26.059 → 0.687</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757575"/>
                          </a:solidFill>
                          <a:latin typeface="NVIDIA Sans"/>
                        </a:rPr>
                        <a:t>Paired endpoint proof</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many axes changed together;</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no stage attribution</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568137814"/>
                  </a:ext>
                </a:extLst>
              </a:tr>
              <a:tr h="196596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QUALIFIED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SEPARATE · PORTRAIT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576×1024 · 124f window</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119 new frames / 4.958 s</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Miles portrait + voice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4-step MXFP8</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BF16 Sage first-attn · NVFP4 VAE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USP8 · RDMA · rolling continuation</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spcBef>
                          <a:spcPts val="0"/>
                        </a:spcBef>
                        <a:spcAft>
                          <a:spcPts val="0"/>
                        </a:spcAft>
                      </a:pPr>
                      <a:r>
                        <a:rPr lang="en-US" sz="2000" dirty="0" b="0">
                          <a:solidFill>
                            <a:srgbClr val="313131"/>
                          </a:solidFill>
                          <a:latin typeface="NVIDIA Sans"/>
                        </a:rPr>
                        <a:t>1 + 5</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000" dirty="0" b="0">
                          <a:solidFill>
                            <a:srgbClr val="313131"/>
                          </a:solidFill>
                          <a:latin typeface="NVIDIA Sans"/>
                        </a:rPr>
                        <a:t>4.644 s initial</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0">
                          <a:solidFill>
                            <a:srgbClr val="313131"/>
                          </a:solidFill>
                          <a:latin typeface="NVIDIA Sans"/>
                        </a:rPr>
                        <a:t>4.459 s continuation median</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1">
                          <a:solidFill>
                            <a:srgbClr val="0074DF"/>
                          </a:solidFill>
                          <a:latin typeface="NVIDIA Sans Medium"/>
                        </a:rPr>
                        <a:t>RTF 0.899</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757575"/>
                          </a:solidFill>
                          <a:latin typeface="NVIDIA Sans"/>
                        </a:rPr>
                        <a:t>Portrait live feasibility</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no long-run P95 or matched</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Base50 arm</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751747690"/>
                  </a:ext>
                </a:extLst>
              </a:tr>
              <a:tr h="192499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EF9100"/>
                          </a:solidFill>
                          <a:effectLst/>
                          <a:uLnTx/>
                          <a:uFillTx/>
                          <a:latin typeface="NVIDIA Sans Medium"/>
                        </a:rPr>
                        <a:t>PENDING</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EF9100"/>
                          </a:solidFill>
                          <a:effectLst/>
                          <a:uLnTx/>
                          <a:uFillTx/>
                          <a:latin typeface="NVIDIA Sans Medium"/>
                        </a:rPr>
                        <a:t>MATCHED GATE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Hold row-1 image · audio · prompt</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seed · shape · request mode fixed</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PDD8 → VSA → QAD / Sage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 RDMA + overlap</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spcBef>
                          <a:spcPts val="0"/>
                        </a:spcBef>
                        <a:spcAft>
                          <a:spcPts val="0"/>
                        </a:spcAft>
                      </a:pPr>
                      <a:r>
                        <a:rPr lang="en-US" sz="2000" dirty="0" b="0">
                          <a:solidFill>
                            <a:srgbClr val="313131"/>
                          </a:solidFill>
                          <a:latin typeface="NVIDIA Sans"/>
                        </a:rPr>
                        <a:t>≥3 / stage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000" dirty="0" b="0">
                          <a:solidFill>
                            <a:srgbClr val="313131"/>
                          </a:solidFill>
                          <a:latin typeface="NVIDIA Sans"/>
                        </a:rPr>
                        <a:t>E2E · RTF · peak GPU memory</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0">
                          <a:solidFill>
                            <a:srgbClr val="313131"/>
                          </a:solidFill>
                          <a:latin typeface="NVIDIA Sans"/>
                        </a:rPr>
                        <a:t>quality · Nsight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1">
                          <a:solidFill>
                            <a:srgbClr val="EF9100"/>
                          </a:solidFill>
                          <a:latin typeface="NVIDIA Sans Medium"/>
                        </a:rPr>
                        <a:t>Publish a cumulative ladder only</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1">
                          <a:solidFill>
                            <a:srgbClr val="313131"/>
                          </a:solidFill>
                          <a:latin typeface="NVIDIA Sans Medium"/>
                        </a:rPr>
                        <a:t>after every stage shares the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1">
                          <a:solidFill>
                            <a:srgbClr val="313131"/>
                          </a:solidFill>
                          <a:latin typeface="NVIDIA Sans Medium"/>
                        </a:rPr>
                        <a:t>same measurement contract</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vLLM-Omni
ComfyUI Apps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character replacement, continuation-aware references, and chainable LoRA controls</a:t>
            </a:r>
          </a:p>
        </p:txBody>
      </p:sp>
      <p:sp>
        <p:nvSpPr>
          <p:cNvPr id="3" name="Title 2"/>
          <p:cNvSpPr>
            <a:spLocks noGrp="1"/>
          </p:cNvSpPr>
          <p:nvPr>
            <p:ph type="title"/>
          </p:nvPr>
        </p:nvSpPr>
        <p:spPr/>
        <p:txBody>
          <a:bodyPr/>
          <a:lstStyle/>
          <a:p>
            <a:r>
              <a:t>vLLM-Omni Connects ComfyUI to Multi-GPU H3 Serving</a:t>
            </a:r>
          </a:p>
        </p:txBody>
      </p:sp>
      <p:sp>
        <p:nvSpPr>
          <p:cNvPr id="4" name="Text Placeholder 3"/>
          <p:cNvSpPr>
            <a:spLocks noGrp="1"/>
          </p:cNvSpPr>
          <p:nvPr>
            <p:ph type="body" idx="52" sz="quarter"/>
          </p:nvPr>
        </p:nvSpPr>
        <p:spPr/>
        <p:txBody>
          <a:bodyPr/>
          <a:lstStyle/>
          <a:p>
            <a:r>
              <a:t>ComfyUI remains the visual frontend; vLLM-Omni owns model execution, scheduling,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p:pic>
      <p:sp>
        <p:nvSpPr>
          <p:cNvPr id="7" name="Text Placeholder 6"/>
          <p:cNvSpPr>
            <a:spLocks noGrp="1"/>
          </p:cNvSpPr>
          <p:nvPr>
            <p:ph type="body" idx="54" sz="quarter"/>
          </p:nvPr>
        </p:nvSpPr>
        <p:spPr/>
        <p:txBody>
          <a:bodyPr/>
          <a:lstStyle/>
          <a:p>
            <a:r>
              <a:t>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14</a:t>
            </a:fld>
            <a:endParaRPr lang="en-US"/>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