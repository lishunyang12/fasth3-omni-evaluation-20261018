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 id="355" r:id="rId97"/>
    <p:sldId id="356" r:id="rId98"/>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 Id="rId96" Type="http://schemas.openxmlformats.org/officeDocument/2006/relationships/slide" Target="slides/slide73.xml"/><Relationship Id="rId97" Type="http://schemas.openxmlformats.org/officeDocument/2006/relationships/slide" Target="slides/slide74.xml"/><Relationship Id="rId98" Type="http://schemas.openxmlformats.org/officeDocument/2006/relationships/slide" Target="slides/slide75.xml"/><Relationship Id="rId99" Type="http://schemas.openxmlformats.org/officeDocument/2006/relationships/slide" Target="slides/slide76.xml"/><Relationship Id="rId100" Type="http://schemas.openxmlformats.org/officeDocument/2006/relationships/slide" Target="slides/slide77.xml"/><Relationship Id="rId101" Type="http://schemas.openxmlformats.org/officeDocument/2006/relationships/slide" Target="slides/slide78.xml"/><Relationship Id="rId102" Type="http://schemas.openxmlformats.org/officeDocument/2006/relationships/slide" Target="slides/slide79.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selects 32 KV cubes for each query cube.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VSA routing and gate weights are learned, so switching a dense checkpoint to a sparse kernel is not equivalent to a quality-qualified VSA model.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PTQ and QAD deploy the same NVFP4 format. PTQ calibrates activation scales and rounds a model after training; the weights never learn the resulting four-bit error. QAD instead runs the deployed quantized student forward during training and compares it with a frozen BF16 teacher. Gradients update only the student, and the teacher disappears at inference. In the publisher-reported FastH3 V2 study over 30 held-out prompts, per-step video-plus-audio relative L2 error against BF16 falls from 0.431 for PTQ to 0.351 for QAD, a 19 percent reduction; final-video error after eight steps falls from 0.817 to 0.713, a 13 percent reduction. Memory and file layout remain unchanged. This supports 'closer to BF16,' not bit-identical or globally equal quality. The two frames on this slide are a separate, strictly matched Ref2VA qualitative check: 1344 by 768, 124 frames, 24 FPS, eight steps, seed 1234, identical prompt and references, original video VAE and BF16 attention. Left is the BF16 checkpoint; right is the NVFP4 QAD checkpoint. Public metric: https://haoailab.com/blogs/fasth3-v21/ . Matched sample page: https://lishunyang12.github.io/fasth3-omni-evaluation-20261018/pro5000-4gpu/</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vLLM already centralizes CUDA Graph dispatch, capture, replay, caching and eager fallback through its graph manager, CudagraphDispatcher, CUDAGraphWrapper and FULL, PIECEWISE or NONE runtime modes. The production H3 path should reuse that lifecycle instead of retaining the benchmark prototype's private graph manager. H3 adds a thin profile adapter, stable registered I/O buffers and one graph-safe callable. The profile key must cover S bucket, Kmax, reference layout, head-band geometry and any backend choice that changes topology.</a:t>
            </a:r>
          </a:p>
          <a:p/>
          <a:p>
            <a:r>
              <a:t>The H3 callable captures only unpack QKV, VSA attention and O-bundle packing. QKV packing and input RDMA, readiness events, reverse RDMA and gather, local gate assembly, complete NVFP4 W_O and dynamic scheduling remain outside the Graph. In vLLM terms this is a PIECEWISE boundary: the framework owns dispatch and replay; H3 owns the communication boundary and persistent registered buffers. CUDA Graph reduces launch gaps but does not fuse kernels or increase link bandwidth.</a:t>
            </a:r>
          </a:p>
          <a:p/>
          <a:p>
            <a:r>
              <a:t>A saved real layer-0 input was tested on one GPU with 12 counterbalanced rounds and 20 repeats per arm; all outputs were bit-exact. The all-head compute island changed from 11.703171 to 11.658073 ms, a 0.3853 percent reduction. Four fixed head bands changed from 12.323460 to 12.040123 ms, a 2.2992 percent reduction. This component test contains no collective, RDMA or overlap. Banding is still 2.879 percent slower than all-head eager in compute-only time; its intended gain comes from communication-compute overlap. Graph keeps the smaller per-band kernels from becoming launch-bound but does not create the overlap by itself.</a:t>
            </a:r>
          </a:p>
          <a:p/>
          <a:p>
            <a:r>
              <a:t>In the qualified fixed 8-GPU profile, the head pipeline changed from 13.249868 seconds to 11.993609 seconds with compute CUDA Graph, a 9.481 percent reduction. The profile is 960 by 544, 362 frames, one reference and PDD8. This is a fixed-profile pipeline result from the private benchmark module. Moving its lifecycle into vLLM is the proposed production integration and is not part of the measured 9.481 percent result.</a:t>
            </a:r>
          </a:p>
          <a:p/>
          <a:p>
            <a:r>
              <a:t>Official references: https://docs.vllm.ai/en/latest/design/cuda_graphs/ ; https://github.com/vllm-project/vllm/blob/main/vllm/compilation/cuda_graph.py ; https://docs.nvidia.com/cuda/cuda-programming-guide/04-special-topics/cuda-graphs.html</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qualified profile is 960 by 544, 362 frames, one reference and PDD8. Its resolution, frame count, reference layout, valid and padded sequence lengths, Kmax, band plan, tensor geometry, implementation path and registered buffer addresses remain fixed. One GraphExec per fixed band/profile can replay across 50 blocks and eight denoising steps, or 400 calls per band/profile. Base50 would imply 2,500 calls, but that count is arithmetic only and has not been qualified. The (1, 2, 3, 1) plan uses four GraphExecs.</a:t>
            </a:r>
          </a:p>
          <a:p/>
          <a:p>
            <a:r>
              <a:t>Tensor values may change between replays. VSA can select different token indices and Q/K/V can contain new values as long as S, Kmax, tensor shapes, strides and stable virtual addresses still match the profile. A new resolution, frame count, reference layout, band plan, route metadata or buffer address can force another capture. cudaGraphExecUpdate supports some parameter changes when topology remains compatible; it does not make arbitrary topology or kernel-path changes reusable.</a:t>
            </a:r>
          </a:p>
          <a:p/>
          <a:p>
            <a:r>
              <a:t>The measured prototype captures synchronously on a miss, keeps tensors and geometry in a private pool, limits the cache to 32 entries and raises if the cache is full. The production path should move dispatch, capture, cache, graph-pool ownership and NONE-mode eager fallback to vLLM's existing graph framework. H3 supplies a profile descriptor and replay-buffer adapter. vLLM's EncoderCudaGraphManager provides a useful public pattern for token budgets, persistent buffers, smallest-fit replay and overflow fallback, but it is an encoder-specific class; this slide borrows its policy and does not claim that H3 DiT directly uses that manager.</a:t>
            </a:r>
          </a:p>
          <a:p/>
          <a:p>
            <a:r>
              <a:t>Because H3 sequence lengths can span roughly 60K to 1M, mechanically doubling buckets can waste too much attention compute. Start with curated exact profiles for common products, keep unknown profiles eager, and capture only after qualification. Report Graph hit rate, padding overhead, cold capture cost, graph-pool memory and eager fallback share.</a:t>
            </a:r>
          </a:p>
          <a:p/>
          <a:p>
            <a:r>
              <a:t>Official references: https://docs.vllm.ai/en/latest/design/cuda_graphs/ ; https://docs.vllm.ai/en/latest/design/cuda_graphs_multimodal/ ; https://docs.pytorch.org/docs/stable/notes/cuda.html</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page explains the Ulysses tensor transform; this page shows the physical roads underneath it. The five Q, K, V, gate and output slots cross the topology in each measured VSA-enabled DiT block. The retained host has two NUMA sockets and four two-GPU PCIe islands. P0 contains GPUs 0 and 1, P1 contains GPUs 2 and 3, P2 contains GPUs 4 and 5, and P3 contains GPUs 6 and 7. From any GPU, one remote peer shares its PCIe subtree and is classified PXB, two peers sit behind the other subtree on the same NUMA socket and are classified NODE, and four peers sit across the CPU-to-CPU path and are classified SYS. Ulysses uses equal peer chunks, so the logical off-rank split is 1/7 PXB, 2/7 NODE and 4/7 SYS. Therefore 57.1 percent of minimum one-way off-rank logical payload is cross-socket. This is a topology and logical-payload statement; it is not a captured split of NCCL wire bytes, route residency, or elapsed time. The nearest-NIC mapping is GPU0 to mlx5_2, GPU1 to mlx5_3, GPU2 to mlx5_0, GPU3 to mlx5_1, GPU4 to mlx5_6, GPU5 to mlx5_7, GPU6 to mlx5_4 and GPU7 to mlx5_5. Each retained ConnectX-8 port was active at 400 Gb/s. The editable diagram shows hardware containment and path classes; it does not assert that the local NCCL control transported every byte over a single physical route family. Code anchors: pipeline_minimax_h3.py lines 648 and 886-887; pipeline_minimax_h3.py line 3539; denoise_loop.py lines 3-7 and the single model call beginning at line 404.</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exact-shape benchmark isolates the five Ulysses Q, K, V, gate and output slots for the current MiniMax H3 Ref2VA avatar profile: 960 by 544, 362 frames at 24 FPS, BF16, DP1, TP1, USP8, Ring1, global aligned sequence 56,960, local sequence 7,120, 56 heads and head dimension 128. It is one request on one eight-GPU replica, not DP8. Each route moves 446,566,400 off-rank logical bytes per rank and DiT block. Across all eight ranks and 400 PDD8 block calls, the minimum one-way off-rank logical volume is 1,429,012,480,000 bytes, or 1.42901248 decimal terabytes. Five warmups preceded eight paired trials with four block calls per trial. Each trial records the slowest rank; the slide reports the mean of those rank maxima. NCCL local measured 24.874763 milliseconds per block and 17.952589 decimal gigabytes per second of effective off-rank send bandwidth per rank. Nearest-NIC GPUDirect RDMA measured 10.855998 milliseconds and 41.135455 gigabytes per second. Multiplying the unrounded block means by 400 gives 9.949905 and 4.342399 seconds of serialized PDD8 communication plus path-required layout, a 5.607506-second reduction. The RDMA path is 2.291338 times faster and uses 56.3574 percent less measured communication-plus-layout time. Outputs match an independent all_gather reference exactly. This test contains no attention, GEMM or communication-compute overlap. Its serialized values are not end-to-end request predictions. The NCCL and RDMA adapters also use different path-required layout operations, so the delta is a measured deployment-path result rather than isolated wire time. Raw source: /tmp/h3-qad-realtime-20261023/ulysses-362f-paths-20261025.json.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5.png"/><Relationship Id="rId4" Type="http://schemas.openxmlformats.org/officeDocument/2006/relationships/image" Target="../media/image2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50 → 8 DiT calls; 2,500 → 400 repeated block passes (−84%)</a:t>
            </a:r>
          </a:p>
        </p:txBody>
      </p:sp>
      <p:sp>
        <p:nvSpPr>
          <p:cNvPr id="3" name="Text Placeholder 2"/>
          <p:cNvSpPr>
            <a:spLocks noGrp="1"/>
          </p:cNvSpPr>
          <p:nvPr>
            <p:ph type="body" idx="14" sz="quarter"/>
          </p:nvPr>
        </p:nvSpPr>
        <p:spPr>
          <a:xfrm>
            <a:off x="1828800" y="5806440"/>
            <a:ext cx="13716000" cy="1417320"/>
          </a:xfrm>
        </p:spPr>
        <p:txBody>
          <a:bodyPr/>
          <a:lstStyle/>
          <a:p>
            <a:r>
              <a:t>PDD predicts four denoising intervals per DiT call: 50 calls → 8</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Why dense attention hurts</a:t>
            </a:r>
          </a:p>
          <a:p>
            <a:pPr lvl="1" algn="l"/>
            <a:r>
              <a:rPr b="0">
                <a:solidFill>
                  <a:srgbClr val="313131"/>
                </a:solidFill>
                <a:latin typeface="NVIDIA Sans"/>
              </a:rPr>
              <a:t>34,373 tokens create 1.181B candidate pairs per head and block</a:t>
            </a:r>
          </a:p>
          <a:p>
            <a:pPr algn="l"/>
            <a:r>
              <a:rPr b="1">
                <a:solidFill>
                  <a:srgbClr val="76B900"/>
                </a:solidFill>
                <a:latin typeface="NVIDIA Sans Medium"/>
              </a:rPr>
              <a:t>Look broadly, then zoom in</a:t>
            </a:r>
          </a:p>
          <a:p>
            <a:pPr lvl="1" algn="l"/>
            <a:r>
              <a:rPr b="0">
                <a:solidFill>
                  <a:srgbClr val="313131"/>
                </a:solidFill>
                <a:latin typeface="NVIDIA Sans"/>
              </a:rPr>
              <a:t>Coarse attention scans all cubes; Top-K picks where fine attention should work</a:t>
            </a:r>
          </a:p>
          <a:p>
            <a:pPr algn="l"/>
            <a:r>
              <a:rPr b="1">
                <a:solidFill>
                  <a:srgbClr val="76B900"/>
                </a:solidFill>
                <a:latin typeface="NVIDIA Sans Medium"/>
              </a:rPr>
              <a:t>Bring both views together</a:t>
            </a:r>
          </a:p>
          <a:p>
            <a:pPr lvl="1" algn="l"/>
            <a:r>
              <a:rPr b="0">
                <a:solidFill>
                  <a:srgbClr val="313131"/>
                </a:solidFill>
                <a:latin typeface="NVIDIA Sans"/>
              </a:rPr>
              <a:t>A learned gate mixes global context with selected fine detail</a:t>
            </a:r>
          </a:p>
          <a:p>
            <a:pPr algn="l"/>
            <a:r>
              <a:rPr b="1">
                <a:solidFill>
                  <a:srgbClr val="313131"/>
                </a:solidFill>
                <a:latin typeface="NVIDIA Sans Medium"/>
              </a:rPr>
              <a:t>What stays dense</a:t>
            </a:r>
          </a:p>
          <a:p>
            <a:pPr lvl="1" algn="l"/>
            <a:r>
              <a:rPr b="0">
                <a:solidFill>
                  <a:srgbClr val="313131"/>
                </a:solidFill>
                <a:latin typeface="NVIDIA Sans"/>
              </a:rPr>
              <a:t>USP8 still exchanges full-length Q/K/V/O between GPUs</a:t>
            </a:r>
          </a:p>
        </p:txBody>
      </p:sp>
      <p:sp>
        <p:nvSpPr>
          <p:cNvPr id="3" name="Text Placeholder 2"/>
          <p:cNvSpPr>
            <a:spLocks noGrp="1"/>
          </p:cNvSpPr>
          <p:nvPr>
            <p:ph type="body" idx="14" sz="quarter"/>
          </p:nvPr>
        </p:nvSpPr>
        <p:spPr>
          <a:xfrm>
            <a:off x="1828800" y="5806440"/>
            <a:ext cx="13716000" cy="1417320"/>
          </a:xfrm>
        </p:spPr>
        <p:txBody>
          <a:bodyPr/>
          <a:lstStyle/>
          <a:p>
            <a:r>
              <a:t>VSA scans globally, then spends fine attention only where it matters</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QAD keeps the NVFP4 student close to its BF16 target; versus PTQ, error falls at the same 4-bit deployment</a:t>
            </a:r>
          </a:p>
        </p:txBody>
      </p:sp>
      <p:sp>
        <p:nvSpPr>
          <p:cNvPr id="3" name="Title 2"/>
          <p:cNvSpPr>
            <a:spLocks noGrp="1"/>
          </p:cNvSpPr>
          <p:nvPr>
            <p:ph type="title"/>
          </p:nvPr>
        </p:nvSpPr>
        <p:spPr/>
        <p:txBody>
          <a:bodyPr/>
          <a:lstStyle/>
          <a:p>
            <a:r>
              <a:t>Quantization</a:t>
            </a:r>
          </a:p>
        </p:txBody>
      </p:sp>
      <p:sp>
        <p:nvSpPr>
          <p:cNvPr id="4" name="Text Placeholder 3"/>
          <p:cNvSpPr>
            <a:spLocks noGrp="1"/>
          </p:cNvSpPr>
          <p:nvPr>
            <p:ph type="body" idx="52" sz="quarter"/>
          </p:nvPr>
        </p:nvSpPr>
        <p:spPr/>
        <p:txBody>
          <a:bodyPr/>
          <a:lstStyle/>
          <a:p>
            <a:r>
              <a:t>Matched Ref2VA frame · same prompt, references, seed, and 8-step schedule</a:t>
            </a:r>
          </a:p>
        </p:txBody>
      </p:sp>
      <p:sp>
        <p:nvSpPr>
          <p:cNvPr id="5" name="Text Placeholder 4"/>
          <p:cNvSpPr>
            <a:spLocks noGrp="1"/>
          </p:cNvSpPr>
          <p:nvPr>
            <p:ph type="body" idx="51" sz="quarter"/>
          </p:nvPr>
        </p:nvSpPr>
        <p:spPr/>
        <p:txBody>
          <a:bodyPr/>
          <a:lstStyle/>
          <a:p>
            <a:r>
              <a:t>BF16 Reference</a:t>
            </a:r>
          </a:p>
        </p:txBody>
      </p:sp>
      <p:pic>
        <p:nvPicPr>
          <p:cNvPr id="6" name="Picture Placeholder 5" descr="qad-matched-bf16-reference-family-f024.png"/>
          <p:cNvPicPr>
            <a:picLocks noGrp="1" noChangeAspect="1"/>
          </p:cNvPicPr>
          <p:nvPr>
            <p:ph type="pic" idx="53" sz="quarter"/>
          </p:nvPr>
        </p:nvPicPr>
        <p:blipFill>
          <a:blip r:embed="rId3"/>
          <a:srcRect t="761" b="761"/>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Published V2: PTQ 0.431 → QAD 0.351 relative L2 error vs BF16 (−19%)</a:t>
            </a:r>
          </a:p>
        </p:txBody>
      </p:sp>
      <p:sp>
        <p:nvSpPr>
          <p:cNvPr id="8" name="Text Placeholder 7"/>
          <p:cNvSpPr>
            <a:spLocks noGrp="1"/>
          </p:cNvSpPr>
          <p:nvPr>
            <p:ph type="body" idx="55" sz="quarter"/>
          </p:nvPr>
        </p:nvSpPr>
        <p:spPr/>
        <p:txBody>
          <a:bodyPr/>
          <a:lstStyle/>
          <a:p>
            <a:r>
              <a:rPr>
                <a:solidFill>
                  <a:srgbClr val="76B900"/>
                </a:solidFill>
              </a:rPr>
              <a:t>NVFP4 + QAD</a:t>
            </a:r>
          </a:p>
        </p:txBody>
      </p:sp>
      <p:pic>
        <p:nvPicPr>
          <p:cNvPr id="9" name="Picture Placeholder 8" descr="qad-matched-nvfp4-qad-family-f024.png"/>
          <p:cNvPicPr>
            <a:picLocks noGrp="1" noChangeAspect="1"/>
          </p:cNvPicPr>
          <p:nvPr>
            <p:ph type="pic" idx="56" sz="quarter"/>
          </p:nvPr>
        </p:nvPicPr>
        <p:blipFill>
          <a:blip r:embed="rId4"/>
          <a:srcRect t="761" b="761"/>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Hao AI Lab, FastH3-QAD-v2 (30 held-out prompts) · matched Ref2VA checkpoint study; qualitative frame only</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10</a:t>
            </a:fld>
            <a:endParaRPr lang="en-US"/>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USP8 turns every attention block into four synchronized all-to-all exchanges</a:t>
            </a:r>
          </a:p>
        </p:txBody>
      </p:sp>
      <p:sp>
        <p:nvSpPr>
          <p:cNvPr id="3" name="Title 2"/>
          <p:cNvSpPr>
            <a:spLocks noGrp="1"/>
          </p:cNvSpPr>
          <p:nvPr>
            <p:ph type="title"/>
          </p:nvPr>
        </p:nvSpPr>
        <p:spPr/>
        <p:txBody>
          <a:bodyPr/>
          <a:lstStyle/>
          <a:p>
            <a:r>
              <a:t>Communication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11</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Tensor / 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Rate at 5.167 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61.7 MB/rank/A2A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Boundary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Current VSA / Sage keeps dense BF16 exchange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Logical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Not achieved bandwidth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Reuse vLLM’s lifecycle</a:t>
            </a:r>
          </a:p>
          <a:p>
            <a:pPr lvl="1" algn="l"/>
            <a:r>
              <a:rPr b="0">
                <a:solidFill>
                  <a:srgbClr val="313131"/>
                </a:solidFill>
                <a:latin typeface="NVIDIA Sans"/>
              </a:rPr>
              <a:t>Dispatch, capture, cache, replay, and eager fallback stay in the existing framework</a:t>
            </a:r>
          </a:p>
          <a:p>
            <a:pPr algn="l"/>
            <a:r>
              <a:rPr b="1">
                <a:solidFill>
                  <a:srgbClr val="76B900"/>
                </a:solidFill>
                <a:latin typeface="NVIDIA Sans Medium"/>
              </a:rPr>
              <a:t>Capture only stable H3 work</a:t>
            </a:r>
          </a:p>
          <a:p>
            <a:pPr lvl="1" algn="l"/>
            <a:r>
              <a:rPr b="0">
                <a:solidFill>
                  <a:srgbClr val="313131"/>
                </a:solidFill>
                <a:latin typeface="NVIDIA Sans"/>
              </a:rPr>
              <a:t>Fixed buffers replay unpack QKV → VSA → pack O</a:t>
            </a:r>
          </a:p>
          <a:p>
            <a:pPr algn="l"/>
            <a:r>
              <a:rPr b="1">
                <a:solidFill>
                  <a:srgbClr val="313131"/>
                </a:solidFill>
                <a:latin typeface="NVIDIA Sans Medium"/>
              </a:rPr>
              <a:t>Leave communication at the boundary</a:t>
            </a:r>
          </a:p>
          <a:p>
            <a:pPr lvl="1" algn="l"/>
            <a:r>
              <a:rPr b="0">
                <a:solidFill>
                  <a:srgbClr val="313131"/>
                </a:solidFill>
                <a:latin typeface="NVIDIA Sans"/>
              </a:rPr>
              <a:t>RDMA, readiness events, reverse gather, and dynamic scheduling remain eager</a:t>
            </a:r>
          </a:p>
          <a:p>
            <a:pPr algn="l"/>
            <a:r>
              <a:rPr b="1">
                <a:solidFill>
                  <a:srgbClr val="76B900"/>
                </a:solidFill>
                <a:latin typeface="NVIDIA Sans Medium"/>
              </a:rPr>
              <a:t>Measured on one fixed profile</a:t>
            </a:r>
          </a:p>
          <a:p>
            <a:pPr lvl="1" algn="l"/>
            <a:r>
              <a:rPr b="0">
                <a:solidFill>
                  <a:srgbClr val="313131"/>
                </a:solidFill>
                <a:latin typeface="NVIDIA Sans"/>
              </a:rPr>
              <a:t>8-GPU head pipeline: 13.250 s → 11.994 s (−9.48%)</a:t>
            </a:r>
          </a:p>
        </p:txBody>
      </p:sp>
      <p:sp>
        <p:nvSpPr>
          <p:cNvPr id="3" name="Text Placeholder 2"/>
          <p:cNvSpPr>
            <a:spLocks noGrp="1"/>
          </p:cNvSpPr>
          <p:nvPr>
            <p:ph type="body" idx="14" sz="quarter"/>
          </p:nvPr>
        </p:nvSpPr>
        <p:spPr>
          <a:xfrm>
            <a:off x="1828800" y="5806440"/>
            <a:ext cx="13716000" cy="1417320"/>
          </a:xfrm>
        </p:spPr>
        <p:txBody>
          <a:bodyPr/>
          <a:lstStyle/>
          <a:p>
            <a:r>
              <a:t>Reuse vLLM’s graph lifecycle around H3’s request-stable compute island</a:t>
            </a:r>
          </a:p>
        </p:txBody>
      </p:sp>
      <p:sp>
        <p:nvSpPr>
          <p:cNvPr id="4" name="Title 3"/>
          <p:cNvSpPr>
            <a:spLocks noGrp="1"/>
          </p:cNvSpPr>
          <p:nvPr>
            <p:ph type="title"/>
          </p:nvPr>
        </p:nvSpPr>
        <p:spPr>
          <a:xfrm>
            <a:off x="1828800" y="1828800"/>
            <a:ext cx="13716000" cy="3840480"/>
          </a:xfrm>
        </p:spPr>
        <p:txBody>
          <a:bodyPr/>
          <a:lstStyle/>
          <a:p>
            <a:r>
              <a:t>CUDA Graph</a:t>
            </a:r>
          </a:p>
        </p:txBody>
      </p:sp>
      <p:sp>
        <p:nvSpPr>
          <p:cNvPr id="5" name="Text Placeholder 4"/>
          <p:cNvSpPr>
            <a:spLocks noGrp="1"/>
          </p:cNvSpPr>
          <p:nvPr>
            <p:ph type="body" idx="52" sz="quarter"/>
          </p:nvPr>
        </p:nvSpPr>
        <p:spPr/>
        <p:txBody>
          <a:bodyPr/>
          <a:lstStyle/>
          <a:p>
            <a:r>
              <a:t>Direct crops of the official planning and dispatch nodes</a:t>
            </a:r>
          </a:p>
        </p:txBody>
      </p:sp>
      <p:sp>
        <p:nvSpPr>
          <p:cNvPr id="6" name="Text Placeholder 5"/>
          <p:cNvSpPr>
            <a:spLocks noGrp="1"/>
          </p:cNvSpPr>
          <p:nvPr>
            <p:ph type="body" idx="51" sz="quarter"/>
          </p:nvPr>
        </p:nvSpPr>
        <p:spPr/>
        <p:txBody>
          <a:bodyPr/>
          <a:lstStyle/>
          <a:p>
            <a:r>
              <a:t>vLLM Executor Runtime · Detail View</a:t>
            </a:r>
          </a:p>
        </p:txBody>
      </p:sp>
      <p:pic>
        <p:nvPicPr>
          <p:cNvPr id="7" name="Picture Placeholder 6" descr="cuda-graph-concept-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executor runtime figure · H3 fixed-profile measurements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One request repeats the same geometry</a:t>
            </a:r>
          </a:p>
          <a:p>
            <a:pPr lvl="1" algn="l"/>
            <a:r>
              <a:rPr b="0">
                <a:solidFill>
                  <a:srgbClr val="313131"/>
                </a:solidFill>
                <a:latin typeface="NVIDIA Sans"/>
              </a:rPr>
              <a:t>50 blocks × 8 steps provide 400 replay opportunities per head band; tensor values may change</a:t>
            </a:r>
          </a:p>
          <a:p>
            <a:pPr algn="l"/>
            <a:r>
              <a:rPr b="1">
                <a:solidFill>
                  <a:srgbClr val="76B900"/>
                </a:solidFill>
                <a:latin typeface="NVIDIA Sans Medium"/>
              </a:rPr>
              <a:t>Match the complete profile</a:t>
            </a:r>
          </a:p>
          <a:p>
            <a:pPr lvl="1" algn="l"/>
            <a:r>
              <a:rPr b="0">
                <a:solidFill>
                  <a:srgbClr val="313131"/>
                </a:solidFill>
                <a:latin typeface="NVIDIA Sans"/>
              </a:rPr>
              <a:t>Packed length S, sparse budget Kmax, reference layout, head band, and backend</a:t>
            </a:r>
          </a:p>
          <a:p>
            <a:pPr algn="l"/>
            <a:r>
              <a:rPr b="1">
                <a:solidFill>
                  <a:srgbClr val="76B900"/>
                </a:solidFill>
                <a:latin typeface="NVIDIA Sans Medium"/>
              </a:rPr>
              <a:t>On a hit, copy and replay</a:t>
            </a:r>
          </a:p>
          <a:p>
            <a:pPr lvl="1" algn="l"/>
            <a:r>
              <a:rPr b="0">
                <a:solidFill>
                  <a:srgbClr val="313131"/>
                </a:solidFill>
                <a:latin typeface="NVIDIA Sans"/>
              </a:rPr>
              <a:t>Copy current values into stable buffers, then launch the cached graph</a:t>
            </a:r>
          </a:p>
          <a:p>
            <a:pPr algn="l"/>
            <a:r>
              <a:rPr b="1">
                <a:solidFill>
                  <a:srgbClr val="313131"/>
                </a:solidFill>
                <a:latin typeface="NVIDIA Sans Medium"/>
              </a:rPr>
              <a:t>On a miss, run eager</a:t>
            </a:r>
          </a:p>
          <a:p>
            <a:pPr lvl="1" algn="l"/>
            <a:r>
              <a:rPr b="0">
                <a:solidFill>
                  <a:srgbClr val="313131"/>
                </a:solidFill>
                <a:latin typeface="NVIDIA Sans"/>
              </a:rPr>
              <a:t>Serve immediately, qualify recurring profiles, then capture; report hit rate, cold cost, and graph memory</a:t>
            </a:r>
          </a:p>
        </p:txBody>
      </p:sp>
      <p:sp>
        <p:nvSpPr>
          <p:cNvPr id="3" name="Text Placeholder 2"/>
          <p:cNvSpPr>
            <a:spLocks noGrp="1"/>
          </p:cNvSpPr>
          <p:nvPr>
            <p:ph type="body" idx="14" sz="quarter"/>
          </p:nvPr>
        </p:nvSpPr>
        <p:spPr>
          <a:xfrm>
            <a:off x="1828800" y="5806440"/>
            <a:ext cx="13716000" cy="1417320"/>
          </a:xfrm>
        </p:spPr>
        <p:txBody>
          <a:bodyPr/>
          <a:lstStyle/>
          <a:p>
            <a:r>
              <a:t>Video shapes vary across requests, so replay is keyed by a qualified profile</a:t>
            </a:r>
          </a:p>
        </p:txBody>
      </p:sp>
      <p:sp>
        <p:nvSpPr>
          <p:cNvPr id="4" name="Title 3"/>
          <p:cNvSpPr>
            <a:spLocks noGrp="1"/>
          </p:cNvSpPr>
          <p:nvPr>
            <p:ph type="title"/>
          </p:nvPr>
        </p:nvSpPr>
        <p:spPr>
          <a:xfrm>
            <a:off x="1828800" y="1828800"/>
            <a:ext cx="13716000" cy="3840480"/>
          </a:xfrm>
        </p:spPr>
        <p:txBody>
          <a:bodyPr/>
          <a:lstStyle/>
          <a:p>
            <a:r>
              <a:t>CUDA Graph Reuse</a:t>
            </a:r>
          </a:p>
        </p:txBody>
      </p:sp>
      <p:sp>
        <p:nvSpPr>
          <p:cNvPr id="5" name="Text Placeholder 4"/>
          <p:cNvSpPr>
            <a:spLocks noGrp="1"/>
          </p:cNvSpPr>
          <p:nvPr>
            <p:ph type="body" idx="52" sz="quarter"/>
          </p:nvPr>
        </p:nvSpPr>
        <p:spPr/>
        <p:txBody>
          <a:bodyPr/>
          <a:lstStyle/>
          <a:p>
            <a:r>
              <a:t>H3 extends the dispatch key; the wrapper still owns replay and fallback</a:t>
            </a:r>
          </a:p>
        </p:txBody>
      </p:sp>
      <p:sp>
        <p:nvSpPr>
          <p:cNvPr id="6" name="Text Placeholder 5"/>
          <p:cNvSpPr>
            <a:spLocks noGrp="1"/>
          </p:cNvSpPr>
          <p:nvPr>
            <p:ph type="body" idx="51" sz="quarter"/>
          </p:nvPr>
        </p:nvSpPr>
        <p:spPr/>
        <p:txBody>
          <a:bodyPr/>
          <a:lstStyle/>
          <a:p>
            <a:r>
              <a:t>vLLM CUDAGraphWrapper · Detail View</a:t>
            </a:r>
          </a:p>
        </p:txBody>
      </p:sp>
      <p:pic>
        <p:nvPicPr>
          <p:cNvPr id="7" name="Picture Placeholder 6" descr="cuda-graph-reuse-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CUDAGraphWrapper flow · vLLM multimodal budget policy · H3 prototype audit</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13</a:t>
            </a:fld>
            <a:endParaRPr lang="en-US"/>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41732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USP</a:t>
            </a:r>
          </a:p>
        </p:txBody>
      </p:sp>
      <p:sp>
        <p:nvSpPr>
          <p:cNvPr id="5" name="Text Placeholder 4"/>
          <p:cNvSpPr>
            <a:spLocks noGrp="1"/>
          </p:cNvSpPr>
          <p:nvPr>
            <p:ph type="body" idx="52" sz="quarter"/>
          </p:nvPr>
        </p:nvSpPr>
        <p:spPr/>
        <p:txBody>
          <a:bodyPr/>
          <a:lstStyle/>
          <a:p>
            <a:r>
              <a:t>7,120 × 56 → 56,960 × 7 → 7,120 × 56 · repeated in every attention block</a:t>
            </a:r>
          </a:p>
        </p:txBody>
      </p:sp>
      <p:sp>
        <p:nvSpPr>
          <p:cNvPr id="6" name="Text Placeholder 5"/>
          <p:cNvSpPr>
            <a:spLocks noGrp="1"/>
          </p:cNvSpPr>
          <p:nvPr>
            <p:ph type="body" idx="51" sz="quarter"/>
          </p:nvPr>
        </p:nvSpPr>
        <p:spPr/>
        <p:txBody>
          <a:bodyPr/>
          <a:lstStyle/>
          <a:p>
            <a:r>
              <a:t>Same Tensor, Different Ownership</a:t>
            </a:r>
          </a:p>
        </p:txBody>
      </p:sp>
      <p:pic>
        <p:nvPicPr>
          <p:cNvPr id="7" name="Picture Placeholder 6" descr="ulysses-sequence-parallel-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Adapted from DeepSpeed-Ulysses (Jacobs et al., 2023) · current H3 path: DP1 / TP1 / USP8 / Ring1 · measured 362-frame profile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14</a:t>
            </a:fld>
            <a:endParaRPr lang="en-US"/>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Four PCIe islands</a:t>
            </a:r>
          </a:p>
          <a:p>
            <a:pPr lvl="1" algn="l"/>
            <a:r>
              <a:rPr b="0">
                <a:solidFill>
                  <a:srgbClr val="313131"/>
                </a:solidFill>
                <a:latin typeface="NVIDIA Sans"/>
              </a:rPr>
              <a:t>Each island holds two GPUs and two nearest 400-Gb/s CX-8 ports</a:t>
            </a:r>
          </a:p>
          <a:p>
            <a:pPr algn="l"/>
            <a:r>
              <a:rPr b="1">
                <a:solidFill>
                  <a:srgbClr val="76B900"/>
                </a:solidFill>
                <a:latin typeface="NVIDIA Sans Medium"/>
              </a:rPr>
              <a:t>Three kinds of peer path</a:t>
            </a:r>
          </a:p>
          <a:p>
            <a:pPr lvl="1" algn="l"/>
            <a:r>
              <a:rPr b="0">
                <a:solidFill>
                  <a:srgbClr val="313131"/>
                </a:solidFill>
                <a:latin typeface="NVIDIA Sans"/>
              </a:rPr>
              <a:t>From one rank: 1 PXB, 2 NODE, and 4 SYS peers</a:t>
            </a:r>
          </a:p>
          <a:p>
            <a:pPr algn="l"/>
            <a:r>
              <a:rPr b="1">
                <a:solidFill>
                  <a:srgbClr val="76B900"/>
                </a:solidFill>
                <a:latin typeface="NVIDIA Sans Medium"/>
              </a:rPr>
              <a:t>Most peers cross sockets</a:t>
            </a:r>
          </a:p>
          <a:p>
            <a:pPr lvl="1" algn="l"/>
            <a:r>
              <a:rPr b="0">
                <a:solidFill>
                  <a:srgbClr val="313131"/>
                </a:solidFill>
                <a:latin typeface="NVIDIA Sans"/>
              </a:rPr>
              <a:t>Four of seven off-rank peers use the SYS path</a:t>
            </a:r>
          </a:p>
          <a:p>
            <a:pPr algn="l"/>
            <a:r>
              <a:rPr b="1">
                <a:solidFill>
                  <a:srgbClr val="76B900"/>
                </a:solidFill>
                <a:latin typeface="NVIDIA Sans Medium"/>
              </a:rPr>
              <a:t>Why the baseline is uneven</a:t>
            </a:r>
          </a:p>
          <a:p>
            <a:pPr lvl="1" algn="l"/>
            <a:r>
              <a:rPr b="0">
                <a:solidFill>
                  <a:srgbClr val="313131"/>
                </a:solidFill>
                <a:latin typeface="NVIDIA Sans"/>
              </a:rPr>
              <a:t>IB is disabled, so local NCCL follows these host paths</a:t>
            </a:r>
          </a:p>
        </p:txBody>
      </p:sp>
      <p:sp>
        <p:nvSpPr>
          <p:cNvPr id="3" name="Text Placeholder 2"/>
          <p:cNvSpPr>
            <a:spLocks noGrp="1"/>
          </p:cNvSpPr>
          <p:nvPr>
            <p:ph type="body" idx="14" sz="quarter"/>
          </p:nvPr>
        </p:nvSpPr>
        <p:spPr>
          <a:xfrm>
            <a:off x="1828800" y="5806440"/>
            <a:ext cx="13716000" cy="1417320"/>
          </a:xfrm>
        </p:spPr>
        <p:txBody>
          <a:bodyPr/>
          <a:lstStyle/>
          <a:p>
            <a:r>
              <a:t>The exchange is balanced in bytes; the host paths are not</a:t>
            </a:r>
          </a:p>
        </p:txBody>
      </p:sp>
      <p:sp>
        <p:nvSpPr>
          <p:cNvPr id="4" name="Title 3"/>
          <p:cNvSpPr>
            <a:spLocks noGrp="1"/>
          </p:cNvSpPr>
          <p:nvPr>
            <p:ph type="title"/>
          </p:nvPr>
        </p:nvSpPr>
        <p:spPr>
          <a:xfrm>
            <a:off x="1828800" y="1828800"/>
            <a:ext cx="13716000" cy="3840480"/>
          </a:xfrm>
        </p:spPr>
        <p:txBody>
          <a:bodyPr/>
          <a:lstStyle/>
          <a:p>
            <a:r>
              <a:t>USP Communication</a:t>
            </a:r>
          </a:p>
        </p:txBody>
      </p:sp>
      <p:sp>
        <p:nvSpPr>
          <p:cNvPr id="5" name="Text Placeholder 4"/>
          <p:cNvSpPr>
            <a:spLocks noGrp="1"/>
          </p:cNvSpPr>
          <p:nvPr>
            <p:ph type="body" idx="52" sz="quarter"/>
          </p:nvPr>
        </p:nvSpPr>
        <p:spPr/>
        <p:txBody>
          <a:bodyPr/>
          <a:lstStyle/>
          <a:p>
            <a:r>
              <a:t>The math is balanced. The roads are not.</a:t>
            </a:r>
          </a:p>
        </p:txBody>
      </p:sp>
      <p:sp>
        <p:nvSpPr>
          <p:cNvPr id="6" name="Text Placeholder 5"/>
          <p:cNvSpPr>
            <a:spLocks noGrp="1"/>
          </p:cNvSpPr>
          <p:nvPr>
            <p:ph type="body" idx="51" sz="quarter"/>
          </p:nvPr>
        </p:nvSpPr>
        <p:spPr/>
        <p:txBody>
          <a:bodyPr/>
          <a:lstStyle/>
          <a:p>
            <a:r>
              <a:t>Eight GPUs · Four PCIe Islands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MiniMaxH3Pipeline and denoise-loop code audit · retained nvidia-smi topo -m · 8 nearest 400-Gb/s CX-8 ports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15</a:t>
            </a:fld>
            <a:endParaRPr lang="en-US"/>
          </a:p>
        </p:txBody>
      </p:sp>
      <p:sp>
        <p:nvSpPr>
          <p:cNvPr id="10" name="Rectangle 9"/>
          <p:cNvSpPr/>
          <p:nvPr/>
        </p:nvSpPr>
        <p:spPr>
          <a:xfrm>
            <a:off x="19705320" y="1920240"/>
            <a:ext cx="14859000" cy="5669280"/>
          </a:xfrm>
          <a:prstGeom prst="rect">
            <a:avLst/>
          </a:prstGeom>
          <a:solidFill>
            <a:srgbClr val="F7F7F7"/>
          </a:solidFill>
          <a:ln w="1587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025360" y="2066544"/>
            <a:ext cx="5029200" cy="438912"/>
          </a:xfrm>
          <a:prstGeom prst="rect">
            <a:avLst/>
          </a:prstGeom>
          <a:noFill/>
        </p:spPr>
        <p:txBody>
          <a:bodyPr wrap="square" anchor="t" lIns="0" rIns="0" tIns="0" bIns="0">
            <a:spAutoFit/>
          </a:bodyPr>
          <a:lstStyle/>
          <a:p>
            <a:pPr algn="l">
              <a:spcBef>
                <a:spcPts val="0"/>
              </a:spcBef>
              <a:spcAft>
                <a:spcPts val="0"/>
              </a:spcAft>
              <a:buNone/>
            </a:pPr>
            <a:r>
              <a:rPr sz="2400" b="1" i="0">
                <a:solidFill>
                  <a:srgbClr val="313131"/>
                </a:solidFill>
                <a:latin typeface="NVIDIA Sans Medium"/>
              </a:rPr>
              <a:t>NUMA 0 · CPU 0</a:t>
            </a:r>
          </a:p>
        </p:txBody>
      </p:sp>
      <p:sp>
        <p:nvSpPr>
          <p:cNvPr id="12" name="Rectangle 11"/>
          <p:cNvSpPr/>
          <p:nvPr/>
        </p:nvSpPr>
        <p:spPr>
          <a:xfrm>
            <a:off x="20025360" y="265176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77720" y="265176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9705320" y="8183879"/>
            <a:ext cx="14859000" cy="5669280"/>
          </a:xfrm>
          <a:prstGeom prst="rect">
            <a:avLst/>
          </a:prstGeom>
          <a:solidFill>
            <a:srgbClr val="F7F7F7"/>
          </a:solidFill>
          <a:ln w="1587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025360" y="8330183"/>
            <a:ext cx="5029200" cy="438912"/>
          </a:xfrm>
          <a:prstGeom prst="rect">
            <a:avLst/>
          </a:prstGeom>
          <a:noFill/>
        </p:spPr>
        <p:txBody>
          <a:bodyPr wrap="square" anchor="t" lIns="0" rIns="0" tIns="0" bIns="0">
            <a:spAutoFit/>
          </a:bodyPr>
          <a:lstStyle/>
          <a:p>
            <a:pPr algn="l">
              <a:spcBef>
                <a:spcPts val="0"/>
              </a:spcBef>
              <a:spcAft>
                <a:spcPts val="0"/>
              </a:spcAft>
              <a:buNone/>
            </a:pPr>
            <a:r>
              <a:rPr sz="2400" b="1" i="0">
                <a:solidFill>
                  <a:srgbClr val="313131"/>
                </a:solidFill>
                <a:latin typeface="NVIDIA Sans Medium"/>
              </a:rPr>
              <a:t>NUMA 1 · CPU 1</a:t>
            </a:r>
          </a:p>
        </p:txBody>
      </p:sp>
      <p:sp>
        <p:nvSpPr>
          <p:cNvPr id="16" name="Rectangle 15"/>
          <p:cNvSpPr/>
          <p:nvPr/>
        </p:nvSpPr>
        <p:spPr>
          <a:xfrm>
            <a:off x="20025360" y="891540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77720" y="891540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21602700" y="3936492"/>
            <a:ext cx="361188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160270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521458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9055060" y="3936492"/>
            <a:ext cx="3611879"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905506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2666939"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6791919" y="3936492"/>
            <a:ext cx="685801"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1602700" y="10200132"/>
            <a:ext cx="361188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160270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521458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055060" y="10200132"/>
            <a:ext cx="3611879"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05506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666939"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6791919" y="10200132"/>
            <a:ext cx="685801"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7134820" y="7589520"/>
            <a:ext cx="0" cy="594359"/>
          </a:xfrm>
          <a:prstGeom prst="line">
            <a:avLst/>
          </a:prstGeom>
          <a:ln w="50800">
            <a:solidFill>
              <a:srgbClr val="EF91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0226527" y="277977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P0</a:t>
            </a:r>
          </a:p>
        </p:txBody>
      </p:sp>
      <p:sp>
        <p:nvSpPr>
          <p:cNvPr id="34" name="Rounded Rectangle 33"/>
          <p:cNvSpPr/>
          <p:nvPr/>
        </p:nvSpPr>
        <p:spPr>
          <a:xfrm>
            <a:off x="2029968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48256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0</a:t>
            </a:r>
          </a:p>
        </p:txBody>
      </p:sp>
      <p:sp>
        <p:nvSpPr>
          <p:cNvPr id="36" name="Rounded Rectangle 35"/>
          <p:cNvSpPr/>
          <p:nvPr/>
        </p:nvSpPr>
        <p:spPr>
          <a:xfrm>
            <a:off x="2029968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48256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mlx5_2</a:t>
            </a:r>
          </a:p>
        </p:txBody>
      </p:sp>
      <p:sp>
        <p:nvSpPr>
          <p:cNvPr id="38" name="Rounded Rectangle 37"/>
          <p:cNvSpPr/>
          <p:nvPr/>
        </p:nvSpPr>
        <p:spPr>
          <a:xfrm>
            <a:off x="2391156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094439"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1</a:t>
            </a:r>
          </a:p>
        </p:txBody>
      </p:sp>
      <p:sp>
        <p:nvSpPr>
          <p:cNvPr id="40" name="Rounded Rectangle 39"/>
          <p:cNvSpPr/>
          <p:nvPr/>
        </p:nvSpPr>
        <p:spPr>
          <a:xfrm>
            <a:off x="2391156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094439"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mlx5_3</a:t>
            </a:r>
          </a:p>
        </p:txBody>
      </p:sp>
      <p:sp>
        <p:nvSpPr>
          <p:cNvPr id="42" name="TextBox 41"/>
          <p:cNvSpPr txBox="1"/>
          <p:nvPr/>
        </p:nvSpPr>
        <p:spPr>
          <a:xfrm>
            <a:off x="27678888" y="277977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P1</a:t>
            </a:r>
          </a:p>
        </p:txBody>
      </p:sp>
      <p:sp>
        <p:nvSpPr>
          <p:cNvPr id="43" name="Rounded Rectangle 42"/>
          <p:cNvSpPr/>
          <p:nvPr/>
        </p:nvSpPr>
        <p:spPr>
          <a:xfrm>
            <a:off x="2775204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93492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2</a:t>
            </a:r>
          </a:p>
        </p:txBody>
      </p:sp>
      <p:sp>
        <p:nvSpPr>
          <p:cNvPr id="45" name="Rounded Rectangle 44"/>
          <p:cNvSpPr/>
          <p:nvPr/>
        </p:nvSpPr>
        <p:spPr>
          <a:xfrm>
            <a:off x="2775204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93492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mlx5_0</a:t>
            </a:r>
          </a:p>
        </p:txBody>
      </p:sp>
      <p:sp>
        <p:nvSpPr>
          <p:cNvPr id="47" name="Rounded Rectangle 46"/>
          <p:cNvSpPr/>
          <p:nvPr/>
        </p:nvSpPr>
        <p:spPr>
          <a:xfrm>
            <a:off x="31363919"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154680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3</a:t>
            </a:r>
          </a:p>
        </p:txBody>
      </p:sp>
      <p:sp>
        <p:nvSpPr>
          <p:cNvPr id="49" name="Rounded Rectangle 48"/>
          <p:cNvSpPr/>
          <p:nvPr/>
        </p:nvSpPr>
        <p:spPr>
          <a:xfrm>
            <a:off x="31363919"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154680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mlx5_1</a:t>
            </a:r>
          </a:p>
        </p:txBody>
      </p:sp>
      <p:sp>
        <p:nvSpPr>
          <p:cNvPr id="51" name="TextBox 50"/>
          <p:cNvSpPr txBox="1"/>
          <p:nvPr/>
        </p:nvSpPr>
        <p:spPr>
          <a:xfrm>
            <a:off x="20226527" y="904341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P2</a:t>
            </a:r>
          </a:p>
        </p:txBody>
      </p:sp>
      <p:sp>
        <p:nvSpPr>
          <p:cNvPr id="52" name="Rounded Rectangle 51"/>
          <p:cNvSpPr/>
          <p:nvPr/>
        </p:nvSpPr>
        <p:spPr>
          <a:xfrm>
            <a:off x="2029968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048256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4</a:t>
            </a:r>
          </a:p>
        </p:txBody>
      </p:sp>
      <p:sp>
        <p:nvSpPr>
          <p:cNvPr id="54" name="Rounded Rectangle 53"/>
          <p:cNvSpPr/>
          <p:nvPr/>
        </p:nvSpPr>
        <p:spPr>
          <a:xfrm>
            <a:off x="2029968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048256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mlx5_6</a:t>
            </a:r>
          </a:p>
        </p:txBody>
      </p:sp>
      <p:sp>
        <p:nvSpPr>
          <p:cNvPr id="56" name="Rounded Rectangle 55"/>
          <p:cNvSpPr/>
          <p:nvPr/>
        </p:nvSpPr>
        <p:spPr>
          <a:xfrm>
            <a:off x="2391156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4094439"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5</a:t>
            </a:r>
          </a:p>
        </p:txBody>
      </p:sp>
      <p:sp>
        <p:nvSpPr>
          <p:cNvPr id="58" name="Rounded Rectangle 57"/>
          <p:cNvSpPr/>
          <p:nvPr/>
        </p:nvSpPr>
        <p:spPr>
          <a:xfrm>
            <a:off x="2391156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4094439"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mlx5_7</a:t>
            </a:r>
          </a:p>
        </p:txBody>
      </p:sp>
      <p:sp>
        <p:nvSpPr>
          <p:cNvPr id="60" name="TextBox 59"/>
          <p:cNvSpPr txBox="1"/>
          <p:nvPr/>
        </p:nvSpPr>
        <p:spPr>
          <a:xfrm>
            <a:off x="27678888" y="904341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P3</a:t>
            </a:r>
          </a:p>
        </p:txBody>
      </p:sp>
      <p:sp>
        <p:nvSpPr>
          <p:cNvPr id="61" name="Rounded Rectangle 60"/>
          <p:cNvSpPr/>
          <p:nvPr/>
        </p:nvSpPr>
        <p:spPr>
          <a:xfrm>
            <a:off x="2775204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793492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6</a:t>
            </a:r>
          </a:p>
        </p:txBody>
      </p:sp>
      <p:sp>
        <p:nvSpPr>
          <p:cNvPr id="63" name="Rounded Rectangle 62"/>
          <p:cNvSpPr/>
          <p:nvPr/>
        </p:nvSpPr>
        <p:spPr>
          <a:xfrm>
            <a:off x="2775204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793492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mlx5_4</a:t>
            </a:r>
          </a:p>
        </p:txBody>
      </p:sp>
      <p:sp>
        <p:nvSpPr>
          <p:cNvPr id="65" name="Rounded Rectangle 64"/>
          <p:cNvSpPr/>
          <p:nvPr/>
        </p:nvSpPr>
        <p:spPr>
          <a:xfrm>
            <a:off x="31363919"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154680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7</a:t>
            </a:r>
          </a:p>
        </p:txBody>
      </p:sp>
      <p:sp>
        <p:nvSpPr>
          <p:cNvPr id="67" name="Rounded Rectangle 66"/>
          <p:cNvSpPr/>
          <p:nvPr/>
        </p:nvSpPr>
        <p:spPr>
          <a:xfrm>
            <a:off x="31363919"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54680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mlx5_5</a:t>
            </a:r>
          </a:p>
        </p:txBody>
      </p:sp>
      <p:cxnSp>
        <p:nvCxnSpPr>
          <p:cNvPr id="69" name="Connector 68"/>
          <p:cNvCxnSpPr/>
          <p:nvPr/>
        </p:nvCxnSpPr>
        <p:spPr>
          <a:xfrm>
            <a:off x="19842480" y="14593824"/>
            <a:ext cx="54864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053742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76B900"/>
                </a:solidFill>
                <a:latin typeface="NVIDIA Sans Medium"/>
              </a:rPr>
              <a:t>PXB · 1/7 peer</a:t>
            </a:r>
          </a:p>
        </p:txBody>
      </p:sp>
      <p:cxnSp>
        <p:nvCxnSpPr>
          <p:cNvPr id="71" name="Connector 70"/>
          <p:cNvCxnSpPr/>
          <p:nvPr/>
        </p:nvCxnSpPr>
        <p:spPr>
          <a:xfrm>
            <a:off x="24277320" y="14593824"/>
            <a:ext cx="548640"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2497226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0074DF"/>
                </a:solidFill>
                <a:latin typeface="NVIDIA Sans Medium"/>
              </a:rPr>
              <a:t>NODE · 2/7 peers</a:t>
            </a:r>
          </a:p>
        </p:txBody>
      </p:sp>
      <p:cxnSp>
        <p:nvCxnSpPr>
          <p:cNvPr id="73" name="Connector 72"/>
          <p:cNvCxnSpPr/>
          <p:nvPr/>
        </p:nvCxnSpPr>
        <p:spPr>
          <a:xfrm>
            <a:off x="29215080" y="14593824"/>
            <a:ext cx="548639" cy="0"/>
          </a:xfrm>
          <a:prstGeom prst="line">
            <a:avLst/>
          </a:prstGeom>
          <a:ln w="50800">
            <a:solidFill>
              <a:srgbClr val="EF910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2991002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EF9100"/>
                </a:solidFill>
                <a:latin typeface="NVIDIA Sans Medium"/>
              </a:rPr>
              <a:t>SYS · 4/7 peers · 57.1%</a:t>
            </a:r>
          </a:p>
        </p:txBody>
      </p:sp>
      <p:cxnSp>
        <p:nvCxnSpPr>
          <p:cNvPr id="75" name="Connector 74"/>
          <p:cNvCxnSpPr/>
          <p:nvPr/>
        </p:nvCxnSpPr>
        <p:spPr>
          <a:xfrm>
            <a:off x="19842480" y="15288767"/>
            <a:ext cx="548640" cy="0"/>
          </a:xfrm>
          <a:prstGeom prst="line">
            <a:avLst/>
          </a:prstGeom>
          <a:ln w="38100">
            <a:solidFill>
              <a:srgbClr val="1DBBA4"/>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20537424" y="15060167"/>
            <a:ext cx="13624560" cy="512064"/>
          </a:xfrm>
          <a:prstGeom prst="rect">
            <a:avLst/>
          </a:prstGeom>
          <a:noFill/>
        </p:spPr>
        <p:txBody>
          <a:bodyPr wrap="square" anchor="t" lIns="0" rIns="0" tIns="0" bIns="0">
            <a:spAutoFit/>
          </a:bodyPr>
          <a:lstStyle/>
          <a:p>
            <a:pPr algn="l">
              <a:spcBef>
                <a:spcPts val="0"/>
              </a:spcBef>
              <a:spcAft>
                <a:spcPts val="0"/>
              </a:spcAft>
              <a:buNone/>
            </a:pPr>
            <a:r>
              <a:rPr sz="2000" b="1" i="0">
                <a:solidFill>
                  <a:srgbClr val="1DBBA4"/>
                </a:solidFill>
                <a:latin typeface="NVIDIA Sans Medium"/>
              </a:rPr>
              <a:t>Nearest-NIC GPUDirect RDMA · assigned 400-Gb/s CX-8 port per GPU</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The nearest-NIC path moves the same payload in less than half the measured communication + layout time</a:t>
            </a:r>
          </a:p>
        </p:txBody>
      </p:sp>
      <p:sp>
        <p:nvSpPr>
          <p:cNvPr id="3" name="Title 2"/>
          <p:cNvSpPr>
            <a:spLocks noGrp="1"/>
          </p:cNvSpPr>
          <p:nvPr>
            <p:ph type="title"/>
          </p:nvPr>
        </p:nvSpPr>
        <p:spPr/>
        <p:txBody>
          <a:bodyPr/>
          <a:lstStyle/>
          <a:p>
            <a:r>
              <a:t>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16</a:t>
            </a:fld>
            <a:endParaRPr lang="en-US"/>
          </a:p>
        </p:txBody>
      </p:sp>
      <p:graphicFrame>
        <p:nvGraphicFramePr>
          <p:cNvPr id="5" name="Official NVIDIA Exact-Shape RDM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5120640">
                  <a:extLst>
                    <a:ext uri="{9D8B030D-6E8A-4147-A177-3AD203B41FA5}">
                      <a16:colId xmlns:a16="http://schemas.microsoft.com/office/drawing/2014/main" val="1714626306"/>
                    </a:ext>
                  </a:extLst>
                </a:gridCol>
                <a:gridCol w="8412480">
                  <a:extLst>
                    <a:ext uri="{9D8B030D-6E8A-4147-A177-3AD203B41FA5}">
                      <a16:colId xmlns:a16="http://schemas.microsoft.com/office/drawing/2014/main" val="1697748500"/>
                    </a:ext>
                  </a:extLst>
                </a:gridCol>
                <a:gridCol w="4937760">
                  <a:extLst>
                    <a:ext uri="{9D8B030D-6E8A-4147-A177-3AD203B41FA5}">
                      <a16:colId xmlns:a16="http://schemas.microsoft.com/office/drawing/2014/main" val="3872581152"/>
                    </a:ext>
                  </a:extLst>
                </a:gridCol>
                <a:gridCol w="5212080">
                  <a:extLst>
                    <a:ext uri="{9D8B030D-6E8A-4147-A177-3AD203B41FA5}">
                      <a16:colId xmlns:a16="http://schemas.microsoft.com/office/drawing/2014/main" val="2543914041"/>
                    </a:ext>
                  </a:extLst>
                </a:gridCol>
                <a:gridCol w="45873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Route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Logical Off-Rank Volume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Rank-Max / Block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Effective BW / Rank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Serialized PDD8*</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local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24.87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17.95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9.95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Nearest-NIC GDR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10.86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41.14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4.34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RDMA delta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Same five-slot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2.29×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scope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Communication + path-required layout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Exact vs independent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all_gather</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attention or GEMM</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overlap</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*serial × 400; not E2E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Measured 2026-10-25 · 5 warmups + 8 trials × 4 calls · rank-max then mean · *serialized block mean × 400; not end-to-end</a:t>
            </a:r>
            <a:endParaRPr lang="en-US" dirty="0"/>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a:xfrm>
            <a:off x="1828800" y="5806440"/>
            <a:ext cx="13716000" cy="1417320"/>
          </a:xfrm>
        </p:spPr>
        <p:txBody>
          <a:bodyPr/>
          <a:lstStyle/>
          <a:p>
            <a:r>
              <a:t>Four-GPU transport is byte-exact; eight-GPU H3 validation is still pending</a:t>
            </a:r>
          </a:p>
        </p:txBody>
      </p:sp>
      <p:sp>
        <p:nvSpPr>
          <p:cNvPr id="4" name="Title 3"/>
          <p:cNvSpPr>
            <a:spLocks noGrp="1"/>
          </p:cNvSpPr>
          <p:nvPr>
            <p:ph type="title"/>
          </p:nvPr>
        </p:nvSpPr>
        <p:spPr>
          <a:xfrm>
            <a:off x="1828800" y="1828800"/>
            <a:ext cx="13716000" cy="3840480"/>
          </a:xfrm>
        </p:spPr>
        <p:txBody>
          <a:bodyPr/>
          <a:lstStyle/>
          <a:p>
            <a:r>
              <a:t>RDMA Validation</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17</a:t>
            </a:fld>
            <a:endParaRPr lang="en-US"/>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18</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