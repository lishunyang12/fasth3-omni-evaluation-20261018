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slide" Target="slides/slide44.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6.xml"/><Relationship Id="rId34" Type="http://schemas.openxmlformats.org/officeDocument/2006/relationships/slide" Target="slides/slide15.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6.xml"/><Relationship Id="rId38" Type="http://schemas.openxmlformats.org/officeDocument/2006/relationships/slide" Target="slides/slide35.xml"/><Relationship Id="rId39" Type="http://schemas.openxmlformats.org/officeDocument/2006/relationships/slide" Target="slides/slide33.xml"/><Relationship Id="rId40" Type="http://schemas.openxmlformats.org/officeDocument/2006/relationships/slide" Target="slides/slide21.xml"/><Relationship Id="rId41" Type="http://schemas.openxmlformats.org/officeDocument/2006/relationships/slide" Target="slides/slide40.xml"/><Relationship Id="rId42" Type="http://schemas.openxmlformats.org/officeDocument/2006/relationships/slide" Target="slides/slide11.xml"/><Relationship Id="rId43" Type="http://schemas.openxmlformats.org/officeDocument/2006/relationships/slide" Target="slides/slide39.xml"/><Relationship Id="rId44" Type="http://schemas.openxmlformats.org/officeDocument/2006/relationships/slide" Target="slides/slide38.xml"/><Relationship Id="rId45" Type="http://schemas.openxmlformats.org/officeDocument/2006/relationships/slide" Target="slides/slide30.xml"/><Relationship Id="rId46" Type="http://schemas.openxmlformats.org/officeDocument/2006/relationships/slide" Target="slides/slide34.xml"/><Relationship Id="rId47" Type="http://schemas.openxmlformats.org/officeDocument/2006/relationships/slide" Target="slides/slide26.xml"/><Relationship Id="rId48" Type="http://schemas.openxmlformats.org/officeDocument/2006/relationships/slide" Target="slides/slide25.xml"/><Relationship Id="rId49" Type="http://schemas.openxmlformats.org/officeDocument/2006/relationships/slide" Target="slides/slide32.xml"/><Relationship Id="rId50" Type="http://schemas.openxmlformats.org/officeDocument/2006/relationships/slide" Target="slides/slide2.xml"/><Relationship Id="rId51" Type="http://schemas.openxmlformats.org/officeDocument/2006/relationships/slide" Target="slides/slide31.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7.xml"/><Relationship Id="rId62" Type="http://schemas.openxmlformats.org/officeDocument/2006/relationships/slide" Target="slides/slide14.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8.xml"/><Relationship Id="rId85" Type="http://schemas.openxmlformats.org/officeDocument/2006/relationships/slide" Target="slides/slide19.xml"/><Relationship Id="rId86" Type="http://schemas.openxmlformats.org/officeDocument/2006/relationships/slide" Target="slides/slide20.xml"/><Relationship Id="rId87" Type="http://schemas.openxmlformats.org/officeDocument/2006/relationships/slide" Target="slides/slide22.xml"/><Relationship Id="rId89" Type="http://schemas.openxmlformats.org/officeDocument/2006/relationships/slide" Target="slides/slide23.xml"/><Relationship Id="rId90" Type="http://schemas.openxmlformats.org/officeDocument/2006/relationships/slide" Target="slides/slide24.xml"/><Relationship Id="rId95" Type="http://schemas.openxmlformats.org/officeDocument/2006/relationships/slide" Target="slides/slide27.xml"/><Relationship Id="rId96" Type="http://schemas.openxmlformats.org/officeDocument/2006/relationships/slide" Target="slides/slide28.xml"/><Relationship Id="rId97" Type="http://schemas.openxmlformats.org/officeDocument/2006/relationships/slide" Target="slides/slide29.xml"/><Relationship Id="rId99" Type="http://schemas.openxmlformats.org/officeDocument/2006/relationships/slide" Target="slides/slide37.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18. The recorded demonstration follows on slide 20.</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a:p>
            <a:r>
              <a:t>Main slide 11 now explicitly diagrams previous AV context and next prompt conditioning H3, then temporal-overlap trimming before append. Both stills are retained actual demo frames; the right still is already trimmed. The arrows are conceptual, not a latent-space visualization or a measured timing diagram. The pipeline is slide 10; recorded demo follows on slide 12.</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Creator handoff, about 45 seconds. The official ComfyUI extension sends inference requests to a local or remote vLLM-Omni service. ComfyUI does not load H3 weights in these workflows. On upstream main 08177216af4b44cef54ec5bdc75c265a9f0cd697, the extension contains image/video generation, multimodal understanding, TTS/voice cloning, music, restoration and H3 reference/editing/guide nodes. This slide selects three high-level points rather than claiming every model supports every node. H3 all-in-one includes T2VA, first/last-frame FL2VA and mixed-reference Ref2VA; it does not include a prompt LLM. API/model support bounds the UI. The official screenshot is an existing illustrative graph, not a new test or a recommended H3 benchmark configuration. No ComfyUI inference was run for this deck. Sources: https://github.com/vllm-project/vllm-omni/tree/08177216af4b44cef54ec5bdc75c265a9f0cd697/apps/ComfyUI-vLLM-Omni ; https://docs.vllm.ai/projects/vllm-omni/en/latest/features/comfyui/ ; https://github.com/vllm-project/vllm-omni/blob/08177216af4b44cef54ec5bdc75c265a9f0cd697/apps/ComfyUI-vLLM-Omni/docs/h3-06-all-in-one.md</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closing slide replacing an outdated copied event page, as requested. Official GitHub project, current documentation URL and #sig-omni Slack community were checked against https://github.com/vllm-project/vllm-omni and https://docs.vllm.ai/projects/vllm-omni/en/latest/ on 2026-10-31. This is a general contribution invitation, not an event announcement, availability guarantee or product roadmap. No release number, event date, star count  is shown. Original closing source stays archived in sources/official-closing-source.pptx.</a:t>
            </a:r>
          </a:p>
          <a:p>
            <a:r>
              <a:t>Added two QR codes on 2026-10-31. GitHub QR encodes the official repository URL directly. WeChat QR is the unchanged official docs/assets/WeChat.jpg linked from the current official README, pinned to commit 08177216af4b44cef54ec5bdc75c265a9f0cd697. Native picture cropping shows only its full QR with quiet zone; the original image is archived. The image states it is valid before November 2, displayed explicitly in English. Successful decoding is verified; live group admission cannot be tested without a WeChat account. A future presentation should refresh the group QR from the official README. The GitHub link remains a route to the current community entry.</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Reuse recent context, generate the next window, then append only new content.</a:t>
            </a:r>
          </a:p>
        </p:txBody>
      </p:sp>
      <p:sp>
        <p:nvSpPr>
          <p:cNvPr id="4" name="Title 3"/>
          <p:cNvSpPr>
            <a:spLocks noGrp="1"/>
          </p:cNvSpPr>
          <p:nvPr>
            <p:ph type="title"/>
          </p:nvPr>
        </p:nvSpPr>
        <p:spPr/>
        <p:txBody>
          <a:bodyPr/>
          <a:lstStyle/>
          <a:p>
            <a:r>
              <a:rPr sz="8800"/>
              <a:t>Continuation: From One Clip to the Next</a:t>
            </a:r>
          </a:p>
        </p:txBody>
      </p:sp>
      <p:sp>
        <p:nvSpPr>
          <p:cNvPr id="5" name="Actual ending of chunk A heading"/>
          <p:cNvSpPr txBox="1"/>
          <p:nvPr/>
        </p:nvSpPr>
        <p:spPr>
          <a:xfrm>
            <a:off x="1828800" y="5760720"/>
            <a:ext cx="1042416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Medium"/>
              </a:rPr>
              <a:t>CHUNK A · ENDING</a:t>
            </a:r>
          </a:p>
        </p:txBody>
      </p:sp>
      <p:pic>
        <p:nvPicPr>
          <p:cNvPr id="6" name="Actual ending of chunk A" descr="image.png"/>
          <p:cNvPicPr>
            <a:picLocks noChangeAspect="1"/>
          </p:cNvPicPr>
          <p:nvPr/>
        </p:nvPicPr>
        <p:blipFill>
          <a:blip r:embed="rId3"/>
          <a:stretch>
            <a:fillRect/>
          </a:stretch>
        </p:blipFill>
        <p:spPr>
          <a:xfrm>
            <a:off x="1828800" y="7315200"/>
            <a:ext cx="10424160" cy="5907024"/>
          </a:xfrm>
          <a:prstGeom prst="rect">
            <a:avLst/>
          </a:prstGeom>
        </p:spPr>
      </p:pic>
      <p:sp>
        <p:nvSpPr>
          <p:cNvPr id="7" name="Actual first retained frame of chunk B heading"/>
          <p:cNvSpPr txBox="1"/>
          <p:nvPr/>
        </p:nvSpPr>
        <p:spPr>
          <a:xfrm>
            <a:off x="24323040" y="5760720"/>
            <a:ext cx="1042416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Medium"/>
              </a:rPr>
              <a:t>CHUNK B · FIRST RETAINED FRAME</a:t>
            </a:r>
          </a:p>
        </p:txBody>
      </p:sp>
      <p:pic>
        <p:nvPicPr>
          <p:cNvPr id="8" name="Actual first retained frame of chunk B" descr="image.png"/>
          <p:cNvPicPr>
            <a:picLocks noChangeAspect="1"/>
          </p:cNvPicPr>
          <p:nvPr/>
        </p:nvPicPr>
        <p:blipFill>
          <a:blip r:embed="rId4"/>
          <a:stretch>
            <a:fillRect/>
          </a:stretch>
        </p:blipFill>
        <p:spPr>
          <a:xfrm>
            <a:off x="24323040" y="7315200"/>
            <a:ext cx="10424160" cy="5907024"/>
          </a:xfrm>
          <a:prstGeom prst="rect">
            <a:avLst/>
          </a:prstGeom>
        </p:spPr>
      </p:pic>
      <p:sp>
        <p:nvSpPr>
          <p:cNvPr id="9" name="Next prompt"/>
          <p:cNvSpPr/>
          <p:nvPr/>
        </p:nvSpPr>
        <p:spPr>
          <a:xfrm>
            <a:off x="13167360" y="5486400"/>
            <a:ext cx="10241280" cy="21031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Next prompt text"/>
          <p:cNvSpPr txBox="1"/>
          <p:nvPr/>
        </p:nvSpPr>
        <p:spPr>
          <a:xfrm>
            <a:off x="13441680" y="5806440"/>
            <a:ext cx="9692640" cy="1554480"/>
          </a:xfrm>
          <a:prstGeom prst="rect">
            <a:avLst/>
          </a:prstGeom>
          <a:noFill/>
        </p:spPr>
        <p:txBody>
          <a:bodyPr wrap="square" lIns="0" rIns="0" tIns="0" bIns="0">
            <a:spAutoFit/>
          </a:bodyPr>
          <a:lstStyle/>
          <a:p>
            <a:pPr algn="ctr">
              <a:spcBef>
                <a:spcPts val="0"/>
              </a:spcBef>
              <a:spcAft>
                <a:spcPts val="0"/>
              </a:spcAft>
            </a:pPr>
            <a:r>
              <a:rPr sz="3500" b="0">
                <a:solidFill>
                  <a:srgbClr val="000000"/>
                </a:solidFill>
                <a:latin typeface="NVIDIA Sans Medium"/>
              </a:rPr>
              <a:t>Next reply or</a:t>
            </a:r>
          </a:p>
          <a:p>
            <a:pPr algn="ctr">
              <a:spcBef>
                <a:spcPts val="0"/>
              </a:spcBef>
              <a:spcAft>
                <a:spcPts val="0"/>
              </a:spcAft>
            </a:pPr>
            <a:r>
              <a:rPr sz="3500" b="0">
                <a:solidFill>
                  <a:srgbClr val="000000"/>
                </a:solidFill>
                <a:latin typeface="NVIDIA Sans Medium"/>
              </a:rPr>
              <a:t>listening prompt</a:t>
            </a:r>
          </a:p>
        </p:txBody>
      </p:sp>
      <p:cxnSp>
        <p:nvCxnSpPr>
          <p:cNvPr id="11" name="Prompt into H3"/>
          <p:cNvCxnSpPr/>
          <p:nvPr/>
        </p:nvCxnSpPr>
        <p:spPr>
          <a:xfrm>
            <a:off x="18288000" y="7589520"/>
            <a:ext cx="0" cy="155448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Next window model"/>
          <p:cNvSpPr/>
          <p:nvPr/>
        </p:nvSpPr>
        <p:spPr>
          <a:xfrm>
            <a:off x="13167360" y="9144000"/>
            <a:ext cx="10241280" cy="24688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Next window model text"/>
          <p:cNvSpPr txBox="1"/>
          <p:nvPr/>
        </p:nvSpPr>
        <p:spPr>
          <a:xfrm>
            <a:off x="13441680" y="9509760"/>
            <a:ext cx="9692640" cy="100584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14" name="Next window duration"/>
          <p:cNvSpPr txBox="1"/>
          <p:nvPr/>
        </p:nvSpPr>
        <p:spPr>
          <a:xfrm>
            <a:off x="13441680" y="10789920"/>
            <a:ext cx="9692640" cy="64008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Generate the next ~5 s</a:t>
            </a:r>
          </a:p>
        </p:txBody>
      </p:sp>
      <p:cxnSp>
        <p:nvCxnSpPr>
          <p:cNvPr id="15" name="Previous context into H3"/>
          <p:cNvCxnSpPr/>
          <p:nvPr/>
        </p:nvCxnSpPr>
        <p:spPr>
          <a:xfrm>
            <a:off x="12252960" y="10378440"/>
            <a:ext cx="91440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H3 produces B"/>
          <p:cNvCxnSpPr/>
          <p:nvPr/>
        </p:nvCxnSpPr>
        <p:spPr>
          <a:xfrm>
            <a:off x="23408640" y="10378440"/>
            <a:ext cx="91440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Previous context label"/>
          <p:cNvSpPr txBox="1"/>
          <p:nvPr/>
        </p:nvSpPr>
        <p:spPr>
          <a:xfrm>
            <a:off x="1828800" y="13533120"/>
            <a:ext cx="10424160" cy="73152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Recent motion + voice</a:t>
            </a:r>
          </a:p>
        </p:txBody>
      </p:sp>
      <p:sp>
        <p:nvSpPr>
          <p:cNvPr id="18" name="Reference identity label"/>
          <p:cNvSpPr txBox="1"/>
          <p:nvPr/>
        </p:nvSpPr>
        <p:spPr>
          <a:xfrm>
            <a:off x="13167360" y="13533120"/>
            <a:ext cx="10241280" cy="73152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Same reference image + voice</a:t>
            </a:r>
          </a:p>
        </p:txBody>
      </p:sp>
      <p:sp>
        <p:nvSpPr>
          <p:cNvPr id="19" name="New window label"/>
          <p:cNvSpPr txBox="1"/>
          <p:nvPr/>
        </p:nvSpPr>
        <p:spPr>
          <a:xfrm>
            <a:off x="24323040" y="13533120"/>
            <a:ext cx="1042416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New video + matching audio</a:t>
            </a:r>
          </a:p>
        </p:txBody>
      </p:sp>
      <p:sp>
        <p:nvSpPr>
          <p:cNvPr id="20" name="Playback instruction"/>
          <p:cNvSpPr txBox="1"/>
          <p:nvPr/>
        </p:nvSpPr>
        <p:spPr>
          <a:xfrm>
            <a:off x="1828800" y="14996159"/>
            <a:ext cx="32918400" cy="73152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PLAYBACK: trim B’s overlap, then append its new video and audio</a:t>
            </a:r>
          </a:p>
        </p:txBody>
      </p:sp>
      <p:sp>
        <p:nvSpPr>
          <p:cNvPr id="21" name="Playback A"/>
          <p:cNvSpPr/>
          <p:nvPr/>
        </p:nvSpPr>
        <p:spPr>
          <a:xfrm>
            <a:off x="1828800" y="16276320"/>
            <a:ext cx="16797866" cy="13716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layback B"/>
          <p:cNvSpPr/>
          <p:nvPr/>
        </p:nvSpPr>
        <p:spPr>
          <a:xfrm>
            <a:off x="18626666" y="16276320"/>
            <a:ext cx="16120533" cy="137160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layback join"/>
          <p:cNvSpPr/>
          <p:nvPr/>
        </p:nvSpPr>
        <p:spPr>
          <a:xfrm>
            <a:off x="18594662" y="16276320"/>
            <a:ext cx="64008" cy="1371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layback A label"/>
          <p:cNvSpPr txBox="1"/>
          <p:nvPr/>
        </p:nvSpPr>
        <p:spPr>
          <a:xfrm>
            <a:off x="2286000" y="16623792"/>
            <a:ext cx="15544800" cy="82296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Chunk A · 5.167 s</a:t>
            </a:r>
          </a:p>
        </p:txBody>
      </p:sp>
      <p:sp>
        <p:nvSpPr>
          <p:cNvPr id="25" name="Playback B label"/>
          <p:cNvSpPr txBox="1"/>
          <p:nvPr/>
        </p:nvSpPr>
        <p:spPr>
          <a:xfrm>
            <a:off x="19083866" y="16623792"/>
            <a:ext cx="14630400" cy="822960"/>
          </a:xfrm>
          <a:prstGeom prst="rect">
            <a:avLst/>
          </a:prstGeom>
          <a:noFill/>
        </p:spPr>
        <p:txBody>
          <a:bodyPr wrap="square" lIns="0" rIns="0" tIns="0" bIns="0">
            <a:spAutoFit/>
          </a:bodyPr>
          <a:lstStyle/>
          <a:p>
            <a:pPr>
              <a:spcBef>
                <a:spcPts val="0"/>
              </a:spcBef>
              <a:spcAft>
                <a:spcPts val="0"/>
              </a:spcAft>
            </a:pPr>
            <a:r>
              <a:rPr sz="3500" b="0">
                <a:solidFill>
                  <a:srgbClr val="FFFFFF"/>
                </a:solidFill>
                <a:latin typeface="NVIDIA Sans Medium"/>
              </a:rPr>
              <a:t>Chunk B · +4.958 s</a:t>
            </a:r>
          </a:p>
        </p:txBody>
      </p:sp>
      <p:sp>
        <p:nvSpPr>
          <p:cNvPr id="26" name="Overlap explanation"/>
          <p:cNvSpPr txBox="1"/>
          <p:nvPr/>
        </p:nvSpPr>
        <p:spPr>
          <a:xfrm>
            <a:off x="1828800" y="1856232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Remove 5 overlapping frames and aligned audio from each continuation window.</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12</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Visual workflows, powered by a local or remote model service.</a:t>
            </a:r>
          </a:p>
        </p:txBody>
      </p:sp>
      <p:sp>
        <p:nvSpPr>
          <p:cNvPr id="4" name="Title 3"/>
          <p:cNvSpPr>
            <a:spLocks noGrp="1"/>
          </p:cNvSpPr>
          <p:nvPr>
            <p:ph type="title"/>
          </p:nvPr>
        </p:nvSpPr>
        <p:spPr/>
        <p:txBody>
          <a:bodyPr/>
          <a:lstStyle/>
          <a:p>
            <a:r>
              <a:rPr sz="8800"/>
              <a:t>vLLM-Omni for Creators — ComfyUI</a:t>
            </a:r>
          </a:p>
        </p:txBody>
      </p:sp>
      <p:pic>
        <p:nvPicPr>
          <p:cNvPr id="5" name="Official ComfyUI video workflow screenshot" descr="comfyui-video-generation.jpg"/>
          <p:cNvPicPr>
            <a:picLocks noChangeAspect="1"/>
          </p:cNvPicPr>
          <p:nvPr/>
        </p:nvPicPr>
        <p:blipFill>
          <a:blip r:embed="rId2"/>
          <a:stretch>
            <a:fillRect/>
          </a:stretch>
        </p:blipFill>
        <p:spPr>
          <a:xfrm>
            <a:off x="1828800" y="5303520"/>
            <a:ext cx="16966346" cy="12618720"/>
          </a:xfrm>
          <a:prstGeom prst="rect">
            <a:avLst/>
          </a:prstGeom>
        </p:spPr>
      </p:pic>
      <p:sp>
        <p:nvSpPr>
          <p:cNvPr id="6" name="Comfy availability"/>
          <p:cNvSpPr txBox="1"/>
          <p:nvPr/>
        </p:nvSpPr>
        <p:spPr>
          <a:xfrm>
            <a:off x="21031200" y="5669280"/>
            <a:ext cx="137160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AVAILABLE ON MAIN</a:t>
            </a:r>
          </a:p>
        </p:txBody>
      </p:sp>
      <p:sp>
        <p:nvSpPr>
          <p:cNvPr id="7" name="Comfy capability 0"/>
          <p:cNvSpPr txBox="1"/>
          <p:nvPr/>
        </p:nvSpPr>
        <p:spPr>
          <a:xfrm>
            <a:off x="21031200" y="7498079"/>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Compose visually</a:t>
            </a:r>
          </a:p>
        </p:txBody>
      </p:sp>
      <p:sp>
        <p:nvSpPr>
          <p:cNvPr id="8" name="Comfy explanation 0"/>
          <p:cNvSpPr txBox="1"/>
          <p:nvPr/>
        </p:nvSpPr>
        <p:spPr>
          <a:xfrm>
            <a:off x="21031200" y="877824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Image, video and audio workflows.</a:t>
            </a:r>
          </a:p>
        </p:txBody>
      </p:sp>
      <p:sp>
        <p:nvSpPr>
          <p:cNvPr id="9" name="Comfy capability 1"/>
          <p:cNvSpPr txBox="1"/>
          <p:nvPr/>
        </p:nvSpPr>
        <p:spPr>
          <a:xfrm>
            <a:off x="21031200" y="1060704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Serve separately</a:t>
            </a:r>
          </a:p>
        </p:txBody>
      </p:sp>
      <p:sp>
        <p:nvSpPr>
          <p:cNvPr id="10" name="Comfy explanation 1"/>
          <p:cNvSpPr txBox="1"/>
          <p:nvPr/>
        </p:nvSpPr>
        <p:spPr>
          <a:xfrm>
            <a:off x="21031200" y="1188720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Models run in vLLM-Omni.</a:t>
            </a:r>
          </a:p>
        </p:txBody>
      </p:sp>
      <p:sp>
        <p:nvSpPr>
          <p:cNvPr id="11" name="Comfy capability 2"/>
          <p:cNvSpPr txBox="1"/>
          <p:nvPr/>
        </p:nvSpPr>
        <p:spPr>
          <a:xfrm>
            <a:off x="21031200" y="1371600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Bring H3 into the graph</a:t>
            </a:r>
          </a:p>
        </p:txBody>
      </p:sp>
      <p:sp>
        <p:nvSpPr>
          <p:cNvPr id="12" name="Comfy explanation 2"/>
          <p:cNvSpPr txBox="1"/>
          <p:nvPr/>
        </p:nvSpPr>
        <p:spPr>
          <a:xfrm>
            <a:off x="21031200" y="14996159"/>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Text, keyframes or reference media.</a:t>
            </a:r>
          </a:p>
        </p:txBody>
      </p:sp>
      <p:sp>
        <p:nvSpPr>
          <p:cNvPr id="13" name="Comfy takeaway"/>
          <p:cNvSpPr txBox="1"/>
          <p:nvPr/>
        </p:nvSpPr>
        <p:spPr>
          <a:xfrm>
            <a:off x="1828800" y="18059400"/>
            <a:ext cx="32918400" cy="100584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Compose in ComfyUI. Run models in vLLM-Omni.</a:t>
            </a:r>
          </a:p>
        </p:txBody>
      </p:sp>
      <p:sp>
        <p:nvSpPr>
          <p:cNvPr id="14" name="Comfy sourc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300" b="0">
                <a:solidFill>
                  <a:srgbClr val="313131"/>
                </a:solidFill>
                <a:latin typeface="NVIDIA Sans"/>
              </a:rPr>
              <a:t>Official UI example, not benchmark settings. Upstream main verified 30 Oct 2026 · 08177216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Join the open-source multimodal serving community.</a:t>
            </a:r>
          </a:p>
        </p:txBody>
      </p:sp>
      <p:sp>
        <p:nvSpPr>
          <p:cNvPr id="4" name="Title 3"/>
          <p:cNvSpPr>
            <a:spLocks noGrp="1"/>
          </p:cNvSpPr>
          <p:nvPr>
            <p:ph type="title"/>
          </p:nvPr>
        </p:nvSpPr>
        <p:spPr/>
        <p:txBody>
          <a:bodyPr/>
          <a:lstStyle/>
          <a:p>
            <a:r>
              <a:rPr sz="8800"/>
              <a:t>Build with vLLM-Omni</a:t>
            </a:r>
          </a:p>
        </p:txBody>
      </p:sp>
      <p:sp>
        <p:nvSpPr>
          <p:cNvPr id="5" name="Community invitation"/>
          <p:cNvSpPr txBox="1"/>
          <p:nvPr/>
        </p:nvSpPr>
        <p:spPr>
          <a:xfrm>
            <a:off x="1828800" y="5486400"/>
            <a:ext cx="17830800" cy="5029200"/>
          </a:xfrm>
          <a:prstGeom prst="rect">
            <a:avLst/>
          </a:prstGeom>
          <a:noFill/>
        </p:spPr>
        <p:txBody>
          <a:bodyPr wrap="square" lIns="0" rIns="0" tIns="0" bIns="0">
            <a:spAutoFit/>
          </a:bodyPr>
          <a:lstStyle/>
          <a:p>
            <a:pPr>
              <a:spcBef>
                <a:spcPts val="0"/>
              </a:spcBef>
              <a:spcAft>
                <a:spcPts val="0"/>
              </a:spcAft>
            </a:pPr>
            <a:r>
              <a:rPr sz="10200" b="0">
                <a:solidFill>
                  <a:srgbClr val="000000"/>
                </a:solidFill>
                <a:latin typeface="NVIDIA Sans Medium"/>
              </a:rPr>
              <a:t>Bring a model.</a:t>
            </a:r>
          </a:p>
          <a:p>
            <a:pPr>
              <a:spcBef>
                <a:spcPts val="0"/>
              </a:spcBef>
              <a:spcAft>
                <a:spcPts val="0"/>
              </a:spcAft>
            </a:pPr>
            <a:r>
              <a:rPr sz="10200" b="0">
                <a:solidFill>
                  <a:srgbClr val="000000"/>
                </a:solidFill>
                <a:latin typeface="NVIDIA Sans Medium"/>
              </a:rPr>
              <a:t>Build a workflow.</a:t>
            </a:r>
          </a:p>
        </p:txBody>
      </p:sp>
      <p:sp>
        <p:nvSpPr>
          <p:cNvPr id="6" name="Community contribution"/>
          <p:cNvSpPr txBox="1"/>
          <p:nvPr/>
        </p:nvSpPr>
        <p:spPr>
          <a:xfrm>
            <a:off x="1828800" y="12893040"/>
            <a:ext cx="32918400" cy="109728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Contribute models · Optimize serving · Share creator workflows</a:t>
            </a:r>
          </a:p>
        </p:txBody>
      </p:sp>
      <p:cxnSp>
        <p:nvCxnSpPr>
          <p:cNvPr id="7" name="Closing divider"/>
          <p:cNvCxnSpPr/>
          <p:nvPr/>
        </p:nvCxnSpPr>
        <p:spPr>
          <a:xfrm>
            <a:off x="1828800" y="13807440"/>
            <a:ext cx="32918400" cy="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8" name="Code + contributions"/>
          <p:cNvSpPr txBox="1"/>
          <p:nvPr/>
        </p:nvSpPr>
        <p:spPr>
          <a:xfrm>
            <a:off x="1828800" y="14859000"/>
            <a:ext cx="1600200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Code + contributions</a:t>
            </a:r>
          </a:p>
        </p:txBody>
      </p:sp>
      <p:sp>
        <p:nvSpPr>
          <p:cNvPr id="9" name="Code + contributions URL"/>
          <p:cNvSpPr txBox="1"/>
          <p:nvPr/>
        </p:nvSpPr>
        <p:spPr>
          <a:xfrm>
            <a:off x="1828800" y="16184880"/>
            <a:ext cx="16002000" cy="91440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a:hlinkClick r:id="rId3"/>
              </a:rPr>
              <a:t>github.com/vllm-project/vllm-omni</a:t>
            </a:r>
          </a:p>
        </p:txBody>
      </p:sp>
      <p:sp>
        <p:nvSpPr>
          <p:cNvPr id="10" name="Documentation"/>
          <p:cNvSpPr txBox="1"/>
          <p:nvPr/>
        </p:nvSpPr>
        <p:spPr>
          <a:xfrm>
            <a:off x="20116800" y="14859000"/>
            <a:ext cx="1463040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Documentation</a:t>
            </a:r>
          </a:p>
        </p:txBody>
      </p:sp>
      <p:sp>
        <p:nvSpPr>
          <p:cNvPr id="11" name="Documentation URL"/>
          <p:cNvSpPr txBox="1"/>
          <p:nvPr/>
        </p:nvSpPr>
        <p:spPr>
          <a:xfrm>
            <a:off x="20116800" y="16184880"/>
            <a:ext cx="14630400" cy="91440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a:hlinkClick r:id="rId7"/>
              </a:rPr>
              <a:t>docs.vllm.ai/projects/vllm-omni</a:t>
            </a:r>
          </a:p>
        </p:txBody>
      </p:sp>
      <p:sp>
        <p:nvSpPr>
          <p:cNvPr id="12" name="Developer community"/>
          <p:cNvSpPr txBox="1"/>
          <p:nvPr/>
        </p:nvSpPr>
        <p:spPr>
          <a:xfrm>
            <a:off x="1828800" y="1856232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hlinkClick r:id="rId8"/>
              </a:rPr>
              <a:t>Developer community: slack.vllm.ai · #sig-omni</a:t>
            </a:r>
          </a:p>
        </p:txBody>
      </p:sp>
      <p:pic>
        <p:nvPicPr>
          <p:cNvPr id="13" name="GitHub project QR" descr="vllm-omni-github-qr.png">
            <a:hlinkClick r:id="rId3"/>
          </p:cNvPr>
          <p:cNvPicPr>
            <a:picLocks noChangeAspect="1"/>
          </p:cNvPicPr>
          <p:nvPr/>
        </p:nvPicPr>
        <p:blipFill>
          <a:blip r:embed="rId9"/>
          <a:stretch>
            <a:fillRect/>
          </a:stretch>
        </p:blipFill>
        <p:spPr>
          <a:xfrm>
            <a:off x="21031200" y="5577840"/>
            <a:ext cx="5669280" cy="5669280"/>
          </a:xfrm>
          <a:prstGeom prst="rect">
            <a:avLst/>
          </a:prstGeom>
        </p:spPr>
      </p:pic>
      <p:pic>
        <p:nvPicPr>
          <p:cNvPr id="14" name="Official WeChat QR" descr="vllm-omni-official-wechat.jpg">
            <a:hlinkClick r:id="rId11"/>
          </p:cNvPr>
          <p:cNvPicPr>
            <a:picLocks noChangeAspect="1"/>
          </p:cNvPicPr>
          <p:nvPr/>
        </p:nvPicPr>
        <p:blipFill>
          <a:blip r:embed="rId10"/>
          <a:srcRect l="12801" r="12718" t="33121" b="14997"/>
          <a:stretch>
            <a:fillRect/>
          </a:stretch>
        </p:blipFill>
        <p:spPr>
          <a:xfrm>
            <a:off x="28712160" y="5577840"/>
            <a:ext cx="5669280" cy="5669280"/>
          </a:xfrm>
          <a:prstGeom prst="rect">
            <a:avLst/>
          </a:prstGeom>
        </p:spPr>
      </p:pic>
      <p:sp>
        <p:nvSpPr>
          <p:cNvPr id="15" name="GitHub QR label"/>
          <p:cNvSpPr txBox="1"/>
          <p:nvPr/>
        </p:nvSpPr>
        <p:spPr>
          <a:xfrm>
            <a:off x="20665440" y="4663440"/>
            <a:ext cx="6400800" cy="6400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GitHub project</a:t>
            </a:r>
          </a:p>
        </p:txBody>
      </p:sp>
      <p:sp>
        <p:nvSpPr>
          <p:cNvPr id="16" name="WeChat QR label"/>
          <p:cNvSpPr txBox="1"/>
          <p:nvPr/>
        </p:nvSpPr>
        <p:spPr>
          <a:xfrm>
            <a:off x="28346400" y="4663440"/>
            <a:ext cx="6400800" cy="6400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WeChat community</a:t>
            </a:r>
          </a:p>
        </p:txBody>
      </p:sp>
      <p:sp>
        <p:nvSpPr>
          <p:cNvPr id="17" name="GitHub QR caption"/>
          <p:cNvSpPr txBox="1"/>
          <p:nvPr/>
        </p:nvSpPr>
        <p:spPr>
          <a:xfrm>
            <a:off x="20391120" y="11521440"/>
            <a:ext cx="6949440" cy="685800"/>
          </a:xfrm>
          <a:prstGeom prst="rect">
            <a:avLst/>
          </a:prstGeom>
          <a:noFill/>
        </p:spPr>
        <p:txBody>
          <a:bodyPr wrap="square" lIns="0" rIns="0" tIns="0" bIns="0">
            <a:spAutoFit/>
          </a:bodyPr>
          <a:lstStyle/>
          <a:p>
            <a:pPr algn="ctr">
              <a:spcBef>
                <a:spcPts val="0"/>
              </a:spcBef>
              <a:spcAft>
                <a:spcPts val="0"/>
              </a:spcAft>
            </a:pPr>
            <a:r>
              <a:rPr sz="2600" b="0">
                <a:solidFill>
                  <a:srgbClr val="000000"/>
                </a:solidFill>
                <a:latin typeface="NVIDIA Sans"/>
              </a:rPr>
              <a:t>Code + contributions</a:t>
            </a:r>
          </a:p>
        </p:txBody>
      </p:sp>
      <p:sp>
        <p:nvSpPr>
          <p:cNvPr id="18" name="WeChat QR expiry"/>
          <p:cNvSpPr txBox="1"/>
          <p:nvPr/>
        </p:nvSpPr>
        <p:spPr>
          <a:xfrm>
            <a:off x="28163520" y="11521440"/>
            <a:ext cx="6766560" cy="68580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Valid before 2 Nov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19</a:t>
            </a:fld>
            <a:endParaRPr lang="en-US"/>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27</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28</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29</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37</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