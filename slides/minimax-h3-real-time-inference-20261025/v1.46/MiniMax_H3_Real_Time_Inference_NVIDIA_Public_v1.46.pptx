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7" r:id="rId89"/>
    <p:sldId id="348" r:id="rId90"/>
    <p:sldId id="364" r:id="rId48"/>
    <p:sldId id="363" r:id="rId47"/>
    <p:sldId id="353" r:id="rId95"/>
    <p:sldId id="354" r:id="rId96"/>
    <p:sldId id="355" r:id="rId97"/>
    <p:sldId id="361" r:id="rId45"/>
    <p:sldId id="368" r:id="rId51"/>
    <p:sldId id="369" r:id="rId49"/>
    <p:sldId id="357" r:id="rId99"/>
    <p:sldId id="370" r:id="rId44"/>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3" Type="http://schemas.openxmlformats.org/officeDocument/2006/relationships/slide" Target="slides/slide19.xml"/><Relationship Id="rId44" Type="http://schemas.openxmlformats.org/officeDocument/2006/relationships/slide" Target="slides/slide18.xml"/><Relationship Id="rId45" Type="http://schemas.openxmlformats.org/officeDocument/2006/relationships/slide" Target="slides/slide14.xml"/><Relationship Id="rId47" Type="http://schemas.openxmlformats.org/officeDocument/2006/relationships/slide" Target="slides/slide10.xml"/><Relationship Id="rId48" Type="http://schemas.openxmlformats.org/officeDocument/2006/relationships/slide" Target="slides/slide9.xml"/><Relationship Id="rId49" Type="http://schemas.openxmlformats.org/officeDocument/2006/relationships/slide" Target="slides/slide16.xml"/><Relationship Id="rId51"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9" Type="http://schemas.openxmlformats.org/officeDocument/2006/relationships/slide" Target="slides/slide7.xml"/><Relationship Id="rId90" Type="http://schemas.openxmlformats.org/officeDocument/2006/relationships/slide" Target="slides/slide8.xml"/><Relationship Id="rId95" Type="http://schemas.openxmlformats.org/officeDocument/2006/relationships/slide" Target="slides/slide11.xml"/><Relationship Id="rId96" Type="http://schemas.openxmlformats.org/officeDocument/2006/relationships/slide" Target="slides/slide12.xml"/><Relationship Id="rId97" Type="http://schemas.openxmlformats.org/officeDocument/2006/relationships/slide" Target="slides/slide13.xml"/><Relationship Id="rId99" Type="http://schemas.openxmlformats.org/officeDocument/2006/relationships/slide" Target="slides/slide17.xml"/><Relationship Id="rId102" Type="http://schemas.openxmlformats.org/officeDocument/2006/relationships/slide" Target="slides/slide20.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6.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https://lishunyang12.github.io/fasth3-omni-evaluation-20261018/slides/minimax-h3-real-time-inference-20261025/v1.46/baseline-breakdown.html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question translated from the recorded demo. The reply is the LLM preview, not a verified transcript of generated speech.</a:t>
            </a:r>
          </a:p>
          <a:p>
            <a:r>
              <a:t>The image is the actual input reference.png read by the demo server from workload.json and sent to H3 as an input reference.</a:t>
            </a:r>
          </a:p>
          <a:p>
            <a:r>
              <a:t>Reference image SHA256: 560c094f9900ea762227f84481ca8a2f73adac69963e0d1a78563bec1844d6b8</a:t>
            </a:r>
          </a:p>
          <a:p>
            <a:r>
              <a:t>The English H3 prompt, model configuration and following recorded video are unchanged.</a:t>
            </a:r>
          </a:p>
          <a:p>
            <a:r>
              <a:t>The slide omits low-level AV latent-tail implementation details.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17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Baseline: Nsight Systems Breakdown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Original Ref2VA · 50 evaluations · BF16 · dense attention · 8 × SM120 GPUs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6</a:t>
            </a:r>
          </a:p>
        </p:txBody>
      </p:sp>
      <p:sp>
        <p:nvSpPr>
          <p:cNvPr id="5" name="BASELINE E2E card"/>
          <p:cNvSpPr/>
          <p:nvPr/>
        </p:nvSpPr>
        <p:spPr>
          <a:xfrm>
            <a:off x="182880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E2E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BASELINE E2E</a:t>
            </a:r>
          </a:p>
        </p:txBody>
      </p:sp>
      <p:sp>
        <p:nvSpPr>
          <p:cNvPr id="7" name="BASELINE E2E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213.402 s</a:t>
            </a:r>
          </a:p>
        </p:txBody>
      </p:sp>
      <p:sp>
        <p:nvSpPr>
          <p:cNvPr id="8" name="BASELINE E2E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Complete-MP4 HTTP median · n = 2</a:t>
            </a:r>
          </a:p>
        </p:txBody>
      </p:sp>
      <p:sp>
        <p:nvSpPr>
          <p:cNvPr id="9" name="PROFILED REQUEST card"/>
          <p:cNvSpPr/>
          <p:nvPr/>
        </p:nvSpPr>
        <p:spPr>
          <a:xfrm>
            <a:off x="1298448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FILED REQUEST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PROFILED REQUEST</a:t>
            </a:r>
          </a:p>
        </p:txBody>
      </p:sp>
      <p:sp>
        <p:nvSpPr>
          <p:cNvPr id="11" name="PROFILED REQUEST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214.968 s</a:t>
            </a:r>
          </a:p>
        </p:txBody>
      </p:sp>
      <p:sp>
        <p:nvSpPr>
          <p:cNvPr id="12" name="PROFILED REQUEST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Separate Nsight capture · n = 1</a:t>
            </a:r>
          </a:p>
        </p:txBody>
      </p:sp>
      <p:sp>
        <p:nvSpPr>
          <p:cNvPr id="13" name="GENERATED VIDEO card"/>
          <p:cNvSpPr/>
          <p:nvPr/>
        </p:nvSpPr>
        <p:spPr>
          <a:xfrm>
            <a:off x="2414016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ENERATED VIDEO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GENERATED VIDEO</a:t>
            </a:r>
          </a:p>
        </p:txBody>
      </p:sp>
      <p:sp>
        <p:nvSpPr>
          <p:cNvPr id="15" name="GENERATED VIDEO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960 × 544</a:t>
            </a:r>
          </a:p>
        </p:txBody>
      </p:sp>
      <p:sp>
        <p:nvSpPr>
          <p:cNvPr id="16" name="GENERATED VIDEO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124 frames · 24 FPS · 5.167 s</a:t>
            </a:r>
          </a:p>
        </p:txBody>
      </p:sp>
      <p:sp>
        <p:nvSpPr>
          <p:cNvPr id="17" name="Config heading"/>
          <p:cNvSpPr txBox="1"/>
          <p:nvPr/>
        </p:nvSpPr>
        <p:spPr>
          <a:xfrm>
            <a:off x="1828800" y="8275320"/>
            <a:ext cx="13716000" cy="73152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Reference configuration</a:t>
            </a:r>
          </a:p>
        </p:txBody>
      </p:sp>
      <p:sp>
        <p:nvSpPr>
          <p:cNvPr id="18" name="Config 0"/>
          <p:cNvSpPr txBox="1"/>
          <p:nvPr/>
        </p:nvSpPr>
        <p:spPr>
          <a:xfrm>
            <a:off x="1828800" y="9326880"/>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PRO 5000 reference · 73,415 MiB / GPU</a:t>
            </a:r>
          </a:p>
        </p:txBody>
      </p:sp>
      <p:sp>
        <p:nvSpPr>
          <p:cNvPr id="19" name="Config 1"/>
          <p:cNvSpPr txBox="1"/>
          <p:nvPr/>
        </p:nvSpPr>
        <p:spPr>
          <a:xfrm>
            <a:off x="1828800" y="10076688"/>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DiT TP1 / Ulysses8 · text TP8 · VAE tiles8</a:t>
            </a:r>
          </a:p>
        </p:txBody>
      </p:sp>
      <p:sp>
        <p:nvSpPr>
          <p:cNvPr id="20" name="Config 2"/>
          <p:cNvSpPr txBox="1"/>
          <p:nvPr/>
        </p:nvSpPr>
        <p:spPr>
          <a:xfrm>
            <a:off x="1828800" y="10826496"/>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Local NCCL · RDMA disabled</a:t>
            </a:r>
          </a:p>
        </p:txBody>
      </p:sp>
      <p:sp>
        <p:nvSpPr>
          <p:cNvPr id="21" name="Config 3"/>
          <p:cNvSpPr txBox="1"/>
          <p:nvPr/>
        </p:nvSpPr>
        <p:spPr>
          <a:xfrm>
            <a:off x="1828800" y="11576304"/>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Native VAE · FP16 decode autocast</a:t>
            </a:r>
          </a:p>
        </p:txBody>
      </p:sp>
      <p:sp>
        <p:nvSpPr>
          <p:cNvPr id="22" name="Config 4"/>
          <p:cNvSpPr txBox="1"/>
          <p:nvPr/>
        </p:nvSpPr>
        <p:spPr>
          <a:xfrm>
            <a:off x="1828800" y="12326111"/>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Exact AdaLN table resident before timing</a:t>
            </a:r>
          </a:p>
        </p:txBody>
      </p:sp>
      <p:sp>
        <p:nvSpPr>
          <p:cNvPr id="23" name="Config 5"/>
          <p:cNvSpPr txBox="1"/>
          <p:nvPr/>
        </p:nvSpPr>
        <p:spPr>
          <a:xfrm>
            <a:off x="1828800" y="13075919"/>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Fixed inputs / seed 43 · warmup excluded</a:t>
            </a:r>
          </a:p>
        </p:txBody>
      </p:sp>
      <p:sp>
        <p:nvSpPr>
          <p:cNvPr id="24" name="Stage heading"/>
          <p:cNvSpPr txBox="1"/>
          <p:nvPr/>
        </p:nvSpPr>
        <p:spPr>
          <a:xfrm>
            <a:off x="1828800" y="14310360"/>
            <a:ext cx="13990320" cy="73152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CPU stage ranges · profiled request</a:t>
            </a:r>
          </a:p>
        </p:txBody>
      </p:sp>
      <p:sp>
        <p:nvSpPr>
          <p:cNvPr id="25" name="Stage background 0"/>
          <p:cNvSpPr/>
          <p:nvPr/>
        </p:nvSpPr>
        <p:spPr>
          <a:xfrm>
            <a:off x="1828800" y="15224759"/>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0"/>
          <p:cNvSpPr txBox="1"/>
          <p:nvPr/>
        </p:nvSpPr>
        <p:spPr>
          <a:xfrm>
            <a:off x="2011680" y="1536191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Encoder</a:t>
            </a:r>
          </a:p>
        </p:txBody>
      </p:sp>
      <p:sp>
        <p:nvSpPr>
          <p:cNvPr id="27" name="Stage value 0"/>
          <p:cNvSpPr txBox="1"/>
          <p:nvPr/>
        </p:nvSpPr>
        <p:spPr>
          <a:xfrm>
            <a:off x="11338560" y="1536191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7.272 s</a:t>
            </a:r>
          </a:p>
        </p:txBody>
      </p:sp>
      <p:sp>
        <p:nvSpPr>
          <p:cNvPr id="28" name="Stage background 1"/>
          <p:cNvSpPr/>
          <p:nvPr/>
        </p:nvSpPr>
        <p:spPr>
          <a:xfrm>
            <a:off x="1828800" y="16047719"/>
            <a:ext cx="13898880" cy="7315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1"/>
          <p:cNvSpPr txBox="1"/>
          <p:nvPr/>
        </p:nvSpPr>
        <p:spPr>
          <a:xfrm>
            <a:off x="2011680" y="16184879"/>
            <a:ext cx="941832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DiT</a:t>
            </a:r>
          </a:p>
        </p:txBody>
      </p:sp>
      <p:sp>
        <p:nvSpPr>
          <p:cNvPr id="30" name="Stage value 1"/>
          <p:cNvSpPr txBox="1"/>
          <p:nvPr/>
        </p:nvSpPr>
        <p:spPr>
          <a:xfrm>
            <a:off x="11338560" y="1618487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204.814 s</a:t>
            </a:r>
          </a:p>
        </p:txBody>
      </p:sp>
      <p:sp>
        <p:nvSpPr>
          <p:cNvPr id="31" name="Stage background 2"/>
          <p:cNvSpPr/>
          <p:nvPr/>
        </p:nvSpPr>
        <p:spPr>
          <a:xfrm>
            <a:off x="1828800" y="16870680"/>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ge 2"/>
          <p:cNvSpPr txBox="1"/>
          <p:nvPr/>
        </p:nvSpPr>
        <p:spPr>
          <a:xfrm>
            <a:off x="2011680" y="1700783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VAE / audio decode</a:t>
            </a:r>
          </a:p>
        </p:txBody>
      </p:sp>
      <p:sp>
        <p:nvSpPr>
          <p:cNvPr id="33" name="Stage value 2"/>
          <p:cNvSpPr txBox="1"/>
          <p:nvPr/>
        </p:nvSpPr>
        <p:spPr>
          <a:xfrm>
            <a:off x="11338560" y="1700783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1.742 s</a:t>
            </a:r>
          </a:p>
        </p:txBody>
      </p:sp>
      <p:sp>
        <p:nvSpPr>
          <p:cNvPr id="34" name="Stage background 3"/>
          <p:cNvSpPr/>
          <p:nvPr/>
        </p:nvSpPr>
        <p:spPr>
          <a:xfrm>
            <a:off x="1828800" y="17693639"/>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ge 3"/>
          <p:cNvSpPr txBox="1"/>
          <p:nvPr/>
        </p:nvSpPr>
        <p:spPr>
          <a:xfrm>
            <a:off x="2011680" y="1783079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Other / response</a:t>
            </a:r>
          </a:p>
        </p:txBody>
      </p:sp>
      <p:sp>
        <p:nvSpPr>
          <p:cNvPr id="36" name="Stage value 3"/>
          <p:cNvSpPr txBox="1"/>
          <p:nvPr/>
        </p:nvSpPr>
        <p:spPr>
          <a:xfrm>
            <a:off x="11338560" y="1783079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1.140 s</a:t>
            </a:r>
          </a:p>
        </p:txBody>
      </p:sp>
      <p:sp>
        <p:nvSpPr>
          <p:cNvPr id="37" name="GPU heading"/>
          <p:cNvSpPr txBox="1"/>
          <p:nvPr/>
        </p:nvSpPr>
        <p:spPr>
          <a:xfrm>
            <a:off x="16824960" y="8275320"/>
            <a:ext cx="17922240" cy="73152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GPU work by operator</a:t>
            </a:r>
          </a:p>
        </p:txBody>
      </p:sp>
      <p:sp>
        <p:nvSpPr>
          <p:cNvPr id="38" name="GPU scope"/>
          <p:cNvSpPr txBox="1"/>
          <p:nvPr/>
        </p:nvSpPr>
        <p:spPr>
          <a:xfrm>
            <a:off x="16824960" y="9235440"/>
            <a:ext cx="17922240" cy="64008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Accumulated CUDA durations, averaged over 8 GPUs</a:t>
            </a:r>
          </a:p>
        </p:txBody>
      </p:sp>
      <p:sp>
        <p:nvSpPr>
          <p:cNvPr id="39" name="Operator table header"/>
          <p:cNvSpPr/>
          <p:nvPr/>
        </p:nvSpPr>
        <p:spPr>
          <a:xfrm>
            <a:off x="16824960" y="10104120"/>
            <a:ext cx="17922240" cy="86868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eader Operator"/>
          <p:cNvSpPr txBox="1"/>
          <p:nvPr/>
        </p:nvSpPr>
        <p:spPr>
          <a:xfrm>
            <a:off x="17099280" y="10314432"/>
            <a:ext cx="1024128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Operator</a:t>
            </a:r>
          </a:p>
        </p:txBody>
      </p:sp>
      <p:sp>
        <p:nvSpPr>
          <p:cNvPr id="41" name="Header s / GPU"/>
          <p:cNvSpPr txBox="1"/>
          <p:nvPr/>
        </p:nvSpPr>
        <p:spPr>
          <a:xfrm>
            <a:off x="27614880" y="10314432"/>
            <a:ext cx="36576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s / GPU</a:t>
            </a:r>
          </a:p>
        </p:txBody>
      </p:sp>
      <p:sp>
        <p:nvSpPr>
          <p:cNvPr id="42" name="Header Share"/>
          <p:cNvSpPr txBox="1"/>
          <p:nvPr/>
        </p:nvSpPr>
        <p:spPr>
          <a:xfrm>
            <a:off x="31821119" y="10314432"/>
            <a:ext cx="27432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Share</a:t>
            </a:r>
          </a:p>
        </p:txBody>
      </p:sp>
      <p:sp>
        <p:nvSpPr>
          <p:cNvPr id="43" name="Operator background 0"/>
          <p:cNvSpPr/>
          <p:nvPr/>
        </p:nvSpPr>
        <p:spPr>
          <a:xfrm>
            <a:off x="16824960" y="11128248"/>
            <a:ext cx="17922240" cy="786384"/>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perator 0"/>
          <p:cNvSpPr txBox="1"/>
          <p:nvPr/>
        </p:nvSpPr>
        <p:spPr>
          <a:xfrm>
            <a:off x="17099280" y="11265407"/>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NCCL (includes waiting)</a:t>
            </a:r>
          </a:p>
        </p:txBody>
      </p:sp>
      <p:sp>
        <p:nvSpPr>
          <p:cNvPr id="45" name="Operator seconds 0"/>
          <p:cNvSpPr txBox="1"/>
          <p:nvPr/>
        </p:nvSpPr>
        <p:spPr>
          <a:xfrm>
            <a:off x="27614880" y="11265407"/>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122.182</a:t>
            </a:r>
          </a:p>
        </p:txBody>
      </p:sp>
      <p:sp>
        <p:nvSpPr>
          <p:cNvPr id="46" name="Operator share 0"/>
          <p:cNvSpPr txBox="1"/>
          <p:nvPr/>
        </p:nvSpPr>
        <p:spPr>
          <a:xfrm>
            <a:off x="31821119" y="11265407"/>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57.21%</a:t>
            </a:r>
          </a:p>
        </p:txBody>
      </p:sp>
      <p:sp>
        <p:nvSpPr>
          <p:cNvPr id="47" name="Operator 1"/>
          <p:cNvSpPr txBox="1"/>
          <p:nvPr/>
        </p:nvSpPr>
        <p:spPr>
          <a:xfrm>
            <a:off x="17099280" y="12079224"/>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Attention</a:t>
            </a:r>
          </a:p>
        </p:txBody>
      </p:sp>
      <p:sp>
        <p:nvSpPr>
          <p:cNvPr id="48" name="Operator seconds 1"/>
          <p:cNvSpPr txBox="1"/>
          <p:nvPr/>
        </p:nvSpPr>
        <p:spPr>
          <a:xfrm>
            <a:off x="27614880" y="12079224"/>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47.105</a:t>
            </a:r>
          </a:p>
        </p:txBody>
      </p:sp>
      <p:sp>
        <p:nvSpPr>
          <p:cNvPr id="49" name="Operator share 1"/>
          <p:cNvSpPr txBox="1"/>
          <p:nvPr/>
        </p:nvSpPr>
        <p:spPr>
          <a:xfrm>
            <a:off x="31821119" y="12079224"/>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22.06%</a:t>
            </a:r>
          </a:p>
        </p:txBody>
      </p:sp>
      <p:sp>
        <p:nvSpPr>
          <p:cNvPr id="50" name="Operator background 2"/>
          <p:cNvSpPr/>
          <p:nvPr/>
        </p:nvSpPr>
        <p:spPr>
          <a:xfrm>
            <a:off x="16824960" y="12755880"/>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perator 2"/>
          <p:cNvSpPr txBox="1"/>
          <p:nvPr/>
        </p:nvSpPr>
        <p:spPr>
          <a:xfrm>
            <a:off x="17099280" y="12893039"/>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GEMM</a:t>
            </a:r>
          </a:p>
        </p:txBody>
      </p:sp>
      <p:sp>
        <p:nvSpPr>
          <p:cNvPr id="52" name="Operator seconds 2"/>
          <p:cNvSpPr txBox="1"/>
          <p:nvPr/>
        </p:nvSpPr>
        <p:spPr>
          <a:xfrm>
            <a:off x="27614880" y="12893039"/>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39.650</a:t>
            </a:r>
          </a:p>
        </p:txBody>
      </p:sp>
      <p:sp>
        <p:nvSpPr>
          <p:cNvPr id="53" name="Operator share 2"/>
          <p:cNvSpPr txBox="1"/>
          <p:nvPr/>
        </p:nvSpPr>
        <p:spPr>
          <a:xfrm>
            <a:off x="31821119" y="12893039"/>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18.57%</a:t>
            </a:r>
          </a:p>
        </p:txBody>
      </p:sp>
      <p:sp>
        <p:nvSpPr>
          <p:cNvPr id="54" name="Operator 3"/>
          <p:cNvSpPr txBox="1"/>
          <p:nvPr/>
        </p:nvSpPr>
        <p:spPr>
          <a:xfrm>
            <a:off x="17099280" y="13706855"/>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Norm / activation / elementwise</a:t>
            </a:r>
          </a:p>
        </p:txBody>
      </p:sp>
      <p:sp>
        <p:nvSpPr>
          <p:cNvPr id="55" name="Operator seconds 3"/>
          <p:cNvSpPr txBox="1"/>
          <p:nvPr/>
        </p:nvSpPr>
        <p:spPr>
          <a:xfrm>
            <a:off x="27614880" y="13706855"/>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2.288</a:t>
            </a:r>
          </a:p>
        </p:txBody>
      </p:sp>
      <p:sp>
        <p:nvSpPr>
          <p:cNvPr id="56" name="Operator share 3"/>
          <p:cNvSpPr txBox="1"/>
          <p:nvPr/>
        </p:nvSpPr>
        <p:spPr>
          <a:xfrm>
            <a:off x="31821119" y="13706855"/>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1.07%</a:t>
            </a:r>
          </a:p>
        </p:txBody>
      </p:sp>
      <p:sp>
        <p:nvSpPr>
          <p:cNvPr id="57" name="Operator background 4"/>
          <p:cNvSpPr/>
          <p:nvPr/>
        </p:nvSpPr>
        <p:spPr>
          <a:xfrm>
            <a:off x="16824960" y="14383512"/>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perator 4"/>
          <p:cNvSpPr txBox="1"/>
          <p:nvPr/>
        </p:nvSpPr>
        <p:spPr>
          <a:xfrm>
            <a:off x="17099280" y="14520672"/>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Layout / device copies</a:t>
            </a:r>
          </a:p>
        </p:txBody>
      </p:sp>
      <p:sp>
        <p:nvSpPr>
          <p:cNvPr id="59" name="Operator seconds 4"/>
          <p:cNvSpPr txBox="1"/>
          <p:nvPr/>
        </p:nvSpPr>
        <p:spPr>
          <a:xfrm>
            <a:off x="27614880" y="14520672"/>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1.929</a:t>
            </a:r>
          </a:p>
        </p:txBody>
      </p:sp>
      <p:sp>
        <p:nvSpPr>
          <p:cNvPr id="60" name="Operator share 4"/>
          <p:cNvSpPr txBox="1"/>
          <p:nvPr/>
        </p:nvSpPr>
        <p:spPr>
          <a:xfrm>
            <a:off x="31821119" y="14520672"/>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0.90%</a:t>
            </a:r>
          </a:p>
        </p:txBody>
      </p:sp>
      <p:sp>
        <p:nvSpPr>
          <p:cNvPr id="61" name="Operator 5"/>
          <p:cNvSpPr txBox="1"/>
          <p:nvPr/>
        </p:nvSpPr>
        <p:spPr>
          <a:xfrm>
            <a:off x="17099280" y="15334488"/>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CUDA memcpy / memset</a:t>
            </a:r>
          </a:p>
        </p:txBody>
      </p:sp>
      <p:sp>
        <p:nvSpPr>
          <p:cNvPr id="62" name="Operator seconds 5"/>
          <p:cNvSpPr txBox="1"/>
          <p:nvPr/>
        </p:nvSpPr>
        <p:spPr>
          <a:xfrm>
            <a:off x="27614880" y="15334488"/>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0.064</a:t>
            </a:r>
          </a:p>
        </p:txBody>
      </p:sp>
      <p:sp>
        <p:nvSpPr>
          <p:cNvPr id="63" name="Operator share 5"/>
          <p:cNvSpPr txBox="1"/>
          <p:nvPr/>
        </p:nvSpPr>
        <p:spPr>
          <a:xfrm>
            <a:off x="31821119" y="15334488"/>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0.03%</a:t>
            </a:r>
          </a:p>
        </p:txBody>
      </p:sp>
      <p:sp>
        <p:nvSpPr>
          <p:cNvPr id="64" name="Operator background 6"/>
          <p:cNvSpPr/>
          <p:nvPr/>
        </p:nvSpPr>
        <p:spPr>
          <a:xfrm>
            <a:off x="16824960" y="16011143"/>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perator 6"/>
          <p:cNvSpPr txBox="1"/>
          <p:nvPr/>
        </p:nvSpPr>
        <p:spPr>
          <a:xfrm>
            <a:off x="17099280" y="16148304"/>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Convolution</a:t>
            </a:r>
          </a:p>
        </p:txBody>
      </p:sp>
      <p:sp>
        <p:nvSpPr>
          <p:cNvPr id="66" name="Operator seconds 6"/>
          <p:cNvSpPr txBox="1"/>
          <p:nvPr/>
        </p:nvSpPr>
        <p:spPr>
          <a:xfrm>
            <a:off x="27614880" y="16148304"/>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0.192</a:t>
            </a:r>
          </a:p>
        </p:txBody>
      </p:sp>
      <p:sp>
        <p:nvSpPr>
          <p:cNvPr id="67" name="Operator share 6"/>
          <p:cNvSpPr txBox="1"/>
          <p:nvPr/>
        </p:nvSpPr>
        <p:spPr>
          <a:xfrm>
            <a:off x="31821119" y="16148304"/>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0.09%</a:t>
            </a:r>
          </a:p>
        </p:txBody>
      </p:sp>
      <p:sp>
        <p:nvSpPr>
          <p:cNvPr id="68" name="Operator 7"/>
          <p:cNvSpPr txBox="1"/>
          <p:nvPr/>
        </p:nvSpPr>
        <p:spPr>
          <a:xfrm>
            <a:off x="17099280" y="16962120"/>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Other kernels</a:t>
            </a:r>
          </a:p>
        </p:txBody>
      </p:sp>
      <p:sp>
        <p:nvSpPr>
          <p:cNvPr id="69" name="Operator seconds 7"/>
          <p:cNvSpPr txBox="1"/>
          <p:nvPr/>
        </p:nvSpPr>
        <p:spPr>
          <a:xfrm>
            <a:off x="27614880" y="16962120"/>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0.143</a:t>
            </a:r>
          </a:p>
        </p:txBody>
      </p:sp>
      <p:sp>
        <p:nvSpPr>
          <p:cNvPr id="70" name="Operator share 7"/>
          <p:cNvSpPr txBox="1"/>
          <p:nvPr/>
        </p:nvSpPr>
        <p:spPr>
          <a:xfrm>
            <a:off x="31821119" y="16962120"/>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0.07%</a:t>
            </a:r>
          </a:p>
        </p:txBody>
      </p:sp>
      <p:sp>
        <p:nvSpPr>
          <p:cNvPr id="71" name="NCCL qualification"/>
          <p:cNvSpPr txBox="1"/>
          <p:nvPr/>
        </p:nvSpPr>
        <p:spPr>
          <a:xfrm>
            <a:off x="16824960" y="17922240"/>
            <a:ext cx="17922240" cy="109728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NCCL includes synchronization and waiting.</a:t>
            </a:r>
          </a:p>
          <a:p>
            <a:pPr>
              <a:spcBef>
                <a:spcPts val="0"/>
              </a:spcBef>
              <a:spcAft>
                <a:spcPts val="0"/>
              </a:spcAft>
            </a:pPr>
            <a:r>
              <a:rPr sz="2700" b="1">
                <a:solidFill>
                  <a:srgbClr val="17211A"/>
                </a:solidFill>
                <a:latin typeface="NVIDIA Sans"/>
              </a:rPr>
              <a:t>Shares exclude CPU work / GPU idle gaps.</a:t>
            </a:r>
          </a:p>
        </p:txBody>
      </p:sp>
      <p:sp>
        <p:nvSpPr>
          <p:cNvPr id="72" name="Accounting note"/>
          <p:cNvSpPr txBox="1"/>
          <p:nvPr/>
        </p:nvSpPr>
        <p:spPr>
          <a:xfrm>
            <a:off x="1828800" y="19248120"/>
            <a:ext cx="31729680" cy="54864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Host ranges and accumulated GPU work are different views; neither is a GPU critical-path decomposition.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9</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11</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17 are distinct workloads.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12</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17</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Example question"/>
          <p:cNvSpPr/>
          <p:nvPr/>
        </p:nvSpPr>
        <p:spPr>
          <a:xfrm>
            <a:off x="1828800" y="4526280"/>
            <a:ext cx="32918400" cy="22402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376B18"/>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17211A"/>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Speech → text</a:t>
            </a:r>
          </a:p>
          <a:p>
            <a:pPr>
              <a:spcBef>
                <a:spcPts val="0"/>
              </a:spcBef>
              <a:spcAft>
                <a:spcPts val="0"/>
              </a:spcAft>
            </a:pPr>
            <a:r>
              <a:rPr sz="2800" b="0">
                <a:solidFill>
                  <a:srgbClr val="17211A"/>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Text → short reply</a:t>
            </a:r>
          </a:p>
          <a:p>
            <a:pPr>
              <a:spcBef>
                <a:spcPts val="0"/>
              </a:spcBef>
              <a:spcAft>
                <a:spcPts val="0"/>
              </a:spcAft>
            </a:pPr>
            <a:r>
              <a:rPr sz="2800" b="0">
                <a:solidFill>
                  <a:srgbClr val="17211A"/>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Native audio + video</a:t>
            </a:r>
          </a:p>
          <a:p>
            <a:pPr>
              <a:spcBef>
                <a:spcPts val="0"/>
              </a:spcBef>
              <a:spcAft>
                <a:spcPts val="0"/>
              </a:spcAft>
            </a:pPr>
            <a:r>
              <a:rPr sz="2800" b="0">
                <a:solidFill>
                  <a:srgbClr val="17211A"/>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LLM reply text</a:t>
            </a:r>
          </a:p>
        </p:txBody>
      </p:sp>
      <p:sp>
        <p:nvSpPr>
          <p:cNvPr id="28" name="Reply quote"/>
          <p:cNvSpPr/>
          <p:nvPr/>
        </p:nvSpPr>
        <p:spPr>
          <a:xfrm>
            <a:off x="1828800" y="11887200"/>
            <a:ext cx="173736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“Hi, I’m Miles. I help with</a:t>
            </a:r>
          </a:p>
          <a:p>
            <a:pPr>
              <a:spcBef>
                <a:spcPts val="0"/>
              </a:spcBef>
              <a:spcAft>
                <a:spcPts val="0"/>
              </a:spcAft>
            </a:pPr>
            <a:r>
              <a:rPr sz="3800" b="1">
                <a:solidFill>
                  <a:srgbClr val="17211A"/>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The man says exactly this English dialogue</a:t>
            </a:r>
          </a:p>
          <a:p>
            <a:pPr>
              <a:spcBef>
                <a:spcPts val="0"/>
              </a:spcBef>
              <a:spcAft>
                <a:spcPts val="0"/>
              </a:spcAft>
            </a:pPr>
            <a:r>
              <a:rPr sz="2800" b="0">
                <a:solidFill>
                  <a:srgbClr val="17211A"/>
                </a:solidFill>
                <a:latin typeface="NVIDIA Sans"/>
              </a:rPr>
              <a:t>in his reference voice:</a:t>
            </a:r>
          </a:p>
          <a:p>
            <a:pPr>
              <a:spcBef>
                <a:spcPts val="0"/>
              </a:spcBef>
              <a:spcAft>
                <a:spcPts val="0"/>
              </a:spcAft>
            </a:pPr>
            <a:r>
              <a:rPr sz="2800" b="0">
                <a:solidFill>
                  <a:srgbClr val="17211A"/>
                </a:solidFill>
                <a:latin typeface="NVIDIA Sans"/>
              </a:rPr>
              <a:t>"Hi, I'm Miles. I help with simple, clear answers."</a:t>
            </a:r>
          </a:p>
          <a:p>
            <a:pPr>
              <a:spcBef>
                <a:spcPts val="0"/>
              </a:spcBef>
              <a:spcAft>
                <a:spcPts val="0"/>
              </a:spcAft>
            </a:pPr>
            <a:r>
              <a:rPr sz="2800" b="0">
                <a:solidFill>
                  <a:srgbClr val="17211A"/>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Reference image</a:t>
            </a:r>
          </a:p>
        </p:txBody>
      </p:sp>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52604F"/>
                </a:solidFill>
                <a:latin typeface="NVIDIA Sans"/>
              </a:rPr>
              <a:t>Input portrait supplied to H3</a:t>
            </a:r>
          </a:p>
        </p:txBody>
      </p:sp>
      <p:pic>
        <p:nvPicPr>
          <p:cNvPr id="36" name="Picture 35" descr="reference.png"/>
          <p:cNvPicPr>
            <a:picLocks noChangeAspect="1"/>
          </p:cNvPicPr>
          <p:nvPr/>
        </p:nvPicPr>
        <p:blipFill>
          <a:blip r:embed="rId5"/>
          <a:stretch>
            <a:fillRect/>
          </a:stretch>
        </p:blipFill>
        <p:spPr>
          <a:xfrm>
            <a:off x="21488400" y="11795760"/>
            <a:ext cx="12801600" cy="7315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