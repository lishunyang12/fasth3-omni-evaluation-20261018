
<file path=[Content_Types].xml><?xml version="1.0" encoding="utf-8"?>
<Types xmlns="http://schemas.openxmlformats.org/package/2006/content-types">
  <Default Extension="fntdata" ContentType="application/x-fontdata"/>
  <Default Extension="jpeg" ContentType="image/jpeg"/>
  <Default Extension="jpg" ContentType="image/jpeg"/>
  <Default Extension="mp4" ContentType="video/mp4"/>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4.xml" ContentType="application/vnd.openxmlformats-officedocument.drawingml.chart+xml"/>
  <Override PartName="/ppt/charts/colors4.xml" ContentType="application/vnd.ms-office.chartcolorstyle+xml"/>
  <Override PartName="/ppt/charts/style4.xml" ContentType="application/vnd.ms-office.chartstyle+xml"/>
  <Override PartName="/ppt/handoutMasters/handoutMaster1.xml" ContentType="application/vnd.openxmlformats-officedocument.presentationml.handoutMaster+xml"/>
  <Override PartName="/ppt/media/h3vector1.svg" ContentType="image/svg+xml"/>
  <Override PartName="/ppt/media/h3vector10.svg" ContentType="image/svg+xml"/>
  <Override PartName="/ppt/media/h3vector11.svg" ContentType="image/svg+xml"/>
  <Override PartName="/ppt/media/h3vector12.svg" ContentType="image/svg+xml"/>
  <Override PartName="/ppt/media/h3vector13.svg" ContentType="image/svg+xml"/>
  <Override PartName="/ppt/media/h3vector14.svg" ContentType="image/svg+xml"/>
  <Override PartName="/ppt/media/h3vector15.svg" ContentType="image/svg+xml"/>
  <Override PartName="/ppt/media/h3vector16.svg" ContentType="image/svg+xml"/>
  <Override PartName="/ppt/media/h3vector2.svg" ContentType="image/svg+xml"/>
  <Override PartName="/ppt/media/h3vector3.svg" ContentType="image/svg+xml"/>
  <Override PartName="/ppt/media/h3vector4.svg" ContentType="image/svg+xml"/>
  <Override PartName="/ppt/media/h3vector5.svg" ContentType="image/svg+xml"/>
  <Override PartName="/ppt/media/h3vector6.svg" ContentType="image/svg+xml"/>
  <Override PartName="/ppt/media/h3vector7.svg" ContentType="image/svg+xml"/>
  <Override PartName="/ppt/media/h3vector8.svg" ContentType="image/svg+xml"/>
  <Override PartName="/ppt/media/h3vector9.svg" ContentType="image/svg+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4.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60" r:id="rId4"/>
  </p:sldMasterIdLst>
  <p:notesMasterIdLst>
    <p:notesMasterId r:id="rId63"/>
  </p:notesMasterIdLst>
  <p:handoutMasterIdLst>
    <p:handoutMasterId r:id="rId64"/>
  </p:handoutMasterIdLst>
  <p:sldIdLst>
    <p:sldId id="340" r:id="rId82"/>
    <p:sldId id="343" r:id="rId85"/>
    <p:sldId id="344" r:id="rId86"/>
    <p:sldId id="345" r:id="rId87"/>
    <p:sldId id="347" r:id="rId89"/>
    <p:sldId id="348" r:id="rId90"/>
    <p:sldId id="364" r:id="rId48"/>
    <p:sldId id="363" r:id="rId47"/>
    <p:sldId id="353" r:id="rId95"/>
    <p:sldId id="354" r:id="rId96"/>
    <p:sldId id="355" r:id="rId97"/>
    <p:sldId id="361" r:id="rId45"/>
    <p:sldId id="368" r:id="rId51"/>
    <p:sldId id="369" r:id="rId49"/>
    <p:sldId id="357" r:id="rId99"/>
    <p:sldId id="370" r:id="rId44"/>
    <p:sldId id="372" r:id="rId42"/>
    <p:sldId id="371" r:id="rId43"/>
    <p:sldId id="373" r:id="rId41"/>
    <p:sldId id="360" r:id="rId102"/>
  </p:sldIdLst>
  <p:sldSz cx="36576000" cy="20574000"/>
  <p:notesSz cx="6858000" cy="9144000"/>
  <p:embeddedFontLst>
    <p:embeddedFont>
      <p:font typeface="NVIDIA Sans" panose="020B0503020203020204" pitchFamily="34" charset="0"/>
      <p:regular r:id="rId65"/>
      <p:bold r:id="rId66"/>
      <p:italic r:id="rId67"/>
      <p:boldItalic r:id="rId68"/>
    </p:embeddedFont>
    <p:embeddedFont>
      <p:font typeface="NVIDIA Sans Medium" panose="020B0503020203020204" pitchFamily="34" charset="0"/>
      <p:regular r:id="rId69"/>
      <p:italic r:id="rId70"/>
    </p:embeddedFont>
    <p:embeddedFont>
      <p:font typeface="Roboto Mono" pitchFamily="49" charset="0"/>
      <p:regular r:id="rId71"/>
      <p:bold r:id="rId72"/>
      <p:italic r:id="rId73"/>
      <p:boldItalic r:id="rId74"/>
    </p:embeddedFont>
    <p:embeddedFont>
      <p:font typeface="Roboto Mono Medium" panose="00000009000000000000" pitchFamily="49" charset="0"/>
      <p:regular r:id="rId75"/>
      <p:italic r:id="rId76"/>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1DDFCC83-3E81-21FA-A956-02F202B4A25D}" name="Ashley Piersons" initials="AP" userId="S::apiersons@nvidia.com::ed6063d9-7721-4b59-a04e-d5ea60483c44"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80808"/>
    <a:srgbClr val="FFFFFF"/>
    <a:srgbClr val="68A300"/>
    <a:srgbClr val="A4CC8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8D230F3-CF80-4859-8CE7-A43EE81993B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00" autoAdjust="0"/>
    <p:restoredTop sz="92671" autoAdjust="0"/>
  </p:normalViewPr>
  <p:slideViewPr>
    <p:cSldViewPr snapToGrid="0" showGuides="1">
      <p:cViewPr varScale="1">
        <p:scale>
          <a:sx n="39" d="100"/>
          <a:sy n="39" d="100"/>
        </p:scale>
        <p:origin x="624" y="184"/>
      </p:cViewPr>
      <p:guideLst>
        <p:guide/>
        <p:guide pos="23040"/>
        <p:guide pos="576"/>
        <p:guide pos="22464"/>
        <p:guide orient="horz"/>
        <p:guide orient="horz" pos="12960"/>
        <p:guide orient="horz" pos="576"/>
        <p:guide orient="horz" pos="12384"/>
      </p:guideLst>
    </p:cSldViewPr>
  </p:slideViewPr>
  <p:notesTextViewPr>
    <p:cViewPr>
      <p:scale>
        <a:sx n="1" d="1"/>
        <a:sy n="1" d="1"/>
      </p:scale>
      <p:origin x="0" y="0"/>
    </p:cViewPr>
  </p:notesTextViewPr>
  <p:sorterViewPr>
    <p:cViewPr>
      <p:scale>
        <a:sx n="20" d="100"/>
        <a:sy n="20" d="100"/>
      </p:scale>
      <p:origin x="0" y="-8328"/>
    </p:cViewPr>
  </p:sorterViewPr>
  <p:notesViewPr>
    <p:cSldViewPr snapToGrid="0" showGuides="1">
      <p:cViewPr varScale="1">
        <p:scale>
          <a:sx n="114" d="100"/>
          <a:sy n="114" d="100"/>
        </p:scale>
        <p:origin x="2508" y="9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41" Type="http://schemas.openxmlformats.org/officeDocument/2006/relationships/slide" Target="slides/slide19.xml"/><Relationship Id="rId42" Type="http://schemas.openxmlformats.org/officeDocument/2006/relationships/slide" Target="slides/slide17.xml"/><Relationship Id="rId43" Type="http://schemas.openxmlformats.org/officeDocument/2006/relationships/slide" Target="slides/slide18.xml"/><Relationship Id="rId44" Type="http://schemas.openxmlformats.org/officeDocument/2006/relationships/slide" Target="slides/slide16.xml"/><Relationship Id="rId45" Type="http://schemas.openxmlformats.org/officeDocument/2006/relationships/slide" Target="slides/slide12.xml"/><Relationship Id="rId47" Type="http://schemas.openxmlformats.org/officeDocument/2006/relationships/slide" Target="slides/slide8.xml"/><Relationship Id="rId48" Type="http://schemas.openxmlformats.org/officeDocument/2006/relationships/slide" Target="slides/slide7.xml"/><Relationship Id="rId49" Type="http://schemas.openxmlformats.org/officeDocument/2006/relationships/slide" Target="slides/slide14.xml"/><Relationship Id="rId51" Type="http://schemas.openxmlformats.org/officeDocument/2006/relationships/slide" Target="slides/slide13.xml"/><Relationship Id="rId63" Type="http://schemas.openxmlformats.org/officeDocument/2006/relationships/notesMaster" Target="notesMasters/notesMaster1.xml"/><Relationship Id="rId64" Type="http://schemas.openxmlformats.org/officeDocument/2006/relationships/handoutMaster" Target="handoutMasters/handoutMaster1.xml"/><Relationship Id="rId65" Type="http://schemas.openxmlformats.org/officeDocument/2006/relationships/font" Target="fonts/font1.fntdata"/><Relationship Id="rId66" Type="http://schemas.openxmlformats.org/officeDocument/2006/relationships/font" Target="fonts/font2.fntdata"/><Relationship Id="rId67" Type="http://schemas.openxmlformats.org/officeDocument/2006/relationships/font" Target="fonts/font3.fntdata"/><Relationship Id="rId68" Type="http://schemas.openxmlformats.org/officeDocument/2006/relationships/font" Target="fonts/font4.fntdata"/><Relationship Id="rId69" Type="http://schemas.openxmlformats.org/officeDocument/2006/relationships/font" Target="fonts/font5.fntdata"/><Relationship Id="rId70" Type="http://schemas.openxmlformats.org/officeDocument/2006/relationships/font" Target="fonts/font6.fntdata"/><Relationship Id="rId71" Type="http://schemas.openxmlformats.org/officeDocument/2006/relationships/font" Target="fonts/font7.fntdata"/><Relationship Id="rId72" Type="http://schemas.openxmlformats.org/officeDocument/2006/relationships/font" Target="fonts/font8.fntdata"/><Relationship Id="rId73" Type="http://schemas.openxmlformats.org/officeDocument/2006/relationships/font" Target="fonts/font9.fntdata"/><Relationship Id="rId74" Type="http://schemas.openxmlformats.org/officeDocument/2006/relationships/font" Target="fonts/font10.fntdata"/><Relationship Id="rId75" Type="http://schemas.openxmlformats.org/officeDocument/2006/relationships/font" Target="fonts/font11.fntdata"/><Relationship Id="rId76" Type="http://schemas.openxmlformats.org/officeDocument/2006/relationships/font" Target="fonts/font12.fntdata"/><Relationship Id="rId77" Type="http://schemas.openxmlformats.org/officeDocument/2006/relationships/presProps" Target="presProps.xml"/><Relationship Id="rId78" Type="http://schemas.openxmlformats.org/officeDocument/2006/relationships/viewProps" Target="viewProps.xml"/><Relationship Id="rId79" Type="http://schemas.openxmlformats.org/officeDocument/2006/relationships/theme" Target="theme/theme1.xml"/><Relationship Id="rId80" Type="http://schemas.openxmlformats.org/officeDocument/2006/relationships/tableStyles" Target="tableStyles.xml"/><Relationship Id="rId81" Type="http://schemas.microsoft.com/office/2018/10/relationships/authors" Target="authors.xml"/><Relationship Id="rId82" Type="http://schemas.openxmlformats.org/officeDocument/2006/relationships/slide" Target="slides/slide1.xml"/><Relationship Id="rId85" Type="http://schemas.openxmlformats.org/officeDocument/2006/relationships/slide" Target="slides/slide2.xml"/><Relationship Id="rId86" Type="http://schemas.openxmlformats.org/officeDocument/2006/relationships/slide" Target="slides/slide3.xml"/><Relationship Id="rId87" Type="http://schemas.openxmlformats.org/officeDocument/2006/relationships/slide" Target="slides/slide4.xml"/><Relationship Id="rId89" Type="http://schemas.openxmlformats.org/officeDocument/2006/relationships/slide" Target="slides/slide5.xml"/><Relationship Id="rId90" Type="http://schemas.openxmlformats.org/officeDocument/2006/relationships/slide" Target="slides/slide6.xml"/><Relationship Id="rId95" Type="http://schemas.openxmlformats.org/officeDocument/2006/relationships/slide" Target="slides/slide9.xml"/><Relationship Id="rId96" Type="http://schemas.openxmlformats.org/officeDocument/2006/relationships/slide" Target="slides/slide10.xml"/><Relationship Id="rId97" Type="http://schemas.openxmlformats.org/officeDocument/2006/relationships/slide" Target="slides/slide11.xml"/><Relationship Id="rId99" Type="http://schemas.openxmlformats.org/officeDocument/2006/relationships/slide" Target="slides/slide15.xml"/><Relationship Id="rId102" Type="http://schemas.openxmlformats.org/officeDocument/2006/relationships/slide" Target="slides/slide20.xml"/></Relationships>
</file>

<file path=ppt/charts/_rels/chart4.xml.rels><?xml version='1.0' encoding='UTF-8' standalone='yes'?>
<Relationships xmlns="http://schemas.openxmlformats.org/package/2006/relationships"><Relationship Id="rId1" Type="http://schemas.microsoft.com/office/2011/relationships/chartStyle" Target="style4.xml"/><Relationship Id="rId2" Type="http://schemas.microsoft.com/office/2011/relationships/chartColorStyle" Target="colors4.xml"/><Relationship Id="rId3" Type="http://schemas.openxmlformats.org/officeDocument/2006/relationships/package" Target="../embeddings/Microsoft_Excel____3.xlsx"/></Relationships>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15"/>
          <c:y val="0.055"/>
          <c:w val="0.750"/>
          <c:h val="0.835"/>
        </c:manualLayout>
      </c:layout>
      <c:barChart>
        <c:barDir val="bar"/>
        <c:grouping val="clustered"/>
        <c:varyColors val="0"/>
        <c:ser>
          <c:idx val="0"/>
          <c:order val="0"/>
          <c:tx>
            <c:strRef>
              <c:f>Sheet1!$B$1</c:f>
              <c:strCache>
                <c:ptCount val="1"/>
                <c:pt idx="0">
                  <c:v>Full parameters (B)</c:v>
                </c:pt>
              </c:strCache>
            </c:strRef>
          </c:tx>
          <c:spPr>
            <a:solidFill>
              <a:srgbClr val="A7A7A7"/>
            </a:solidFill>
            <a:ln>
              <a:noFill/>
            </a:ln>
            <a:effectLst/>
          </c:spPr>
          <c:invertIfNegative val="0"/>
          <c:dPt>
            <c:idx val="0"/>
            <c:invertIfNegative val="0"/>
            <c:bubble3D val="0"/>
            <c:spPr>
              <a:solidFill>
                <a:schemeClr val="accent1"/>
              </a:solidFill>
              <a:ln>
                <a:noFill/>
              </a:ln>
              <a:effectLst/>
            </c:spPr>
            <c:extLst>
              <c:ext xmlns:c16="http://schemas.microsoft.com/office/drawing/2014/chart" uri="{C3380CC4-5D6E-409C-BE32-E72D297353CC}">
                <c16:uniqueId val="{00000001-9282-4C7D-93A0-078375DDFF91}"/>
              </c:ext>
            </c:extLst>
          </c:dPt>
          <c:dPt>
            <c:idx val="1"/>
            <c:invertIfNegative val="0"/>
            <c:bubble3D val="0"/>
            <c:spPr>
              <a:solidFill>
                <a:srgbClr val="A7A7A7"/>
              </a:solidFill>
              <a:ln>
                <a:noFill/>
              </a:ln>
              <a:effectLst/>
            </c:spPr>
            <c:extLst>
              <c:ext xmlns:c16="http://schemas.microsoft.com/office/drawing/2014/chart" uri="{C3380CC4-5D6E-409C-BE32-E72D297353CC}">
                <c16:uniqueId val="{00000003-9282-4C7D-93A0-078375DDFF91}"/>
              </c:ext>
            </c:extLst>
          </c:dPt>
          <c:dPt>
            <c:idx val="2"/>
            <c:invertIfNegative val="0"/>
            <c:bubble3D val="0"/>
            <c:spPr>
              <a:solidFill>
                <a:srgbClr val="A7A7A7"/>
              </a:solidFill>
              <a:ln>
                <a:noFill/>
              </a:ln>
              <a:effectLst/>
            </c:spPr>
            <c:extLst>
              <c:ext xmlns:c16="http://schemas.microsoft.com/office/drawing/2014/chart" uri="{C3380CC4-5D6E-409C-BE32-E72D297353CC}">
                <c16:uniqueId val="{00000005-9282-4C7D-93A0-078375DDFF91}"/>
              </c:ext>
            </c:extLst>
          </c:dPt>
          <c:dPt>
            <c:idx val="3"/>
            <c:spPr>
              <a:solidFill>
                <a:srgbClr val="A7A7A7"/>
              </a:solidFill>
              <a:ln>
                <a:noFill/>
              </a:ln>
            </c:spPr>
          </c:dPt>
          <c:dLbls>
            <c:delete val="1"/>
          </c:dLbls>
          <c:cat>
            <c:strRef>
              <c:f>Sheet1!$A$2:$A$5</c:f>
              <c:strCache>
                <c:ptCount val="4"/>
                <c:pt idx="0">
                  <c:v>MiniMax H3</c:v>
                </c:pt>
                <c:pt idx="1">
                  <c:v>Wan2.2 A14B</c:v>
                </c:pt>
                <c:pt idx="2">
                  <c:v>LTX-2.5</c:v>
                </c:pt>
                <c:pt idx="3">
                  <c:v>HunyuanVideo-1.5</c:v>
                </c:pt>
              </c:strCache>
            </c:strRef>
          </c:cat>
          <c:val>
            <c:numRef>
              <c:f>Sheet1!$B$2:$B$5</c:f>
              <c:numCache>
                <c:formatCode>General</c:formatCode>
                <c:ptCount val="4"/>
                <c:pt idx="0">
                  <c:v>33</c:v>
                </c:pt>
                <c:pt idx="1">
                  <c:v>27</c:v>
                </c:pt>
                <c:pt idx="2">
                  <c:v>22</c:v>
                </c:pt>
                <c:pt idx="3">
                  <c:v>8.3</c:v>
                </c:pt>
              </c:numCache>
            </c:numRef>
          </c:val>
          <c:extLst>
            <c:ext xmlns:c16="http://schemas.microsoft.com/office/drawing/2014/chart" uri="{C3380CC4-5D6E-409C-BE32-E72D297353CC}">
              <c16:uniqueId val="{0000000A-9282-4C7D-93A0-078375DDFF91}"/>
            </c:ext>
          </c:extLst>
        </c:ser>
        <c:dLbls>
          <c:dLblPos val="outEnd"/>
          <c:showLegendKey val="0"/>
          <c:showVal val="1"/>
          <c:showCatName val="0"/>
          <c:showSerName val="0"/>
          <c:showPercent val="0"/>
          <c:showBubbleSize val="0"/>
        </c:dLbls>
        <c:gapWidth val="450"/>
        <c:overlap val="-50"/>
        <c:axId val="488380944"/>
        <c:axId val="488380464"/>
      </c:barChart>
      <c:catAx>
        <c:axId val="488380944"/>
        <c:scaling>
          <c:orientation val="maxMin"/>
        </c:scaling>
        <c:delete val="0"/>
        <c:axPos val="l"/>
        <c:numFmt formatCode="General" sourceLinked="1"/>
        <c:majorTickMark val="none"/>
        <c:minorTickMark val="none"/>
        <c:tickLblPos val="nextTo"/>
        <c:spPr>
          <a:noFill/>
          <a:ln w="38100" cap="flat" cmpd="sng" algn="ctr">
            <a:solidFill>
              <a:srgbClr val="A7A7A7"/>
            </a:solidFill>
            <a:round/>
          </a:ln>
          <a:effectLst/>
        </c:spPr>
        <c:txPr>
          <a:bodyPr rot="0" spcFirstLastPara="1" vertOverflow="ellipsis" vert="horz" wrap="square" anchor="ctr" anchorCtr="1"/>
          <a:lstStyle/>
          <a:p>
            <a:pPr>
              <a:defRPr sz="3200" b="0" i="0" u="none" strike="noStrike" kern="1200" baseline="0">
                <a:solidFill>
                  <a:schemeClr val="tx1"/>
                </a:solidFill>
                <a:latin typeface="+mn-lt"/>
                <a:ea typeface="+mn-ea"/>
                <a:cs typeface="+mn-cs"/>
              </a:defRPr>
            </a:pPr>
            <a:endParaRPr lang="en-US"/>
          </a:p>
        </c:txPr>
        <c:crossAx val="488380464"/>
        <c:crosses val="autoZero"/>
        <c:auto val="1"/>
        <c:lblAlgn val="ctr"/>
        <c:lblOffset val="100"/>
        <c:noMultiLvlLbl val="0"/>
      </c:catAx>
      <c:valAx>
        <c:axId val="488380464"/>
        <c:scaling>
          <c:orientation val="minMax"/>
          <c:max val="40.0"/>
          <c:min val="0.0"/>
        </c:scaling>
        <c:delete val="0"/>
        <c:axPos val="b"/>
        <c:majorGridlines>
          <c:spPr>
            <a:ln w="12700" cap="flat" cmpd="sng" algn="ctr">
              <a:solidFill>
                <a:srgbClr val="A7A7A7">
                  <a:alpha val="50000"/>
                </a:srgbClr>
              </a:solidFill>
              <a:round/>
            </a:ln>
            <a:effectLst/>
          </c:spPr>
        </c:majorGridlines>
        <c:numFmt formatCode="General" sourceLinked="1"/>
        <c:majorTickMark val="none"/>
        <c:minorTickMark val="none"/>
        <c:tickLblPos val="nextTo"/>
        <c:spPr>
          <a:noFill/>
          <a:ln>
            <a:noFill/>
          </a:ln>
          <a:effectLst/>
        </c:spPr>
        <c:txPr>
          <a:bodyPr rot="0" spcFirstLastPara="1" vertOverflow="ellipsis" vert="horz" wrap="square" anchor="ctr" anchorCtr="1"/>
          <a:lstStyle/>
          <a:p>
            <a:pPr>
              <a:defRPr sz="3200" b="0" i="0" u="none" strike="noStrike" kern="1200" baseline="0">
                <a:solidFill>
                  <a:schemeClr val="tx1"/>
                </a:solidFill>
                <a:latin typeface="+mn-lt"/>
                <a:ea typeface="+mn-ea"/>
                <a:cs typeface="+mn-cs"/>
              </a:defRPr>
            </a:pPr>
            <a:endParaRPr lang="en-US"/>
          </a:p>
        </c:txPr>
        <c:crossAx val="488380944"/>
        <c:crosses val="autoZero"/>
        <c:crossBetween val="between"/>
        <c:majorUnit val="10.0"/>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3200"/>
      </a:pPr>
      <a:endParaRPr lang="en-US"/>
    </a:p>
  </c:txPr>
  <c:externalData r:id="rId3">
    <c:autoUpdate val="0"/>
  </c:externalData>
</c:chartSpac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7.png"/></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26D52E6-A280-0EB1-7695-16D5111302B3}"/>
              </a:ext>
            </a:extLst>
          </p:cNvPr>
          <p:cNvPicPr>
            <a:picLocks noChangeAspect="1"/>
          </p:cNvPicPr>
          <p:nvPr/>
        </p:nvPicPr>
        <p:blipFill>
          <a:blip r:embed="rId2"/>
          <a:srcRect/>
          <a:stretch/>
        </p:blipFill>
        <p:spPr>
          <a:xfrm>
            <a:off x="102174" y="8697011"/>
            <a:ext cx="1019352" cy="359605"/>
          </a:xfrm>
          <a:prstGeom prst="rect">
            <a:avLst/>
          </a:prstGeom>
        </p:spPr>
      </p:pic>
    </p:spTree>
    <p:extLst>
      <p:ext uri="{BB962C8B-B14F-4D97-AF65-F5344CB8AC3E}">
        <p14:creationId xmlns:p14="http://schemas.microsoft.com/office/powerpoint/2010/main" val="900903243"/>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7.png"/></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0"/>
            <a:r>
              <a:rPr lang="en-US" dirty="0"/>
              <a:t>	Second level</a:t>
            </a:r>
          </a:p>
          <a:p>
            <a:pPr lvl="0"/>
            <a:r>
              <a:rPr lang="en-US" dirty="0"/>
              <a:t>		Third level</a:t>
            </a:r>
          </a:p>
          <a:p>
            <a:pPr lvl="0"/>
            <a:r>
              <a:rPr lang="en-US" dirty="0"/>
              <a:t>			Fourth level</a:t>
            </a:r>
          </a:p>
          <a:p>
            <a:pPr lvl="0"/>
            <a:r>
              <a:rPr lang="en-US" dirty="0"/>
              <a:t>				Fifth level</a:t>
            </a:r>
          </a:p>
        </p:txBody>
      </p:sp>
      <p:pic>
        <p:nvPicPr>
          <p:cNvPr id="7" name="Picture 6">
            <a:extLst>
              <a:ext uri="{FF2B5EF4-FFF2-40B4-BE49-F238E27FC236}">
                <a16:creationId xmlns:a16="http://schemas.microsoft.com/office/drawing/2014/main" id="{8628458B-708F-5BA6-F1E0-71698020D55C}"/>
              </a:ext>
            </a:extLst>
          </p:cNvPr>
          <p:cNvPicPr>
            <a:picLocks noChangeAspect="1"/>
          </p:cNvPicPr>
          <p:nvPr/>
        </p:nvPicPr>
        <p:blipFill>
          <a:blip r:embed="rId2"/>
          <a:srcRect/>
          <a:stretch/>
        </p:blipFill>
        <p:spPr>
          <a:xfrm>
            <a:off x="102174" y="8697011"/>
            <a:ext cx="1019352" cy="359605"/>
          </a:xfrm>
          <a:prstGeom prst="rect">
            <a:avLst/>
          </a:prstGeom>
        </p:spPr>
      </p:pic>
    </p:spTree>
    <p:extLst>
      <p:ext uri="{BB962C8B-B14F-4D97-AF65-F5344CB8AC3E}">
        <p14:creationId xmlns:p14="http://schemas.microsoft.com/office/powerpoint/2010/main" val="784714751"/>
      </p:ext>
    </p:extLst>
  </p:cSld>
  <p:clrMap bg1="lt1" tx1="dk1" bg2="lt2" tx2="dk2" accent1="accent1" accent2="accent2" accent3="accent3" accent4="accent4" accent5="accent5" accent6="accent6" hlink="hlink" folHlink="folHlink"/>
  <p:notesStyle>
    <a:lvl1pPr marL="0" indent="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1pPr>
    <a:lvl2pPr marL="13716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2pPr>
    <a:lvl3pPr marL="27432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3pPr>
    <a:lvl4pPr marL="41148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4pPr>
    <a:lvl5pPr marL="54864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5pPr>
    <a:lvl6pPr marL="6858000" algn="l" defTabSz="2743200" rtl="0" eaLnBrk="1" latinLnBrk="0" hangingPunct="1">
      <a:defRPr sz="3600" kern="1200">
        <a:solidFill>
          <a:schemeClr val="tx1"/>
        </a:solidFill>
        <a:latin typeface="+mn-lt"/>
        <a:ea typeface="+mn-ea"/>
        <a:cs typeface="+mn-cs"/>
      </a:defRPr>
    </a:lvl6pPr>
    <a:lvl7pPr marL="8229600" algn="l" defTabSz="2743200" rtl="0" eaLnBrk="1" latinLnBrk="0" hangingPunct="1">
      <a:defRPr sz="3600" kern="1200">
        <a:solidFill>
          <a:schemeClr val="tx1"/>
        </a:solidFill>
        <a:latin typeface="+mn-lt"/>
        <a:ea typeface="+mn-ea"/>
        <a:cs typeface="+mn-cs"/>
      </a:defRPr>
    </a:lvl7pPr>
    <a:lvl8pPr marL="9601200" algn="l" defTabSz="2743200" rtl="0" eaLnBrk="1" latinLnBrk="0" hangingPunct="1">
      <a:defRPr sz="3600" kern="1200">
        <a:solidFill>
          <a:schemeClr val="tx1"/>
        </a:solidFill>
        <a:latin typeface="+mn-lt"/>
        <a:ea typeface="+mn-ea"/>
        <a:cs typeface="+mn-cs"/>
      </a:defRPr>
    </a:lvl8pPr>
    <a:lvl9pPr marL="10972800" algn="l" defTabSz="2743200" rtl="0" eaLnBrk="1" latinLnBrk="0" hangingPunct="1">
      <a:defRPr sz="36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diagram describes the public OmniRef QAD training recipe, not training performed by this project. PR #1989 was open at inspection. The frozen teacher is the same eight-forward OmniRef checkpoint without student quantization. Student trainable master weights must be FP32: the code rejects BF16 masters because small updates would round away. The NVFP4 linear forward casts current master weights to BF16, quantizes weights and activations, and executes FlashInfer mm_fp4. The backward uses straight-through dense linear gradients. FP4 fine attention is modeled by a differentiable emulator. Teacher and loss computation are removed for inference. Few-step distillation and QAD address separate costs: fewer model evaluations versus quantized numerical error. https://github.com/hao-ai-lab/FastVideo/blob/ea3275dfd1ce48cbb01f9fc7f28e918e857a0536/fastvideo/train/models/minimax_h3/omniref_pdd.py</a:t>
            </a:r>
          </a:p>
          <a:p>
            <a:r>
              <a:t>https://github.com/hao-ai-lab/FastVideo/blob/ea3275dfd1ce48cbb01f9fc7f28e918e857a0536/fastvideo/layers/quantization/nvfp4_qad.py</a:t>
            </a:r>
          </a:p>
          <a:p>
            <a:r>
              <a:t>Precision map merged from the former standalone What Runs in Four Bits slide. Only attention and FFN projection parameters train; the VSA gates remain frozen while executing NVFP4. The public QAD recipe calibrates selected FFN activation global scales; this differs from the direct Online NVFP4 comparison, which has no calibration table. Designated boundary modules remain FP32.</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variants share scene, prompt, seed 1234, 1344x768, 124 frames at 24 fps, eight evaluations, and vLLM-Omni. Quantized arms include NVFP4 linears in the DiT, language encoder and video decoder. The vision tower and audio VAE retain higher precision. Online independently quantizes BF16 weights and uses current-input activation scales. QAD preserves checkpoint weights and linear activation scales.</a:t>
            </a:r>
          </a:p>
          <a:p>
            <a:r>
              <a:t>The fourth column replaces the previous alternative-attention result with optimized native FP4. It uses the same QAD encoder and decoder. Prefix attention precision differs from the protected-prefix QAD baseline; this is an experimental variant, not a claim of exact equivalence to baseline QAD.</a:t>
            </a:r>
          </a:p>
          <a:p>
            <a:r>
              <a:t>LPIPS AlexNet v0.1 and RGB Gaussian SSIM average all 124 decoded frames at original resolution, matched by frame index. The optimized MP4 is SHA-256 identical to the previously scored unified-prefix clip, with the same BF16 reference. Framewise similarity is affected by divergent motion; one scene and seed cannot establish general quality or temporal consistency. Audio is not evaluated.</a:t>
            </a:r>
          </a:p>
          <a:p>
            <a:r>
              <a:t>Request times are single requests with layerwise CPU offload, generation and MP4 encoding, excluding model loading. BF16 is retained from GPU 0, Online and baseline QAD from GPU 3, and optimized QAD ran on GPU 1 of the same machine. First-use work varies; these timings do not establish controlled production speedups.</a:t>
            </a:r>
          </a:p>
          <a:p>
            <a:r>
              <a:t>Four videos are embedded, muted and start together. PDF shows frame 60. Photo: James Lo / Unsplash, https://unsplash.com/photos/crowded-street-market-at-night-with-lanterns-prZR_BQiZzU.</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source checkout is clean and its HEAD equals the Base50 r4 launch.json head. Original source path: vllm_omni/diffusion/distributed/comm.py, lines 16-117. The slide shows the Q/K/V branch expressions from lines 44,46,51,57,60; line wrapping is adjusted and guards are omitted. This is an excerpt, not a standalone executable function. Copyright (c) Microsoft Corporation and Jiarui Fang, Apache-2.0. Q/K/V call sites: diffusion/attention/parallel/ulysses.py:538-544; optional VSA gate at 545-548 adds an exchange when present. The dense Base50 case uses four Q/K/V/O exchanges, not the gate-bearing QAD five-slot case. O reverse is ulysses.py:721. SeqAllToAll4D.forward delegates at comm.py:117. The inverse branch is comm.py:64-99. Factory picks Ulysses at factory.py:80-88. Attention defaults are scatter_idx=2,gather_idx=1,use_sync=False at layer.py:68-70. With --no-ulysses-a2a-permute, Base50 chooses this ordinary NCCL path. The baseline source contains no FlashInfer Ulysses adapter; the backend environment label alone is not the code-path proof. The group is created through torch.distributed.new_group, inheriting NCCL. all_to_all_single is a PyTorch API, not a specification of PCIe/RDMA. NCCL transport selection occurs below this code. For contiguous B1 inputs, QKV input packing copies, while its final singleton-dimension transpose is already contiguous. For tested H/P=7, O input packing and output reorder both copy. Eager Q/K/V/O therefore has five materializing relayouts; this does not measure their latency and full-model compilation may change the physical execution. NCCL 2.29.7 default P2P cutoff PATH_PXB is in src/graph/paths.cc:298; AMD &lt;=2 GPUs is a separate exception at line304. Intra-host NET preference is controlled by NCCL_NET_DISABLE_INTRA at paths.cc:493-498. SHM/direct/direct at shm.cc:119 denotes mapped host buffers without the optional CE staging mode, not direct GPU-to-GPU P2P. Sources: https://github.com/NVIDIA/nccl/blob/v2.29.7-1/src/graph/paths.cc#L298 https://github.com/NVIDIA/nccl/blob/v2.29.7-1/src/transport/shm.cc#L119</a:t>
            </a:r>
          </a:p>
          <a:p>
            <a:r>
              <a:t>v1.29 shows the original QKV branch and original query / output call sites directly on one coding-layout slide. Only line wrapping, outer parentheses and omitted guards differ from the source. Source snapshot: h3-nccl-rdma-20261026/source/{comm.py,ulysses.py}. The application code delegates to PyTorch/NCCL; it is not NCCL library internals. Bottom notes use separate boxes with explicit room for wrapped lines.</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talk has two parts: taking MiniMax H3 toward real-time generation on eight RTX PRO 5000 GPUs, then using vLLM-Omni as the multi-GPU backend for ComfyUI applications.</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 time is RTF = end-to-end generation latency divided by finished-media duration, with RTF &lt;= 1.0. The baseline is MiniMax H3 Base Ref2VA at 960x544: 124 frames / 24 FPS = 5.167 s. It uses 50 denoising steps, BF16, eight GPUs with USP8, local NCCL, and no RDMA. MiniMax H3 uses a 33B dense Omni Transformer with 50 Transformer blocks; the reference workload runs 50 denoising steps. These are distinct dimensions. Wan2.2 A14B is 27B total / 14B active, LTX-2.5 uses its official 22B designation, and HunyuanVideo-1.5 is 8.3B. The comparison excludes text encoders. Open H3-Base targets native 768p; the H3-Regenerate-2K module is not part of the open release and is excluded. The 130 GB figure is the raw BF16 size of the 32B encoder plus 33B generator, before VAE, activations, attention workspace, and CUDA Graph pools. Sources: https://huggingface.co/MiniMaxAI/MiniMax-H3 ; https://github.com/Wan-Video/Wan2.2 ; https://huggingface.co/Lightricks/LTX-2.5 ; https://github.com/Tencent-Hunyuan/HunyuanVideo-1.5</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template's native Table Example is reused at its original coordinates with its native table style and typography. RTX PRO 5000, RTX PRO 6000 and GeForce RTX 5090 use compute capability 12.0 / SM120; each has fifth-generation Tensor Cores with FP4 support. DGX Spark's GB10 uses compute capability 12.1 / SM121 and fifth-generation Tensor Cores with FP4 support. The planned RTX PRO 5000 scale-out path is GPU memory to PCIe Gen5 to a compatible NIC and then the RDMA fabric. This path is a deployment plan, not a measured result; GPUDirect RDMA requires compatible software and PCIe topology. The first row marks the selected eight-GPU RTX PRO 5000 baseline. Sources: https://developer.nvidia.com/cuda/gpus ; https://www.nvidia.com/en-gb/products/workstations/professional-desktop-gpus/rtx-pro-5000/ ; https://docs.nvidia.com/cuda/gpudirect-rdma/</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Existing Nsight analysis, now synchronized into slide 4. No new benchmark run.</a:t>
            </a:r>
          </a:p>
          <a:p>
            <a:r>
              <a:t>Baseline E2E remains the two unprofiled-request median. The profile is a separate request.</a:t>
            </a:r>
          </a:p>
          <a:p>
            <a:r>
              <a:t>Operator denominator is the sum of kernel, CUDA memcpy and memset durations across eight GPUs. Mean seconds per GPU is the sum divided by eight.</a:t>
            </a:r>
          </a:p>
          <a:p>
            <a:r>
              <a:t>CUDA operation durations may overlap across streams. Do not call NCCL share the fraction of E2E latency or pure network transfer time.</a:t>
            </a:r>
          </a:p>
          <a:p>
            <a:r>
              <a:t>NVTX values are host range spans; Other / response is the residual to the profiled HTTP duration. They are not GPU stage critical-path times.</a:t>
            </a:r>
          </a:p>
          <a:p>
            <a:r>
              <a:t>https://lishunyang12.github.io/fasth3-omni-evaluation-20261018/slides/minimax-h3-real-time-inference-20261025/v1.47/baseline-breakdown.html</a:t>
            </a:r>
          </a:p>
          <a:p>
            <a:r>
              <a:t>{"status": "pass", "profiled_http_seconds": 214.9683357188478, "unprofiled_median_seconds": 213.40215269569308, "unprofiled_samples": 2, "unprofiled_individual_seconds": [214.70544344000518, 212.09886195138097], "configuration": {"model": "Original Ref2VA", "steps": 50, "dit_precision": "BF16", "attention": "Dense cuDNN; SDPA token refiner", "width": 960, "height": 544, "frames": 124, "fps": 24, "seed": 43, "gpus": 8, "architecture": "SM120", "vram_mib_per_gpu": 73415, "parallelism": "TP1 / Ulysses8 / text encoder TP8 / VAE tiles8", "transport": "Local NCCL; RDMA disabled", "decoder": "Native unquantized VAE; FP16 decode autocast", "conditioning": "Exact AdaLN projections computed before timing and resident on GPU"}, "operator_breakdown": {"status": "pass", "devices": 8, "denominator_ns": 1708417910041, "denominator": "Sum of kernel, CUDA memcpy and CUDA memset durations across all eight GPUs in the single profiled request interval.", "rows": [{"category": "GEMM", "mean_seconds_per_gpu": 39.6496529745, "aggregate_gpu_seconds": 317.197223796, "share_percent": 18.566723161336306, "instances": 107147, "average_duration_us": 2960.392953568462}, {"category": "Attention", "mean_seconds_per_gpu": 47.105474658375, "aggregate_gpu_seconds": 376.843797267, "share_percent": 22.0580570510383, "instances": 25196, "average_duration_us": 14956.492985672328}, {"category": "NCCL", "mean_seconds_per_gpu": 122.1817823255, "aggregate_gpu_seconds": 977.454258604, "share_percent": 57.21400208105652, "instances": 81648, "average_duration_us": 11971.564013864394}, {"category": "Norm / activation / elementwise", "mean_seconds_per_gpu": 2.287662046625, "aggregate_gpu_seconds": 18.301296373, "share_percent": 1.0712423620377984, "instances": 311644, "average_duration_us": 58.72500793533647}, {"category": "Layout / device copies", "mean_seconds_per_gpu": 1.928634855875, "aggregate_gpu_seconds": 15.429078847, "share_percent": 0.9031208790494195, "instances": 251038, "average_duration_us": 61.46112878130005}, {"category": "CUDA memcpy / memset", "mean_seconds_per_gpu": 0.063794294625, "aggregate_gpu_seconds": 0.510354357, "share_percent": 0.02987292242726208, "instances": 65897, "average_duration_us": 7.744728242560359}, {"category": "Convolution", "mean_seconds_per_gpu": 0.191801648, "aggregate_gpu_seconds": 1.534413184, "share_percent": 0.08981486174908901, "instances": 6962, "average_duration_us": 220.3983315139328}, {"category": "Other kernels", "mean_seconds_per_gpu": 0.143435951625, "aggregate_gpu_seconds": 1.147487613, "share_percent": 0.06716668130530554, "instances": 58546, "average_duration_us": 19.59976109384074}], "per_device": [{"device_id": 0, "category": "GEMM", "seconds": 39.349302567, "share_percent": 18.441661416136995, "instances": 13556}, {"device_id": 0, "category": "Attention", "seconds": 47.023767948, "share_percent": 22.038418737700297, "instances": 3181}, {"device_id": 0, "category": "NCCL", "seconds": 122.327233876, "share_percent": 57.330556882746485, "instances": 10206}, {"device_id": 0, "category": "Norm / activation / elementwise", "seconds": 2.300393544, "share_percent": 1.0781151404165736, "instances": 39657}, {"device_id": 0, "category": "Layout / device copies", "seconds": 1.950553105, "share_percent": 0.9141569885605011, "instances": 39010}, {"device_id": 0, "category": "CUDA memcpy / memset", "seconds": 0.068656516, "share_percent": 0.03217694188931906, "instances": 8385}, {"device_id": 0, "category": "Convolution", "seconds": 0.203745672, "share_percent": 0.09548857166221865, "instances": 935}, {"device_id": 0, "category": "Other kernels", "seconds": 0.148134048, "share_percent": 0.06942532088761394, "instances": 7460}, {"device_id": 1, "category": "GEMM", "seconds": 39.736427713, "share_percent": 18.606852435769365, "instances": 13510}, {"device_id": 1, "category": "Attention", "seconds": 47.20268323, "share_percent": 22.102977343019607, "instances": 3181}, {"device_id": 1, "category": "NCCL", "seconds": 121.966562735, "share_percent": 57.111672224267416, "instances": 10206}, {"device_id": 1, "category": "Norm / activation / elementwise", "seconds": 2.313585791, "share_percent": 1.0833522761923102, "instances": 39594}, {"device_id": 1, "category": "Layout / device copies", "seconds": 1.941813325, "share_percent": 0.9092672913892859, "instances": 31016}, {"device_id": 1, "category": "CUDA memcpy / memset", "seconds": 0.062922296, "share_percent": 0.029463792896732177, "instances": 8289}, {"device_id": 1, "category": "Convolution", "seconds": 0.190943112, "share_percent": 0.08941041037386074, "instances": 861}, {"device_id": 1, "category": "Other kernels", "seconds": 0.143092906, "share_percent": 0.06700422609142498, "instances": 7298}, {"device_id": 2, "category": "GEMM", "seconds": 39.936509611, "share_percent": 18.699310143212678, "instances": 13510}, {"device_id": 2, "category": "Attention", "seconds": 47.335441913, "share_percent": 22.16368224761973, "instances": 3181}, {"device_id": 2, "category": "NCCL", "seconds": 121.664765441, "share_percent": 56.96660035247171, "instances": 10206}, {"device_id": 2, "category": "Norm / activation / elementwise", "seconds": 2.294844114, "share_percent": 1.0745055648576896, "instances": 39544}, {"device_id": 2, "category": "Layout / device copies", "seconds": 1.943414633, "share_percent": 0.909957162338376, "instances": 30916}, {"device_id": 2, "category": "CUDA memcpy / memset", "seconds": 0.062230861, "share_percent": 0.02913810399689108, "instances": 8289}, {"device_id": 2, "category": "Convolution", "seconds": 0.191443308, "share_percent": 0.08963872471590663, "instances": 861}, {"device_id": 2, "category": "Other kernels", "seconds": 0.14345147, "share_percent": 0.06716770078702432, "instances": 7298}, {"device_id": 3, "category": "GEMM", "seconds": 39.701020186, "share_percent": 18.589400361101337, "instances": 13560}, {"device_id": 3, "category": "Attention", "seconds": 47.086809952, "share_percent": 22.04768436236524, "instances": 3181}, {"device_id": 3, "category": "NCCL", "seconds": 122.135225576, "share_percent": 57.18796634919521, "instances": 10206}, {"device_id": 3, "category": "Norm / activation / elementwise", "seconds": 2.304492532, "share_percent": 1.0790436645157735, "instances": 39594}, {"device_id": 3, "category": "Layout / device copies", "seconds": 1.942294512, "share_percent": 0.9094499368928117, "instances": 31066}, {"device_id": 3, "category": "CUDA memcpy / memset", "seconds": 0.065829689, "share_percent": 0.030823753110992377, "instances": 8289}, {"device_id": 3, "category": "Convolution", "seconds": 0.189714518, "share_percent": 0.08883094471861958, "instances": 861}, {"device_id": 3, "category": "Other kernels", "seconds": 0.1426648, "share_percent": 0.06680062810002195, "instances": 7298}, {"device_id": 4, "category": "GEMM", "seconds": 39.342634796, "share_percent": 18.41847185312396, "instances": 13510}, {"device_id": 4, "category": "Attention", "seconds": 46.486953183, "share_percent": 21.763123979323044, "instances": 3181}, {"device_id": 4, "category": "NCCL", "seconds": 123.154218693, "share_percent": 57.655327924837266, "instances": 10206}, {"device_id": 4, "category": "Norm / activation / elementwise", "seconds": 2.289910042, "share_percent": 1.0720340382248887, "instances": 39544}, {"device_id": 4, "category": "Layout / device copies", "seconds": 1.935071961, "share_percent": 0.9059146300763654, "instances": 30916}, {"device_id": 4, "category": "CUDA memcpy / memset", "seconds": 0.064936529, "share_percent": 0.030400394834452452, "instances": 8289}, {"device_id": 4, "category": "Convolution", "seconds": 0.188304185, "share_percent": 0.08815564461383174, "instances": 861}, {"device_id": 4, "category": "Other kernels", "seconds": 0.142199614, "share_percent": 0.06657153496619342, "instances": 7298}, {"device_id": 5, "category": "GEMM", "seconds": 39.761582064, "share_percent": 18.616278784742278, "instances": 13510}, {"device_id": 5, "category": "Attention", "seconds": 47.16373082, "share_percent": 22.081947344560305, "instances": 3181}, {"device_id": 5, "category": "NCCL", "seconds": 122.027848167, "share_percent": 57.13315021828237, "instances": 10206}, {"device_id": 5, "category": "Norm / activation / elementwise", "seconds": 2.296869648, "share_percent": 1.0753889427879395, "instances": 39544}, {"device_id": 5, "category": "Layout / device copies", "seconds": 1.9395993, "share_percent": 0.9081158099134878, "instances": 30916}, {"device_id": 5, "category": "CUDA memcpy / memset", "seconds": 0.064032573, "share_percent": 0.029979899400221235, "instances": 8289}, {"device_id": 5, "category": "Convolution", "seconds": 0.189154744, "share_percent": 0.08856180425850764, "instances": 861}, {"device_id": 5, "category": "Other kernels", "seconds": 0.142198915, "share_percent": 0.06657719605489866, "instances": 7298}, {"device_id": 6, "category": "GEMM", "seconds": 39.658986799, "share_percent": 18.570204761375553, "instances": 13510}, {"device_id": 6, "category": "Attention", "seconds": 47.041026134, "share_percent": 22.02682312387329, "instances": 3181}, {"device_id": 6, "category": "NCCL", "seconds": 122.240622724, "share_percent": 57.23881463860232, "instances": 10206}, {"device_id": 6, "category": "Norm / activation / elementwise", "seconds": 2.291372957, "share_percent": 1.072928696132033, "instances": 39544}, {"device_id": 6, "category": "Layout / device copies", "seconds": 1.937248232, "share_percent": 0.9071108277218994, "instances": 30916}, {"device_id": 6, "category": "CUDA memcpy / memset", "seconds": 0.060336094, "share_percent": 0.028252199829518973, "instances": 8289}, {"device_id": 6, "category": "Convolution", "seconds": 0.19014962, "share_percent": 0.08903700431365506, "instances": 861}, {"device_id": 6, "category": "Other kernels", "seconds": 0.142721121, "share_percent": 0.0668287481517275, "instances": 7298}, {"device_id": 7, "category": "GEMM", "seconds": 39.71076006, "share_percent": 18.591507972557494, "instances": 12481}, {"device_id": 7, "category": "Attention", "seconds": 47.503384087, "share_percent": 22.239804593075856, "instances": 2929}, {"device_id": 7, "category": "NCCL", "seconds": 121.937781392, "share_percent": 57.087983999300484, "instances": 10206}, {"device_id": 7, "category": "Norm / activation / elementwise", "seconds": 2.209827745, "share_percent": 1.0345818130167073, "instances": 34623}, {"device_id": 7, "category": "Layout / device copies", "seconds": 1.839083779, "share_percent": 0.8610094767216516, "instances": 26282}, {"device_id": 7, "category": "CUDA memcpy / memset", "seconds": 0.061409799, "share_percent": 0.028750413388628885, "instances": 7778}, {"device_id": 7, "category": "Convolution", "seconds": 0.190958025, "share_percent": 0.08940140251275093, "instances": 861}, {"device_id": 7, "category": "Other kernels", "seconds": 0.143024739, "share_percent": 0.06696032942642838, "instances": 7298}], "stage_categories": [{"stage": "explicit_vae", "category": "Attention", "mean_seconds_per_gpu": 0.073424998125}, {"stage": "explicit_vae", "category": "CUDA memcpy / memset", "mean_seconds_per_gpu": 0.005660434375}, {"stage": "explicit_vae", "category": "Convolution", "mean_seconds_per_gpu": 0.005351867875}, {"stage": "explicit_vae", "category": "GEMM", "mean_seconds_per_gpu": 0.597402368}, {"stage": "explicit_vae", "category": "Layout / device copies", "mean_seconds_per_gpu": 0.206106582}, {"stage": "explicit_vae", "category": "NCCL", "mean_seconds_per_gpu": 0.56345313075}, {"stage": "explicit_vae", "category": "Norm / activation / elementwise", "mean_seconds_per_gpu": 0.180928999875}, {"stage": "explicit_vae", "category": "Other kernels", "mean_seconds_per_gpu": 0.0268907705}, {"stage": "non_dit_scoped", "category": "Attention", "mean_seconds_per_gpu": 0.667262048625}, {"stage": "non_dit_scoped", "category": "CUDA memcpy / memset", "mean_seconds_per_gpu": 0.036150056875}, {"stage": "non_dit_scoped", "category": "Convolution", "mean_seconds_per_gpu": 0.186449780125}, {"stage": "non_dit_scoped", "category": "GEMM", "mean_seconds_per_gpu": 0.372183022375}, {"stage": "non_dit_scoped", "category": "Layout / device copies", "mean_seconds_per_gpu": 0.201084648125}, {"stage": "non_dit_scoped", "category": "NCCL", "mean_seconds_per_gpu": 6.031570317375}, {"stage": "non_dit_scoped", "category": "Norm / activation / elementwise", "mean_seconds_per_gpu": 0.180157481375}, {"stage": "non_dit_scoped", "category": "Other kernels", "mean_seconds_per_gpu": 0.0417612915}, {"stage": "pipeline_diffuse", "category": "Attention", "mean_seconds_per_gpu": 46.364787611625}, {"stage": "pipeline_diffuse", "category": "CUDA memcpy / memset", "mean_seconds_per_gpu": 0.021551229625}, {"stage": "pipeline_diffuse", "category": "GEMM", "mean_seconds_per_gpu": 38.680067584125}, {"stage": "pipeline_diffuse", "category": "Layout / device copies", "mean_seconds_per_gpu": 1.52144362575}, {"stage": "pipeline_diffuse", "category": "NCCL", "mean_seconds_per_gpu": 115.586758877375}, {"stage": "pipeline_diffuse", "category": "Norm / activation / elementwise", "mean_seconds_per_gpu": 1.926575565375}, {"stage": "pipeline_diffuse", "category": "Other kernels", "mean_seconds_per_gpu": 0.074783889625}, {"stage": "unattributed", "category": "CUDA memcpy / memset", "mean_seconds_per_gpu": 0.00043257375}], "classification": {"method": "Explicit first-match kernel-name rules across all stages; original NVTX stage attribution retained.", "rules": [{"id": "nccl", "category": "NCCL", "pattern": "(?:nccl|msccl)"}, {"id": "attention", "category": "Attention", "pattern": "(?:flash[_:]?(?:attn|attention)|flash_(?:fwd|bwd)|flashattention|fmha|fused.?multi.?head.?attention|scaled.?dot.?product|memory.?efficient.?attention|(?:^|[_:])sdpa(?:[_:&lt;]|$)|cudnn[^\\n]*sdpa|(?:^|[_:])attention(?:[_:&lt;]|$)|(?:^|[_:])attn(?:[_:&lt;]|$))"}, {"id": "convolution", "category": "Convolution", "pattern": "(?:xmma_(?:fprop|dgrad|wgrad)_implicit_gemm|implicit_convolve|(?:^|[_:])conv(?:[123]d|olution|_fwd|_dgrad|_wgrad)|(?:^|[_:])(?:im2col|col2im|vol2col)|cudnn[^\\n]*convolve)"}, {"id": "gemm", "category": "GEMM", "pattern": "(?:gemm|gemv|matmul|cutlass::Kernel|cutlass_kernel|wgmma|tensorop|cublas|triton[^\\n]*(?:persistent_mm|scaled_mm|addmm)|(?:^|[_:])b?mm(?:[_:&lt;]|$)|(?:^|[_:])addmm(?:[_:&lt;]|$))"}, {"id": "layout", "category": "Layout / device copies", "pattern": "(?:memcpy|memmove|copy_kernel|direct_copy|copy_if|copy_device|CatArrayBatchedCopy|concat|concatenate|transpose|permute|nchwToNhwc|nhwcToNchw|tensorTransformGeneric|contiguous|gather_kernel|scatter_kernel|_scatter_gather_elementwise_kernel|indexFunc|index_(?:select|put)|indexSelect(?:Small|Large)Index|index_elementwise|pack_kernel|unpack_kernel|split_with_sizes_copy|ConvertTo|convert_kernel|cast_kernel|typecast|FillFunctor|fill_kernel)"}, {"id": "pointwise", "category": "Norm / activation / elementwise", "pattern": "(?:rms.?norm|layer.?norm|group.?norm|batch.?norm|act_and_mul|silu|swiglu|geglu|gelu|glu_kernel|fused.?mlp|elementwise|indexed_gate|norm_indexed|norm_scale|rope|rotary|softmax|reduce_kernel|Reduce(?:\\.cuh|\\.cu)|vectorized.*?kernel|unrolled.*?kernel)"}], "unmatched_category": "Other kernels", "fused_kernel_accounting": "The complete fused kernel duration stays in its matched category. Attention is not split into internal matrix products; fused GEMM epilogues stay in GEMM. Explicit implicit-GEMM convolution kernels are classified as Convolution."}, "validation": {"source_strict_acceptance": true, "independent_nsys_totals": true, "categories_partition_total": true, "per_device_matches_grouped_names": true}, "limitations": ["Aggregate GPU operation durations overlap across devices and streams; these are not additive E2E critical-path times.", "NCCL duration includes synchronization and waiting; it is not a direct bandwidth or network-transfer measurement.", "Kernel categories are explicit name-based classifications; unmatched names remain visible in Other kernels.", "The denominator excludes CPU-only work and GPU idle gaps."], "sources": {"summary_sha256": "0b663cbdd2f3a9e5e0d453d5f355fd348f99c62bd7240da048001ea53805ba0b", "classifier_sha256": "4e739e27c44cb983d50eeb909ea9d954d654ea3f96f2a45192610b8feadb9af2"}}, "host_nvtx_stage_envelopes": [{"stage": "Encoder", "seconds": 7.271786674}, {"stage": "DiT", "seconds": 204.813919985}, {"stage": "VAE / audio decode", "seconds": 1.742411768}, {"stage": "Other / response", "seconds": 1.1402172918477902}], "host_nvtx_ranges": [{"label": "H3.encoder.text_and_vision", "start_ns": 350352756, "end_ns": 7622139430}, {"label": "H3.DiT.50_steps", "start_ns": 8149580399, "end_ns": 212963500384}, {"label": "H3.decode", "start_ns": 212964276362, "end_ns": 214706688130}], "validation": {"matched_model_inputs_and_precision": true, "complete_projection_tables": true, "native_projections_exact": true, "output_matches_unprofiled_reference": true, "strict_nsys_counts_and_attribution": true, "independent_nsys_totals": true, "all_eight_devices": true}, "capture_requests": [{"ordinal": 0, "phase": "initialize", "e2e_seconds": 273.27750528045, "mp4_sha256": "1b33831db7a24ace2e96365b63356b8052a2abe1932b92e894fbf5db0a4f0900", "decoded_sha256": {"video": "SHA256=e7b6a5d5a15abebfc0981dba0d0c8f6759336ebce40a0e1c36a4d5d187cc45a1", "audio": "SHA256=cee8b1b9dad71362550dcd3967d1d7405bd1d49a8406245427744fefe5a0bf65"}}, {"ordinal": 1, "phase": "warmup", "e2e_seconds": 254.3866053307429, "mp4_sha256": "a7581ae1cb28d3503ff4ab8b31124d91f6184df989fef4817560da62e2148a4f", "decoded_sha256": {"video": "SHA256=9ec38b0f73faf69377395e652b8b7d3cf6617b9bc31c01964d059aabdf535261", "audio": "SHA256=2f76428baefb1ffd0af21ef1df7caea4764689ed8bffe0766b1718833ddeb263"}}, {"ordinal": 2, "phase": "profiled", "e2e_seconds": 214.9683357188478, "mp4_sha256": "a7581ae1cb28d3503ff4ab8b31124d91f6184df989fef4817560da62e2148a4f", "decoded_sha256": {"video": "SHA256=9ec38b0f73faf69377395e652b8b7d3cf6617b9bc31c01964d059aabdf535261", "audio": "SHA256=2f76428baefb1ffd0af21ef1df7caea4764689ed8bffe0766b1718833ddeb263"}}], "report": {"filename": "H3_Base50_Exact_Precomputed_8GPU.nsys-rep", "bytes": 1581264986, "sha256": "e8bd92874b2a86af889cecb257e71032d2694df438cdf3991bf6bf0c8616c401"}, "provenance": {"nsys_version": "NVIDIA Nsight Systems version 2025.3.2.474-253236389321v0", "graph_trace": "node", "gpu_metrics_hz": 1000, "nic_metrics": false, "sqlite_sha256": "384899be27cf0bb9b20e15ebc570f8715d32f09222967fc0560cf76f1702fbdf", "source_stage_sha256": "9df6a5063ca69c1a1b9ef8de693d7aa77f3b65944d2dee7c561ac812515a5bb0", "server_log_sha256": "bc276ee5c53f8c1a531209370f6d210d87160b8fe0a8395aa025858a6e3ee58f", "strict_analysis_sha256": "0b663cbdd2f3a9e5e0d453d5f355fd348f99c62bd7240da048001ea53805ba0b", "analysis_program_sha256": "6d4eb0bbf672d842c9ccb1e8668712106b2a0f37ee0433555d5b12662716b58a"}, "limitations": ["The profiled request is separate from the two unprofiled timing requests; profiler overhead must not replace the 213.402 s benchmark median.", "NVTX host stage envelopes describe CPU range duration, not synchronized GPU critical-path intervals.", "The GPU category denominator sums CUDA operation durations across all GPUs, including communication waiting; it excludes CPU time and idle gaps.", "No optimization-ladder cohorts were rerun."]}</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Video generation starts from noise. Base H3 runs the full DiT once for each denoising update, so the model runs 50 times. Parallel Decoding Distillation uses Base H3 as the teacher and trains a student to predict several fine-interval updates in one DiT evaluation. The released H3 Ref2VA PDD adapter uses a new 32-interval schedule and predicts four interval velocities per evaluation, so 32 divided by 4 equals eight DiT evaluations. This is not the same as selecting eight of the original 50 solver steps. Each H3 evaluation still crosses 50 DiT blocks, so repeated block executions fall from 50 times 50, or 2,500, to 8 times 50, or 400. That is 84 percent fewer repeated block calls, reducing repeated attention, GEMM/MLP, and USP communication together. The 84 percent figure is workload arithmetic, not measured end-to-end speedup; encoders, VAE, data movement, memory, and matched quality still require end-to-end validation. NVIDIA Figure 2 shows the generic N=12, L=4 mechanism; the H3 N=32, L=4 schedule is labeled outside the paper figure.</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Architecture paraphrased from VSA Figure 1 and Section 3: https://arxiv.org/html/2505.13389v4 . H3 uses logical tiles of 128; do not substitute the paper default block geometry. The displayed figure is the cited VSA figure. H3 adaptation fixes the fine gate at one.</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User-requested takeaways after the recorded demo. These summarize the experiment and future directions; they do not add benchmark results.</a:t>
            </a:r>
          </a:p>
          <a:p>
            <a:r>
              <a:t>Communication optimization is described as lossless when the numerical workload is retained. GPU/NIC topology, bottlenecks, available bandwidth and transfer volume must be considered together.</a:t>
            </a:r>
          </a:p>
          <a:p>
            <a:r>
              <a:t>Quantization quality must be evaluated per model and workload. No universal quality claim is made.</a:t>
            </a:r>
          </a:p>
          <a:p>
            <a:r>
              <a:t>The final point is future work: autoregressive diffusion for lower response latency, and prompt enhancement for richer interactions. Neither is presented as a completed improvement in the recorded demo.</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Stages group representative kernels rather than counting individual launches. The timeline is a conceptual launch-bound example on the same illustrative time scale. Matching kernel widths indicate unchanged work; the diagram is not an Nsight capture, and does not quantify the measured request gain. No retained paired Nsight screenshots isolate the graph-only change. RDMA and input/output readiness events are outside this prototype capture; graphs do not directly raise link bandwidth. Capture body: unpack QKV, original fine/coarse VSA, pack O_BUNDLE.</a:t>
            </a:r>
          </a:p>
          <a:p>
            <a:r>
              <a:t>Historical selected-profile 8-GPU head pipeline 1/2/3/1: warmed local HTTP request to complete MP4 mean 13.249868 s without compute graph versus 11.993609333333334 s with graph, three measured requests per cohort, fixed 960x544 / 362 frames / 8 steps / one reference. Model load and one per-shape warmup excluded. This is retained cohort evidence, not a newly randomized run or a new 2/3/2 measurement.</a:t>
            </a:r>
          </a:p>
          <a:p>
            <a:r>
              <a:t>Separate single-GPU four-arm component experiment on saved real layer-0 input: 12 counterbalanced rounds x 20 repeats, 5 warmup repeats. Seven-head eager 11.703171412150065 ms, graph 11.658073425292969 ms (0.385% reduction); bands 1/2/3/1 eager 12.323460133870443 ms, graph 12.040123176574706 ms (2.299% reduction). Excludes RDMA, gate, W_O, other DiT, encoder, VAE and HTTP. Bit-exact output checks passed before and after. Even banded graph compute remains 2.879% slower than unbanded eager compute; total pipeline gain depends on communication overlap. Evidence: cuda-graph-evidence.json.</a:t>
            </a:r>
          </a:p>
          <a:p>
            <a:r>
              <a:t>https://docs.nvidia.com/cuda/cuda-programming-guide/04-special-topics/cuda-graphs.html</a:t>
            </a:r>
          </a:p>
          <a:p>
            <a:r>
              <a:t>https://docs.pytorch.org/docs/stable/notes/cuda</a:t>
            </a:r>
          </a:p>
          <a:p/>
          <a:p>
            <a:r>
              <a:t>Merged suitability and scope from v1.28 page 19:</a:t>
            </a:r>
          </a:p>
          <a:p>
            <a:r>
              <a:t>Suitability follows from the inspected qad_head_compute_graph.py implementation, not a claim that every H3 or RDMA operation is graph-safe. The existing prototype is opt-in, inference-only, on a dedicated compute stream. It validates production SP8 geometry, tile128 multi-region metadata, mask-free non-joint attention, registered BF16 input/output views, and fixed addresses. A request runs 50 blocks x 8 model evaluations, giving 400 repeated attention calls per band when the profile, route plan, runtime and backend stay unchanged. Weights/GEMMs are outside this compute island, allowing reuse across blocks.</a:t>
            </a:r>
          </a:p>
          <a:p>
            <a:r>
              <a:t>Sparse Top-K selection is input-dependent, but values/selected indices may change while tensor shapes and launch structure remain fixed. Input-ready wait is enqueued before replay and output-ready recorded afterward; correctness requires stable buffer lifetime and safe reuse. Tensor values are refreshed in registered storage before replay. Cached entries retain runtime, route plan, geometry and callable objects.</a:t>
            </a:r>
          </a:p>
          <a:p>
            <a:r>
              <a:t>Actual cache identity includes runtime identity, compute stream, band position/start/head count, receive/send data pointers, shapes, strides, dtype/device, route-plan identity, complete reference/video/padding metadata, sparsity/keep rate, provider/precision/backend settings and callable identities. Two equal-sized bands A/C need not share GraphExec because their registered addresses differ. S and Kmax shorthand on slides denotes geometry encoded in buffers/plan and metadata.</a:t>
            </a:r>
          </a:p>
          <a:p>
            <a:r>
              <a:t>The actual prototype warms exact shape/JIT, synchronizes, captures a private pool and explicitly first-replays on a miss; full cache raises an error. Eager fallback and qualifying recurring profiles in vLLM are proposed production policy, not behavior already implemented by this prototype. Different resolution/frame/reference/head profile must not replay an incompatible graph.</a:t>
            </a:r>
          </a:p>
          <a:p>
            <a:r>
              <a:t>The same CUDA Graph mechanism is common in LLM inference; decode often dispatches batch/token-count profiles, while this H3 compute island dispatches video/reference geometry and head-band slots. This is a workload distinction, not a different graph algorithm. Kernel-dominated large bands may gain little. Capture/instantiate time and private-pool memory must amortize across replays. In the separate four-arm prototype, the 1/2/3/1 cold install after external JIT took 38.663 ms and added 1222 MiB reserved memory; these are experiment-specific costs, not a forecast for 2/3/2.</a:t>
            </a:r>
          </a:p>
          <a:p>
            <a:r>
              <a:t>https://docs.nvidia.com/cuda/cuda-programming-guide/04-special-topics/cuda-graphs.html</a:t>
            </a:r>
          </a:p>
          <a:p>
            <a:r>
              <a:t>https://docs.pytorch.org/docs/stable/notes/cuda</a:t>
            </a:r>
          </a:p>
          <a:p>
            <a:r>
              <a:t>Key causal distinction: head pipelining exposes useful transfer/attention overlap; graph replay amortizes the extra per-band compute submissions. Illustrative timeline retains the same kernel-stage widths in both modes; it is not measured Nsight evidence and does not attribute the entire 9.48% request delta to GPU idle time. All detailed production scope, LLM comparison, cache-key requirements and cold-cost evidence remain in speaker notes.</a:t>
            </a:r>
          </a:p>
          <a:p/>
          <a:p>
            <a:r>
              <a:t>v1.30 clarifies why combine these optimizations. Graph replay is possible before splitting heads. In the controlled four-arm experiment, Graph reduced all-seven-head compute by 0.385% and 1/2/3/1 banded compute by 2.299%. Splitting by itself added 5.30% compute time; split-plus-Graph remained 2.879% slower than all-head eager compute. Therefore these component results support a stronger Graph benefit after splitting, not a claim that the combined path always wins. End-to-end benefit relies on useful communication overlap. The retained 8-GPU 1/2/3/1 warmed request cohorts are 13.249868 seconds without compute Graph and 11.993609333 seconds with it, a 9.481% reduction (three requests each, not newly randomized). No matched full-model four-arm experiment establishes the combined path against all-head Graph.</a:t>
            </a:r>
          </a:p>
          <a:p>
            <a:r>
              <a:t>Graph batches submission; it does not fuse the GPU kernels. QKV linear projection is outside this compute island. Capture includes unpack QKV, original fine/coarse VSA including routing/Top-K, and pack O_BUNDLE. Host mlx5 RDMA, readiness events, local gate/assembly and full W_O remain outside the current prototype. Do not generalize this scope to all RDMA APIs.</a:t>
            </a:r>
          </a:p>
          <a:p>
            <a:r>
              <a:t>The CPU schedule submits each compute band before continuing host-driven RDMA, so reducing submission work can also allow earlier host progress. This is a mechanistic explanation, not measured attribution of the entire request delta. If CPU submission is already ahead of GPU execution, Graph can add little benefit.</a:t>
            </a:r>
          </a:p>
          <a:p>
            <a:r>
              <a:t>Nsight timing semantics: enqueue occurs during the CPU launch API, so a GPU kernel may begin before that API returns. The conceptual drawing now marks enqueue points before each GPU start. CPU API return is not the dependency that gates GPU execution. Kernel widths are preserved across eager and graph diagrams; the diagram is not a measured before/after trace.</a:t>
            </a:r>
          </a:p>
          <a:p>
            <a:r>
              <a:t>Suitability is conditional on a stable profile: request geometry, S, Kmax, reference/padding metadata, band slot, backend, dtype, shape, stride and registered buffer pointers. Different data and sparse indices can be supplied without changing launch structure. Equal-sized bands can still require distinct graphs because pointers differ. Fifty blocks times eight evaluations give 400 uses per band when runtime/route/backend/profile remain unchanged. H3 has a repeated geometry within a request, whereas continuously batched LLM decoding often varies batch size, KV length and active requests; both can use Graph after their profiles and buffers are qualified.</a:t>
            </a:r>
          </a:p>
          <a:p>
            <a:r>
              <a:t>Caveats: capture/JIT/first-replay costs and private graph pools must be amortized. Historical four-band cold install after external geometry JIT cost 38.663 ms and increased reserved memory by 1222 MiB in this experiment. A shape/cache miss warms, synchronizes and captures; the retained 32-entry cache raises when full. An eager production fallback is proposed, not implemented. CPU work is not replayed. Correct readiness, collective order, stream joins and buffer lifetime remain necessary. The retained qualification is inference-only, tile 128, mask-free, nonjoint and SP8. The selected 2/3/2 schedule needs its own qualification and end-to-end measurements.</a:t>
            </a:r>
          </a:p>
          <a:p>
            <a:r>
              <a:t>Official timing semantics: https://docs.nvidia.com/nsight-systems/AnalysisGuide/</a:t>
            </a:r>
          </a:p>
          <a:p>
            <a:r>
              <a:t>Graph semantics: https://docs.pytorch.org/docs/stable/notes/cuda ; https://docs.nvidia.com/cuda/cuda-programming-guide/04-special-topics/cuda-graphs.html</a:t>
            </a:r>
          </a:p>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page explains the actual rolling demo implementation as a schematic, not a new benchmark or a guarantee of seamless long-term quality.</a:t>
            </a:r>
          </a:p>
          <a:p>
            <a:r>
              <a:t>Each request generates 124 frames at 24 FPS. Window starts are 0, 119, 238. The first request emits all 124 frames. Subsequent requests remove five overlapping frames and corresponding decoded audio, yielding 119 new frames.</a:t>
            </a:r>
          </a:p>
          <a:p>
            <a:r>
              <a:t>The previous completed request retains only its last two video latent slices and an aligned audio latent tail. These are appended to existing visual/audio conditioning for the next request.</a:t>
            </a:r>
          </a:p>
          <a:p>
            <a:r>
              <a:t>The reference image and voice remain inputs. The next prompt may contain a new English reply or quiet listening instructions.</a:t>
            </a:r>
          </a:p>
          <a:p>
            <a:r>
              <a:t>In the interactive demo the video guide mixes 80 percent retained history and 20 percent seeded noise. The audio guide stays clean. Target video and audio prefix clamping are off.</a:t>
            </a:r>
          </a:p>
          <a:p>
            <a:r>
              <a:t>Cumulative AV positions continue across windows. Audio overlap uses rounded cumulative boundaries, resulting in eight or nine latent tokens; the slide simplifies this as matching audio.</a:t>
            </a:r>
          </a:p>
          <a:p>
            <a:r>
              <a:t>New state is committed only after successful MP4 generation. The diagram is fixed-size state handoff across requests; the runtime does not retain the whole video.</a:t>
            </a:r>
          </a:p>
          <a:p>
            <a:r>
              <a:t>The interaction example stays on slide 16. The recorded demonstration follows on slide 18.</a:t>
            </a:r>
          </a:p>
          <a:p>
            <a:r>
              <a:t>Updated visual: actual last frame of request 0 and actual first retained frame of request 1 from the same validated interactive-demo session. The right image is already overlap-trimmed; it is not a raw generated prefix. Media ordinal 0 has 124 frames, ordinal 1 has 119 emitted frames. The timeline illustrates removal of the five-frame overlapping start, with aligned audio trimming. Static frames do not establish seamless motion or guarantee long-term quality. See continuation-frames.json for extraction provenance.</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English question translated from the recorded demo. The reply is the LLM preview, not a verified transcript of generated speech.</a:t>
            </a:r>
          </a:p>
          <a:p>
            <a:r>
              <a:t>The image is the actual input reference.png read by the demo server from workload.json and sent to H3 as an input reference.</a:t>
            </a:r>
          </a:p>
          <a:p>
            <a:r>
              <a:t>Reference image SHA256: 560c094f9900ea762227f84481ca8a2f73adac69963e0d1a78563bec1844d6b8</a:t>
            </a:r>
          </a:p>
          <a:p>
            <a:r>
              <a:t>The English H3 prompt, model configuration and following recorded video are unchanged.</a:t>
            </a:r>
          </a:p>
          <a:p>
            <a:r>
              <a:t>The slide omits low-level AV latent-tail implementation details.</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High-level explanation only. Slide 15 describes the eight-evaluation QAD pipeline; slide 5 describes the distinct historical four-step avatar. Do not imply all techniques are enabled in both recipes.</a:t>
            </a:r>
          </a:p>
          <a:p>
            <a:r>
              <a:t>Online evidence: https://lishunyang12.github.io/fasth3-omni-evaluation-20261018/reports/h3-liveavatar-long-video-20261014/</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Static functional topology, no payload overlays. Four CX8 devices each serve two GPUs. GPU-to-switch and shared switch-to-CPU links are PCIe Gen5 x16: 63.015 GB/s per direction after line encoding and before packet overhead. Switch-to-NIC is Gen6 x16: 128 GB/s nominal per direction shared by two NIC functions. Each GPU is mapped to a 400 Gb/s RoCE port: 50 GB/s nominal one-way. Each CX8 has 800 Gb/s aggregate network capacity for its two GPUs, or 100 GB/s send and independently 100 GB/s receive. The eight ports total 400 GB/s nominal send, not guaranteed effective throughput. Protocol, fabric and receiver constraints remain. The former 256 GB/s xGMI platform maximum is removed: it was not this host's verified configured capacity. A new CPU sequential remote-memory-read experiment measured 113.02-135.71 GB/s medians across 8/16/32/56 threads and both directions. This workload includes DRAM, fabric and CPU limitations; it is not GPU-path capacity or an xGMI counter measurement. Kernel 5.15 lacks an exposed HSMP interface on this host, and privileged configuration access is unavailable. Sources: https://developer.nvidia.com/blog/nvidia-connectx-8-supernics-advance-ai-platform-architecture-with-pcie-gen6-connectivity/ https://docs.amd.com/v/u/en-US/58462_amd-epyc-9005-tg-architecture-overview</a:t>
            </a:r>
          </a:p>
          <a:p>
            <a:r>
              <a:t>CPU-to-CPU capacity uses C=256 GB/s as the raw one-way aggregate model input (4 links x 16 lanes x 32 Gb/s / 8). Installed link configuration and effective payload rate are not established. https://docs.amd.com/v/u/en-US/58462_amd-epyc-9005-tg-architecture-overview</a:t>
            </a:r>
          </a:p>
          <a:p>
            <a:r>
              <a:t>Topology redrawn as SVG in v1.32. Separate GPU, NIC and host-uplink wiring; capacities and device mapping retained. Blue lines show the NIC/fabric branch. The fabric rail represents logical connectivity, not a single measured physical link. xGMI 256 GB/s remains an unverified raw-capacity model input.</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gray bars now use original vLLM-Omni all_to_all_4D, AST-extracted without modifications from clean checkout 63487a7f22db603adefcdac378cfe2a26f6bcb7c, matching the recorded Base50 source HEAD. The original function is replayed eagerly; this is not a full-model torch.compile or E2E run. PyTorch 2.13.0+cu132, NCCL 2.29.7, 8 GPUs, B1 H56 D128 BF16. Q/K/V scatter heads and O gathers heads. The comparison explicitly adds NCCL_NET_DISABLE_INTRA=1 with NCCL_IB_DISABLE=1, NCCL_P2P_DISABLE=0, NCCL_SHM_DISABLE=0. This additional local-only control was NOT recorded in the historical Base50 launch. Fresh original-source audit finds all 56 directed pairs: eight within-subtree P2P/CUMEM, 16 within-NUMA cross-subtree SHM/direct/direct, 32 cross-NUMA SHM/direct/direct. All eight physical mlx5_0..7 TX/RX counters remained unchanged during 20 Q/K/V/O repeats. The separate IB-disable-only replay selected NET/Socket for cross-NUMA; it must not be called a pure P2P/SHM run. Historical Base50 per-pair routes remain unrecorded. Connection logs establish routes, not channel byte/time fractions. Each local two-GPU subtree must carry six of seven peer payloads over its CPU uplink; 2*B*6/7 &lt;=63.015 gives B&lt;=36.759. The socket cut requires 4*B*4/7&lt;=C, so B&lt;=7*C/16. C is unmeasured; raw xGMI platform maximum is not usable C. SHM staging can add further memory/protocol overhead. All-RDMA uses nearest GPU-affine ports and bypasses the CPU-facing payload route. The necessary RDMA bound is min(63.015,128/2,50)=50 GB/s/GPU, with no network oversubscription assumed; all values are one-way. These capacity bounds do not explain or predict the entire measured improvement. Original NCCL includes its eager output allocations and relayouts; FI uses reusable registered outputs and ordinary-input staging. Both include synchronization and CPU-to-GPU-completion timing. No GEMM/attention, no graphs, unlocked clocks, resident services preserved. The timing is rank maximum per sample, then pooled median across three rounds with alternating route order. Original-source and route audit: local-nccl-20261026/source-evidence.json, route-audits.json. [{"sequence": 15104, "route": "nccl", "samples": 90, "median_ms": 5.5599215, "p10_ms": 5.464282000000001, "p90_ms": 5.776382, "round_medians_ms": [5.5446314999999995, 5.5613515, 5.569026], "TX_bytes_per_GPU": 94732288, "effective_TX_GBps_per_GPU": 17.038421855416484}, {"sequence": 15104, "route": "rdma", "samples": 90, "median_ms": 2.3746525, "p10_ms": 2.3610830000000003, "p90_ms": 2.387686, "round_medians_ms": [2.3754575, 2.3743675, 2.3743375], "TX_bytes_per_GPU": 94732288, "effective_TX_GBps_per_GPU": 39.893116150678885}, {"sequence": 32768, "route": "nccl", "samples": 90, "median_ms": 12.123344, "p10_ms": 11.8987111, "p90_ms": 12.4382989, "round_medians_ms": [12.0223615, 12.136538999999999, 12.241837499999999], "TX_bytes_per_GPU": 205520896, "effective_TX_GBps_per_GPU": 16.952492315651526}, {"sequence": 32768, "route": "rdma", "samples": 90, "median_ms": 4.9158825, "p10_ms": 4.904389, "p90_ms": 4.929872, "round_medians_ms": [4.916513, 4.918573, 4.9130175000000005], "TX_bytes_per_GPU": 205520896, "effective_TX_GBps_per_GPU": 41.80752814982864}, {"sequence": 65536, "route": "nccl", "samples": 90, "median_ms": 22.4714855, "p10_ms": 21.618092100000002, "p90_ms": 23.0818239, "round_medians_ms": [22.239369500000002, 22.4875045, 22.560588000000003], "TX_bytes_per_GPU": 411041792, "effective_TX_GBps_per_GPU": 18.2917053703459}, {"sequence": 65536, "route": "rdma", "samples": 90, "median_ms": 9.6350585, "p10_ms": 9.622725099999998, "p90_ms": 9.661646, "round_medians_ms": [9.634298000000001, 9.639059, 9.631359], "TX_bytes_per_GPU": 411041792, "effective_TX_GBps_per_GPU": 42.661058259272636}]</a:t>
            </a:r>
          </a:p>
          <a:p>
            <a:r>
              <a:t>Conclusion update: The local-NCCL to FI-RDMA speedups are 2.341361, 2.466158 and 2.332262 for S=15104/32768/65536. The comparison validates the complete tested communication implementations, not a pure link substitution. To support B=36.759, the socket cut needs C=84.0205 GB/s. CPU remote-read results above this value do not establish the GPU/SHM path capacity, especially with simultaneous bidirectional traffic. Neither PCIe saturation nor xGMI saturation is isolated. Do not claim xGMI saturation is the cause of the observed improvement.</a:t>
            </a:r>
          </a:p>
          <a:p>
            <a:r>
              <a:t>C=256 GB/s is a one-way raw aggregate capacity assumption, not the installed measured payload bandwidth. Uniform all-to-all yields B&lt;=7C/16=112 GB/s, so the shared Gen5 x16 uplink bound (36.8 GB/s) is tighter in this model. Real SHM, memory and interconnect costs can reduce observed throughput. The curves remain the retained communication microbenchmarks, not E2E.</a:t>
            </a:r>
          </a:p>
          <a:p/>
          <a:p>
            <a:r>
              <a:t>Merged prior p17 validation:</a:t>
            </a:r>
          </a:p>
          <a:p>
            <a:r>
              <a:t>The transport precheck used four physical ranks and the real RDMA route with synthetic, rank-distinct BF16 inputs. Its 96 passing rank-cases are 24 distributed configurations observed on four ranks: two row counts, three head widths, two stream priorities and two phases. It retained the production eight-slot layout, transported physical peer slots zero through three and zero-filled the other receive slots. Q and K were exchanged while V contained NaNs; only after that exchange did a producer stream publish V and record a CUDA event, which the communication stream waited on before reading V. This proves ordering and synchronization, not concurrent V projection or overlap gain. The captured graph contains only fixed-address split-QKV unpack, which remained byte-exact after inputs changed and the graph replayed. The all-RDMA collective stays outside CUDA Graph capture and explicitly refuses capture because it posts mlx5 work requests and polls completion queues from the host. Whole output return and two row-chunk returns, including the repeated coarse tail, matched independent references byte for byte. These are transport and layout exactness results; full attention, W_O, end-to-end latency, peak memory and candidate overlap were not measured. The complete eight-GPU H3 candidate therefore remains pending. Evidence bundle: real-rdma-four-gpu-20261024-v2/summary.json.</a:t>
            </a:r>
          </a:p>
          <a:p/>
          <a:p>
            <a:r>
              <a:t>Merged prior p18 interpretation:</a:t>
            </a:r>
          </a:p>
          <a:p>
            <a:r>
              <a:t>Recommended presentation closing: On this eight-GPU PCIe platform, use the tested GPU-affine FI RDMA path for Ulysses. Against the controlled local NCCL replay of the original Ulysses code, the complete FI implementation improves communication throughput from 17.0-18.3 to 39.9-42.7 GB/s/GPU and reduces Q/K/V/O time by a factor of 2.33-2.47. The local-only environment adds NCCL_NET_DISABLE_INTRA=1; it is not a rerun of historical Base50 E2E. Route logs establish P2P/SHM versus nearest-port RDMA selection. They do not establish per-link utilization or attribute percentages of performance. The optimistic PCIe shared-uplink bound is 36.76 GB/s/GPU. The xGMI cut would need at least 84.02 GB/s to support that bound, but the relevant GPU/SHM capacity is unmeasured. The CPU remote-memory experiment is supporting platform context only. Do not infer that CPU interconnect is harmless or saturated. Further tuning should reduce input staging via direct production into registered buffers, followed by full-H3 validation of correctness, E2E latency and compute/communication overlap. Previous isolated producer-direct communication experiments showed possible improvement, but those are not an E2E result. The immediately preceding validation slide concerns a separate overlap/graph/tiled-O candidate, whose full eight-GPU H3 acceptance remains pending. No claim is made that NCCL inherently cannot use RDMA or that the observed implementation speedup is solely due to network bandwidth.</a:t>
            </a:r>
          </a:p>
          <a:p/>
          <a:p>
            <a:r>
              <a:t>Current model clarification: C=256 GB/s is only the raw one-way aggregate xGMI assumption; installed effective capacity is unknown. Under that assumption the 36.8 GB/s shared PCIe uplink bound is tighter. This does not exclude memory/SHM/xGMI implementation costs as contributors to the measured gap.</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 stages 08–12 as one engineering refinement, with the detailed stage measurements retained on the linked data page.</a:t>
            </a:r>
          </a:p>
          <a:p>
            <a:r>
              <a:t>Speedups are ratios of the unrounded medians of adjacent displayed configurations, not ratios of rounded table values or paired per-request speedups.</a:t>
            </a:r>
          </a:p>
          <a:p>
            <a:r>
              <a:t>The 00→01 value is a descriptive ratio across separately recorded baseline policies, not an isolated causal gain from step reduction.</a:t>
            </a:r>
          </a:p>
          <a:p>
            <a:r>
              <a:t>The final 4.922-second result is a standalone 124-frame request and does not establish sustained rolling RTF below one.</a:t>
            </a:r>
          </a:p>
          <a:p>
            <a:r>
              <a:t>https://lishunyang12.github.io/fasth3-omni-evaluation-20261018/slides/minimax-h3-real-time-inference-20261025/v1.43/benchmarks.html</a:t>
            </a:r>
          </a:p>
          <a:p>
            <a:r>
              <a:t>[{"stage": "00", "title": "Baseline \u00b7 original BF16 / dense / 50 evaluations", "median_seconds": 213.40215269569308, "rtf": 41.303642457230914, "previous_stage": null, "speedup": null, "separately_refreshed_baseline": false}, {"stage": "01", "title": "+ PDD \u00b7 50 \u2192 8 evaluations", "median_seconds": 44.32691093347967, "rtf": 8.579402116157354, "previous_stage": "00-base50", "speedup": 4.814279817872727, "separately_refreshed_baseline": true}, {"stage": "02", "title": "+ Trained VSA \u00b7 native 8-step model / runtime", "median_seconds": 25.915374606847763, "rtf": 5.015878956164083, "previous_stage": "01-pdd8", "speedup": 1.7104483962106, "separately_refreshed_baseline": false}, {"stage": "03", "title": "+ QAD NVFP4 DiT / native FP4 attention", "median_seconds": 19.460303778760135, "rtf": 3.766510408792284, "previous_stage": "02-vsa", "speedup": 1.3317045253493416, "separately_refreshed_baseline": false}, {"stage": "04", "title": "+ RDMA / direct layout / V-gate overlap", "median_seconds": 6.832498379051685, "rtf": 1.3224190411067778, "previous_stage": "03-qad-native-fp4", "speedup": 2.84819735024381, "separately_refreshed_baseline": false}, {"stage": "05", "title": "+ 2 / 3 / 2 head pipeline", "median_seconds": 6.407273745164275, "rtf": 1.240117499064053, "previous_stage": "04-ulysses", "speedup": 1.0663659226684887, "separately_refreshed_baseline": false}, {"stage": "06", "title": "+ Compute CUDA graphs", "median_seconds": 6.192990344949067, "rtf": 1.198643292570787, "previous_stage": "05-head-232", "speedup": 1.0346009582252902, "separately_refreshed_baseline": false}, {"stage": "07", "title": "+ 36-layer NVFP4 VAE / MP4 pre-encoding", "median_seconds": 5.419804787263274, "rtf": 1.048994474954182, "previous_stage": "06-cuda-graph", "speedup": 1.1426593001103664, "separately_refreshed_baseline": false}, {"stage": "08\u201312", "title": "+ Output and data-movement optimizations", "median_seconds": 4.9224158665165305, "rtf": 0.9527256515838446, "previous_stage": "07-vae-output", "speedup": 1.1010456926506564, "separately_refreshed_baseline": false}]</a:t>
            </a: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Required closing slide from NVIDIA Corporate PPT Template Starter Guide v1, page 22.</a:t>
            </a:r>
          </a:p>
        </p:txBody>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GPU owns seven attention heads after Ulysses redistribution. Selected band slices [0:2], [2:5], [5:7]. Each band receives Q/K/V for the complete global sequence before executing fine/coarse VSA. Stream events gate readiness and buffer reuse. Returned O bands restore all 56 heads for each token in the local token shard before full W_O; there is no independent full output projection per head band. Shared NIC direction capacity still applies; the communication lane here serializes operations and illustrates overlap with compute. The schedule is conceptual with illustrative durations, not a prediction of latency. 2/3/2 is selected for the updated presentation and has not been benchmarked here. Historical measurements used 1/2/3/1 and are labeled separately.</a:t>
            </a:r>
          </a:p>
          <a:p>
            <a:r>
              <a:t>v1.27 visual revision: consistent blue input transfers, gray output transfers, green compute bands with visible separation, three readiness arrows and an explicit complete-output dependency. Timing coordinates and logical ordering are unchanged.</a:t>
            </a:r>
          </a:p>
          <a:p>
            <a:r>
              <a:t>Pipeline changes dependency granularity to hide transfers behind productive work. It also repeats the compute submission sequence for every band. CUDA Graph is the following optimization: replay each qualified band compute island to reduce CPU/driver submission overhead. It neither changes link bandwidth nor replaces the head-pipeline readiness dependencies.</a:t>
            </a:r>
          </a:p>
          <a:p>
            <a:r>
              <a:t>Head-band caveats: smaller bands can lose kernel efficiency and add launches, events and communication calls. Each band still needs full-sequence QKV; all O bands must restore the full 56-head local-token representation before W_O. Rank ordering, input readiness and buffer lifetime must remain correct. Compute and transfers can compete for HBM/PCIe/NIC resources. Overlap must repay the extra scheduling and split-kernel cost. CUDA Graph can already be used before banding; banding increases repeated submissions and strengthens its motivation. The displayed 2/3/2 remains a selected schematic, without a matched full-model benchmark in this release.</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5" name="KV Cover">
            <a:extLst>
              <a:ext uri="{FF2B5EF4-FFF2-40B4-BE49-F238E27FC236}">
                <a16:creationId xmlns:a16="http://schemas.microsoft.com/office/drawing/2014/main" id="{1159C106-99AA-D6FE-4680-F5FA37DEFB33}"/>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6" name="Gradient">
            <a:extLst>
              <a:ext uri="{FF2B5EF4-FFF2-40B4-BE49-F238E27FC236}">
                <a16:creationId xmlns:a16="http://schemas.microsoft.com/office/drawing/2014/main" id="{AB8E17C0-2F94-AA60-3059-BB1990DAB002}"/>
              </a:ext>
            </a:extLst>
          </p:cNvPr>
          <p:cNvSpPr>
            <a:spLocks noGrp="1" noRot="1" noMove="1" noResize="1" noEditPoints="1" noAdjustHandles="1" noChangeArrowheads="1" noChangeShapeType="1"/>
          </p:cNvSpPr>
          <p:nvPr userDrawn="1"/>
        </p:nvSpPr>
        <p:spPr>
          <a:xfrm>
            <a:off x="0" y="0"/>
            <a:ext cx="19659600" cy="20574000"/>
          </a:xfrm>
          <a:prstGeom prst="rect">
            <a:avLst/>
          </a:prstGeom>
          <a:gradFill flip="none" rotWithShape="1">
            <a:gsLst>
              <a:gs pos="0">
                <a:schemeClr val="bg1">
                  <a:alpha val="2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 Placeholder 2">
            <a:extLst>
              <a:ext uri="{FF2B5EF4-FFF2-40B4-BE49-F238E27FC236}">
                <a16:creationId xmlns:a16="http://schemas.microsoft.com/office/drawing/2014/main" id="{C732FCE6-27DF-71BF-764C-6A33A1DC24AA}"/>
              </a:ext>
            </a:extLst>
          </p:cNvPr>
          <p:cNvSpPr>
            <a:spLocks noGrp="1"/>
          </p:cNvSpPr>
          <p:nvPr>
            <p:ph type="body" sz="quarter" idx="12" hasCustomPrompt="1"/>
          </p:nvPr>
        </p:nvSpPr>
        <p:spPr>
          <a:xfrm>
            <a:off x="1828800" y="16919165"/>
            <a:ext cx="16459200" cy="1828800"/>
          </a:xfrm>
          <a:prstGeom prst="rect">
            <a:avLst/>
          </a:prstGeom>
        </p:spPr>
        <p:txBody>
          <a:bodyPr lIns="0" tIns="45720" rIns="0" bIns="45720" anchor="t">
            <a:noAutofit/>
          </a:bodyPr>
          <a:lstStyle>
            <a:lvl1pPr marL="0" indent="0">
              <a:lnSpc>
                <a:spcPct val="90000"/>
              </a:lnSpc>
              <a:spcBef>
                <a:spcPts val="0"/>
              </a:spcBef>
              <a:buNone/>
              <a:defRPr sz="40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Event Details  |  Date</a:t>
            </a:r>
          </a:p>
        </p:txBody>
      </p:sp>
      <p:sp>
        <p:nvSpPr>
          <p:cNvPr id="9" name="Text Placeholder 1">
            <a:extLst>
              <a:ext uri="{FF2B5EF4-FFF2-40B4-BE49-F238E27FC236}">
                <a16:creationId xmlns:a16="http://schemas.microsoft.com/office/drawing/2014/main" id="{B6A7270C-E57A-891D-68FA-E278EDAFDF52}"/>
              </a:ext>
            </a:extLst>
          </p:cNvPr>
          <p:cNvSpPr>
            <a:spLocks noGrp="1"/>
          </p:cNvSpPr>
          <p:nvPr>
            <p:ph type="body" sz="quarter" idx="11" hasCustomPrompt="1"/>
          </p:nvPr>
        </p:nvSpPr>
        <p:spPr>
          <a:xfrm>
            <a:off x="1828800" y="16002000"/>
            <a:ext cx="16459200" cy="729430"/>
          </a:xfrm>
          <a:prstGeom prst="rect">
            <a:avLst/>
          </a:prstGeom>
        </p:spPr>
        <p:txBody>
          <a:bodyPr lIns="0" tIns="45720" rIns="0" bIns="45720" anchor="b">
            <a:noAutofit/>
          </a:bodyPr>
          <a:lstStyle>
            <a:lvl1pPr marL="0" indent="0">
              <a:lnSpc>
                <a:spcPct val="90000"/>
              </a:lnSpc>
              <a:spcBef>
                <a:spcPts val="0"/>
              </a:spcBef>
              <a:buNone/>
              <a:defRPr sz="48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Click to edit speaker name</a:t>
            </a:r>
          </a:p>
        </p:txBody>
      </p:sp>
      <p:sp>
        <p:nvSpPr>
          <p:cNvPr id="8" name="Title Placeholder">
            <a:extLst>
              <a:ext uri="{FF2B5EF4-FFF2-40B4-BE49-F238E27FC236}">
                <a16:creationId xmlns:a16="http://schemas.microsoft.com/office/drawing/2014/main" id="{1B05952E-BEBB-3131-39CE-8BE18E92B621}"/>
              </a:ext>
            </a:extLst>
          </p:cNvPr>
          <p:cNvSpPr>
            <a:spLocks noGrp="1"/>
          </p:cNvSpPr>
          <p:nvPr>
            <p:ph type="body" sz="quarter" idx="10" hasCustomPrompt="1"/>
          </p:nvPr>
        </p:nvSpPr>
        <p:spPr>
          <a:xfrm>
            <a:off x="1737360" y="6858000"/>
            <a:ext cx="16459200" cy="8402300"/>
          </a:xfrm>
          <a:prstGeom prst="rect">
            <a:avLst/>
          </a:prstGeom>
        </p:spPr>
        <p:txBody>
          <a:bodyPr lIns="0" tIns="45720" rIns="0" bIns="45720" anchor="b">
            <a:noAutofit/>
          </a:bodyPr>
          <a:lstStyle>
            <a:lvl1pPr marL="0" indent="0">
              <a:lnSpc>
                <a:spcPct val="90000"/>
              </a:lnSpc>
              <a:spcBef>
                <a:spcPts val="0"/>
              </a:spcBef>
              <a:buNone/>
              <a:defRPr sz="12000" baseline="0">
                <a:latin typeface="+mj-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Click to Edit Presentation Title</a:t>
            </a:r>
          </a:p>
        </p:txBody>
      </p:sp>
      <p:sp>
        <p:nvSpPr>
          <p:cNvPr id="17" name="Logo Text">
            <a:extLst>
              <a:ext uri="{FF2B5EF4-FFF2-40B4-BE49-F238E27FC236}">
                <a16:creationId xmlns:a16="http://schemas.microsoft.com/office/drawing/2014/main" id="{EDAA1242-21FF-D853-07AB-7B5BC2BE0B6D}"/>
              </a:ext>
            </a:extLst>
          </p:cNvPr>
          <p:cNvSpPr>
            <a:spLocks noGrp="1" noRot="1" noMove="1" noResize="1" noEditPoints="1" noAdjustHandles="1" noChangeArrowheads="1" noChangeShapeType="1"/>
          </p:cNvSpPr>
          <p:nvPr userDrawn="1"/>
        </p:nvSpPr>
        <p:spPr>
          <a:xfrm>
            <a:off x="3658247" y="3129472"/>
            <a:ext cx="3646099" cy="683416"/>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endParaRPr lang="en-US"/>
          </a:p>
        </p:txBody>
      </p:sp>
      <p:sp>
        <p:nvSpPr>
          <p:cNvPr id="16" name="Logo Eye">
            <a:extLst>
              <a:ext uri="{FF2B5EF4-FFF2-40B4-BE49-F238E27FC236}">
                <a16:creationId xmlns:a16="http://schemas.microsoft.com/office/drawing/2014/main" id="{7397046C-7F78-E4D8-0656-B1D73F72DF49}"/>
              </a:ext>
            </a:extLst>
          </p:cNvPr>
          <p:cNvSpPr>
            <a:spLocks noGrp="1" noRot="1" noMove="1" noResize="1" noEditPoints="1" noAdjustHandles="1" noChangeArrowheads="1" noChangeShapeType="1"/>
          </p:cNvSpPr>
          <p:nvPr userDrawn="1"/>
        </p:nvSpPr>
        <p:spPr>
          <a:xfrm>
            <a:off x="1828916" y="2933922"/>
            <a:ext cx="1571299" cy="1039766"/>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endParaRPr lang="en-US"/>
          </a:p>
        </p:txBody>
      </p:sp>
    </p:spTree>
    <p:extLst>
      <p:ext uri="{BB962C8B-B14F-4D97-AF65-F5344CB8AC3E}">
        <p14:creationId xmlns:p14="http://schemas.microsoft.com/office/powerpoint/2010/main" val="14452572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accent4"/>
        </a:solidFill>
        <a:effectLst/>
      </p:bgPr>
    </p:bg>
    <p:spTree>
      <p:nvGrpSpPr>
        <p:cNvPr id="1" name=""/>
        <p:cNvGrpSpPr/>
        <p:nvPr/>
      </p:nvGrpSpPr>
      <p:grpSpPr>
        <a:xfrm>
          <a:off x="0" y="0"/>
          <a:ext cx="0" cy="0"/>
          <a:chOff x="0" y="0"/>
          <a:chExt cx="0" cy="0"/>
        </a:xfrm>
      </p:grpSpPr>
      <p:pic>
        <p:nvPicPr>
          <p:cNvPr id="4" name="KV Agenda">
            <a:extLst>
              <a:ext uri="{FF2B5EF4-FFF2-40B4-BE49-F238E27FC236}">
                <a16:creationId xmlns:a16="http://schemas.microsoft.com/office/drawing/2014/main" id="{286A11D6-2655-138C-4E2C-CC95BD1E31EF}"/>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2" name="Gradient">
            <a:extLst>
              <a:ext uri="{FF2B5EF4-FFF2-40B4-BE49-F238E27FC236}">
                <a16:creationId xmlns:a16="http://schemas.microsoft.com/office/drawing/2014/main" id="{BCF38184-F10E-5413-DFC7-636D799CF93E}"/>
              </a:ext>
            </a:extLst>
          </p:cNvPr>
          <p:cNvSpPr>
            <a:spLocks noGrp="1" noRot="1" noMove="1" noResize="1" noEditPoints="1" noAdjustHandles="1" noChangeArrowheads="1" noChangeShapeType="1"/>
          </p:cNvSpPr>
          <p:nvPr userDrawn="1"/>
        </p:nvSpPr>
        <p:spPr>
          <a:xfrm>
            <a:off x="0" y="0"/>
            <a:ext cx="26365200" cy="20574000"/>
          </a:xfrm>
          <a:prstGeom prst="rect">
            <a:avLst/>
          </a:prstGeom>
          <a:gradFill flip="none" rotWithShape="1">
            <a:gsLst>
              <a:gs pos="50000">
                <a:srgbClr val="FFFFFF">
                  <a:alpha val="75000"/>
                </a:srgbClr>
              </a:gs>
              <a:gs pos="0">
                <a:schemeClr val="bg1">
                  <a:alpha val="85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6" name="Text Placeholder">
            <a:extLst>
              <a:ext uri="{FF2B5EF4-FFF2-40B4-BE49-F238E27FC236}">
                <a16:creationId xmlns:a16="http://schemas.microsoft.com/office/drawing/2014/main" id="{D5E6BF86-B8AE-0D7A-9EED-4667F43D1A0F}"/>
              </a:ext>
            </a:extLst>
          </p:cNvPr>
          <p:cNvSpPr>
            <a:spLocks noGrp="1"/>
          </p:cNvSpPr>
          <p:nvPr>
            <p:ph type="body" sz="quarter" idx="10" hasCustomPrompt="1"/>
          </p:nvPr>
        </p:nvSpPr>
        <p:spPr>
          <a:xfrm>
            <a:off x="9144000" y="3200400"/>
            <a:ext cx="14173200" cy="14173200"/>
          </a:xfrm>
          <a:prstGeom prst="rect">
            <a:avLst/>
          </a:prstGeom>
        </p:spPr>
        <p:txBody>
          <a:bodyPr lIns="0" tIns="45720" rIns="0" bIns="45720" anchor="ctr">
            <a:noAutofit/>
          </a:bodyPr>
          <a:lstStyle>
            <a:lvl1pPr marL="0" indent="0">
              <a:lnSpc>
                <a:spcPct val="90000"/>
              </a:lnSpc>
              <a:spcBef>
                <a:spcPts val="3000"/>
              </a:spcBef>
              <a:spcAft>
                <a:spcPts val="3000"/>
              </a:spcAft>
              <a:buNone/>
              <a:defRPr sz="5400" kern="1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Text goes here</a:t>
            </a:r>
          </a:p>
          <a:p>
            <a:pPr lvl="0"/>
            <a:r>
              <a:rPr lang="en-US" dirty="0"/>
              <a:t>Text goes here</a:t>
            </a:r>
          </a:p>
          <a:p>
            <a:pPr lvl="0"/>
            <a:r>
              <a:rPr lang="en-US" dirty="0"/>
              <a:t>Text goes here</a:t>
            </a:r>
          </a:p>
          <a:p>
            <a:pPr lvl="0"/>
            <a:r>
              <a:rPr lang="en-US" dirty="0"/>
              <a:t>Text goes here</a:t>
            </a:r>
          </a:p>
          <a:p>
            <a:pPr lvl="0"/>
            <a:r>
              <a:rPr lang="en-US" dirty="0"/>
              <a:t>Text goes here</a:t>
            </a:r>
          </a:p>
        </p:txBody>
      </p:sp>
      <p:sp>
        <p:nvSpPr>
          <p:cNvPr id="7" name="Agenda Title">
            <a:extLst>
              <a:ext uri="{FF2B5EF4-FFF2-40B4-BE49-F238E27FC236}">
                <a16:creationId xmlns:a16="http://schemas.microsoft.com/office/drawing/2014/main" id="{28EF0C95-765E-4725-72B9-B01FAF7A27C6}"/>
              </a:ext>
            </a:extLst>
          </p:cNvPr>
          <p:cNvSpPr txBox="1"/>
          <p:nvPr userDrawn="1"/>
        </p:nvSpPr>
        <p:spPr>
          <a:xfrm>
            <a:off x="1828800" y="9355604"/>
            <a:ext cx="5732660" cy="1938992"/>
          </a:xfrm>
          <a:prstGeom prst="rect">
            <a:avLst/>
          </a:prstGeom>
          <a:noFill/>
        </p:spPr>
        <p:txBody>
          <a:bodyPr wrap="none" lIns="0" rIns="0" rtlCol="0" anchor="ctr">
            <a:noAutofit/>
          </a:bodyPr>
          <a:lstStyle/>
          <a:p>
            <a:r>
              <a:rPr lang="en-US" sz="12000" kern="100" baseline="0" dirty="0">
                <a:latin typeface="+mj-lt"/>
              </a:rPr>
              <a:t>Agenda</a:t>
            </a:r>
          </a:p>
        </p:txBody>
      </p:sp>
    </p:spTree>
    <p:extLst>
      <p:ext uri="{BB962C8B-B14F-4D97-AF65-F5344CB8AC3E}">
        <p14:creationId xmlns:p14="http://schemas.microsoft.com/office/powerpoint/2010/main" val="37243714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ransition">
    <p:bg>
      <p:bgPr>
        <a:solidFill>
          <a:schemeClr val="accent4"/>
        </a:solidFill>
        <a:effectLst/>
      </p:bgPr>
    </p:bg>
    <p:spTree>
      <p:nvGrpSpPr>
        <p:cNvPr id="1" name=""/>
        <p:cNvGrpSpPr/>
        <p:nvPr/>
      </p:nvGrpSpPr>
      <p:grpSpPr>
        <a:xfrm>
          <a:off x="0" y="0"/>
          <a:ext cx="0" cy="0"/>
          <a:chOff x="0" y="0"/>
          <a:chExt cx="0" cy="0"/>
        </a:xfrm>
      </p:grpSpPr>
      <p:pic>
        <p:nvPicPr>
          <p:cNvPr id="3" name="KV Transition">
            <a:extLst>
              <a:ext uri="{FF2B5EF4-FFF2-40B4-BE49-F238E27FC236}">
                <a16:creationId xmlns:a16="http://schemas.microsoft.com/office/drawing/2014/main" id="{F0FDF11B-123E-E679-C0FA-F41F44F1366E}"/>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5" name="Text Placeholder">
            <a:extLst>
              <a:ext uri="{FF2B5EF4-FFF2-40B4-BE49-F238E27FC236}">
                <a16:creationId xmlns:a16="http://schemas.microsoft.com/office/drawing/2014/main" id="{AE985F00-3D1C-4B62-A80F-86E9A2D77267}"/>
              </a:ext>
            </a:extLst>
          </p:cNvPr>
          <p:cNvSpPr>
            <a:spLocks noGrp="1"/>
          </p:cNvSpPr>
          <p:nvPr>
            <p:ph type="body" sz="quarter" idx="11" hasCustomPrompt="1"/>
          </p:nvPr>
        </p:nvSpPr>
        <p:spPr>
          <a:xfrm>
            <a:off x="18059400" y="2470666"/>
            <a:ext cx="16687800" cy="3416320"/>
          </a:xfrm>
        </p:spPr>
        <p:txBody>
          <a:bodyPr anchor="ctr">
            <a:noAutofit/>
          </a:bodyPr>
          <a:lstStyle>
            <a:lvl1pPr>
              <a:spcBef>
                <a:spcPts val="0"/>
              </a:spcBef>
              <a:spcAft>
                <a:spcPts val="0"/>
              </a:spcAft>
              <a:buNone/>
              <a:defRPr sz="12000">
                <a:latin typeface="+mj-lt"/>
              </a:defRPr>
            </a:lvl1pPr>
            <a:lvl2pPr>
              <a:buNone/>
              <a:defRPr/>
            </a:lvl2pPr>
            <a:lvl3pPr>
              <a:buNone/>
              <a:defRPr/>
            </a:lvl3pPr>
            <a:lvl4pPr>
              <a:buNone/>
              <a:defRPr/>
            </a:lvl4pPr>
            <a:lvl5pPr>
              <a:buNone/>
              <a:defRPr/>
            </a:lvl5pPr>
          </a:lstStyle>
          <a:p>
            <a:pPr lvl="0"/>
            <a:r>
              <a:rPr lang="en-US" dirty="0"/>
              <a:t>Click to Edit Transition Title Here</a:t>
            </a:r>
          </a:p>
        </p:txBody>
      </p:sp>
    </p:spTree>
    <p:extLst>
      <p:ext uri="{BB962C8B-B14F-4D97-AF65-F5344CB8AC3E}">
        <p14:creationId xmlns:p14="http://schemas.microsoft.com/office/powerpoint/2010/main" val="22730569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accent4"/>
        </a:solidFill>
        <a:effectLst/>
      </p:bgPr>
    </p:bg>
    <p:spTree>
      <p:nvGrpSpPr>
        <p:cNvPr id="1" name=""/>
        <p:cNvGrpSpPr/>
        <p:nvPr/>
      </p:nvGrpSpPr>
      <p:grpSpPr>
        <a:xfrm>
          <a:off x="0" y="0"/>
          <a:ext cx="0" cy="0"/>
          <a:chOff x="0" y="0"/>
          <a:chExt cx="0" cy="0"/>
        </a:xfrm>
      </p:grpSpPr>
      <p:pic>
        <p:nvPicPr>
          <p:cNvPr id="7" name="KV Quote">
            <a:extLst>
              <a:ext uri="{FF2B5EF4-FFF2-40B4-BE49-F238E27FC236}">
                <a16:creationId xmlns:a16="http://schemas.microsoft.com/office/drawing/2014/main" id="{C1489B41-1ACE-E5CA-AA75-542FCC9200C2}"/>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8" name="Gradient">
            <a:extLst>
              <a:ext uri="{FF2B5EF4-FFF2-40B4-BE49-F238E27FC236}">
                <a16:creationId xmlns:a16="http://schemas.microsoft.com/office/drawing/2014/main" id="{5902D4C3-9D78-F0C7-D1DE-4ED685302DF5}"/>
              </a:ext>
            </a:extLst>
          </p:cNvPr>
          <p:cNvSpPr>
            <a:spLocks noGrp="1" noRot="1" noMove="1" noResize="1" noEditPoints="1" noAdjustHandles="1" noChangeArrowheads="1" noChangeShapeType="1"/>
          </p:cNvSpPr>
          <p:nvPr userDrawn="1"/>
        </p:nvSpPr>
        <p:spPr>
          <a:xfrm>
            <a:off x="0" y="0"/>
            <a:ext cx="36576000" cy="20574000"/>
          </a:xfrm>
          <a:prstGeom prst="rect">
            <a:avLst/>
          </a:prstGeom>
          <a:gradFill flip="none" rotWithShape="1">
            <a:gsLst>
              <a:gs pos="0">
                <a:schemeClr val="bg1">
                  <a:alpha val="5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 Placeholder 2">
            <a:extLst>
              <a:ext uri="{FF2B5EF4-FFF2-40B4-BE49-F238E27FC236}">
                <a16:creationId xmlns:a16="http://schemas.microsoft.com/office/drawing/2014/main" id="{ADEBA1E2-C4F3-9C5A-7504-F537799FE527}"/>
              </a:ext>
            </a:extLst>
          </p:cNvPr>
          <p:cNvSpPr>
            <a:spLocks noGrp="1"/>
          </p:cNvSpPr>
          <p:nvPr>
            <p:ph type="body" sz="quarter" idx="11" hasCustomPrompt="1"/>
          </p:nvPr>
        </p:nvSpPr>
        <p:spPr>
          <a:xfrm>
            <a:off x="6583680" y="15882170"/>
            <a:ext cx="23317200" cy="757130"/>
          </a:xfrm>
        </p:spPr>
        <p:txBody>
          <a:bodyPr>
            <a:noAutofit/>
          </a:bodyPr>
          <a:lstStyle>
            <a:lvl1pPr marL="1005840">
              <a:spcBef>
                <a:spcPts val="0"/>
              </a:spcBef>
              <a:spcAft>
                <a:spcPts val="0"/>
              </a:spcAft>
              <a:buNone/>
              <a:defRPr sz="4800" baseline="0">
                <a:latin typeface="+mn-lt"/>
              </a:defRPr>
            </a:lvl1pPr>
          </a:lstStyle>
          <a:p>
            <a:pPr lvl="0"/>
            <a:r>
              <a:rPr lang="en-US" dirty="0"/>
              <a:t>Name, Company</a:t>
            </a:r>
          </a:p>
        </p:txBody>
      </p:sp>
      <p:sp>
        <p:nvSpPr>
          <p:cNvPr id="2" name="Text Placeholder 1">
            <a:extLst>
              <a:ext uri="{FF2B5EF4-FFF2-40B4-BE49-F238E27FC236}">
                <a16:creationId xmlns:a16="http://schemas.microsoft.com/office/drawing/2014/main" id="{B0414548-19C6-5111-D0E3-F080E8B02C68}"/>
              </a:ext>
            </a:extLst>
          </p:cNvPr>
          <p:cNvSpPr>
            <a:spLocks noGrp="1"/>
          </p:cNvSpPr>
          <p:nvPr>
            <p:ph type="title" hasCustomPrompt="1"/>
          </p:nvPr>
        </p:nvSpPr>
        <p:spPr>
          <a:xfrm>
            <a:off x="6583680" y="3962400"/>
            <a:ext cx="23317200" cy="10972800"/>
          </a:xfrm>
        </p:spPr>
        <p:txBody>
          <a:bodyPr anchor="t">
            <a:normAutofit/>
          </a:bodyPr>
          <a:lstStyle>
            <a:lvl1pPr marL="914400" indent="-685800" defTabSz="914400">
              <a:lnSpc>
                <a:spcPct val="100000"/>
              </a:lnSpc>
              <a:buSzPct val="100000"/>
              <a:buFont typeface="NVIDIA Sans" panose="020B0503020203020204" pitchFamily="34" charset="0"/>
              <a:buChar char="“"/>
              <a:defRPr sz="15000" kern="100" baseline="0">
                <a:latin typeface="+mn-lt"/>
              </a:defRPr>
            </a:lvl1pPr>
          </a:lstStyle>
          <a:p>
            <a:r>
              <a:rPr lang="en-US" dirty="0"/>
              <a:t>Quote placeholder.”</a:t>
            </a:r>
          </a:p>
        </p:txBody>
      </p:sp>
    </p:spTree>
    <p:extLst>
      <p:ext uri="{BB962C8B-B14F-4D97-AF65-F5344CB8AC3E}">
        <p14:creationId xmlns:p14="http://schemas.microsoft.com/office/powerpoint/2010/main" val="19028764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peaker">
    <p:bg>
      <p:bgPr>
        <a:solidFill>
          <a:schemeClr val="accent4"/>
        </a:solidFill>
        <a:effectLst/>
      </p:bgPr>
    </p:bg>
    <p:spTree>
      <p:nvGrpSpPr>
        <p:cNvPr id="1" name=""/>
        <p:cNvGrpSpPr/>
        <p:nvPr/>
      </p:nvGrpSpPr>
      <p:grpSpPr>
        <a:xfrm>
          <a:off x="0" y="0"/>
          <a:ext cx="0" cy="0"/>
          <a:chOff x="0" y="0"/>
          <a:chExt cx="0" cy="0"/>
        </a:xfrm>
      </p:grpSpPr>
      <p:pic>
        <p:nvPicPr>
          <p:cNvPr id="7" name="KV Speaker">
            <a:extLst>
              <a:ext uri="{FF2B5EF4-FFF2-40B4-BE49-F238E27FC236}">
                <a16:creationId xmlns:a16="http://schemas.microsoft.com/office/drawing/2014/main" id="{CFF18E61-3C4B-6028-6E3C-5A0C25F567F5}"/>
              </a:ext>
            </a:extLst>
          </p:cNvPr>
          <p:cNvPicPr>
            <a:picLocks noChangeAspect="1"/>
          </p:cNvPicPr>
          <p:nvPr userDrawn="1"/>
        </p:nvPicPr>
        <p:blipFill>
          <a:blip r:embed="rId2"/>
          <a:srcRect/>
          <a:stretch/>
        </p:blipFill>
        <p:spPr>
          <a:xfrm>
            <a:off x="2" y="0"/>
            <a:ext cx="36575996" cy="20573997"/>
          </a:xfrm>
          <a:prstGeom prst="rect">
            <a:avLst/>
          </a:prstGeom>
        </p:spPr>
      </p:pic>
      <p:sp>
        <p:nvSpPr>
          <p:cNvPr id="8" name="Gradient">
            <a:extLst>
              <a:ext uri="{FF2B5EF4-FFF2-40B4-BE49-F238E27FC236}">
                <a16:creationId xmlns:a16="http://schemas.microsoft.com/office/drawing/2014/main" id="{8000293E-AB43-EBF8-BC82-0C817228C41B}"/>
              </a:ext>
            </a:extLst>
          </p:cNvPr>
          <p:cNvSpPr>
            <a:spLocks/>
          </p:cNvSpPr>
          <p:nvPr userDrawn="1"/>
        </p:nvSpPr>
        <p:spPr>
          <a:xfrm>
            <a:off x="0" y="0"/>
            <a:ext cx="36576000" cy="20574000"/>
          </a:xfrm>
          <a:prstGeom prst="rect">
            <a:avLst/>
          </a:prstGeom>
          <a:gradFill>
            <a:gsLst>
              <a:gs pos="15000">
                <a:schemeClr val="bg1">
                  <a:alpha val="40000"/>
                </a:schemeClr>
              </a:gs>
              <a:gs pos="100000">
                <a:schemeClr val="bg1">
                  <a:alpha val="0"/>
                </a:schemeClr>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dirty="0">
              <a:solidFill>
                <a:schemeClr val="bg1"/>
              </a:solidFill>
              <a:latin typeface="+mj-lt"/>
            </a:endParaRPr>
          </a:p>
        </p:txBody>
      </p:sp>
      <p:sp>
        <p:nvSpPr>
          <p:cNvPr id="11" name="Text Placeholder">
            <a:extLst>
              <a:ext uri="{FF2B5EF4-FFF2-40B4-BE49-F238E27FC236}">
                <a16:creationId xmlns:a16="http://schemas.microsoft.com/office/drawing/2014/main" id="{794AC3DC-E5C8-57AA-F1F0-E4E9A2F01BE2}"/>
              </a:ext>
            </a:extLst>
          </p:cNvPr>
          <p:cNvSpPr>
            <a:spLocks noGrp="1"/>
          </p:cNvSpPr>
          <p:nvPr>
            <p:ph type="body" sz="quarter" idx="14" hasCustomPrompt="1"/>
          </p:nvPr>
        </p:nvSpPr>
        <p:spPr>
          <a:xfrm>
            <a:off x="1828801" y="5943600"/>
            <a:ext cx="20116800" cy="4114800"/>
          </a:xfrm>
        </p:spPr>
        <p:txBody>
          <a:bodyPr>
            <a:noAutofit/>
          </a:bodyPr>
          <a:lstStyle>
            <a:lvl1pPr>
              <a:defRPr>
                <a:solidFill>
                  <a:schemeClr val="tx1"/>
                </a:solidFill>
                <a:latin typeface="+mn-lt"/>
              </a:defRPr>
            </a:lvl1pPr>
            <a:lvl2pPr>
              <a:defRPr>
                <a:solidFill>
                  <a:schemeClr val="tx1"/>
                </a:solidFill>
                <a:latin typeface="+mn-lt"/>
              </a:defRPr>
            </a:lvl2pPr>
            <a:lvl3pPr>
              <a:defRPr>
                <a:solidFill>
                  <a:schemeClr val="tx1"/>
                </a:solidFill>
                <a:latin typeface="+mn-lt"/>
              </a:defRPr>
            </a:lvl3pPr>
            <a:lvl4pPr>
              <a:defRPr>
                <a:solidFill>
                  <a:schemeClr val="tx1"/>
                </a:solidFill>
                <a:latin typeface="+mn-lt"/>
              </a:defRPr>
            </a:lvl4pPr>
            <a:lvl5pPr>
              <a:defRPr>
                <a:solidFill>
                  <a:schemeClr val="tx1"/>
                </a:solidFill>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C04FA0E0-9C96-392B-D33F-3466D05F7DF4}"/>
              </a:ext>
            </a:extLst>
          </p:cNvPr>
          <p:cNvSpPr>
            <a:spLocks noGrp="1"/>
          </p:cNvSpPr>
          <p:nvPr>
            <p:ph type="body" sz="quarter" idx="13" hasCustomPrompt="1"/>
          </p:nvPr>
        </p:nvSpPr>
        <p:spPr>
          <a:xfrm>
            <a:off x="1828800" y="3383280"/>
            <a:ext cx="32918400" cy="914400"/>
          </a:xfrm>
        </p:spPr>
        <p:txBody>
          <a:bodyPr tIns="91440">
            <a:noAutofit/>
          </a:bodyPr>
          <a:lstStyle>
            <a:lvl1pPr>
              <a:buFontTx/>
              <a:buNone/>
              <a:defRPr sz="4800">
                <a:solidFill>
                  <a:schemeClr val="tx1"/>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0" name="Title">
            <a:extLst>
              <a:ext uri="{FF2B5EF4-FFF2-40B4-BE49-F238E27FC236}">
                <a16:creationId xmlns:a16="http://schemas.microsoft.com/office/drawing/2014/main" id="{A7E842F0-73CD-B6BE-1671-CF2E4C3D6069}"/>
              </a:ext>
            </a:extLst>
          </p:cNvPr>
          <p:cNvSpPr>
            <a:spLocks noGrp="1"/>
          </p:cNvSpPr>
          <p:nvPr>
            <p:ph type="title" hasCustomPrompt="1"/>
          </p:nvPr>
        </p:nvSpPr>
        <p:spPr>
          <a:xfrm>
            <a:off x="1828800" y="914400"/>
            <a:ext cx="32918400" cy="2468880"/>
          </a:xfrm>
        </p:spPr>
        <p:txBody>
          <a:bodyPr/>
          <a:lstStyle>
            <a:lvl1pPr>
              <a:defRPr>
                <a:solidFill>
                  <a:schemeClr val="tx1"/>
                </a:solidFill>
                <a:latin typeface="+mj-lt"/>
              </a:defRPr>
            </a:lvl1pPr>
          </a:lstStyle>
          <a:p>
            <a:r>
              <a:rPr lang="en-US" dirty="0"/>
              <a:t>Click to Edit Title Here</a:t>
            </a:r>
          </a:p>
        </p:txBody>
      </p:sp>
      <p:sp>
        <p:nvSpPr>
          <p:cNvPr id="2" name="Occupation Placeholder 3">
            <a:extLst>
              <a:ext uri="{FF2B5EF4-FFF2-40B4-BE49-F238E27FC236}">
                <a16:creationId xmlns:a16="http://schemas.microsoft.com/office/drawing/2014/main" id="{0EB760A4-0BDA-FCD7-294C-06DD0458085F}"/>
              </a:ext>
            </a:extLst>
          </p:cNvPr>
          <p:cNvSpPr>
            <a:spLocks noGrp="1"/>
          </p:cNvSpPr>
          <p:nvPr>
            <p:ph type="body" sz="quarter" idx="30" hasCustomPrompt="1"/>
          </p:nvPr>
        </p:nvSpPr>
        <p:spPr>
          <a:xfrm>
            <a:off x="15544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6" name="Name Placeholder 3">
            <a:extLst>
              <a:ext uri="{FF2B5EF4-FFF2-40B4-BE49-F238E27FC236}">
                <a16:creationId xmlns:a16="http://schemas.microsoft.com/office/drawing/2014/main" id="{2A7EE98A-14CA-4FDE-3BBC-547CA78134AE}"/>
              </a:ext>
            </a:extLst>
          </p:cNvPr>
          <p:cNvSpPr>
            <a:spLocks noGrp="1"/>
          </p:cNvSpPr>
          <p:nvPr>
            <p:ph type="body" sz="quarter" idx="27" hasCustomPrompt="1"/>
          </p:nvPr>
        </p:nvSpPr>
        <p:spPr>
          <a:xfrm>
            <a:off x="15544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15" name="Picture Placeholder 3">
            <a:extLst>
              <a:ext uri="{FF2B5EF4-FFF2-40B4-BE49-F238E27FC236}">
                <a16:creationId xmlns:a16="http://schemas.microsoft.com/office/drawing/2014/main" id="{65035A17-84AD-B446-290E-48C215AFB587}"/>
              </a:ext>
            </a:extLst>
          </p:cNvPr>
          <p:cNvSpPr>
            <a:spLocks noGrp="1"/>
          </p:cNvSpPr>
          <p:nvPr>
            <p:ph type="pic" sz="quarter" idx="18" hasCustomPrompt="1"/>
          </p:nvPr>
        </p:nvSpPr>
        <p:spPr>
          <a:xfrm>
            <a:off x="15544800" y="10515600"/>
            <a:ext cx="6400800" cy="6400800"/>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6" name="Occupation Placeholder 2">
            <a:extLst>
              <a:ext uri="{FF2B5EF4-FFF2-40B4-BE49-F238E27FC236}">
                <a16:creationId xmlns:a16="http://schemas.microsoft.com/office/drawing/2014/main" id="{3BCECAB6-EED4-6C61-619E-0CB03435E448}"/>
              </a:ext>
            </a:extLst>
          </p:cNvPr>
          <p:cNvSpPr>
            <a:spLocks noGrp="1"/>
          </p:cNvSpPr>
          <p:nvPr>
            <p:ph type="body" sz="quarter" idx="29" hasCustomPrompt="1"/>
          </p:nvPr>
        </p:nvSpPr>
        <p:spPr>
          <a:xfrm>
            <a:off x="8686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17" name="Name Placeholder 2">
            <a:extLst>
              <a:ext uri="{FF2B5EF4-FFF2-40B4-BE49-F238E27FC236}">
                <a16:creationId xmlns:a16="http://schemas.microsoft.com/office/drawing/2014/main" id="{AD4CF95F-54EF-099D-AB51-5F454C5C2064}"/>
              </a:ext>
            </a:extLst>
          </p:cNvPr>
          <p:cNvSpPr>
            <a:spLocks noGrp="1"/>
          </p:cNvSpPr>
          <p:nvPr>
            <p:ph type="body" sz="quarter" idx="26" hasCustomPrompt="1"/>
          </p:nvPr>
        </p:nvSpPr>
        <p:spPr>
          <a:xfrm>
            <a:off x="8686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18" name="Picture Placeholder 2">
            <a:extLst>
              <a:ext uri="{FF2B5EF4-FFF2-40B4-BE49-F238E27FC236}">
                <a16:creationId xmlns:a16="http://schemas.microsoft.com/office/drawing/2014/main" id="{903A1C07-C832-6984-03F5-70F355004BC3}"/>
              </a:ext>
            </a:extLst>
          </p:cNvPr>
          <p:cNvSpPr>
            <a:spLocks noGrp="1"/>
          </p:cNvSpPr>
          <p:nvPr>
            <p:ph type="pic" sz="quarter" idx="17" hasCustomPrompt="1"/>
          </p:nvPr>
        </p:nvSpPr>
        <p:spPr>
          <a:xfrm>
            <a:off x="8686800" y="10515600"/>
            <a:ext cx="6400800" cy="6400800"/>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9" name="Occupation Placeholder 1">
            <a:extLst>
              <a:ext uri="{FF2B5EF4-FFF2-40B4-BE49-F238E27FC236}">
                <a16:creationId xmlns:a16="http://schemas.microsoft.com/office/drawing/2014/main" id="{2CF04087-50EE-96A6-22F4-7B9B652690B0}"/>
              </a:ext>
            </a:extLst>
          </p:cNvPr>
          <p:cNvSpPr>
            <a:spLocks noGrp="1"/>
          </p:cNvSpPr>
          <p:nvPr>
            <p:ph type="body" sz="quarter" idx="28" hasCustomPrompt="1"/>
          </p:nvPr>
        </p:nvSpPr>
        <p:spPr>
          <a:xfrm>
            <a:off x="1828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20" name="Name Placeholder 1">
            <a:extLst>
              <a:ext uri="{FF2B5EF4-FFF2-40B4-BE49-F238E27FC236}">
                <a16:creationId xmlns:a16="http://schemas.microsoft.com/office/drawing/2014/main" id="{44AB9F9F-C0EC-6E66-8AE9-84E99191AB93}"/>
              </a:ext>
            </a:extLst>
          </p:cNvPr>
          <p:cNvSpPr>
            <a:spLocks noGrp="1"/>
          </p:cNvSpPr>
          <p:nvPr>
            <p:ph type="body" sz="quarter" idx="25" hasCustomPrompt="1"/>
          </p:nvPr>
        </p:nvSpPr>
        <p:spPr>
          <a:xfrm>
            <a:off x="1828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21" name="Picture Placeholder 1">
            <a:extLst>
              <a:ext uri="{FF2B5EF4-FFF2-40B4-BE49-F238E27FC236}">
                <a16:creationId xmlns:a16="http://schemas.microsoft.com/office/drawing/2014/main" id="{ED721DC3-5019-6710-1D8A-B709232FCF2C}"/>
              </a:ext>
            </a:extLst>
          </p:cNvPr>
          <p:cNvSpPr>
            <a:spLocks noGrp="1"/>
          </p:cNvSpPr>
          <p:nvPr>
            <p:ph type="pic" sz="quarter" idx="16" hasCustomPrompt="1"/>
          </p:nvPr>
        </p:nvSpPr>
        <p:spPr>
          <a:xfrm>
            <a:off x="1828800" y="10515600"/>
            <a:ext cx="6400800" cy="6400800"/>
          </a:xfrm>
          <a:solidFill>
            <a:schemeClr val="bg2"/>
          </a:solidFill>
          <a:ln>
            <a:solidFill>
              <a:schemeClr val="accent6"/>
            </a:solidFill>
          </a:ln>
        </p:spPr>
        <p:txBody>
          <a:bodyPr tIns="0" bIns="2103120" anchor="ctr">
            <a:normAutofit/>
          </a:bodyPr>
          <a:lstStyle>
            <a:lvl1pPr algn="ctr">
              <a:buNone/>
              <a:defRPr sz="2800">
                <a:solidFill>
                  <a:schemeClr val="tx1">
                    <a:lumMod val="50000"/>
                    <a:lumOff val="50000"/>
                  </a:schemeClr>
                </a:solidFill>
              </a:defRPr>
            </a:lvl1pPr>
          </a:lstStyle>
          <a:p>
            <a:r>
              <a:rPr lang="en-US" dirty="0"/>
              <a:t>Click icon to place image</a:t>
            </a:r>
          </a:p>
        </p:txBody>
      </p:sp>
    </p:spTree>
    <p:extLst>
      <p:ext uri="{BB962C8B-B14F-4D97-AF65-F5344CB8AC3E}">
        <p14:creationId xmlns:p14="http://schemas.microsoft.com/office/powerpoint/2010/main" val="35127888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losing Slide">
    <p:bg>
      <p:bgPr>
        <a:solidFill>
          <a:schemeClr val="accent4"/>
        </a:solidFill>
        <a:effectLst/>
      </p:bgPr>
    </p:bg>
    <p:spTree>
      <p:nvGrpSpPr>
        <p:cNvPr id="1" name=""/>
        <p:cNvGrpSpPr/>
        <p:nvPr/>
      </p:nvGrpSpPr>
      <p:grpSpPr>
        <a:xfrm>
          <a:off x="0" y="0"/>
          <a:ext cx="0" cy="0"/>
          <a:chOff x="0" y="0"/>
          <a:chExt cx="0" cy="0"/>
        </a:xfrm>
      </p:grpSpPr>
      <p:pic>
        <p:nvPicPr>
          <p:cNvPr id="4" name="KV Closing">
            <a:extLst>
              <a:ext uri="{FF2B5EF4-FFF2-40B4-BE49-F238E27FC236}">
                <a16:creationId xmlns:a16="http://schemas.microsoft.com/office/drawing/2014/main" id="{D163A2C7-4DBD-77C7-03F3-50784ABE87C5}"/>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5" name="Gradient">
            <a:extLst>
              <a:ext uri="{FF2B5EF4-FFF2-40B4-BE49-F238E27FC236}">
                <a16:creationId xmlns:a16="http://schemas.microsoft.com/office/drawing/2014/main" id="{FD412695-43ED-8E18-EE2A-6688B5CBA1B9}"/>
              </a:ext>
            </a:extLst>
          </p:cNvPr>
          <p:cNvSpPr>
            <a:spLocks noGrp="1" noRot="1" noMove="1" noResize="1" noEditPoints="1" noAdjustHandles="1" noChangeArrowheads="1" noChangeShapeType="1"/>
          </p:cNvSpPr>
          <p:nvPr userDrawn="1"/>
        </p:nvSpPr>
        <p:spPr>
          <a:xfrm>
            <a:off x="0" y="0"/>
            <a:ext cx="19659600" cy="20574000"/>
          </a:xfrm>
          <a:prstGeom prst="rect">
            <a:avLst/>
          </a:prstGeom>
          <a:gradFill flip="none" rotWithShape="1">
            <a:gsLst>
              <a:gs pos="0">
                <a:schemeClr val="bg1">
                  <a:alpha val="2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Logo Text">
            <a:extLst>
              <a:ext uri="{FF2B5EF4-FFF2-40B4-BE49-F238E27FC236}">
                <a16:creationId xmlns:a16="http://schemas.microsoft.com/office/drawing/2014/main" id="{80BCAFA5-89AF-533D-D6D2-1C914E182AD5}"/>
              </a:ext>
            </a:extLst>
          </p:cNvPr>
          <p:cNvSpPr>
            <a:spLocks noGrp="1" noRot="1" noMove="1" noResize="1" noEditPoints="1" noAdjustHandles="1" noChangeArrowheads="1" noChangeShapeType="1"/>
          </p:cNvSpPr>
          <p:nvPr userDrawn="1"/>
        </p:nvSpPr>
        <p:spPr>
          <a:xfrm>
            <a:off x="3658247" y="17905019"/>
            <a:ext cx="3646099" cy="683416"/>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pPr algn="l"/>
            <a:endParaRPr lang="en-US"/>
          </a:p>
        </p:txBody>
      </p:sp>
      <p:sp>
        <p:nvSpPr>
          <p:cNvPr id="2" name="Logo Eye">
            <a:extLst>
              <a:ext uri="{FF2B5EF4-FFF2-40B4-BE49-F238E27FC236}">
                <a16:creationId xmlns:a16="http://schemas.microsoft.com/office/drawing/2014/main" id="{E8AAC571-D4E5-31AA-5989-EA3B402954C8}"/>
              </a:ext>
            </a:extLst>
          </p:cNvPr>
          <p:cNvSpPr>
            <a:spLocks noGrp="1" noRot="1" noMove="1" noResize="1" noEditPoints="1" noAdjustHandles="1" noChangeArrowheads="1" noChangeShapeType="1"/>
          </p:cNvSpPr>
          <p:nvPr userDrawn="1"/>
        </p:nvSpPr>
        <p:spPr>
          <a:xfrm>
            <a:off x="1828916" y="17709469"/>
            <a:ext cx="1571299" cy="1039766"/>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pPr algn="l"/>
            <a:endParaRPr lang="en-US"/>
          </a:p>
        </p:txBody>
      </p:sp>
    </p:spTree>
    <p:extLst>
      <p:ext uri="{BB962C8B-B14F-4D97-AF65-F5344CB8AC3E}">
        <p14:creationId xmlns:p14="http://schemas.microsoft.com/office/powerpoint/2010/main" val="10802978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Embargo">
    <p:spTree>
      <p:nvGrpSpPr>
        <p:cNvPr id="1" name=""/>
        <p:cNvGrpSpPr/>
        <p:nvPr/>
      </p:nvGrpSpPr>
      <p:grpSpPr>
        <a:xfrm>
          <a:off x="0" y="0"/>
          <a:ext cx="0" cy="0"/>
          <a:chOff x="0" y="0"/>
          <a:chExt cx="0" cy="0"/>
        </a:xfrm>
      </p:grpSpPr>
      <p:sp>
        <p:nvSpPr>
          <p:cNvPr id="7" name="Red Border Bottom">
            <a:extLst>
              <a:ext uri="{FF2B5EF4-FFF2-40B4-BE49-F238E27FC236}">
                <a16:creationId xmlns:a16="http://schemas.microsoft.com/office/drawing/2014/main" id="{A47B56B7-6189-B712-00D6-DE875C5A82EA}"/>
              </a:ext>
            </a:extLst>
          </p:cNvPr>
          <p:cNvSpPr/>
          <p:nvPr userDrawn="1"/>
        </p:nvSpPr>
        <p:spPr>
          <a:xfrm>
            <a:off x="0" y="20345400"/>
            <a:ext cx="36576000" cy="228600"/>
          </a:xfrm>
          <a:prstGeom prst="rect">
            <a:avLst/>
          </a:prstGeom>
          <a:solidFill>
            <a:srgbClr val="E520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kern="100" baseline="0"/>
          </a:p>
        </p:txBody>
      </p:sp>
      <p:sp>
        <p:nvSpPr>
          <p:cNvPr id="6" name="Red Border Top">
            <a:extLst>
              <a:ext uri="{FF2B5EF4-FFF2-40B4-BE49-F238E27FC236}">
                <a16:creationId xmlns:a16="http://schemas.microsoft.com/office/drawing/2014/main" id="{BE43CC2B-153E-856F-4121-4368A04664A1}"/>
              </a:ext>
            </a:extLst>
          </p:cNvPr>
          <p:cNvSpPr/>
          <p:nvPr userDrawn="1"/>
        </p:nvSpPr>
        <p:spPr>
          <a:xfrm>
            <a:off x="0" y="0"/>
            <a:ext cx="36576000" cy="228600"/>
          </a:xfrm>
          <a:prstGeom prst="rect">
            <a:avLst/>
          </a:prstGeom>
          <a:solidFill>
            <a:srgbClr val="E520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kern="100" baseline="0"/>
          </a:p>
        </p:txBody>
      </p:sp>
      <p:sp>
        <p:nvSpPr>
          <p:cNvPr id="13" name="Footer Placeholder">
            <a:extLst>
              <a:ext uri="{FF2B5EF4-FFF2-40B4-BE49-F238E27FC236}">
                <a16:creationId xmlns:a16="http://schemas.microsoft.com/office/drawing/2014/main" id="{00B4E871-88C4-CC33-C003-7170BE2B6E83}"/>
              </a:ext>
            </a:extLst>
          </p:cNvPr>
          <p:cNvSpPr>
            <a:spLocks noGrp="1"/>
          </p:cNvSpPr>
          <p:nvPr>
            <p:ph type="ftr" sz="quarter" idx="18"/>
          </p:nvPr>
        </p:nvSpPr>
        <p:spPr/>
        <p:txBody>
          <a:bodyPr/>
          <a:lstStyle/>
          <a:p>
            <a:pPr>
              <a:lnSpc>
                <a:spcPct val="90000"/>
              </a:lnSpc>
            </a:pPr>
            <a:r>
              <a:rPr lang="en-US"/>
              <a:t>Source information in NVIDIA Sans, medium gray; 20 pt</a:t>
            </a:r>
            <a:endParaRPr lang="en-US" dirty="0"/>
          </a:p>
        </p:txBody>
      </p:sp>
      <p:sp>
        <p:nvSpPr>
          <p:cNvPr id="3" name="Confidential Tag">
            <a:extLst>
              <a:ext uri="{FF2B5EF4-FFF2-40B4-BE49-F238E27FC236}">
                <a16:creationId xmlns:a16="http://schemas.microsoft.com/office/drawing/2014/main" id="{BDF10C9D-ED7C-EA69-42A0-05377844B8F1}"/>
              </a:ext>
            </a:extLst>
          </p:cNvPr>
          <p:cNvSpPr txBox="1"/>
          <p:nvPr userDrawn="1"/>
        </p:nvSpPr>
        <p:spPr>
          <a:xfrm>
            <a:off x="1814511" y="10711668"/>
            <a:ext cx="8271495" cy="400110"/>
          </a:xfrm>
          <a:prstGeom prst="rect">
            <a:avLst/>
          </a:prstGeom>
          <a:noFill/>
        </p:spPr>
        <p:txBody>
          <a:bodyPr wrap="none" lIns="0" rIns="0" rtlCol="0">
            <a:noAutofit/>
          </a:bodyPr>
          <a:lstStyle/>
          <a:p>
            <a:r>
              <a:rPr lang="en-US" sz="2000" b="1" kern="100" spc="0" baseline="0" dirty="0">
                <a:latin typeface="+mn-lt"/>
              </a:rPr>
              <a:t>DO NOT DISTRIBUTE UNTIL DATES LISTED.  NVIDIA CONFIDENTIAL.</a:t>
            </a:r>
          </a:p>
        </p:txBody>
      </p:sp>
      <p:sp>
        <p:nvSpPr>
          <p:cNvPr id="29" name="Zone Placeholder">
            <a:extLst>
              <a:ext uri="{FF2B5EF4-FFF2-40B4-BE49-F238E27FC236}">
                <a16:creationId xmlns:a16="http://schemas.microsoft.com/office/drawing/2014/main" id="{453B8D8C-ECFD-FFDC-F4B5-AD3BAF3265AE}"/>
              </a:ext>
            </a:extLst>
          </p:cNvPr>
          <p:cNvSpPr>
            <a:spLocks noGrp="1"/>
          </p:cNvSpPr>
          <p:nvPr>
            <p:ph type="body" sz="quarter" idx="16" hasCustomPrompt="1"/>
          </p:nvPr>
        </p:nvSpPr>
        <p:spPr>
          <a:xfrm>
            <a:off x="29450825" y="5476814"/>
            <a:ext cx="3657600" cy="11197937"/>
          </a:xfrm>
        </p:spPr>
        <p:txBody>
          <a:bodyPr wrap="square" tIns="274320" bIns="45720">
            <a:noAutofit/>
          </a:bodyPr>
          <a:lstStyle>
            <a:lvl1pPr>
              <a:lnSpc>
                <a:spcPct val="100000"/>
              </a:lnSpc>
              <a:spcBef>
                <a:spcPts val="0"/>
              </a:spcBef>
              <a:spcAft>
                <a:spcPts val="3200"/>
              </a:spcAft>
              <a:buNone/>
              <a:defRPr sz="4000">
                <a:latin typeface="+mn-lt"/>
              </a:defRPr>
            </a:lvl1pPr>
          </a:lstStyle>
          <a:p>
            <a:r>
              <a:rPr lang="en-US" dirty="0"/>
              <a:t>PT</a:t>
            </a:r>
          </a:p>
          <a:p>
            <a:r>
              <a:rPr lang="en-US" dirty="0"/>
              <a:t>CST</a:t>
            </a:r>
          </a:p>
          <a:p>
            <a:r>
              <a:rPr lang="en-US" dirty="0"/>
              <a:t>BRT</a:t>
            </a:r>
          </a:p>
          <a:p>
            <a:r>
              <a:rPr lang="en-US" dirty="0"/>
              <a:t>GMT</a:t>
            </a:r>
          </a:p>
          <a:p>
            <a:r>
              <a:rPr lang="en-US" dirty="0"/>
              <a:t>CET</a:t>
            </a:r>
          </a:p>
          <a:p>
            <a:r>
              <a:rPr lang="en-US" dirty="0"/>
              <a:t>IST</a:t>
            </a:r>
          </a:p>
          <a:p>
            <a:r>
              <a:rPr lang="en-US" dirty="0"/>
              <a:t>IST</a:t>
            </a:r>
          </a:p>
          <a:p>
            <a:r>
              <a:rPr lang="en-US" dirty="0"/>
              <a:t>CST</a:t>
            </a:r>
          </a:p>
          <a:p>
            <a:r>
              <a:rPr lang="en-US" dirty="0"/>
              <a:t>TST</a:t>
            </a:r>
          </a:p>
          <a:p>
            <a:r>
              <a:rPr lang="en-US" dirty="0"/>
              <a:t>JST</a:t>
            </a:r>
          </a:p>
          <a:p>
            <a:r>
              <a:rPr lang="en-US" dirty="0"/>
              <a:t>KST</a:t>
            </a:r>
          </a:p>
        </p:txBody>
      </p:sp>
      <p:sp>
        <p:nvSpPr>
          <p:cNvPr id="18" name="Zone">
            <a:extLst>
              <a:ext uri="{FF2B5EF4-FFF2-40B4-BE49-F238E27FC236}">
                <a16:creationId xmlns:a16="http://schemas.microsoft.com/office/drawing/2014/main" id="{18A3DAFC-DC66-A706-DDC5-1D0E8DF4B4CE}"/>
              </a:ext>
            </a:extLst>
          </p:cNvPr>
          <p:cNvSpPr txBox="1"/>
          <p:nvPr userDrawn="1"/>
        </p:nvSpPr>
        <p:spPr>
          <a:xfrm>
            <a:off x="29450825" y="4661205"/>
            <a:ext cx="3200400" cy="815608"/>
          </a:xfrm>
          <a:prstGeom prst="rect">
            <a:avLst/>
          </a:prstGeom>
          <a:noFill/>
        </p:spPr>
        <p:txBody>
          <a:bodyPr wrap="none" lIns="0" rIns="0" bIns="274320" rtlCol="0" anchor="b">
            <a:noAutofit/>
          </a:bodyPr>
          <a:lstStyle/>
          <a:p>
            <a:pPr algn="l"/>
            <a:r>
              <a:rPr lang="en-US" sz="3200" kern="100" baseline="0" dirty="0"/>
              <a:t>Zone</a:t>
            </a:r>
          </a:p>
        </p:txBody>
      </p:sp>
      <p:sp>
        <p:nvSpPr>
          <p:cNvPr id="26" name="Time Placeholder">
            <a:extLst>
              <a:ext uri="{FF2B5EF4-FFF2-40B4-BE49-F238E27FC236}">
                <a16:creationId xmlns:a16="http://schemas.microsoft.com/office/drawing/2014/main" id="{41A97F96-C8E8-4872-4734-05D60C1819A8}"/>
              </a:ext>
            </a:extLst>
          </p:cNvPr>
          <p:cNvSpPr>
            <a:spLocks noGrp="1"/>
          </p:cNvSpPr>
          <p:nvPr>
            <p:ph type="body" sz="quarter" idx="15" hasCustomPrompt="1"/>
          </p:nvPr>
        </p:nvSpPr>
        <p:spPr>
          <a:xfrm>
            <a:off x="24208741" y="5476814"/>
            <a:ext cx="4572000" cy="11197937"/>
          </a:xfrm>
        </p:spPr>
        <p:txBody>
          <a:bodyPr wrap="square" tIns="274320" bIns="45720">
            <a:noAutofit/>
          </a:bodyPr>
          <a:lstStyle>
            <a:lvl1pPr marL="0" marR="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sz="4000">
                <a:latin typeface="+mn-lt"/>
              </a:defRPr>
            </a:lvl1pPr>
          </a:lstStyle>
          <a:p>
            <a:pPr lvl="0"/>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p:txBody>
      </p:sp>
      <p:sp>
        <p:nvSpPr>
          <p:cNvPr id="17" name="Time">
            <a:extLst>
              <a:ext uri="{FF2B5EF4-FFF2-40B4-BE49-F238E27FC236}">
                <a16:creationId xmlns:a16="http://schemas.microsoft.com/office/drawing/2014/main" id="{804F5858-E9C3-CFB5-42CB-5027BBDA563C}"/>
              </a:ext>
            </a:extLst>
          </p:cNvPr>
          <p:cNvSpPr txBox="1"/>
          <p:nvPr userDrawn="1"/>
        </p:nvSpPr>
        <p:spPr>
          <a:xfrm>
            <a:off x="24208740" y="4661205"/>
            <a:ext cx="4572000" cy="815608"/>
          </a:xfrm>
          <a:prstGeom prst="rect">
            <a:avLst/>
          </a:prstGeom>
          <a:noFill/>
        </p:spPr>
        <p:txBody>
          <a:bodyPr wrap="none" lIns="0" rIns="0" bIns="274320" rtlCol="0" anchor="b">
            <a:noAutofit/>
          </a:bodyPr>
          <a:lstStyle/>
          <a:p>
            <a:pPr algn="l"/>
            <a:r>
              <a:rPr lang="en-US" sz="3200" kern="100" baseline="0" dirty="0"/>
              <a:t>Time</a:t>
            </a:r>
          </a:p>
        </p:txBody>
      </p:sp>
      <p:sp>
        <p:nvSpPr>
          <p:cNvPr id="25" name="Country Placeholder">
            <a:extLst>
              <a:ext uri="{FF2B5EF4-FFF2-40B4-BE49-F238E27FC236}">
                <a16:creationId xmlns:a16="http://schemas.microsoft.com/office/drawing/2014/main" id="{C90BA070-345E-CFCC-E29A-AC447F4F80B7}"/>
              </a:ext>
            </a:extLst>
          </p:cNvPr>
          <p:cNvSpPr>
            <a:spLocks noGrp="1"/>
          </p:cNvSpPr>
          <p:nvPr>
            <p:ph type="body" sz="quarter" idx="14" hasCustomPrompt="1"/>
          </p:nvPr>
        </p:nvSpPr>
        <p:spPr>
          <a:xfrm>
            <a:off x="19423856" y="5476815"/>
            <a:ext cx="4114800" cy="11197937"/>
          </a:xfrm>
        </p:spPr>
        <p:txBody>
          <a:bodyPr tIns="274320" bIns="45720">
            <a:noAutofit/>
          </a:bodyPr>
          <a:lstStyle>
            <a:lvl1pPr marL="0" marR="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sz="4000">
                <a:latin typeface="+mn-lt"/>
              </a:defRPr>
            </a:lvl1pPr>
          </a:lstStyle>
          <a:p>
            <a:pPr lvl="0"/>
            <a:r>
              <a:rPr lang="en-US" dirty="0"/>
              <a:t>U.S.</a:t>
            </a:r>
          </a:p>
          <a:p>
            <a:pPr lvl="0"/>
            <a:r>
              <a:rPr lang="en-US" dirty="0"/>
              <a:t>Mexico</a:t>
            </a:r>
          </a:p>
          <a:p>
            <a:pPr lvl="0"/>
            <a:r>
              <a:rPr lang="en-US" dirty="0"/>
              <a:t>Brazil</a:t>
            </a:r>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U.K.</a:t>
            </a:r>
          </a:p>
          <a:p>
            <a:pPr lvl="0"/>
            <a:r>
              <a:rPr lang="en-US" dirty="0"/>
              <a:t>France</a:t>
            </a:r>
          </a:p>
          <a:p>
            <a:pPr lvl="0"/>
            <a:r>
              <a:rPr lang="en-US" dirty="0"/>
              <a:t>Israel</a:t>
            </a:r>
          </a:p>
          <a:p>
            <a:pPr lvl="0"/>
            <a:r>
              <a:rPr lang="en-US" dirty="0"/>
              <a:t>India</a:t>
            </a:r>
          </a:p>
          <a:p>
            <a:pPr lvl="0"/>
            <a:r>
              <a:rPr lang="en-US" dirty="0"/>
              <a:t>China</a:t>
            </a:r>
          </a:p>
          <a:p>
            <a:pPr lvl="0"/>
            <a:r>
              <a:rPr lang="en-US" dirty="0"/>
              <a:t>Taiwan</a:t>
            </a:r>
          </a:p>
          <a:p>
            <a:pPr lvl="0"/>
            <a:r>
              <a:rPr lang="en-US" dirty="0"/>
              <a:t>Japan</a:t>
            </a:r>
          </a:p>
          <a:p>
            <a:pPr lvl="0"/>
            <a:r>
              <a:rPr lang="en-US" dirty="0"/>
              <a:t>Korea</a:t>
            </a:r>
          </a:p>
        </p:txBody>
      </p:sp>
      <p:sp>
        <p:nvSpPr>
          <p:cNvPr id="16" name="Country">
            <a:extLst>
              <a:ext uri="{FF2B5EF4-FFF2-40B4-BE49-F238E27FC236}">
                <a16:creationId xmlns:a16="http://schemas.microsoft.com/office/drawing/2014/main" id="{DCCA50C4-A863-2072-4B0F-46D70AB18021}"/>
              </a:ext>
            </a:extLst>
          </p:cNvPr>
          <p:cNvSpPr txBox="1"/>
          <p:nvPr userDrawn="1"/>
        </p:nvSpPr>
        <p:spPr>
          <a:xfrm>
            <a:off x="19423855" y="4661205"/>
            <a:ext cx="4571999" cy="815608"/>
          </a:xfrm>
          <a:prstGeom prst="rect">
            <a:avLst/>
          </a:prstGeom>
          <a:noFill/>
        </p:spPr>
        <p:txBody>
          <a:bodyPr wrap="square" lIns="0" rIns="0" bIns="274320" rtlCol="0" anchor="b">
            <a:noAutofit/>
          </a:bodyPr>
          <a:lstStyle/>
          <a:p>
            <a:pPr algn="l"/>
            <a:r>
              <a:rPr lang="en-US" sz="3200" kern="100" baseline="0" dirty="0"/>
              <a:t>Region</a:t>
            </a:r>
          </a:p>
        </p:txBody>
      </p:sp>
      <p:cxnSp>
        <p:nvCxnSpPr>
          <p:cNvPr id="14" name="Divider">
            <a:extLst>
              <a:ext uri="{FF2B5EF4-FFF2-40B4-BE49-F238E27FC236}">
                <a16:creationId xmlns:a16="http://schemas.microsoft.com/office/drawing/2014/main" id="{6F6275F5-FE84-974B-9A2C-6D9492927BDB}"/>
              </a:ext>
            </a:extLst>
          </p:cNvPr>
          <p:cNvCxnSpPr>
            <a:cxnSpLocks/>
          </p:cNvCxnSpPr>
          <p:nvPr userDrawn="1"/>
        </p:nvCxnSpPr>
        <p:spPr>
          <a:xfrm>
            <a:off x="19423856" y="5476815"/>
            <a:ext cx="13716000" cy="0"/>
          </a:xfrm>
          <a:prstGeom prst="line">
            <a:avLst/>
          </a:prstGeom>
          <a:ln w="38100">
            <a:solidFill>
              <a:schemeClr val="accent6"/>
            </a:solidFill>
            <a:headEnd w="lg" len="lg"/>
            <a:tailEnd w="lg" len="lg"/>
          </a:ln>
        </p:spPr>
        <p:style>
          <a:lnRef idx="2">
            <a:schemeClr val="accent1"/>
          </a:lnRef>
          <a:fillRef idx="0">
            <a:schemeClr val="accent1"/>
          </a:fillRef>
          <a:effectRef idx="1">
            <a:schemeClr val="accent1"/>
          </a:effectRef>
          <a:fontRef idx="minor">
            <a:schemeClr val="tx1"/>
          </a:fontRef>
        </p:style>
      </p:cxnSp>
      <p:sp>
        <p:nvSpPr>
          <p:cNvPr id="12" name="Date Place Holder">
            <a:extLst>
              <a:ext uri="{FF2B5EF4-FFF2-40B4-BE49-F238E27FC236}">
                <a16:creationId xmlns:a16="http://schemas.microsoft.com/office/drawing/2014/main" id="{9E22579E-7446-930A-8426-64D7BF1D6DE2}"/>
              </a:ext>
            </a:extLst>
          </p:cNvPr>
          <p:cNvSpPr>
            <a:spLocks noGrp="1"/>
          </p:cNvSpPr>
          <p:nvPr>
            <p:ph type="body" sz="quarter" idx="10" hasCustomPrompt="1"/>
          </p:nvPr>
        </p:nvSpPr>
        <p:spPr>
          <a:xfrm>
            <a:off x="19423856" y="3429003"/>
            <a:ext cx="13684569" cy="782637"/>
          </a:xfrm>
        </p:spPr>
        <p:txBody>
          <a:bodyPr anchor="ctr"/>
          <a:lstStyle>
            <a:lvl1pPr>
              <a:lnSpc>
                <a:spcPct val="100000"/>
              </a:lnSpc>
              <a:buNone/>
              <a:defRPr sz="4800">
                <a:solidFill>
                  <a:schemeClr val="tx1"/>
                </a:solidFill>
                <a:latin typeface="+mj-lt"/>
              </a:defRPr>
            </a:lvl1pPr>
            <a:lvl2pPr>
              <a:buNone/>
              <a:defRPr/>
            </a:lvl2pPr>
          </a:lstStyle>
          <a:p>
            <a:pPr lvl="0"/>
            <a:r>
              <a:rPr lang="en-US" dirty="0"/>
              <a:t>Month Date, Year</a:t>
            </a:r>
          </a:p>
        </p:txBody>
      </p:sp>
      <p:sp>
        <p:nvSpPr>
          <p:cNvPr id="9" name="Embargo Title">
            <a:extLst>
              <a:ext uri="{FF2B5EF4-FFF2-40B4-BE49-F238E27FC236}">
                <a16:creationId xmlns:a16="http://schemas.microsoft.com/office/drawing/2014/main" id="{89A97FCA-DE57-3016-B1E1-200846768D66}"/>
              </a:ext>
            </a:extLst>
          </p:cNvPr>
          <p:cNvSpPr txBox="1"/>
          <p:nvPr userDrawn="1"/>
        </p:nvSpPr>
        <p:spPr>
          <a:xfrm>
            <a:off x="1681161" y="8708544"/>
            <a:ext cx="8907888" cy="2169825"/>
          </a:xfrm>
          <a:prstGeom prst="rect">
            <a:avLst/>
          </a:prstGeom>
          <a:noFill/>
        </p:spPr>
        <p:txBody>
          <a:bodyPr wrap="none" lIns="0" tIns="45720" rIns="0" bIns="45720" rtlCol="0" anchor="ctr">
            <a:noAutofit/>
          </a:bodyPr>
          <a:lstStyle/>
          <a:p>
            <a:r>
              <a:rPr lang="en-US" sz="13500" kern="100" spc="0" baseline="0" dirty="0">
                <a:solidFill>
                  <a:srgbClr val="E52020"/>
                </a:solidFill>
                <a:latin typeface="+mj-lt"/>
              </a:rPr>
              <a:t>EMBARGO</a:t>
            </a:r>
          </a:p>
        </p:txBody>
      </p:sp>
      <p:sp>
        <p:nvSpPr>
          <p:cNvPr id="2" name="Slide Number Placeholder">
            <a:extLst>
              <a:ext uri="{FF2B5EF4-FFF2-40B4-BE49-F238E27FC236}">
                <a16:creationId xmlns:a16="http://schemas.microsoft.com/office/drawing/2014/main" id="{8EE1D5E4-E8E0-5B54-14BB-7082F4260ADB}"/>
              </a:ext>
            </a:extLst>
          </p:cNvPr>
          <p:cNvSpPr>
            <a:spLocks noGrp="1"/>
          </p:cNvSpPr>
          <p:nvPr>
            <p:ph type="sldNum" sz="quarter" idx="19"/>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2200672221"/>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Font Test">
    <p:spTree>
      <p:nvGrpSpPr>
        <p:cNvPr id="1" name=""/>
        <p:cNvGrpSpPr/>
        <p:nvPr/>
      </p:nvGrpSpPr>
      <p:grpSpPr>
        <a:xfrm>
          <a:off x="0" y="0"/>
          <a:ext cx="0" cy="0"/>
          <a:chOff x="0" y="0"/>
          <a:chExt cx="0" cy="0"/>
        </a:xfrm>
      </p:grpSpPr>
      <p:pic>
        <p:nvPicPr>
          <p:cNvPr id="52" name="Font Picture">
            <a:extLst>
              <a:ext uri="{FF2B5EF4-FFF2-40B4-BE49-F238E27FC236}">
                <a16:creationId xmlns:a16="http://schemas.microsoft.com/office/drawing/2014/main" id="{D9701711-BA88-9042-4DDD-CA4C10E1600A}"/>
              </a:ext>
            </a:extLst>
          </p:cNvPr>
          <p:cNvPicPr>
            <a:picLocks noChangeAspect="1"/>
          </p:cNvPicPr>
          <p:nvPr userDrawn="1"/>
        </p:nvPicPr>
        <p:blipFill>
          <a:blip r:embed="rId2"/>
          <a:srcRect/>
          <a:stretch/>
        </p:blipFill>
        <p:spPr>
          <a:xfrm>
            <a:off x="26669145" y="10425922"/>
            <a:ext cx="8076057" cy="5608374"/>
          </a:xfrm>
          <a:prstGeom prst="rect">
            <a:avLst/>
          </a:prstGeom>
        </p:spPr>
      </p:pic>
      <p:sp>
        <p:nvSpPr>
          <p:cNvPr id="18" name="Green BG">
            <a:extLst>
              <a:ext uri="{FF2B5EF4-FFF2-40B4-BE49-F238E27FC236}">
                <a16:creationId xmlns:a16="http://schemas.microsoft.com/office/drawing/2014/main" id="{AC415708-C6CC-CDE5-C6D4-5A403B13D4BA}"/>
              </a:ext>
            </a:extLst>
          </p:cNvPr>
          <p:cNvSpPr/>
          <p:nvPr userDrawn="1"/>
        </p:nvSpPr>
        <p:spPr>
          <a:xfrm>
            <a:off x="18287997" y="10420755"/>
            <a:ext cx="8079105" cy="560771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en-US" sz="3200" dirty="0">
              <a:solidFill>
                <a:schemeClr val="bg1"/>
              </a:solidFill>
            </a:endParaRPr>
          </a:p>
        </p:txBody>
      </p:sp>
      <p:sp>
        <p:nvSpPr>
          <p:cNvPr id="12" name="Text Placeholder 2">
            <a:extLst>
              <a:ext uri="{FF2B5EF4-FFF2-40B4-BE49-F238E27FC236}">
                <a16:creationId xmlns:a16="http://schemas.microsoft.com/office/drawing/2014/main" id="{BDAECE55-6771-C733-9CFD-B279E6B29D97}"/>
              </a:ext>
            </a:extLst>
          </p:cNvPr>
          <p:cNvSpPr>
            <a:spLocks noGrp="1"/>
          </p:cNvSpPr>
          <p:nvPr>
            <p:ph type="body" sz="quarter" idx="18" hasCustomPrompt="1"/>
          </p:nvPr>
        </p:nvSpPr>
        <p:spPr>
          <a:xfrm>
            <a:off x="19137627" y="12382072"/>
            <a:ext cx="6616065" cy="3108960"/>
          </a:xfrm>
        </p:spPr>
        <p:txBody>
          <a:bodyPr tIns="0" bIns="0">
            <a:noAutofit/>
          </a:bodyPr>
          <a:lstStyle>
            <a:lvl1pPr>
              <a:lnSpc>
                <a:spcPct val="90000"/>
              </a:lnSpc>
              <a:spcBef>
                <a:spcPts val="0"/>
              </a:spcBef>
              <a:spcAft>
                <a:spcPts val="0"/>
              </a:spcAft>
              <a:buNone/>
              <a:defRPr sz="7200" b="0" kern="100" baseline="0">
                <a:solidFill>
                  <a:schemeClr val="tx1"/>
                </a:solidFill>
                <a:latin typeface="+mn-lt"/>
              </a:defRPr>
            </a:lvl1pPr>
          </a:lstStyle>
          <a:p>
            <a:pPr lvl="0"/>
            <a:r>
              <a:rPr lang="en-US" dirty="0"/>
              <a:t>Our font for everything NVIDIA</a:t>
            </a:r>
          </a:p>
        </p:txBody>
      </p:sp>
      <p:sp>
        <p:nvSpPr>
          <p:cNvPr id="10" name="Text Placeholder 1">
            <a:extLst>
              <a:ext uri="{FF2B5EF4-FFF2-40B4-BE49-F238E27FC236}">
                <a16:creationId xmlns:a16="http://schemas.microsoft.com/office/drawing/2014/main" id="{B63E418B-71D8-FC79-0AD9-C6D48912FBAF}"/>
              </a:ext>
            </a:extLst>
          </p:cNvPr>
          <p:cNvSpPr>
            <a:spLocks noGrp="1"/>
          </p:cNvSpPr>
          <p:nvPr>
            <p:ph type="body" sz="quarter" idx="17" hasCustomPrompt="1"/>
          </p:nvPr>
        </p:nvSpPr>
        <p:spPr>
          <a:xfrm>
            <a:off x="19137627" y="11089410"/>
            <a:ext cx="6616065" cy="1292662"/>
          </a:xfrm>
        </p:spPr>
        <p:txBody>
          <a:bodyPr tIns="0" bIns="0">
            <a:noAutofit/>
          </a:bodyPr>
          <a:lstStyle>
            <a:lvl1pPr>
              <a:lnSpc>
                <a:spcPct val="100000"/>
              </a:lnSpc>
              <a:spcBef>
                <a:spcPts val="0"/>
              </a:spcBef>
              <a:spcAft>
                <a:spcPts val="0"/>
              </a:spcAft>
              <a:buNone/>
              <a:defRPr sz="8400" b="0" kern="100" baseline="0">
                <a:solidFill>
                  <a:schemeClr val="tx1"/>
                </a:solidFill>
                <a:latin typeface="+mj-lt"/>
              </a:defRPr>
            </a:lvl1pPr>
          </a:lstStyle>
          <a:p>
            <a:pPr lvl="0"/>
            <a:r>
              <a:rPr lang="en-US" dirty="0"/>
              <a:t>NVIDIA Sans</a:t>
            </a:r>
          </a:p>
        </p:txBody>
      </p:sp>
      <p:sp>
        <p:nvSpPr>
          <p:cNvPr id="5" name="Title">
            <a:extLst>
              <a:ext uri="{FF2B5EF4-FFF2-40B4-BE49-F238E27FC236}">
                <a16:creationId xmlns:a16="http://schemas.microsoft.com/office/drawing/2014/main" id="{3554122E-9D0A-381B-D4D0-ED3BB16BFEBC}"/>
              </a:ext>
            </a:extLst>
          </p:cNvPr>
          <p:cNvSpPr txBox="1"/>
          <p:nvPr userDrawn="1"/>
        </p:nvSpPr>
        <p:spPr>
          <a:xfrm>
            <a:off x="1828801" y="9052560"/>
            <a:ext cx="13715999" cy="2468880"/>
          </a:xfrm>
          <a:prstGeom prst="rect">
            <a:avLst/>
          </a:prstGeom>
        </p:spPr>
        <p:txBody>
          <a:bodyPr vert="horz" lIns="0" tIns="45720" rIns="0" bIns="45720" rtlCol="0" anchor="ctr">
            <a:noAutofit/>
          </a:bodyPr>
          <a:lstStyle>
            <a:lvl1pPr indent="0" defTabSz="2743200">
              <a:lnSpc>
                <a:spcPct val="90000"/>
              </a:lnSpc>
              <a:spcBef>
                <a:spcPct val="0"/>
              </a:spcBef>
              <a:buNone/>
              <a:defRPr sz="8800" kern="100" baseline="0">
                <a:latin typeface="NVIDIA Sans Medium" panose="020B0603020203020204" pitchFamily="34" charset="0"/>
                <a:ea typeface="+mj-ea"/>
                <a:cs typeface="NVIDIA Sans Medium" panose="020B0603020203020204" pitchFamily="34" charset="0"/>
              </a:defRPr>
            </a:lvl1pPr>
          </a:lstStyle>
          <a:p>
            <a:pPr lvl="0"/>
            <a:r>
              <a:rPr lang="en-US" dirty="0">
                <a:latin typeface="+mj-lt"/>
              </a:rPr>
              <a:t>Verify Font Installation</a:t>
            </a:r>
          </a:p>
        </p:txBody>
      </p:sp>
    </p:spTree>
    <p:extLst>
      <p:ext uri="{BB962C8B-B14F-4D97-AF65-F5344CB8AC3E}">
        <p14:creationId xmlns:p14="http://schemas.microsoft.com/office/powerpoint/2010/main" val="3572167755"/>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ubtitle">
    <p:spTree>
      <p:nvGrpSpPr>
        <p:cNvPr id="1" name=""/>
        <p:cNvGrpSpPr/>
        <p:nvPr/>
      </p:nvGrpSpPr>
      <p:grpSpPr>
        <a:xfrm>
          <a:off x="0" y="0"/>
          <a:ext cx="0" cy="0"/>
          <a:chOff x="0" y="0"/>
          <a:chExt cx="0" cy="0"/>
        </a:xfrm>
      </p:grpSpPr>
      <p:sp>
        <p:nvSpPr>
          <p:cNvPr id="10"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1893490113"/>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ubtitle, Bullets">
    <p:spTree>
      <p:nvGrpSpPr>
        <p:cNvPr id="1" name=""/>
        <p:cNvGrpSpPr/>
        <p:nvPr/>
      </p:nvGrpSpPr>
      <p:grpSpPr>
        <a:xfrm>
          <a:off x="0" y="0"/>
          <a:ext cx="0" cy="0"/>
          <a:chOff x="0" y="0"/>
          <a:chExt cx="0" cy="0"/>
        </a:xfrm>
      </p:grpSpPr>
      <p:sp>
        <p:nvSpPr>
          <p:cNvPr id="9" name="Slide Number Placeholder">
            <a:extLst>
              <a:ext uri="{FF2B5EF4-FFF2-40B4-BE49-F238E27FC236}">
                <a16:creationId xmlns:a16="http://schemas.microsoft.com/office/drawing/2014/main" id="{8B06A4EB-9D74-56F2-6D42-35250B0A9A29}"/>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3" name="Text Placeholder">
            <a:extLst>
              <a:ext uri="{FF2B5EF4-FFF2-40B4-BE49-F238E27FC236}">
                <a16:creationId xmlns:a16="http://schemas.microsoft.com/office/drawing/2014/main" id="{DA3A2352-21AA-F0B1-22A8-49DDF807B9CB}"/>
              </a:ext>
            </a:extLst>
          </p:cNvPr>
          <p:cNvSpPr>
            <a:spLocks noGrp="1"/>
          </p:cNvSpPr>
          <p:nvPr>
            <p:ph type="body" sz="quarter" idx="13" hasCustomPrompt="1"/>
          </p:nvPr>
        </p:nvSpPr>
        <p:spPr>
          <a:xfrm>
            <a:off x="1828800" y="5943600"/>
            <a:ext cx="32918399"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771695422"/>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sp>
        <p:nvSpPr>
          <p:cNvPr id="6" name="Slide Number Placeholder">
            <a:extLst>
              <a:ext uri="{FF2B5EF4-FFF2-40B4-BE49-F238E27FC236}">
                <a16:creationId xmlns:a16="http://schemas.microsoft.com/office/drawing/2014/main" id="{663AA810-376A-2B32-E021-D6793220544D}"/>
              </a:ext>
            </a:extLst>
          </p:cNvPr>
          <p:cNvSpPr>
            <a:spLocks noGrp="1"/>
          </p:cNvSpPr>
          <p:nvPr>
            <p:ph type="sldNum" sz="quarter" idx="19"/>
          </p:nvPr>
        </p:nvSpPr>
        <p:spPr/>
        <p:txBody>
          <a:bodyPr/>
          <a:lstStyle/>
          <a:p>
            <a:pPr>
              <a:lnSpc>
                <a:spcPct val="90000"/>
              </a:lnSpc>
            </a:pPr>
            <a:fld id="{5D6728F8-03AC-4059-94FB-90617981AE50}" type="slidenum">
              <a:rPr lang="en-US" smtClean="0"/>
              <a:pPr/>
              <a:t>‹#›</a:t>
            </a:fld>
            <a:endParaRPr lang="en-US"/>
          </a:p>
        </p:txBody>
      </p:sp>
      <p:sp>
        <p:nvSpPr>
          <p:cNvPr id="22" name="Text Placeholder 2">
            <a:extLst>
              <a:ext uri="{FF2B5EF4-FFF2-40B4-BE49-F238E27FC236}">
                <a16:creationId xmlns:a16="http://schemas.microsoft.com/office/drawing/2014/main" id="{BA63C3F9-10F6-FB3C-63A1-FB218F33FC9E}"/>
              </a:ext>
            </a:extLst>
          </p:cNvPr>
          <p:cNvSpPr>
            <a:spLocks noGrp="1"/>
          </p:cNvSpPr>
          <p:nvPr>
            <p:ph type="body" sz="quarter" idx="16" hasCustomPrompt="1"/>
          </p:nvPr>
        </p:nvSpPr>
        <p:spPr>
          <a:xfrm>
            <a:off x="19202400" y="5943600"/>
            <a:ext cx="155448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1" name="Text Placeholder 1">
            <a:extLst>
              <a:ext uri="{FF2B5EF4-FFF2-40B4-BE49-F238E27FC236}">
                <a16:creationId xmlns:a16="http://schemas.microsoft.com/office/drawing/2014/main" id="{87D5860D-3075-A83E-2DFD-54EE7058E544}"/>
              </a:ext>
            </a:extLst>
          </p:cNvPr>
          <p:cNvSpPr>
            <a:spLocks noGrp="1"/>
          </p:cNvSpPr>
          <p:nvPr>
            <p:ph type="body" sz="quarter" idx="15" hasCustomPrompt="1"/>
          </p:nvPr>
        </p:nvSpPr>
        <p:spPr>
          <a:xfrm>
            <a:off x="1828800" y="5943600"/>
            <a:ext cx="155448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596741346"/>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DING_Title, Subtitle, Bullets">
    <p:spTree>
      <p:nvGrpSpPr>
        <p:cNvPr id="1" name=""/>
        <p:cNvGrpSpPr/>
        <p:nvPr/>
      </p:nvGrpSpPr>
      <p:grpSpPr>
        <a:xfrm>
          <a:off x="0" y="0"/>
          <a:ext cx="0" cy="0"/>
          <a:chOff x="0" y="0"/>
          <a:chExt cx="0" cy="0"/>
        </a:xfrm>
      </p:grpSpPr>
      <p:sp>
        <p:nvSpPr>
          <p:cNvPr id="7" name="Slide Number Placeholder">
            <a:extLst>
              <a:ext uri="{FF2B5EF4-FFF2-40B4-BE49-F238E27FC236}">
                <a16:creationId xmlns:a16="http://schemas.microsoft.com/office/drawing/2014/main" id="{BA5C1DDE-90E4-324D-81E3-E1F31AD59F7E}"/>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3" name="Text Placeholder">
            <a:extLst>
              <a:ext uri="{FF2B5EF4-FFF2-40B4-BE49-F238E27FC236}">
                <a16:creationId xmlns:a16="http://schemas.microsoft.com/office/drawing/2014/main" id="{DA3A2352-21AA-F0B1-22A8-49DDF807B9CB}"/>
              </a:ext>
            </a:extLst>
          </p:cNvPr>
          <p:cNvSpPr>
            <a:spLocks noGrp="1"/>
          </p:cNvSpPr>
          <p:nvPr>
            <p:ph type="body" sz="quarter" idx="13" hasCustomPrompt="1"/>
          </p:nvPr>
        </p:nvSpPr>
        <p:spPr>
          <a:xfrm>
            <a:off x="1828800" y="5943600"/>
            <a:ext cx="32918399" cy="12801600"/>
          </a:xfrm>
        </p:spPr>
        <p:txBody>
          <a:bodyPr/>
          <a:lstStyle>
            <a:lvl1pPr>
              <a:spcBef>
                <a:spcPts val="0"/>
              </a:spcBef>
              <a:spcAft>
                <a:spcPts val="0"/>
              </a:spcAft>
              <a:buNone/>
              <a:defRPr sz="4000">
                <a:latin typeface="Roboto Mono" panose="00000009000000000000" pitchFamily="49" charset="0"/>
                <a:ea typeface="Roboto Mono" panose="00000009000000000000" pitchFamily="49" charset="0"/>
              </a:defRPr>
            </a:lvl1pPr>
            <a:lvl2pPr>
              <a:defRPr>
                <a:latin typeface="Roboto Mono" panose="00000009000000000000" pitchFamily="49" charset="0"/>
                <a:ea typeface="Roboto Mono" panose="00000009000000000000" pitchFamily="49" charset="0"/>
              </a:defRPr>
            </a:lvl2pPr>
            <a:lvl3pPr>
              <a:defRPr>
                <a:latin typeface="Roboto Mono" panose="00000009000000000000" pitchFamily="49" charset="0"/>
                <a:ea typeface="Roboto Mono" panose="00000009000000000000" pitchFamily="49" charset="0"/>
              </a:defRPr>
            </a:lvl3pPr>
            <a:lvl4pPr>
              <a:defRPr>
                <a:latin typeface="Roboto Mono" panose="00000009000000000000" pitchFamily="49" charset="0"/>
                <a:ea typeface="Roboto Mono" panose="00000009000000000000" pitchFamily="49" charset="0"/>
              </a:defRPr>
            </a:lvl4pPr>
            <a:lvl5pPr>
              <a:defRPr>
                <a:latin typeface="Roboto Mono" panose="00000009000000000000" pitchFamily="49" charset="0"/>
                <a:ea typeface="Roboto Mono" panose="00000009000000000000" pitchFamily="49" charset="0"/>
              </a:defRPr>
            </a:lvl5pPr>
          </a:lstStyle>
          <a:p>
            <a:pPr lvl="0"/>
            <a:r>
              <a:rPr lang="en-US" dirty="0"/>
              <a:t>Click to edit paragraph text</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Roboto Mono" panose="00000009000000000000" pitchFamily="49" charset="0"/>
                <a:ea typeface="Roboto Mono" panose="00000009000000000000" pitchFamily="49" charset="0"/>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Roboto Mono Medium" panose="00000009000000000000" pitchFamily="49" charset="0"/>
                <a:ea typeface="Roboto Mono Medium" panose="00000009000000000000" pitchFamily="49" charset="0"/>
              </a:defRPr>
            </a:lvl1pPr>
          </a:lstStyle>
          <a:p>
            <a:r>
              <a:rPr lang="en-US" dirty="0"/>
              <a:t>Click to Edit Title Here</a:t>
            </a:r>
          </a:p>
        </p:txBody>
      </p:sp>
    </p:spTree>
    <p:extLst>
      <p:ext uri="{BB962C8B-B14F-4D97-AF65-F5344CB8AC3E}">
        <p14:creationId xmlns:p14="http://schemas.microsoft.com/office/powerpoint/2010/main" val="1387195520"/>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Content Right">
    <p:spTree>
      <p:nvGrpSpPr>
        <p:cNvPr id="1" name=""/>
        <p:cNvGrpSpPr/>
        <p:nvPr/>
      </p:nvGrpSpPr>
      <p:grpSpPr>
        <a:xfrm>
          <a:off x="0" y="0"/>
          <a:ext cx="0" cy="0"/>
          <a:chOff x="0" y="0"/>
          <a:chExt cx="0" cy="0"/>
        </a:xfrm>
      </p:grpSpPr>
      <p:sp>
        <p:nvSpPr>
          <p:cNvPr id="9" name="Slide Number Placeholder">
            <a:extLst>
              <a:ext uri="{FF2B5EF4-FFF2-40B4-BE49-F238E27FC236}">
                <a16:creationId xmlns:a16="http://schemas.microsoft.com/office/drawing/2014/main" id="{90B3C34B-D852-977A-37E2-E62EC4EB657D}"/>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6" name="Text Placeholder">
            <a:extLst>
              <a:ext uri="{FF2B5EF4-FFF2-40B4-BE49-F238E27FC236}">
                <a16:creationId xmlns:a16="http://schemas.microsoft.com/office/drawing/2014/main" id="{6B8F3605-9756-DE2F-6DD3-5A49DF2C66F2}"/>
              </a:ext>
            </a:extLst>
          </p:cNvPr>
          <p:cNvSpPr>
            <a:spLocks noGrp="1"/>
          </p:cNvSpPr>
          <p:nvPr>
            <p:ph type="body" sz="quarter" idx="13" hasCustomPrompt="1"/>
          </p:nvPr>
        </p:nvSpPr>
        <p:spPr>
          <a:xfrm>
            <a:off x="18288000" y="2971800"/>
            <a:ext cx="16459199" cy="14630400"/>
          </a:xfrm>
        </p:spPr>
        <p:txBody>
          <a:bodyPr anchor="ct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9052560"/>
            <a:ext cx="13716000" cy="2468880"/>
          </a:xfrm>
        </p:spPr>
        <p:txBody>
          <a:bodyPr anchor="ct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1436833285"/>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ubtitle, Content Right">
    <p:spTree>
      <p:nvGrpSpPr>
        <p:cNvPr id="1" name=""/>
        <p:cNvGrpSpPr/>
        <p:nvPr/>
      </p:nvGrpSpPr>
      <p:grpSpPr>
        <a:xfrm>
          <a:off x="0" y="0"/>
          <a:ext cx="0" cy="0"/>
          <a:chOff x="0" y="0"/>
          <a:chExt cx="0" cy="0"/>
        </a:xfrm>
      </p:grpSpPr>
      <p:sp>
        <p:nvSpPr>
          <p:cNvPr id="10" name="Slide Number Placeholder">
            <a:extLst>
              <a:ext uri="{FF2B5EF4-FFF2-40B4-BE49-F238E27FC236}">
                <a16:creationId xmlns:a16="http://schemas.microsoft.com/office/drawing/2014/main" id="{254672F0-4512-6FA1-6D35-6858289285E1}"/>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6" name="Text Placeholder">
            <a:extLst>
              <a:ext uri="{FF2B5EF4-FFF2-40B4-BE49-F238E27FC236}">
                <a16:creationId xmlns:a16="http://schemas.microsoft.com/office/drawing/2014/main" id="{6B8F3605-9756-DE2F-6DD3-5A49DF2C66F2}"/>
              </a:ext>
            </a:extLst>
          </p:cNvPr>
          <p:cNvSpPr>
            <a:spLocks noGrp="1"/>
          </p:cNvSpPr>
          <p:nvPr>
            <p:ph type="body" sz="quarter" idx="13" hasCustomPrompt="1"/>
          </p:nvPr>
        </p:nvSpPr>
        <p:spPr>
          <a:xfrm>
            <a:off x="18288000" y="2971800"/>
            <a:ext cx="16459199" cy="14630400"/>
          </a:xfrm>
        </p:spPr>
        <p:txBody>
          <a:bodyPr anchor="ct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marL="0" marR="0" indent="0" algn="l" defTabSz="2743200" rtl="0" eaLnBrk="1" fontAlgn="auto" latinLnBrk="0" hangingPunct="1">
              <a:lnSpc>
                <a:spcPct val="90000"/>
              </a:lnSpc>
              <a:spcBef>
                <a:spcPts val="0"/>
              </a:spcBef>
              <a:spcAft>
                <a:spcPts val="0"/>
              </a:spcAft>
              <a:buClr>
                <a:schemeClr val="accent1"/>
              </a:buClr>
              <a:buSzTx/>
              <a:buFontTx/>
              <a:buNone/>
              <a:tabLst/>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marL="0" marR="0" lvl="0" indent="0" algn="l" defTabSz="2743200" rtl="0" eaLnBrk="1" fontAlgn="auto" latinLnBrk="0" hangingPunct="1">
              <a:lnSpc>
                <a:spcPct val="90000"/>
              </a:lnSpc>
              <a:spcBef>
                <a:spcPts val="0"/>
              </a:spcBef>
              <a:spcAft>
                <a:spcPts val="0"/>
              </a:spcAft>
              <a:buClr>
                <a:schemeClr val="accent1"/>
              </a:buClr>
              <a:buSzTx/>
              <a:buFontTx/>
              <a:buNone/>
              <a:tabLst/>
              <a:defRPr/>
            </a:pPr>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07749946"/>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Use Case">
    <p:spTree>
      <p:nvGrpSpPr>
        <p:cNvPr id="1" name=""/>
        <p:cNvGrpSpPr/>
        <p:nvPr/>
      </p:nvGrpSpPr>
      <p:grpSpPr>
        <a:xfrm>
          <a:off x="0" y="0"/>
          <a:ext cx="0" cy="0"/>
          <a:chOff x="0" y="0"/>
          <a:chExt cx="0" cy="0"/>
        </a:xfrm>
      </p:grpSpPr>
      <p:sp>
        <p:nvSpPr>
          <p:cNvPr id="8" name="Slide Number Placeholder">
            <a:extLst>
              <a:ext uri="{FF2B5EF4-FFF2-40B4-BE49-F238E27FC236}">
                <a16:creationId xmlns:a16="http://schemas.microsoft.com/office/drawing/2014/main" id="{157ECE47-239F-9043-F44A-45C6E5E1E41F}"/>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45" name="Picture Placeholder">
            <a:extLst>
              <a:ext uri="{FF2B5EF4-FFF2-40B4-BE49-F238E27FC236}">
                <a16:creationId xmlns:a16="http://schemas.microsoft.com/office/drawing/2014/main" id="{6310BC71-DCA8-9CA8-DE44-1F98FCBE3423}"/>
              </a:ext>
            </a:extLst>
          </p:cNvPr>
          <p:cNvSpPr>
            <a:spLocks noGrp="1"/>
          </p:cNvSpPr>
          <p:nvPr userDrawn="1">
            <p:ph type="pic" sz="quarter" idx="13" hasCustomPrompt="1"/>
          </p:nvPr>
        </p:nvSpPr>
        <p:spPr>
          <a:xfrm>
            <a:off x="17145000" y="1828800"/>
            <a:ext cx="17602200" cy="16916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60" name="Text Placeholder">
            <a:extLst>
              <a:ext uri="{FF2B5EF4-FFF2-40B4-BE49-F238E27FC236}">
                <a16:creationId xmlns:a16="http://schemas.microsoft.com/office/drawing/2014/main" id="{6833AC61-E20E-97B9-03B7-59761B154FF3}"/>
              </a:ext>
            </a:extLst>
          </p:cNvPr>
          <p:cNvSpPr>
            <a:spLocks noGrp="1"/>
          </p:cNvSpPr>
          <p:nvPr>
            <p:ph type="body" sz="quarter" idx="14"/>
          </p:nvPr>
        </p:nvSpPr>
        <p:spPr>
          <a:xfrm>
            <a:off x="1828800" y="11109960"/>
            <a:ext cx="13716000" cy="7635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24" name="Title">
            <a:extLst>
              <a:ext uri="{FF2B5EF4-FFF2-40B4-BE49-F238E27FC236}">
                <a16:creationId xmlns:a16="http://schemas.microsoft.com/office/drawing/2014/main" id="{758F76B7-AB11-4A28-11A1-32B4E453D659}"/>
              </a:ext>
            </a:extLst>
          </p:cNvPr>
          <p:cNvSpPr>
            <a:spLocks noGrp="1"/>
          </p:cNvSpPr>
          <p:nvPr>
            <p:ph type="title" hasCustomPrompt="1"/>
          </p:nvPr>
        </p:nvSpPr>
        <p:spPr>
          <a:xfrm>
            <a:off x="1828800" y="5685246"/>
            <a:ext cx="13716000" cy="4967514"/>
          </a:xfrm>
        </p:spPr>
        <p:txBody>
          <a:bodyPr>
            <a:noAutofit/>
          </a:bodyPr>
          <a:lstStyle>
            <a:lvl1pPr>
              <a:defRPr>
                <a:latin typeface="+mj-lt"/>
              </a:defRPr>
            </a:lvl1pPr>
          </a:lstStyle>
          <a:p>
            <a:r>
              <a:rPr lang="en-US" dirty="0"/>
              <a:t>Click to Edit Title Here</a:t>
            </a:r>
          </a:p>
        </p:txBody>
      </p:sp>
      <p:sp>
        <p:nvSpPr>
          <p:cNvPr id="40" name="Logo Placeholder">
            <a:extLst>
              <a:ext uri="{FF2B5EF4-FFF2-40B4-BE49-F238E27FC236}">
                <a16:creationId xmlns:a16="http://schemas.microsoft.com/office/drawing/2014/main" id="{38FD308E-A1B1-F84B-1B5D-9DD25CF03911}"/>
              </a:ext>
            </a:extLst>
          </p:cNvPr>
          <p:cNvSpPr>
            <a:spLocks noGrp="1"/>
          </p:cNvSpPr>
          <p:nvPr userDrawn="1">
            <p:ph type="pic" sz="quarter" idx="12"/>
          </p:nvPr>
        </p:nvSpPr>
        <p:spPr>
          <a:xfrm>
            <a:off x="7182681" y="2933923"/>
            <a:ext cx="3840480" cy="731520"/>
          </a:xfrm>
        </p:spPr>
        <p:txBody>
          <a:bodyPr/>
          <a:lstStyle>
            <a:lvl1pPr algn="ctr">
              <a:defRPr sz="2400"/>
            </a:lvl1pPr>
          </a:lstStyle>
          <a:p>
            <a:r>
              <a:rPr lang="zh-CN" altLang="en-US"/>
              <a:t>单击图标添加图片</a:t>
            </a:r>
            <a:endParaRPr lang="en-US" dirty="0"/>
          </a:p>
        </p:txBody>
      </p:sp>
      <p:cxnSp>
        <p:nvCxnSpPr>
          <p:cNvPr id="35" name="Divider Line">
            <a:extLst>
              <a:ext uri="{FF2B5EF4-FFF2-40B4-BE49-F238E27FC236}">
                <a16:creationId xmlns:a16="http://schemas.microsoft.com/office/drawing/2014/main" id="{07A22438-1615-4D9D-035B-BD830FCDDDEE}"/>
              </a:ext>
            </a:extLst>
          </p:cNvPr>
          <p:cNvCxnSpPr>
            <a:cxnSpLocks/>
          </p:cNvCxnSpPr>
          <p:nvPr userDrawn="1"/>
        </p:nvCxnSpPr>
        <p:spPr>
          <a:xfrm>
            <a:off x="6424897" y="2453110"/>
            <a:ext cx="0" cy="1693145"/>
          </a:xfrm>
          <a:prstGeom prst="line">
            <a:avLst/>
          </a:prstGeom>
          <a:ln w="38100">
            <a:solidFill>
              <a:schemeClr val="tx2"/>
            </a:solidFill>
            <a:headEnd w="lg" len="lg"/>
            <a:tailEnd w="lg" len="lg"/>
          </a:ln>
        </p:spPr>
        <p:style>
          <a:lnRef idx="2">
            <a:schemeClr val="accent1"/>
          </a:lnRef>
          <a:fillRef idx="0">
            <a:schemeClr val="accent1"/>
          </a:fillRef>
          <a:effectRef idx="1">
            <a:schemeClr val="accent1"/>
          </a:effectRef>
          <a:fontRef idx="minor">
            <a:schemeClr val="tx1"/>
          </a:fontRef>
        </p:style>
      </p:cxnSp>
      <p:sp>
        <p:nvSpPr>
          <p:cNvPr id="26" name="Logo Text">
            <a:extLst>
              <a:ext uri="{FF2B5EF4-FFF2-40B4-BE49-F238E27FC236}">
                <a16:creationId xmlns:a16="http://schemas.microsoft.com/office/drawing/2014/main" id="{7181261B-26AC-4005-DDC1-BC3536B31448}"/>
              </a:ext>
            </a:extLst>
          </p:cNvPr>
          <p:cNvSpPr>
            <a:spLocks noGrp="1" noRot="1" noMove="1" noResize="1" noEditPoints="1" noAdjustHandles="1" noChangeArrowheads="1" noChangeShapeType="1"/>
          </p:cNvSpPr>
          <p:nvPr userDrawn="1"/>
        </p:nvSpPr>
        <p:spPr>
          <a:xfrm>
            <a:off x="3115929" y="3071500"/>
            <a:ext cx="2565187" cy="480812"/>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endParaRPr lang="en-US" dirty="0"/>
          </a:p>
        </p:txBody>
      </p:sp>
      <p:sp>
        <p:nvSpPr>
          <p:cNvPr id="27" name="Logo Eye">
            <a:extLst>
              <a:ext uri="{FF2B5EF4-FFF2-40B4-BE49-F238E27FC236}">
                <a16:creationId xmlns:a16="http://schemas.microsoft.com/office/drawing/2014/main" id="{9BF956D7-DF9A-8474-03DC-1D535E1AF181}"/>
              </a:ext>
            </a:extLst>
          </p:cNvPr>
          <p:cNvSpPr>
            <a:spLocks noGrp="1" noRot="1" noMove="1" noResize="1" noEditPoints="1" noAdjustHandles="1" noChangeArrowheads="1" noChangeShapeType="1"/>
          </p:cNvSpPr>
          <p:nvPr userDrawn="1"/>
        </p:nvSpPr>
        <p:spPr>
          <a:xfrm>
            <a:off x="1828916" y="2933922"/>
            <a:ext cx="1105476" cy="731520"/>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endParaRPr lang="en-US" dirty="0"/>
          </a:p>
        </p:txBody>
      </p:sp>
    </p:spTree>
    <p:extLst>
      <p:ext uri="{BB962C8B-B14F-4D97-AF65-F5344CB8AC3E}">
        <p14:creationId xmlns:p14="http://schemas.microsoft.com/office/powerpoint/2010/main" val="1124950508"/>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Chart">
    <p:spTree>
      <p:nvGrpSpPr>
        <p:cNvPr id="1" name=""/>
        <p:cNvGrpSpPr/>
        <p:nvPr/>
      </p:nvGrpSpPr>
      <p:grpSpPr>
        <a:xfrm>
          <a:off x="0" y="0"/>
          <a:ext cx="0" cy="0"/>
          <a:chOff x="0" y="0"/>
          <a:chExt cx="0" cy="0"/>
        </a:xfrm>
      </p:grpSpPr>
      <p:sp>
        <p:nvSpPr>
          <p:cNvPr id="4" name="Footer Placeholder">
            <a:extLst>
              <a:ext uri="{FF2B5EF4-FFF2-40B4-BE49-F238E27FC236}">
                <a16:creationId xmlns:a16="http://schemas.microsoft.com/office/drawing/2014/main" id="{A94EB9A7-773A-461B-557E-0A579E6D3E1E}"/>
              </a:ext>
            </a:extLst>
          </p:cNvPr>
          <p:cNvSpPr>
            <a:spLocks noGrp="1"/>
          </p:cNvSpPr>
          <p:nvPr>
            <p:ph type="ftr" sz="quarter" idx="19"/>
          </p:nvPr>
        </p:nvSpPr>
        <p:spPr/>
        <p:txBody>
          <a:bodyPr/>
          <a:lstStyle/>
          <a:p>
            <a:pPr>
              <a:lnSpc>
                <a:spcPct val="90000"/>
              </a:lnSpc>
            </a:pPr>
            <a:r>
              <a:rPr lang="en-US"/>
              <a:t>Source information in NVIDIA Sans, medium gray; 20 pt</a:t>
            </a:r>
            <a:endParaRPr lang="en-US" dirty="0"/>
          </a:p>
        </p:txBody>
      </p:sp>
      <p:sp>
        <p:nvSpPr>
          <p:cNvPr id="3" name="Chart Placeholder">
            <a:extLst>
              <a:ext uri="{FF2B5EF4-FFF2-40B4-BE49-F238E27FC236}">
                <a16:creationId xmlns:a16="http://schemas.microsoft.com/office/drawing/2014/main" id="{612780E9-97C1-3353-3B19-EC6E50C425E5}"/>
              </a:ext>
            </a:extLst>
          </p:cNvPr>
          <p:cNvSpPr>
            <a:spLocks noGrp="1"/>
          </p:cNvSpPr>
          <p:nvPr>
            <p:ph type="chart" sz="quarter" idx="17" hasCustomPrompt="1"/>
          </p:nvPr>
        </p:nvSpPr>
        <p:spPr>
          <a:xfrm>
            <a:off x="5120639" y="6812280"/>
            <a:ext cx="26334720" cy="9692640"/>
          </a:xfrm>
        </p:spPr>
        <p:txBody>
          <a:bodyPr tIns="0" bIns="2103120" anchor="ctr"/>
          <a:lstStyle>
            <a:lvl1pPr algn="ctr">
              <a:defRPr sz="2800">
                <a:solidFill>
                  <a:schemeClr val="accent6"/>
                </a:solidFill>
                <a:latin typeface="+mn-lt"/>
              </a:defRPr>
            </a:lvl1pPr>
          </a:lstStyle>
          <a:p>
            <a:r>
              <a:rPr lang="en-US" dirty="0"/>
              <a:t>Click icon to place chart</a:t>
            </a:r>
          </a:p>
        </p:txBody>
      </p:sp>
      <p:sp>
        <p:nvSpPr>
          <p:cNvPr id="11" name="Text Placeholder">
            <a:extLst>
              <a:ext uri="{FF2B5EF4-FFF2-40B4-BE49-F238E27FC236}">
                <a16:creationId xmlns:a16="http://schemas.microsoft.com/office/drawing/2014/main" id="{3D6C3D75-6FFF-9EB8-DBF8-913CC6C1EE09}"/>
              </a:ext>
            </a:extLst>
          </p:cNvPr>
          <p:cNvSpPr>
            <a:spLocks noGrp="1"/>
          </p:cNvSpPr>
          <p:nvPr>
            <p:ph type="body" sz="quarter" idx="12" hasCustomPrompt="1"/>
          </p:nvPr>
        </p:nvSpPr>
        <p:spPr>
          <a:xfrm>
            <a:off x="10058400" y="5552182"/>
            <a:ext cx="16459200" cy="1077218"/>
          </a:xfrm>
        </p:spPr>
        <p:txBody>
          <a:bodyPr anchor="b">
            <a:noAutofit/>
          </a:bodyPr>
          <a:lstStyle>
            <a:lvl1pPr algn="ctr">
              <a:lnSpc>
                <a:spcPct val="100000"/>
              </a:lnSpc>
              <a:spcBef>
                <a:spcPts val="0"/>
              </a:spcBef>
              <a:spcAft>
                <a:spcPts val="0"/>
              </a:spcAft>
              <a:defRPr sz="4400" b="0">
                <a:solidFill>
                  <a:schemeClr val="tx1"/>
                </a:solidFill>
                <a:latin typeface="+mj-lt"/>
              </a:defRPr>
            </a:lvl1pPr>
            <a:lvl2pPr algn="ctr">
              <a:lnSpc>
                <a:spcPct val="100000"/>
              </a:lnSpc>
              <a:spcBef>
                <a:spcPts val="0"/>
              </a:spcBef>
              <a:spcAft>
                <a:spcPts val="0"/>
              </a:spcAft>
              <a:buNone/>
              <a:defRPr sz="3600">
                <a:solidFill>
                  <a:schemeClr val="accent6"/>
                </a:solidFill>
              </a:defRPr>
            </a:lvl2pPr>
            <a:lvl3pPr algn="ctr">
              <a:buNone/>
              <a:defRPr/>
            </a:lvl3pPr>
            <a:lvl4pPr algn="ctr">
              <a:defRPr/>
            </a:lvl4pPr>
            <a:lvl5pPr algn="ctr">
              <a:defRPr/>
            </a:lvl5pPr>
          </a:lstStyle>
          <a:p>
            <a:pPr lvl="0"/>
            <a:r>
              <a:rPr lang="en-US" dirty="0"/>
              <a:t>Click to Edit Chart Title</a:t>
            </a:r>
          </a:p>
          <a:p>
            <a:pPr lvl="1"/>
            <a:r>
              <a:rPr lang="en-US" dirty="0"/>
              <a:t>Second level</a:t>
            </a:r>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l">
              <a:defRPr>
                <a:latin typeface="+mj-lt"/>
              </a:defRPr>
            </a:lvl1pPr>
          </a:lstStyle>
          <a:p>
            <a:r>
              <a:rPr lang="en-US" dirty="0"/>
              <a:t>Click to Edit Title Here</a:t>
            </a:r>
          </a:p>
        </p:txBody>
      </p:sp>
      <p:sp>
        <p:nvSpPr>
          <p:cNvPr id="2" name="Slide Number Placeholder">
            <a:extLst>
              <a:ext uri="{FF2B5EF4-FFF2-40B4-BE49-F238E27FC236}">
                <a16:creationId xmlns:a16="http://schemas.microsoft.com/office/drawing/2014/main" id="{261AB175-E8DE-A841-4B8F-E21ED9AEA401}"/>
              </a:ext>
            </a:extLst>
          </p:cNvPr>
          <p:cNvSpPr>
            <a:spLocks noGrp="1"/>
          </p:cNvSpPr>
          <p:nvPr>
            <p:ph type="sldNum" sz="quarter" idx="20"/>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4257249143"/>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ingle Image 16:9">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62E9C3B1-E578-9546-78AF-A91BCF2187FB}"/>
              </a:ext>
            </a:extLst>
          </p:cNvPr>
          <p:cNvSpPr>
            <a:spLocks noGrp="1"/>
          </p:cNvSpPr>
          <p:nvPr>
            <p:ph type="ftr" sz="quarter" idx="19"/>
          </p:nvPr>
        </p:nvSpPr>
        <p:spPr/>
        <p:txBody>
          <a:bodyPr/>
          <a:lstStyle/>
          <a:p>
            <a:pPr>
              <a:lnSpc>
                <a:spcPct val="90000"/>
              </a:lnSpc>
            </a:pPr>
            <a:r>
              <a:rPr lang="en-US"/>
              <a:t>Source information in NVIDIA Sans, medium gray; 20 pt</a:t>
            </a:r>
            <a:endParaRPr lang="en-US" dirty="0"/>
          </a:p>
        </p:txBody>
      </p:sp>
      <p:sp>
        <p:nvSpPr>
          <p:cNvPr id="10" name="Slide Number Placeholder">
            <a:extLst>
              <a:ext uri="{FF2B5EF4-FFF2-40B4-BE49-F238E27FC236}">
                <a16:creationId xmlns:a16="http://schemas.microsoft.com/office/drawing/2014/main" id="{8CA48B7B-5A22-B5DB-CF09-43E03E4D8D98}"/>
              </a:ext>
            </a:extLst>
          </p:cNvPr>
          <p:cNvSpPr>
            <a:spLocks noGrp="1"/>
          </p:cNvSpPr>
          <p:nvPr>
            <p:ph type="sldNum" sz="quarter" idx="20"/>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C66CDA03-9F6B-B45E-4491-BEA246B29A91}"/>
              </a:ext>
            </a:extLst>
          </p:cNvPr>
          <p:cNvSpPr>
            <a:spLocks noGrp="1"/>
          </p:cNvSpPr>
          <p:nvPr>
            <p:ph type="body" sz="quarter" idx="52" hasCustomPrompt="1"/>
          </p:nvPr>
        </p:nvSpPr>
        <p:spPr>
          <a:xfrm>
            <a:off x="8331200" y="17866936"/>
            <a:ext cx="19913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55D3AFFC-2277-939B-5E7E-1C91C2E44E0C}"/>
              </a:ext>
            </a:extLst>
          </p:cNvPr>
          <p:cNvSpPr>
            <a:spLocks noGrp="1"/>
          </p:cNvSpPr>
          <p:nvPr>
            <p:ph type="body" sz="quarter" idx="51" hasCustomPrompt="1"/>
          </p:nvPr>
        </p:nvSpPr>
        <p:spPr>
          <a:xfrm>
            <a:off x="8331200" y="17241080"/>
            <a:ext cx="19913600"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F9432913-9912-7965-4991-AF53AA33AF98}"/>
              </a:ext>
            </a:extLst>
          </p:cNvPr>
          <p:cNvSpPr>
            <a:spLocks noGrp="1" noChangeAspect="1"/>
          </p:cNvSpPr>
          <p:nvPr>
            <p:ph type="pic" sz="quarter" idx="53" hasCustomPrompt="1"/>
          </p:nvPr>
        </p:nvSpPr>
        <p:spPr>
          <a:xfrm>
            <a:off x="8331200" y="5806441"/>
            <a:ext cx="199136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521419045"/>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ingle Image 1:1">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2AF26A46-42AB-DF4F-23C8-722587870AE6}"/>
              </a:ext>
            </a:extLst>
          </p:cNvPr>
          <p:cNvSpPr>
            <a:spLocks noGrp="1"/>
          </p:cNvSpPr>
          <p:nvPr>
            <p:ph type="ftr" sz="quarter" idx="21"/>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79F6F523-D18E-7B85-4402-5643E55B3A33}"/>
              </a:ext>
            </a:extLst>
          </p:cNvPr>
          <p:cNvSpPr>
            <a:spLocks noGrp="1"/>
          </p:cNvSpPr>
          <p:nvPr>
            <p:ph type="sldNum" sz="quarter" idx="22"/>
          </p:nvPr>
        </p:nvSpPr>
        <p:spPr/>
        <p:txBody>
          <a:bodyPr/>
          <a:lstStyle/>
          <a:p>
            <a:pPr>
              <a:lnSpc>
                <a:spcPct val="90000"/>
              </a:lnSpc>
            </a:pPr>
            <a:fld id="{5D6728F8-03AC-4059-94FB-90617981AE50}" type="slidenum">
              <a:rPr lang="en-US" smtClean="0"/>
              <a:pPr/>
              <a:t>‹#›</a:t>
            </a:fld>
            <a:endParaRPr lang="en-US"/>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
        <p:nvSpPr>
          <p:cNvPr id="6" name="Text Placeholder 1">
            <a:extLst>
              <a:ext uri="{FF2B5EF4-FFF2-40B4-BE49-F238E27FC236}">
                <a16:creationId xmlns:a16="http://schemas.microsoft.com/office/drawing/2014/main" id="{A489FF99-1831-0DF9-96D8-11325791CEA7}"/>
              </a:ext>
            </a:extLst>
          </p:cNvPr>
          <p:cNvSpPr>
            <a:spLocks noGrp="1"/>
          </p:cNvSpPr>
          <p:nvPr>
            <p:ph type="body" sz="quarter" idx="52" hasCustomPrompt="1"/>
          </p:nvPr>
        </p:nvSpPr>
        <p:spPr>
          <a:xfrm>
            <a:off x="19552660" y="17866936"/>
            <a:ext cx="15194539"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7" name="Image Text Placeholder 1">
            <a:extLst>
              <a:ext uri="{FF2B5EF4-FFF2-40B4-BE49-F238E27FC236}">
                <a16:creationId xmlns:a16="http://schemas.microsoft.com/office/drawing/2014/main" id="{A3F58F9F-B870-3263-F3DA-BE2292FA36EE}"/>
              </a:ext>
            </a:extLst>
          </p:cNvPr>
          <p:cNvSpPr>
            <a:spLocks noGrp="1"/>
          </p:cNvSpPr>
          <p:nvPr>
            <p:ph type="body" sz="quarter" idx="51" hasCustomPrompt="1"/>
          </p:nvPr>
        </p:nvSpPr>
        <p:spPr>
          <a:xfrm>
            <a:off x="19552660" y="17241080"/>
            <a:ext cx="15194539" cy="585216"/>
          </a:xfrm>
        </p:spPr>
        <p:txBody>
          <a:bodyPr/>
          <a:lstStyle>
            <a:lvl1pPr algn="ctr">
              <a:spcBef>
                <a:spcPts val="0"/>
              </a:spcBef>
              <a:defRPr sz="4000">
                <a:latin typeface="+mj-lt"/>
              </a:defRPr>
            </a:lvl1pPr>
          </a:lstStyle>
          <a:p>
            <a:pPr lvl="0"/>
            <a:r>
              <a:rPr lang="en-US" dirty="0"/>
              <a:t>Click to Edit Image Title</a:t>
            </a:r>
          </a:p>
        </p:txBody>
      </p:sp>
      <p:sp>
        <p:nvSpPr>
          <p:cNvPr id="10" name="Picture Placeholder 1">
            <a:extLst>
              <a:ext uri="{FF2B5EF4-FFF2-40B4-BE49-F238E27FC236}">
                <a16:creationId xmlns:a16="http://schemas.microsoft.com/office/drawing/2014/main" id="{57BC260F-02B3-8D2B-42BC-6A5E50478042}"/>
              </a:ext>
            </a:extLst>
          </p:cNvPr>
          <p:cNvSpPr>
            <a:spLocks noGrp="1" noChangeAspect="1"/>
          </p:cNvSpPr>
          <p:nvPr>
            <p:ph type="pic" sz="quarter" idx="53" hasCustomPrompt="1"/>
          </p:nvPr>
        </p:nvSpPr>
        <p:spPr>
          <a:xfrm>
            <a:off x="19552659" y="1828799"/>
            <a:ext cx="15194539" cy="15179041"/>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322090011"/>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ingle Image w/ text 1:1">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9966960"/>
            <a:ext cx="13716000" cy="8778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795528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4114800"/>
            <a:ext cx="13716000" cy="3840480"/>
          </a:xfrm>
        </p:spPr>
        <p:txBody>
          <a:bodyPr>
            <a:noAutofit/>
          </a:bodyPr>
          <a:lstStyle>
            <a:lvl1pPr>
              <a:defRPr>
                <a:latin typeface="+mj-lt"/>
              </a:defRPr>
            </a:lvl1pPr>
          </a:lstStyle>
          <a:p>
            <a:r>
              <a:rPr lang="en-US" dirty="0"/>
              <a:t>Click to Edit Title Here</a:t>
            </a:r>
          </a:p>
        </p:txBody>
      </p:sp>
      <p:sp>
        <p:nvSpPr>
          <p:cNvPr id="6" name="Text Placeholder 1">
            <a:extLst>
              <a:ext uri="{FF2B5EF4-FFF2-40B4-BE49-F238E27FC236}">
                <a16:creationId xmlns:a16="http://schemas.microsoft.com/office/drawing/2014/main" id="{78A3DE93-2758-FED4-5A4D-0F3E593B509E}"/>
              </a:ext>
            </a:extLst>
          </p:cNvPr>
          <p:cNvSpPr>
            <a:spLocks noGrp="1"/>
          </p:cNvSpPr>
          <p:nvPr>
            <p:ph type="body" sz="quarter" idx="52" hasCustomPrompt="1"/>
          </p:nvPr>
        </p:nvSpPr>
        <p:spPr>
          <a:xfrm>
            <a:off x="19552660" y="17866936"/>
            <a:ext cx="15194539"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7" name="Image Text Placeholder 1">
            <a:extLst>
              <a:ext uri="{FF2B5EF4-FFF2-40B4-BE49-F238E27FC236}">
                <a16:creationId xmlns:a16="http://schemas.microsoft.com/office/drawing/2014/main" id="{B9398613-710D-4865-371A-946865EB5A7E}"/>
              </a:ext>
            </a:extLst>
          </p:cNvPr>
          <p:cNvSpPr>
            <a:spLocks noGrp="1"/>
          </p:cNvSpPr>
          <p:nvPr>
            <p:ph type="body" sz="quarter" idx="51" hasCustomPrompt="1"/>
          </p:nvPr>
        </p:nvSpPr>
        <p:spPr>
          <a:xfrm>
            <a:off x="19552660" y="17241080"/>
            <a:ext cx="15194539" cy="585216"/>
          </a:xfrm>
        </p:spPr>
        <p:txBody>
          <a:bodyPr/>
          <a:lstStyle>
            <a:lvl1pPr algn="ctr">
              <a:spcBef>
                <a:spcPts val="0"/>
              </a:spcBef>
              <a:defRPr sz="4000">
                <a:latin typeface="+mj-lt"/>
              </a:defRPr>
            </a:lvl1pPr>
          </a:lstStyle>
          <a:p>
            <a:pPr lvl="0"/>
            <a:r>
              <a:rPr lang="en-US" dirty="0"/>
              <a:t>Click to Edit Image Title</a:t>
            </a:r>
          </a:p>
        </p:txBody>
      </p:sp>
      <p:sp>
        <p:nvSpPr>
          <p:cNvPr id="10" name="Picture Placeholder 1">
            <a:extLst>
              <a:ext uri="{FF2B5EF4-FFF2-40B4-BE49-F238E27FC236}">
                <a16:creationId xmlns:a16="http://schemas.microsoft.com/office/drawing/2014/main" id="{49C45D48-BD52-B9A0-732B-FA64DCFE4D4D}"/>
              </a:ext>
            </a:extLst>
          </p:cNvPr>
          <p:cNvSpPr>
            <a:spLocks noGrp="1" noChangeAspect="1"/>
          </p:cNvSpPr>
          <p:nvPr>
            <p:ph type="pic" sz="quarter" idx="53" hasCustomPrompt="1"/>
          </p:nvPr>
        </p:nvSpPr>
        <p:spPr>
          <a:xfrm>
            <a:off x="19552659" y="1828799"/>
            <a:ext cx="15194539" cy="15179041"/>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555883036"/>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ingle Image w/ heavy text 4:5">
    <p:spTree>
      <p:nvGrpSpPr>
        <p:cNvPr id="1" name=""/>
        <p:cNvGrpSpPr/>
        <p:nvPr/>
      </p:nvGrpSpPr>
      <p:grpSpPr>
        <a:xfrm>
          <a:off x="0" y="0"/>
          <a:ext cx="0" cy="0"/>
          <a:chOff x="0" y="0"/>
          <a:chExt cx="0" cy="0"/>
        </a:xfrm>
      </p:grpSpPr>
      <p:sp>
        <p:nvSpPr>
          <p:cNvPr id="8" name="Footer (Source)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a:t>Source information in NVIDIA Sans, medium gray; 20 pt</a:t>
            </a:r>
            <a:endParaRPr lang="en-US" dirty="0"/>
          </a:p>
        </p:txBody>
      </p:sp>
      <p:sp>
        <p:nvSpPr>
          <p:cNvPr id="11" name="Slide Number Placeholder 10">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5" name="Picture Placeholder">
            <a:extLst>
              <a:ext uri="{FF2B5EF4-FFF2-40B4-BE49-F238E27FC236}">
                <a16:creationId xmlns:a16="http://schemas.microsoft.com/office/drawing/2014/main" id="{DDD634F0-995B-6ADD-C541-C4E58AC01BA0}"/>
              </a:ext>
            </a:extLst>
          </p:cNvPr>
          <p:cNvSpPr>
            <a:spLocks noGrp="1" noChangeAspect="1"/>
          </p:cNvSpPr>
          <p:nvPr>
            <p:ph type="pic" sz="quarter" idx="16" hasCustomPrompt="1"/>
          </p:nvPr>
        </p:nvSpPr>
        <p:spPr>
          <a:xfrm>
            <a:off x="21202180" y="1828800"/>
            <a:ext cx="13545020" cy="16916399"/>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5943600"/>
            <a:ext cx="164592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ubtitle">
            <a:extLst>
              <a:ext uri="{FF2B5EF4-FFF2-40B4-BE49-F238E27FC236}">
                <a16:creationId xmlns:a16="http://schemas.microsoft.com/office/drawing/2014/main" id="{FA26421D-9787-61F2-FBDF-8D6244254A66}"/>
              </a:ext>
            </a:extLst>
          </p:cNvPr>
          <p:cNvSpPr>
            <a:spLocks noGrp="1"/>
          </p:cNvSpPr>
          <p:nvPr>
            <p:ph type="body" sz="quarter" idx="13" hasCustomPrompt="1"/>
          </p:nvPr>
        </p:nvSpPr>
        <p:spPr>
          <a:xfrm>
            <a:off x="1828800" y="3383280"/>
            <a:ext cx="164592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6" name="Title">
            <a:extLst>
              <a:ext uri="{FF2B5EF4-FFF2-40B4-BE49-F238E27FC236}">
                <a16:creationId xmlns:a16="http://schemas.microsoft.com/office/drawing/2014/main" id="{74582820-14A4-7D67-5C91-23BC79A32370}"/>
              </a:ext>
            </a:extLst>
          </p:cNvPr>
          <p:cNvSpPr>
            <a:spLocks noGrp="1"/>
          </p:cNvSpPr>
          <p:nvPr>
            <p:ph type="title" hasCustomPrompt="1"/>
          </p:nvPr>
        </p:nvSpPr>
        <p:spPr>
          <a:xfrm>
            <a:off x="1828800" y="914400"/>
            <a:ext cx="164592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3168145144"/>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Interstitial Single Image w/ QR Code">
    <p:spTree>
      <p:nvGrpSpPr>
        <p:cNvPr id="1" name=""/>
        <p:cNvGrpSpPr/>
        <p:nvPr/>
      </p:nvGrpSpPr>
      <p:grpSpPr>
        <a:xfrm>
          <a:off x="0" y="0"/>
          <a:ext cx="0" cy="0"/>
          <a:chOff x="0" y="0"/>
          <a:chExt cx="0" cy="0"/>
        </a:xfrm>
      </p:grpSpPr>
      <p:sp>
        <p:nvSpPr>
          <p:cNvPr id="3" name="Logo Text">
            <a:extLst>
              <a:ext uri="{FF2B5EF4-FFF2-40B4-BE49-F238E27FC236}">
                <a16:creationId xmlns:a16="http://schemas.microsoft.com/office/drawing/2014/main" id="{9D6F27D6-4614-ED9E-5693-91C78E06D593}"/>
              </a:ext>
            </a:extLst>
          </p:cNvPr>
          <p:cNvSpPr>
            <a:spLocks noGrp="1" noRot="1" noMove="1" noResize="1" noEditPoints="1" noAdjustHandles="1" noChangeArrowheads="1" noChangeShapeType="1"/>
          </p:cNvSpPr>
          <p:nvPr userDrawn="1"/>
        </p:nvSpPr>
        <p:spPr>
          <a:xfrm>
            <a:off x="34543020" y="19448330"/>
            <a:ext cx="1119785" cy="20988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chemeClr val="tx1"/>
          </a:solidFill>
          <a:ln w="692" cap="flat">
            <a:noFill/>
            <a:prstDash val="solid"/>
            <a:miter/>
          </a:ln>
        </p:spPr>
        <p:txBody>
          <a:bodyPr/>
          <a:lstStyle/>
          <a:p>
            <a:endParaRPr lang="en-US"/>
          </a:p>
        </p:txBody>
      </p:sp>
      <p:sp>
        <p:nvSpPr>
          <p:cNvPr id="4" name="Logo Eye">
            <a:extLst>
              <a:ext uri="{FF2B5EF4-FFF2-40B4-BE49-F238E27FC236}">
                <a16:creationId xmlns:a16="http://schemas.microsoft.com/office/drawing/2014/main" id="{985EF0C2-DA2E-AAEA-FFD4-BAAA50EFB8A6}"/>
              </a:ext>
            </a:extLst>
          </p:cNvPr>
          <p:cNvSpPr>
            <a:spLocks noGrp="1" noRot="1" noMove="1" noResize="1" noEditPoints="1" noAdjustHandles="1" noChangeArrowheads="1" noChangeShapeType="1"/>
          </p:cNvSpPr>
          <p:nvPr userDrawn="1"/>
        </p:nvSpPr>
        <p:spPr>
          <a:xfrm>
            <a:off x="33981198" y="19388273"/>
            <a:ext cx="482575" cy="319331"/>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chemeClr val="accent1"/>
          </a:solidFill>
          <a:ln w="692" cap="flat">
            <a:noFill/>
            <a:prstDash val="solid"/>
            <a:miter/>
          </a:ln>
        </p:spPr>
        <p:txBody>
          <a:bodyPr/>
          <a:lstStyle/>
          <a:p>
            <a:endParaRPr lang="en-US"/>
          </a:p>
        </p:txBody>
      </p:sp>
      <p:sp>
        <p:nvSpPr>
          <p:cNvPr id="11" name="Slide Number Placeholder 10">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5" name="Picture Placeholder">
            <a:extLst>
              <a:ext uri="{FF2B5EF4-FFF2-40B4-BE49-F238E27FC236}">
                <a16:creationId xmlns:a16="http://schemas.microsoft.com/office/drawing/2014/main" id="{DDD634F0-995B-6ADD-C541-C4E58AC01BA0}"/>
              </a:ext>
            </a:extLst>
          </p:cNvPr>
          <p:cNvSpPr>
            <a:spLocks noGrp="1" noChangeAspect="1"/>
          </p:cNvSpPr>
          <p:nvPr>
            <p:ph type="pic" sz="quarter" idx="16" hasCustomPrompt="1"/>
          </p:nvPr>
        </p:nvSpPr>
        <p:spPr>
          <a:xfrm>
            <a:off x="21202180" y="1828800"/>
            <a:ext cx="13545020" cy="16916399"/>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9" name="URL Placeholder">
            <a:extLst>
              <a:ext uri="{FF2B5EF4-FFF2-40B4-BE49-F238E27FC236}">
                <a16:creationId xmlns:a16="http://schemas.microsoft.com/office/drawing/2014/main" id="{5226E1C4-07C1-2954-049D-77E09DA13428}"/>
              </a:ext>
            </a:extLst>
          </p:cNvPr>
          <p:cNvSpPr>
            <a:spLocks noGrp="1"/>
          </p:cNvSpPr>
          <p:nvPr>
            <p:ph type="body" sz="quarter" idx="25" hasCustomPrompt="1"/>
          </p:nvPr>
        </p:nvSpPr>
        <p:spPr>
          <a:xfrm>
            <a:off x="6316651" y="16323353"/>
            <a:ext cx="4572000" cy="701731"/>
          </a:xfrm>
        </p:spPr>
        <p:txBody>
          <a:bodyPr wrap="square" anchor="ctr">
            <a:noAutofit/>
          </a:bodyPr>
          <a:lstStyle>
            <a:lvl1pPr>
              <a:buNone/>
              <a:defRPr lang="en-US" sz="4400" b="1" u="sng" kern="100" baseline="0" dirty="0" smtClean="0">
                <a:solidFill>
                  <a:schemeClr val="tx1"/>
                </a:solidFill>
                <a:uFill>
                  <a:solidFill>
                    <a:schemeClr val="accent1"/>
                  </a:solidFill>
                </a:uFill>
                <a:latin typeface="NVIDIA Sans" panose="020B0503020203020204" pitchFamily="34" charset="0"/>
                <a:ea typeface="+mn-ea"/>
                <a:cs typeface="NVIDIA Sans" panose="020B0503020203020204" pitchFamily="34" charset="0"/>
              </a:defRPr>
            </a:lvl1pPr>
            <a:lvl2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2pPr>
            <a:lvl3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3pPr>
            <a:lvl4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4pPr>
            <a:lvl5pPr>
              <a:defRPr lang="en-US" sz="4400" b="1" u="sng" kern="1200" dirty="0">
                <a:solidFill>
                  <a:schemeClr val="tx1"/>
                </a:solidFill>
                <a:uFill>
                  <a:solidFill>
                    <a:schemeClr val="tx2"/>
                  </a:solidFill>
                </a:uFill>
                <a:latin typeface="NVIDIA Sans" panose="020B0503020203020204" pitchFamily="34" charset="0"/>
                <a:ea typeface="+mn-ea"/>
                <a:cs typeface="NVIDIA Sans" panose="020B0503020203020204" pitchFamily="34" charset="0"/>
              </a:defRPr>
            </a:lvl5pPr>
          </a:lstStyle>
          <a:p>
            <a:pPr lvl="0"/>
            <a:r>
              <a:rPr lang="en-US" dirty="0"/>
              <a:t>URL text</a:t>
            </a:r>
          </a:p>
        </p:txBody>
      </p:sp>
      <p:sp>
        <p:nvSpPr>
          <p:cNvPr id="2" name="QR Placeholder">
            <a:extLst>
              <a:ext uri="{FF2B5EF4-FFF2-40B4-BE49-F238E27FC236}">
                <a16:creationId xmlns:a16="http://schemas.microsoft.com/office/drawing/2014/main" id="{047A5165-7513-5095-7248-ADE53DEB1B99}"/>
              </a:ext>
            </a:extLst>
          </p:cNvPr>
          <p:cNvSpPr>
            <a:spLocks noGrp="1" noChangeAspect="1"/>
          </p:cNvSpPr>
          <p:nvPr>
            <p:ph type="pic" sz="quarter" idx="24" hasCustomPrompt="1"/>
          </p:nvPr>
        </p:nvSpPr>
        <p:spPr>
          <a:xfrm>
            <a:off x="1426464" y="14392656"/>
            <a:ext cx="4572000" cy="4572000"/>
          </a:xfrm>
          <a:noFill/>
          <a:ln>
            <a:no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5943600"/>
            <a:ext cx="16459200" cy="8229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ubtitle">
            <a:extLst>
              <a:ext uri="{FF2B5EF4-FFF2-40B4-BE49-F238E27FC236}">
                <a16:creationId xmlns:a16="http://schemas.microsoft.com/office/drawing/2014/main" id="{FA26421D-9787-61F2-FBDF-8D6244254A66}"/>
              </a:ext>
            </a:extLst>
          </p:cNvPr>
          <p:cNvSpPr>
            <a:spLocks noGrp="1"/>
          </p:cNvSpPr>
          <p:nvPr>
            <p:ph type="body" sz="quarter" idx="13" hasCustomPrompt="1"/>
          </p:nvPr>
        </p:nvSpPr>
        <p:spPr>
          <a:xfrm>
            <a:off x="1828800" y="3383280"/>
            <a:ext cx="164592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6" name="Title">
            <a:extLst>
              <a:ext uri="{FF2B5EF4-FFF2-40B4-BE49-F238E27FC236}">
                <a16:creationId xmlns:a16="http://schemas.microsoft.com/office/drawing/2014/main" id="{74582820-14A4-7D67-5C91-23BC79A32370}"/>
              </a:ext>
            </a:extLst>
          </p:cNvPr>
          <p:cNvSpPr>
            <a:spLocks noGrp="1"/>
          </p:cNvSpPr>
          <p:nvPr>
            <p:ph type="title" hasCustomPrompt="1"/>
          </p:nvPr>
        </p:nvSpPr>
        <p:spPr>
          <a:xfrm>
            <a:off x="1828800" y="914400"/>
            <a:ext cx="164592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4266078456"/>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D6BC34D6-8DA8-62F3-C4A5-0A0FEC0CDE9B}"/>
              </a:ext>
            </a:extLst>
          </p:cNvPr>
          <p:cNvSpPr>
            <a:spLocks noGrp="1"/>
          </p:cNvSpPr>
          <p:nvPr>
            <p:ph type="body" sz="quarter" idx="52" hasCustomPrompt="1"/>
          </p:nvPr>
        </p:nvSpPr>
        <p:spPr>
          <a:xfrm>
            <a:off x="1828799" y="16510766"/>
            <a:ext cx="16114094"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177DC77-7F2C-E8FC-2CDE-5AAC4F8253DD}"/>
              </a:ext>
            </a:extLst>
          </p:cNvPr>
          <p:cNvSpPr>
            <a:spLocks noGrp="1"/>
          </p:cNvSpPr>
          <p:nvPr>
            <p:ph type="body" sz="quarter" idx="51" hasCustomPrompt="1"/>
          </p:nvPr>
        </p:nvSpPr>
        <p:spPr>
          <a:xfrm>
            <a:off x="1828799" y="15884910"/>
            <a:ext cx="16114094"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E753BC23-DCCB-C3D7-C895-2D393A014C60}"/>
              </a:ext>
            </a:extLst>
          </p:cNvPr>
          <p:cNvSpPr>
            <a:spLocks noGrp="1" noChangeAspect="1"/>
          </p:cNvSpPr>
          <p:nvPr>
            <p:ph type="pic" sz="quarter" idx="53" hasCustomPrompt="1"/>
          </p:nvPr>
        </p:nvSpPr>
        <p:spPr>
          <a:xfrm>
            <a:off x="1828799" y="6583679"/>
            <a:ext cx="16114094" cy="9067992"/>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82435354-F5C5-05C1-E1C7-7E065BFD8E8A}"/>
              </a:ext>
            </a:extLst>
          </p:cNvPr>
          <p:cNvSpPr>
            <a:spLocks noGrp="1"/>
          </p:cNvSpPr>
          <p:nvPr>
            <p:ph type="body" sz="quarter" idx="54" hasCustomPrompt="1"/>
          </p:nvPr>
        </p:nvSpPr>
        <p:spPr>
          <a:xfrm>
            <a:off x="18633106" y="16510766"/>
            <a:ext cx="16114093"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0" name="Image Text Placeholder 2">
            <a:extLst>
              <a:ext uri="{FF2B5EF4-FFF2-40B4-BE49-F238E27FC236}">
                <a16:creationId xmlns:a16="http://schemas.microsoft.com/office/drawing/2014/main" id="{0F8ACF7E-0030-50A0-D85A-4EE4E128618F}"/>
              </a:ext>
            </a:extLst>
          </p:cNvPr>
          <p:cNvSpPr>
            <a:spLocks noGrp="1"/>
          </p:cNvSpPr>
          <p:nvPr>
            <p:ph type="body" sz="quarter" idx="55" hasCustomPrompt="1"/>
          </p:nvPr>
        </p:nvSpPr>
        <p:spPr>
          <a:xfrm>
            <a:off x="18633106" y="15884910"/>
            <a:ext cx="16114093"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90F7F8E4-D9D6-AE31-E63B-120BB0545306}"/>
              </a:ext>
            </a:extLst>
          </p:cNvPr>
          <p:cNvSpPr>
            <a:spLocks noGrp="1" noChangeAspect="1"/>
          </p:cNvSpPr>
          <p:nvPr>
            <p:ph type="pic" sz="quarter" idx="56" hasCustomPrompt="1"/>
          </p:nvPr>
        </p:nvSpPr>
        <p:spPr>
          <a:xfrm>
            <a:off x="18633106" y="6583679"/>
            <a:ext cx="16114094" cy="9067992"/>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149391402"/>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up Image 1:1">
    <p:spTree>
      <p:nvGrpSpPr>
        <p:cNvPr id="1" name=""/>
        <p:cNvGrpSpPr/>
        <p:nvPr/>
      </p:nvGrpSpPr>
      <p:grpSpPr>
        <a:xfrm>
          <a:off x="0" y="0"/>
          <a:ext cx="0" cy="0"/>
          <a:chOff x="0" y="0"/>
          <a:chExt cx="0" cy="0"/>
        </a:xfrm>
      </p:grpSpPr>
      <p:sp>
        <p:nvSpPr>
          <p:cNvPr id="10" name="Footer Placeholder">
            <a:extLst>
              <a:ext uri="{FF2B5EF4-FFF2-40B4-BE49-F238E27FC236}">
                <a16:creationId xmlns:a16="http://schemas.microsoft.com/office/drawing/2014/main" id="{8310A183-293A-11AA-3184-B8D45B728B68}"/>
              </a:ext>
            </a:extLst>
          </p:cNvPr>
          <p:cNvSpPr>
            <a:spLocks noGrp="1"/>
          </p:cNvSpPr>
          <p:nvPr>
            <p:ph type="ftr" sz="quarter" idx="26"/>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0088ADE0-25BE-3E24-0D45-E13A54AA610E}"/>
              </a:ext>
            </a:extLst>
          </p:cNvPr>
          <p:cNvSpPr>
            <a:spLocks noGrp="1"/>
          </p:cNvSpPr>
          <p:nvPr>
            <p:ph type="sldNum" sz="quarter" idx="27"/>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64316FE9-EFB5-B502-D80B-58C700B9A377}"/>
              </a:ext>
            </a:extLst>
          </p:cNvPr>
          <p:cNvSpPr>
            <a:spLocks noGrp="1"/>
          </p:cNvSpPr>
          <p:nvPr>
            <p:ph type="body" sz="quarter" idx="52" hasCustomPrompt="1"/>
          </p:nvPr>
        </p:nvSpPr>
        <p:spPr>
          <a:xfrm>
            <a:off x="6741493" y="17866936"/>
            <a:ext cx="112014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15648AF9-5D21-C55C-50D0-96E31ACF3A7B}"/>
              </a:ext>
            </a:extLst>
          </p:cNvPr>
          <p:cNvSpPr>
            <a:spLocks noGrp="1"/>
          </p:cNvSpPr>
          <p:nvPr>
            <p:ph type="body" sz="quarter" idx="51" hasCustomPrompt="1"/>
          </p:nvPr>
        </p:nvSpPr>
        <p:spPr>
          <a:xfrm>
            <a:off x="6741493" y="17241080"/>
            <a:ext cx="11201400"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76125F03-AC1F-128A-BA68-7071018BEC79}"/>
              </a:ext>
            </a:extLst>
          </p:cNvPr>
          <p:cNvSpPr>
            <a:spLocks noGrp="1" noChangeAspect="1"/>
          </p:cNvSpPr>
          <p:nvPr>
            <p:ph type="pic" sz="quarter" idx="53" hasCustomPrompt="1"/>
          </p:nvPr>
        </p:nvSpPr>
        <p:spPr>
          <a:xfrm>
            <a:off x="6741493" y="5806441"/>
            <a:ext cx="112014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9" name="Text Placeholder 2">
            <a:extLst>
              <a:ext uri="{FF2B5EF4-FFF2-40B4-BE49-F238E27FC236}">
                <a16:creationId xmlns:a16="http://schemas.microsoft.com/office/drawing/2014/main" id="{F69DD0CA-6122-E4E8-7442-680BF49033F7}"/>
              </a:ext>
            </a:extLst>
          </p:cNvPr>
          <p:cNvSpPr>
            <a:spLocks noGrp="1"/>
          </p:cNvSpPr>
          <p:nvPr>
            <p:ph type="body" sz="quarter" idx="54" hasCustomPrompt="1"/>
          </p:nvPr>
        </p:nvSpPr>
        <p:spPr>
          <a:xfrm>
            <a:off x="18633107" y="17866936"/>
            <a:ext cx="112014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2" name="Image Text Placeholder 2">
            <a:extLst>
              <a:ext uri="{FF2B5EF4-FFF2-40B4-BE49-F238E27FC236}">
                <a16:creationId xmlns:a16="http://schemas.microsoft.com/office/drawing/2014/main" id="{3A83E94B-F03A-A8F4-B0FE-74E5234C8B29}"/>
              </a:ext>
            </a:extLst>
          </p:cNvPr>
          <p:cNvSpPr>
            <a:spLocks noGrp="1"/>
          </p:cNvSpPr>
          <p:nvPr>
            <p:ph type="body" sz="quarter" idx="55" hasCustomPrompt="1"/>
          </p:nvPr>
        </p:nvSpPr>
        <p:spPr>
          <a:xfrm>
            <a:off x="18633107" y="17241080"/>
            <a:ext cx="11201400" cy="585216"/>
          </a:xfrm>
        </p:spPr>
        <p:txBody>
          <a:bodyPr/>
          <a:lstStyle>
            <a:lvl1pPr algn="ctr">
              <a:spcBef>
                <a:spcPts val="0"/>
              </a:spcBef>
              <a:defRPr sz="4000">
                <a:latin typeface="+mj-lt"/>
              </a:defRPr>
            </a:lvl1pPr>
          </a:lstStyle>
          <a:p>
            <a:pPr lvl="0"/>
            <a:r>
              <a:rPr lang="en-US" dirty="0"/>
              <a:t>Click to Edit Image Title</a:t>
            </a:r>
          </a:p>
        </p:txBody>
      </p:sp>
      <p:sp>
        <p:nvSpPr>
          <p:cNvPr id="13" name="Picture Placeholder 2">
            <a:extLst>
              <a:ext uri="{FF2B5EF4-FFF2-40B4-BE49-F238E27FC236}">
                <a16:creationId xmlns:a16="http://schemas.microsoft.com/office/drawing/2014/main" id="{6B6BA6D6-DE4B-9D43-AB0B-4FC40D8CC866}"/>
              </a:ext>
            </a:extLst>
          </p:cNvPr>
          <p:cNvSpPr>
            <a:spLocks noGrp="1" noChangeAspect="1"/>
          </p:cNvSpPr>
          <p:nvPr>
            <p:ph type="pic" sz="quarter" idx="56" hasCustomPrompt="1"/>
          </p:nvPr>
        </p:nvSpPr>
        <p:spPr>
          <a:xfrm>
            <a:off x="18633107" y="5806441"/>
            <a:ext cx="112014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765220463"/>
      </p:ext>
    </p:extLst>
  </p:cSld>
  <p:clrMapOvr>
    <a:masterClrMapping/>
  </p:clrMapOvr>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C2D0C93E-4F1F-5DAD-D5EF-B0685542FDE8}"/>
              </a:ext>
            </a:extLst>
          </p:cNvPr>
          <p:cNvSpPr>
            <a:spLocks noGrp="1"/>
          </p:cNvSpPr>
          <p:nvPr>
            <p:ph type="ftr" sz="quarter" idx="28"/>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02D0AFCD-8D50-99AE-D7F0-FCC4A5EBD23B}"/>
              </a:ext>
            </a:extLst>
          </p:cNvPr>
          <p:cNvSpPr>
            <a:spLocks noGrp="1"/>
          </p:cNvSpPr>
          <p:nvPr>
            <p:ph type="sldNum" sz="quarter" idx="29"/>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11B44D39-6100-C773-3F91-47C5994A926D}"/>
              </a:ext>
            </a:extLst>
          </p:cNvPr>
          <p:cNvSpPr>
            <a:spLocks noGrp="1"/>
          </p:cNvSpPr>
          <p:nvPr>
            <p:ph type="body" sz="quarter" idx="52" hasCustomPrompt="1"/>
          </p:nvPr>
        </p:nvSpPr>
        <p:spPr>
          <a:xfrm>
            <a:off x="1825680" y="14455080"/>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5EC83629-467F-BCD7-68B9-3BAC22BB0C41}"/>
              </a:ext>
            </a:extLst>
          </p:cNvPr>
          <p:cNvSpPr>
            <a:spLocks noGrp="1"/>
          </p:cNvSpPr>
          <p:nvPr>
            <p:ph type="body" sz="quarter" idx="51" hasCustomPrompt="1"/>
          </p:nvPr>
        </p:nvSpPr>
        <p:spPr>
          <a:xfrm>
            <a:off x="1825680" y="13829224"/>
            <a:ext cx="10514306"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19E092C-D874-79CA-ABAB-947657DFB00A}"/>
              </a:ext>
            </a:extLst>
          </p:cNvPr>
          <p:cNvSpPr>
            <a:spLocks noGrp="1" noChangeAspect="1"/>
          </p:cNvSpPr>
          <p:nvPr>
            <p:ph type="pic" sz="quarter" idx="53" hasCustomPrompt="1"/>
          </p:nvPr>
        </p:nvSpPr>
        <p:spPr>
          <a:xfrm>
            <a:off x="1824386"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D798EC41-5120-B538-7AC3-88E72857542C}"/>
              </a:ext>
            </a:extLst>
          </p:cNvPr>
          <p:cNvSpPr>
            <a:spLocks noGrp="1"/>
          </p:cNvSpPr>
          <p:nvPr>
            <p:ph type="body" sz="quarter" idx="54" hasCustomPrompt="1"/>
          </p:nvPr>
        </p:nvSpPr>
        <p:spPr>
          <a:xfrm>
            <a:off x="13030847" y="14455080"/>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2C5A1394-8081-7AD2-5890-4DDDBE4D2A49}"/>
              </a:ext>
            </a:extLst>
          </p:cNvPr>
          <p:cNvSpPr>
            <a:spLocks noGrp="1"/>
          </p:cNvSpPr>
          <p:nvPr>
            <p:ph type="body" sz="quarter" idx="55" hasCustomPrompt="1"/>
          </p:nvPr>
        </p:nvSpPr>
        <p:spPr>
          <a:xfrm>
            <a:off x="13030847" y="13829224"/>
            <a:ext cx="10514306"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2">
            <a:extLst>
              <a:ext uri="{FF2B5EF4-FFF2-40B4-BE49-F238E27FC236}">
                <a16:creationId xmlns:a16="http://schemas.microsoft.com/office/drawing/2014/main" id="{95F7F591-C716-E009-C823-90D5057809DE}"/>
              </a:ext>
            </a:extLst>
          </p:cNvPr>
          <p:cNvSpPr>
            <a:spLocks noGrp="1" noChangeAspect="1"/>
          </p:cNvSpPr>
          <p:nvPr>
            <p:ph type="pic" sz="quarter" idx="56" hasCustomPrompt="1"/>
          </p:nvPr>
        </p:nvSpPr>
        <p:spPr>
          <a:xfrm>
            <a:off x="13030200"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3">
            <a:extLst>
              <a:ext uri="{FF2B5EF4-FFF2-40B4-BE49-F238E27FC236}">
                <a16:creationId xmlns:a16="http://schemas.microsoft.com/office/drawing/2014/main" id="{051DB240-39A0-04BE-1CDD-E6EEE91AC77B}"/>
              </a:ext>
            </a:extLst>
          </p:cNvPr>
          <p:cNvSpPr>
            <a:spLocks noGrp="1"/>
          </p:cNvSpPr>
          <p:nvPr>
            <p:ph type="body" sz="quarter" idx="57" hasCustomPrompt="1"/>
          </p:nvPr>
        </p:nvSpPr>
        <p:spPr>
          <a:xfrm>
            <a:off x="24231601" y="14455080"/>
            <a:ext cx="10515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3">
            <a:extLst>
              <a:ext uri="{FF2B5EF4-FFF2-40B4-BE49-F238E27FC236}">
                <a16:creationId xmlns:a16="http://schemas.microsoft.com/office/drawing/2014/main" id="{0034F399-18E8-4520-3F5F-0B6DBB8B6799}"/>
              </a:ext>
            </a:extLst>
          </p:cNvPr>
          <p:cNvSpPr>
            <a:spLocks noGrp="1"/>
          </p:cNvSpPr>
          <p:nvPr>
            <p:ph type="body" sz="quarter" idx="58" hasCustomPrompt="1"/>
          </p:nvPr>
        </p:nvSpPr>
        <p:spPr>
          <a:xfrm>
            <a:off x="24231601" y="13829224"/>
            <a:ext cx="1051560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3">
            <a:extLst>
              <a:ext uri="{FF2B5EF4-FFF2-40B4-BE49-F238E27FC236}">
                <a16:creationId xmlns:a16="http://schemas.microsoft.com/office/drawing/2014/main" id="{48EC521D-B4C2-799A-C6A3-69D700BE76C1}"/>
              </a:ext>
            </a:extLst>
          </p:cNvPr>
          <p:cNvSpPr>
            <a:spLocks noGrp="1" noChangeAspect="1"/>
          </p:cNvSpPr>
          <p:nvPr>
            <p:ph type="pic" sz="quarter" idx="59" hasCustomPrompt="1"/>
          </p:nvPr>
        </p:nvSpPr>
        <p:spPr>
          <a:xfrm>
            <a:off x="24231600"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625094328"/>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3-up Image 1:1">
    <p:spTree>
      <p:nvGrpSpPr>
        <p:cNvPr id="1" name=""/>
        <p:cNvGrpSpPr/>
        <p:nvPr/>
      </p:nvGrpSpPr>
      <p:grpSpPr>
        <a:xfrm>
          <a:off x="0" y="0"/>
          <a:ext cx="0" cy="0"/>
          <a:chOff x="0" y="0"/>
          <a:chExt cx="0" cy="0"/>
        </a:xfrm>
      </p:grpSpPr>
      <p:sp>
        <p:nvSpPr>
          <p:cNvPr id="11" name="Footer Placeholder">
            <a:extLst>
              <a:ext uri="{FF2B5EF4-FFF2-40B4-BE49-F238E27FC236}">
                <a16:creationId xmlns:a16="http://schemas.microsoft.com/office/drawing/2014/main" id="{85FB1E77-1D8B-DB8A-F0B4-5CF69DFA1FBF}"/>
              </a:ext>
            </a:extLst>
          </p:cNvPr>
          <p:cNvSpPr>
            <a:spLocks noGrp="1"/>
          </p:cNvSpPr>
          <p:nvPr>
            <p:ph type="ftr" sz="quarter" idx="28"/>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6FE65824-D718-233E-6C82-1A23D1968239}"/>
              </a:ext>
            </a:extLst>
          </p:cNvPr>
          <p:cNvSpPr>
            <a:spLocks noGrp="1"/>
          </p:cNvSpPr>
          <p:nvPr>
            <p:ph type="sldNum" sz="quarter" idx="29"/>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7E989AB6-3F8A-A6ED-AEAA-3F4507FAE2A9}"/>
              </a:ext>
            </a:extLst>
          </p:cNvPr>
          <p:cNvSpPr>
            <a:spLocks noGrp="1"/>
          </p:cNvSpPr>
          <p:nvPr>
            <p:ph type="body" sz="quarter" idx="52" hasCustomPrompt="1"/>
          </p:nvPr>
        </p:nvSpPr>
        <p:spPr>
          <a:xfrm>
            <a:off x="1825679" y="17181135"/>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729B0D1C-E74A-6F76-763E-92270DC85217}"/>
              </a:ext>
            </a:extLst>
          </p:cNvPr>
          <p:cNvSpPr>
            <a:spLocks noGrp="1"/>
          </p:cNvSpPr>
          <p:nvPr>
            <p:ph type="body" sz="quarter" idx="51" hasCustomPrompt="1"/>
          </p:nvPr>
        </p:nvSpPr>
        <p:spPr>
          <a:xfrm>
            <a:off x="1825679" y="16555279"/>
            <a:ext cx="10514306"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3654486B-3E43-161E-6F9D-7970C825ED51}"/>
              </a:ext>
            </a:extLst>
          </p:cNvPr>
          <p:cNvSpPr>
            <a:spLocks noGrp="1" noChangeAspect="1"/>
          </p:cNvSpPr>
          <p:nvPr>
            <p:ph type="pic" sz="quarter" idx="53" hasCustomPrompt="1"/>
          </p:nvPr>
        </p:nvSpPr>
        <p:spPr>
          <a:xfrm>
            <a:off x="1824385"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43C0214F-858F-1E84-7ED0-A95E5B48C9ED}"/>
              </a:ext>
            </a:extLst>
          </p:cNvPr>
          <p:cNvSpPr>
            <a:spLocks noGrp="1"/>
          </p:cNvSpPr>
          <p:nvPr>
            <p:ph type="body" sz="quarter" idx="54" hasCustomPrompt="1"/>
          </p:nvPr>
        </p:nvSpPr>
        <p:spPr>
          <a:xfrm>
            <a:off x="13030846" y="17181135"/>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74E97535-A80D-5E31-72B1-DEDF80DC12AC}"/>
              </a:ext>
            </a:extLst>
          </p:cNvPr>
          <p:cNvSpPr>
            <a:spLocks noGrp="1"/>
          </p:cNvSpPr>
          <p:nvPr>
            <p:ph type="body" sz="quarter" idx="55" hasCustomPrompt="1"/>
          </p:nvPr>
        </p:nvSpPr>
        <p:spPr>
          <a:xfrm>
            <a:off x="13030846" y="16555279"/>
            <a:ext cx="10514306"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2">
            <a:extLst>
              <a:ext uri="{FF2B5EF4-FFF2-40B4-BE49-F238E27FC236}">
                <a16:creationId xmlns:a16="http://schemas.microsoft.com/office/drawing/2014/main" id="{3676709D-CEED-E005-62E2-4CCF531B5FF4}"/>
              </a:ext>
            </a:extLst>
          </p:cNvPr>
          <p:cNvSpPr>
            <a:spLocks noGrp="1" noChangeAspect="1"/>
          </p:cNvSpPr>
          <p:nvPr>
            <p:ph type="pic" sz="quarter" idx="56" hasCustomPrompt="1"/>
          </p:nvPr>
        </p:nvSpPr>
        <p:spPr>
          <a:xfrm>
            <a:off x="13030199"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3">
            <a:extLst>
              <a:ext uri="{FF2B5EF4-FFF2-40B4-BE49-F238E27FC236}">
                <a16:creationId xmlns:a16="http://schemas.microsoft.com/office/drawing/2014/main" id="{F02BC77D-45BF-7FDA-7EE9-8D65EF1E8E2C}"/>
              </a:ext>
            </a:extLst>
          </p:cNvPr>
          <p:cNvSpPr>
            <a:spLocks noGrp="1"/>
          </p:cNvSpPr>
          <p:nvPr>
            <p:ph type="body" sz="quarter" idx="57" hasCustomPrompt="1"/>
          </p:nvPr>
        </p:nvSpPr>
        <p:spPr>
          <a:xfrm>
            <a:off x="24231600" y="17181135"/>
            <a:ext cx="10515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3">
            <a:extLst>
              <a:ext uri="{FF2B5EF4-FFF2-40B4-BE49-F238E27FC236}">
                <a16:creationId xmlns:a16="http://schemas.microsoft.com/office/drawing/2014/main" id="{6C79E746-D7C4-814F-EBF8-ABC47AE2B43C}"/>
              </a:ext>
            </a:extLst>
          </p:cNvPr>
          <p:cNvSpPr>
            <a:spLocks noGrp="1"/>
          </p:cNvSpPr>
          <p:nvPr>
            <p:ph type="body" sz="quarter" idx="58" hasCustomPrompt="1"/>
          </p:nvPr>
        </p:nvSpPr>
        <p:spPr>
          <a:xfrm>
            <a:off x="24231600" y="16555279"/>
            <a:ext cx="1051560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3">
            <a:extLst>
              <a:ext uri="{FF2B5EF4-FFF2-40B4-BE49-F238E27FC236}">
                <a16:creationId xmlns:a16="http://schemas.microsoft.com/office/drawing/2014/main" id="{C065D92D-38E1-039A-DFD5-9DC9C8B2918B}"/>
              </a:ext>
            </a:extLst>
          </p:cNvPr>
          <p:cNvSpPr>
            <a:spLocks noGrp="1" noChangeAspect="1"/>
          </p:cNvSpPr>
          <p:nvPr>
            <p:ph type="pic" sz="quarter" idx="59" hasCustomPrompt="1"/>
          </p:nvPr>
        </p:nvSpPr>
        <p:spPr>
          <a:xfrm>
            <a:off x="24231599"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838601530"/>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4-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8CC0E6E6-0FA6-353D-0B63-3616975CAB4C}"/>
              </a:ext>
            </a:extLst>
          </p:cNvPr>
          <p:cNvSpPr>
            <a:spLocks noGrp="1"/>
          </p:cNvSpPr>
          <p:nvPr>
            <p:ph type="ftr" sz="quarter" idx="31"/>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9D469060-A1A3-4959-883E-BB99F7B74C39}"/>
              </a:ext>
            </a:extLst>
          </p:cNvPr>
          <p:cNvSpPr>
            <a:spLocks noGrp="1"/>
          </p:cNvSpPr>
          <p:nvPr>
            <p:ph type="sldNum" sz="quarter" idx="3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CEA58440-CE73-CF57-A5D3-F04B9BC8C4F1}"/>
              </a:ext>
            </a:extLst>
          </p:cNvPr>
          <p:cNvSpPr>
            <a:spLocks noGrp="1"/>
          </p:cNvSpPr>
          <p:nvPr>
            <p:ph type="body" sz="quarter" idx="52" hasCustomPrompt="1"/>
          </p:nvPr>
        </p:nvSpPr>
        <p:spPr>
          <a:xfrm>
            <a:off x="1825021" y="13658409"/>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65692E4-AE1D-AF93-35F5-37E53D0E10EB}"/>
              </a:ext>
            </a:extLst>
          </p:cNvPr>
          <p:cNvSpPr>
            <a:spLocks noGrp="1"/>
          </p:cNvSpPr>
          <p:nvPr>
            <p:ph type="body" sz="quarter" idx="51" hasCustomPrompt="1"/>
          </p:nvPr>
        </p:nvSpPr>
        <p:spPr>
          <a:xfrm>
            <a:off x="1825021" y="13032553"/>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482BED8-85E9-155E-CAB6-03B9511045E9}"/>
              </a:ext>
            </a:extLst>
          </p:cNvPr>
          <p:cNvSpPr>
            <a:spLocks noGrp="1" noChangeAspect="1"/>
          </p:cNvSpPr>
          <p:nvPr>
            <p:ph type="pic" sz="quarter" idx="53" hasCustomPrompt="1"/>
          </p:nvPr>
        </p:nvSpPr>
        <p:spPr>
          <a:xfrm>
            <a:off x="1824386"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30B187E3-3ED9-A3C3-676A-A55F0061F8A7}"/>
              </a:ext>
            </a:extLst>
          </p:cNvPr>
          <p:cNvSpPr>
            <a:spLocks noGrp="1"/>
          </p:cNvSpPr>
          <p:nvPr>
            <p:ph type="body" sz="quarter" idx="54" hasCustomPrompt="1"/>
          </p:nvPr>
        </p:nvSpPr>
        <p:spPr>
          <a:xfrm>
            <a:off x="10228359" y="13658409"/>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2B3E8CC9-E7D8-3011-48CE-2439EF0A4EB7}"/>
              </a:ext>
            </a:extLst>
          </p:cNvPr>
          <p:cNvSpPr>
            <a:spLocks noGrp="1"/>
          </p:cNvSpPr>
          <p:nvPr>
            <p:ph type="body" sz="quarter" idx="55" hasCustomPrompt="1"/>
          </p:nvPr>
        </p:nvSpPr>
        <p:spPr>
          <a:xfrm>
            <a:off x="10228359" y="13032553"/>
            <a:ext cx="7717221"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2">
            <a:extLst>
              <a:ext uri="{FF2B5EF4-FFF2-40B4-BE49-F238E27FC236}">
                <a16:creationId xmlns:a16="http://schemas.microsoft.com/office/drawing/2014/main" id="{F431FA93-762C-283A-FBA5-617E6FBED603}"/>
              </a:ext>
            </a:extLst>
          </p:cNvPr>
          <p:cNvSpPr>
            <a:spLocks noGrp="1" noChangeAspect="1"/>
          </p:cNvSpPr>
          <p:nvPr>
            <p:ph type="pic" sz="quarter" idx="56" hasCustomPrompt="1"/>
          </p:nvPr>
        </p:nvSpPr>
        <p:spPr>
          <a:xfrm>
            <a:off x="10226090"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3">
            <a:extLst>
              <a:ext uri="{FF2B5EF4-FFF2-40B4-BE49-F238E27FC236}">
                <a16:creationId xmlns:a16="http://schemas.microsoft.com/office/drawing/2014/main" id="{E88DE121-B036-8DB7-1405-0F594E0DE478}"/>
              </a:ext>
            </a:extLst>
          </p:cNvPr>
          <p:cNvSpPr>
            <a:spLocks noGrp="1"/>
          </p:cNvSpPr>
          <p:nvPr>
            <p:ph type="body" sz="quarter" idx="57" hasCustomPrompt="1"/>
          </p:nvPr>
        </p:nvSpPr>
        <p:spPr>
          <a:xfrm>
            <a:off x="18630426" y="13658409"/>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874E24E6-0D3F-F95F-BF6A-AF4A6AE3E83A}"/>
              </a:ext>
            </a:extLst>
          </p:cNvPr>
          <p:cNvSpPr>
            <a:spLocks noGrp="1"/>
          </p:cNvSpPr>
          <p:nvPr>
            <p:ph type="body" sz="quarter" idx="58" hasCustomPrompt="1"/>
          </p:nvPr>
        </p:nvSpPr>
        <p:spPr>
          <a:xfrm>
            <a:off x="18630426" y="13032553"/>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736223F6-ED4F-5EB7-24DB-8928CCD0CAB7}"/>
              </a:ext>
            </a:extLst>
          </p:cNvPr>
          <p:cNvSpPr>
            <a:spLocks noGrp="1" noChangeAspect="1"/>
          </p:cNvSpPr>
          <p:nvPr>
            <p:ph type="pic" sz="quarter" idx="59" hasCustomPrompt="1"/>
          </p:nvPr>
        </p:nvSpPr>
        <p:spPr>
          <a:xfrm>
            <a:off x="18627794"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131287F0-44BE-1A7C-7C97-7CB8156721DD}"/>
              </a:ext>
            </a:extLst>
          </p:cNvPr>
          <p:cNvSpPr>
            <a:spLocks noGrp="1"/>
          </p:cNvSpPr>
          <p:nvPr>
            <p:ph type="body" sz="quarter" idx="60" hasCustomPrompt="1"/>
          </p:nvPr>
        </p:nvSpPr>
        <p:spPr>
          <a:xfrm>
            <a:off x="27029184" y="13658409"/>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4">
            <a:extLst>
              <a:ext uri="{FF2B5EF4-FFF2-40B4-BE49-F238E27FC236}">
                <a16:creationId xmlns:a16="http://schemas.microsoft.com/office/drawing/2014/main" id="{A3604A9E-3F18-C956-DBA1-BAF9223D669F}"/>
              </a:ext>
            </a:extLst>
          </p:cNvPr>
          <p:cNvSpPr>
            <a:spLocks noGrp="1"/>
          </p:cNvSpPr>
          <p:nvPr>
            <p:ph type="body" sz="quarter" idx="61" hasCustomPrompt="1"/>
          </p:nvPr>
        </p:nvSpPr>
        <p:spPr>
          <a:xfrm>
            <a:off x="27029184" y="13032553"/>
            <a:ext cx="7718170"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4">
            <a:extLst>
              <a:ext uri="{FF2B5EF4-FFF2-40B4-BE49-F238E27FC236}">
                <a16:creationId xmlns:a16="http://schemas.microsoft.com/office/drawing/2014/main" id="{D49BD1B3-F0BB-0985-BCDE-55C4D1B7A116}"/>
              </a:ext>
            </a:extLst>
          </p:cNvPr>
          <p:cNvSpPr>
            <a:spLocks noGrp="1" noChangeAspect="1"/>
          </p:cNvSpPr>
          <p:nvPr>
            <p:ph type="pic" sz="quarter" idx="68" hasCustomPrompt="1"/>
          </p:nvPr>
        </p:nvSpPr>
        <p:spPr>
          <a:xfrm>
            <a:off x="27029498"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962152403"/>
      </p:ext>
    </p:extLst>
  </p:cSld>
  <p:clrMapOvr>
    <a:masterClrMapping/>
  </p:clrMapOvr>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4-up Image 1:1">
    <p:spTree>
      <p:nvGrpSpPr>
        <p:cNvPr id="1" name=""/>
        <p:cNvGrpSpPr/>
        <p:nvPr/>
      </p:nvGrpSpPr>
      <p:grpSpPr>
        <a:xfrm>
          <a:off x="0" y="0"/>
          <a:ext cx="0" cy="0"/>
          <a:chOff x="0" y="0"/>
          <a:chExt cx="0" cy="0"/>
        </a:xfrm>
      </p:grpSpPr>
      <p:sp>
        <p:nvSpPr>
          <p:cNvPr id="11" name="Footer Placeholder">
            <a:extLst>
              <a:ext uri="{FF2B5EF4-FFF2-40B4-BE49-F238E27FC236}">
                <a16:creationId xmlns:a16="http://schemas.microsoft.com/office/drawing/2014/main" id="{E22162D2-27B1-6EF8-EC6D-3B5993A84E3B}"/>
              </a:ext>
            </a:extLst>
          </p:cNvPr>
          <p:cNvSpPr>
            <a:spLocks noGrp="1"/>
          </p:cNvSpPr>
          <p:nvPr>
            <p:ph type="ftr" sz="quarter" idx="31"/>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588EFE2A-60CE-8999-2B97-A707CAAB6F7C}"/>
              </a:ext>
            </a:extLst>
          </p:cNvPr>
          <p:cNvSpPr>
            <a:spLocks noGrp="1"/>
          </p:cNvSpPr>
          <p:nvPr>
            <p:ph type="sldNum" sz="quarter" idx="3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02EF665F-9D0A-0403-3D51-144BAE4168D8}"/>
              </a:ext>
            </a:extLst>
          </p:cNvPr>
          <p:cNvSpPr>
            <a:spLocks noGrp="1"/>
          </p:cNvSpPr>
          <p:nvPr>
            <p:ph type="body" sz="quarter" idx="52" hasCustomPrompt="1"/>
          </p:nvPr>
        </p:nvSpPr>
        <p:spPr>
          <a:xfrm>
            <a:off x="1825021" y="15754671"/>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C443B728-38A9-6A14-7F65-ADDB3F8A36A8}"/>
              </a:ext>
            </a:extLst>
          </p:cNvPr>
          <p:cNvSpPr>
            <a:spLocks noGrp="1"/>
          </p:cNvSpPr>
          <p:nvPr>
            <p:ph type="body" sz="quarter" idx="51" hasCustomPrompt="1"/>
          </p:nvPr>
        </p:nvSpPr>
        <p:spPr>
          <a:xfrm>
            <a:off x="1825021" y="15128815"/>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9F2D3DCE-C6B1-3A69-F3C0-56DC23888CF5}"/>
              </a:ext>
            </a:extLst>
          </p:cNvPr>
          <p:cNvSpPr>
            <a:spLocks noGrp="1" noChangeAspect="1"/>
          </p:cNvSpPr>
          <p:nvPr>
            <p:ph type="pic" sz="quarter" idx="53" hasCustomPrompt="1"/>
          </p:nvPr>
        </p:nvSpPr>
        <p:spPr>
          <a:xfrm>
            <a:off x="1824386"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65905AF9-2F65-7BF7-FC63-55E2A9CD41D6}"/>
              </a:ext>
            </a:extLst>
          </p:cNvPr>
          <p:cNvSpPr>
            <a:spLocks noGrp="1"/>
          </p:cNvSpPr>
          <p:nvPr>
            <p:ph type="body" sz="quarter" idx="54" hasCustomPrompt="1"/>
          </p:nvPr>
        </p:nvSpPr>
        <p:spPr>
          <a:xfrm>
            <a:off x="10228359" y="15754671"/>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4" name="Image Text Placeholder 2">
            <a:extLst>
              <a:ext uri="{FF2B5EF4-FFF2-40B4-BE49-F238E27FC236}">
                <a16:creationId xmlns:a16="http://schemas.microsoft.com/office/drawing/2014/main" id="{AE1C74E4-2132-AD47-ED08-2369DE447A5C}"/>
              </a:ext>
            </a:extLst>
          </p:cNvPr>
          <p:cNvSpPr>
            <a:spLocks noGrp="1"/>
          </p:cNvSpPr>
          <p:nvPr>
            <p:ph type="body" sz="quarter" idx="55" hasCustomPrompt="1"/>
          </p:nvPr>
        </p:nvSpPr>
        <p:spPr>
          <a:xfrm>
            <a:off x="10228359" y="15128815"/>
            <a:ext cx="7717221" cy="585216"/>
          </a:xfrm>
        </p:spPr>
        <p:txBody>
          <a:bodyPr/>
          <a:lstStyle>
            <a:lvl1pPr algn="ctr">
              <a:spcBef>
                <a:spcPts val="0"/>
              </a:spcBef>
              <a:defRPr sz="4000">
                <a:latin typeface="+mj-lt"/>
              </a:defRPr>
            </a:lvl1pPr>
          </a:lstStyle>
          <a:p>
            <a:pPr lvl="0"/>
            <a:r>
              <a:rPr lang="en-US" dirty="0"/>
              <a:t>Click to Edit Image Title</a:t>
            </a:r>
          </a:p>
        </p:txBody>
      </p:sp>
      <p:sp>
        <p:nvSpPr>
          <p:cNvPr id="15" name="Picture Placeholder 2">
            <a:extLst>
              <a:ext uri="{FF2B5EF4-FFF2-40B4-BE49-F238E27FC236}">
                <a16:creationId xmlns:a16="http://schemas.microsoft.com/office/drawing/2014/main" id="{D035698C-1109-8300-B0FB-A35C03D3D74E}"/>
              </a:ext>
            </a:extLst>
          </p:cNvPr>
          <p:cNvSpPr>
            <a:spLocks noGrp="1" noChangeAspect="1"/>
          </p:cNvSpPr>
          <p:nvPr>
            <p:ph type="pic" sz="quarter" idx="56" hasCustomPrompt="1"/>
          </p:nvPr>
        </p:nvSpPr>
        <p:spPr>
          <a:xfrm>
            <a:off x="10226090"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6" name="Text Placeholder 3">
            <a:extLst>
              <a:ext uri="{FF2B5EF4-FFF2-40B4-BE49-F238E27FC236}">
                <a16:creationId xmlns:a16="http://schemas.microsoft.com/office/drawing/2014/main" id="{95DFBE2B-369F-F09A-65BC-FF0DBB72C152}"/>
              </a:ext>
            </a:extLst>
          </p:cNvPr>
          <p:cNvSpPr>
            <a:spLocks noGrp="1"/>
          </p:cNvSpPr>
          <p:nvPr>
            <p:ph type="body" sz="quarter" idx="57" hasCustomPrompt="1"/>
          </p:nvPr>
        </p:nvSpPr>
        <p:spPr>
          <a:xfrm>
            <a:off x="18630426" y="15754671"/>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357DC4B3-E29C-793D-AEB4-BBA50DFB2BC0}"/>
              </a:ext>
            </a:extLst>
          </p:cNvPr>
          <p:cNvSpPr>
            <a:spLocks noGrp="1"/>
          </p:cNvSpPr>
          <p:nvPr>
            <p:ph type="body" sz="quarter" idx="58" hasCustomPrompt="1"/>
          </p:nvPr>
        </p:nvSpPr>
        <p:spPr>
          <a:xfrm>
            <a:off x="18630426" y="15128815"/>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F10DEB43-363E-B53B-77E4-9F82FC85D2AC}"/>
              </a:ext>
            </a:extLst>
          </p:cNvPr>
          <p:cNvSpPr>
            <a:spLocks noGrp="1" noChangeAspect="1"/>
          </p:cNvSpPr>
          <p:nvPr>
            <p:ph type="pic" sz="quarter" idx="59" hasCustomPrompt="1"/>
          </p:nvPr>
        </p:nvSpPr>
        <p:spPr>
          <a:xfrm>
            <a:off x="18627794"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FA9041DC-1795-EED4-DDFE-D3AD657A98FF}"/>
              </a:ext>
            </a:extLst>
          </p:cNvPr>
          <p:cNvSpPr>
            <a:spLocks noGrp="1"/>
          </p:cNvSpPr>
          <p:nvPr>
            <p:ph type="body" sz="quarter" idx="60" hasCustomPrompt="1"/>
          </p:nvPr>
        </p:nvSpPr>
        <p:spPr>
          <a:xfrm>
            <a:off x="27029184" y="15754671"/>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4">
            <a:extLst>
              <a:ext uri="{FF2B5EF4-FFF2-40B4-BE49-F238E27FC236}">
                <a16:creationId xmlns:a16="http://schemas.microsoft.com/office/drawing/2014/main" id="{5561A87B-4FBB-4FC4-8C9B-B8680657BFB8}"/>
              </a:ext>
            </a:extLst>
          </p:cNvPr>
          <p:cNvSpPr>
            <a:spLocks noGrp="1"/>
          </p:cNvSpPr>
          <p:nvPr>
            <p:ph type="body" sz="quarter" idx="61" hasCustomPrompt="1"/>
          </p:nvPr>
        </p:nvSpPr>
        <p:spPr>
          <a:xfrm>
            <a:off x="27029184" y="15128815"/>
            <a:ext cx="7718170"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4">
            <a:extLst>
              <a:ext uri="{FF2B5EF4-FFF2-40B4-BE49-F238E27FC236}">
                <a16:creationId xmlns:a16="http://schemas.microsoft.com/office/drawing/2014/main" id="{2C37A541-A293-8F4C-0BF2-0D815710DE2F}"/>
              </a:ext>
            </a:extLst>
          </p:cNvPr>
          <p:cNvSpPr>
            <a:spLocks noGrp="1" noChangeAspect="1"/>
          </p:cNvSpPr>
          <p:nvPr>
            <p:ph type="pic" sz="quarter" idx="62" hasCustomPrompt="1"/>
          </p:nvPr>
        </p:nvSpPr>
        <p:spPr>
          <a:xfrm>
            <a:off x="27029498"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564818798"/>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4-up Image Alt. 16:9">
    <p:spTree>
      <p:nvGrpSpPr>
        <p:cNvPr id="1" name=""/>
        <p:cNvGrpSpPr/>
        <p:nvPr/>
      </p:nvGrpSpPr>
      <p:grpSpPr>
        <a:xfrm>
          <a:off x="0" y="0"/>
          <a:ext cx="0" cy="0"/>
          <a:chOff x="0" y="0"/>
          <a:chExt cx="0" cy="0"/>
        </a:xfrm>
      </p:grpSpPr>
      <p:sp>
        <p:nvSpPr>
          <p:cNvPr id="12" name="Footer Placeholder">
            <a:extLst>
              <a:ext uri="{FF2B5EF4-FFF2-40B4-BE49-F238E27FC236}">
                <a16:creationId xmlns:a16="http://schemas.microsoft.com/office/drawing/2014/main" id="{E5BC1D6A-70F5-168E-30D3-7A25C6F23B3B}"/>
              </a:ext>
            </a:extLst>
          </p:cNvPr>
          <p:cNvSpPr>
            <a:spLocks noGrp="1"/>
          </p:cNvSpPr>
          <p:nvPr>
            <p:ph type="ftr" sz="quarter" idx="32"/>
          </p:nvPr>
        </p:nvSpPr>
        <p:spPr/>
        <p:txBody>
          <a:bodyPr/>
          <a:lstStyle/>
          <a:p>
            <a:pPr>
              <a:lnSpc>
                <a:spcPct val="90000"/>
              </a:lnSpc>
            </a:pPr>
            <a:r>
              <a:rPr lang="en-US"/>
              <a:t>Source information in NVIDIA Sans, medium gray; 20 pt</a:t>
            </a:r>
            <a:endParaRPr lang="en-US" dirty="0"/>
          </a:p>
        </p:txBody>
      </p:sp>
      <p:sp>
        <p:nvSpPr>
          <p:cNvPr id="13" name="Slide Number Placeholder">
            <a:extLst>
              <a:ext uri="{FF2B5EF4-FFF2-40B4-BE49-F238E27FC236}">
                <a16:creationId xmlns:a16="http://schemas.microsoft.com/office/drawing/2014/main" id="{F6783655-2C3A-8997-8FD4-699FDCE78F2C}"/>
              </a:ext>
            </a:extLst>
          </p:cNvPr>
          <p:cNvSpPr>
            <a:spLocks noGrp="1"/>
          </p:cNvSpPr>
          <p:nvPr>
            <p:ph type="sldNum" sz="quarter" idx="33"/>
          </p:nvPr>
        </p:nvSpPr>
        <p:spPr/>
        <p:txBody>
          <a:bodyPr/>
          <a:lstStyle/>
          <a:p>
            <a:pPr>
              <a:lnSpc>
                <a:spcPct val="90000"/>
              </a:lnSpc>
            </a:pPr>
            <a:fld id="{5D6728F8-03AC-4059-94FB-90617981AE50}" type="slidenum">
              <a:rPr lang="en-US" smtClean="0"/>
              <a:pPr/>
              <a:t>‹#›</a:t>
            </a:fld>
            <a:endParaRPr lang="en-US"/>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1E79C4-9B0C-46C7-60B4-6967DE29993C}"/>
              </a:ext>
            </a:extLst>
          </p:cNvPr>
          <p:cNvSpPr>
            <a:spLocks noGrp="1"/>
          </p:cNvSpPr>
          <p:nvPr>
            <p:ph type="body" sz="quarter" idx="52" hasCustomPrompt="1"/>
          </p:nvPr>
        </p:nvSpPr>
        <p:spPr>
          <a:xfrm>
            <a:off x="18626963"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3E06B777-E79F-FFC8-EF9B-CDE4545CCE29}"/>
              </a:ext>
            </a:extLst>
          </p:cNvPr>
          <p:cNvSpPr>
            <a:spLocks noGrp="1"/>
          </p:cNvSpPr>
          <p:nvPr>
            <p:ph type="body" sz="quarter" idx="51" hasCustomPrompt="1"/>
          </p:nvPr>
        </p:nvSpPr>
        <p:spPr>
          <a:xfrm>
            <a:off x="18626963"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8C8B3A7F-5AE2-F8E5-87CC-20365DF66F42}"/>
              </a:ext>
            </a:extLst>
          </p:cNvPr>
          <p:cNvSpPr>
            <a:spLocks noGrp="1" noChangeAspect="1"/>
          </p:cNvSpPr>
          <p:nvPr>
            <p:ph type="pic" sz="quarter" idx="53" hasCustomPrompt="1"/>
          </p:nvPr>
        </p:nvSpPr>
        <p:spPr>
          <a:xfrm>
            <a:off x="18626328"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0" name="Text Placeholder 2">
            <a:extLst>
              <a:ext uri="{FF2B5EF4-FFF2-40B4-BE49-F238E27FC236}">
                <a16:creationId xmlns:a16="http://schemas.microsoft.com/office/drawing/2014/main" id="{98DBBE60-4AF1-670D-E84D-BABD51D4E268}"/>
              </a:ext>
            </a:extLst>
          </p:cNvPr>
          <p:cNvSpPr>
            <a:spLocks noGrp="1"/>
          </p:cNvSpPr>
          <p:nvPr>
            <p:ph type="body" sz="quarter" idx="54" hasCustomPrompt="1"/>
          </p:nvPr>
        </p:nvSpPr>
        <p:spPr>
          <a:xfrm>
            <a:off x="27030301"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2">
            <a:extLst>
              <a:ext uri="{FF2B5EF4-FFF2-40B4-BE49-F238E27FC236}">
                <a16:creationId xmlns:a16="http://schemas.microsoft.com/office/drawing/2014/main" id="{E39037D6-9F9D-5080-0BAE-F8A253C9F890}"/>
              </a:ext>
            </a:extLst>
          </p:cNvPr>
          <p:cNvSpPr>
            <a:spLocks noGrp="1"/>
          </p:cNvSpPr>
          <p:nvPr>
            <p:ph type="body" sz="quarter" idx="55" hasCustomPrompt="1"/>
          </p:nvPr>
        </p:nvSpPr>
        <p:spPr>
          <a:xfrm>
            <a:off x="27030301"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2">
            <a:extLst>
              <a:ext uri="{FF2B5EF4-FFF2-40B4-BE49-F238E27FC236}">
                <a16:creationId xmlns:a16="http://schemas.microsoft.com/office/drawing/2014/main" id="{69F8812A-C8DB-AC9E-EBA1-083A2F95F6A8}"/>
              </a:ext>
            </a:extLst>
          </p:cNvPr>
          <p:cNvSpPr>
            <a:spLocks noGrp="1" noChangeAspect="1"/>
          </p:cNvSpPr>
          <p:nvPr>
            <p:ph type="pic" sz="quarter" idx="56" hasCustomPrompt="1"/>
          </p:nvPr>
        </p:nvSpPr>
        <p:spPr>
          <a:xfrm>
            <a:off x="27029506"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3">
            <a:extLst>
              <a:ext uri="{FF2B5EF4-FFF2-40B4-BE49-F238E27FC236}">
                <a16:creationId xmlns:a16="http://schemas.microsoft.com/office/drawing/2014/main" id="{C5315ECD-854E-8EF0-38DF-8D5CCC50960C}"/>
              </a:ext>
            </a:extLst>
          </p:cNvPr>
          <p:cNvSpPr>
            <a:spLocks noGrp="1"/>
          </p:cNvSpPr>
          <p:nvPr>
            <p:ph type="body" sz="quarter" idx="57" hasCustomPrompt="1"/>
          </p:nvPr>
        </p:nvSpPr>
        <p:spPr>
          <a:xfrm>
            <a:off x="18626013" y="16468722"/>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3">
            <a:extLst>
              <a:ext uri="{FF2B5EF4-FFF2-40B4-BE49-F238E27FC236}">
                <a16:creationId xmlns:a16="http://schemas.microsoft.com/office/drawing/2014/main" id="{5ECD1294-0328-1129-68E8-AAE34DBFC925}"/>
              </a:ext>
            </a:extLst>
          </p:cNvPr>
          <p:cNvSpPr>
            <a:spLocks noGrp="1"/>
          </p:cNvSpPr>
          <p:nvPr>
            <p:ph type="body" sz="quarter" idx="58" hasCustomPrompt="1"/>
          </p:nvPr>
        </p:nvSpPr>
        <p:spPr>
          <a:xfrm>
            <a:off x="18626013" y="15842866"/>
            <a:ext cx="7718171"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3">
            <a:extLst>
              <a:ext uri="{FF2B5EF4-FFF2-40B4-BE49-F238E27FC236}">
                <a16:creationId xmlns:a16="http://schemas.microsoft.com/office/drawing/2014/main" id="{353AA046-BEA5-C6DF-0D01-1143CD367C23}"/>
              </a:ext>
            </a:extLst>
          </p:cNvPr>
          <p:cNvSpPr>
            <a:spLocks noGrp="1" noChangeAspect="1"/>
          </p:cNvSpPr>
          <p:nvPr>
            <p:ph type="pic" sz="quarter" idx="59" hasCustomPrompt="1"/>
          </p:nvPr>
        </p:nvSpPr>
        <p:spPr>
          <a:xfrm>
            <a:off x="18626328"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4">
            <a:extLst>
              <a:ext uri="{FF2B5EF4-FFF2-40B4-BE49-F238E27FC236}">
                <a16:creationId xmlns:a16="http://schemas.microsoft.com/office/drawing/2014/main" id="{DDB95454-AD37-062B-F77D-DF4B010799D3}"/>
              </a:ext>
            </a:extLst>
          </p:cNvPr>
          <p:cNvSpPr>
            <a:spLocks noGrp="1"/>
          </p:cNvSpPr>
          <p:nvPr>
            <p:ph type="body" sz="quarter" idx="60" hasCustomPrompt="1"/>
          </p:nvPr>
        </p:nvSpPr>
        <p:spPr>
          <a:xfrm>
            <a:off x="27029352" y="16468722"/>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4">
            <a:extLst>
              <a:ext uri="{FF2B5EF4-FFF2-40B4-BE49-F238E27FC236}">
                <a16:creationId xmlns:a16="http://schemas.microsoft.com/office/drawing/2014/main" id="{F3412B85-B6C4-A7D9-058F-3589C209799E}"/>
              </a:ext>
            </a:extLst>
          </p:cNvPr>
          <p:cNvSpPr>
            <a:spLocks noGrp="1"/>
          </p:cNvSpPr>
          <p:nvPr>
            <p:ph type="body" sz="quarter" idx="61" hasCustomPrompt="1"/>
          </p:nvPr>
        </p:nvSpPr>
        <p:spPr>
          <a:xfrm>
            <a:off x="27029352" y="15842866"/>
            <a:ext cx="7718170"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4">
            <a:extLst>
              <a:ext uri="{FF2B5EF4-FFF2-40B4-BE49-F238E27FC236}">
                <a16:creationId xmlns:a16="http://schemas.microsoft.com/office/drawing/2014/main" id="{065589F0-4249-3363-1606-46E3EB63CB68}"/>
              </a:ext>
            </a:extLst>
          </p:cNvPr>
          <p:cNvSpPr>
            <a:spLocks noGrp="1" noChangeAspect="1"/>
          </p:cNvSpPr>
          <p:nvPr>
            <p:ph type="pic" sz="quarter" idx="62" hasCustomPrompt="1"/>
          </p:nvPr>
        </p:nvSpPr>
        <p:spPr>
          <a:xfrm>
            <a:off x="27029666"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305492312"/>
      </p:ext>
    </p:extLst>
  </p:cSld>
  <p:clrMapOvr>
    <a:masterClrMapping/>
  </p:clrMapOvr>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4-up Image Alt. w/ text 16:9">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A2A64D7E-BC82-4FB8-514C-DDFA40A50EF9}"/>
              </a:ext>
            </a:extLst>
          </p:cNvPr>
          <p:cNvSpPr>
            <a:spLocks noGrp="1"/>
          </p:cNvSpPr>
          <p:nvPr>
            <p:ph type="ftr" sz="quarter" idx="33"/>
          </p:nvPr>
        </p:nvSpPr>
        <p:spPr/>
        <p:txBody>
          <a:bodyPr/>
          <a:lstStyle/>
          <a:p>
            <a:pPr>
              <a:lnSpc>
                <a:spcPct val="90000"/>
              </a:lnSpc>
            </a:pPr>
            <a:r>
              <a:rPr lang="en-US"/>
              <a:t>Source information in NVIDIA Sans, medium gray; 20 pt</a:t>
            </a:r>
            <a:endParaRPr lang="en-US" dirty="0"/>
          </a:p>
        </p:txBody>
      </p:sp>
      <p:sp>
        <p:nvSpPr>
          <p:cNvPr id="22" name="Slide Number Placeholder">
            <a:extLst>
              <a:ext uri="{FF2B5EF4-FFF2-40B4-BE49-F238E27FC236}">
                <a16:creationId xmlns:a16="http://schemas.microsoft.com/office/drawing/2014/main" id="{15F1B169-6F46-A072-DF80-3E0E2F54BE51}"/>
              </a:ext>
            </a:extLst>
          </p:cNvPr>
          <p:cNvSpPr>
            <a:spLocks noGrp="1"/>
          </p:cNvSpPr>
          <p:nvPr>
            <p:ph type="sldNum" sz="quarter" idx="34"/>
          </p:nvPr>
        </p:nvSpPr>
        <p:spPr/>
        <p:txBody>
          <a:bodyPr/>
          <a:lstStyle/>
          <a:p>
            <a:pPr>
              <a:lnSpc>
                <a:spcPct val="90000"/>
              </a:lnSpc>
            </a:pPr>
            <a:fld id="{5D6728F8-03AC-4059-94FB-90617981AE50}" type="slidenum">
              <a:rPr lang="en-US" smtClean="0"/>
              <a:pPr/>
              <a:t>‹#›</a:t>
            </a:fld>
            <a:endParaRPr lang="en-US"/>
          </a:p>
        </p:txBody>
      </p:sp>
      <p:sp>
        <p:nvSpPr>
          <p:cNvPr id="10" name="Text Placeholder">
            <a:extLst>
              <a:ext uri="{FF2B5EF4-FFF2-40B4-BE49-F238E27FC236}">
                <a16:creationId xmlns:a16="http://schemas.microsoft.com/office/drawing/2014/main" id="{6E5CC214-A7D0-91DF-4B31-5CB895D819EE}"/>
              </a:ext>
            </a:extLst>
          </p:cNvPr>
          <p:cNvSpPr>
            <a:spLocks noGrp="1"/>
          </p:cNvSpPr>
          <p:nvPr>
            <p:ph type="body" sz="quarter" idx="31" hasCustomPrompt="1"/>
          </p:nvPr>
        </p:nvSpPr>
        <p:spPr>
          <a:xfrm>
            <a:off x="1828800" y="9966960"/>
            <a:ext cx="13716000" cy="8778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Subtitle">
            <a:extLst>
              <a:ext uri="{FF2B5EF4-FFF2-40B4-BE49-F238E27FC236}">
                <a16:creationId xmlns:a16="http://schemas.microsoft.com/office/drawing/2014/main" id="{66D807F3-F817-1D7D-5A63-52E37E677E03}"/>
              </a:ext>
            </a:extLst>
          </p:cNvPr>
          <p:cNvSpPr>
            <a:spLocks noGrp="1"/>
          </p:cNvSpPr>
          <p:nvPr>
            <p:ph type="body" sz="quarter" idx="14" hasCustomPrompt="1"/>
          </p:nvPr>
        </p:nvSpPr>
        <p:spPr>
          <a:xfrm>
            <a:off x="1828800" y="795528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3" name="Title">
            <a:extLst>
              <a:ext uri="{FF2B5EF4-FFF2-40B4-BE49-F238E27FC236}">
                <a16:creationId xmlns:a16="http://schemas.microsoft.com/office/drawing/2014/main" id="{CBFD7689-EE78-2757-7F54-D84D241EF06E}"/>
              </a:ext>
            </a:extLst>
          </p:cNvPr>
          <p:cNvSpPr>
            <a:spLocks noGrp="1"/>
          </p:cNvSpPr>
          <p:nvPr>
            <p:ph type="title" hasCustomPrompt="1"/>
          </p:nvPr>
        </p:nvSpPr>
        <p:spPr>
          <a:xfrm>
            <a:off x="1828800" y="4114800"/>
            <a:ext cx="13716000" cy="3840480"/>
          </a:xfrm>
        </p:spPr>
        <p:txBody>
          <a:bodyPr>
            <a:noAutofit/>
          </a:bodyPr>
          <a:lstStyle>
            <a:lvl1pPr>
              <a:defRPr>
                <a:latin typeface="+mj-lt"/>
              </a:defRPr>
            </a:lvl1pPr>
          </a:lstStyle>
          <a:p>
            <a:r>
              <a:rPr lang="en-US" dirty="0"/>
              <a:t>Click to Edit Title Here </a:t>
            </a:r>
          </a:p>
        </p:txBody>
      </p:sp>
      <p:sp>
        <p:nvSpPr>
          <p:cNvPr id="2" name="Text Placeholder 1">
            <a:extLst>
              <a:ext uri="{FF2B5EF4-FFF2-40B4-BE49-F238E27FC236}">
                <a16:creationId xmlns:a16="http://schemas.microsoft.com/office/drawing/2014/main" id="{984C779D-1289-7F23-4E19-51847B7A1583}"/>
              </a:ext>
            </a:extLst>
          </p:cNvPr>
          <p:cNvSpPr>
            <a:spLocks noGrp="1"/>
          </p:cNvSpPr>
          <p:nvPr>
            <p:ph type="body" sz="quarter" idx="52" hasCustomPrompt="1"/>
          </p:nvPr>
        </p:nvSpPr>
        <p:spPr>
          <a:xfrm>
            <a:off x="18626963"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 name="Image Text Placeholder 1">
            <a:extLst>
              <a:ext uri="{FF2B5EF4-FFF2-40B4-BE49-F238E27FC236}">
                <a16:creationId xmlns:a16="http://schemas.microsoft.com/office/drawing/2014/main" id="{F76961B5-F844-4038-F188-A49A39698E0A}"/>
              </a:ext>
            </a:extLst>
          </p:cNvPr>
          <p:cNvSpPr>
            <a:spLocks noGrp="1"/>
          </p:cNvSpPr>
          <p:nvPr>
            <p:ph type="body" sz="quarter" idx="51" hasCustomPrompt="1"/>
          </p:nvPr>
        </p:nvSpPr>
        <p:spPr>
          <a:xfrm>
            <a:off x="18626963"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4" name="Picture Placeholder 1">
            <a:extLst>
              <a:ext uri="{FF2B5EF4-FFF2-40B4-BE49-F238E27FC236}">
                <a16:creationId xmlns:a16="http://schemas.microsoft.com/office/drawing/2014/main" id="{36C120A5-07CB-24F7-DEC3-1A083DB8BBC3}"/>
              </a:ext>
            </a:extLst>
          </p:cNvPr>
          <p:cNvSpPr>
            <a:spLocks noGrp="1" noChangeAspect="1"/>
          </p:cNvSpPr>
          <p:nvPr>
            <p:ph type="pic" sz="quarter" idx="53" hasCustomPrompt="1"/>
          </p:nvPr>
        </p:nvSpPr>
        <p:spPr>
          <a:xfrm>
            <a:off x="18626328"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 name="Text Placeholder 2">
            <a:extLst>
              <a:ext uri="{FF2B5EF4-FFF2-40B4-BE49-F238E27FC236}">
                <a16:creationId xmlns:a16="http://schemas.microsoft.com/office/drawing/2014/main" id="{93797122-CD5F-BC47-54A7-CDDE8ED1FE9B}"/>
              </a:ext>
            </a:extLst>
          </p:cNvPr>
          <p:cNvSpPr>
            <a:spLocks noGrp="1"/>
          </p:cNvSpPr>
          <p:nvPr>
            <p:ph type="body" sz="quarter" idx="54" hasCustomPrompt="1"/>
          </p:nvPr>
        </p:nvSpPr>
        <p:spPr>
          <a:xfrm>
            <a:off x="27030301"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3" name="Image Text Placeholder 2">
            <a:extLst>
              <a:ext uri="{FF2B5EF4-FFF2-40B4-BE49-F238E27FC236}">
                <a16:creationId xmlns:a16="http://schemas.microsoft.com/office/drawing/2014/main" id="{DA1BC0F2-421E-35D2-6412-53FE2276AAEF}"/>
              </a:ext>
            </a:extLst>
          </p:cNvPr>
          <p:cNvSpPr>
            <a:spLocks noGrp="1"/>
          </p:cNvSpPr>
          <p:nvPr>
            <p:ph type="body" sz="quarter" idx="55" hasCustomPrompt="1"/>
          </p:nvPr>
        </p:nvSpPr>
        <p:spPr>
          <a:xfrm>
            <a:off x="27030301"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24" name="Picture Placeholder 2">
            <a:extLst>
              <a:ext uri="{FF2B5EF4-FFF2-40B4-BE49-F238E27FC236}">
                <a16:creationId xmlns:a16="http://schemas.microsoft.com/office/drawing/2014/main" id="{DA93A493-6E6A-9DF1-33B6-08C4085805AB}"/>
              </a:ext>
            </a:extLst>
          </p:cNvPr>
          <p:cNvSpPr>
            <a:spLocks noGrp="1" noChangeAspect="1"/>
          </p:cNvSpPr>
          <p:nvPr>
            <p:ph type="pic" sz="quarter" idx="56" hasCustomPrompt="1"/>
          </p:nvPr>
        </p:nvSpPr>
        <p:spPr>
          <a:xfrm>
            <a:off x="27029506"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5" name="Text Placeholder 3">
            <a:extLst>
              <a:ext uri="{FF2B5EF4-FFF2-40B4-BE49-F238E27FC236}">
                <a16:creationId xmlns:a16="http://schemas.microsoft.com/office/drawing/2014/main" id="{2FC3CCE9-700E-9738-BC0E-BA6F91522355}"/>
              </a:ext>
            </a:extLst>
          </p:cNvPr>
          <p:cNvSpPr>
            <a:spLocks noGrp="1"/>
          </p:cNvSpPr>
          <p:nvPr>
            <p:ph type="body" sz="quarter" idx="57" hasCustomPrompt="1"/>
          </p:nvPr>
        </p:nvSpPr>
        <p:spPr>
          <a:xfrm>
            <a:off x="18626013" y="16468722"/>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6" name="Image Text Placeholder 3">
            <a:extLst>
              <a:ext uri="{FF2B5EF4-FFF2-40B4-BE49-F238E27FC236}">
                <a16:creationId xmlns:a16="http://schemas.microsoft.com/office/drawing/2014/main" id="{D8679204-EF4D-054E-A2BC-86DA76EA0E2A}"/>
              </a:ext>
            </a:extLst>
          </p:cNvPr>
          <p:cNvSpPr>
            <a:spLocks noGrp="1"/>
          </p:cNvSpPr>
          <p:nvPr>
            <p:ph type="body" sz="quarter" idx="58" hasCustomPrompt="1"/>
          </p:nvPr>
        </p:nvSpPr>
        <p:spPr>
          <a:xfrm>
            <a:off x="18626013" y="15842866"/>
            <a:ext cx="7718171" cy="585216"/>
          </a:xfrm>
        </p:spPr>
        <p:txBody>
          <a:bodyPr/>
          <a:lstStyle>
            <a:lvl1pPr algn="ctr">
              <a:spcBef>
                <a:spcPts val="0"/>
              </a:spcBef>
              <a:defRPr sz="4000">
                <a:latin typeface="+mj-lt"/>
              </a:defRPr>
            </a:lvl1pPr>
          </a:lstStyle>
          <a:p>
            <a:pPr lvl="0"/>
            <a:r>
              <a:rPr lang="en-US" dirty="0"/>
              <a:t>Click to Edit Image Title</a:t>
            </a:r>
          </a:p>
        </p:txBody>
      </p:sp>
      <p:sp>
        <p:nvSpPr>
          <p:cNvPr id="27" name="Picture Placeholder 3">
            <a:extLst>
              <a:ext uri="{FF2B5EF4-FFF2-40B4-BE49-F238E27FC236}">
                <a16:creationId xmlns:a16="http://schemas.microsoft.com/office/drawing/2014/main" id="{29E129EE-2038-7A83-2F5C-CBEB36A7D937}"/>
              </a:ext>
            </a:extLst>
          </p:cNvPr>
          <p:cNvSpPr>
            <a:spLocks noGrp="1" noChangeAspect="1"/>
          </p:cNvSpPr>
          <p:nvPr>
            <p:ph type="pic" sz="quarter" idx="59" hasCustomPrompt="1"/>
          </p:nvPr>
        </p:nvSpPr>
        <p:spPr>
          <a:xfrm>
            <a:off x="18626328"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8" name="Text Placeholder 4">
            <a:extLst>
              <a:ext uri="{FF2B5EF4-FFF2-40B4-BE49-F238E27FC236}">
                <a16:creationId xmlns:a16="http://schemas.microsoft.com/office/drawing/2014/main" id="{9BB27D65-9EE9-7CEE-0656-743DCE5A356B}"/>
              </a:ext>
            </a:extLst>
          </p:cNvPr>
          <p:cNvSpPr>
            <a:spLocks noGrp="1"/>
          </p:cNvSpPr>
          <p:nvPr>
            <p:ph type="body" sz="quarter" idx="60" hasCustomPrompt="1"/>
          </p:nvPr>
        </p:nvSpPr>
        <p:spPr>
          <a:xfrm>
            <a:off x="27029352" y="16468722"/>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9" name="Image Text Placeholder 4">
            <a:extLst>
              <a:ext uri="{FF2B5EF4-FFF2-40B4-BE49-F238E27FC236}">
                <a16:creationId xmlns:a16="http://schemas.microsoft.com/office/drawing/2014/main" id="{510D12E5-14C8-9A05-8C28-162A2A620925}"/>
              </a:ext>
            </a:extLst>
          </p:cNvPr>
          <p:cNvSpPr>
            <a:spLocks noGrp="1"/>
          </p:cNvSpPr>
          <p:nvPr>
            <p:ph type="body" sz="quarter" idx="61" hasCustomPrompt="1"/>
          </p:nvPr>
        </p:nvSpPr>
        <p:spPr>
          <a:xfrm>
            <a:off x="27029352" y="15842866"/>
            <a:ext cx="7718170" cy="585216"/>
          </a:xfrm>
        </p:spPr>
        <p:txBody>
          <a:bodyPr/>
          <a:lstStyle>
            <a:lvl1pPr algn="ctr">
              <a:spcBef>
                <a:spcPts val="0"/>
              </a:spcBef>
              <a:defRPr sz="4000">
                <a:latin typeface="+mj-lt"/>
              </a:defRPr>
            </a:lvl1pPr>
          </a:lstStyle>
          <a:p>
            <a:pPr lvl="0"/>
            <a:r>
              <a:rPr lang="en-US" dirty="0"/>
              <a:t>Click to Edit Image Title</a:t>
            </a:r>
          </a:p>
        </p:txBody>
      </p:sp>
      <p:sp>
        <p:nvSpPr>
          <p:cNvPr id="30" name="Picture Placeholder 4">
            <a:extLst>
              <a:ext uri="{FF2B5EF4-FFF2-40B4-BE49-F238E27FC236}">
                <a16:creationId xmlns:a16="http://schemas.microsoft.com/office/drawing/2014/main" id="{AE316532-0119-5CFD-ED05-9D2A2CFCB85B}"/>
              </a:ext>
            </a:extLst>
          </p:cNvPr>
          <p:cNvSpPr>
            <a:spLocks noGrp="1" noChangeAspect="1"/>
          </p:cNvSpPr>
          <p:nvPr>
            <p:ph type="pic" sz="quarter" idx="62" hasCustomPrompt="1"/>
          </p:nvPr>
        </p:nvSpPr>
        <p:spPr>
          <a:xfrm>
            <a:off x="27029666"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910055449"/>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5-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C019A8FC-131A-A19C-6416-BED69D99B546}"/>
              </a:ext>
            </a:extLst>
          </p:cNvPr>
          <p:cNvSpPr>
            <a:spLocks noGrp="1"/>
          </p:cNvSpPr>
          <p:nvPr>
            <p:ph type="ftr" sz="quarter" idx="34"/>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7F58BA19-A429-4685-28B0-D483FC5B599C}"/>
              </a:ext>
            </a:extLst>
          </p:cNvPr>
          <p:cNvSpPr>
            <a:spLocks noGrp="1"/>
          </p:cNvSpPr>
          <p:nvPr>
            <p:ph type="sldNum" sz="quarter" idx="35"/>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AAB18B-9133-491C-1E1C-6BD5DB04A14B}"/>
              </a:ext>
            </a:extLst>
          </p:cNvPr>
          <p:cNvSpPr>
            <a:spLocks noGrp="1"/>
          </p:cNvSpPr>
          <p:nvPr>
            <p:ph type="body" sz="quarter" idx="52" hasCustomPrompt="1"/>
          </p:nvPr>
        </p:nvSpPr>
        <p:spPr>
          <a:xfrm>
            <a:off x="6026529"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F593F3D-53E7-743F-A7AB-FD173EC6B9DF}"/>
              </a:ext>
            </a:extLst>
          </p:cNvPr>
          <p:cNvSpPr>
            <a:spLocks noGrp="1"/>
          </p:cNvSpPr>
          <p:nvPr>
            <p:ph type="body" sz="quarter" idx="51" hasCustomPrompt="1"/>
          </p:nvPr>
        </p:nvSpPr>
        <p:spPr>
          <a:xfrm>
            <a:off x="6026529"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58ABA80F-3B27-63BC-0780-B8706E846457}"/>
              </a:ext>
            </a:extLst>
          </p:cNvPr>
          <p:cNvSpPr>
            <a:spLocks noGrp="1" noChangeAspect="1"/>
          </p:cNvSpPr>
          <p:nvPr>
            <p:ph type="pic" sz="quarter" idx="53" hasCustomPrompt="1"/>
          </p:nvPr>
        </p:nvSpPr>
        <p:spPr>
          <a:xfrm>
            <a:off x="602589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B94612C4-2B22-1A13-9F38-A6071B76790B}"/>
              </a:ext>
            </a:extLst>
          </p:cNvPr>
          <p:cNvSpPr>
            <a:spLocks noGrp="1"/>
          </p:cNvSpPr>
          <p:nvPr>
            <p:ph type="body" sz="quarter" idx="54" hasCustomPrompt="1"/>
          </p:nvPr>
        </p:nvSpPr>
        <p:spPr>
          <a:xfrm>
            <a:off x="14429867"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890A0AB1-58E8-9767-0FFD-53160155C9A0}"/>
              </a:ext>
            </a:extLst>
          </p:cNvPr>
          <p:cNvSpPr>
            <a:spLocks noGrp="1"/>
          </p:cNvSpPr>
          <p:nvPr>
            <p:ph type="body" sz="quarter" idx="55" hasCustomPrompt="1"/>
          </p:nvPr>
        </p:nvSpPr>
        <p:spPr>
          <a:xfrm>
            <a:off x="14429867"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2">
            <a:extLst>
              <a:ext uri="{FF2B5EF4-FFF2-40B4-BE49-F238E27FC236}">
                <a16:creationId xmlns:a16="http://schemas.microsoft.com/office/drawing/2014/main" id="{D03A865E-9B3C-F764-75DD-CA2578A664FA}"/>
              </a:ext>
            </a:extLst>
          </p:cNvPr>
          <p:cNvSpPr>
            <a:spLocks noGrp="1" noChangeAspect="1"/>
          </p:cNvSpPr>
          <p:nvPr>
            <p:ph type="pic" sz="quarter" idx="56" hasCustomPrompt="1"/>
          </p:nvPr>
        </p:nvSpPr>
        <p:spPr>
          <a:xfrm>
            <a:off x="14429072"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3">
            <a:extLst>
              <a:ext uri="{FF2B5EF4-FFF2-40B4-BE49-F238E27FC236}">
                <a16:creationId xmlns:a16="http://schemas.microsoft.com/office/drawing/2014/main" id="{59D0EEA9-9F7A-BC6A-58B0-47F71162388A}"/>
              </a:ext>
            </a:extLst>
          </p:cNvPr>
          <p:cNvSpPr>
            <a:spLocks noGrp="1"/>
          </p:cNvSpPr>
          <p:nvPr>
            <p:ph type="body" sz="quarter" idx="57" hasCustomPrompt="1"/>
          </p:nvPr>
        </p:nvSpPr>
        <p:spPr>
          <a:xfrm>
            <a:off x="22831934"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6358D607-A7E9-759C-60F6-E7FC907EC923}"/>
              </a:ext>
            </a:extLst>
          </p:cNvPr>
          <p:cNvSpPr>
            <a:spLocks noGrp="1"/>
          </p:cNvSpPr>
          <p:nvPr>
            <p:ph type="body" sz="quarter" idx="58" hasCustomPrompt="1"/>
          </p:nvPr>
        </p:nvSpPr>
        <p:spPr>
          <a:xfrm>
            <a:off x="22831934"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335E8AE4-9A02-9810-1E15-BCA5A0C1536F}"/>
              </a:ext>
            </a:extLst>
          </p:cNvPr>
          <p:cNvSpPr>
            <a:spLocks noGrp="1" noChangeAspect="1"/>
          </p:cNvSpPr>
          <p:nvPr>
            <p:ph type="pic" sz="quarter" idx="59" hasCustomPrompt="1"/>
          </p:nvPr>
        </p:nvSpPr>
        <p:spPr>
          <a:xfrm>
            <a:off x="22832249"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A9D0247F-FA89-44E4-1CA1-1F5AEE787528}"/>
              </a:ext>
            </a:extLst>
          </p:cNvPr>
          <p:cNvSpPr>
            <a:spLocks noGrp="1"/>
          </p:cNvSpPr>
          <p:nvPr>
            <p:ph type="body" sz="quarter" idx="60" hasCustomPrompt="1"/>
          </p:nvPr>
        </p:nvSpPr>
        <p:spPr>
          <a:xfrm>
            <a:off x="10227169" y="17349893"/>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4">
            <a:extLst>
              <a:ext uri="{FF2B5EF4-FFF2-40B4-BE49-F238E27FC236}">
                <a16:creationId xmlns:a16="http://schemas.microsoft.com/office/drawing/2014/main" id="{448E8154-F1A2-E4A4-85EE-DCD89AFA2212}"/>
              </a:ext>
            </a:extLst>
          </p:cNvPr>
          <p:cNvSpPr>
            <a:spLocks noGrp="1"/>
          </p:cNvSpPr>
          <p:nvPr>
            <p:ph type="body" sz="quarter" idx="61" hasCustomPrompt="1"/>
          </p:nvPr>
        </p:nvSpPr>
        <p:spPr>
          <a:xfrm>
            <a:off x="10227169" y="16724037"/>
            <a:ext cx="7718170"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4">
            <a:extLst>
              <a:ext uri="{FF2B5EF4-FFF2-40B4-BE49-F238E27FC236}">
                <a16:creationId xmlns:a16="http://schemas.microsoft.com/office/drawing/2014/main" id="{8958483D-099B-4C62-19C9-2B85FC8AC7D2}"/>
              </a:ext>
            </a:extLst>
          </p:cNvPr>
          <p:cNvSpPr>
            <a:spLocks noGrp="1" noChangeAspect="1"/>
          </p:cNvSpPr>
          <p:nvPr>
            <p:ph type="pic" sz="quarter" idx="62" hasCustomPrompt="1"/>
          </p:nvPr>
        </p:nvSpPr>
        <p:spPr>
          <a:xfrm>
            <a:off x="10227483"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5">
            <a:extLst>
              <a:ext uri="{FF2B5EF4-FFF2-40B4-BE49-F238E27FC236}">
                <a16:creationId xmlns:a16="http://schemas.microsoft.com/office/drawing/2014/main" id="{EBD74182-8588-BED7-CB44-072C8348CA9B}"/>
              </a:ext>
            </a:extLst>
          </p:cNvPr>
          <p:cNvSpPr>
            <a:spLocks noGrp="1"/>
          </p:cNvSpPr>
          <p:nvPr>
            <p:ph type="body" sz="quarter" idx="63" hasCustomPrompt="1"/>
          </p:nvPr>
        </p:nvSpPr>
        <p:spPr>
          <a:xfrm>
            <a:off x="18630661"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5">
            <a:extLst>
              <a:ext uri="{FF2B5EF4-FFF2-40B4-BE49-F238E27FC236}">
                <a16:creationId xmlns:a16="http://schemas.microsoft.com/office/drawing/2014/main" id="{9944992B-DC18-0E0F-439B-CF5C3C53DFFB}"/>
              </a:ext>
            </a:extLst>
          </p:cNvPr>
          <p:cNvSpPr>
            <a:spLocks noGrp="1"/>
          </p:cNvSpPr>
          <p:nvPr>
            <p:ph type="body" sz="quarter" idx="64" hasCustomPrompt="1"/>
          </p:nvPr>
        </p:nvSpPr>
        <p:spPr>
          <a:xfrm>
            <a:off x="18630661"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5">
            <a:extLst>
              <a:ext uri="{FF2B5EF4-FFF2-40B4-BE49-F238E27FC236}">
                <a16:creationId xmlns:a16="http://schemas.microsoft.com/office/drawing/2014/main" id="{660631FB-B5DA-07AA-ABD5-3A8EC0F4C822}"/>
              </a:ext>
            </a:extLst>
          </p:cNvPr>
          <p:cNvSpPr>
            <a:spLocks noGrp="1" noChangeAspect="1"/>
          </p:cNvSpPr>
          <p:nvPr>
            <p:ph type="pic" sz="quarter" idx="65" hasCustomPrompt="1"/>
          </p:nvPr>
        </p:nvSpPr>
        <p:spPr>
          <a:xfrm>
            <a:off x="18630661"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589373815"/>
      </p:ext>
    </p:extLst>
  </p:cSld>
  <p:clrMapOvr>
    <a:masterClrMapping/>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6-up Image">
    <p:spTree>
      <p:nvGrpSpPr>
        <p:cNvPr id="1" name=""/>
        <p:cNvGrpSpPr/>
        <p:nvPr/>
      </p:nvGrpSpPr>
      <p:grpSpPr>
        <a:xfrm>
          <a:off x="0" y="0"/>
          <a:ext cx="0" cy="0"/>
          <a:chOff x="0" y="0"/>
          <a:chExt cx="0" cy="0"/>
        </a:xfrm>
      </p:grpSpPr>
      <p:sp>
        <p:nvSpPr>
          <p:cNvPr id="17" name="Footer Placeholder">
            <a:extLst>
              <a:ext uri="{FF2B5EF4-FFF2-40B4-BE49-F238E27FC236}">
                <a16:creationId xmlns:a16="http://schemas.microsoft.com/office/drawing/2014/main" id="{4FF9D0C9-ABFF-CDF9-8A1A-45D588F3425A}"/>
              </a:ext>
            </a:extLst>
          </p:cNvPr>
          <p:cNvSpPr>
            <a:spLocks noGrp="1"/>
          </p:cNvSpPr>
          <p:nvPr>
            <p:ph type="ftr" sz="quarter" idx="37"/>
          </p:nvPr>
        </p:nvSpPr>
        <p:spPr/>
        <p:txBody>
          <a:bodyPr/>
          <a:lstStyle/>
          <a:p>
            <a:pPr>
              <a:lnSpc>
                <a:spcPct val="90000"/>
              </a:lnSpc>
            </a:pPr>
            <a:r>
              <a:rPr lang="en-US"/>
              <a:t>Source information in NVIDIA Sans, medium gray; 20 pt</a:t>
            </a:r>
            <a:endParaRPr lang="en-US" dirty="0"/>
          </a:p>
        </p:txBody>
      </p:sp>
      <p:sp>
        <p:nvSpPr>
          <p:cNvPr id="18" name="Slide Number Placeholder">
            <a:extLst>
              <a:ext uri="{FF2B5EF4-FFF2-40B4-BE49-F238E27FC236}">
                <a16:creationId xmlns:a16="http://schemas.microsoft.com/office/drawing/2014/main" id="{33ACBAC0-D6B3-5128-F31B-B91DBBE43558}"/>
              </a:ext>
            </a:extLst>
          </p:cNvPr>
          <p:cNvSpPr>
            <a:spLocks noGrp="1"/>
          </p:cNvSpPr>
          <p:nvPr>
            <p:ph type="sldNum" sz="quarter" idx="38"/>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13D154E7-1249-288A-E918-3888EF51EA1F}"/>
              </a:ext>
            </a:extLst>
          </p:cNvPr>
          <p:cNvSpPr>
            <a:spLocks noGrp="1"/>
          </p:cNvSpPr>
          <p:nvPr>
            <p:ph type="body" sz="quarter" idx="52" hasCustomPrompt="1"/>
          </p:nvPr>
        </p:nvSpPr>
        <p:spPr>
          <a:xfrm>
            <a:off x="6026529"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A6414C37-B65D-7CFA-A936-13DD6985E4B0}"/>
              </a:ext>
            </a:extLst>
          </p:cNvPr>
          <p:cNvSpPr>
            <a:spLocks noGrp="1"/>
          </p:cNvSpPr>
          <p:nvPr>
            <p:ph type="body" sz="quarter" idx="51" hasCustomPrompt="1"/>
          </p:nvPr>
        </p:nvSpPr>
        <p:spPr>
          <a:xfrm>
            <a:off x="6026529"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A30AF97F-0DF5-2039-130A-AFA6905358C9}"/>
              </a:ext>
            </a:extLst>
          </p:cNvPr>
          <p:cNvSpPr>
            <a:spLocks noGrp="1" noChangeAspect="1"/>
          </p:cNvSpPr>
          <p:nvPr>
            <p:ph type="pic" sz="quarter" idx="53" hasCustomPrompt="1"/>
          </p:nvPr>
        </p:nvSpPr>
        <p:spPr>
          <a:xfrm>
            <a:off x="602589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3" name="Text Placeholder 2">
            <a:extLst>
              <a:ext uri="{FF2B5EF4-FFF2-40B4-BE49-F238E27FC236}">
                <a16:creationId xmlns:a16="http://schemas.microsoft.com/office/drawing/2014/main" id="{0D628B38-5048-7037-2221-587E87B736B2}"/>
              </a:ext>
            </a:extLst>
          </p:cNvPr>
          <p:cNvSpPr>
            <a:spLocks noGrp="1"/>
          </p:cNvSpPr>
          <p:nvPr>
            <p:ph type="body" sz="quarter" idx="54" hasCustomPrompt="1"/>
          </p:nvPr>
        </p:nvSpPr>
        <p:spPr>
          <a:xfrm>
            <a:off x="14429867"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2">
            <a:extLst>
              <a:ext uri="{FF2B5EF4-FFF2-40B4-BE49-F238E27FC236}">
                <a16:creationId xmlns:a16="http://schemas.microsoft.com/office/drawing/2014/main" id="{1559EC85-71F8-78BA-14E5-E387758E373B}"/>
              </a:ext>
            </a:extLst>
          </p:cNvPr>
          <p:cNvSpPr>
            <a:spLocks noGrp="1"/>
          </p:cNvSpPr>
          <p:nvPr>
            <p:ph type="body" sz="quarter" idx="55" hasCustomPrompt="1"/>
          </p:nvPr>
        </p:nvSpPr>
        <p:spPr>
          <a:xfrm>
            <a:off x="14429867"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2">
            <a:extLst>
              <a:ext uri="{FF2B5EF4-FFF2-40B4-BE49-F238E27FC236}">
                <a16:creationId xmlns:a16="http://schemas.microsoft.com/office/drawing/2014/main" id="{1B7CBA0B-C380-3AC2-AC3D-1A857EAD6A58}"/>
              </a:ext>
            </a:extLst>
          </p:cNvPr>
          <p:cNvSpPr>
            <a:spLocks noGrp="1" noChangeAspect="1"/>
          </p:cNvSpPr>
          <p:nvPr>
            <p:ph type="pic" sz="quarter" idx="56" hasCustomPrompt="1"/>
          </p:nvPr>
        </p:nvSpPr>
        <p:spPr>
          <a:xfrm>
            <a:off x="14429232"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3">
            <a:extLst>
              <a:ext uri="{FF2B5EF4-FFF2-40B4-BE49-F238E27FC236}">
                <a16:creationId xmlns:a16="http://schemas.microsoft.com/office/drawing/2014/main" id="{AE3AE4FC-B0E7-62F1-6FD6-0A1971A66E1E}"/>
              </a:ext>
            </a:extLst>
          </p:cNvPr>
          <p:cNvSpPr>
            <a:spLocks noGrp="1"/>
          </p:cNvSpPr>
          <p:nvPr>
            <p:ph type="body" sz="quarter" idx="57" hasCustomPrompt="1"/>
          </p:nvPr>
        </p:nvSpPr>
        <p:spPr>
          <a:xfrm>
            <a:off x="22831934"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3">
            <a:extLst>
              <a:ext uri="{FF2B5EF4-FFF2-40B4-BE49-F238E27FC236}">
                <a16:creationId xmlns:a16="http://schemas.microsoft.com/office/drawing/2014/main" id="{6D6580E3-F809-71DE-F83B-A584CBC85B92}"/>
              </a:ext>
            </a:extLst>
          </p:cNvPr>
          <p:cNvSpPr>
            <a:spLocks noGrp="1"/>
          </p:cNvSpPr>
          <p:nvPr>
            <p:ph type="body" sz="quarter" idx="58" hasCustomPrompt="1"/>
          </p:nvPr>
        </p:nvSpPr>
        <p:spPr>
          <a:xfrm>
            <a:off x="22831934"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3">
            <a:extLst>
              <a:ext uri="{FF2B5EF4-FFF2-40B4-BE49-F238E27FC236}">
                <a16:creationId xmlns:a16="http://schemas.microsoft.com/office/drawing/2014/main" id="{9A4FA4A2-4CAA-6FA7-31D5-D43DEBDB5A75}"/>
              </a:ext>
            </a:extLst>
          </p:cNvPr>
          <p:cNvSpPr>
            <a:spLocks noGrp="1" noChangeAspect="1"/>
          </p:cNvSpPr>
          <p:nvPr>
            <p:ph type="pic" sz="quarter" idx="59" hasCustomPrompt="1"/>
          </p:nvPr>
        </p:nvSpPr>
        <p:spPr>
          <a:xfrm>
            <a:off x="22832249"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4">
            <a:extLst>
              <a:ext uri="{FF2B5EF4-FFF2-40B4-BE49-F238E27FC236}">
                <a16:creationId xmlns:a16="http://schemas.microsoft.com/office/drawing/2014/main" id="{79AD7B08-053C-9190-0D12-F1BAB2E286B9}"/>
              </a:ext>
            </a:extLst>
          </p:cNvPr>
          <p:cNvSpPr>
            <a:spLocks noGrp="1"/>
          </p:cNvSpPr>
          <p:nvPr>
            <p:ph type="body" sz="quarter" idx="60" hasCustomPrompt="1"/>
          </p:nvPr>
        </p:nvSpPr>
        <p:spPr>
          <a:xfrm>
            <a:off x="6025581" y="17349893"/>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4">
            <a:extLst>
              <a:ext uri="{FF2B5EF4-FFF2-40B4-BE49-F238E27FC236}">
                <a16:creationId xmlns:a16="http://schemas.microsoft.com/office/drawing/2014/main" id="{4FA4ED94-57E4-AE6B-B890-F274DC4FC0DE}"/>
              </a:ext>
            </a:extLst>
          </p:cNvPr>
          <p:cNvSpPr>
            <a:spLocks noGrp="1"/>
          </p:cNvSpPr>
          <p:nvPr>
            <p:ph type="body" sz="quarter" idx="61" hasCustomPrompt="1"/>
          </p:nvPr>
        </p:nvSpPr>
        <p:spPr>
          <a:xfrm>
            <a:off x="6025581" y="16724037"/>
            <a:ext cx="7718170"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4">
            <a:extLst>
              <a:ext uri="{FF2B5EF4-FFF2-40B4-BE49-F238E27FC236}">
                <a16:creationId xmlns:a16="http://schemas.microsoft.com/office/drawing/2014/main" id="{9E19E24C-979D-3C9A-9C76-CB5B03D44096}"/>
              </a:ext>
            </a:extLst>
          </p:cNvPr>
          <p:cNvSpPr>
            <a:spLocks noGrp="1" noChangeAspect="1"/>
          </p:cNvSpPr>
          <p:nvPr>
            <p:ph type="pic" sz="quarter" idx="62" hasCustomPrompt="1"/>
          </p:nvPr>
        </p:nvSpPr>
        <p:spPr>
          <a:xfrm>
            <a:off x="602589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5">
            <a:extLst>
              <a:ext uri="{FF2B5EF4-FFF2-40B4-BE49-F238E27FC236}">
                <a16:creationId xmlns:a16="http://schemas.microsoft.com/office/drawing/2014/main" id="{06964C24-EB2D-973F-CAEE-52230749F92F}"/>
              </a:ext>
            </a:extLst>
          </p:cNvPr>
          <p:cNvSpPr>
            <a:spLocks noGrp="1"/>
          </p:cNvSpPr>
          <p:nvPr>
            <p:ph type="body" sz="quarter" idx="63" hasCustomPrompt="1"/>
          </p:nvPr>
        </p:nvSpPr>
        <p:spPr>
          <a:xfrm>
            <a:off x="14429072"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5">
            <a:extLst>
              <a:ext uri="{FF2B5EF4-FFF2-40B4-BE49-F238E27FC236}">
                <a16:creationId xmlns:a16="http://schemas.microsoft.com/office/drawing/2014/main" id="{ED4E3AFB-8939-61FB-5FF0-F1534EC387E1}"/>
              </a:ext>
            </a:extLst>
          </p:cNvPr>
          <p:cNvSpPr>
            <a:spLocks noGrp="1"/>
          </p:cNvSpPr>
          <p:nvPr>
            <p:ph type="body" sz="quarter" idx="64" hasCustomPrompt="1"/>
          </p:nvPr>
        </p:nvSpPr>
        <p:spPr>
          <a:xfrm>
            <a:off x="14429072"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5">
            <a:extLst>
              <a:ext uri="{FF2B5EF4-FFF2-40B4-BE49-F238E27FC236}">
                <a16:creationId xmlns:a16="http://schemas.microsoft.com/office/drawing/2014/main" id="{A1B13653-F43D-0A5E-38A6-CB5001465815}"/>
              </a:ext>
            </a:extLst>
          </p:cNvPr>
          <p:cNvSpPr>
            <a:spLocks noGrp="1" noChangeAspect="1"/>
          </p:cNvSpPr>
          <p:nvPr>
            <p:ph type="pic" sz="quarter" idx="65" hasCustomPrompt="1"/>
          </p:nvPr>
        </p:nvSpPr>
        <p:spPr>
          <a:xfrm>
            <a:off x="14429232"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6">
            <a:extLst>
              <a:ext uri="{FF2B5EF4-FFF2-40B4-BE49-F238E27FC236}">
                <a16:creationId xmlns:a16="http://schemas.microsoft.com/office/drawing/2014/main" id="{E5FC1EDC-3D2A-65A9-871F-F197CDBEA69B}"/>
              </a:ext>
            </a:extLst>
          </p:cNvPr>
          <p:cNvSpPr>
            <a:spLocks noGrp="1"/>
          </p:cNvSpPr>
          <p:nvPr>
            <p:ph type="body" sz="quarter" idx="66" hasCustomPrompt="1"/>
          </p:nvPr>
        </p:nvSpPr>
        <p:spPr>
          <a:xfrm>
            <a:off x="22832249"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6">
            <a:extLst>
              <a:ext uri="{FF2B5EF4-FFF2-40B4-BE49-F238E27FC236}">
                <a16:creationId xmlns:a16="http://schemas.microsoft.com/office/drawing/2014/main" id="{44682B27-3A3D-0B94-5ECC-DDBB5EF455C7}"/>
              </a:ext>
            </a:extLst>
          </p:cNvPr>
          <p:cNvSpPr>
            <a:spLocks noGrp="1"/>
          </p:cNvSpPr>
          <p:nvPr>
            <p:ph type="body" sz="quarter" idx="67" hasCustomPrompt="1"/>
          </p:nvPr>
        </p:nvSpPr>
        <p:spPr>
          <a:xfrm>
            <a:off x="22832249"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6">
            <a:extLst>
              <a:ext uri="{FF2B5EF4-FFF2-40B4-BE49-F238E27FC236}">
                <a16:creationId xmlns:a16="http://schemas.microsoft.com/office/drawing/2014/main" id="{128F8CF0-9FA1-4567-B0F3-85953E786502}"/>
              </a:ext>
            </a:extLst>
          </p:cNvPr>
          <p:cNvSpPr>
            <a:spLocks noGrp="1" noChangeAspect="1"/>
          </p:cNvSpPr>
          <p:nvPr>
            <p:ph type="pic" sz="quarter" idx="68" hasCustomPrompt="1"/>
          </p:nvPr>
        </p:nvSpPr>
        <p:spPr>
          <a:xfrm>
            <a:off x="22832249"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089732011"/>
      </p:ext>
    </p:extLst>
  </p:cSld>
  <p:clrMapOvr>
    <a:masterClrMapping/>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7-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0EDBB066-9949-0A07-6A34-D87EAC495DA4}"/>
              </a:ext>
            </a:extLst>
          </p:cNvPr>
          <p:cNvSpPr>
            <a:spLocks noGrp="1"/>
          </p:cNvSpPr>
          <p:nvPr>
            <p:ph type="ftr" sz="quarter" idx="41"/>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065D794E-40CD-F20A-D069-AEE573942939}"/>
              </a:ext>
            </a:extLst>
          </p:cNvPr>
          <p:cNvSpPr>
            <a:spLocks noGrp="1"/>
          </p:cNvSpPr>
          <p:nvPr>
            <p:ph type="sldNum" sz="quarter" idx="4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30764C-4CB7-CC58-55C7-3434EE0A9C55}"/>
              </a:ext>
            </a:extLst>
          </p:cNvPr>
          <p:cNvSpPr>
            <a:spLocks noGrp="1"/>
          </p:cNvSpPr>
          <p:nvPr>
            <p:ph type="body" sz="quarter" idx="52" hasCustomPrompt="1"/>
          </p:nvPr>
        </p:nvSpPr>
        <p:spPr>
          <a:xfrm>
            <a:off x="1828800"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4423268B-E454-8182-6279-77138725F4F5}"/>
              </a:ext>
            </a:extLst>
          </p:cNvPr>
          <p:cNvSpPr>
            <a:spLocks noGrp="1"/>
          </p:cNvSpPr>
          <p:nvPr>
            <p:ph type="body" sz="quarter" idx="51" hasCustomPrompt="1"/>
          </p:nvPr>
        </p:nvSpPr>
        <p:spPr>
          <a:xfrm>
            <a:off x="1828800"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AC03B5C-BB34-99BA-EFE5-0FE346472297}"/>
              </a:ext>
            </a:extLst>
          </p:cNvPr>
          <p:cNvSpPr>
            <a:spLocks noGrp="1" noChangeAspect="1"/>
          </p:cNvSpPr>
          <p:nvPr>
            <p:ph type="pic" sz="quarter" idx="53" hasCustomPrompt="1"/>
          </p:nvPr>
        </p:nvSpPr>
        <p:spPr>
          <a:xfrm>
            <a:off x="1828800"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471458BD-9DE8-FE1C-2920-68BCEC79588F}"/>
              </a:ext>
            </a:extLst>
          </p:cNvPr>
          <p:cNvSpPr>
            <a:spLocks noGrp="1"/>
          </p:cNvSpPr>
          <p:nvPr>
            <p:ph type="body" sz="quarter" idx="54" hasCustomPrompt="1"/>
          </p:nvPr>
        </p:nvSpPr>
        <p:spPr>
          <a:xfrm>
            <a:off x="10229723" y="11006648"/>
            <a:ext cx="7717221" cy="867930"/>
          </a:xfrm>
        </p:spPr>
        <p:txBody>
          <a:bodyPr/>
          <a:lstStyle>
            <a:lvl1pPr marL="0" marR="0" indent="0" algn="ctr" defTabSz="2743200" rtl="0" eaLnBrk="1" fontAlgn="auto" latinLnBrk="0" hangingPunct="1">
              <a:lnSpc>
                <a:spcPct val="90000"/>
              </a:lnSpc>
              <a:spcBef>
                <a:spcPts val="0"/>
              </a:spcBef>
              <a:spcAft>
                <a:spcPts val="800"/>
              </a:spcAft>
              <a:buClr>
                <a:schemeClr val="accent1"/>
              </a:buClr>
              <a:buSzTx/>
              <a:buFont typeface="NVIDIA Sans" panose="020B0503020203020204" pitchFamily="34" charset="0"/>
              <a:buNone/>
              <a:tabLst/>
              <a:defRPr sz="2800"/>
            </a:lvl1pPr>
            <a:lvl2pPr algn="ctr">
              <a:defRPr sz="2800"/>
            </a:lvl2pPr>
            <a:lvl3pPr algn="ctr">
              <a:defRPr sz="2800"/>
            </a:lvl3pPr>
            <a:lvl4pPr algn="ctr">
              <a:defRPr sz="2800"/>
            </a:lvl4pPr>
            <a:lvl5pPr algn="ctr">
              <a:defRPr sz="2800"/>
            </a:lvl5pPr>
          </a:lstStyle>
          <a:p>
            <a:pPr marL="0" marR="0" lvl="0" indent="0" algn="ctr" defTabSz="2743200" rtl="0" eaLnBrk="1" fontAlgn="auto" latinLnBrk="0" hangingPunct="1">
              <a:lnSpc>
                <a:spcPct val="90000"/>
              </a:lnSpc>
              <a:spcBef>
                <a:spcPts val="0"/>
              </a:spcBef>
              <a:spcAft>
                <a:spcPts val="800"/>
              </a:spcAft>
              <a:buClr>
                <a:schemeClr val="accent1"/>
              </a:buClr>
              <a:buSzTx/>
              <a:buFont typeface="NVIDIA Sans" panose="020B0503020203020204" pitchFamily="34" charset="0"/>
              <a:buChar char="​"/>
              <a:tabLst/>
              <a:defRPr/>
            </a:pPr>
            <a:r>
              <a:rPr lang="en-US" dirty="0"/>
              <a:t>Click to edit description</a:t>
            </a:r>
          </a:p>
        </p:txBody>
      </p:sp>
      <p:sp>
        <p:nvSpPr>
          <p:cNvPr id="10" name="Image Text Placeholder 2">
            <a:extLst>
              <a:ext uri="{FF2B5EF4-FFF2-40B4-BE49-F238E27FC236}">
                <a16:creationId xmlns:a16="http://schemas.microsoft.com/office/drawing/2014/main" id="{04109424-82FD-CF0B-FFDE-7FAC1BA6DAC6}"/>
              </a:ext>
            </a:extLst>
          </p:cNvPr>
          <p:cNvSpPr>
            <a:spLocks noGrp="1"/>
          </p:cNvSpPr>
          <p:nvPr>
            <p:ph type="body" sz="quarter" idx="55" hasCustomPrompt="1"/>
          </p:nvPr>
        </p:nvSpPr>
        <p:spPr>
          <a:xfrm>
            <a:off x="10229723"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BE5B7F7B-783A-A0EA-4897-EDF8C1F02592}"/>
              </a:ext>
            </a:extLst>
          </p:cNvPr>
          <p:cNvSpPr>
            <a:spLocks noGrp="1" noChangeAspect="1"/>
          </p:cNvSpPr>
          <p:nvPr>
            <p:ph type="pic" sz="quarter" idx="56" hasCustomPrompt="1"/>
          </p:nvPr>
        </p:nvSpPr>
        <p:spPr>
          <a:xfrm>
            <a:off x="10229088"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2" name="Text Placeholder 3">
            <a:extLst>
              <a:ext uri="{FF2B5EF4-FFF2-40B4-BE49-F238E27FC236}">
                <a16:creationId xmlns:a16="http://schemas.microsoft.com/office/drawing/2014/main" id="{16727525-F12D-CFFD-1ED0-4E2EC8BCCDC5}"/>
              </a:ext>
            </a:extLst>
          </p:cNvPr>
          <p:cNvSpPr>
            <a:spLocks noGrp="1"/>
          </p:cNvSpPr>
          <p:nvPr>
            <p:ph type="body" sz="quarter" idx="57" hasCustomPrompt="1"/>
          </p:nvPr>
        </p:nvSpPr>
        <p:spPr>
          <a:xfrm>
            <a:off x="18628848"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3">
            <a:extLst>
              <a:ext uri="{FF2B5EF4-FFF2-40B4-BE49-F238E27FC236}">
                <a16:creationId xmlns:a16="http://schemas.microsoft.com/office/drawing/2014/main" id="{076934D6-602D-6CCF-6B31-35575C07928E}"/>
              </a:ext>
            </a:extLst>
          </p:cNvPr>
          <p:cNvSpPr>
            <a:spLocks noGrp="1"/>
          </p:cNvSpPr>
          <p:nvPr>
            <p:ph type="body" sz="quarter" idx="58" hasCustomPrompt="1"/>
          </p:nvPr>
        </p:nvSpPr>
        <p:spPr>
          <a:xfrm>
            <a:off x="18628848"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3">
            <a:extLst>
              <a:ext uri="{FF2B5EF4-FFF2-40B4-BE49-F238E27FC236}">
                <a16:creationId xmlns:a16="http://schemas.microsoft.com/office/drawing/2014/main" id="{2E3916C6-FCD1-6F9A-445E-3D0915995F1A}"/>
              </a:ext>
            </a:extLst>
          </p:cNvPr>
          <p:cNvSpPr>
            <a:spLocks noGrp="1" noChangeAspect="1"/>
          </p:cNvSpPr>
          <p:nvPr>
            <p:ph type="pic" sz="quarter" idx="59" hasCustomPrompt="1"/>
          </p:nvPr>
        </p:nvSpPr>
        <p:spPr>
          <a:xfrm>
            <a:off x="18629376"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4">
            <a:extLst>
              <a:ext uri="{FF2B5EF4-FFF2-40B4-BE49-F238E27FC236}">
                <a16:creationId xmlns:a16="http://schemas.microsoft.com/office/drawing/2014/main" id="{1C58D469-AAB0-CB8B-CE5A-DF474F6D8C13}"/>
              </a:ext>
            </a:extLst>
          </p:cNvPr>
          <p:cNvSpPr>
            <a:spLocks noGrp="1"/>
          </p:cNvSpPr>
          <p:nvPr>
            <p:ph type="body" sz="quarter" idx="60" hasCustomPrompt="1"/>
          </p:nvPr>
        </p:nvSpPr>
        <p:spPr>
          <a:xfrm>
            <a:off x="27029351" y="11006648"/>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4">
            <a:extLst>
              <a:ext uri="{FF2B5EF4-FFF2-40B4-BE49-F238E27FC236}">
                <a16:creationId xmlns:a16="http://schemas.microsoft.com/office/drawing/2014/main" id="{157879AC-2842-1C0D-BE88-A53BB7AC05CD}"/>
              </a:ext>
            </a:extLst>
          </p:cNvPr>
          <p:cNvSpPr>
            <a:spLocks noGrp="1"/>
          </p:cNvSpPr>
          <p:nvPr>
            <p:ph type="body" sz="quarter" idx="61" hasCustomPrompt="1"/>
          </p:nvPr>
        </p:nvSpPr>
        <p:spPr>
          <a:xfrm>
            <a:off x="27029351" y="10381469"/>
            <a:ext cx="771817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4">
            <a:extLst>
              <a:ext uri="{FF2B5EF4-FFF2-40B4-BE49-F238E27FC236}">
                <a16:creationId xmlns:a16="http://schemas.microsoft.com/office/drawing/2014/main" id="{623824F2-BD7A-FF50-B0BD-D3C1B01D9489}"/>
              </a:ext>
            </a:extLst>
          </p:cNvPr>
          <p:cNvSpPr>
            <a:spLocks noGrp="1" noChangeAspect="1"/>
          </p:cNvSpPr>
          <p:nvPr>
            <p:ph type="pic" sz="quarter" idx="62" hasCustomPrompt="1"/>
          </p:nvPr>
        </p:nvSpPr>
        <p:spPr>
          <a:xfrm>
            <a:off x="2702966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5">
            <a:extLst>
              <a:ext uri="{FF2B5EF4-FFF2-40B4-BE49-F238E27FC236}">
                <a16:creationId xmlns:a16="http://schemas.microsoft.com/office/drawing/2014/main" id="{BC68CEEF-5DD1-4DA6-978B-0EE9C83F2FD0}"/>
              </a:ext>
            </a:extLst>
          </p:cNvPr>
          <p:cNvSpPr>
            <a:spLocks noGrp="1"/>
          </p:cNvSpPr>
          <p:nvPr>
            <p:ph type="body" sz="quarter" idx="63" hasCustomPrompt="1"/>
          </p:nvPr>
        </p:nvSpPr>
        <p:spPr>
          <a:xfrm>
            <a:off x="6028944"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5">
            <a:extLst>
              <a:ext uri="{FF2B5EF4-FFF2-40B4-BE49-F238E27FC236}">
                <a16:creationId xmlns:a16="http://schemas.microsoft.com/office/drawing/2014/main" id="{7851B54C-7488-089C-D52C-4A52B32CC48C}"/>
              </a:ext>
            </a:extLst>
          </p:cNvPr>
          <p:cNvSpPr>
            <a:spLocks noGrp="1"/>
          </p:cNvSpPr>
          <p:nvPr>
            <p:ph type="body" sz="quarter" idx="64" hasCustomPrompt="1"/>
          </p:nvPr>
        </p:nvSpPr>
        <p:spPr>
          <a:xfrm>
            <a:off x="6028944"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5">
            <a:extLst>
              <a:ext uri="{FF2B5EF4-FFF2-40B4-BE49-F238E27FC236}">
                <a16:creationId xmlns:a16="http://schemas.microsoft.com/office/drawing/2014/main" id="{21ED7823-61D2-2FFA-CA90-BF25752944E3}"/>
              </a:ext>
            </a:extLst>
          </p:cNvPr>
          <p:cNvSpPr>
            <a:spLocks noGrp="1" noChangeAspect="1"/>
          </p:cNvSpPr>
          <p:nvPr>
            <p:ph type="pic" sz="quarter" idx="65" hasCustomPrompt="1"/>
          </p:nvPr>
        </p:nvSpPr>
        <p:spPr>
          <a:xfrm>
            <a:off x="602894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6">
            <a:extLst>
              <a:ext uri="{FF2B5EF4-FFF2-40B4-BE49-F238E27FC236}">
                <a16:creationId xmlns:a16="http://schemas.microsoft.com/office/drawing/2014/main" id="{D513BBBB-DE5A-527D-46E8-1743A8031B88}"/>
              </a:ext>
            </a:extLst>
          </p:cNvPr>
          <p:cNvSpPr>
            <a:spLocks noGrp="1"/>
          </p:cNvSpPr>
          <p:nvPr>
            <p:ph type="body" sz="quarter" idx="66" hasCustomPrompt="1"/>
          </p:nvPr>
        </p:nvSpPr>
        <p:spPr>
          <a:xfrm>
            <a:off x="14429232"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6">
            <a:extLst>
              <a:ext uri="{FF2B5EF4-FFF2-40B4-BE49-F238E27FC236}">
                <a16:creationId xmlns:a16="http://schemas.microsoft.com/office/drawing/2014/main" id="{7E60EE3D-5E59-F26C-8AD9-2188B7C96528}"/>
              </a:ext>
            </a:extLst>
          </p:cNvPr>
          <p:cNvSpPr>
            <a:spLocks noGrp="1"/>
          </p:cNvSpPr>
          <p:nvPr>
            <p:ph type="body" sz="quarter" idx="67" hasCustomPrompt="1"/>
          </p:nvPr>
        </p:nvSpPr>
        <p:spPr>
          <a:xfrm>
            <a:off x="14429232"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6">
            <a:extLst>
              <a:ext uri="{FF2B5EF4-FFF2-40B4-BE49-F238E27FC236}">
                <a16:creationId xmlns:a16="http://schemas.microsoft.com/office/drawing/2014/main" id="{3EDD73EC-F926-8897-6059-C200AC5FE9EE}"/>
              </a:ext>
            </a:extLst>
          </p:cNvPr>
          <p:cNvSpPr>
            <a:spLocks noGrp="1" noChangeAspect="1"/>
          </p:cNvSpPr>
          <p:nvPr>
            <p:ph type="pic" sz="quarter" idx="68" hasCustomPrompt="1"/>
          </p:nvPr>
        </p:nvSpPr>
        <p:spPr>
          <a:xfrm>
            <a:off x="14429232"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7">
            <a:extLst>
              <a:ext uri="{FF2B5EF4-FFF2-40B4-BE49-F238E27FC236}">
                <a16:creationId xmlns:a16="http://schemas.microsoft.com/office/drawing/2014/main" id="{4A6E0E99-4BE8-903E-B9C7-B082801EF3DE}"/>
              </a:ext>
            </a:extLst>
          </p:cNvPr>
          <p:cNvSpPr>
            <a:spLocks noGrp="1"/>
          </p:cNvSpPr>
          <p:nvPr>
            <p:ph type="body" sz="quarter" idx="69" hasCustomPrompt="1"/>
          </p:nvPr>
        </p:nvSpPr>
        <p:spPr>
          <a:xfrm>
            <a:off x="22829520"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7">
            <a:extLst>
              <a:ext uri="{FF2B5EF4-FFF2-40B4-BE49-F238E27FC236}">
                <a16:creationId xmlns:a16="http://schemas.microsoft.com/office/drawing/2014/main" id="{ED6A66F4-9D18-8D19-BF9D-6CD753BA735A}"/>
              </a:ext>
            </a:extLst>
          </p:cNvPr>
          <p:cNvSpPr>
            <a:spLocks noGrp="1"/>
          </p:cNvSpPr>
          <p:nvPr>
            <p:ph type="body" sz="quarter" idx="70" hasCustomPrompt="1"/>
          </p:nvPr>
        </p:nvSpPr>
        <p:spPr>
          <a:xfrm>
            <a:off x="22829520"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7">
            <a:extLst>
              <a:ext uri="{FF2B5EF4-FFF2-40B4-BE49-F238E27FC236}">
                <a16:creationId xmlns:a16="http://schemas.microsoft.com/office/drawing/2014/main" id="{6876670D-7D23-4CF6-8548-FE090C8A76B3}"/>
              </a:ext>
            </a:extLst>
          </p:cNvPr>
          <p:cNvSpPr>
            <a:spLocks noGrp="1" noChangeAspect="1"/>
          </p:cNvSpPr>
          <p:nvPr>
            <p:ph type="pic" sz="quarter" idx="71" hasCustomPrompt="1"/>
          </p:nvPr>
        </p:nvSpPr>
        <p:spPr>
          <a:xfrm>
            <a:off x="22829520"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749407310"/>
      </p:ext>
    </p:extLst>
  </p:cSld>
  <p:clrMapOvr>
    <a:masterClrMapping/>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8-up Image">
    <p:spTree>
      <p:nvGrpSpPr>
        <p:cNvPr id="1" name=""/>
        <p:cNvGrpSpPr/>
        <p:nvPr/>
      </p:nvGrpSpPr>
      <p:grpSpPr>
        <a:xfrm>
          <a:off x="0" y="0"/>
          <a:ext cx="0" cy="0"/>
          <a:chOff x="0" y="0"/>
          <a:chExt cx="0" cy="0"/>
        </a:xfrm>
      </p:grpSpPr>
      <p:sp>
        <p:nvSpPr>
          <p:cNvPr id="20" name="Footer Placeholder">
            <a:extLst>
              <a:ext uri="{FF2B5EF4-FFF2-40B4-BE49-F238E27FC236}">
                <a16:creationId xmlns:a16="http://schemas.microsoft.com/office/drawing/2014/main" id="{E20898E1-3C2D-56B3-EB64-8545413A1DC4}"/>
              </a:ext>
            </a:extLst>
          </p:cNvPr>
          <p:cNvSpPr>
            <a:spLocks noGrp="1"/>
          </p:cNvSpPr>
          <p:nvPr>
            <p:ph type="ftr" sz="quarter" idx="44"/>
          </p:nvPr>
        </p:nvSpPr>
        <p:spPr/>
        <p:txBody>
          <a:bodyPr/>
          <a:lstStyle/>
          <a:p>
            <a:pPr>
              <a:lnSpc>
                <a:spcPct val="90000"/>
              </a:lnSpc>
            </a:pPr>
            <a:r>
              <a:rPr lang="en-US"/>
              <a:t>Source information in NVIDIA Sans, medium gray; 20 pt</a:t>
            </a:r>
            <a:endParaRPr lang="en-US" dirty="0"/>
          </a:p>
        </p:txBody>
      </p:sp>
      <p:sp>
        <p:nvSpPr>
          <p:cNvPr id="21" name="Slide Number Placeholder">
            <a:extLst>
              <a:ext uri="{FF2B5EF4-FFF2-40B4-BE49-F238E27FC236}">
                <a16:creationId xmlns:a16="http://schemas.microsoft.com/office/drawing/2014/main" id="{D744ED2D-1CB0-DF46-4299-C65986BE384C}"/>
              </a:ext>
            </a:extLst>
          </p:cNvPr>
          <p:cNvSpPr>
            <a:spLocks noGrp="1"/>
          </p:cNvSpPr>
          <p:nvPr>
            <p:ph type="sldNum" sz="quarter" idx="45"/>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7978D673-0BDB-8A27-A8D7-CE578AEA3CBF}"/>
              </a:ext>
            </a:extLst>
          </p:cNvPr>
          <p:cNvSpPr>
            <a:spLocks noGrp="1"/>
          </p:cNvSpPr>
          <p:nvPr>
            <p:ph type="body" sz="quarter" idx="52" hasCustomPrompt="1"/>
          </p:nvPr>
        </p:nvSpPr>
        <p:spPr>
          <a:xfrm>
            <a:off x="1828800"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1532DC11-96E1-4F5D-35B2-D80108E71F62}"/>
              </a:ext>
            </a:extLst>
          </p:cNvPr>
          <p:cNvSpPr>
            <a:spLocks noGrp="1"/>
          </p:cNvSpPr>
          <p:nvPr>
            <p:ph type="body" sz="quarter" idx="51" hasCustomPrompt="1"/>
          </p:nvPr>
        </p:nvSpPr>
        <p:spPr>
          <a:xfrm>
            <a:off x="1828800"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9E6D5051-4FCC-CB02-0C06-B1F5332FD706}"/>
              </a:ext>
            </a:extLst>
          </p:cNvPr>
          <p:cNvSpPr>
            <a:spLocks noGrp="1" noChangeAspect="1"/>
          </p:cNvSpPr>
          <p:nvPr>
            <p:ph type="pic" sz="quarter" idx="53" hasCustomPrompt="1"/>
          </p:nvPr>
        </p:nvSpPr>
        <p:spPr>
          <a:xfrm>
            <a:off x="1828800"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9" name="Text Placeholder 2">
            <a:extLst>
              <a:ext uri="{FF2B5EF4-FFF2-40B4-BE49-F238E27FC236}">
                <a16:creationId xmlns:a16="http://schemas.microsoft.com/office/drawing/2014/main" id="{E2CDFFA7-9E02-725D-0EDB-D93305C6A6E2}"/>
              </a:ext>
            </a:extLst>
          </p:cNvPr>
          <p:cNvSpPr>
            <a:spLocks noGrp="1"/>
          </p:cNvSpPr>
          <p:nvPr>
            <p:ph type="body" sz="quarter" idx="54" hasCustomPrompt="1"/>
          </p:nvPr>
        </p:nvSpPr>
        <p:spPr>
          <a:xfrm>
            <a:off x="10229723"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2">
            <a:extLst>
              <a:ext uri="{FF2B5EF4-FFF2-40B4-BE49-F238E27FC236}">
                <a16:creationId xmlns:a16="http://schemas.microsoft.com/office/drawing/2014/main" id="{B0CA0F5C-334B-B584-E06F-1E2F109F9AB6}"/>
              </a:ext>
            </a:extLst>
          </p:cNvPr>
          <p:cNvSpPr>
            <a:spLocks noGrp="1"/>
          </p:cNvSpPr>
          <p:nvPr>
            <p:ph type="body" sz="quarter" idx="55" hasCustomPrompt="1"/>
          </p:nvPr>
        </p:nvSpPr>
        <p:spPr>
          <a:xfrm>
            <a:off x="10229723"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2">
            <a:extLst>
              <a:ext uri="{FF2B5EF4-FFF2-40B4-BE49-F238E27FC236}">
                <a16:creationId xmlns:a16="http://schemas.microsoft.com/office/drawing/2014/main" id="{C536FB7D-F1F0-781E-34AB-3F1ABF5CE191}"/>
              </a:ext>
            </a:extLst>
          </p:cNvPr>
          <p:cNvSpPr>
            <a:spLocks noGrp="1" noChangeAspect="1"/>
          </p:cNvSpPr>
          <p:nvPr>
            <p:ph type="pic" sz="quarter" idx="56" hasCustomPrompt="1"/>
          </p:nvPr>
        </p:nvSpPr>
        <p:spPr>
          <a:xfrm>
            <a:off x="10229088"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3">
            <a:extLst>
              <a:ext uri="{FF2B5EF4-FFF2-40B4-BE49-F238E27FC236}">
                <a16:creationId xmlns:a16="http://schemas.microsoft.com/office/drawing/2014/main" id="{E1F4CC7B-C72C-4672-E74C-6D61EC928816}"/>
              </a:ext>
            </a:extLst>
          </p:cNvPr>
          <p:cNvSpPr>
            <a:spLocks noGrp="1"/>
          </p:cNvSpPr>
          <p:nvPr>
            <p:ph type="body" sz="quarter" idx="57" hasCustomPrompt="1"/>
          </p:nvPr>
        </p:nvSpPr>
        <p:spPr>
          <a:xfrm>
            <a:off x="18628848"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3">
            <a:extLst>
              <a:ext uri="{FF2B5EF4-FFF2-40B4-BE49-F238E27FC236}">
                <a16:creationId xmlns:a16="http://schemas.microsoft.com/office/drawing/2014/main" id="{641EC321-A433-3051-F6F8-BF4CB5E94084}"/>
              </a:ext>
            </a:extLst>
          </p:cNvPr>
          <p:cNvSpPr>
            <a:spLocks noGrp="1"/>
          </p:cNvSpPr>
          <p:nvPr>
            <p:ph type="body" sz="quarter" idx="58" hasCustomPrompt="1"/>
          </p:nvPr>
        </p:nvSpPr>
        <p:spPr>
          <a:xfrm>
            <a:off x="18628848"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3">
            <a:extLst>
              <a:ext uri="{FF2B5EF4-FFF2-40B4-BE49-F238E27FC236}">
                <a16:creationId xmlns:a16="http://schemas.microsoft.com/office/drawing/2014/main" id="{DED3346E-BCE7-4488-337D-3A6A02329800}"/>
              </a:ext>
            </a:extLst>
          </p:cNvPr>
          <p:cNvSpPr>
            <a:spLocks noGrp="1" noChangeAspect="1"/>
          </p:cNvSpPr>
          <p:nvPr>
            <p:ph type="pic" sz="quarter" idx="59" hasCustomPrompt="1"/>
          </p:nvPr>
        </p:nvSpPr>
        <p:spPr>
          <a:xfrm>
            <a:off x="18629376"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4">
            <a:extLst>
              <a:ext uri="{FF2B5EF4-FFF2-40B4-BE49-F238E27FC236}">
                <a16:creationId xmlns:a16="http://schemas.microsoft.com/office/drawing/2014/main" id="{9AF78149-262D-6518-1A2F-47D582DC9B5A}"/>
              </a:ext>
            </a:extLst>
          </p:cNvPr>
          <p:cNvSpPr>
            <a:spLocks noGrp="1"/>
          </p:cNvSpPr>
          <p:nvPr>
            <p:ph type="body" sz="quarter" idx="60" hasCustomPrompt="1"/>
          </p:nvPr>
        </p:nvSpPr>
        <p:spPr>
          <a:xfrm>
            <a:off x="27029351" y="11006648"/>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4">
            <a:extLst>
              <a:ext uri="{FF2B5EF4-FFF2-40B4-BE49-F238E27FC236}">
                <a16:creationId xmlns:a16="http://schemas.microsoft.com/office/drawing/2014/main" id="{1AD5F046-F946-28E3-7E59-15789CD85452}"/>
              </a:ext>
            </a:extLst>
          </p:cNvPr>
          <p:cNvSpPr>
            <a:spLocks noGrp="1"/>
          </p:cNvSpPr>
          <p:nvPr>
            <p:ph type="body" sz="quarter" idx="61" hasCustomPrompt="1"/>
          </p:nvPr>
        </p:nvSpPr>
        <p:spPr>
          <a:xfrm>
            <a:off x="27029351" y="10381469"/>
            <a:ext cx="7718170"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4">
            <a:extLst>
              <a:ext uri="{FF2B5EF4-FFF2-40B4-BE49-F238E27FC236}">
                <a16:creationId xmlns:a16="http://schemas.microsoft.com/office/drawing/2014/main" id="{148034F7-3860-40F0-3BFE-91AD4D05A0F8}"/>
              </a:ext>
            </a:extLst>
          </p:cNvPr>
          <p:cNvSpPr>
            <a:spLocks noGrp="1" noChangeAspect="1"/>
          </p:cNvSpPr>
          <p:nvPr>
            <p:ph type="pic" sz="quarter" idx="62" hasCustomPrompt="1"/>
          </p:nvPr>
        </p:nvSpPr>
        <p:spPr>
          <a:xfrm>
            <a:off x="2702966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6" name="Text Placeholder 5">
            <a:extLst>
              <a:ext uri="{FF2B5EF4-FFF2-40B4-BE49-F238E27FC236}">
                <a16:creationId xmlns:a16="http://schemas.microsoft.com/office/drawing/2014/main" id="{F7E32F74-3796-25BA-BB04-53971CE7834A}"/>
              </a:ext>
            </a:extLst>
          </p:cNvPr>
          <p:cNvSpPr>
            <a:spLocks noGrp="1"/>
          </p:cNvSpPr>
          <p:nvPr>
            <p:ph type="body" sz="quarter" idx="63" hasCustomPrompt="1"/>
          </p:nvPr>
        </p:nvSpPr>
        <p:spPr>
          <a:xfrm>
            <a:off x="1828165"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3" name="Image Text Placeholder 5">
            <a:extLst>
              <a:ext uri="{FF2B5EF4-FFF2-40B4-BE49-F238E27FC236}">
                <a16:creationId xmlns:a16="http://schemas.microsoft.com/office/drawing/2014/main" id="{AC0EEF07-6B9F-F5FC-B330-CB47B5A55A5E}"/>
              </a:ext>
            </a:extLst>
          </p:cNvPr>
          <p:cNvSpPr>
            <a:spLocks noGrp="1"/>
          </p:cNvSpPr>
          <p:nvPr>
            <p:ph type="body" sz="quarter" idx="64" hasCustomPrompt="1"/>
          </p:nvPr>
        </p:nvSpPr>
        <p:spPr>
          <a:xfrm>
            <a:off x="1828165"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44" name="Picture Placeholder 5">
            <a:extLst>
              <a:ext uri="{FF2B5EF4-FFF2-40B4-BE49-F238E27FC236}">
                <a16:creationId xmlns:a16="http://schemas.microsoft.com/office/drawing/2014/main" id="{AEF5DC33-5308-239C-B13F-2AA57684D6B9}"/>
              </a:ext>
            </a:extLst>
          </p:cNvPr>
          <p:cNvSpPr>
            <a:spLocks noGrp="1" noChangeAspect="1"/>
          </p:cNvSpPr>
          <p:nvPr>
            <p:ph type="pic" sz="quarter" idx="65" hasCustomPrompt="1"/>
          </p:nvPr>
        </p:nvSpPr>
        <p:spPr>
          <a:xfrm>
            <a:off x="18281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5" name="Text Placeholder 6">
            <a:extLst>
              <a:ext uri="{FF2B5EF4-FFF2-40B4-BE49-F238E27FC236}">
                <a16:creationId xmlns:a16="http://schemas.microsoft.com/office/drawing/2014/main" id="{8B41D1B9-66C7-13BB-2E1F-CD69E9131E1C}"/>
              </a:ext>
            </a:extLst>
          </p:cNvPr>
          <p:cNvSpPr>
            <a:spLocks noGrp="1"/>
          </p:cNvSpPr>
          <p:nvPr>
            <p:ph type="body" sz="quarter" idx="66" hasCustomPrompt="1"/>
          </p:nvPr>
        </p:nvSpPr>
        <p:spPr>
          <a:xfrm>
            <a:off x="10228665"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6" name="Image Text Placeholder 6">
            <a:extLst>
              <a:ext uri="{FF2B5EF4-FFF2-40B4-BE49-F238E27FC236}">
                <a16:creationId xmlns:a16="http://schemas.microsoft.com/office/drawing/2014/main" id="{C5498CBA-E497-16C1-742F-C3C26EC95DB1}"/>
              </a:ext>
            </a:extLst>
          </p:cNvPr>
          <p:cNvSpPr>
            <a:spLocks noGrp="1"/>
          </p:cNvSpPr>
          <p:nvPr>
            <p:ph type="body" sz="quarter" idx="67" hasCustomPrompt="1"/>
          </p:nvPr>
        </p:nvSpPr>
        <p:spPr>
          <a:xfrm>
            <a:off x="10228665"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47" name="Picture Placeholder 6">
            <a:extLst>
              <a:ext uri="{FF2B5EF4-FFF2-40B4-BE49-F238E27FC236}">
                <a16:creationId xmlns:a16="http://schemas.microsoft.com/office/drawing/2014/main" id="{213EF361-63C9-84EA-0E58-4BC930EB7A36}"/>
              </a:ext>
            </a:extLst>
          </p:cNvPr>
          <p:cNvSpPr>
            <a:spLocks noGrp="1" noChangeAspect="1"/>
          </p:cNvSpPr>
          <p:nvPr>
            <p:ph type="pic" sz="quarter" idx="68" hasCustomPrompt="1"/>
          </p:nvPr>
        </p:nvSpPr>
        <p:spPr>
          <a:xfrm>
            <a:off x="102286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8" name="Text Placeholder 7">
            <a:extLst>
              <a:ext uri="{FF2B5EF4-FFF2-40B4-BE49-F238E27FC236}">
                <a16:creationId xmlns:a16="http://schemas.microsoft.com/office/drawing/2014/main" id="{3B075A3F-076B-6F14-D6D7-7BB067058D1B}"/>
              </a:ext>
            </a:extLst>
          </p:cNvPr>
          <p:cNvSpPr>
            <a:spLocks noGrp="1"/>
          </p:cNvSpPr>
          <p:nvPr>
            <p:ph type="body" sz="quarter" idx="69" hasCustomPrompt="1"/>
          </p:nvPr>
        </p:nvSpPr>
        <p:spPr>
          <a:xfrm>
            <a:off x="18629164"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9" name="Image Text Placeholder 7">
            <a:extLst>
              <a:ext uri="{FF2B5EF4-FFF2-40B4-BE49-F238E27FC236}">
                <a16:creationId xmlns:a16="http://schemas.microsoft.com/office/drawing/2014/main" id="{5AE371D2-9890-D27E-0C89-F23BED97E6B3}"/>
              </a:ext>
            </a:extLst>
          </p:cNvPr>
          <p:cNvSpPr>
            <a:spLocks noGrp="1"/>
          </p:cNvSpPr>
          <p:nvPr>
            <p:ph type="body" sz="quarter" idx="70" hasCustomPrompt="1"/>
          </p:nvPr>
        </p:nvSpPr>
        <p:spPr>
          <a:xfrm>
            <a:off x="18629164"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50" name="Picture Placeholder 7">
            <a:extLst>
              <a:ext uri="{FF2B5EF4-FFF2-40B4-BE49-F238E27FC236}">
                <a16:creationId xmlns:a16="http://schemas.microsoft.com/office/drawing/2014/main" id="{F2777701-1439-D1A7-FE1A-91F9E6F53389}"/>
              </a:ext>
            </a:extLst>
          </p:cNvPr>
          <p:cNvSpPr>
            <a:spLocks noGrp="1" noChangeAspect="1"/>
          </p:cNvSpPr>
          <p:nvPr>
            <p:ph type="pic" sz="quarter" idx="71" hasCustomPrompt="1"/>
          </p:nvPr>
        </p:nvSpPr>
        <p:spPr>
          <a:xfrm>
            <a:off x="186291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1" name="Text Placeholder 8">
            <a:extLst>
              <a:ext uri="{FF2B5EF4-FFF2-40B4-BE49-F238E27FC236}">
                <a16:creationId xmlns:a16="http://schemas.microsoft.com/office/drawing/2014/main" id="{E3611A72-8635-0768-FE24-C8BE5A068040}"/>
              </a:ext>
            </a:extLst>
          </p:cNvPr>
          <p:cNvSpPr>
            <a:spLocks noGrp="1"/>
          </p:cNvSpPr>
          <p:nvPr>
            <p:ph type="body" sz="quarter" idx="72" hasCustomPrompt="1"/>
          </p:nvPr>
        </p:nvSpPr>
        <p:spPr>
          <a:xfrm>
            <a:off x="27029664" y="17350073"/>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2" name="Image Text Placeholder 8">
            <a:extLst>
              <a:ext uri="{FF2B5EF4-FFF2-40B4-BE49-F238E27FC236}">
                <a16:creationId xmlns:a16="http://schemas.microsoft.com/office/drawing/2014/main" id="{15F22903-F879-146C-D653-1C953D51F1D7}"/>
              </a:ext>
            </a:extLst>
          </p:cNvPr>
          <p:cNvSpPr>
            <a:spLocks noGrp="1"/>
          </p:cNvSpPr>
          <p:nvPr>
            <p:ph type="body" sz="quarter" idx="73" hasCustomPrompt="1"/>
          </p:nvPr>
        </p:nvSpPr>
        <p:spPr>
          <a:xfrm>
            <a:off x="27029664" y="16724037"/>
            <a:ext cx="7718171" cy="585216"/>
          </a:xfrm>
        </p:spPr>
        <p:txBody>
          <a:bodyPr/>
          <a:lstStyle>
            <a:lvl1pPr algn="ctr">
              <a:spcBef>
                <a:spcPts val="0"/>
              </a:spcBef>
              <a:defRPr sz="4000">
                <a:latin typeface="+mj-lt"/>
              </a:defRPr>
            </a:lvl1pPr>
          </a:lstStyle>
          <a:p>
            <a:pPr lvl="0"/>
            <a:r>
              <a:rPr lang="en-US" dirty="0"/>
              <a:t>Click to Edit Image Title</a:t>
            </a:r>
          </a:p>
        </p:txBody>
      </p:sp>
      <p:sp>
        <p:nvSpPr>
          <p:cNvPr id="53" name="Picture Placeholder 8">
            <a:extLst>
              <a:ext uri="{FF2B5EF4-FFF2-40B4-BE49-F238E27FC236}">
                <a16:creationId xmlns:a16="http://schemas.microsoft.com/office/drawing/2014/main" id="{C9A3B76A-47E4-4BBA-C00F-A605F3B99E75}"/>
              </a:ext>
            </a:extLst>
          </p:cNvPr>
          <p:cNvSpPr>
            <a:spLocks noGrp="1" noChangeAspect="1"/>
          </p:cNvSpPr>
          <p:nvPr>
            <p:ph type="pic" sz="quarter" idx="74" hasCustomPrompt="1"/>
          </p:nvPr>
        </p:nvSpPr>
        <p:spPr>
          <a:xfrm>
            <a:off x="2702966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595396480"/>
      </p:ext>
    </p:extLst>
  </p:cSld>
  <p:clrMapOvr>
    <a:masterClrMapping/>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9-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D6F3B741-4BA7-CA11-FB9A-C2A65AC3C33F}"/>
              </a:ext>
            </a:extLst>
          </p:cNvPr>
          <p:cNvSpPr>
            <a:spLocks noGrp="1"/>
          </p:cNvSpPr>
          <p:nvPr>
            <p:ph type="ftr" sz="quarter" idx="47"/>
          </p:nvPr>
        </p:nvSpPr>
        <p:spPr/>
        <p:txBody>
          <a:bodyPr/>
          <a:lstStyle/>
          <a:p>
            <a:pPr>
              <a:lnSpc>
                <a:spcPct val="90000"/>
              </a:lnSpc>
            </a:pPr>
            <a:r>
              <a:rPr lang="en-US"/>
              <a:t>Source information in NVIDIA Sans, medium gray; 20 pt</a:t>
            </a:r>
            <a:endParaRPr lang="en-US" dirty="0"/>
          </a:p>
        </p:txBody>
      </p:sp>
      <p:sp>
        <p:nvSpPr>
          <p:cNvPr id="9" name="Slide Number">
            <a:extLst>
              <a:ext uri="{FF2B5EF4-FFF2-40B4-BE49-F238E27FC236}">
                <a16:creationId xmlns:a16="http://schemas.microsoft.com/office/drawing/2014/main" id="{9B6C075D-B159-7804-C8F7-7176810B5084}"/>
              </a:ext>
            </a:extLst>
          </p:cNvPr>
          <p:cNvSpPr>
            <a:spLocks noGrp="1"/>
          </p:cNvSpPr>
          <p:nvPr>
            <p:ph type="sldNum" sz="quarter" idx="48"/>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B0131B47-B5B7-F148-4002-DAA1E5650ED4}"/>
              </a:ext>
            </a:extLst>
          </p:cNvPr>
          <p:cNvSpPr>
            <a:spLocks noGrp="1"/>
          </p:cNvSpPr>
          <p:nvPr>
            <p:ph type="body" sz="quarter" idx="52" hasCustomPrompt="1"/>
          </p:nvPr>
        </p:nvSpPr>
        <p:spPr>
          <a:xfrm>
            <a:off x="182880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C28ABF7D-29F2-B0CE-ED9F-DA065CC298BA}"/>
              </a:ext>
            </a:extLst>
          </p:cNvPr>
          <p:cNvSpPr>
            <a:spLocks noGrp="1"/>
          </p:cNvSpPr>
          <p:nvPr>
            <p:ph type="body" sz="quarter" idx="51" hasCustomPrompt="1"/>
          </p:nvPr>
        </p:nvSpPr>
        <p:spPr>
          <a:xfrm>
            <a:off x="182880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EF7AEB09-C474-CC1F-2F31-49DF258D068D}"/>
              </a:ext>
            </a:extLst>
          </p:cNvPr>
          <p:cNvSpPr>
            <a:spLocks noGrp="1" noChangeAspect="1"/>
          </p:cNvSpPr>
          <p:nvPr>
            <p:ph type="pic" sz="quarter" idx="18" hasCustomPrompt="1"/>
          </p:nvPr>
        </p:nvSpPr>
        <p:spPr>
          <a:xfrm>
            <a:off x="182880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CE648B61-48E8-01D9-A502-3E3367EC1737}"/>
              </a:ext>
            </a:extLst>
          </p:cNvPr>
          <p:cNvSpPr>
            <a:spLocks noGrp="1"/>
          </p:cNvSpPr>
          <p:nvPr>
            <p:ph type="body" sz="quarter" idx="54" hasCustomPrompt="1"/>
          </p:nvPr>
        </p:nvSpPr>
        <p:spPr>
          <a:xfrm>
            <a:off x="8549005"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0" name="Image Text Placeholder 2">
            <a:extLst>
              <a:ext uri="{FF2B5EF4-FFF2-40B4-BE49-F238E27FC236}">
                <a16:creationId xmlns:a16="http://schemas.microsoft.com/office/drawing/2014/main" id="{8F5F26B8-D130-D082-2689-D29B52860340}"/>
              </a:ext>
            </a:extLst>
          </p:cNvPr>
          <p:cNvSpPr>
            <a:spLocks noGrp="1"/>
          </p:cNvSpPr>
          <p:nvPr>
            <p:ph type="body" sz="quarter" idx="55" hasCustomPrompt="1"/>
          </p:nvPr>
        </p:nvSpPr>
        <p:spPr>
          <a:xfrm>
            <a:off x="8549005"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EE9B78BB-2018-F789-2158-46DB09119372}"/>
              </a:ext>
            </a:extLst>
          </p:cNvPr>
          <p:cNvSpPr>
            <a:spLocks noGrp="1" noChangeAspect="1"/>
          </p:cNvSpPr>
          <p:nvPr>
            <p:ph type="pic" sz="quarter" idx="53" hasCustomPrompt="1"/>
          </p:nvPr>
        </p:nvSpPr>
        <p:spPr>
          <a:xfrm>
            <a:off x="8549639"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2" name="Text Placeholder 3">
            <a:extLst>
              <a:ext uri="{FF2B5EF4-FFF2-40B4-BE49-F238E27FC236}">
                <a16:creationId xmlns:a16="http://schemas.microsoft.com/office/drawing/2014/main" id="{ED95C055-507D-5FF5-F328-389CA07DE9F4}"/>
              </a:ext>
            </a:extLst>
          </p:cNvPr>
          <p:cNvSpPr>
            <a:spLocks noGrp="1"/>
          </p:cNvSpPr>
          <p:nvPr>
            <p:ph type="body" sz="quarter" idx="56" hasCustomPrompt="1"/>
          </p:nvPr>
        </p:nvSpPr>
        <p:spPr>
          <a:xfrm>
            <a:off x="1527048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3">
            <a:extLst>
              <a:ext uri="{FF2B5EF4-FFF2-40B4-BE49-F238E27FC236}">
                <a16:creationId xmlns:a16="http://schemas.microsoft.com/office/drawing/2014/main" id="{41777126-549B-A339-2679-A2A046510D09}"/>
              </a:ext>
            </a:extLst>
          </p:cNvPr>
          <p:cNvSpPr>
            <a:spLocks noGrp="1"/>
          </p:cNvSpPr>
          <p:nvPr>
            <p:ph type="body" sz="quarter" idx="57" hasCustomPrompt="1"/>
          </p:nvPr>
        </p:nvSpPr>
        <p:spPr>
          <a:xfrm>
            <a:off x="1527048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3">
            <a:extLst>
              <a:ext uri="{FF2B5EF4-FFF2-40B4-BE49-F238E27FC236}">
                <a16:creationId xmlns:a16="http://schemas.microsoft.com/office/drawing/2014/main" id="{76135777-EFA0-9BD8-210B-552D97D43DD2}"/>
              </a:ext>
            </a:extLst>
          </p:cNvPr>
          <p:cNvSpPr>
            <a:spLocks noGrp="1" noChangeAspect="1"/>
          </p:cNvSpPr>
          <p:nvPr>
            <p:ph type="pic" sz="quarter" idx="58" hasCustomPrompt="1"/>
          </p:nvPr>
        </p:nvSpPr>
        <p:spPr>
          <a:xfrm>
            <a:off x="15270478"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4">
            <a:extLst>
              <a:ext uri="{FF2B5EF4-FFF2-40B4-BE49-F238E27FC236}">
                <a16:creationId xmlns:a16="http://schemas.microsoft.com/office/drawing/2014/main" id="{95D2C89D-8974-CC88-56D5-D4BD01270335}"/>
              </a:ext>
            </a:extLst>
          </p:cNvPr>
          <p:cNvSpPr>
            <a:spLocks noGrp="1"/>
          </p:cNvSpPr>
          <p:nvPr>
            <p:ph type="body" sz="quarter" idx="59" hasCustomPrompt="1"/>
          </p:nvPr>
        </p:nvSpPr>
        <p:spPr>
          <a:xfrm>
            <a:off x="21990686"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4">
            <a:extLst>
              <a:ext uri="{FF2B5EF4-FFF2-40B4-BE49-F238E27FC236}">
                <a16:creationId xmlns:a16="http://schemas.microsoft.com/office/drawing/2014/main" id="{635F3C2A-EFEC-FA7C-C6D2-B28E72D1C6CE}"/>
              </a:ext>
            </a:extLst>
          </p:cNvPr>
          <p:cNvSpPr>
            <a:spLocks noGrp="1"/>
          </p:cNvSpPr>
          <p:nvPr>
            <p:ph type="body" sz="quarter" idx="60" hasCustomPrompt="1"/>
          </p:nvPr>
        </p:nvSpPr>
        <p:spPr>
          <a:xfrm>
            <a:off x="21990686"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4">
            <a:extLst>
              <a:ext uri="{FF2B5EF4-FFF2-40B4-BE49-F238E27FC236}">
                <a16:creationId xmlns:a16="http://schemas.microsoft.com/office/drawing/2014/main" id="{BBF0B83C-1493-7A37-3CF6-731E6F6E6A62}"/>
              </a:ext>
            </a:extLst>
          </p:cNvPr>
          <p:cNvSpPr>
            <a:spLocks noGrp="1" noChangeAspect="1"/>
          </p:cNvSpPr>
          <p:nvPr>
            <p:ph type="pic" sz="quarter" idx="61" hasCustomPrompt="1"/>
          </p:nvPr>
        </p:nvSpPr>
        <p:spPr>
          <a:xfrm>
            <a:off x="21991317"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5">
            <a:extLst>
              <a:ext uri="{FF2B5EF4-FFF2-40B4-BE49-F238E27FC236}">
                <a16:creationId xmlns:a16="http://schemas.microsoft.com/office/drawing/2014/main" id="{D0BCB15C-5A68-FE62-7189-812C1AFDDAE2}"/>
              </a:ext>
            </a:extLst>
          </p:cNvPr>
          <p:cNvSpPr>
            <a:spLocks noGrp="1"/>
          </p:cNvSpPr>
          <p:nvPr>
            <p:ph type="body" sz="quarter" idx="62" hasCustomPrompt="1"/>
          </p:nvPr>
        </p:nvSpPr>
        <p:spPr>
          <a:xfrm>
            <a:off x="2871216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5">
            <a:extLst>
              <a:ext uri="{FF2B5EF4-FFF2-40B4-BE49-F238E27FC236}">
                <a16:creationId xmlns:a16="http://schemas.microsoft.com/office/drawing/2014/main" id="{BBAA1C0A-15A8-D7A5-8438-1586FF72B38B}"/>
              </a:ext>
            </a:extLst>
          </p:cNvPr>
          <p:cNvSpPr>
            <a:spLocks noGrp="1"/>
          </p:cNvSpPr>
          <p:nvPr>
            <p:ph type="body" sz="quarter" idx="63" hasCustomPrompt="1"/>
          </p:nvPr>
        </p:nvSpPr>
        <p:spPr>
          <a:xfrm>
            <a:off x="2871216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5">
            <a:extLst>
              <a:ext uri="{FF2B5EF4-FFF2-40B4-BE49-F238E27FC236}">
                <a16:creationId xmlns:a16="http://schemas.microsoft.com/office/drawing/2014/main" id="{54DF6266-8BCE-586C-72A7-55A96425A734}"/>
              </a:ext>
            </a:extLst>
          </p:cNvPr>
          <p:cNvSpPr>
            <a:spLocks noGrp="1" noChangeAspect="1"/>
          </p:cNvSpPr>
          <p:nvPr>
            <p:ph type="pic" sz="quarter" idx="64" hasCustomPrompt="1"/>
          </p:nvPr>
        </p:nvSpPr>
        <p:spPr>
          <a:xfrm>
            <a:off x="2871216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6">
            <a:extLst>
              <a:ext uri="{FF2B5EF4-FFF2-40B4-BE49-F238E27FC236}">
                <a16:creationId xmlns:a16="http://schemas.microsoft.com/office/drawing/2014/main" id="{C66E5329-4388-E232-62F0-6321508ED4A3}"/>
              </a:ext>
            </a:extLst>
          </p:cNvPr>
          <p:cNvSpPr>
            <a:spLocks noGrp="1"/>
          </p:cNvSpPr>
          <p:nvPr>
            <p:ph type="body" sz="quarter" idx="65" hasCustomPrompt="1"/>
          </p:nvPr>
        </p:nvSpPr>
        <p:spPr>
          <a:xfrm>
            <a:off x="5188902"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6">
            <a:extLst>
              <a:ext uri="{FF2B5EF4-FFF2-40B4-BE49-F238E27FC236}">
                <a16:creationId xmlns:a16="http://schemas.microsoft.com/office/drawing/2014/main" id="{C8C7CD6C-8D24-F322-0F0C-F048846B1B0D}"/>
              </a:ext>
            </a:extLst>
          </p:cNvPr>
          <p:cNvSpPr>
            <a:spLocks noGrp="1"/>
          </p:cNvSpPr>
          <p:nvPr>
            <p:ph type="body" sz="quarter" idx="66" hasCustomPrompt="1"/>
          </p:nvPr>
        </p:nvSpPr>
        <p:spPr>
          <a:xfrm>
            <a:off x="5188902"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6">
            <a:extLst>
              <a:ext uri="{FF2B5EF4-FFF2-40B4-BE49-F238E27FC236}">
                <a16:creationId xmlns:a16="http://schemas.microsoft.com/office/drawing/2014/main" id="{82987E90-FC5A-5018-2FE1-CA06551E8D25}"/>
              </a:ext>
            </a:extLst>
          </p:cNvPr>
          <p:cNvSpPr>
            <a:spLocks noGrp="1" noChangeAspect="1"/>
          </p:cNvSpPr>
          <p:nvPr>
            <p:ph type="pic" sz="quarter" idx="67" hasCustomPrompt="1"/>
          </p:nvPr>
        </p:nvSpPr>
        <p:spPr>
          <a:xfrm>
            <a:off x="518922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7">
            <a:extLst>
              <a:ext uri="{FF2B5EF4-FFF2-40B4-BE49-F238E27FC236}">
                <a16:creationId xmlns:a16="http://schemas.microsoft.com/office/drawing/2014/main" id="{EA58AAC9-BDA0-4352-363F-2C4B20AC270C}"/>
              </a:ext>
            </a:extLst>
          </p:cNvPr>
          <p:cNvSpPr>
            <a:spLocks noGrp="1"/>
          </p:cNvSpPr>
          <p:nvPr>
            <p:ph type="body" sz="quarter" idx="68" hasCustomPrompt="1"/>
          </p:nvPr>
        </p:nvSpPr>
        <p:spPr>
          <a:xfrm>
            <a:off x="11909741"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7">
            <a:extLst>
              <a:ext uri="{FF2B5EF4-FFF2-40B4-BE49-F238E27FC236}">
                <a16:creationId xmlns:a16="http://schemas.microsoft.com/office/drawing/2014/main" id="{416F6586-0240-36B8-9B04-583616DB2AFF}"/>
              </a:ext>
            </a:extLst>
          </p:cNvPr>
          <p:cNvSpPr>
            <a:spLocks noGrp="1"/>
          </p:cNvSpPr>
          <p:nvPr>
            <p:ph type="body" sz="quarter" idx="69" hasCustomPrompt="1"/>
          </p:nvPr>
        </p:nvSpPr>
        <p:spPr>
          <a:xfrm>
            <a:off x="11909741"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7">
            <a:extLst>
              <a:ext uri="{FF2B5EF4-FFF2-40B4-BE49-F238E27FC236}">
                <a16:creationId xmlns:a16="http://schemas.microsoft.com/office/drawing/2014/main" id="{9C92ADFF-6064-8070-CF54-2062716EC50B}"/>
              </a:ext>
            </a:extLst>
          </p:cNvPr>
          <p:cNvSpPr>
            <a:spLocks noGrp="1" noChangeAspect="1"/>
          </p:cNvSpPr>
          <p:nvPr>
            <p:ph type="pic" sz="quarter" idx="70" hasCustomPrompt="1"/>
          </p:nvPr>
        </p:nvSpPr>
        <p:spPr>
          <a:xfrm>
            <a:off x="1191006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8">
            <a:extLst>
              <a:ext uri="{FF2B5EF4-FFF2-40B4-BE49-F238E27FC236}">
                <a16:creationId xmlns:a16="http://schemas.microsoft.com/office/drawing/2014/main" id="{BCDD1216-1AB2-3445-C1F2-C6212232509D}"/>
              </a:ext>
            </a:extLst>
          </p:cNvPr>
          <p:cNvSpPr>
            <a:spLocks noGrp="1"/>
          </p:cNvSpPr>
          <p:nvPr>
            <p:ph type="body" sz="quarter" idx="71" hasCustomPrompt="1"/>
          </p:nvPr>
        </p:nvSpPr>
        <p:spPr>
          <a:xfrm>
            <a:off x="1863058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8">
            <a:extLst>
              <a:ext uri="{FF2B5EF4-FFF2-40B4-BE49-F238E27FC236}">
                <a16:creationId xmlns:a16="http://schemas.microsoft.com/office/drawing/2014/main" id="{7DDF0955-0E96-8C32-2EA7-67141F5F86CB}"/>
              </a:ext>
            </a:extLst>
          </p:cNvPr>
          <p:cNvSpPr>
            <a:spLocks noGrp="1"/>
          </p:cNvSpPr>
          <p:nvPr>
            <p:ph type="body" sz="quarter" idx="72" hasCustomPrompt="1"/>
          </p:nvPr>
        </p:nvSpPr>
        <p:spPr>
          <a:xfrm>
            <a:off x="1863058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8">
            <a:extLst>
              <a:ext uri="{FF2B5EF4-FFF2-40B4-BE49-F238E27FC236}">
                <a16:creationId xmlns:a16="http://schemas.microsoft.com/office/drawing/2014/main" id="{345C2C78-DA02-9F5C-15A6-E68CD36D0C74}"/>
              </a:ext>
            </a:extLst>
          </p:cNvPr>
          <p:cNvSpPr>
            <a:spLocks noGrp="1" noChangeAspect="1"/>
          </p:cNvSpPr>
          <p:nvPr>
            <p:ph type="pic" sz="quarter" idx="73" hasCustomPrompt="1"/>
          </p:nvPr>
        </p:nvSpPr>
        <p:spPr>
          <a:xfrm>
            <a:off x="1863090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9">
            <a:extLst>
              <a:ext uri="{FF2B5EF4-FFF2-40B4-BE49-F238E27FC236}">
                <a16:creationId xmlns:a16="http://schemas.microsoft.com/office/drawing/2014/main" id="{7A1BDC1E-1B14-3737-389C-3D1609D760B9}"/>
              </a:ext>
            </a:extLst>
          </p:cNvPr>
          <p:cNvSpPr>
            <a:spLocks noGrp="1"/>
          </p:cNvSpPr>
          <p:nvPr>
            <p:ph type="body" sz="quarter" idx="74" hasCustomPrompt="1"/>
          </p:nvPr>
        </p:nvSpPr>
        <p:spPr>
          <a:xfrm>
            <a:off x="25351419"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9">
            <a:extLst>
              <a:ext uri="{FF2B5EF4-FFF2-40B4-BE49-F238E27FC236}">
                <a16:creationId xmlns:a16="http://schemas.microsoft.com/office/drawing/2014/main" id="{57FFD21B-106E-D0F6-6084-C07EBEE9CB81}"/>
              </a:ext>
            </a:extLst>
          </p:cNvPr>
          <p:cNvSpPr>
            <a:spLocks noGrp="1"/>
          </p:cNvSpPr>
          <p:nvPr>
            <p:ph type="body" sz="quarter" idx="75" hasCustomPrompt="1"/>
          </p:nvPr>
        </p:nvSpPr>
        <p:spPr>
          <a:xfrm>
            <a:off x="25351419"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9">
            <a:extLst>
              <a:ext uri="{FF2B5EF4-FFF2-40B4-BE49-F238E27FC236}">
                <a16:creationId xmlns:a16="http://schemas.microsoft.com/office/drawing/2014/main" id="{F4798C5A-7E62-4B47-5ACD-F9CF8E66C7EB}"/>
              </a:ext>
            </a:extLst>
          </p:cNvPr>
          <p:cNvSpPr>
            <a:spLocks noGrp="1" noChangeAspect="1"/>
          </p:cNvSpPr>
          <p:nvPr>
            <p:ph type="pic" sz="quarter" idx="76" hasCustomPrompt="1"/>
          </p:nvPr>
        </p:nvSpPr>
        <p:spPr>
          <a:xfrm>
            <a:off x="2535174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306374153"/>
      </p:ext>
    </p:extLst>
  </p:cSld>
  <p:clrMapOvr>
    <a:masterClrMapping/>
  </p:clrMapOvr>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0-up Image">
    <p:spTree>
      <p:nvGrpSpPr>
        <p:cNvPr id="1" name=""/>
        <p:cNvGrpSpPr/>
        <p:nvPr/>
      </p:nvGrpSpPr>
      <p:grpSpPr>
        <a:xfrm>
          <a:off x="0" y="0"/>
          <a:ext cx="0" cy="0"/>
          <a:chOff x="0" y="0"/>
          <a:chExt cx="0" cy="0"/>
        </a:xfrm>
      </p:grpSpPr>
      <p:sp>
        <p:nvSpPr>
          <p:cNvPr id="20" name="Footer Placeholder">
            <a:extLst>
              <a:ext uri="{FF2B5EF4-FFF2-40B4-BE49-F238E27FC236}">
                <a16:creationId xmlns:a16="http://schemas.microsoft.com/office/drawing/2014/main" id="{C42F0877-E0D9-ACDF-6AC8-31F04A799FCA}"/>
              </a:ext>
            </a:extLst>
          </p:cNvPr>
          <p:cNvSpPr>
            <a:spLocks noGrp="1"/>
          </p:cNvSpPr>
          <p:nvPr>
            <p:ph type="ftr" sz="quarter" idx="50"/>
          </p:nvPr>
        </p:nvSpPr>
        <p:spPr/>
        <p:txBody>
          <a:bodyPr/>
          <a:lstStyle/>
          <a:p>
            <a:pPr>
              <a:lnSpc>
                <a:spcPct val="90000"/>
              </a:lnSpc>
            </a:pPr>
            <a:r>
              <a:rPr lang="en-US"/>
              <a:t>Source information in NVIDIA Sans, medium gray; 20 pt</a:t>
            </a:r>
            <a:endParaRPr lang="en-US" dirty="0"/>
          </a:p>
        </p:txBody>
      </p:sp>
      <p:sp>
        <p:nvSpPr>
          <p:cNvPr id="30" name="Slide Number Placeholder">
            <a:extLst>
              <a:ext uri="{FF2B5EF4-FFF2-40B4-BE49-F238E27FC236}">
                <a16:creationId xmlns:a16="http://schemas.microsoft.com/office/drawing/2014/main" id="{05F8B37A-9AE1-01F7-40F2-93080E37DBC2}"/>
              </a:ext>
            </a:extLst>
          </p:cNvPr>
          <p:cNvSpPr>
            <a:spLocks noGrp="1"/>
          </p:cNvSpPr>
          <p:nvPr>
            <p:ph type="sldNum" sz="quarter" idx="51"/>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5541D50E-AD73-9B43-6942-5D3896418D19}"/>
              </a:ext>
            </a:extLst>
          </p:cNvPr>
          <p:cNvSpPr>
            <a:spLocks noGrp="1"/>
          </p:cNvSpPr>
          <p:nvPr>
            <p:ph type="body" sz="quarter" idx="52" hasCustomPrompt="1"/>
          </p:nvPr>
        </p:nvSpPr>
        <p:spPr>
          <a:xfrm>
            <a:off x="182880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0A8DB497-AE6A-0DF8-9C97-FC43C5D2770C}"/>
              </a:ext>
            </a:extLst>
          </p:cNvPr>
          <p:cNvSpPr>
            <a:spLocks noGrp="1"/>
          </p:cNvSpPr>
          <p:nvPr>
            <p:ph type="body" sz="quarter" idx="53" hasCustomPrompt="1"/>
          </p:nvPr>
        </p:nvSpPr>
        <p:spPr>
          <a:xfrm>
            <a:off x="182880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58D13341-F599-599A-5F0F-2EF6A1BED6F5}"/>
              </a:ext>
            </a:extLst>
          </p:cNvPr>
          <p:cNvSpPr>
            <a:spLocks noGrp="1" noChangeAspect="1"/>
          </p:cNvSpPr>
          <p:nvPr>
            <p:ph type="pic" sz="quarter" idx="18" hasCustomPrompt="1"/>
          </p:nvPr>
        </p:nvSpPr>
        <p:spPr>
          <a:xfrm>
            <a:off x="182880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9" name="Text Placeholder 2">
            <a:extLst>
              <a:ext uri="{FF2B5EF4-FFF2-40B4-BE49-F238E27FC236}">
                <a16:creationId xmlns:a16="http://schemas.microsoft.com/office/drawing/2014/main" id="{A6B8157A-B098-20EA-AFC9-9B4CC65D4D5F}"/>
              </a:ext>
            </a:extLst>
          </p:cNvPr>
          <p:cNvSpPr>
            <a:spLocks noGrp="1"/>
          </p:cNvSpPr>
          <p:nvPr>
            <p:ph type="body" sz="quarter" idx="54" hasCustomPrompt="1"/>
          </p:nvPr>
        </p:nvSpPr>
        <p:spPr>
          <a:xfrm>
            <a:off x="8549005"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2">
            <a:extLst>
              <a:ext uri="{FF2B5EF4-FFF2-40B4-BE49-F238E27FC236}">
                <a16:creationId xmlns:a16="http://schemas.microsoft.com/office/drawing/2014/main" id="{9F7772A2-141A-2C32-35BF-03721C006E4B}"/>
              </a:ext>
            </a:extLst>
          </p:cNvPr>
          <p:cNvSpPr>
            <a:spLocks noGrp="1"/>
          </p:cNvSpPr>
          <p:nvPr>
            <p:ph type="body" sz="quarter" idx="55" hasCustomPrompt="1"/>
          </p:nvPr>
        </p:nvSpPr>
        <p:spPr>
          <a:xfrm>
            <a:off x="8549005"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2">
            <a:extLst>
              <a:ext uri="{FF2B5EF4-FFF2-40B4-BE49-F238E27FC236}">
                <a16:creationId xmlns:a16="http://schemas.microsoft.com/office/drawing/2014/main" id="{9D12C4FE-EA14-DC16-E035-07F6E2255DD5}"/>
              </a:ext>
            </a:extLst>
          </p:cNvPr>
          <p:cNvSpPr>
            <a:spLocks noGrp="1" noChangeAspect="1"/>
          </p:cNvSpPr>
          <p:nvPr>
            <p:ph type="pic" sz="quarter" idx="56" hasCustomPrompt="1"/>
          </p:nvPr>
        </p:nvSpPr>
        <p:spPr>
          <a:xfrm>
            <a:off x="8549005"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3">
            <a:extLst>
              <a:ext uri="{FF2B5EF4-FFF2-40B4-BE49-F238E27FC236}">
                <a16:creationId xmlns:a16="http://schemas.microsoft.com/office/drawing/2014/main" id="{0ECDEBEB-E52F-C256-D4BC-3CD8FBACF261}"/>
              </a:ext>
            </a:extLst>
          </p:cNvPr>
          <p:cNvSpPr>
            <a:spLocks noGrp="1"/>
          </p:cNvSpPr>
          <p:nvPr>
            <p:ph type="body" sz="quarter" idx="57" hasCustomPrompt="1"/>
          </p:nvPr>
        </p:nvSpPr>
        <p:spPr>
          <a:xfrm>
            <a:off x="1527048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3">
            <a:extLst>
              <a:ext uri="{FF2B5EF4-FFF2-40B4-BE49-F238E27FC236}">
                <a16:creationId xmlns:a16="http://schemas.microsoft.com/office/drawing/2014/main" id="{785D8308-6DC4-5070-FBE7-A99AC6478429}"/>
              </a:ext>
            </a:extLst>
          </p:cNvPr>
          <p:cNvSpPr>
            <a:spLocks noGrp="1"/>
          </p:cNvSpPr>
          <p:nvPr>
            <p:ph type="body" sz="quarter" idx="58" hasCustomPrompt="1"/>
          </p:nvPr>
        </p:nvSpPr>
        <p:spPr>
          <a:xfrm>
            <a:off x="1527048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3">
            <a:extLst>
              <a:ext uri="{FF2B5EF4-FFF2-40B4-BE49-F238E27FC236}">
                <a16:creationId xmlns:a16="http://schemas.microsoft.com/office/drawing/2014/main" id="{DEC4416E-D910-82FA-849C-D1F0138FE8BF}"/>
              </a:ext>
            </a:extLst>
          </p:cNvPr>
          <p:cNvSpPr>
            <a:spLocks noGrp="1" noChangeAspect="1"/>
          </p:cNvSpPr>
          <p:nvPr>
            <p:ph type="pic" sz="quarter" idx="59" hasCustomPrompt="1"/>
          </p:nvPr>
        </p:nvSpPr>
        <p:spPr>
          <a:xfrm>
            <a:off x="1527048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6" name="Text Placeholder 4">
            <a:extLst>
              <a:ext uri="{FF2B5EF4-FFF2-40B4-BE49-F238E27FC236}">
                <a16:creationId xmlns:a16="http://schemas.microsoft.com/office/drawing/2014/main" id="{0EFC9957-6324-44FA-A937-12E8D28D27D5}"/>
              </a:ext>
            </a:extLst>
          </p:cNvPr>
          <p:cNvSpPr>
            <a:spLocks noGrp="1"/>
          </p:cNvSpPr>
          <p:nvPr>
            <p:ph type="body" sz="quarter" idx="60" hasCustomPrompt="1"/>
          </p:nvPr>
        </p:nvSpPr>
        <p:spPr>
          <a:xfrm>
            <a:off x="21990686"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3" name="Image Text Placeholder 4">
            <a:extLst>
              <a:ext uri="{FF2B5EF4-FFF2-40B4-BE49-F238E27FC236}">
                <a16:creationId xmlns:a16="http://schemas.microsoft.com/office/drawing/2014/main" id="{54145343-115A-7C6C-5025-8D78035AC08A}"/>
              </a:ext>
            </a:extLst>
          </p:cNvPr>
          <p:cNvSpPr>
            <a:spLocks noGrp="1"/>
          </p:cNvSpPr>
          <p:nvPr>
            <p:ph type="body" sz="quarter" idx="61" hasCustomPrompt="1"/>
          </p:nvPr>
        </p:nvSpPr>
        <p:spPr>
          <a:xfrm>
            <a:off x="21990686"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44" name="Picture Placeholder 4">
            <a:extLst>
              <a:ext uri="{FF2B5EF4-FFF2-40B4-BE49-F238E27FC236}">
                <a16:creationId xmlns:a16="http://schemas.microsoft.com/office/drawing/2014/main" id="{12E9E9CA-B252-105A-7EE9-3C32BD1E338C}"/>
              </a:ext>
            </a:extLst>
          </p:cNvPr>
          <p:cNvSpPr>
            <a:spLocks noGrp="1" noChangeAspect="1"/>
          </p:cNvSpPr>
          <p:nvPr>
            <p:ph type="pic" sz="quarter" idx="62" hasCustomPrompt="1"/>
          </p:nvPr>
        </p:nvSpPr>
        <p:spPr>
          <a:xfrm>
            <a:off x="21990686"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5" name="Text Placeholder 5">
            <a:extLst>
              <a:ext uri="{FF2B5EF4-FFF2-40B4-BE49-F238E27FC236}">
                <a16:creationId xmlns:a16="http://schemas.microsoft.com/office/drawing/2014/main" id="{75A65FBD-41FC-DAE1-70F8-6970F6A06507}"/>
              </a:ext>
            </a:extLst>
          </p:cNvPr>
          <p:cNvSpPr>
            <a:spLocks noGrp="1"/>
          </p:cNvSpPr>
          <p:nvPr>
            <p:ph type="body" sz="quarter" idx="63" hasCustomPrompt="1"/>
          </p:nvPr>
        </p:nvSpPr>
        <p:spPr>
          <a:xfrm>
            <a:off x="2871216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6" name="Image Text Placeholder 5">
            <a:extLst>
              <a:ext uri="{FF2B5EF4-FFF2-40B4-BE49-F238E27FC236}">
                <a16:creationId xmlns:a16="http://schemas.microsoft.com/office/drawing/2014/main" id="{7E4F8B92-A608-0712-63DC-7D0B8D25C999}"/>
              </a:ext>
            </a:extLst>
          </p:cNvPr>
          <p:cNvSpPr>
            <a:spLocks noGrp="1"/>
          </p:cNvSpPr>
          <p:nvPr>
            <p:ph type="body" sz="quarter" idx="64" hasCustomPrompt="1"/>
          </p:nvPr>
        </p:nvSpPr>
        <p:spPr>
          <a:xfrm>
            <a:off x="2871216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47" name="Picture Placeholder 5">
            <a:extLst>
              <a:ext uri="{FF2B5EF4-FFF2-40B4-BE49-F238E27FC236}">
                <a16:creationId xmlns:a16="http://schemas.microsoft.com/office/drawing/2014/main" id="{3040C462-A8E3-CAE7-C8B2-CC88CC2BCB82}"/>
              </a:ext>
            </a:extLst>
          </p:cNvPr>
          <p:cNvSpPr>
            <a:spLocks noGrp="1" noChangeAspect="1"/>
          </p:cNvSpPr>
          <p:nvPr>
            <p:ph type="pic" sz="quarter" idx="65" hasCustomPrompt="1"/>
          </p:nvPr>
        </p:nvSpPr>
        <p:spPr>
          <a:xfrm>
            <a:off x="2871216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8" name="Text Placeholder 6">
            <a:extLst>
              <a:ext uri="{FF2B5EF4-FFF2-40B4-BE49-F238E27FC236}">
                <a16:creationId xmlns:a16="http://schemas.microsoft.com/office/drawing/2014/main" id="{F3DBD58A-06EA-C55D-B36A-08E3CA5C6AF3}"/>
              </a:ext>
            </a:extLst>
          </p:cNvPr>
          <p:cNvSpPr>
            <a:spLocks noGrp="1"/>
          </p:cNvSpPr>
          <p:nvPr>
            <p:ph type="body" sz="quarter" idx="66" hasCustomPrompt="1"/>
          </p:nvPr>
        </p:nvSpPr>
        <p:spPr>
          <a:xfrm>
            <a:off x="182880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9" name="Image Text Placeholder 6">
            <a:extLst>
              <a:ext uri="{FF2B5EF4-FFF2-40B4-BE49-F238E27FC236}">
                <a16:creationId xmlns:a16="http://schemas.microsoft.com/office/drawing/2014/main" id="{DFF6D880-1D4D-A370-FD0B-8E2026432961}"/>
              </a:ext>
            </a:extLst>
          </p:cNvPr>
          <p:cNvSpPr>
            <a:spLocks noGrp="1"/>
          </p:cNvSpPr>
          <p:nvPr>
            <p:ph type="body" sz="quarter" idx="67" hasCustomPrompt="1"/>
          </p:nvPr>
        </p:nvSpPr>
        <p:spPr>
          <a:xfrm>
            <a:off x="182880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0" name="Picture Placeholder 6">
            <a:extLst>
              <a:ext uri="{FF2B5EF4-FFF2-40B4-BE49-F238E27FC236}">
                <a16:creationId xmlns:a16="http://schemas.microsoft.com/office/drawing/2014/main" id="{FE36365B-485F-9C95-7F33-A795DDA0A970}"/>
              </a:ext>
            </a:extLst>
          </p:cNvPr>
          <p:cNvSpPr>
            <a:spLocks noGrp="1" noChangeAspect="1"/>
          </p:cNvSpPr>
          <p:nvPr>
            <p:ph type="pic" sz="quarter" idx="68" hasCustomPrompt="1"/>
          </p:nvPr>
        </p:nvSpPr>
        <p:spPr>
          <a:xfrm>
            <a:off x="182880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1" name="Text Placeholder 7">
            <a:extLst>
              <a:ext uri="{FF2B5EF4-FFF2-40B4-BE49-F238E27FC236}">
                <a16:creationId xmlns:a16="http://schemas.microsoft.com/office/drawing/2014/main" id="{327C785F-6851-A93B-5694-C244F8852ED5}"/>
              </a:ext>
            </a:extLst>
          </p:cNvPr>
          <p:cNvSpPr>
            <a:spLocks noGrp="1"/>
          </p:cNvSpPr>
          <p:nvPr>
            <p:ph type="body" sz="quarter" idx="69" hasCustomPrompt="1"/>
          </p:nvPr>
        </p:nvSpPr>
        <p:spPr>
          <a:xfrm>
            <a:off x="8549005"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2" name="Image Text Placeholder 7">
            <a:extLst>
              <a:ext uri="{FF2B5EF4-FFF2-40B4-BE49-F238E27FC236}">
                <a16:creationId xmlns:a16="http://schemas.microsoft.com/office/drawing/2014/main" id="{BE2B5C28-9A8B-0D8E-F12E-37E98398B727}"/>
              </a:ext>
            </a:extLst>
          </p:cNvPr>
          <p:cNvSpPr>
            <a:spLocks noGrp="1"/>
          </p:cNvSpPr>
          <p:nvPr>
            <p:ph type="body" sz="quarter" idx="70" hasCustomPrompt="1"/>
          </p:nvPr>
        </p:nvSpPr>
        <p:spPr>
          <a:xfrm>
            <a:off x="8549005"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3" name="Picture Placeholder 7">
            <a:extLst>
              <a:ext uri="{FF2B5EF4-FFF2-40B4-BE49-F238E27FC236}">
                <a16:creationId xmlns:a16="http://schemas.microsoft.com/office/drawing/2014/main" id="{DEDF76AC-53F8-1E95-4B55-FA0C90102307}"/>
              </a:ext>
            </a:extLst>
          </p:cNvPr>
          <p:cNvSpPr>
            <a:spLocks noGrp="1" noChangeAspect="1"/>
          </p:cNvSpPr>
          <p:nvPr>
            <p:ph type="pic" sz="quarter" idx="71" hasCustomPrompt="1"/>
          </p:nvPr>
        </p:nvSpPr>
        <p:spPr>
          <a:xfrm>
            <a:off x="8549005"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4" name="Text Placeholder 8">
            <a:extLst>
              <a:ext uri="{FF2B5EF4-FFF2-40B4-BE49-F238E27FC236}">
                <a16:creationId xmlns:a16="http://schemas.microsoft.com/office/drawing/2014/main" id="{541B0966-B263-1076-F94D-E177A8FCCA7C}"/>
              </a:ext>
            </a:extLst>
          </p:cNvPr>
          <p:cNvSpPr>
            <a:spLocks noGrp="1"/>
          </p:cNvSpPr>
          <p:nvPr>
            <p:ph type="body" sz="quarter" idx="72" hasCustomPrompt="1"/>
          </p:nvPr>
        </p:nvSpPr>
        <p:spPr>
          <a:xfrm>
            <a:off x="1527048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5" name="Image Text Placeholder 8">
            <a:extLst>
              <a:ext uri="{FF2B5EF4-FFF2-40B4-BE49-F238E27FC236}">
                <a16:creationId xmlns:a16="http://schemas.microsoft.com/office/drawing/2014/main" id="{64B1456B-F08A-3269-C378-571FD4FE263B}"/>
              </a:ext>
            </a:extLst>
          </p:cNvPr>
          <p:cNvSpPr>
            <a:spLocks noGrp="1"/>
          </p:cNvSpPr>
          <p:nvPr>
            <p:ph type="body" sz="quarter" idx="73" hasCustomPrompt="1"/>
          </p:nvPr>
        </p:nvSpPr>
        <p:spPr>
          <a:xfrm>
            <a:off x="1527048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6" name="Picture Placeholder 8">
            <a:extLst>
              <a:ext uri="{FF2B5EF4-FFF2-40B4-BE49-F238E27FC236}">
                <a16:creationId xmlns:a16="http://schemas.microsoft.com/office/drawing/2014/main" id="{B29738B8-4871-A0AD-A2D9-79A88A3D4161}"/>
              </a:ext>
            </a:extLst>
          </p:cNvPr>
          <p:cNvSpPr>
            <a:spLocks noGrp="1" noChangeAspect="1"/>
          </p:cNvSpPr>
          <p:nvPr>
            <p:ph type="pic" sz="quarter" idx="74" hasCustomPrompt="1"/>
          </p:nvPr>
        </p:nvSpPr>
        <p:spPr>
          <a:xfrm>
            <a:off x="1527048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7" name="Text Placeholder 9">
            <a:extLst>
              <a:ext uri="{FF2B5EF4-FFF2-40B4-BE49-F238E27FC236}">
                <a16:creationId xmlns:a16="http://schemas.microsoft.com/office/drawing/2014/main" id="{1A3A7327-F757-246B-FF7D-069AFC0F9CFD}"/>
              </a:ext>
            </a:extLst>
          </p:cNvPr>
          <p:cNvSpPr>
            <a:spLocks noGrp="1"/>
          </p:cNvSpPr>
          <p:nvPr>
            <p:ph type="body" sz="quarter" idx="75" hasCustomPrompt="1"/>
          </p:nvPr>
        </p:nvSpPr>
        <p:spPr>
          <a:xfrm>
            <a:off x="21990686"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8" name="Image Text Placeholder 9">
            <a:extLst>
              <a:ext uri="{FF2B5EF4-FFF2-40B4-BE49-F238E27FC236}">
                <a16:creationId xmlns:a16="http://schemas.microsoft.com/office/drawing/2014/main" id="{935A0663-9E19-FC04-89A2-4495D29EB098}"/>
              </a:ext>
            </a:extLst>
          </p:cNvPr>
          <p:cNvSpPr>
            <a:spLocks noGrp="1"/>
          </p:cNvSpPr>
          <p:nvPr>
            <p:ph type="body" sz="quarter" idx="76" hasCustomPrompt="1"/>
          </p:nvPr>
        </p:nvSpPr>
        <p:spPr>
          <a:xfrm>
            <a:off x="21990686"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9" name="Picture Placeholder 9">
            <a:extLst>
              <a:ext uri="{FF2B5EF4-FFF2-40B4-BE49-F238E27FC236}">
                <a16:creationId xmlns:a16="http://schemas.microsoft.com/office/drawing/2014/main" id="{A06CCEF2-4324-2A20-E13B-C9A34D87D13F}"/>
              </a:ext>
            </a:extLst>
          </p:cNvPr>
          <p:cNvSpPr>
            <a:spLocks noGrp="1" noChangeAspect="1"/>
          </p:cNvSpPr>
          <p:nvPr>
            <p:ph type="pic" sz="quarter" idx="77" hasCustomPrompt="1"/>
          </p:nvPr>
        </p:nvSpPr>
        <p:spPr>
          <a:xfrm>
            <a:off x="21990686"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63" name="Text Placeholder 10">
            <a:extLst>
              <a:ext uri="{FF2B5EF4-FFF2-40B4-BE49-F238E27FC236}">
                <a16:creationId xmlns:a16="http://schemas.microsoft.com/office/drawing/2014/main" id="{2424D5C6-2CED-3EF1-7441-B207A8A8C9B8}"/>
              </a:ext>
            </a:extLst>
          </p:cNvPr>
          <p:cNvSpPr>
            <a:spLocks noGrp="1"/>
          </p:cNvSpPr>
          <p:nvPr>
            <p:ph type="body" sz="quarter" idx="78" hasCustomPrompt="1"/>
          </p:nvPr>
        </p:nvSpPr>
        <p:spPr>
          <a:xfrm>
            <a:off x="28710892"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64" name="Image Text Placeholder 10">
            <a:extLst>
              <a:ext uri="{FF2B5EF4-FFF2-40B4-BE49-F238E27FC236}">
                <a16:creationId xmlns:a16="http://schemas.microsoft.com/office/drawing/2014/main" id="{FA33B5F6-D7B6-0FFB-553F-29C7E13AAB58}"/>
              </a:ext>
            </a:extLst>
          </p:cNvPr>
          <p:cNvSpPr>
            <a:spLocks noGrp="1"/>
          </p:cNvSpPr>
          <p:nvPr>
            <p:ph type="body" sz="quarter" idx="79" hasCustomPrompt="1"/>
          </p:nvPr>
        </p:nvSpPr>
        <p:spPr>
          <a:xfrm>
            <a:off x="28710892"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65" name="Picture Placeholder 10">
            <a:extLst>
              <a:ext uri="{FF2B5EF4-FFF2-40B4-BE49-F238E27FC236}">
                <a16:creationId xmlns:a16="http://schemas.microsoft.com/office/drawing/2014/main" id="{B995E01A-8631-5C16-CF95-C2D61216BF22}"/>
              </a:ext>
            </a:extLst>
          </p:cNvPr>
          <p:cNvSpPr>
            <a:spLocks noGrp="1" noChangeAspect="1"/>
          </p:cNvSpPr>
          <p:nvPr>
            <p:ph type="pic" sz="quarter" idx="80" hasCustomPrompt="1"/>
          </p:nvPr>
        </p:nvSpPr>
        <p:spPr>
          <a:xfrm>
            <a:off x="28710892"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393957095"/>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Image Grid">
    <p:spTree>
      <p:nvGrpSpPr>
        <p:cNvPr id="1" name=""/>
        <p:cNvGrpSpPr/>
        <p:nvPr/>
      </p:nvGrpSpPr>
      <p:grpSpPr>
        <a:xfrm>
          <a:off x="0" y="0"/>
          <a:ext cx="0" cy="0"/>
          <a:chOff x="0" y="0"/>
          <a:chExt cx="0" cy="0"/>
        </a:xfrm>
      </p:grpSpPr>
      <p:sp>
        <p:nvSpPr>
          <p:cNvPr id="13" name="Footer Placeholder">
            <a:extLst>
              <a:ext uri="{FF2B5EF4-FFF2-40B4-BE49-F238E27FC236}">
                <a16:creationId xmlns:a16="http://schemas.microsoft.com/office/drawing/2014/main" id="{10603E2E-FCBB-9670-399F-4E1AA8DE52A1}"/>
              </a:ext>
            </a:extLst>
          </p:cNvPr>
          <p:cNvSpPr>
            <a:spLocks noGrp="1"/>
          </p:cNvSpPr>
          <p:nvPr>
            <p:ph type="ftr" sz="quarter" idx="23"/>
          </p:nvPr>
        </p:nvSpPr>
        <p:spPr/>
        <p:txBody>
          <a:bodyPr/>
          <a:lstStyle/>
          <a:p>
            <a:pPr>
              <a:lnSpc>
                <a:spcPct val="90000"/>
              </a:lnSpc>
            </a:pPr>
            <a:r>
              <a:rPr lang="en-US"/>
              <a:t>Source information in NVIDIA Sans, medium gray; 20 pt</a:t>
            </a:r>
            <a:endParaRPr lang="en-US" dirty="0"/>
          </a:p>
        </p:txBody>
      </p:sp>
      <p:sp>
        <p:nvSpPr>
          <p:cNvPr id="17" name="Slide Number Placeholder">
            <a:extLst>
              <a:ext uri="{FF2B5EF4-FFF2-40B4-BE49-F238E27FC236}">
                <a16:creationId xmlns:a16="http://schemas.microsoft.com/office/drawing/2014/main" id="{2845A55B-51B5-DA67-0B9D-B48DB2A149A1}"/>
              </a:ext>
            </a:extLst>
          </p:cNvPr>
          <p:cNvSpPr>
            <a:spLocks noGrp="1"/>
          </p:cNvSpPr>
          <p:nvPr>
            <p:ph type="sldNum" sz="quarter" idx="24"/>
          </p:nvPr>
        </p:nvSpPr>
        <p:spPr/>
        <p:txBody>
          <a:bodyPr/>
          <a:lstStyle/>
          <a:p>
            <a:pPr>
              <a:lnSpc>
                <a:spcPct val="90000"/>
              </a:lnSpc>
            </a:pPr>
            <a:fld id="{5D6728F8-03AC-4059-94FB-90617981AE50}" type="slidenum">
              <a:rPr lang="en-US" smtClean="0"/>
              <a:pPr/>
              <a:t>‹#›</a:t>
            </a:fld>
            <a:endParaRPr lang="en-US"/>
          </a:p>
        </p:txBody>
      </p:sp>
      <p:sp>
        <p:nvSpPr>
          <p:cNvPr id="16" name="Picture Placeholder 9">
            <a:extLst>
              <a:ext uri="{FF2B5EF4-FFF2-40B4-BE49-F238E27FC236}">
                <a16:creationId xmlns:a16="http://schemas.microsoft.com/office/drawing/2014/main" id="{BC038FD9-0AFF-00C8-0AA3-223BDB8DBBF0}"/>
              </a:ext>
            </a:extLst>
          </p:cNvPr>
          <p:cNvSpPr>
            <a:spLocks noGrp="1"/>
          </p:cNvSpPr>
          <p:nvPr>
            <p:ph type="pic" sz="quarter" idx="21" hasCustomPrompt="1"/>
          </p:nvPr>
        </p:nvSpPr>
        <p:spPr>
          <a:xfrm>
            <a:off x="18630900" y="12024360"/>
            <a:ext cx="17030700" cy="6720839"/>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5" name="Picture Placeholder 8">
            <a:extLst>
              <a:ext uri="{FF2B5EF4-FFF2-40B4-BE49-F238E27FC236}">
                <a16:creationId xmlns:a16="http://schemas.microsoft.com/office/drawing/2014/main" id="{FAAF3530-C3FF-2C2D-7DBE-DE264BE2B69D}"/>
              </a:ext>
            </a:extLst>
          </p:cNvPr>
          <p:cNvSpPr>
            <a:spLocks noGrp="1"/>
          </p:cNvSpPr>
          <p:nvPr>
            <p:ph type="pic" sz="quarter" idx="20" hasCustomPrompt="1"/>
          </p:nvPr>
        </p:nvSpPr>
        <p:spPr>
          <a:xfrm>
            <a:off x="11494844" y="13258800"/>
            <a:ext cx="6451780"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4" name="Picture Placeholder 7">
            <a:extLst>
              <a:ext uri="{FF2B5EF4-FFF2-40B4-BE49-F238E27FC236}">
                <a16:creationId xmlns:a16="http://schemas.microsoft.com/office/drawing/2014/main" id="{558BCBFD-EB59-D408-424E-9AC9033C56F9}"/>
              </a:ext>
            </a:extLst>
          </p:cNvPr>
          <p:cNvSpPr>
            <a:spLocks noGrp="1"/>
          </p:cNvSpPr>
          <p:nvPr>
            <p:ph type="pic" sz="quarter" idx="19" hasCustomPrompt="1"/>
          </p:nvPr>
        </p:nvSpPr>
        <p:spPr>
          <a:xfrm>
            <a:off x="914400" y="13258800"/>
            <a:ext cx="9896168"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2" name="Picture Placeholder 6">
            <a:extLst>
              <a:ext uri="{FF2B5EF4-FFF2-40B4-BE49-F238E27FC236}">
                <a16:creationId xmlns:a16="http://schemas.microsoft.com/office/drawing/2014/main" id="{0A174EF8-9FF4-51FA-A66C-17A876EABB33}"/>
              </a:ext>
            </a:extLst>
          </p:cNvPr>
          <p:cNvSpPr>
            <a:spLocks noGrp="1"/>
          </p:cNvSpPr>
          <p:nvPr>
            <p:ph type="pic" sz="quarter" idx="18" hasCustomPrompt="1"/>
          </p:nvPr>
        </p:nvSpPr>
        <p:spPr>
          <a:xfrm>
            <a:off x="6819900" y="7086600"/>
            <a:ext cx="11125200"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1" name="Picture Placeholder 5">
            <a:extLst>
              <a:ext uri="{FF2B5EF4-FFF2-40B4-BE49-F238E27FC236}">
                <a16:creationId xmlns:a16="http://schemas.microsoft.com/office/drawing/2014/main" id="{FD4D98DE-6896-9804-F8F6-36DBA25F64B2}"/>
              </a:ext>
            </a:extLst>
          </p:cNvPr>
          <p:cNvSpPr>
            <a:spLocks noGrp="1"/>
          </p:cNvSpPr>
          <p:nvPr>
            <p:ph type="pic" sz="quarter" idx="14" hasCustomPrompt="1"/>
          </p:nvPr>
        </p:nvSpPr>
        <p:spPr>
          <a:xfrm>
            <a:off x="914400" y="7086600"/>
            <a:ext cx="522122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0" name="Picture Placeholder 4">
            <a:extLst>
              <a:ext uri="{FF2B5EF4-FFF2-40B4-BE49-F238E27FC236}">
                <a16:creationId xmlns:a16="http://schemas.microsoft.com/office/drawing/2014/main" id="{7E1A4A1E-E7C9-F04E-34E1-36E29C527390}"/>
              </a:ext>
            </a:extLst>
          </p:cNvPr>
          <p:cNvSpPr>
            <a:spLocks noGrp="1"/>
          </p:cNvSpPr>
          <p:nvPr>
            <p:ph type="pic" sz="quarter" idx="17" hasCustomPrompt="1"/>
          </p:nvPr>
        </p:nvSpPr>
        <p:spPr>
          <a:xfrm>
            <a:off x="30403800" y="914400"/>
            <a:ext cx="5257800" cy="1042416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9" name="Picture Placeholder 3">
            <a:extLst>
              <a:ext uri="{FF2B5EF4-FFF2-40B4-BE49-F238E27FC236}">
                <a16:creationId xmlns:a16="http://schemas.microsoft.com/office/drawing/2014/main" id="{AF5AEEAC-F2C1-5A18-FE0A-094F2B9E4F80}"/>
              </a:ext>
            </a:extLst>
          </p:cNvPr>
          <p:cNvSpPr>
            <a:spLocks noGrp="1"/>
          </p:cNvSpPr>
          <p:nvPr>
            <p:ph type="pic" sz="quarter" idx="16" hasCustomPrompt="1"/>
          </p:nvPr>
        </p:nvSpPr>
        <p:spPr>
          <a:xfrm>
            <a:off x="16373168" y="914400"/>
            <a:ext cx="13382932"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8" name="Picture Placeholder 2">
            <a:extLst>
              <a:ext uri="{FF2B5EF4-FFF2-40B4-BE49-F238E27FC236}">
                <a16:creationId xmlns:a16="http://schemas.microsoft.com/office/drawing/2014/main" id="{DD0FC23F-D808-9291-07E6-D31D82FEAE17}"/>
              </a:ext>
            </a:extLst>
          </p:cNvPr>
          <p:cNvSpPr>
            <a:spLocks noGrp="1"/>
          </p:cNvSpPr>
          <p:nvPr>
            <p:ph type="pic" sz="quarter" idx="15" hasCustomPrompt="1"/>
          </p:nvPr>
        </p:nvSpPr>
        <p:spPr>
          <a:xfrm>
            <a:off x="9888794" y="914400"/>
            <a:ext cx="579857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7" name="Picture Placeholder 1">
            <a:extLst>
              <a:ext uri="{FF2B5EF4-FFF2-40B4-BE49-F238E27FC236}">
                <a16:creationId xmlns:a16="http://schemas.microsoft.com/office/drawing/2014/main" id="{9D9B9429-F845-30E8-36A1-DB2BB86ADC86}"/>
              </a:ext>
            </a:extLst>
          </p:cNvPr>
          <p:cNvSpPr>
            <a:spLocks noGrp="1"/>
          </p:cNvSpPr>
          <p:nvPr>
            <p:ph type="pic" sz="quarter" idx="13" hasCustomPrompt="1"/>
          </p:nvPr>
        </p:nvSpPr>
        <p:spPr>
          <a:xfrm>
            <a:off x="914400" y="914400"/>
            <a:ext cx="828859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2" name="Title">
            <a:extLst>
              <a:ext uri="{FF2B5EF4-FFF2-40B4-BE49-F238E27FC236}">
                <a16:creationId xmlns:a16="http://schemas.microsoft.com/office/drawing/2014/main" id="{A1484569-FB15-3B4E-EF2D-43C609DE257D}"/>
              </a:ext>
            </a:extLst>
          </p:cNvPr>
          <p:cNvSpPr>
            <a:spLocks noGrp="1"/>
          </p:cNvSpPr>
          <p:nvPr>
            <p:ph type="title" hasCustomPrompt="1"/>
          </p:nvPr>
        </p:nvSpPr>
        <p:spPr>
          <a:xfrm>
            <a:off x="18629375" y="7086600"/>
            <a:ext cx="11125199" cy="4251960"/>
          </a:xfrm>
        </p:spPr>
        <p:txBody>
          <a:bodyPr anchor="ctr"/>
          <a:lstStyle>
            <a:lvl1pPr algn="ctr">
              <a:defRPr sz="5400">
                <a:latin typeface="+mj-lt"/>
              </a:defRPr>
            </a:lvl1pPr>
          </a:lstStyle>
          <a:p>
            <a:r>
              <a:rPr lang="en-US" dirty="0"/>
              <a:t>Click to Edit Title Here</a:t>
            </a:r>
          </a:p>
        </p:txBody>
      </p:sp>
    </p:spTree>
    <p:extLst>
      <p:ext uri="{BB962C8B-B14F-4D97-AF65-F5344CB8AC3E}">
        <p14:creationId xmlns:p14="http://schemas.microsoft.com/office/powerpoint/2010/main" val="4256676687"/>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Demo - Image">
    <p:spTree>
      <p:nvGrpSpPr>
        <p:cNvPr id="1" name=""/>
        <p:cNvGrpSpPr/>
        <p:nvPr/>
      </p:nvGrpSpPr>
      <p:grpSpPr>
        <a:xfrm>
          <a:off x="0" y="0"/>
          <a:ext cx="0" cy="0"/>
          <a:chOff x="0" y="0"/>
          <a:chExt cx="0" cy="0"/>
        </a:xfrm>
      </p:grpSpPr>
      <p:sp>
        <p:nvSpPr>
          <p:cNvPr id="7" name="Picture Placeholder">
            <a:extLst>
              <a:ext uri="{FF2B5EF4-FFF2-40B4-BE49-F238E27FC236}">
                <a16:creationId xmlns:a16="http://schemas.microsoft.com/office/drawing/2014/main" id="{4E6B04E9-AFDA-A682-186B-6C9E617F31C3}"/>
              </a:ext>
            </a:extLst>
          </p:cNvPr>
          <p:cNvSpPr>
            <a:spLocks noGrp="1"/>
          </p:cNvSpPr>
          <p:nvPr>
            <p:ph type="pic" sz="quarter" idx="10" hasCustomPrompt="1"/>
          </p:nvPr>
        </p:nvSpPr>
        <p:spPr>
          <a:xfrm>
            <a:off x="1" y="0"/>
            <a:ext cx="36576000" cy="20574000"/>
          </a:xfrm>
          <a:solidFill>
            <a:schemeClr val="bg2"/>
          </a:solidFill>
        </p:spPr>
        <p:txBody>
          <a:bodyPr tIns="0" bIns="2103120" anchor="ctr"/>
          <a:lstStyle>
            <a:lvl1pPr algn="ctr">
              <a:defRPr sz="2800">
                <a:solidFill>
                  <a:schemeClr val="tx1">
                    <a:lumMod val="50000"/>
                    <a:lumOff val="50000"/>
                  </a:schemeClr>
                </a:solidFill>
                <a:latin typeface="+mn-lt"/>
              </a:defRPr>
            </a:lvl1pPr>
          </a:lstStyle>
          <a:p>
            <a:r>
              <a:rPr lang="en-US" dirty="0"/>
              <a:t>Click icon to place image</a:t>
            </a:r>
          </a:p>
        </p:txBody>
      </p:sp>
    </p:spTree>
    <p:extLst>
      <p:ext uri="{BB962C8B-B14F-4D97-AF65-F5344CB8AC3E}">
        <p14:creationId xmlns:p14="http://schemas.microsoft.com/office/powerpoint/2010/main" val="412032758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Demo - Video">
    <p:spTree>
      <p:nvGrpSpPr>
        <p:cNvPr id="1" name=""/>
        <p:cNvGrpSpPr/>
        <p:nvPr/>
      </p:nvGrpSpPr>
      <p:grpSpPr>
        <a:xfrm>
          <a:off x="0" y="0"/>
          <a:ext cx="0" cy="0"/>
          <a:chOff x="0" y="0"/>
          <a:chExt cx="0" cy="0"/>
        </a:xfrm>
      </p:grpSpPr>
      <p:sp>
        <p:nvSpPr>
          <p:cNvPr id="3" name="Media Placeholder">
            <a:extLst>
              <a:ext uri="{FF2B5EF4-FFF2-40B4-BE49-F238E27FC236}">
                <a16:creationId xmlns:a16="http://schemas.microsoft.com/office/drawing/2014/main" id="{6C2B65C0-8411-4E1E-BB2A-A35D3E68956B}"/>
              </a:ext>
            </a:extLst>
          </p:cNvPr>
          <p:cNvSpPr>
            <a:spLocks noGrp="1"/>
          </p:cNvSpPr>
          <p:nvPr>
            <p:ph type="media" sz="quarter" idx="10" hasCustomPrompt="1"/>
          </p:nvPr>
        </p:nvSpPr>
        <p:spPr>
          <a:xfrm>
            <a:off x="0" y="0"/>
            <a:ext cx="36576000" cy="20574000"/>
          </a:xfrm>
          <a:solidFill>
            <a:schemeClr val="bg2"/>
          </a:solidFill>
        </p:spPr>
        <p:txBody>
          <a:bodyPr vert="horz" lIns="0" tIns="0" rIns="0" bIns="2103120" rtlCol="0" anchor="ctr">
            <a:no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Char char="​"/>
              <a:tabLst/>
              <a:defRPr/>
            </a:pPr>
            <a:r>
              <a:rPr lang="en-US" dirty="0"/>
              <a:t>Click icon to place video</a:t>
            </a:r>
          </a:p>
        </p:txBody>
      </p:sp>
    </p:spTree>
    <p:extLst>
      <p:ext uri="{BB962C8B-B14F-4D97-AF65-F5344CB8AC3E}">
        <p14:creationId xmlns:p14="http://schemas.microsoft.com/office/powerpoint/2010/main" val="222550203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Demo - Video, Title, Subtitle">
    <p:spTree>
      <p:nvGrpSpPr>
        <p:cNvPr id="1" name=""/>
        <p:cNvGrpSpPr/>
        <p:nvPr/>
      </p:nvGrpSpPr>
      <p:grpSpPr>
        <a:xfrm>
          <a:off x="0" y="0"/>
          <a:ext cx="0" cy="0"/>
          <a:chOff x="0" y="0"/>
          <a:chExt cx="0" cy="0"/>
        </a:xfrm>
      </p:grpSpPr>
      <p:sp>
        <p:nvSpPr>
          <p:cNvPr id="3" name="Media Placeholder">
            <a:extLst>
              <a:ext uri="{FF2B5EF4-FFF2-40B4-BE49-F238E27FC236}">
                <a16:creationId xmlns:a16="http://schemas.microsoft.com/office/drawing/2014/main" id="{54E04377-1EF8-BEB3-073F-B3A8DF9467DF}"/>
              </a:ext>
            </a:extLst>
          </p:cNvPr>
          <p:cNvSpPr>
            <a:spLocks noGrp="1" noChangeAspect="1"/>
          </p:cNvSpPr>
          <p:nvPr>
            <p:ph type="media" sz="quarter" idx="13" hasCustomPrompt="1"/>
          </p:nvPr>
        </p:nvSpPr>
        <p:spPr>
          <a:xfrm>
            <a:off x="5486400" y="3104193"/>
            <a:ext cx="25603200" cy="14401800"/>
          </a:xfrm>
          <a:solidFill>
            <a:schemeClr val="bg2"/>
          </a:solidFill>
          <a:ln>
            <a:solidFill>
              <a:schemeClr val="accent6"/>
            </a:solidFill>
          </a:ln>
        </p:spPr>
        <p:txBody>
          <a:bodyPr tIns="0" bIns="2103120" anchor="ctr"/>
          <a:lstStyle>
            <a:lvl1pPr algn="ctr">
              <a:buNone/>
              <a:defRPr sz="2800">
                <a:solidFill>
                  <a:schemeClr val="tx1">
                    <a:lumMod val="50000"/>
                    <a:lumOff val="50000"/>
                  </a:schemeClr>
                </a:solidFill>
                <a:latin typeface="+mn-lt"/>
              </a:defRPr>
            </a:lvl1pPr>
          </a:lstStyle>
          <a:p>
            <a:r>
              <a:rPr lang="en-US" dirty="0"/>
              <a:t>Click icon to place video</a:t>
            </a:r>
          </a:p>
        </p:txBody>
      </p:sp>
      <p:sp>
        <p:nvSpPr>
          <p:cNvPr id="4" name="Subtitle">
            <a:extLst>
              <a:ext uri="{FF2B5EF4-FFF2-40B4-BE49-F238E27FC236}">
                <a16:creationId xmlns:a16="http://schemas.microsoft.com/office/drawing/2014/main" id="{04389443-080A-7AA4-3085-E70BDC8F8F6A}"/>
              </a:ext>
            </a:extLst>
          </p:cNvPr>
          <p:cNvSpPr>
            <a:spLocks noGrp="1"/>
          </p:cNvSpPr>
          <p:nvPr>
            <p:ph type="body" sz="quarter" idx="11" hasCustomPrompt="1"/>
          </p:nvPr>
        </p:nvSpPr>
        <p:spPr>
          <a:xfrm>
            <a:off x="1828800" y="2454442"/>
            <a:ext cx="32918400" cy="625475"/>
          </a:xfrm>
        </p:spPr>
        <p:txBody>
          <a:bodyPr anchor="t"/>
          <a:lstStyle>
            <a:lvl1pPr algn="ctr">
              <a:spcBef>
                <a:spcPts val="0"/>
              </a:spcBef>
              <a:spcAft>
                <a:spcPts val="0"/>
              </a:spcAft>
              <a:defRPr sz="3200">
                <a:solidFill>
                  <a:schemeClr val="accent6"/>
                </a:solidFill>
                <a:latin typeface="+mn-lt"/>
              </a:defRPr>
            </a:lvl1pPr>
          </a:lstStyle>
          <a:p>
            <a:pPr lvl="0"/>
            <a:r>
              <a:rPr lang="en-US" dirty="0"/>
              <a:t>Optional subtitle description</a:t>
            </a:r>
          </a:p>
        </p:txBody>
      </p:sp>
      <p:sp>
        <p:nvSpPr>
          <p:cNvPr id="5" name="Title">
            <a:extLst>
              <a:ext uri="{FF2B5EF4-FFF2-40B4-BE49-F238E27FC236}">
                <a16:creationId xmlns:a16="http://schemas.microsoft.com/office/drawing/2014/main" id="{570F4D80-EF7D-3626-2F98-566AC0DAC0A2}"/>
              </a:ext>
            </a:extLst>
          </p:cNvPr>
          <p:cNvSpPr>
            <a:spLocks noGrp="1"/>
          </p:cNvSpPr>
          <p:nvPr>
            <p:ph type="title" hasCustomPrompt="1"/>
          </p:nvPr>
        </p:nvSpPr>
        <p:spPr>
          <a:xfrm>
            <a:off x="1828800" y="1776548"/>
            <a:ext cx="32918400" cy="625642"/>
          </a:xfrm>
        </p:spPr>
        <p:txBody>
          <a:bodyPr/>
          <a:lstStyle>
            <a:lvl1pPr algn="ctr">
              <a:spcAft>
                <a:spcPts val="0"/>
              </a:spcAft>
              <a:defRPr sz="4400">
                <a:latin typeface="+mj-lt"/>
              </a:defRPr>
            </a:lvl1pPr>
          </a:lstStyle>
          <a:p>
            <a:r>
              <a:rPr lang="en-US" dirty="0"/>
              <a:t>Demo Title Goes Here</a:t>
            </a:r>
          </a:p>
        </p:txBody>
      </p:sp>
      <p:sp>
        <p:nvSpPr>
          <p:cNvPr id="6" name="Footer Placeholder">
            <a:extLst>
              <a:ext uri="{FF2B5EF4-FFF2-40B4-BE49-F238E27FC236}">
                <a16:creationId xmlns:a16="http://schemas.microsoft.com/office/drawing/2014/main" id="{D60EBBCC-FBDE-8093-F4FD-0B4F364BCAB0}"/>
              </a:ext>
            </a:extLst>
          </p:cNvPr>
          <p:cNvSpPr>
            <a:spLocks noGrp="1"/>
          </p:cNvSpPr>
          <p:nvPr>
            <p:ph type="ftr" sz="quarter" idx="25"/>
          </p:nvPr>
        </p:nvSpPr>
        <p:spPr>
          <a:xfrm>
            <a:off x="7543800" y="19431000"/>
            <a:ext cx="21488400" cy="369332"/>
          </a:xfrm>
        </p:spPr>
        <p:txBody>
          <a:bodyPr/>
          <a:lstStyle/>
          <a:p>
            <a:pPr>
              <a:lnSpc>
                <a:spcPct val="90000"/>
              </a:lnSpc>
            </a:pPr>
            <a:r>
              <a:rPr lang="en-US"/>
              <a:t>Source information in NVIDIA Sans, medium gray; 20 pt</a:t>
            </a:r>
            <a:endParaRPr lang="en-US" dirty="0"/>
          </a:p>
        </p:txBody>
      </p:sp>
      <p:sp>
        <p:nvSpPr>
          <p:cNvPr id="7" name="Slide Number Placeholder">
            <a:extLst>
              <a:ext uri="{FF2B5EF4-FFF2-40B4-BE49-F238E27FC236}">
                <a16:creationId xmlns:a16="http://schemas.microsoft.com/office/drawing/2014/main" id="{EB50A31F-A2CF-8090-6E63-67B213D66BBA}"/>
              </a:ext>
            </a:extLst>
          </p:cNvPr>
          <p:cNvSpPr>
            <a:spLocks noGrp="1"/>
          </p:cNvSpPr>
          <p:nvPr>
            <p:ph type="sldNum" sz="quarter" idx="26"/>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280762347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Progression">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64B3AED4-78D5-2F14-5B4B-21B821017D12}"/>
              </a:ext>
            </a:extLst>
          </p:cNvPr>
          <p:cNvSpPr>
            <a:spLocks noGrp="1"/>
          </p:cNvSpPr>
          <p:nvPr>
            <p:ph type="ftr" sz="quarter" idx="25"/>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71B3CD7F-5DB5-8DB6-34DE-A76A3CB04062}"/>
              </a:ext>
            </a:extLst>
          </p:cNvPr>
          <p:cNvSpPr>
            <a:spLocks noGrp="1"/>
          </p:cNvSpPr>
          <p:nvPr>
            <p:ph type="sldNum" sz="quarter" idx="26"/>
          </p:nvPr>
        </p:nvSpPr>
        <p:spPr/>
        <p:txBody>
          <a:bodyPr/>
          <a:lstStyle/>
          <a:p>
            <a:pPr>
              <a:lnSpc>
                <a:spcPct val="90000"/>
              </a:lnSpc>
            </a:pPr>
            <a:fld id="{5D6728F8-03AC-4059-94FB-90617981AE50}" type="slidenum">
              <a:rPr lang="en-US" smtClean="0"/>
              <a:pPr/>
              <a:t>‹#›</a:t>
            </a:fld>
            <a:endParaRPr lang="en-US"/>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703195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703195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863090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863090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1022985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1022985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7715250" cy="1200329"/>
          </a:xfrm>
        </p:spPr>
        <p:txBody>
          <a:bodyPr lIns="320040" anchor="b">
            <a:noAutofit/>
          </a:bodyPr>
          <a:lstStyle>
            <a:lvl1pPr marL="0" marR="0" indent="0" algn="l" defTabSz="2743200" rtl="0" eaLnBrk="1" fontAlgn="auto" latinLnBrk="0" hangingPunct="1">
              <a:lnSpc>
                <a:spcPct val="10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4103730877"/>
      </p:ext>
    </p:extLst>
  </p:cSld>
  <p:clrMapOvr>
    <a:masterClrMapping/>
  </p:clrMapOvr>
  <p:extLst>
    <p:ext uri="{DCECCB84-F9BA-43D5-87BE-67443E8EF086}">
      <p15:sldGuideLst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A6CB6789-A0C4-095B-4F78-A1935A3E79AF}"/>
              </a:ext>
            </a:extLst>
          </p:cNvPr>
          <p:cNvSpPr>
            <a:spLocks noGrp="1"/>
          </p:cNvSpPr>
          <p:nvPr>
            <p:ph type="ftr" sz="quarter" idx="33"/>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E22358C3-92D5-2D07-2859-E0B77BBAAB97}"/>
              </a:ext>
            </a:extLst>
          </p:cNvPr>
          <p:cNvSpPr>
            <a:spLocks noGrp="1"/>
          </p:cNvSpPr>
          <p:nvPr>
            <p:ph type="sldNum" sz="quarter" idx="34"/>
          </p:nvPr>
        </p:nvSpPr>
        <p:spPr/>
        <p:txBody>
          <a:bodyPr/>
          <a:lstStyle/>
          <a:p>
            <a:pPr>
              <a:lnSpc>
                <a:spcPct val="90000"/>
              </a:lnSpc>
            </a:pPr>
            <a:fld id="{5D6728F8-03AC-4059-94FB-90617981AE50}" type="slidenum">
              <a:rPr lang="en-US" smtClean="0"/>
              <a:pPr/>
              <a:t>‹#›</a:t>
            </a:fld>
            <a:endParaRPr lang="en-US"/>
          </a:p>
        </p:txBody>
      </p:sp>
      <p:sp>
        <p:nvSpPr>
          <p:cNvPr id="19" name="Subtext 5">
            <a:extLst>
              <a:ext uri="{FF2B5EF4-FFF2-40B4-BE49-F238E27FC236}">
                <a16:creationId xmlns:a16="http://schemas.microsoft.com/office/drawing/2014/main" id="{79595540-7D50-9C33-11AB-4737EDCA05B4}"/>
              </a:ext>
            </a:extLst>
          </p:cNvPr>
          <p:cNvSpPr>
            <a:spLocks noGrp="1"/>
          </p:cNvSpPr>
          <p:nvPr>
            <p:ph type="body" sz="quarter" idx="30" hasCustomPrompt="1"/>
          </p:nvPr>
        </p:nvSpPr>
        <p:spPr>
          <a:xfrm>
            <a:off x="2871216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0" name="Header 5">
            <a:extLst>
              <a:ext uri="{FF2B5EF4-FFF2-40B4-BE49-F238E27FC236}">
                <a16:creationId xmlns:a16="http://schemas.microsoft.com/office/drawing/2014/main" id="{8469ED06-1608-84FC-0D7B-6FBF3420653E}"/>
              </a:ext>
            </a:extLst>
          </p:cNvPr>
          <p:cNvSpPr>
            <a:spLocks noGrp="1"/>
          </p:cNvSpPr>
          <p:nvPr>
            <p:ph type="body" sz="quarter" idx="31" hasCustomPrompt="1"/>
          </p:nvPr>
        </p:nvSpPr>
        <p:spPr>
          <a:xfrm>
            <a:off x="2871216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8" name="Date 5">
            <a:extLst>
              <a:ext uri="{FF2B5EF4-FFF2-40B4-BE49-F238E27FC236}">
                <a16:creationId xmlns:a16="http://schemas.microsoft.com/office/drawing/2014/main" id="{197DC0FF-E771-C7E5-1839-62718E5C287F}"/>
              </a:ext>
            </a:extLst>
          </p:cNvPr>
          <p:cNvSpPr>
            <a:spLocks noGrp="1"/>
          </p:cNvSpPr>
          <p:nvPr>
            <p:ph type="body" sz="quarter" idx="29" hasCustomPrompt="1"/>
          </p:nvPr>
        </p:nvSpPr>
        <p:spPr>
          <a:xfrm>
            <a:off x="28712161"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1991321"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1991321"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7" name="Date 4">
            <a:extLst>
              <a:ext uri="{FF2B5EF4-FFF2-40B4-BE49-F238E27FC236}">
                <a16:creationId xmlns:a16="http://schemas.microsoft.com/office/drawing/2014/main" id="{8A35295F-18C1-E7C2-4B76-FA98F00E0CEF}"/>
              </a:ext>
            </a:extLst>
          </p:cNvPr>
          <p:cNvSpPr>
            <a:spLocks noGrp="1"/>
          </p:cNvSpPr>
          <p:nvPr>
            <p:ph type="body" sz="quarter" idx="28" hasCustomPrompt="1"/>
          </p:nvPr>
        </p:nvSpPr>
        <p:spPr>
          <a:xfrm>
            <a:off x="21991321"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527048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527048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6" name="Date 3">
            <a:extLst>
              <a:ext uri="{FF2B5EF4-FFF2-40B4-BE49-F238E27FC236}">
                <a16:creationId xmlns:a16="http://schemas.microsoft.com/office/drawing/2014/main" id="{AA8E5F1F-D8CB-AF2C-6402-A88184D72178}"/>
              </a:ext>
            </a:extLst>
          </p:cNvPr>
          <p:cNvSpPr>
            <a:spLocks noGrp="1"/>
          </p:cNvSpPr>
          <p:nvPr>
            <p:ph type="body" sz="quarter" idx="27" hasCustomPrompt="1"/>
          </p:nvPr>
        </p:nvSpPr>
        <p:spPr>
          <a:xfrm>
            <a:off x="1527048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854964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854964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5" name="Date 2">
            <a:extLst>
              <a:ext uri="{FF2B5EF4-FFF2-40B4-BE49-F238E27FC236}">
                <a16:creationId xmlns:a16="http://schemas.microsoft.com/office/drawing/2014/main" id="{2BA200AD-64DF-9EA9-931D-7CC351D191B5}"/>
              </a:ext>
            </a:extLst>
          </p:cNvPr>
          <p:cNvSpPr>
            <a:spLocks noGrp="1"/>
          </p:cNvSpPr>
          <p:nvPr>
            <p:ph type="body" sz="quarter" idx="26" hasCustomPrompt="1"/>
          </p:nvPr>
        </p:nvSpPr>
        <p:spPr>
          <a:xfrm>
            <a:off x="854964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4" name="Date 1">
            <a:extLst>
              <a:ext uri="{FF2B5EF4-FFF2-40B4-BE49-F238E27FC236}">
                <a16:creationId xmlns:a16="http://schemas.microsoft.com/office/drawing/2014/main" id="{AA7B335B-116C-4EAD-5E50-3BE7BD181DB6}"/>
              </a:ext>
            </a:extLst>
          </p:cNvPr>
          <p:cNvSpPr>
            <a:spLocks noGrp="1"/>
          </p:cNvSpPr>
          <p:nvPr>
            <p:ph type="body" sz="quarter" idx="25" hasCustomPrompt="1"/>
          </p:nvPr>
        </p:nvSpPr>
        <p:spPr>
          <a:xfrm>
            <a:off x="182880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74683345"/>
      </p:ext>
    </p:extLst>
  </p:cSld>
  <p:clrMapOvr>
    <a:masterClrMapping/>
  </p:clrMapOvr>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meline w/ Images">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4755AA01-CD1A-BA1A-6267-72402A650C10}"/>
              </a:ext>
            </a:extLst>
          </p:cNvPr>
          <p:cNvSpPr>
            <a:spLocks noGrp="1"/>
          </p:cNvSpPr>
          <p:nvPr>
            <p:ph type="ftr" sz="quarter" idx="38"/>
          </p:nvPr>
        </p:nvSpPr>
        <p:spPr/>
        <p:txBody>
          <a:bodyPr/>
          <a:lstStyle/>
          <a:p>
            <a:pPr>
              <a:lnSpc>
                <a:spcPct val="90000"/>
              </a:lnSpc>
            </a:pPr>
            <a:r>
              <a:rPr lang="en-US"/>
              <a:t>Source information in NVIDIA Sans, medium gray; 20 pt</a:t>
            </a:r>
            <a:endParaRPr lang="en-US" dirty="0"/>
          </a:p>
        </p:txBody>
      </p:sp>
      <p:sp>
        <p:nvSpPr>
          <p:cNvPr id="10" name="Slide Number Placeholder">
            <a:extLst>
              <a:ext uri="{FF2B5EF4-FFF2-40B4-BE49-F238E27FC236}">
                <a16:creationId xmlns:a16="http://schemas.microsoft.com/office/drawing/2014/main" id="{AEBDFF6D-5282-AD34-8B0E-F3B5DB237CA7}"/>
              </a:ext>
            </a:extLst>
          </p:cNvPr>
          <p:cNvSpPr>
            <a:spLocks noGrp="1"/>
          </p:cNvSpPr>
          <p:nvPr>
            <p:ph type="sldNum" sz="quarter" idx="39"/>
          </p:nvPr>
        </p:nvSpPr>
        <p:spPr/>
        <p:txBody>
          <a:bodyPr/>
          <a:lstStyle/>
          <a:p>
            <a:pPr>
              <a:lnSpc>
                <a:spcPct val="90000"/>
              </a:lnSpc>
            </a:pPr>
            <a:fld id="{5D6728F8-03AC-4059-94FB-90617981AE50}" type="slidenum">
              <a:rPr lang="en-US" smtClean="0"/>
              <a:pPr/>
              <a:t>‹#›</a:t>
            </a:fld>
            <a:endParaRPr lang="en-US"/>
          </a:p>
        </p:txBody>
      </p:sp>
      <p:sp>
        <p:nvSpPr>
          <p:cNvPr id="19" name="Subtext 5">
            <a:extLst>
              <a:ext uri="{FF2B5EF4-FFF2-40B4-BE49-F238E27FC236}">
                <a16:creationId xmlns:a16="http://schemas.microsoft.com/office/drawing/2014/main" id="{79595540-7D50-9C33-11AB-4737EDCA05B4}"/>
              </a:ext>
            </a:extLst>
          </p:cNvPr>
          <p:cNvSpPr>
            <a:spLocks noGrp="1"/>
          </p:cNvSpPr>
          <p:nvPr>
            <p:ph type="body" sz="quarter" idx="30" hasCustomPrompt="1"/>
          </p:nvPr>
        </p:nvSpPr>
        <p:spPr>
          <a:xfrm>
            <a:off x="2871216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5" name="Picture Placeholder 5">
            <a:extLst>
              <a:ext uri="{FF2B5EF4-FFF2-40B4-BE49-F238E27FC236}">
                <a16:creationId xmlns:a16="http://schemas.microsoft.com/office/drawing/2014/main" id="{B7F07BEA-9328-83D7-7A86-EF49E5AB367B}"/>
              </a:ext>
            </a:extLst>
          </p:cNvPr>
          <p:cNvSpPr>
            <a:spLocks noGrp="1" noChangeAspect="1"/>
          </p:cNvSpPr>
          <p:nvPr>
            <p:ph type="pic" sz="quarter" idx="36" hasCustomPrompt="1"/>
          </p:nvPr>
        </p:nvSpPr>
        <p:spPr>
          <a:xfrm>
            <a:off x="2903220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20" name="Header 5">
            <a:extLst>
              <a:ext uri="{FF2B5EF4-FFF2-40B4-BE49-F238E27FC236}">
                <a16:creationId xmlns:a16="http://schemas.microsoft.com/office/drawing/2014/main" id="{8469ED06-1608-84FC-0D7B-6FBF3420653E}"/>
              </a:ext>
            </a:extLst>
          </p:cNvPr>
          <p:cNvSpPr>
            <a:spLocks noGrp="1"/>
          </p:cNvSpPr>
          <p:nvPr>
            <p:ph type="body" sz="quarter" idx="31" hasCustomPrompt="1"/>
          </p:nvPr>
        </p:nvSpPr>
        <p:spPr>
          <a:xfrm>
            <a:off x="2871216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8" name="Date 5">
            <a:extLst>
              <a:ext uri="{FF2B5EF4-FFF2-40B4-BE49-F238E27FC236}">
                <a16:creationId xmlns:a16="http://schemas.microsoft.com/office/drawing/2014/main" id="{197DC0FF-E771-C7E5-1839-62718E5C287F}"/>
              </a:ext>
            </a:extLst>
          </p:cNvPr>
          <p:cNvSpPr>
            <a:spLocks noGrp="1"/>
          </p:cNvSpPr>
          <p:nvPr>
            <p:ph type="body" sz="quarter" idx="29" hasCustomPrompt="1"/>
          </p:nvPr>
        </p:nvSpPr>
        <p:spPr>
          <a:xfrm>
            <a:off x="28712161"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1991321"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4" name="Picture Placeholder 4">
            <a:extLst>
              <a:ext uri="{FF2B5EF4-FFF2-40B4-BE49-F238E27FC236}">
                <a16:creationId xmlns:a16="http://schemas.microsoft.com/office/drawing/2014/main" id="{272FF6CA-4EAC-CC1F-F26F-2BCDDEECA983}"/>
              </a:ext>
            </a:extLst>
          </p:cNvPr>
          <p:cNvSpPr>
            <a:spLocks noGrp="1" noChangeAspect="1"/>
          </p:cNvSpPr>
          <p:nvPr>
            <p:ph type="pic" sz="quarter" idx="35" hasCustomPrompt="1"/>
          </p:nvPr>
        </p:nvSpPr>
        <p:spPr>
          <a:xfrm>
            <a:off x="22311361"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1991321"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7" name="Date 4">
            <a:extLst>
              <a:ext uri="{FF2B5EF4-FFF2-40B4-BE49-F238E27FC236}">
                <a16:creationId xmlns:a16="http://schemas.microsoft.com/office/drawing/2014/main" id="{8A35295F-18C1-E7C2-4B76-FA98F00E0CEF}"/>
              </a:ext>
            </a:extLst>
          </p:cNvPr>
          <p:cNvSpPr>
            <a:spLocks noGrp="1"/>
          </p:cNvSpPr>
          <p:nvPr>
            <p:ph type="body" sz="quarter" idx="28" hasCustomPrompt="1"/>
          </p:nvPr>
        </p:nvSpPr>
        <p:spPr>
          <a:xfrm>
            <a:off x="21991321"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527048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3" name="Picture Placeholder 3">
            <a:extLst>
              <a:ext uri="{FF2B5EF4-FFF2-40B4-BE49-F238E27FC236}">
                <a16:creationId xmlns:a16="http://schemas.microsoft.com/office/drawing/2014/main" id="{F05EA37B-1E0F-5633-E2D2-0B1F3E9CBD61}"/>
              </a:ext>
            </a:extLst>
          </p:cNvPr>
          <p:cNvSpPr>
            <a:spLocks noGrp="1" noChangeAspect="1"/>
          </p:cNvSpPr>
          <p:nvPr>
            <p:ph type="pic" sz="quarter" idx="34" hasCustomPrompt="1"/>
          </p:nvPr>
        </p:nvSpPr>
        <p:spPr>
          <a:xfrm>
            <a:off x="1559052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527048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6" name="Date 3">
            <a:extLst>
              <a:ext uri="{FF2B5EF4-FFF2-40B4-BE49-F238E27FC236}">
                <a16:creationId xmlns:a16="http://schemas.microsoft.com/office/drawing/2014/main" id="{AA8E5F1F-D8CB-AF2C-6402-A88184D72178}"/>
              </a:ext>
            </a:extLst>
          </p:cNvPr>
          <p:cNvSpPr>
            <a:spLocks noGrp="1"/>
          </p:cNvSpPr>
          <p:nvPr>
            <p:ph type="body" sz="quarter" idx="27" hasCustomPrompt="1"/>
          </p:nvPr>
        </p:nvSpPr>
        <p:spPr>
          <a:xfrm>
            <a:off x="15270480"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854964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2" name="Picture Placeholder 2">
            <a:extLst>
              <a:ext uri="{FF2B5EF4-FFF2-40B4-BE49-F238E27FC236}">
                <a16:creationId xmlns:a16="http://schemas.microsoft.com/office/drawing/2014/main" id="{BD4D4623-91D4-3807-8FEA-A1445E516A8F}"/>
              </a:ext>
            </a:extLst>
          </p:cNvPr>
          <p:cNvSpPr>
            <a:spLocks noGrp="1" noChangeAspect="1"/>
          </p:cNvSpPr>
          <p:nvPr>
            <p:ph type="pic" sz="quarter" idx="33" hasCustomPrompt="1"/>
          </p:nvPr>
        </p:nvSpPr>
        <p:spPr>
          <a:xfrm>
            <a:off x="886968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854964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5" name="Date 2">
            <a:extLst>
              <a:ext uri="{FF2B5EF4-FFF2-40B4-BE49-F238E27FC236}">
                <a16:creationId xmlns:a16="http://schemas.microsoft.com/office/drawing/2014/main" id="{2BA200AD-64DF-9EA9-931D-7CC351D191B5}"/>
              </a:ext>
            </a:extLst>
          </p:cNvPr>
          <p:cNvSpPr>
            <a:spLocks noGrp="1"/>
          </p:cNvSpPr>
          <p:nvPr>
            <p:ph type="body" sz="quarter" idx="26" hasCustomPrompt="1"/>
          </p:nvPr>
        </p:nvSpPr>
        <p:spPr>
          <a:xfrm>
            <a:off x="8549640"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3" name="Picture Placeholder 1">
            <a:extLst>
              <a:ext uri="{FF2B5EF4-FFF2-40B4-BE49-F238E27FC236}">
                <a16:creationId xmlns:a16="http://schemas.microsoft.com/office/drawing/2014/main" id="{56269049-A39A-59CE-F6F5-56614D1F130A}"/>
              </a:ext>
            </a:extLst>
          </p:cNvPr>
          <p:cNvSpPr>
            <a:spLocks noGrp="1" noChangeAspect="1"/>
          </p:cNvSpPr>
          <p:nvPr>
            <p:ph type="pic" sz="quarter" idx="32" hasCustomPrompt="1"/>
          </p:nvPr>
        </p:nvSpPr>
        <p:spPr>
          <a:xfrm>
            <a:off x="2148840" y="10736828"/>
            <a:ext cx="5714999"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4" name="Date 1">
            <a:extLst>
              <a:ext uri="{FF2B5EF4-FFF2-40B4-BE49-F238E27FC236}">
                <a16:creationId xmlns:a16="http://schemas.microsoft.com/office/drawing/2014/main" id="{AA7B335B-116C-4EAD-5E50-3BE7BD181DB6}"/>
              </a:ext>
            </a:extLst>
          </p:cNvPr>
          <p:cNvSpPr>
            <a:spLocks noGrp="1"/>
          </p:cNvSpPr>
          <p:nvPr>
            <p:ph type="body" sz="quarter" idx="25" hasCustomPrompt="1"/>
          </p:nvPr>
        </p:nvSpPr>
        <p:spPr>
          <a:xfrm>
            <a:off x="1828800" y="7480220"/>
            <a:ext cx="6035040" cy="646331"/>
          </a:xfrm>
        </p:spPr>
        <p:txBody>
          <a:bodyPr wrap="square" lIns="320040" tIns="45720" anchor="b">
            <a:noAutofit/>
          </a:bodyPr>
          <a:lstStyle>
            <a:lvl1pPr marL="0" marR="0" indent="0" algn="l" defTabSz="2743200" rtl="0" eaLnBrk="1" fontAlgn="auto" latinLnBrk="0" hangingPunct="1">
              <a:lnSpc>
                <a:spcPct val="100000"/>
              </a:lnSpc>
              <a:spcBef>
                <a:spcPts val="0"/>
              </a:spcBef>
              <a:spcAft>
                <a:spcPts val="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58575897"/>
      </p:ext>
    </p:extLst>
  </p:cSld>
  <p:clrMapOvr>
    <a:masterClrMapping/>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Subtitle (Centered)">
    <p:spTree>
      <p:nvGrpSpPr>
        <p:cNvPr id="1" name=""/>
        <p:cNvGrpSpPr/>
        <p:nvPr/>
      </p:nvGrpSpPr>
      <p:grpSpPr>
        <a:xfrm>
          <a:off x="0" y="0"/>
          <a:ext cx="0" cy="0"/>
          <a:chOff x="0" y="0"/>
          <a:chExt cx="0" cy="0"/>
        </a:xfrm>
      </p:grpSpPr>
      <p:sp>
        <p:nvSpPr>
          <p:cNvPr id="4" name="Slide Number Placeholder">
            <a:extLst>
              <a:ext uri="{FF2B5EF4-FFF2-40B4-BE49-F238E27FC236}">
                <a16:creationId xmlns:a16="http://schemas.microsoft.com/office/drawing/2014/main" id="{148C0C1F-BDEF-41A8-0F04-DDA5A236CBDA}"/>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ct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ctr">
              <a:defRPr>
                <a:latin typeface="+mj-lt"/>
              </a:defRPr>
            </a:lvl1pPr>
          </a:lstStyle>
          <a:p>
            <a:r>
              <a:rPr lang="en-US" dirty="0"/>
              <a:t>Click to Edit Title Here</a:t>
            </a:r>
          </a:p>
        </p:txBody>
      </p:sp>
    </p:spTree>
    <p:extLst>
      <p:ext uri="{BB962C8B-B14F-4D97-AF65-F5344CB8AC3E}">
        <p14:creationId xmlns:p14="http://schemas.microsoft.com/office/powerpoint/2010/main" val="1672345238"/>
      </p:ext>
    </p:extLst>
  </p:cSld>
  <p:clrMapOvr>
    <a:masterClrMapping/>
  </p:clrMapOvr>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62168749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Logo Text">
            <a:extLst>
              <a:ext uri="{FF2B5EF4-FFF2-40B4-BE49-F238E27FC236}">
                <a16:creationId xmlns:a16="http://schemas.microsoft.com/office/drawing/2014/main" id="{1BF75DB8-C4B4-5045-D3CD-0BB9D247A702}"/>
              </a:ext>
            </a:extLst>
          </p:cNvPr>
          <p:cNvSpPr>
            <a:spLocks noGrp="1" noRot="1" noMove="1" noResize="1" noEditPoints="1" noAdjustHandles="1" noChangeArrowheads="1" noChangeShapeType="1"/>
          </p:cNvSpPr>
          <p:nvPr userDrawn="1"/>
        </p:nvSpPr>
        <p:spPr>
          <a:xfrm>
            <a:off x="34543020" y="19448330"/>
            <a:ext cx="1119785" cy="20988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chemeClr val="tx1"/>
          </a:solidFill>
          <a:ln w="692" cap="flat">
            <a:noFill/>
            <a:prstDash val="solid"/>
            <a:miter/>
          </a:ln>
        </p:spPr>
        <p:txBody>
          <a:bodyPr/>
          <a:lstStyle/>
          <a:p>
            <a:endParaRPr lang="en-US"/>
          </a:p>
        </p:txBody>
      </p:sp>
      <p:sp>
        <p:nvSpPr>
          <p:cNvPr id="2" name="Logo Eye">
            <a:extLst>
              <a:ext uri="{FF2B5EF4-FFF2-40B4-BE49-F238E27FC236}">
                <a16:creationId xmlns:a16="http://schemas.microsoft.com/office/drawing/2014/main" id="{5530284D-5EA9-3120-4325-FD1BC8D4981C}"/>
              </a:ext>
            </a:extLst>
          </p:cNvPr>
          <p:cNvSpPr>
            <a:spLocks noGrp="1" noRot="1" noMove="1" noResize="1" noEditPoints="1" noAdjustHandles="1" noChangeArrowheads="1" noChangeShapeType="1"/>
          </p:cNvSpPr>
          <p:nvPr userDrawn="1"/>
        </p:nvSpPr>
        <p:spPr>
          <a:xfrm>
            <a:off x="33981198" y="19388273"/>
            <a:ext cx="482575" cy="319331"/>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chemeClr val="accent1"/>
          </a:solidFill>
          <a:ln w="692" cap="flat">
            <a:noFill/>
            <a:prstDash val="solid"/>
            <a:miter/>
          </a:ln>
        </p:spPr>
        <p:txBody>
          <a:bodyPr/>
          <a:lstStyle/>
          <a:p>
            <a:endParaRPr lang="en-US"/>
          </a:p>
        </p:txBody>
      </p:sp>
      <p:sp>
        <p:nvSpPr>
          <p:cNvPr id="8" name="Footer (Source) Placeholder">
            <a:extLst>
              <a:ext uri="{FF2B5EF4-FFF2-40B4-BE49-F238E27FC236}">
                <a16:creationId xmlns:a16="http://schemas.microsoft.com/office/drawing/2014/main" id="{4FAE9B2E-10E6-DEBE-165A-2C6E8B9CDBE2}"/>
              </a:ext>
            </a:extLst>
          </p:cNvPr>
          <p:cNvSpPr>
            <a:spLocks noGrp="1"/>
          </p:cNvSpPr>
          <p:nvPr>
            <p:ph type="ftr" sz="quarter" idx="3"/>
          </p:nvPr>
        </p:nvSpPr>
        <p:spPr>
          <a:xfrm>
            <a:off x="7543800" y="19431000"/>
            <a:ext cx="21488400" cy="369332"/>
          </a:xfrm>
          <a:prstGeom prst="rect">
            <a:avLst/>
          </a:prstGeom>
        </p:spPr>
        <p:txBody>
          <a:bodyPr vert="horz" lIns="0" tIns="45720" rIns="0" bIns="45720" rtlCol="0" anchor="b">
            <a:noAutofit/>
          </a:bodyPr>
          <a:lstStyle>
            <a:lvl1pPr algn="ctr">
              <a:lnSpc>
                <a:spcPct val="90000"/>
              </a:lnSpc>
              <a:defRPr sz="2000" kern="100" baseline="0">
                <a:solidFill>
                  <a:schemeClr val="accent6"/>
                </a:solidFill>
                <a:latin typeface="+mn-lt"/>
              </a:defRPr>
            </a:lvl1pPr>
          </a:lstStyle>
          <a:p>
            <a:r>
              <a:rPr lang="en-US"/>
              <a:t>Source information in NVIDIA Sans, medium gray; 20 pt</a:t>
            </a:r>
            <a:endParaRPr lang="en-US" dirty="0"/>
          </a:p>
        </p:txBody>
      </p:sp>
      <p:sp>
        <p:nvSpPr>
          <p:cNvPr id="4" name="Slide Number Placeholder">
            <a:extLst>
              <a:ext uri="{FF2B5EF4-FFF2-40B4-BE49-F238E27FC236}">
                <a16:creationId xmlns:a16="http://schemas.microsoft.com/office/drawing/2014/main" id="{FCDFCB45-17BD-2C7E-0517-95E82587DB73}"/>
              </a:ext>
            </a:extLst>
          </p:cNvPr>
          <p:cNvSpPr>
            <a:spLocks noGrp="1"/>
          </p:cNvSpPr>
          <p:nvPr>
            <p:ph type="sldNum" sz="quarter" idx="4"/>
          </p:nvPr>
        </p:nvSpPr>
        <p:spPr>
          <a:xfrm>
            <a:off x="914400" y="19431000"/>
            <a:ext cx="640080" cy="369332"/>
          </a:xfrm>
          <a:prstGeom prst="rect">
            <a:avLst/>
          </a:prstGeom>
        </p:spPr>
        <p:txBody>
          <a:bodyPr vert="horz" lIns="0" tIns="45720" rIns="0" bIns="45720" rtlCol="0" anchor="ctr">
            <a:noAutofit/>
          </a:bodyPr>
          <a:lstStyle>
            <a:lvl1pPr algn="l">
              <a:lnSpc>
                <a:spcPct val="90000"/>
              </a:lnSpc>
              <a:defRPr sz="2000" kern="100" baseline="0">
                <a:solidFill>
                  <a:schemeClr val="tx1"/>
                </a:solidFill>
              </a:defRPr>
            </a:lvl1pPr>
          </a:lstStyle>
          <a:p>
            <a:pPr>
              <a:lnSpc>
                <a:spcPct val="90000"/>
              </a:lnSpc>
            </a:pPr>
            <a:fld id="{5D6728F8-03AC-4059-94FB-90617981AE50}" type="slidenum">
              <a:rPr lang="en-US" smtClean="0"/>
              <a:pPr/>
              <a:t>‹#›</a:t>
            </a:fld>
            <a:endParaRPr lang="en-US"/>
          </a:p>
        </p:txBody>
      </p:sp>
      <p:sp>
        <p:nvSpPr>
          <p:cNvPr id="17" name="Text Placeholder">
            <a:extLst>
              <a:ext uri="{FF2B5EF4-FFF2-40B4-BE49-F238E27FC236}">
                <a16:creationId xmlns:a16="http://schemas.microsoft.com/office/drawing/2014/main" id="{C331F8D2-7838-5A11-2D90-06BE8391CD64}"/>
              </a:ext>
            </a:extLst>
          </p:cNvPr>
          <p:cNvSpPr>
            <a:spLocks noGrp="1"/>
          </p:cNvSpPr>
          <p:nvPr>
            <p:ph type="body" idx="1"/>
          </p:nvPr>
        </p:nvSpPr>
        <p:spPr>
          <a:xfrm>
            <a:off x="1828800" y="5943600"/>
            <a:ext cx="32918400" cy="12801600"/>
          </a:xfrm>
          <a:prstGeom prst="rect">
            <a:avLst/>
          </a:prstGeom>
        </p:spPr>
        <p:txBody>
          <a:bodyPr vert="horz" lIns="0" tIns="45720" rIns="0" bIns="45720" rtlCol="0">
            <a:noAutofit/>
          </a:body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Placeholder">
            <a:extLst>
              <a:ext uri="{FF2B5EF4-FFF2-40B4-BE49-F238E27FC236}">
                <a16:creationId xmlns:a16="http://schemas.microsoft.com/office/drawing/2014/main" id="{1F6E4B95-41AA-56A9-319C-9DB7C4A76069}"/>
              </a:ext>
            </a:extLst>
          </p:cNvPr>
          <p:cNvSpPr>
            <a:spLocks noGrp="1"/>
          </p:cNvSpPr>
          <p:nvPr>
            <p:ph type="title"/>
          </p:nvPr>
        </p:nvSpPr>
        <p:spPr>
          <a:xfrm>
            <a:off x="1828800" y="914400"/>
            <a:ext cx="32918400" cy="2468880"/>
          </a:xfrm>
          <a:prstGeom prst="rect">
            <a:avLst/>
          </a:prstGeom>
        </p:spPr>
        <p:txBody>
          <a:bodyPr vert="horz" lIns="0" tIns="45720" rIns="0" bIns="45720" rtlCol="0" anchor="b">
            <a:noAutofit/>
          </a:bodyPr>
          <a:lstStyle/>
          <a:p>
            <a:pPr indent="0">
              <a:lnSpc>
                <a:spcPct val="90000"/>
              </a:lnSpc>
            </a:pPr>
            <a:r>
              <a:rPr lang="en-US" sz="8800" dirty="0"/>
              <a:t>Click to Edit Title Here</a:t>
            </a:r>
            <a:br>
              <a:rPr lang="en-US" sz="8800" dirty="0"/>
            </a:br>
            <a:r>
              <a:rPr lang="en-US" sz="8800" dirty="0"/>
              <a:t>2-lines Maximum Length</a:t>
            </a:r>
          </a:p>
        </p:txBody>
      </p:sp>
      <p:sp>
        <p:nvSpPr>
          <p:cNvPr id="5" name="Date (Confidential) Placeholder">
            <a:extLst>
              <a:ext uri="{FF2B5EF4-FFF2-40B4-BE49-F238E27FC236}">
                <a16:creationId xmlns:a16="http://schemas.microsoft.com/office/drawing/2014/main" id="{EE584683-E47B-15C6-C9DA-D716A01324CE}"/>
              </a:ext>
            </a:extLst>
          </p:cNvPr>
          <p:cNvSpPr>
            <a:spLocks noGrp="1"/>
          </p:cNvSpPr>
          <p:nvPr>
            <p:ph type="dt" sz="half" idx="2"/>
          </p:nvPr>
        </p:nvSpPr>
        <p:spPr>
          <a:xfrm>
            <a:off x="1828800" y="19431000"/>
            <a:ext cx="5669280" cy="369332"/>
          </a:xfrm>
          <a:prstGeom prst="rect">
            <a:avLst/>
          </a:prstGeom>
        </p:spPr>
        <p:txBody>
          <a:bodyPr vert="horz" lIns="0" tIns="45720" rIns="0" bIns="45720" rtlCol="0" anchor="ctr">
            <a:noAutofit/>
          </a:bodyPr>
          <a:lstStyle>
            <a:lvl1pPr algn="l">
              <a:lnSpc>
                <a:spcPct val="90000"/>
              </a:lnSpc>
              <a:defRPr sz="2000" kern="100" baseline="0">
                <a:solidFill>
                  <a:schemeClr val="tx1"/>
                </a:solidFill>
                <a:latin typeface="+mj-lt"/>
              </a:defRPr>
            </a:lvl1pPr>
          </a:lstStyle>
          <a:p>
            <a:r>
              <a:rPr lang="en-US" dirty="0">
                <a:cs typeface="NVIDIA Sans" panose="020B0503020203020204" pitchFamily="34" charset="0"/>
              </a:rPr>
              <a:t>NVIDIA CONFIDENTIAL. DO NOT DISTRIBUTE.</a:t>
            </a:r>
          </a:p>
        </p:txBody>
      </p:sp>
    </p:spTree>
    <p:extLst>
      <p:ext uri="{BB962C8B-B14F-4D97-AF65-F5344CB8AC3E}">
        <p14:creationId xmlns:p14="http://schemas.microsoft.com/office/powerpoint/2010/main" val="4116705580"/>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23" r:id="rId7"/>
    <p:sldLayoutId id="2147483707" r:id="rId8"/>
    <p:sldLayoutId id="2147483662" r:id="rId9"/>
    <p:sldLayoutId id="2147483667" r:id="rId10"/>
    <p:sldLayoutId id="2147483674" r:id="rId11"/>
    <p:sldLayoutId id="2147483668" r:id="rId12"/>
    <p:sldLayoutId id="2147483673" r:id="rId13"/>
    <p:sldLayoutId id="2147483672" r:id="rId14"/>
    <p:sldLayoutId id="2147483694" r:id="rId15"/>
    <p:sldLayoutId id="2147483759" r:id="rId16"/>
    <p:sldLayoutId id="2147483682" r:id="rId17"/>
    <p:sldLayoutId id="2147483683" r:id="rId18"/>
    <p:sldLayoutId id="2147483684" r:id="rId19"/>
    <p:sldLayoutId id="2147483708" r:id="rId20"/>
    <p:sldLayoutId id="2147483709" r:id="rId21"/>
    <p:sldLayoutId id="2147483685" r:id="rId22"/>
    <p:sldLayoutId id="2147483688" r:id="rId23"/>
    <p:sldLayoutId id="2147483690" r:id="rId24"/>
    <p:sldLayoutId id="2147483689" r:id="rId25"/>
    <p:sldLayoutId id="2147483691" r:id="rId26"/>
    <p:sldLayoutId id="2147483692" r:id="rId27"/>
    <p:sldLayoutId id="2147483693" r:id="rId28"/>
    <p:sldLayoutId id="2147483703" r:id="rId29"/>
    <p:sldLayoutId id="2147483695" r:id="rId30"/>
    <p:sldLayoutId id="2147483696" r:id="rId31"/>
    <p:sldLayoutId id="2147483697" r:id="rId32"/>
    <p:sldLayoutId id="2147483698" r:id="rId33"/>
    <p:sldLayoutId id="2147483699" r:id="rId34"/>
    <p:sldLayoutId id="2147483700" r:id="rId35"/>
    <p:sldLayoutId id="2147483701" r:id="rId36"/>
    <p:sldLayoutId id="2147483705" r:id="rId37"/>
    <p:sldLayoutId id="2147483716" r:id="rId38"/>
    <p:sldLayoutId id="2147483704" r:id="rId39"/>
    <p:sldLayoutId id="2147483675" r:id="rId40"/>
    <p:sldLayoutId id="2147483676" r:id="rId41"/>
    <p:sldLayoutId id="2147483677" r:id="rId42"/>
    <p:sldLayoutId id="2147483681" r:id="rId43"/>
    <p:sldLayoutId id="2147483669" r:id="rId44"/>
  </p:sldLayoutIdLst>
  <p:hf hdr="0" dt="0"/>
  <p:txStyles>
    <p:titleStyle>
      <a:lvl1pPr indent="0" algn="l" defTabSz="2743200" rtl="0" eaLnBrk="1" latinLnBrk="0" hangingPunct="1">
        <a:lnSpc>
          <a:spcPct val="90000"/>
        </a:lnSpc>
        <a:spcBef>
          <a:spcPct val="0"/>
        </a:spcBef>
        <a:buNone/>
        <a:defRPr sz="8800" kern="100" baseline="0">
          <a:solidFill>
            <a:schemeClr val="tx1"/>
          </a:solidFill>
          <a:latin typeface="+mj-lt"/>
          <a:ea typeface="+mj-ea"/>
          <a:cs typeface="NVIDIA Sans Medium" panose="020B0603020203020204" pitchFamily="34" charset="0"/>
        </a:defRPr>
      </a:lvl1pPr>
    </p:titleStyle>
    <p:bodyStyle>
      <a:lvl1pPr marL="0" indent="0" algn="l" defTabSz="2743200" rtl="0" eaLnBrk="1" latinLnBrk="0" hangingPunct="1">
        <a:lnSpc>
          <a:spcPct val="90000"/>
        </a:lnSpc>
        <a:spcBef>
          <a:spcPts val="1600"/>
        </a:spcBef>
        <a:spcAft>
          <a:spcPts val="1600"/>
        </a:spcAft>
        <a:buClr>
          <a:schemeClr val="accent1"/>
        </a:buClr>
        <a:buFont typeface="NVIDIA Sans" panose="020B0503020203020204" pitchFamily="34" charset="0"/>
        <a:buChar char="​"/>
        <a:defRPr sz="4400" kern="100" baseline="0">
          <a:solidFill>
            <a:schemeClr val="tx1"/>
          </a:solidFill>
          <a:latin typeface="+mn-lt"/>
          <a:ea typeface="+mn-ea"/>
          <a:cs typeface="NVIDIA Sans" panose="020B0503020203020204" pitchFamily="34" charset="0"/>
        </a:defRPr>
      </a:lvl1pPr>
      <a:lvl2pPr marL="457200" indent="-457200" algn="l" defTabSz="2743200" rtl="0" eaLnBrk="1" latinLnBrk="0" hangingPunct="1">
        <a:lnSpc>
          <a:spcPct val="90000"/>
        </a:lnSpc>
        <a:spcBef>
          <a:spcPts val="1600"/>
        </a:spcBef>
        <a:spcAft>
          <a:spcPts val="1600"/>
        </a:spcAft>
        <a:buClr>
          <a:schemeClr val="accent1"/>
        </a:buClr>
        <a:buFont typeface="NVIDIA Sans" panose="020B0503020203020204" pitchFamily="34" charset="0"/>
        <a:buChar char="•"/>
        <a:defRPr sz="4000" kern="100" baseline="0">
          <a:solidFill>
            <a:schemeClr val="tx1"/>
          </a:solidFill>
          <a:latin typeface="+mn-lt"/>
          <a:ea typeface="+mn-ea"/>
          <a:cs typeface="NVIDIA Sans" panose="020B0503020203020204" pitchFamily="34" charset="0"/>
        </a:defRPr>
      </a:lvl2pPr>
      <a:lvl3pPr marL="9144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3600" kern="100" baseline="0">
          <a:solidFill>
            <a:schemeClr val="tx1"/>
          </a:solidFill>
          <a:latin typeface="+mn-lt"/>
          <a:ea typeface="+mn-ea"/>
          <a:cs typeface="NVIDIA Sans" panose="020B0503020203020204" pitchFamily="34" charset="0"/>
        </a:defRPr>
      </a:lvl3pPr>
      <a:lvl4pPr marL="13716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3200" kern="100" baseline="0">
          <a:solidFill>
            <a:schemeClr val="tx1"/>
          </a:solidFill>
          <a:latin typeface="+mn-lt"/>
          <a:ea typeface="+mn-ea"/>
          <a:cs typeface="NVIDIA Sans" panose="020B0503020203020204" pitchFamily="34" charset="0"/>
        </a:defRPr>
      </a:lvl4pPr>
      <a:lvl5pPr marL="18288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2800" kern="100" baseline="0">
          <a:solidFill>
            <a:schemeClr val="tx1"/>
          </a:solidFill>
          <a:latin typeface="+mn-lt"/>
          <a:ea typeface="+mn-ea"/>
          <a:cs typeface="NVIDIA Sans" panose="020B0503020203020204" pitchFamily="34" charset="0"/>
        </a:defRPr>
      </a:lvl5pPr>
      <a:lvl6pPr marL="75438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6pPr>
      <a:lvl7pPr marL="89154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7pPr>
      <a:lvl8pPr marL="102870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8pPr>
      <a:lvl9pPr marL="116586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9pPr>
    </p:bodyStyle>
    <p:otherStyle>
      <a:defPPr>
        <a:defRPr lang="en-US"/>
      </a:defPPr>
      <a:lvl1pPr marL="0" algn="l" defTabSz="2743200" rtl="0" eaLnBrk="1" latinLnBrk="0" hangingPunct="1">
        <a:defRPr sz="5400" kern="1200">
          <a:solidFill>
            <a:schemeClr val="tx1"/>
          </a:solidFill>
          <a:latin typeface="+mn-lt"/>
          <a:ea typeface="+mn-ea"/>
          <a:cs typeface="+mn-cs"/>
        </a:defRPr>
      </a:lvl1pPr>
      <a:lvl2pPr marL="1371600" algn="l" defTabSz="2743200" rtl="0" eaLnBrk="1" latinLnBrk="0" hangingPunct="1">
        <a:defRPr sz="5400" kern="1200">
          <a:solidFill>
            <a:schemeClr val="tx1"/>
          </a:solidFill>
          <a:latin typeface="+mn-lt"/>
          <a:ea typeface="+mn-ea"/>
          <a:cs typeface="+mn-cs"/>
        </a:defRPr>
      </a:lvl2pPr>
      <a:lvl3pPr marL="2743200" algn="l" defTabSz="2743200" rtl="0" eaLnBrk="1" latinLnBrk="0" hangingPunct="1">
        <a:defRPr sz="5400" kern="1200">
          <a:solidFill>
            <a:schemeClr val="tx1"/>
          </a:solidFill>
          <a:latin typeface="+mn-lt"/>
          <a:ea typeface="+mn-ea"/>
          <a:cs typeface="+mn-cs"/>
        </a:defRPr>
      </a:lvl3pPr>
      <a:lvl4pPr marL="4114800" algn="l" defTabSz="2743200" rtl="0" eaLnBrk="1" latinLnBrk="0" hangingPunct="1">
        <a:defRPr sz="5400" kern="1200">
          <a:solidFill>
            <a:schemeClr val="tx1"/>
          </a:solidFill>
          <a:latin typeface="+mn-lt"/>
          <a:ea typeface="+mn-ea"/>
          <a:cs typeface="+mn-cs"/>
        </a:defRPr>
      </a:lvl4pPr>
      <a:lvl5pPr marL="5486400" algn="l" defTabSz="2743200" rtl="0" eaLnBrk="1" latinLnBrk="0" hangingPunct="1">
        <a:defRPr sz="5400" kern="1200">
          <a:solidFill>
            <a:schemeClr val="tx1"/>
          </a:solidFill>
          <a:latin typeface="+mn-lt"/>
          <a:ea typeface="+mn-ea"/>
          <a:cs typeface="+mn-cs"/>
        </a:defRPr>
      </a:lvl5pPr>
      <a:lvl6pPr marL="6858000" algn="l" defTabSz="2743200" rtl="0" eaLnBrk="1" latinLnBrk="0" hangingPunct="1">
        <a:defRPr sz="5400" kern="1200">
          <a:solidFill>
            <a:schemeClr val="tx1"/>
          </a:solidFill>
          <a:latin typeface="+mn-lt"/>
          <a:ea typeface="+mn-ea"/>
          <a:cs typeface="+mn-cs"/>
        </a:defRPr>
      </a:lvl6pPr>
      <a:lvl7pPr marL="8229600" algn="l" defTabSz="2743200" rtl="0" eaLnBrk="1" latinLnBrk="0" hangingPunct="1">
        <a:defRPr sz="5400" kern="1200">
          <a:solidFill>
            <a:schemeClr val="tx1"/>
          </a:solidFill>
          <a:latin typeface="+mn-lt"/>
          <a:ea typeface="+mn-ea"/>
          <a:cs typeface="+mn-cs"/>
        </a:defRPr>
      </a:lvl7pPr>
      <a:lvl8pPr marL="9601200" algn="l" defTabSz="2743200" rtl="0" eaLnBrk="1" latinLnBrk="0" hangingPunct="1">
        <a:defRPr sz="5400" kern="1200">
          <a:solidFill>
            <a:schemeClr val="tx1"/>
          </a:solidFill>
          <a:latin typeface="+mn-lt"/>
          <a:ea typeface="+mn-ea"/>
          <a:cs typeface="+mn-cs"/>
        </a:defRPr>
      </a:lvl8pPr>
      <a:lvl9pPr marL="10972800" algn="l" defTabSz="2743200" rtl="0" eaLnBrk="1" latinLnBrk="0" hangingPunct="1">
        <a:defRPr sz="54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65151"/>
          </p15:clr>
        </p15:guide>
        <p15:guide id="2" pos="23040" userDrawn="1">
          <p15:clr>
            <a:srgbClr val="F65151"/>
          </p15:clr>
        </p15:guide>
        <p15:guide id="3" pos="1152" userDrawn="1">
          <p15:clr>
            <a:srgbClr val="F65151"/>
          </p15:clr>
        </p15:guide>
        <p15:guide id="4" pos="21888" userDrawn="1">
          <p15:clr>
            <a:srgbClr val="F65151"/>
          </p15:clr>
        </p15:guide>
        <p15:guide id="5" orient="horz" userDrawn="1">
          <p15:clr>
            <a:srgbClr val="F65151"/>
          </p15:clr>
        </p15:guide>
        <p15:guide id="6" orient="horz" pos="12960" userDrawn="1">
          <p15:clr>
            <a:srgbClr val="F65151"/>
          </p15:clr>
        </p15:guide>
        <p15:guide id="7" orient="horz" pos="1152" userDrawn="1">
          <p15:clr>
            <a:srgbClr val="F65151"/>
          </p15:clr>
        </p15:guide>
        <p15:guide id="8" orient="horz" pos="11808" userDrawn="1">
          <p15:clr>
            <a:srgbClr val="F65151"/>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chart" Target="../charts/chart4.xml"/><Relationship Id="rId3" Type="http://schemas.openxmlformats.org/officeDocument/2006/relationships/image" Target="../media/image15.png"/><Relationship Id="rId4" Type="http://schemas.openxmlformats.org/officeDocument/2006/relationships/notesSlide" Target="../notesSlides/notesSlide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Relationship Id="rId3" Type="http://schemas.openxmlformats.org/officeDocument/2006/relationships/hyperlink" Target="https://lishunyang12.github.io/fasth3-omni-evaluation-20261018/slides/minimax-h3-real-time-inference-20261025/v1.39/latency-breakdown.html" TargetMode="External"/><Relationship Id="rId4" Type="http://schemas.openxmlformats.org/officeDocument/2006/relationships/hyperlink" Target="https://lishunyang12.github.io/fasth3-omni-evaluation-20261018/slides/minimax-h3-real-time-inference-20261025/v1.40/baseline-breakdown.html" TargetMode="External"/><Relationship Id="rId5" Type="http://schemas.openxmlformats.org/officeDocument/2006/relationships/hyperlink" Target="https://lishunyang12.github.io/fasth3-omni-evaluation-20261018/slides/minimax-h3-real-time-inference-20261025/v1.42/baseline-breakdown.html"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4.xml"/><Relationship Id="rId3" Type="http://schemas.openxmlformats.org/officeDocument/2006/relationships/image" Target="../media/image1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5.xml"/><Relationship Id="rId3" Type="http://schemas.openxmlformats.org/officeDocument/2006/relationships/image" Target="../media/image1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xml"/><Relationship Id="rId3" Type="http://schemas.openxmlformats.org/officeDocument/2006/relationships/image" Target="../media/image29.png"/><Relationship Id="rId4" Type="http://schemas.openxmlformats.org/officeDocument/2006/relationships/image" Target="../media/h3vector6.svg"/><Relationship Id="rId5" Type="http://schemas.openxmlformats.org/officeDocument/2006/relationships/image" Target="../media/image19.png"/><Relationship Id="rId6" Type="http://schemas.openxmlformats.org/officeDocument/2006/relationships/image" Target="../media/h3vector7.sv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xml"/><Relationship Id="rId3" Type="http://schemas.microsoft.com/office/2007/relationships/media" Target="../media/media1.mp4"/><Relationship Id="rId4" Type="http://schemas.openxmlformats.org/officeDocument/2006/relationships/video" Target="../media/media1.mp4"/><Relationship Id="rId5" Type="http://schemas.openxmlformats.org/officeDocument/2006/relationships/image" Target="../media/image13.png"/><Relationship Id="rId6" Type="http://schemas.microsoft.com/office/2007/relationships/media" Target="../media/media2.mp4"/><Relationship Id="rId7" Type="http://schemas.openxmlformats.org/officeDocument/2006/relationships/video" Target="../media/media2.mp4"/><Relationship Id="rId8" Type="http://schemas.openxmlformats.org/officeDocument/2006/relationships/image" Target="../media/image14.png"/><Relationship Id="rId9" Type="http://schemas.microsoft.com/office/2007/relationships/media" Target="../media/media3.mp4"/><Relationship Id="rId10" Type="http://schemas.openxmlformats.org/officeDocument/2006/relationships/video" Target="../media/media3.mp4"/><Relationship Id="rId11" Type="http://schemas.openxmlformats.org/officeDocument/2006/relationships/image" Target="../media/image28.png"/><Relationship Id="rId12" Type="http://schemas.microsoft.com/office/2007/relationships/media" Target="../media/media4.mp4"/><Relationship Id="rId13" Type="http://schemas.openxmlformats.org/officeDocument/2006/relationships/video" Target="../media/media4.mp4"/><Relationship Id="rId14" Type="http://schemas.openxmlformats.org/officeDocument/2006/relationships/image" Target="../media/image3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0.xml"/><Relationship Id="rId3" Type="http://schemas.openxmlformats.org/officeDocument/2006/relationships/image" Target="../media/image23.png"/><Relationship Id="rId4" Type="http://schemas.openxmlformats.org/officeDocument/2006/relationships/image" Target="../media/image8.png"/><Relationship Id="rId5" Type="http://schemas.openxmlformats.org/officeDocument/2006/relationships/image" Target="../media/h3vector1.svg"/><Relationship Id="rId6" Type="http://schemas.openxmlformats.org/officeDocument/2006/relationships/hyperlink" Target="https://grateful-requirements-dictionaries-impacts.trycloudflare.com/scaling/ulysses.svg" TargetMode="External"/><Relationship Id="rId7" Type="http://schemas.openxmlformats.org/officeDocument/2006/relationships/image" Target="../media/image22.png"/><Relationship Id="rId8" Type="http://schemas.openxmlformats.org/officeDocument/2006/relationships/image" Target="../media/h3vector13.svg"/><Relationship Id="rId9" Type="http://schemas.openxmlformats.org/officeDocument/2006/relationships/hyperlink" Target="https://lishunyang12.github.io/fasth3-omni-evaluation-20261018/reports/h3-liveavatar-long-video-20261014/"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1.xml"/><Relationship Id="rId3" Type="http://schemas.openxmlformats.org/officeDocument/2006/relationships/image" Target="../media/image24.png"/><Relationship Id="rId4" Type="http://schemas.openxmlformats.org/officeDocument/2006/relationships/image" Target="../media/image12.png"/><Relationship Id="rId5" Type="http://schemas.openxmlformats.org/officeDocument/2006/relationships/image" Target="../media/image9.png"/><Relationship Id="rId6" Type="http://schemas.openxmlformats.org/officeDocument/2006/relationships/image" Target="../media/h3vector2.svg"/><Relationship Id="rId7" Type="http://schemas.openxmlformats.org/officeDocument/2006/relationships/image" Target="../media/h3vector5.svg"/><Relationship Id="rId8" Type="http://schemas.openxmlformats.org/officeDocument/2006/relationships/image" Target="../media/image20.png"/><Relationship Id="rId9" Type="http://schemas.openxmlformats.org/officeDocument/2006/relationships/image" Target="../media/h3vector8.svg"/><Relationship Id="rId10" Type="http://schemas.openxmlformats.org/officeDocument/2006/relationships/image" Target="../media/image25.png"/><Relationship Id="rId11" Type="http://schemas.openxmlformats.org/officeDocument/2006/relationships/image" Target="../media/h3vector14.sv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2.xml"/><Relationship Id="rId3" Type="http://schemas.openxmlformats.org/officeDocument/2006/relationships/image" Target="../media/image10.png"/><Relationship Id="rId4" Type="http://schemas.openxmlformats.org/officeDocument/2006/relationships/image" Target="../media/h3vector3.svg"/><Relationship Id="rId5" Type="http://schemas.openxmlformats.org/officeDocument/2006/relationships/image" Target="../media/image11.png"/><Relationship Id="rId6" Type="http://schemas.openxmlformats.org/officeDocument/2006/relationships/image" Target="../media/h3vector4.sv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8.xml"/><Relationship Id="rId3" Type="http://schemas.openxmlformats.org/officeDocument/2006/relationships/image" Target="../media/image31.png"/><Relationship Id="rId4" Type="http://schemas.openxmlformats.org/officeDocument/2006/relationships/image" Target="../media/h3vector9.svg"/><Relationship Id="rId5" Type="http://schemas.openxmlformats.org/officeDocument/2006/relationships/image" Target="../media/image33.png"/><Relationship Id="rId6" Type="http://schemas.openxmlformats.org/officeDocument/2006/relationships/image" Target="../media/h3vector11.svg"/><Relationship Id="rId7" Type="http://schemas.openxmlformats.org/officeDocument/2006/relationships/image" Target="../media/image32.png"/><Relationship Id="rId8" Type="http://schemas.openxmlformats.org/officeDocument/2006/relationships/image" Target="../media/h3vector15.sv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7.xml"/><Relationship Id="rId3" Type="http://schemas.openxmlformats.org/officeDocument/2006/relationships/image" Target="../media/image34.png"/><Relationship Id="rId4" Type="http://schemas.openxmlformats.org/officeDocument/2006/relationships/image" Target="../media/h3vector12.svg"/><Relationship Id="rId5" Type="http://schemas.openxmlformats.org/officeDocument/2006/relationships/image" Target="../media/image21.png"/><Relationship Id="rId6" Type="http://schemas.openxmlformats.org/officeDocument/2006/relationships/image" Target="../media/h3vector10.svg"/><Relationship Id="rId7" Type="http://schemas.openxmlformats.org/officeDocument/2006/relationships/image" Target="../media/image35.png"/><Relationship Id="rId8" Type="http://schemas.openxmlformats.org/officeDocument/2006/relationships/image" Target="../media/h3vector16.sv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4.xml"/><Relationship Id="rId3" Type="http://schemas.openxmlformats.org/officeDocument/2006/relationships/hyperlink" Target="https://lishunyang12.github.io/fasth3-omni-evaluation-20261018/slides/minimax-h3-real-time-inference-20261025/v1.39/benchmarks.html" TargetMode="External"/><Relationship Id="rId4" Type="http://schemas.openxmlformats.org/officeDocument/2006/relationships/hyperlink" Target="https://lishunyang12.github.io/fasth3-omni-evaluation-20261018/slides/minimax-h3-real-time-inference-20261025/v1.42/benchmarks.html"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9.xml"/><Relationship Id="rId3" Type="http://schemas.openxmlformats.org/officeDocument/2006/relationships/hyperlink" Target="https://lishunyang12.github.io/fasth3-omni-evaluation-20261018/slides/minimax-h3-real-time-inference-20261025/v1.42/demo-config.html" TargetMode="External"/><Relationship Id="rId4" Type="http://schemas.openxmlformats.org/officeDocument/2006/relationships/image" Target="../media/image27.jpg"/><Relationship Id="rId5" Type="http://schemas.openxmlformats.org/officeDocument/2006/relationships/image" Target="../media/image3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8.xml"/><Relationship Id="rId3" Type="http://schemas.openxmlformats.org/officeDocument/2006/relationships/image" Target="../media/image16.png"/><Relationship Id="rId4" Type="http://schemas.openxmlformats.org/officeDocument/2006/relationships/image" Target="../media/image3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microsoft.com/office/2007/relationships/media" Target="../media/media5.mp4"/><Relationship Id="rId3" Type="http://schemas.openxmlformats.org/officeDocument/2006/relationships/video" Target="../media/media5.mp4"/><Relationship Id="rId4" Type="http://schemas.openxmlformats.org/officeDocument/2006/relationships/image" Target="../media/image26.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2" sz="quarter"/>
          </p:nvPr>
        </p:nvSpPr>
        <p:spPr>
          <a:xfrm>
            <a:off x="1828800" y="17190720"/>
            <a:ext cx="16459200" cy="1051560"/>
          </a:xfrm>
        </p:spPr>
        <p:txBody>
          <a:bodyPr/>
          <a:lstStyle/>
          <a:p>
            <a:r>
              <a:rPr>
                <a:solidFill>
                  <a:srgbClr val="313131"/>
                </a:solidFill>
              </a:rPr>
              <a:t>Shunyang Li | Benchmarks measured | 27 Oct 2026</a:t>
            </a:r>
          </a:p>
        </p:txBody>
      </p:sp>
      <p:sp>
        <p:nvSpPr>
          <p:cNvPr id="3" name="Text Placeholder 2"/>
          <p:cNvSpPr>
            <a:spLocks noGrp="1"/>
          </p:cNvSpPr>
          <p:nvPr>
            <p:ph type="body" idx="11" sz="quarter"/>
          </p:nvPr>
        </p:nvSpPr>
        <p:spPr>
          <a:xfrm>
            <a:off x="1828800" y="15956280"/>
            <a:ext cx="16459200" cy="1005840"/>
          </a:xfrm>
        </p:spPr>
        <p:txBody>
          <a:bodyPr/>
          <a:lstStyle/>
          <a:p>
            <a:r>
              <a:rPr sz="5800">
                <a:latin typeface="NVIDIA Sans"/>
              </a:rPr>
              <a:t>8× RTX PRO 5000 · vLLM-Omni</a:t>
            </a:r>
          </a:p>
        </p:txBody>
      </p:sp>
      <p:sp>
        <p:nvSpPr>
          <p:cNvPr id="4" name="Text Placeholder 3"/>
          <p:cNvSpPr>
            <a:spLocks noGrp="1"/>
          </p:cNvSpPr>
          <p:nvPr>
            <p:ph type="body" idx="10" sz="quarter"/>
          </p:nvPr>
        </p:nvSpPr>
        <p:spPr/>
        <p:txBody>
          <a:bodyPr/>
          <a:lstStyle/>
          <a:p>
            <a:r>
              <a:t>Toward Real-Time Generation</a:t>
            </a:r>
            <a:br/>
            <a:r>
              <a:t>With MiniMax H3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4" sz="quarter"/>
          </p:nvPr>
        </p:nvSpPr>
        <p:spPr/>
        <p:txBody>
          <a:bodyPr/>
          <a:lstStyle/>
          <a:p>
            <a:r>
              <a:t>A 124-frame clip at 24 FPS is real time only when end-to-end latency stays below 5.167 s (RTF &lt; 1)</a:t>
            </a:r>
          </a:p>
        </p:txBody>
      </p:sp>
      <p:sp>
        <p:nvSpPr>
          <p:cNvPr id="3" name="Title 2"/>
          <p:cNvSpPr>
            <a:spLocks noGrp="1"/>
          </p:cNvSpPr>
          <p:nvPr>
            <p:ph type="title"/>
          </p:nvPr>
        </p:nvSpPr>
        <p:spPr/>
        <p:txBody>
          <a:bodyPr/>
          <a:lstStyle/>
          <a:p>
            <a:r>
              <a:t>Real-Time Ref2VA Raises the Systems Bar</a:t>
            </a:r>
          </a:p>
        </p:txBody>
      </p:sp>
      <p:sp>
        <p:nvSpPr>
          <p:cNvPr id="4" name="Text Placeholder 3"/>
          <p:cNvSpPr>
            <a:spLocks noGrp="1"/>
          </p:cNvSpPr>
          <p:nvPr>
            <p:ph type="body" idx="52" sz="quarter"/>
          </p:nvPr>
        </p:nvSpPr>
        <p:spPr>
          <a:xfrm>
            <a:off x="1828799" y="16510765"/>
            <a:ext cx="16114094" cy="1142250"/>
          </a:xfrm>
        </p:spPr>
        <p:txBody>
          <a:bodyPr/>
          <a:lstStyle/>
          <a:p>
            <a:r>
              <a:t>RTF = latency ÷ media duration; the 124-frame deadline is 5.167 s. H3 has the largest dense backbone in this peer set; Wan2.2 has 27B total and 14B active parameters</a:t>
            </a:r>
          </a:p>
        </p:txBody>
      </p:sp>
      <p:sp>
        <p:nvSpPr>
          <p:cNvPr id="5" name="Text Placeholder 4"/>
          <p:cNvSpPr>
            <a:spLocks noGrp="1"/>
          </p:cNvSpPr>
          <p:nvPr>
            <p:ph type="body" idx="51" sz="quarter"/>
          </p:nvPr>
        </p:nvSpPr>
        <p:spPr/>
        <p:txBody>
          <a:bodyPr/>
          <a:lstStyle/>
          <a:p>
            <a:r>
              <a:t>Generative Backbone · Full Parameters (B)</a:t>
            </a:r>
          </a:p>
        </p:txBody>
      </p:sp>
      <p:sp>
        <p:nvSpPr>
          <p:cNvPr id="7" name="Text Placeholder 6"/>
          <p:cNvSpPr>
            <a:spLocks noGrp="1"/>
          </p:cNvSpPr>
          <p:nvPr>
            <p:ph type="body" idx="54" sz="quarter"/>
          </p:nvPr>
        </p:nvSpPr>
        <p:spPr>
          <a:xfrm>
            <a:off x="18633106" y="16510765"/>
            <a:ext cx="16114093" cy="1142250"/>
          </a:xfrm>
        </p:spPr>
        <p:txBody>
          <a:bodyPr/>
          <a:lstStyle/>
          <a:p>
            <a:r>
              <a:t>A 32B encoder feeds the 33B Omni Transformer and visual/audio VAEs. Fifty transformer blocks are evaluated at each of 50 baseline steps.</a:t>
            </a:r>
          </a:p>
        </p:txBody>
      </p:sp>
      <p:sp>
        <p:nvSpPr>
          <p:cNvPr id="8" name="Text Placeholder 7"/>
          <p:cNvSpPr>
            <a:spLocks noGrp="1"/>
          </p:cNvSpPr>
          <p:nvPr>
            <p:ph type="body" idx="55" sz="quarter"/>
          </p:nvPr>
        </p:nvSpPr>
        <p:spPr>
          <a:xfrm>
            <a:off x="18633106" y="15884910"/>
            <a:ext cx="16114093" cy="859536"/>
          </a:xfrm>
        </p:spPr>
        <p:txBody>
          <a:bodyPr/>
          <a:lstStyle/>
          <a:p>
            <a:r>
              <a:t>Model Capability · Native 768P · 33B Dense</a:t>
            </a:r>
          </a:p>
        </p:txBody>
      </p:sp>
      <p:pic>
        <p:nvPicPr>
          <p:cNvPr id="9" name="Picture Placeholder 8" descr="minimax-h3-full-arch-official.png"/>
          <p:cNvPicPr>
            <a:picLocks noGrp="1" noChangeAspect="1"/>
          </p:cNvPicPr>
          <p:nvPr>
            <p:ph type="pic" idx="56" sz="quarter"/>
          </p:nvPr>
        </p:nvPicPr>
        <p:blipFill>
          <a:blip r:embed="rId3"/>
          <a:srcRect l="653" r="653"/>
          <a:stretch>
            <a:fillRect/>
          </a:stretch>
        </p:blipFill>
        <p:spPr>
          <a:ln w="9525">
            <a:solidFill>
              <a:srgbClr val="A7A7A7"/>
            </a:solidFill>
          </a:ln>
        </p:spPr>
      </p:pic>
      <p:graphicFrame>
        <p:nvGraphicFramePr>
          <p:cNvPr id="10" name="Official Peer Model Comparison">
            <a:extLst>
              <a:ext uri="{FF2B5EF4-FFF2-40B4-BE49-F238E27FC236}">
                <a16:creationId xmlns:a16="http://schemas.microsoft.com/office/drawing/2014/main" id="{F2889B58-350F-0276-FAA0-10762D276A99}"/>
              </a:ext>
            </a:extLst>
          </p:cNvPr>
          <p:cNvGraphicFramePr>
            <a:graphicFrameLocks noGrp="1"/>
          </p:cNvGraphicFramePr>
          <p:nvPr>
            <p:ph type="chart" sz="quarter" idx="17"/>
          </p:nvPr>
        </p:nvGraphicFramePr>
        <p:xfrm>
          <a:off x="1828799" y="6583679"/>
          <a:ext cx="16114094" cy="9067992"/>
        </p:xfrm>
        <a:graphic>
          <a:graphicData uri="http://schemas.openxmlformats.org/drawingml/2006/chart">
            <c:chart xmlns:c="http://schemas.openxmlformats.org/drawingml/2006/chart" r:id="rId2"/>
          </a:graphicData>
        </a:graphic>
      </p:graphicFrame>
      <p:sp>
        <p:nvSpPr>
          <p:cNvPr id="11"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sz="2000" b="0">
                <a:solidFill>
                  <a:srgbClr val="A7A7A7"/>
                </a:solidFill>
                <a:latin typeface="NVIDIA Sans"/>
              </a:rPr>
              <a:t>Sources: MiniMax H3, Wan2.2, LTX-2.5 and HunyuanVideo-1.5 official releases · author 960×544 Ref2VA workload</a:t>
            </a:r>
            <a:endParaRPr lang="en-US" dirty="0"/>
          </a:p>
        </p:txBody>
      </p:sp>
      <p:sp>
        <p:nvSpPr>
          <p:cNvPr id="12"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2</a:t>
            </a:fld>
            <a:endParaRPr lang="en-US"/>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a:xfrm>
            <a:off x="1828800" y="3383280"/>
            <a:ext cx="32918400" cy="1600200"/>
          </a:xfrm>
        </p:spPr>
        <p:txBody>
          <a:bodyPr/>
          <a:lstStyle/>
          <a:p>
            <a:r>
              <a:t>All discrete SM120 cards pair fifth-generation Tensor Cores with GDDR7 and PCIe Gen5; none provides GPU-to-GPU NVLink</a:t>
            </a:r>
          </a:p>
        </p:txBody>
      </p:sp>
      <p:sp>
        <p:nvSpPr>
          <p:cNvPr id="3" name="Title 2"/>
          <p:cNvSpPr>
            <a:spLocks noGrp="1"/>
          </p:cNvSpPr>
          <p:nvPr>
            <p:ph type="title"/>
          </p:nvPr>
        </p:nvSpPr>
        <p:spPr/>
        <p:txBody>
          <a:bodyPr/>
          <a:lstStyle/>
          <a:p>
            <a:r>
              <a:t>SM120 Brings FP4 Compute; PCIe Limits Scale</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3</a:t>
            </a:fld>
            <a:endParaRPr lang="en-US"/>
          </a:p>
        </p:txBody>
      </p:sp>
      <p:graphicFrame>
        <p:nvGraphicFramePr>
          <p:cNvPr id="5" name="Official NVIDIA Table">
            <a:extLst>
              <a:ext uri="{FF2B5EF4-FFF2-40B4-BE49-F238E27FC236}">
                <a16:creationId xmlns:a16="http://schemas.microsoft.com/office/drawing/2014/main" id="{BDAAE77A-7210-CB41-C14A-7F60A48AB8AE}"/>
              </a:ext>
            </a:extLst>
          </p:cNvPr>
          <p:cNvGraphicFramePr>
            <a:graphicFrameLocks noGrp="1"/>
          </p:cNvGraphicFramePr>
          <p:nvPr>
            <p:extLst>
              <p:ext uri="{D42A27DB-BD31-4B8C-83A1-F6EECF244321}">
                <p14:modId xmlns:p14="http://schemas.microsoft.com/office/powerpoint/2010/main" val="3311308616"/>
              </p:ext>
            </p:extLst>
          </p:nvPr>
        </p:nvGraphicFramePr>
        <p:xfrm>
          <a:off x="4152826" y="5925803"/>
          <a:ext cx="28270321" cy="10799064"/>
        </p:xfrm>
        <a:graphic>
          <a:graphicData uri="http://schemas.openxmlformats.org/drawingml/2006/table">
            <a:tbl>
              <a:tblPr>
                <a:tableStyleId>{68D230F3-CF80-4859-8CE7-A43EE81993B5}</a:tableStyleId>
              </a:tblPr>
              <a:tblGrid>
                <a:gridCol w="6812280">
                  <a:extLst>
                    <a:ext uri="{9D8B030D-6E8A-4147-A177-3AD203B41FA5}">
                      <a16:colId xmlns:a16="http://schemas.microsoft.com/office/drawing/2014/main" val="1714626306"/>
                    </a:ext>
                  </a:extLst>
                </a:gridCol>
                <a:gridCol w="7406640">
                  <a:extLst>
                    <a:ext uri="{9D8B030D-6E8A-4147-A177-3AD203B41FA5}">
                      <a16:colId xmlns:a16="http://schemas.microsoft.com/office/drawing/2014/main" val="1697748500"/>
                    </a:ext>
                  </a:extLst>
                </a:gridCol>
                <a:gridCol w="6629400">
                  <a:extLst>
                    <a:ext uri="{9D8B030D-6E8A-4147-A177-3AD203B41FA5}">
                      <a16:colId xmlns:a16="http://schemas.microsoft.com/office/drawing/2014/main" val="3872581152"/>
                    </a:ext>
                  </a:extLst>
                </a:gridCol>
                <a:gridCol w="7422001">
                  <a:extLst>
                    <a:ext uri="{9D8B030D-6E8A-4147-A177-3AD203B41FA5}">
                      <a16:colId xmlns:a16="http://schemas.microsoft.com/office/drawing/2014/main" val="2543914041"/>
                    </a:ext>
                  </a:extLst>
                </a:gridCol>
              </a:tblGrid>
              <a:tr h="1161288">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SKU</a:t>
                      </a:r>
                      <a:endParaRPr lang="en-US" sz="4400" b="0" kern="1200" dirty="0">
                        <a:solidFill>
                          <a:schemeClr val="accent1"/>
                        </a:solidFill>
                        <a:latin typeface="+mj-lt"/>
                        <a:ea typeface="+mn-ea"/>
                        <a:cs typeface="NVIDIA Sans" panose="020B0503020203020204" pitchFamily="34" charset="0"/>
                      </a:endParaRPr>
                    </a:p>
                  </a:txBody>
                  <a:tcPr marL="365760" marR="182880" marT="152400" marB="15240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Compute</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Memory</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GPU I/O / Fabric</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958895191"/>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RTX PRO 5000 ×8</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Blackwell</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SM120 · 110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72 GB GDDR7 ECC</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48 GB variant</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PCIe Gen5 ×16</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Planned: RDMA via NIC*</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120594288"/>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RTX PRO 6000</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WS / Server</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SM120 · 188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96 GB GDDR7 ECC</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PCIe Gen5 ×16</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No GPU NVLink</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863754937"/>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GeForce RTX 5090</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SM120 · 170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32 GB GDDR7</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PCIe Gen5 ×16</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No NVLink</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568137814"/>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DGX Spark · GB10</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SM121 · 48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128 GB unified</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LPDDR5X</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NVLink-C2C in SoC</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200 Gb/s ConnectX-7</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2751747690"/>
                  </a:ext>
                </a:extLst>
              </a:tr>
            </a:tbl>
          </a:graphicData>
        </a:graphic>
      </p:graphicFrame>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 Planned system path; GPUDirect RDMA requires a compatible NIC and PCIe topology · Sources: NVIDIA product specs, CUDA GPU table, GPUDirect RDMA guide</a:t>
            </a:r>
            <a:endParaRPr lang="en-US" dirty="0"/>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4</a:t>
            </a:r>
          </a:p>
        </p:txBody>
      </p:sp>
      <p:sp>
        <p:nvSpPr>
          <p:cNvPr id="3" name="Text Placeholder 2"/>
          <p:cNvSpPr>
            <a:spLocks noGrp="1"/>
          </p:cNvSpPr>
          <p:nvPr>
            <p:ph type="body" idx="13" sz="quarter"/>
          </p:nvPr>
        </p:nvSpPr>
        <p:spPr/>
        <p:txBody>
          <a:bodyPr/>
          <a:lstStyle/>
          <a:p>
            <a:r>
              <a:t>E2E: 213.402 s  ·  Generated video: 960 × 544, 5.167 s</a:t>
            </a:r>
          </a:p>
        </p:txBody>
      </p:sp>
      <p:sp>
        <p:nvSpPr>
          <p:cNvPr id="4" name="Title 3"/>
          <p:cNvSpPr>
            <a:spLocks noGrp="1"/>
          </p:cNvSpPr>
          <p:nvPr>
            <p:ph type="title"/>
          </p:nvPr>
        </p:nvSpPr>
        <p:spPr/>
        <p:txBody>
          <a:bodyPr/>
          <a:lstStyle/>
          <a:p>
            <a:r>
              <a:t>Baseline: Latency Breakdown</a:t>
            </a:r>
          </a:p>
        </p:txBody>
      </p:sp>
      <p:sp>
        <p:nvSpPr>
          <p:cNvPr id="5" name="Config heading"/>
          <p:cNvSpPr txBox="1"/>
          <p:nvPr/>
        </p:nvSpPr>
        <p:spPr>
          <a:xfrm>
            <a:off x="1828800" y="5349240"/>
            <a:ext cx="12344400" cy="914400"/>
          </a:xfrm>
          <a:prstGeom prst="rect">
            <a:avLst/>
          </a:prstGeom>
          <a:noFill/>
        </p:spPr>
        <p:txBody>
          <a:bodyPr wrap="square" lIns="0" rIns="0" tIns="0" bIns="0">
            <a:spAutoFit/>
          </a:bodyPr>
          <a:lstStyle/>
          <a:p>
            <a:pPr>
              <a:spcBef>
                <a:spcPts val="0"/>
              </a:spcBef>
              <a:spcAft>
                <a:spcPts val="0"/>
              </a:spcAft>
            </a:pPr>
            <a:r>
              <a:rPr sz="4400" b="0">
                <a:solidFill>
                  <a:srgbClr val="000000"/>
                </a:solidFill>
                <a:latin typeface="NVIDIA Sans Medium"/>
              </a:rPr>
              <a:t>Reference configuration</a:t>
            </a:r>
          </a:p>
        </p:txBody>
      </p:sp>
      <p:sp>
        <p:nvSpPr>
          <p:cNvPr id="6" name="Reference configuration bullets"/>
          <p:cNvSpPr txBox="1"/>
          <p:nvPr/>
        </p:nvSpPr>
        <p:spPr>
          <a:xfrm>
            <a:off x="1828800" y="7315200"/>
            <a:ext cx="12344400" cy="10607040"/>
          </a:xfrm>
          <a:prstGeom prst="rect">
            <a:avLst/>
          </a:prstGeom>
          <a:noFill/>
        </p:spPr>
        <p:txBody>
          <a:bodyPr wrap="square" lIns="0" rIns="0" tIns="0" bIns="0">
            <a:spAutoFit/>
          </a:bodyPr>
          <a:lstStyle/>
          <a:p>
            <a:pPr marL="384048" indent="-310896">
              <a:spcBef>
                <a:spcPts val="0"/>
              </a:spcBef>
              <a:spcAft>
                <a:spcPts val="2200"/>
              </a:spcAft>
              <a:buFont typeface="NVIDIA Sans"/>
              <a:buChar char="•"/>
            </a:pPr>
            <a:r>
              <a:rPr sz="3800" b="0">
                <a:solidFill>
                  <a:srgbClr val="000000"/>
                </a:solidFill>
                <a:latin typeface="NVIDIA Sans"/>
              </a:rPr>
              <a:t>8 × PRO 5000 GPUs (SM120)</a:t>
            </a:r>
          </a:p>
          <a:p>
            <a:pPr marL="384048" indent="-310896">
              <a:spcBef>
                <a:spcPts val="0"/>
              </a:spcBef>
              <a:spcAft>
                <a:spcPts val="2200"/>
              </a:spcAft>
              <a:buFont typeface="NVIDIA Sans"/>
              <a:buChar char="•"/>
            </a:pPr>
            <a:r>
              <a:rPr sz="3800" b="0">
                <a:solidFill>
                  <a:srgbClr val="000000"/>
                </a:solidFill>
                <a:latin typeface="NVIDIA Sans"/>
              </a:rPr>
              <a:t>Original Ref2VA</a:t>
            </a:r>
          </a:p>
          <a:p>
            <a:pPr marL="384048" indent="-310896">
              <a:spcBef>
                <a:spcPts val="0"/>
              </a:spcBef>
              <a:spcAft>
                <a:spcPts val="2200"/>
              </a:spcAft>
              <a:buFont typeface="NVIDIA Sans"/>
              <a:buChar char="•"/>
            </a:pPr>
            <a:r>
              <a:rPr sz="3800" b="0">
                <a:solidFill>
                  <a:srgbClr val="000000"/>
                </a:solidFill>
                <a:latin typeface="NVIDIA Sans"/>
              </a:rPr>
              <a:t>50 steps · BF16 · dense attention</a:t>
            </a:r>
          </a:p>
          <a:p>
            <a:pPr marL="384048" indent="-310896">
              <a:spcBef>
                <a:spcPts val="0"/>
              </a:spcBef>
              <a:spcAft>
                <a:spcPts val="2200"/>
              </a:spcAft>
              <a:buFont typeface="NVIDIA Sans"/>
              <a:buChar char="•"/>
            </a:pPr>
            <a:r>
              <a:rPr sz="3800" b="0">
                <a:solidFill>
                  <a:srgbClr val="000000"/>
                </a:solidFill>
                <a:latin typeface="NVIDIA Sans"/>
              </a:rPr>
              <a:t>DiT TP1 / Ulysses8</a:t>
            </a:r>
          </a:p>
          <a:p>
            <a:pPr marL="384048" indent="-310896">
              <a:spcBef>
                <a:spcPts val="0"/>
              </a:spcBef>
              <a:spcAft>
                <a:spcPts val="2200"/>
              </a:spcAft>
              <a:buFont typeface="NVIDIA Sans"/>
              <a:buChar char="•"/>
            </a:pPr>
            <a:r>
              <a:rPr sz="3800" b="0">
                <a:solidFill>
                  <a:srgbClr val="000000"/>
                </a:solidFill>
                <a:latin typeface="NVIDIA Sans"/>
              </a:rPr>
              <a:t>Text encoder TP8 · VAE tiles8</a:t>
            </a:r>
          </a:p>
          <a:p>
            <a:pPr marL="384048" indent="-310896">
              <a:spcBef>
                <a:spcPts val="0"/>
              </a:spcBef>
              <a:spcAft>
                <a:spcPts val="2200"/>
              </a:spcAft>
              <a:buFont typeface="NVIDIA Sans"/>
              <a:buChar char="•"/>
            </a:pPr>
            <a:r>
              <a:rPr sz="3800" b="0">
                <a:solidFill>
                  <a:srgbClr val="000000"/>
                </a:solidFill>
                <a:latin typeface="NVIDIA Sans"/>
              </a:rPr>
              <a:t>Native VAE · FP16 decode</a:t>
            </a:r>
          </a:p>
        </p:txBody>
      </p:sp>
      <p:sp>
        <p:nvSpPr>
          <p:cNvPr id="7" name="GPU heading"/>
          <p:cNvSpPr txBox="1"/>
          <p:nvPr/>
        </p:nvSpPr>
        <p:spPr>
          <a:xfrm>
            <a:off x="15087600" y="5349240"/>
            <a:ext cx="19659600" cy="914400"/>
          </a:xfrm>
          <a:prstGeom prst="rect">
            <a:avLst/>
          </a:prstGeom>
          <a:noFill/>
        </p:spPr>
        <p:txBody>
          <a:bodyPr wrap="square" lIns="0" rIns="0" tIns="0" bIns="0">
            <a:spAutoFit/>
          </a:bodyPr>
          <a:lstStyle/>
          <a:p>
            <a:pPr>
              <a:spcBef>
                <a:spcPts val="0"/>
              </a:spcBef>
              <a:spcAft>
                <a:spcPts val="0"/>
              </a:spcAft>
            </a:pPr>
            <a:r>
              <a:rPr sz="4400" b="0">
                <a:solidFill>
                  <a:srgbClr val="000000"/>
                </a:solidFill>
                <a:latin typeface="NVIDIA Sans Medium"/>
              </a:rPr>
              <a:t>GPU work by operator</a:t>
            </a:r>
          </a:p>
        </p:txBody>
      </p:sp>
      <p:sp>
        <p:nvSpPr>
          <p:cNvPr id="8" name="GPU time column"/>
          <p:cNvSpPr txBox="1"/>
          <p:nvPr/>
        </p:nvSpPr>
        <p:spPr>
          <a:xfrm>
            <a:off x="26791920" y="6537960"/>
            <a:ext cx="493776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Mean s / GPU</a:t>
            </a:r>
          </a:p>
        </p:txBody>
      </p:sp>
      <p:sp>
        <p:nvSpPr>
          <p:cNvPr id="9" name="GPU share column"/>
          <p:cNvSpPr txBox="1"/>
          <p:nvPr/>
        </p:nvSpPr>
        <p:spPr>
          <a:xfrm>
            <a:off x="31912560" y="6537960"/>
            <a:ext cx="2834640" cy="548640"/>
          </a:xfrm>
          <a:prstGeom prst="rect">
            <a:avLst/>
          </a:prstGeom>
          <a:noFill/>
        </p:spPr>
        <p:txBody>
          <a:bodyPr wrap="square" lIns="0" rIns="0" tIns="0" bIns="0">
            <a:spAutoFit/>
          </a:bodyPr>
          <a:lstStyle/>
          <a:p>
            <a:pPr algn="r">
              <a:spcBef>
                <a:spcPts val="0"/>
              </a:spcBef>
              <a:spcAft>
                <a:spcPts val="0"/>
              </a:spcAft>
            </a:pPr>
            <a:r>
              <a:rPr sz="2400" b="0">
                <a:solidFill>
                  <a:srgbClr val="313131"/>
                </a:solidFill>
                <a:latin typeface="NVIDIA Sans"/>
              </a:rPr>
              <a:t>Share</a:t>
            </a:r>
          </a:p>
        </p:txBody>
      </p:sp>
      <p:sp>
        <p:nvSpPr>
          <p:cNvPr id="10" name="GPU category 0"/>
          <p:cNvSpPr txBox="1"/>
          <p:nvPr/>
        </p:nvSpPr>
        <p:spPr>
          <a:xfrm>
            <a:off x="15087600" y="7589520"/>
            <a:ext cx="11430000" cy="685800"/>
          </a:xfrm>
          <a:prstGeom prst="rect">
            <a:avLst/>
          </a:prstGeom>
          <a:noFill/>
        </p:spPr>
        <p:txBody>
          <a:bodyPr wrap="square" lIns="0" rIns="0" tIns="0" bIns="0">
            <a:spAutoFit/>
          </a:bodyPr>
          <a:lstStyle/>
          <a:p>
            <a:pPr>
              <a:spcBef>
                <a:spcPts val="0"/>
              </a:spcBef>
              <a:spcAft>
                <a:spcPts val="0"/>
              </a:spcAft>
            </a:pPr>
            <a:r>
              <a:rPr sz="3200" b="0">
                <a:solidFill>
                  <a:srgbClr val="000000"/>
                </a:solidFill>
                <a:latin typeface="NVIDIA Sans Medium"/>
              </a:rPr>
              <a:t>NCCL · includes waiting</a:t>
            </a:r>
          </a:p>
        </p:txBody>
      </p:sp>
      <p:sp>
        <p:nvSpPr>
          <p:cNvPr id="11" name="GPU seconds 0"/>
          <p:cNvSpPr txBox="1"/>
          <p:nvPr/>
        </p:nvSpPr>
        <p:spPr>
          <a:xfrm>
            <a:off x="27157680" y="7589520"/>
            <a:ext cx="4114800" cy="685800"/>
          </a:xfrm>
          <a:prstGeom prst="rect">
            <a:avLst/>
          </a:prstGeom>
          <a:noFill/>
        </p:spPr>
        <p:txBody>
          <a:bodyPr wrap="square" lIns="0" rIns="0" tIns="0" bIns="0">
            <a:spAutoFit/>
          </a:bodyPr>
          <a:lstStyle/>
          <a:p>
            <a:pPr algn="r">
              <a:spcBef>
                <a:spcPts val="0"/>
              </a:spcBef>
              <a:spcAft>
                <a:spcPts val="0"/>
              </a:spcAft>
            </a:pPr>
            <a:r>
              <a:rPr sz="3200" b="0">
                <a:solidFill>
                  <a:srgbClr val="000000"/>
                </a:solidFill>
                <a:latin typeface="NVIDIA Sans"/>
              </a:rPr>
              <a:t>122.182</a:t>
            </a:r>
          </a:p>
        </p:txBody>
      </p:sp>
      <p:sp>
        <p:nvSpPr>
          <p:cNvPr id="12" name="GPU share 0"/>
          <p:cNvSpPr txBox="1"/>
          <p:nvPr/>
        </p:nvSpPr>
        <p:spPr>
          <a:xfrm>
            <a:off x="31729680" y="7589520"/>
            <a:ext cx="3017520" cy="685800"/>
          </a:xfrm>
          <a:prstGeom prst="rect">
            <a:avLst/>
          </a:prstGeom>
          <a:noFill/>
        </p:spPr>
        <p:txBody>
          <a:bodyPr wrap="square" lIns="0" rIns="0" tIns="0" bIns="0">
            <a:spAutoFit/>
          </a:bodyPr>
          <a:lstStyle/>
          <a:p>
            <a:pPr algn="r">
              <a:spcBef>
                <a:spcPts val="0"/>
              </a:spcBef>
              <a:spcAft>
                <a:spcPts val="0"/>
              </a:spcAft>
            </a:pPr>
            <a:r>
              <a:rPr sz="3400" b="0">
                <a:solidFill>
                  <a:srgbClr val="000000"/>
                </a:solidFill>
                <a:latin typeface="NVIDIA Sans Medium"/>
              </a:rPr>
              <a:t>57.21%</a:t>
            </a:r>
          </a:p>
        </p:txBody>
      </p:sp>
      <p:sp>
        <p:nvSpPr>
          <p:cNvPr id="13" name="GPU bar track 0"/>
          <p:cNvSpPr/>
          <p:nvPr/>
        </p:nvSpPr>
        <p:spPr>
          <a:xfrm>
            <a:off x="15087600" y="8485632"/>
            <a:ext cx="19659600" cy="91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GPU bar 0"/>
          <p:cNvSpPr/>
          <p:nvPr/>
        </p:nvSpPr>
        <p:spPr>
          <a:xfrm>
            <a:off x="15087600" y="8485632"/>
            <a:ext cx="11248043" cy="9144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GPU category 1"/>
          <p:cNvSpPr txBox="1"/>
          <p:nvPr/>
        </p:nvSpPr>
        <p:spPr>
          <a:xfrm>
            <a:off x="15087600" y="8979408"/>
            <a:ext cx="11430000" cy="685800"/>
          </a:xfrm>
          <a:prstGeom prst="rect">
            <a:avLst/>
          </a:prstGeom>
          <a:noFill/>
        </p:spPr>
        <p:txBody>
          <a:bodyPr wrap="square" lIns="0" rIns="0" tIns="0" bIns="0">
            <a:spAutoFit/>
          </a:bodyPr>
          <a:lstStyle/>
          <a:p>
            <a:pPr>
              <a:spcBef>
                <a:spcPts val="0"/>
              </a:spcBef>
              <a:spcAft>
                <a:spcPts val="0"/>
              </a:spcAft>
            </a:pPr>
            <a:r>
              <a:rPr sz="3200" b="0">
                <a:solidFill>
                  <a:srgbClr val="000000"/>
                </a:solidFill>
                <a:latin typeface="NVIDIA Sans Medium"/>
              </a:rPr>
              <a:t>Attention</a:t>
            </a:r>
          </a:p>
        </p:txBody>
      </p:sp>
      <p:sp>
        <p:nvSpPr>
          <p:cNvPr id="16" name="GPU seconds 1"/>
          <p:cNvSpPr txBox="1"/>
          <p:nvPr/>
        </p:nvSpPr>
        <p:spPr>
          <a:xfrm>
            <a:off x="27157680" y="8979408"/>
            <a:ext cx="4114800" cy="685800"/>
          </a:xfrm>
          <a:prstGeom prst="rect">
            <a:avLst/>
          </a:prstGeom>
          <a:noFill/>
        </p:spPr>
        <p:txBody>
          <a:bodyPr wrap="square" lIns="0" rIns="0" tIns="0" bIns="0">
            <a:spAutoFit/>
          </a:bodyPr>
          <a:lstStyle/>
          <a:p>
            <a:pPr algn="r">
              <a:spcBef>
                <a:spcPts val="0"/>
              </a:spcBef>
              <a:spcAft>
                <a:spcPts val="0"/>
              </a:spcAft>
            </a:pPr>
            <a:r>
              <a:rPr sz="3200" b="0">
                <a:solidFill>
                  <a:srgbClr val="000000"/>
                </a:solidFill>
                <a:latin typeface="NVIDIA Sans"/>
              </a:rPr>
              <a:t>47.105</a:t>
            </a:r>
          </a:p>
        </p:txBody>
      </p:sp>
      <p:sp>
        <p:nvSpPr>
          <p:cNvPr id="17" name="GPU share 1"/>
          <p:cNvSpPr txBox="1"/>
          <p:nvPr/>
        </p:nvSpPr>
        <p:spPr>
          <a:xfrm>
            <a:off x="31729680" y="8979408"/>
            <a:ext cx="3017520" cy="685800"/>
          </a:xfrm>
          <a:prstGeom prst="rect">
            <a:avLst/>
          </a:prstGeom>
          <a:noFill/>
        </p:spPr>
        <p:txBody>
          <a:bodyPr wrap="square" lIns="0" rIns="0" tIns="0" bIns="0">
            <a:spAutoFit/>
          </a:bodyPr>
          <a:lstStyle/>
          <a:p>
            <a:pPr algn="r">
              <a:spcBef>
                <a:spcPts val="0"/>
              </a:spcBef>
              <a:spcAft>
                <a:spcPts val="0"/>
              </a:spcAft>
            </a:pPr>
            <a:r>
              <a:rPr sz="3400" b="0">
                <a:solidFill>
                  <a:srgbClr val="000000"/>
                </a:solidFill>
                <a:latin typeface="NVIDIA Sans Medium"/>
              </a:rPr>
              <a:t>22.06%</a:t>
            </a:r>
          </a:p>
        </p:txBody>
      </p:sp>
      <p:sp>
        <p:nvSpPr>
          <p:cNvPr id="18" name="GPU bar track 1"/>
          <p:cNvSpPr/>
          <p:nvPr/>
        </p:nvSpPr>
        <p:spPr>
          <a:xfrm>
            <a:off x="15087600" y="9875520"/>
            <a:ext cx="19659600" cy="91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GPU bar 1"/>
          <p:cNvSpPr/>
          <p:nvPr/>
        </p:nvSpPr>
        <p:spPr>
          <a:xfrm>
            <a:off x="15087600" y="9875520"/>
            <a:ext cx="4336525" cy="9144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GPU category 2"/>
          <p:cNvSpPr txBox="1"/>
          <p:nvPr/>
        </p:nvSpPr>
        <p:spPr>
          <a:xfrm>
            <a:off x="15087600" y="10369296"/>
            <a:ext cx="11430000" cy="685800"/>
          </a:xfrm>
          <a:prstGeom prst="rect">
            <a:avLst/>
          </a:prstGeom>
          <a:noFill/>
        </p:spPr>
        <p:txBody>
          <a:bodyPr wrap="square" lIns="0" rIns="0" tIns="0" bIns="0">
            <a:spAutoFit/>
          </a:bodyPr>
          <a:lstStyle/>
          <a:p>
            <a:pPr>
              <a:spcBef>
                <a:spcPts val="0"/>
              </a:spcBef>
              <a:spcAft>
                <a:spcPts val="0"/>
              </a:spcAft>
            </a:pPr>
            <a:r>
              <a:rPr sz="3200" b="0">
                <a:solidFill>
                  <a:srgbClr val="000000"/>
                </a:solidFill>
                <a:latin typeface="NVIDIA Sans Medium"/>
              </a:rPr>
              <a:t>GEMM</a:t>
            </a:r>
          </a:p>
        </p:txBody>
      </p:sp>
      <p:sp>
        <p:nvSpPr>
          <p:cNvPr id="21" name="GPU seconds 2"/>
          <p:cNvSpPr txBox="1"/>
          <p:nvPr/>
        </p:nvSpPr>
        <p:spPr>
          <a:xfrm>
            <a:off x="27157680" y="10369296"/>
            <a:ext cx="4114800" cy="685800"/>
          </a:xfrm>
          <a:prstGeom prst="rect">
            <a:avLst/>
          </a:prstGeom>
          <a:noFill/>
        </p:spPr>
        <p:txBody>
          <a:bodyPr wrap="square" lIns="0" rIns="0" tIns="0" bIns="0">
            <a:spAutoFit/>
          </a:bodyPr>
          <a:lstStyle/>
          <a:p>
            <a:pPr algn="r">
              <a:spcBef>
                <a:spcPts val="0"/>
              </a:spcBef>
              <a:spcAft>
                <a:spcPts val="0"/>
              </a:spcAft>
            </a:pPr>
            <a:r>
              <a:rPr sz="3200" b="0">
                <a:solidFill>
                  <a:srgbClr val="000000"/>
                </a:solidFill>
                <a:latin typeface="NVIDIA Sans"/>
              </a:rPr>
              <a:t>39.650</a:t>
            </a:r>
          </a:p>
        </p:txBody>
      </p:sp>
      <p:sp>
        <p:nvSpPr>
          <p:cNvPr id="22" name="GPU share 2"/>
          <p:cNvSpPr txBox="1"/>
          <p:nvPr/>
        </p:nvSpPr>
        <p:spPr>
          <a:xfrm>
            <a:off x="31729680" y="10369296"/>
            <a:ext cx="3017520" cy="685800"/>
          </a:xfrm>
          <a:prstGeom prst="rect">
            <a:avLst/>
          </a:prstGeom>
          <a:noFill/>
        </p:spPr>
        <p:txBody>
          <a:bodyPr wrap="square" lIns="0" rIns="0" tIns="0" bIns="0">
            <a:spAutoFit/>
          </a:bodyPr>
          <a:lstStyle/>
          <a:p>
            <a:pPr algn="r">
              <a:spcBef>
                <a:spcPts val="0"/>
              </a:spcBef>
              <a:spcAft>
                <a:spcPts val="0"/>
              </a:spcAft>
            </a:pPr>
            <a:r>
              <a:rPr sz="3400" b="0">
                <a:solidFill>
                  <a:srgbClr val="000000"/>
                </a:solidFill>
                <a:latin typeface="NVIDIA Sans Medium"/>
              </a:rPr>
              <a:t>18.57%</a:t>
            </a:r>
          </a:p>
        </p:txBody>
      </p:sp>
      <p:sp>
        <p:nvSpPr>
          <p:cNvPr id="23" name="GPU bar track 2"/>
          <p:cNvSpPr/>
          <p:nvPr/>
        </p:nvSpPr>
        <p:spPr>
          <a:xfrm>
            <a:off x="15087600" y="11265408"/>
            <a:ext cx="19659600" cy="91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GPU bar 2"/>
          <p:cNvSpPr/>
          <p:nvPr/>
        </p:nvSpPr>
        <p:spPr>
          <a:xfrm>
            <a:off x="15087600" y="11265408"/>
            <a:ext cx="3650143" cy="9144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GPU category 3"/>
          <p:cNvSpPr txBox="1"/>
          <p:nvPr/>
        </p:nvSpPr>
        <p:spPr>
          <a:xfrm>
            <a:off x="15087600" y="11759184"/>
            <a:ext cx="11430000" cy="685800"/>
          </a:xfrm>
          <a:prstGeom prst="rect">
            <a:avLst/>
          </a:prstGeom>
          <a:noFill/>
        </p:spPr>
        <p:txBody>
          <a:bodyPr wrap="square" lIns="0" rIns="0" tIns="0" bIns="0">
            <a:spAutoFit/>
          </a:bodyPr>
          <a:lstStyle/>
          <a:p>
            <a:pPr>
              <a:spcBef>
                <a:spcPts val="0"/>
              </a:spcBef>
              <a:spcAft>
                <a:spcPts val="0"/>
              </a:spcAft>
            </a:pPr>
            <a:r>
              <a:rPr sz="3200" b="0">
                <a:solidFill>
                  <a:srgbClr val="000000"/>
                </a:solidFill>
                <a:latin typeface="NVIDIA Sans"/>
              </a:rPr>
              <a:t>Norm / activation / elementwise</a:t>
            </a:r>
          </a:p>
        </p:txBody>
      </p:sp>
      <p:sp>
        <p:nvSpPr>
          <p:cNvPr id="26" name="GPU seconds 3"/>
          <p:cNvSpPr txBox="1"/>
          <p:nvPr/>
        </p:nvSpPr>
        <p:spPr>
          <a:xfrm>
            <a:off x="27157680" y="11759184"/>
            <a:ext cx="4114800" cy="685800"/>
          </a:xfrm>
          <a:prstGeom prst="rect">
            <a:avLst/>
          </a:prstGeom>
          <a:noFill/>
        </p:spPr>
        <p:txBody>
          <a:bodyPr wrap="square" lIns="0" rIns="0" tIns="0" bIns="0">
            <a:spAutoFit/>
          </a:bodyPr>
          <a:lstStyle/>
          <a:p>
            <a:pPr algn="r">
              <a:spcBef>
                <a:spcPts val="0"/>
              </a:spcBef>
              <a:spcAft>
                <a:spcPts val="0"/>
              </a:spcAft>
            </a:pPr>
            <a:r>
              <a:rPr sz="3200" b="0">
                <a:solidFill>
                  <a:srgbClr val="000000"/>
                </a:solidFill>
                <a:latin typeface="NVIDIA Sans"/>
              </a:rPr>
              <a:t>2.288</a:t>
            </a:r>
          </a:p>
        </p:txBody>
      </p:sp>
      <p:sp>
        <p:nvSpPr>
          <p:cNvPr id="27" name="GPU share 3"/>
          <p:cNvSpPr txBox="1"/>
          <p:nvPr/>
        </p:nvSpPr>
        <p:spPr>
          <a:xfrm>
            <a:off x="31729680" y="11759184"/>
            <a:ext cx="3017520" cy="685800"/>
          </a:xfrm>
          <a:prstGeom prst="rect">
            <a:avLst/>
          </a:prstGeom>
          <a:noFill/>
        </p:spPr>
        <p:txBody>
          <a:bodyPr wrap="square" lIns="0" rIns="0" tIns="0" bIns="0">
            <a:spAutoFit/>
          </a:bodyPr>
          <a:lstStyle/>
          <a:p>
            <a:pPr algn="r">
              <a:spcBef>
                <a:spcPts val="0"/>
              </a:spcBef>
              <a:spcAft>
                <a:spcPts val="0"/>
              </a:spcAft>
            </a:pPr>
            <a:r>
              <a:rPr sz="3400" b="0">
                <a:solidFill>
                  <a:srgbClr val="000000"/>
                </a:solidFill>
                <a:latin typeface="NVIDIA Sans"/>
              </a:rPr>
              <a:t>1.07%</a:t>
            </a:r>
          </a:p>
        </p:txBody>
      </p:sp>
      <p:sp>
        <p:nvSpPr>
          <p:cNvPr id="28" name="GPU bar track 3"/>
          <p:cNvSpPr/>
          <p:nvPr/>
        </p:nvSpPr>
        <p:spPr>
          <a:xfrm>
            <a:off x="15087600" y="12655296"/>
            <a:ext cx="19659600" cy="91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GPU bar 3"/>
          <p:cNvSpPr/>
          <p:nvPr/>
        </p:nvSpPr>
        <p:spPr>
          <a:xfrm>
            <a:off x="15087600" y="12655296"/>
            <a:ext cx="210601" cy="9144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GPU category 4"/>
          <p:cNvSpPr txBox="1"/>
          <p:nvPr/>
        </p:nvSpPr>
        <p:spPr>
          <a:xfrm>
            <a:off x="15087600" y="13149072"/>
            <a:ext cx="11430000" cy="685800"/>
          </a:xfrm>
          <a:prstGeom prst="rect">
            <a:avLst/>
          </a:prstGeom>
          <a:noFill/>
        </p:spPr>
        <p:txBody>
          <a:bodyPr wrap="square" lIns="0" rIns="0" tIns="0" bIns="0">
            <a:spAutoFit/>
          </a:bodyPr>
          <a:lstStyle/>
          <a:p>
            <a:pPr>
              <a:spcBef>
                <a:spcPts val="0"/>
              </a:spcBef>
              <a:spcAft>
                <a:spcPts val="0"/>
              </a:spcAft>
            </a:pPr>
            <a:r>
              <a:rPr sz="3200" b="0">
                <a:solidFill>
                  <a:srgbClr val="000000"/>
                </a:solidFill>
                <a:latin typeface="NVIDIA Sans"/>
              </a:rPr>
              <a:t>Layout / device copies</a:t>
            </a:r>
          </a:p>
        </p:txBody>
      </p:sp>
      <p:sp>
        <p:nvSpPr>
          <p:cNvPr id="31" name="GPU seconds 4"/>
          <p:cNvSpPr txBox="1"/>
          <p:nvPr/>
        </p:nvSpPr>
        <p:spPr>
          <a:xfrm>
            <a:off x="27157680" y="13149072"/>
            <a:ext cx="4114800" cy="685800"/>
          </a:xfrm>
          <a:prstGeom prst="rect">
            <a:avLst/>
          </a:prstGeom>
          <a:noFill/>
        </p:spPr>
        <p:txBody>
          <a:bodyPr wrap="square" lIns="0" rIns="0" tIns="0" bIns="0">
            <a:spAutoFit/>
          </a:bodyPr>
          <a:lstStyle/>
          <a:p>
            <a:pPr algn="r">
              <a:spcBef>
                <a:spcPts val="0"/>
              </a:spcBef>
              <a:spcAft>
                <a:spcPts val="0"/>
              </a:spcAft>
            </a:pPr>
            <a:r>
              <a:rPr sz="3200" b="0">
                <a:solidFill>
                  <a:srgbClr val="000000"/>
                </a:solidFill>
                <a:latin typeface="NVIDIA Sans"/>
              </a:rPr>
              <a:t>1.929</a:t>
            </a:r>
          </a:p>
        </p:txBody>
      </p:sp>
      <p:sp>
        <p:nvSpPr>
          <p:cNvPr id="32" name="GPU share 4"/>
          <p:cNvSpPr txBox="1"/>
          <p:nvPr/>
        </p:nvSpPr>
        <p:spPr>
          <a:xfrm>
            <a:off x="31729680" y="13149072"/>
            <a:ext cx="3017520" cy="685800"/>
          </a:xfrm>
          <a:prstGeom prst="rect">
            <a:avLst/>
          </a:prstGeom>
          <a:noFill/>
        </p:spPr>
        <p:txBody>
          <a:bodyPr wrap="square" lIns="0" rIns="0" tIns="0" bIns="0">
            <a:spAutoFit/>
          </a:bodyPr>
          <a:lstStyle/>
          <a:p>
            <a:pPr algn="r">
              <a:spcBef>
                <a:spcPts val="0"/>
              </a:spcBef>
              <a:spcAft>
                <a:spcPts val="0"/>
              </a:spcAft>
            </a:pPr>
            <a:r>
              <a:rPr sz="3400" b="0">
                <a:solidFill>
                  <a:srgbClr val="000000"/>
                </a:solidFill>
                <a:latin typeface="NVIDIA Sans"/>
              </a:rPr>
              <a:t>0.90%</a:t>
            </a:r>
          </a:p>
        </p:txBody>
      </p:sp>
      <p:sp>
        <p:nvSpPr>
          <p:cNvPr id="33" name="GPU bar track 4"/>
          <p:cNvSpPr/>
          <p:nvPr/>
        </p:nvSpPr>
        <p:spPr>
          <a:xfrm>
            <a:off x="15087600" y="14045184"/>
            <a:ext cx="19659600" cy="91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GPU bar 4"/>
          <p:cNvSpPr/>
          <p:nvPr/>
        </p:nvSpPr>
        <p:spPr>
          <a:xfrm>
            <a:off x="15087600" y="14045184"/>
            <a:ext cx="177549" cy="9144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GPU category 5"/>
          <p:cNvSpPr txBox="1"/>
          <p:nvPr/>
        </p:nvSpPr>
        <p:spPr>
          <a:xfrm>
            <a:off x="15087600" y="14538960"/>
            <a:ext cx="11430000" cy="685800"/>
          </a:xfrm>
          <a:prstGeom prst="rect">
            <a:avLst/>
          </a:prstGeom>
          <a:noFill/>
        </p:spPr>
        <p:txBody>
          <a:bodyPr wrap="square" lIns="0" rIns="0" tIns="0" bIns="0">
            <a:spAutoFit/>
          </a:bodyPr>
          <a:lstStyle/>
          <a:p>
            <a:pPr>
              <a:spcBef>
                <a:spcPts val="0"/>
              </a:spcBef>
              <a:spcAft>
                <a:spcPts val="0"/>
              </a:spcAft>
            </a:pPr>
            <a:r>
              <a:rPr sz="3200" b="0">
                <a:solidFill>
                  <a:srgbClr val="000000"/>
                </a:solidFill>
                <a:latin typeface="NVIDIA Sans"/>
              </a:rPr>
              <a:t>CUDA memcpy / memset</a:t>
            </a:r>
          </a:p>
        </p:txBody>
      </p:sp>
      <p:sp>
        <p:nvSpPr>
          <p:cNvPr id="36" name="GPU seconds 5"/>
          <p:cNvSpPr txBox="1"/>
          <p:nvPr/>
        </p:nvSpPr>
        <p:spPr>
          <a:xfrm>
            <a:off x="27157680" y="14538960"/>
            <a:ext cx="4114800" cy="685800"/>
          </a:xfrm>
          <a:prstGeom prst="rect">
            <a:avLst/>
          </a:prstGeom>
          <a:noFill/>
        </p:spPr>
        <p:txBody>
          <a:bodyPr wrap="square" lIns="0" rIns="0" tIns="0" bIns="0">
            <a:spAutoFit/>
          </a:bodyPr>
          <a:lstStyle/>
          <a:p>
            <a:pPr algn="r">
              <a:spcBef>
                <a:spcPts val="0"/>
              </a:spcBef>
              <a:spcAft>
                <a:spcPts val="0"/>
              </a:spcAft>
            </a:pPr>
            <a:r>
              <a:rPr sz="3200" b="0">
                <a:solidFill>
                  <a:srgbClr val="000000"/>
                </a:solidFill>
                <a:latin typeface="NVIDIA Sans"/>
              </a:rPr>
              <a:t>0.064</a:t>
            </a:r>
          </a:p>
        </p:txBody>
      </p:sp>
      <p:sp>
        <p:nvSpPr>
          <p:cNvPr id="37" name="GPU share 5"/>
          <p:cNvSpPr txBox="1"/>
          <p:nvPr/>
        </p:nvSpPr>
        <p:spPr>
          <a:xfrm>
            <a:off x="31729680" y="14538960"/>
            <a:ext cx="3017520" cy="685800"/>
          </a:xfrm>
          <a:prstGeom prst="rect">
            <a:avLst/>
          </a:prstGeom>
          <a:noFill/>
        </p:spPr>
        <p:txBody>
          <a:bodyPr wrap="square" lIns="0" rIns="0" tIns="0" bIns="0">
            <a:spAutoFit/>
          </a:bodyPr>
          <a:lstStyle/>
          <a:p>
            <a:pPr algn="r">
              <a:spcBef>
                <a:spcPts val="0"/>
              </a:spcBef>
              <a:spcAft>
                <a:spcPts val="0"/>
              </a:spcAft>
            </a:pPr>
            <a:r>
              <a:rPr sz="3400" b="0">
                <a:solidFill>
                  <a:srgbClr val="000000"/>
                </a:solidFill>
                <a:latin typeface="NVIDIA Sans"/>
              </a:rPr>
              <a:t>0.03%</a:t>
            </a:r>
          </a:p>
        </p:txBody>
      </p:sp>
      <p:sp>
        <p:nvSpPr>
          <p:cNvPr id="38" name="GPU bar track 5"/>
          <p:cNvSpPr/>
          <p:nvPr/>
        </p:nvSpPr>
        <p:spPr>
          <a:xfrm>
            <a:off x="15087600" y="15435072"/>
            <a:ext cx="19659600" cy="91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GPU bar 5"/>
          <p:cNvSpPr/>
          <p:nvPr/>
        </p:nvSpPr>
        <p:spPr>
          <a:xfrm>
            <a:off x="15087600" y="15435072"/>
            <a:ext cx="5872" cy="9144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GPU category 6"/>
          <p:cNvSpPr txBox="1"/>
          <p:nvPr/>
        </p:nvSpPr>
        <p:spPr>
          <a:xfrm>
            <a:off x="15087600" y="15928848"/>
            <a:ext cx="11430000" cy="685800"/>
          </a:xfrm>
          <a:prstGeom prst="rect">
            <a:avLst/>
          </a:prstGeom>
          <a:noFill/>
        </p:spPr>
        <p:txBody>
          <a:bodyPr wrap="square" lIns="0" rIns="0" tIns="0" bIns="0">
            <a:spAutoFit/>
          </a:bodyPr>
          <a:lstStyle/>
          <a:p>
            <a:pPr>
              <a:spcBef>
                <a:spcPts val="0"/>
              </a:spcBef>
              <a:spcAft>
                <a:spcPts val="0"/>
              </a:spcAft>
            </a:pPr>
            <a:r>
              <a:rPr sz="3200" b="0">
                <a:solidFill>
                  <a:srgbClr val="000000"/>
                </a:solidFill>
                <a:latin typeface="NVIDIA Sans"/>
              </a:rPr>
              <a:t>Convolution</a:t>
            </a:r>
          </a:p>
        </p:txBody>
      </p:sp>
      <p:sp>
        <p:nvSpPr>
          <p:cNvPr id="41" name="GPU seconds 6"/>
          <p:cNvSpPr txBox="1"/>
          <p:nvPr/>
        </p:nvSpPr>
        <p:spPr>
          <a:xfrm>
            <a:off x="27157680" y="15928848"/>
            <a:ext cx="4114800" cy="685800"/>
          </a:xfrm>
          <a:prstGeom prst="rect">
            <a:avLst/>
          </a:prstGeom>
          <a:noFill/>
        </p:spPr>
        <p:txBody>
          <a:bodyPr wrap="square" lIns="0" rIns="0" tIns="0" bIns="0">
            <a:spAutoFit/>
          </a:bodyPr>
          <a:lstStyle/>
          <a:p>
            <a:pPr algn="r">
              <a:spcBef>
                <a:spcPts val="0"/>
              </a:spcBef>
              <a:spcAft>
                <a:spcPts val="0"/>
              </a:spcAft>
            </a:pPr>
            <a:r>
              <a:rPr sz="3200" b="0">
                <a:solidFill>
                  <a:srgbClr val="000000"/>
                </a:solidFill>
                <a:latin typeface="NVIDIA Sans"/>
              </a:rPr>
              <a:t>0.192</a:t>
            </a:r>
          </a:p>
        </p:txBody>
      </p:sp>
      <p:sp>
        <p:nvSpPr>
          <p:cNvPr id="42" name="GPU share 6"/>
          <p:cNvSpPr txBox="1"/>
          <p:nvPr/>
        </p:nvSpPr>
        <p:spPr>
          <a:xfrm>
            <a:off x="31729680" y="15928848"/>
            <a:ext cx="3017520" cy="685800"/>
          </a:xfrm>
          <a:prstGeom prst="rect">
            <a:avLst/>
          </a:prstGeom>
          <a:noFill/>
        </p:spPr>
        <p:txBody>
          <a:bodyPr wrap="square" lIns="0" rIns="0" tIns="0" bIns="0">
            <a:spAutoFit/>
          </a:bodyPr>
          <a:lstStyle/>
          <a:p>
            <a:pPr algn="r">
              <a:spcBef>
                <a:spcPts val="0"/>
              </a:spcBef>
              <a:spcAft>
                <a:spcPts val="0"/>
              </a:spcAft>
            </a:pPr>
            <a:r>
              <a:rPr sz="3400" b="0">
                <a:solidFill>
                  <a:srgbClr val="000000"/>
                </a:solidFill>
                <a:latin typeface="NVIDIA Sans"/>
              </a:rPr>
              <a:t>0.09%</a:t>
            </a:r>
          </a:p>
        </p:txBody>
      </p:sp>
      <p:sp>
        <p:nvSpPr>
          <p:cNvPr id="43" name="GPU bar track 6"/>
          <p:cNvSpPr/>
          <p:nvPr/>
        </p:nvSpPr>
        <p:spPr>
          <a:xfrm>
            <a:off x="15087600" y="16824960"/>
            <a:ext cx="19659600" cy="91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GPU bar 6"/>
          <p:cNvSpPr/>
          <p:nvPr/>
        </p:nvSpPr>
        <p:spPr>
          <a:xfrm>
            <a:off x="15087600" y="16824960"/>
            <a:ext cx="17657" cy="9144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GPU category 7"/>
          <p:cNvSpPr txBox="1"/>
          <p:nvPr/>
        </p:nvSpPr>
        <p:spPr>
          <a:xfrm>
            <a:off x="15087600" y="17318736"/>
            <a:ext cx="11430000" cy="685800"/>
          </a:xfrm>
          <a:prstGeom prst="rect">
            <a:avLst/>
          </a:prstGeom>
          <a:noFill/>
        </p:spPr>
        <p:txBody>
          <a:bodyPr wrap="square" lIns="0" rIns="0" tIns="0" bIns="0">
            <a:spAutoFit/>
          </a:bodyPr>
          <a:lstStyle/>
          <a:p>
            <a:pPr>
              <a:spcBef>
                <a:spcPts val="0"/>
              </a:spcBef>
              <a:spcAft>
                <a:spcPts val="0"/>
              </a:spcAft>
            </a:pPr>
            <a:r>
              <a:rPr sz="3200" b="0">
                <a:solidFill>
                  <a:srgbClr val="000000"/>
                </a:solidFill>
                <a:latin typeface="NVIDIA Sans"/>
              </a:rPr>
              <a:t>Other kernels</a:t>
            </a:r>
          </a:p>
        </p:txBody>
      </p:sp>
      <p:sp>
        <p:nvSpPr>
          <p:cNvPr id="46" name="GPU seconds 7"/>
          <p:cNvSpPr txBox="1"/>
          <p:nvPr/>
        </p:nvSpPr>
        <p:spPr>
          <a:xfrm>
            <a:off x="27157680" y="17318736"/>
            <a:ext cx="4114800" cy="685800"/>
          </a:xfrm>
          <a:prstGeom prst="rect">
            <a:avLst/>
          </a:prstGeom>
          <a:noFill/>
        </p:spPr>
        <p:txBody>
          <a:bodyPr wrap="square" lIns="0" rIns="0" tIns="0" bIns="0">
            <a:spAutoFit/>
          </a:bodyPr>
          <a:lstStyle/>
          <a:p>
            <a:pPr algn="r">
              <a:spcBef>
                <a:spcPts val="0"/>
              </a:spcBef>
              <a:spcAft>
                <a:spcPts val="0"/>
              </a:spcAft>
            </a:pPr>
            <a:r>
              <a:rPr sz="3200" b="0">
                <a:solidFill>
                  <a:srgbClr val="000000"/>
                </a:solidFill>
                <a:latin typeface="NVIDIA Sans"/>
              </a:rPr>
              <a:t>0.143</a:t>
            </a:r>
          </a:p>
        </p:txBody>
      </p:sp>
      <p:sp>
        <p:nvSpPr>
          <p:cNvPr id="47" name="GPU share 7"/>
          <p:cNvSpPr txBox="1"/>
          <p:nvPr/>
        </p:nvSpPr>
        <p:spPr>
          <a:xfrm>
            <a:off x="31729680" y="17318736"/>
            <a:ext cx="3017520" cy="685800"/>
          </a:xfrm>
          <a:prstGeom prst="rect">
            <a:avLst/>
          </a:prstGeom>
          <a:noFill/>
        </p:spPr>
        <p:txBody>
          <a:bodyPr wrap="square" lIns="0" rIns="0" tIns="0" bIns="0">
            <a:spAutoFit/>
          </a:bodyPr>
          <a:lstStyle/>
          <a:p>
            <a:pPr algn="r">
              <a:spcBef>
                <a:spcPts val="0"/>
              </a:spcBef>
              <a:spcAft>
                <a:spcPts val="0"/>
              </a:spcAft>
            </a:pPr>
            <a:r>
              <a:rPr sz="3400" b="0">
                <a:solidFill>
                  <a:srgbClr val="000000"/>
                </a:solidFill>
                <a:latin typeface="NVIDIA Sans"/>
              </a:rPr>
              <a:t>0.07%</a:t>
            </a:r>
          </a:p>
        </p:txBody>
      </p:sp>
      <p:sp>
        <p:nvSpPr>
          <p:cNvPr id="48" name="GPU bar track 7"/>
          <p:cNvSpPr/>
          <p:nvPr/>
        </p:nvSpPr>
        <p:spPr>
          <a:xfrm>
            <a:off x="15087600" y="18214848"/>
            <a:ext cx="19659600" cy="91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GPU bar 7"/>
          <p:cNvSpPr/>
          <p:nvPr/>
        </p:nvSpPr>
        <p:spPr>
          <a:xfrm>
            <a:off x="15087600" y="18214848"/>
            <a:ext cx="13204" cy="9144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Accounting note"/>
          <p:cNvSpPr txBox="1"/>
          <p:nvPr/>
        </p:nvSpPr>
        <p:spPr>
          <a:xfrm>
            <a:off x="1828800" y="19110960"/>
            <a:ext cx="3291840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Nsight GPU work includes overlap and waiting; shares exclude CPU work and idle gaps.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lvl="1" algn="l"/>
            <a:r>
              <a:rPr b="0">
                <a:solidFill>
                  <a:srgbClr val="313131"/>
                </a:solidFill>
                <a:latin typeface="NVIDIA Sans"/>
              </a:rPr>
              <a:t>Base H3 calls the full DiT 50 times. Each call predicts one short interval, updates the latent, and provides the starting point for the next call</a:t>
            </a:r>
          </a:p>
          <a:p>
            <a:pPr lvl="1" algn="l"/>
            <a:r>
              <a:rPr b="0">
                <a:solidFill>
                  <a:srgbClr val="313131"/>
                </a:solidFill>
                <a:latin typeface="NVIDIA Sans"/>
              </a:rPr>
              <a:t>PDD uses Base H3 as the teacher and trains a student on groups of four adjacent denoising intervals</a:t>
            </a:r>
          </a:p>
          <a:p>
            <a:pPr lvl="1" algn="l"/>
            <a:r>
              <a:rPr b="0">
                <a:solidFill>
                  <a:srgbClr val="313131"/>
                </a:solidFill>
                <a:latin typeface="NVIDIA Sans"/>
              </a:rPr>
              <a:t>One student call predicts four consecutive directions from the same noisy latent</a:t>
            </a:r>
          </a:p>
          <a:p>
            <a:pPr lvl="1" algn="l"/>
            <a:r>
              <a:rPr b="0">
                <a:solidFill>
                  <a:srgbClr val="313131"/>
                </a:solidFill>
                <a:latin typeface="NVIDIA Sans"/>
              </a:rPr>
              <a:t>The solver combines those directions, advances the latent, and invokes the student again</a:t>
            </a:r>
          </a:p>
          <a:p>
            <a:pPr lvl="1" algn="l"/>
            <a:r>
              <a:rPr b="0">
                <a:solidFill>
                  <a:srgbClr val="313131"/>
                </a:solidFill>
                <a:latin typeface="NVIDIA Sans"/>
              </a:rPr>
              <a:t>The released H3 schedule covers 32 fine intervals in eight student calls</a:t>
            </a:r>
          </a:p>
          <a:p>
            <a:pPr lvl="1" algn="l"/>
            <a:r>
              <a:rPr b="1">
                <a:solidFill>
                  <a:srgbClr val="76B900"/>
                </a:solidFill>
                <a:latin typeface="NVIDIA Sans Medium"/>
              </a:rPr>
              <a:t>DiT calls fall from 50 to 8; block passes fall from 2,500 to 400 (−84%)</a:t>
            </a:r>
          </a:p>
        </p:txBody>
      </p:sp>
      <p:sp>
        <p:nvSpPr>
          <p:cNvPr id="3" name="Text Placeholder 2"/>
          <p:cNvSpPr>
            <a:spLocks noGrp="1"/>
          </p:cNvSpPr>
          <p:nvPr>
            <p:ph type="body" idx="14" sz="quarter"/>
          </p:nvPr>
        </p:nvSpPr>
        <p:spPr>
          <a:xfrm>
            <a:off x="1828800" y="5806440"/>
            <a:ext cx="13716000" cy="1691640"/>
          </a:xfrm>
        </p:spPr>
        <p:txBody>
          <a:bodyPr/>
          <a:lstStyle/>
          <a:p>
            <a:r>
              <a:t>PDD predicts four intervals per call, reducing 50 calls to eight</a:t>
            </a:r>
          </a:p>
        </p:txBody>
      </p:sp>
      <p:sp>
        <p:nvSpPr>
          <p:cNvPr id="4" name="Title 3"/>
          <p:cNvSpPr>
            <a:spLocks noGrp="1"/>
          </p:cNvSpPr>
          <p:nvPr>
            <p:ph type="title"/>
          </p:nvPr>
        </p:nvSpPr>
        <p:spPr>
          <a:xfrm>
            <a:off x="1828800" y="1828800"/>
            <a:ext cx="13716000" cy="3840480"/>
          </a:xfrm>
        </p:spPr>
        <p:txBody>
          <a:bodyPr/>
          <a:lstStyle/>
          <a:p>
            <a:r>
              <a:t>Few-Step Distillation</a:t>
            </a:r>
          </a:p>
        </p:txBody>
      </p:sp>
      <p:sp>
        <p:nvSpPr>
          <p:cNvPr id="5" name="Text Placeholder 4"/>
          <p:cNvSpPr>
            <a:spLocks noGrp="1"/>
          </p:cNvSpPr>
          <p:nvPr>
            <p:ph type="body" idx="52" sz="quarter"/>
          </p:nvPr>
        </p:nvSpPr>
        <p:spPr/>
        <p:txBody>
          <a:bodyPr/>
          <a:lstStyle/>
          <a:p>
            <a:r>
              <a:t>Paper example: N = 12, L = 4 · H3 PDD8: N = 32, L = 4</a:t>
            </a:r>
          </a:p>
        </p:txBody>
      </p:sp>
      <p:sp>
        <p:nvSpPr>
          <p:cNvPr id="6" name="Text Placeholder 5"/>
          <p:cNvSpPr>
            <a:spLocks noGrp="1"/>
          </p:cNvSpPr>
          <p:nvPr>
            <p:ph type="body" idx="51" sz="quarter"/>
          </p:nvPr>
        </p:nvSpPr>
        <p:spPr>
          <a:xfrm>
            <a:off x="19552660" y="17241080"/>
            <a:ext cx="15194539" cy="859536"/>
          </a:xfrm>
        </p:spPr>
        <p:txBody>
          <a:bodyPr/>
          <a:lstStyle/>
          <a:p>
            <a:r>
              <a:t>N = fine intervals · L = intervals predicted in parallel</a:t>
            </a:r>
          </a:p>
        </p:txBody>
      </p:sp>
      <p:pic>
        <p:nvPicPr>
          <p:cNvPr id="7" name="Picture Placeholder 6" descr="pdd-nvidia-figure2-pd-sketch-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Sources: NVIDIA FastGen-PDD, Fig. 2 (arXiv:2607.26004) · Alibaba-PAI MiniMax-H3 Ref2VA Acc-8Step @ 335001f</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5</a:t>
            </a:fld>
            <a:endParaRPr lang="en-US"/>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 Placeholder 1"/>
          <p:cNvSpPr>
            <a:spLocks noGrp="1"/>
          </p:cNvSpPr>
          <p:nvPr>
            <p:ph type="body" idx="20" sz="quarter"/>
          </p:nvPr>
        </p:nvSpPr>
        <p:spPr>
          <a:xfrm>
            <a:off x="1828800" y="7772400"/>
            <a:ext cx="13716000" cy="10789920"/>
          </a:xfrm>
        </p:spPr>
        <p:txBody>
          <a:bodyPr wrap="square" lIns="0" rIns="0" tIns="0" bIns="0"/>
          <a:lstStyle/>
          <a:p>
            <a:pPr algn="l"/>
            <a:r>
              <a:rPr b="1">
                <a:solidFill>
                  <a:srgbClr val="76B900"/>
                </a:solidFill>
                <a:latin typeface="NVIDIA Sans Medium"/>
              </a:rPr>
              <a:t>Predict important regions cheaply</a:t>
            </a:r>
          </a:p>
          <a:p>
            <a:pPr lvl="1" algn="l"/>
            <a:r>
              <a:rPr b="0">
                <a:solidFill>
                  <a:srgbClr val="313131"/>
                </a:solidFill>
                <a:latin typeface="NVIDIA Sans"/>
              </a:rPr>
              <a:t>Pool spatiotemporal cubes and run global attention on the shorter sequence</a:t>
            </a:r>
          </a:p>
          <a:p>
            <a:pPr algn="l"/>
            <a:r>
              <a:rPr b="1">
                <a:solidFill>
                  <a:srgbClr val="76B900"/>
                </a:solidFill>
                <a:latin typeface="NVIDIA Sans Medium"/>
              </a:rPr>
              <a:t>Select content-dependent blocks</a:t>
            </a:r>
          </a:p>
          <a:p>
            <a:pPr lvl="1" algn="l"/>
            <a:r>
              <a:rPr b="0">
                <a:solidFill>
                  <a:srgbClr val="313131"/>
                </a:solidFill>
                <a:latin typeface="NVIDIA Sans"/>
              </a:rPr>
              <a:t>Per-query Top-K cube scores choose which K/V regions to visit</a:t>
            </a:r>
          </a:p>
          <a:p>
            <a:pPr algn="l"/>
            <a:r>
              <a:rPr b="1">
                <a:solidFill>
                  <a:srgbClr val="76B900"/>
                </a:solidFill>
                <a:latin typeface="NVIDIA Sans Medium"/>
              </a:rPr>
              <a:t>Spend fine attention on selected detail</a:t>
            </a:r>
          </a:p>
          <a:p>
            <a:pPr lvl="1" algn="l"/>
            <a:r>
              <a:rPr b="0">
                <a:solidFill>
                  <a:srgbClr val="313131"/>
                </a:solidFill>
                <a:latin typeface="NVIDIA Sans"/>
              </a:rPr>
              <a:t>Compute token attention inside the chosen blocks; skip the rest</a:t>
            </a:r>
          </a:p>
          <a:p>
            <a:pPr algn="l"/>
            <a:r>
              <a:rPr b="1">
                <a:solidFill>
                  <a:srgbClr val="76B900"/>
                </a:solidFill>
                <a:latin typeface="NVIDIA Sans Medium"/>
              </a:rPr>
              <a:t>Keep global context and local detail</a:t>
            </a:r>
          </a:p>
          <a:p>
            <a:pPr lvl="1" algn="l"/>
            <a:r>
              <a:rPr b="0">
                <a:solidFill>
                  <a:srgbClr val="313131"/>
                </a:solidFill>
                <a:latin typeface="NVIDIA Sans"/>
              </a:rPr>
              <a:t>Learned gates combine coarse and fine outputs</a:t>
            </a:r>
          </a:p>
        </p:txBody>
      </p:sp>
      <p:sp>
        <p:nvSpPr>
          <p:cNvPr id="3" name="Text Placeholder 2"/>
          <p:cNvSpPr>
            <a:spLocks noGrp="1"/>
          </p:cNvSpPr>
          <p:nvPr>
            <p:ph type="body" idx="14" sz="quarter"/>
          </p:nvPr>
        </p:nvSpPr>
        <p:spPr>
          <a:xfrm>
            <a:off x="1828800" y="5806440"/>
            <a:ext cx="13716000" cy="1645920"/>
          </a:xfrm>
        </p:spPr>
        <p:txBody>
          <a:bodyPr/>
          <a:lstStyle/>
          <a:p>
            <a:r>
              <a:t>Coarse attention finds relevant cubes; fine attention resolves token-level detail</a:t>
            </a:r>
          </a:p>
        </p:txBody>
      </p:sp>
      <p:sp>
        <p:nvSpPr>
          <p:cNvPr id="4" name="Title 3"/>
          <p:cNvSpPr>
            <a:spLocks noGrp="1"/>
          </p:cNvSpPr>
          <p:nvPr>
            <p:ph type="title"/>
          </p:nvPr>
        </p:nvSpPr>
        <p:spPr>
          <a:xfrm>
            <a:off x="1828800" y="1828800"/>
            <a:ext cx="13716000" cy="3840480"/>
          </a:xfrm>
        </p:spPr>
        <p:txBody>
          <a:bodyPr/>
          <a:lstStyle/>
          <a:p>
            <a:r>
              <a:t>Sparse Attention</a:t>
            </a:r>
          </a:p>
        </p:txBody>
      </p:sp>
      <p:sp>
        <p:nvSpPr>
          <p:cNvPr id="5" name="Text Placeholder 4"/>
          <p:cNvSpPr>
            <a:spLocks noGrp="1"/>
          </p:cNvSpPr>
          <p:nvPr>
            <p:ph type="body" idx="52" sz="quarter"/>
          </p:nvPr>
        </p:nvSpPr>
        <p:spPr>
          <a:xfrm>
            <a:off x="19552660" y="18059400"/>
            <a:ext cx="15194539" cy="1051560"/>
          </a:xfrm>
        </p:spPr>
        <p:txBody>
          <a:bodyPr/>
          <a:lstStyle/>
          <a:p>
            <a:pPr algn="ctr"/>
            <a:r>
              <a:t>Elementwise products · global coarse + selected fine</a:t>
            </a:r>
            <a:br/>
            <a:r>
              <a:t>FastH3 sets G_f = 1</a:t>
            </a:r>
          </a:p>
        </p:txBody>
      </p:sp>
      <p:sp>
        <p:nvSpPr>
          <p:cNvPr id="6" name="Text Placeholder 5"/>
          <p:cNvSpPr>
            <a:spLocks noGrp="1"/>
          </p:cNvSpPr>
          <p:nvPr>
            <p:ph type="body" idx="51" sz="quarter"/>
          </p:nvPr>
        </p:nvSpPr>
        <p:spPr>
          <a:xfrm>
            <a:off x="19552660" y="17190720"/>
            <a:ext cx="15194539" cy="822960"/>
          </a:xfrm>
        </p:spPr>
        <p:txBody>
          <a:bodyPr/>
          <a:lstStyle/>
          <a:p>
            <a:r>
              <a:rPr sz="3600" b="1">
                <a:solidFill>
                  <a:srgbClr val="76B900"/>
                </a:solidFill>
                <a:latin typeface="NVIDIA Sans Medium"/>
              </a:rPr>
              <a:t>O = O_c * G_c + O_f * G_f</a:t>
            </a:r>
          </a:p>
        </p:txBody>
      </p:sp>
      <p:pic>
        <p:nvPicPr>
          <p:cNvPr id="7" name="Picture Placeholder 6" descr="vsa-figure1-architecture-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 Video Sparse Attention, arXiv:2505.13389 · Figure 1 and Section 3 · H3 uses logical tiles of 128</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6</a:t>
            </a:fld>
            <a:endParaRPr lang="en-US"/>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An eight-forward student learns to compensate for quantization error before deployment</a:t>
            </a:r>
          </a:p>
        </p:txBody>
      </p:sp>
      <p:sp>
        <p:nvSpPr>
          <p:cNvPr id="4" name="Title 3"/>
          <p:cNvSpPr>
            <a:spLocks noGrp="1"/>
          </p:cNvSpPr>
          <p:nvPr>
            <p:ph type="title"/>
          </p:nvPr>
        </p:nvSpPr>
        <p:spPr/>
        <p:txBody>
          <a:bodyPr/>
          <a:lstStyle/>
          <a:p>
            <a:r>
              <a:t>FastH3 Omni: Quantization-Aware Distillation</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Source: FastVideo PR #1989 · public OmniRef recipe @ ea3275d · implementation analysis, not a reproduced training result</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7</a:t>
            </a:fld>
            <a:endParaRPr lang="en-US"/>
          </a:p>
        </p:txBody>
      </p:sp>
      <p:pic>
        <p:nvPicPr>
          <p:cNvPr id="7" name="QAD training and execution precision" descr="qad-training-and-precision.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363056" y="5029200"/>
            <a:ext cx="31849887" cy="11338559"/>
          </a:xfrm>
          <a:prstGeom prst="rect">
            <a:avLst/>
          </a:prstGeom>
          <a:ln w="9525">
            <a:solidFill>
              <a:srgbClr val="A7A7A7"/>
            </a:solidFill>
          </a:ln>
        </p:spPr>
      </p:pic>
      <p:sp>
        <p:nvSpPr>
          <p:cNvPr id="8" name="Few-step + four-bit inference"/>
          <p:cNvSpPr txBox="1"/>
          <p:nvPr/>
        </p:nvSpPr>
        <p:spPr>
          <a:xfrm>
            <a:off x="1828800" y="164592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Few-step + four-bit inference</a:t>
            </a:r>
          </a:p>
        </p:txBody>
      </p:sp>
      <p:sp>
        <p:nvSpPr>
          <p:cNvPr id="9" name="Eight model evaluations reduce sampling work. NVFP4 linears reduce numerical precision."/>
          <p:cNvSpPr txBox="1"/>
          <p:nvPr/>
        </p:nvSpPr>
        <p:spPr>
          <a:xfrm>
            <a:off x="1828800" y="17373600"/>
            <a:ext cx="10424160" cy="1645920"/>
          </a:xfrm>
          <a:prstGeom prst="rect">
            <a:avLst/>
          </a:prstGeom>
          <a:noFill/>
        </p:spPr>
        <p:txBody>
          <a:bodyPr wrap="square" lIns="0" rIns="0" tIns="0" bIns="0">
            <a:spAutoFit/>
          </a:bodyPr>
          <a:lstStyle/>
          <a:p>
            <a:pPr algn="l">
              <a:lnSpc>
                <a:spcPct val="108000"/>
              </a:lnSpc>
              <a:spcBef>
                <a:spcPts val="0"/>
              </a:spcBef>
              <a:spcAft>
                <a:spcPts val="1200"/>
              </a:spcAft>
            </a:pPr>
            <a:r>
              <a:rPr sz="2900" b="0">
                <a:solidFill>
                  <a:srgbClr val="313131"/>
                </a:solidFill>
                <a:latin typeface="NVIDIA Sans"/>
              </a:rPr>
              <a:t>Eight model evaluations reduce sampling work. NVFP4 linears reduce numerical precision.</a:t>
            </a:r>
          </a:p>
        </p:txBody>
      </p:sp>
      <p:sp>
        <p:nvSpPr>
          <p:cNvPr id="10" name="Train through quantization"/>
          <p:cNvSpPr txBox="1"/>
          <p:nvPr/>
        </p:nvSpPr>
        <p:spPr>
          <a:xfrm>
            <a:off x="13075920" y="164592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Train through quantization</a:t>
            </a:r>
          </a:p>
        </p:txBody>
      </p:sp>
      <p:sp>
        <p:nvSpPr>
          <p:cNvPr id="11" name="FP32 master weights update through STE gradients while the forward executes NVFP4."/>
          <p:cNvSpPr txBox="1"/>
          <p:nvPr/>
        </p:nvSpPr>
        <p:spPr>
          <a:xfrm>
            <a:off x="13075920" y="17373600"/>
            <a:ext cx="10424160" cy="1645920"/>
          </a:xfrm>
          <a:prstGeom prst="rect">
            <a:avLst/>
          </a:prstGeom>
          <a:noFill/>
        </p:spPr>
        <p:txBody>
          <a:bodyPr wrap="square" lIns="0" rIns="0" tIns="0" bIns="0">
            <a:spAutoFit/>
          </a:bodyPr>
          <a:lstStyle/>
          <a:p>
            <a:pPr algn="l">
              <a:lnSpc>
                <a:spcPct val="108000"/>
              </a:lnSpc>
              <a:spcBef>
                <a:spcPts val="0"/>
              </a:spcBef>
              <a:spcAft>
                <a:spcPts val="1200"/>
              </a:spcAft>
            </a:pPr>
            <a:r>
              <a:rPr sz="2900" b="0">
                <a:solidFill>
                  <a:srgbClr val="313131"/>
                </a:solidFill>
                <a:latin typeface="NVIDIA Sans"/>
              </a:rPr>
              <a:t>FP32 master weights update through STE gradients while the forward executes NVFP4.</a:t>
            </a:r>
          </a:p>
        </p:txBody>
      </p:sp>
      <p:sp>
        <p:nvSpPr>
          <p:cNvPr id="12" name="Deploy the student only"/>
          <p:cNvSpPr txBox="1"/>
          <p:nvPr/>
        </p:nvSpPr>
        <p:spPr>
          <a:xfrm>
            <a:off x="24323040" y="164592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Deploy the student only</a:t>
            </a:r>
          </a:p>
        </p:txBody>
      </p:sp>
      <p:sp>
        <p:nvSpPr>
          <p:cNvPr id="13" name="Teacher supervision and reconstruction losses recover quality during training; inference omits them."/>
          <p:cNvSpPr txBox="1"/>
          <p:nvPr/>
        </p:nvSpPr>
        <p:spPr>
          <a:xfrm>
            <a:off x="24323040" y="17373600"/>
            <a:ext cx="10424160" cy="1645920"/>
          </a:xfrm>
          <a:prstGeom prst="rect">
            <a:avLst/>
          </a:prstGeom>
          <a:noFill/>
        </p:spPr>
        <p:txBody>
          <a:bodyPr wrap="square" lIns="0" rIns="0" tIns="0" bIns="0">
            <a:spAutoFit/>
          </a:bodyPr>
          <a:lstStyle/>
          <a:p>
            <a:pPr algn="l">
              <a:lnSpc>
                <a:spcPct val="108000"/>
              </a:lnSpc>
              <a:spcBef>
                <a:spcPts val="0"/>
              </a:spcBef>
              <a:spcAft>
                <a:spcPts val="1200"/>
              </a:spcAft>
            </a:pPr>
            <a:r>
              <a:rPr sz="2900" b="0">
                <a:solidFill>
                  <a:srgbClr val="313131"/>
                </a:solidFill>
                <a:latin typeface="NVIDIA Sans"/>
              </a:rPr>
              <a:t>Teacher supervision and reconstruction losses recover quality during training; inference omits them.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Retained single-GPU study at 1344 × 768 · Separate from the eight-GPU roadmap</a:t>
            </a:r>
          </a:p>
        </p:txBody>
      </p:sp>
      <p:sp>
        <p:nvSpPr>
          <p:cNvPr id="4" name="Title 3"/>
          <p:cNvSpPr>
            <a:spLocks noGrp="1"/>
          </p:cNvSpPr>
          <p:nvPr>
            <p:ph type="title"/>
          </p:nvPr>
        </p:nvSpPr>
        <p:spPr/>
        <p:txBody>
          <a:bodyPr/>
          <a:lstStyle/>
          <a:p>
            <a:r>
              <a:t>Prior Study: Quantization Quality</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Photo: James Lo / Unsplash · one sample; no general quality claim · LPIPS lower / SSIM higher means closer to BF16</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8</a:t>
            </a:fld>
            <a:endParaRPr lang="en-US"/>
          </a:p>
        </p:txBody>
      </p:sp>
      <p:sp>
        <p:nvSpPr>
          <p:cNvPr id="7" name="BF16 Reference"/>
          <p:cNvSpPr txBox="1"/>
          <p:nvPr/>
        </p:nvSpPr>
        <p:spPr>
          <a:xfrm>
            <a:off x="1645920" y="5577840"/>
            <a:ext cx="8046720" cy="868680"/>
          </a:xfrm>
          <a:prstGeom prst="rect">
            <a:avLst/>
          </a:prstGeom>
          <a:noFill/>
        </p:spPr>
        <p:txBody>
          <a:bodyPr wrap="square" lIns="0" rIns="0" tIns="0" bIns="0">
            <a:spAutoFit/>
          </a:bodyPr>
          <a:lstStyle/>
          <a:p>
            <a:pPr algn="ctr">
              <a:lnSpc>
                <a:spcPct val="108000"/>
              </a:lnSpc>
              <a:spcBef>
                <a:spcPts val="0"/>
              </a:spcBef>
              <a:spcAft>
                <a:spcPts val="1000"/>
              </a:spcAft>
            </a:pPr>
            <a:r>
              <a:rPr sz="3600" b="1">
                <a:solidFill>
                  <a:srgbClr val="000000"/>
                </a:solidFill>
                <a:latin typeface="NVIDIA Sans Medium"/>
              </a:rPr>
              <a:t>BF16 Reference</a:t>
            </a:r>
          </a:p>
        </p:txBody>
      </p:sp>
      <p:pic>
        <p:nvPicPr>
          <p:cNvPr id="8" name="BF16 Reference embedded video">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1645920" y="6858000"/>
            <a:ext cx="8046720" cy="4598125"/>
          </a:xfrm>
          <a:prstGeom prst="rect">
            <a:avLst/>
          </a:prstGeom>
          <a:ln w="9525">
            <a:solidFill>
              <a:srgbClr val="A7A7A7"/>
            </a:solidFill>
          </a:ln>
        </p:spPr>
      </p:pic>
      <p:sp>
        <p:nvSpPr>
          <p:cNvPr id="9" name="BF16 weights"/>
          <p:cNvSpPr txBox="1"/>
          <p:nvPr/>
        </p:nvSpPr>
        <p:spPr>
          <a:xfrm>
            <a:off x="1645920" y="11978640"/>
            <a:ext cx="8046720" cy="1188720"/>
          </a:xfrm>
          <a:prstGeom prst="rect">
            <a:avLst/>
          </a:prstGeom>
          <a:noFill/>
        </p:spPr>
        <p:txBody>
          <a:bodyPr wrap="square" lIns="0" rIns="0" tIns="0" bIns="0">
            <a:spAutoFit/>
          </a:bodyPr>
          <a:lstStyle/>
          <a:p>
            <a:pPr algn="ctr">
              <a:lnSpc>
                <a:spcPct val="108000"/>
              </a:lnSpc>
              <a:spcBef>
                <a:spcPts val="0"/>
              </a:spcBef>
              <a:spcAft>
                <a:spcPts val="1000"/>
              </a:spcAft>
            </a:pPr>
            <a:r>
              <a:rPr sz="2900" b="0">
                <a:solidFill>
                  <a:srgbClr val="313131"/>
                </a:solidFill>
                <a:latin typeface="NVIDIA Sans"/>
              </a:rPr>
              <a:t>BF16 weights</a:t>
            </a:r>
          </a:p>
          <a:p>
            <a:pPr algn="ctr">
              <a:lnSpc>
                <a:spcPct val="108000"/>
              </a:lnSpc>
              <a:spcBef>
                <a:spcPts val="0"/>
              </a:spcBef>
              <a:spcAft>
                <a:spcPts val="1000"/>
              </a:spcAft>
            </a:pPr>
            <a:r>
              <a:rPr sz="2900" b="0">
                <a:solidFill>
                  <a:srgbClr val="313131"/>
                </a:solidFill>
                <a:latin typeface="NVIDIA Sans"/>
              </a:rPr>
              <a:t>cuDNN BF16 attention</a:t>
            </a:r>
          </a:p>
        </p:txBody>
      </p:sp>
      <p:sp>
        <p:nvSpPr>
          <p:cNvPr id="10" name="Request: 152.58 s*"/>
          <p:cNvSpPr txBox="1"/>
          <p:nvPr/>
        </p:nvSpPr>
        <p:spPr>
          <a:xfrm>
            <a:off x="1645920" y="13807440"/>
            <a:ext cx="8046720" cy="822960"/>
          </a:xfrm>
          <a:prstGeom prst="rect">
            <a:avLst/>
          </a:prstGeom>
          <a:noFill/>
        </p:spPr>
        <p:txBody>
          <a:bodyPr wrap="square" lIns="0" rIns="0" tIns="0" bIns="0">
            <a:spAutoFit/>
          </a:bodyPr>
          <a:lstStyle/>
          <a:p>
            <a:pPr algn="ctr">
              <a:lnSpc>
                <a:spcPct val="108000"/>
              </a:lnSpc>
              <a:spcBef>
                <a:spcPts val="0"/>
              </a:spcBef>
              <a:spcAft>
                <a:spcPts val="1000"/>
              </a:spcAft>
            </a:pPr>
            <a:r>
              <a:rPr sz="3200" b="1">
                <a:solidFill>
                  <a:srgbClr val="313131"/>
                </a:solidFill>
                <a:latin typeface="NVIDIA Sans Medium"/>
              </a:rPr>
              <a:t>Request: 152.58 s*</a:t>
            </a:r>
          </a:p>
        </p:txBody>
      </p:sp>
      <p:sp>
        <p:nvSpPr>
          <p:cNvPr id="11" name="LPIPS 0.0000  |  SSIM 1.0000"/>
          <p:cNvSpPr txBox="1"/>
          <p:nvPr/>
        </p:nvSpPr>
        <p:spPr>
          <a:xfrm>
            <a:off x="1645920" y="14859000"/>
            <a:ext cx="8046720" cy="777240"/>
          </a:xfrm>
          <a:prstGeom prst="rect">
            <a:avLst/>
          </a:prstGeom>
          <a:noFill/>
        </p:spPr>
        <p:txBody>
          <a:bodyPr wrap="square" lIns="0" rIns="0" tIns="0" bIns="0">
            <a:spAutoFit/>
          </a:bodyPr>
          <a:lstStyle/>
          <a:p>
            <a:pPr algn="ctr">
              <a:lnSpc>
                <a:spcPct val="108000"/>
              </a:lnSpc>
              <a:spcBef>
                <a:spcPts val="0"/>
              </a:spcBef>
              <a:spcAft>
                <a:spcPts val="1000"/>
              </a:spcAft>
            </a:pPr>
            <a:r>
              <a:rPr sz="2800" b="0">
                <a:solidFill>
                  <a:srgbClr val="313131"/>
                </a:solidFill>
                <a:latin typeface="NVIDIA Sans"/>
              </a:rPr>
              <a:t>LPIPS 0.0000  |  SSIM 1.0000</a:t>
            </a:r>
          </a:p>
        </p:txBody>
      </p:sp>
      <p:sp>
        <p:nvSpPr>
          <p:cNvPr id="12" name="Online NVFP4"/>
          <p:cNvSpPr txBox="1"/>
          <p:nvPr/>
        </p:nvSpPr>
        <p:spPr>
          <a:xfrm>
            <a:off x="10058400" y="5577840"/>
            <a:ext cx="8046720" cy="868680"/>
          </a:xfrm>
          <a:prstGeom prst="rect">
            <a:avLst/>
          </a:prstGeom>
          <a:noFill/>
        </p:spPr>
        <p:txBody>
          <a:bodyPr wrap="square" lIns="0" rIns="0" tIns="0" bIns="0">
            <a:spAutoFit/>
          </a:bodyPr>
          <a:lstStyle/>
          <a:p>
            <a:pPr algn="ctr">
              <a:lnSpc>
                <a:spcPct val="108000"/>
              </a:lnSpc>
              <a:spcBef>
                <a:spcPts val="0"/>
              </a:spcBef>
              <a:spcAft>
                <a:spcPts val="1000"/>
              </a:spcAft>
            </a:pPr>
            <a:r>
              <a:rPr sz="3600" b="1">
                <a:solidFill>
                  <a:srgbClr val="000000"/>
                </a:solidFill>
                <a:latin typeface="NVIDIA Sans Medium"/>
              </a:rPr>
              <a:t>Online NVFP4</a:t>
            </a:r>
          </a:p>
        </p:txBody>
      </p:sp>
      <p:pic>
        <p:nvPicPr>
          <p:cNvPr id="13" name="Online NVFP4 embedded video">
            <a:hlinkClick r:id="" action="ppaction://media"/>
          </p:cNvPr>
          <p:cNvPicPr>
            <a:picLocks noChangeAspect="1"/>
          </p:cNvPicPr>
          <p:nvPr>
            <a:videoFile r:link="rId7"/>
            <p:extLst>
              <p:ext uri="{DAA4B4D4-6D71-4841-9C94-3DE7FCFB9230}">
                <p14:media xmlns:p14="http://schemas.microsoft.com/office/powerpoint/2010/main" r:embed="rId6"/>
              </p:ext>
            </p:extLst>
          </p:nvPr>
        </p:nvPicPr>
        <p:blipFill>
          <a:blip r:embed="rId8"/>
          <a:stretch>
            <a:fillRect/>
          </a:stretch>
        </p:blipFill>
        <p:spPr>
          <a:xfrm>
            <a:off x="10058400" y="6858000"/>
            <a:ext cx="8046720" cy="4598125"/>
          </a:xfrm>
          <a:prstGeom prst="rect">
            <a:avLst/>
          </a:prstGeom>
          <a:ln w="9525">
            <a:solidFill>
              <a:srgbClr val="A7A7A7"/>
            </a:solidFill>
          </a:ln>
        </p:spPr>
      </p:pic>
      <p:sp>
        <p:nvSpPr>
          <p:cNvPr id="14" name="Fresh BF16-derived NVFP4"/>
          <p:cNvSpPr txBox="1"/>
          <p:nvPr/>
        </p:nvSpPr>
        <p:spPr>
          <a:xfrm>
            <a:off x="10058400" y="11978640"/>
            <a:ext cx="8046720" cy="1188720"/>
          </a:xfrm>
          <a:prstGeom prst="rect">
            <a:avLst/>
          </a:prstGeom>
          <a:noFill/>
        </p:spPr>
        <p:txBody>
          <a:bodyPr wrap="square" lIns="0" rIns="0" tIns="0" bIns="0">
            <a:spAutoFit/>
          </a:bodyPr>
          <a:lstStyle/>
          <a:p>
            <a:pPr algn="ctr">
              <a:lnSpc>
                <a:spcPct val="108000"/>
              </a:lnSpc>
              <a:spcBef>
                <a:spcPts val="0"/>
              </a:spcBef>
              <a:spcAft>
                <a:spcPts val="1000"/>
              </a:spcAft>
            </a:pPr>
            <a:r>
              <a:rPr sz="2900" b="0">
                <a:solidFill>
                  <a:srgbClr val="313131"/>
                </a:solidFill>
                <a:latin typeface="NVIDIA Sans"/>
              </a:rPr>
              <a:t>Fresh BF16-derived NVFP4</a:t>
            </a:r>
          </a:p>
          <a:p>
            <a:pPr algn="ctr">
              <a:lnSpc>
                <a:spcPct val="108000"/>
              </a:lnSpc>
              <a:spcBef>
                <a:spcPts val="0"/>
              </a:spcBef>
              <a:spcAft>
                <a:spcPts val="1000"/>
              </a:spcAft>
            </a:pPr>
            <a:r>
              <a:rPr sz="2900" b="0">
                <a:solidFill>
                  <a:srgbClr val="313131"/>
                </a:solidFill>
                <a:latin typeface="NVIDIA Sans"/>
              </a:rPr>
              <a:t>Native FP4 sparse attention</a:t>
            </a:r>
          </a:p>
        </p:txBody>
      </p:sp>
      <p:sp>
        <p:nvSpPr>
          <p:cNvPr id="15" name="Request: 89.12 s*"/>
          <p:cNvSpPr txBox="1"/>
          <p:nvPr/>
        </p:nvSpPr>
        <p:spPr>
          <a:xfrm>
            <a:off x="10058400" y="13807440"/>
            <a:ext cx="8046720" cy="822960"/>
          </a:xfrm>
          <a:prstGeom prst="rect">
            <a:avLst/>
          </a:prstGeom>
          <a:noFill/>
        </p:spPr>
        <p:txBody>
          <a:bodyPr wrap="square" lIns="0" rIns="0" tIns="0" bIns="0">
            <a:spAutoFit/>
          </a:bodyPr>
          <a:lstStyle/>
          <a:p>
            <a:pPr algn="ctr">
              <a:lnSpc>
                <a:spcPct val="108000"/>
              </a:lnSpc>
              <a:spcBef>
                <a:spcPts val="0"/>
              </a:spcBef>
              <a:spcAft>
                <a:spcPts val="1000"/>
              </a:spcAft>
            </a:pPr>
            <a:r>
              <a:rPr sz="3200" b="1">
                <a:solidFill>
                  <a:srgbClr val="313131"/>
                </a:solidFill>
                <a:latin typeface="NVIDIA Sans Medium"/>
              </a:rPr>
              <a:t>Request: 89.12 s*</a:t>
            </a:r>
          </a:p>
        </p:txBody>
      </p:sp>
      <p:sp>
        <p:nvSpPr>
          <p:cNvPr id="16" name="LPIPS 0.2313  |  SSIM 0.5488"/>
          <p:cNvSpPr txBox="1"/>
          <p:nvPr/>
        </p:nvSpPr>
        <p:spPr>
          <a:xfrm>
            <a:off x="10058400" y="14859000"/>
            <a:ext cx="8046720" cy="777240"/>
          </a:xfrm>
          <a:prstGeom prst="rect">
            <a:avLst/>
          </a:prstGeom>
          <a:noFill/>
        </p:spPr>
        <p:txBody>
          <a:bodyPr wrap="square" lIns="0" rIns="0" tIns="0" bIns="0">
            <a:spAutoFit/>
          </a:bodyPr>
          <a:lstStyle/>
          <a:p>
            <a:pPr algn="ctr">
              <a:lnSpc>
                <a:spcPct val="108000"/>
              </a:lnSpc>
              <a:spcBef>
                <a:spcPts val="0"/>
              </a:spcBef>
              <a:spcAft>
                <a:spcPts val="1000"/>
              </a:spcAft>
            </a:pPr>
            <a:r>
              <a:rPr sz="2800" b="0">
                <a:solidFill>
                  <a:srgbClr val="313131"/>
                </a:solidFill>
                <a:latin typeface="NVIDIA Sans"/>
              </a:rPr>
              <a:t>LPIPS 0.2313  |  SSIM 0.5488</a:t>
            </a:r>
          </a:p>
        </p:txBody>
      </p:sp>
      <p:sp>
        <p:nvSpPr>
          <p:cNvPr id="17" name="QAD NVFP4"/>
          <p:cNvSpPr txBox="1"/>
          <p:nvPr/>
        </p:nvSpPr>
        <p:spPr>
          <a:xfrm>
            <a:off x="18470880" y="5577840"/>
            <a:ext cx="8046720" cy="868680"/>
          </a:xfrm>
          <a:prstGeom prst="rect">
            <a:avLst/>
          </a:prstGeom>
          <a:noFill/>
        </p:spPr>
        <p:txBody>
          <a:bodyPr wrap="square" lIns="0" rIns="0" tIns="0" bIns="0">
            <a:spAutoFit/>
          </a:bodyPr>
          <a:lstStyle/>
          <a:p>
            <a:pPr algn="ctr">
              <a:lnSpc>
                <a:spcPct val="108000"/>
              </a:lnSpc>
              <a:spcBef>
                <a:spcPts val="0"/>
              </a:spcBef>
              <a:spcAft>
                <a:spcPts val="1000"/>
              </a:spcAft>
            </a:pPr>
            <a:r>
              <a:rPr sz="3600" b="1">
                <a:solidFill>
                  <a:srgbClr val="76B900"/>
                </a:solidFill>
                <a:latin typeface="NVIDIA Sans Medium"/>
              </a:rPr>
              <a:t>QAD NVFP4</a:t>
            </a:r>
          </a:p>
        </p:txBody>
      </p:sp>
      <p:pic>
        <p:nvPicPr>
          <p:cNvPr id="18" name="QAD NVFP4 embedded video">
            <a:hlinkClick r:id="" action="ppaction://media"/>
          </p:cNvPr>
          <p:cNvPicPr>
            <a:picLocks noChangeAspect="1"/>
          </p:cNvPicPr>
          <p:nvPr>
            <a:videoFile r:link="rId10"/>
            <p:extLst>
              <p:ext uri="{DAA4B4D4-6D71-4841-9C94-3DE7FCFB9230}">
                <p14:media xmlns:p14="http://schemas.microsoft.com/office/powerpoint/2010/main" r:embed="rId9"/>
              </p:ext>
            </p:extLst>
          </p:nvPr>
        </p:nvPicPr>
        <p:blipFill>
          <a:blip r:embed="rId11"/>
          <a:stretch>
            <a:fillRect/>
          </a:stretch>
        </p:blipFill>
        <p:spPr>
          <a:xfrm>
            <a:off x="18470880" y="6858000"/>
            <a:ext cx="8046720" cy="4598125"/>
          </a:xfrm>
          <a:prstGeom prst="rect">
            <a:avLst/>
          </a:prstGeom>
          <a:ln w="9525">
            <a:solidFill>
              <a:srgbClr val="A7A7A7"/>
            </a:solidFill>
          </a:ln>
        </p:spPr>
      </p:pic>
      <p:sp>
        <p:nvSpPr>
          <p:cNvPr id="19" name="QAD weights + native scales"/>
          <p:cNvSpPr txBox="1"/>
          <p:nvPr/>
        </p:nvSpPr>
        <p:spPr>
          <a:xfrm>
            <a:off x="18470880" y="11978640"/>
            <a:ext cx="8046720" cy="1188720"/>
          </a:xfrm>
          <a:prstGeom prst="rect">
            <a:avLst/>
          </a:prstGeom>
          <a:noFill/>
        </p:spPr>
        <p:txBody>
          <a:bodyPr wrap="square" lIns="0" rIns="0" tIns="0" bIns="0">
            <a:spAutoFit/>
          </a:bodyPr>
          <a:lstStyle/>
          <a:p>
            <a:pPr algn="ctr">
              <a:lnSpc>
                <a:spcPct val="108000"/>
              </a:lnSpc>
              <a:spcBef>
                <a:spcPts val="0"/>
              </a:spcBef>
              <a:spcAft>
                <a:spcPts val="1000"/>
              </a:spcAft>
            </a:pPr>
            <a:r>
              <a:rPr sz="2900" b="0">
                <a:solidFill>
                  <a:srgbClr val="313131"/>
                </a:solidFill>
                <a:latin typeface="NVIDIA Sans"/>
              </a:rPr>
              <a:t>QAD weights + native scales</a:t>
            </a:r>
          </a:p>
          <a:p>
            <a:pPr algn="ctr">
              <a:lnSpc>
                <a:spcPct val="108000"/>
              </a:lnSpc>
              <a:spcBef>
                <a:spcPts val="0"/>
              </a:spcBef>
              <a:spcAft>
                <a:spcPts val="1000"/>
              </a:spcAft>
            </a:pPr>
            <a:r>
              <a:rPr sz="2900" b="0">
                <a:solidFill>
                  <a:srgbClr val="313131"/>
                </a:solidFill>
                <a:latin typeface="NVIDIA Sans"/>
              </a:rPr>
              <a:t>Native FP4 sparse attention</a:t>
            </a:r>
          </a:p>
        </p:txBody>
      </p:sp>
      <p:sp>
        <p:nvSpPr>
          <p:cNvPr id="20" name="Request: 84.47 s*"/>
          <p:cNvSpPr txBox="1"/>
          <p:nvPr/>
        </p:nvSpPr>
        <p:spPr>
          <a:xfrm>
            <a:off x="18470880" y="13807440"/>
            <a:ext cx="8046720" cy="822960"/>
          </a:xfrm>
          <a:prstGeom prst="rect">
            <a:avLst/>
          </a:prstGeom>
          <a:noFill/>
        </p:spPr>
        <p:txBody>
          <a:bodyPr wrap="square" lIns="0" rIns="0" tIns="0" bIns="0">
            <a:spAutoFit/>
          </a:bodyPr>
          <a:lstStyle/>
          <a:p>
            <a:pPr algn="ctr">
              <a:lnSpc>
                <a:spcPct val="108000"/>
              </a:lnSpc>
              <a:spcBef>
                <a:spcPts val="0"/>
              </a:spcBef>
              <a:spcAft>
                <a:spcPts val="1000"/>
              </a:spcAft>
            </a:pPr>
            <a:r>
              <a:rPr sz="3200" b="1">
                <a:solidFill>
                  <a:srgbClr val="313131"/>
                </a:solidFill>
                <a:latin typeface="NVIDIA Sans Medium"/>
              </a:rPr>
              <a:t>Request: 84.47 s*</a:t>
            </a:r>
          </a:p>
        </p:txBody>
      </p:sp>
      <p:sp>
        <p:nvSpPr>
          <p:cNvPr id="21" name="LPIPS 0.2177  |  SSIM 0.6225"/>
          <p:cNvSpPr txBox="1"/>
          <p:nvPr/>
        </p:nvSpPr>
        <p:spPr>
          <a:xfrm>
            <a:off x="18470880" y="14859000"/>
            <a:ext cx="8046720" cy="777240"/>
          </a:xfrm>
          <a:prstGeom prst="rect">
            <a:avLst/>
          </a:prstGeom>
          <a:noFill/>
        </p:spPr>
        <p:txBody>
          <a:bodyPr wrap="square" lIns="0" rIns="0" tIns="0" bIns="0">
            <a:spAutoFit/>
          </a:bodyPr>
          <a:lstStyle/>
          <a:p>
            <a:pPr algn="ctr">
              <a:lnSpc>
                <a:spcPct val="108000"/>
              </a:lnSpc>
              <a:spcBef>
                <a:spcPts val="0"/>
              </a:spcBef>
              <a:spcAft>
                <a:spcPts val="1000"/>
              </a:spcAft>
            </a:pPr>
            <a:r>
              <a:rPr sz="2800" b="0">
                <a:solidFill>
                  <a:srgbClr val="313131"/>
                </a:solidFill>
                <a:latin typeface="NVIDIA Sans"/>
              </a:rPr>
              <a:t>LPIPS 0.2177  |  SSIM 0.6225</a:t>
            </a:r>
          </a:p>
        </p:txBody>
      </p:sp>
      <p:sp>
        <p:nvSpPr>
          <p:cNvPr id="22" name="QAD + Optimized FP4"/>
          <p:cNvSpPr txBox="1"/>
          <p:nvPr/>
        </p:nvSpPr>
        <p:spPr>
          <a:xfrm>
            <a:off x="26883360" y="5577840"/>
            <a:ext cx="8046720" cy="868680"/>
          </a:xfrm>
          <a:prstGeom prst="rect">
            <a:avLst/>
          </a:prstGeom>
          <a:noFill/>
        </p:spPr>
        <p:txBody>
          <a:bodyPr wrap="square" lIns="0" rIns="0" tIns="0" bIns="0">
            <a:spAutoFit/>
          </a:bodyPr>
          <a:lstStyle/>
          <a:p>
            <a:pPr algn="ctr">
              <a:lnSpc>
                <a:spcPct val="108000"/>
              </a:lnSpc>
              <a:spcBef>
                <a:spcPts val="0"/>
              </a:spcBef>
              <a:spcAft>
                <a:spcPts val="1000"/>
              </a:spcAft>
            </a:pPr>
            <a:r>
              <a:rPr sz="3600" b="1">
                <a:solidFill>
                  <a:srgbClr val="76B900"/>
                </a:solidFill>
                <a:latin typeface="NVIDIA Sans Medium"/>
              </a:rPr>
              <a:t>QAD + Native FP4</a:t>
            </a:r>
          </a:p>
        </p:txBody>
      </p:sp>
      <p:pic>
        <p:nvPicPr>
          <p:cNvPr id="23" name="QAD + Optimized FP4 embedded video">
            <a:hlinkClick r:id="" action="ppaction://media"/>
          </p:cNvPr>
          <p:cNvPicPr>
            <a:picLocks noChangeAspect="1"/>
          </p:cNvPicPr>
          <p:nvPr>
            <a:videoFile r:link="rId13"/>
            <p:extLst>
              <p:ext uri="{DAA4B4D4-6D71-4841-9C94-3DE7FCFB9230}">
                <p14:media xmlns:p14="http://schemas.microsoft.com/office/powerpoint/2010/main" r:embed="rId12"/>
              </p:ext>
            </p:extLst>
          </p:nvPr>
        </p:nvPicPr>
        <p:blipFill>
          <a:blip r:embed="rId14"/>
          <a:stretch>
            <a:fillRect/>
          </a:stretch>
        </p:blipFill>
        <p:spPr>
          <a:xfrm>
            <a:off x="26883360" y="6858000"/>
            <a:ext cx="8046720" cy="4598125"/>
          </a:xfrm>
          <a:prstGeom prst="rect">
            <a:avLst/>
          </a:prstGeom>
          <a:ln w="9525">
            <a:solidFill>
              <a:srgbClr val="A7A7A7"/>
            </a:solidFill>
          </a:ln>
        </p:spPr>
      </p:pic>
      <p:sp>
        <p:nvSpPr>
          <p:cNvPr id="24" name="Same QAD encoder / decoder"/>
          <p:cNvSpPr txBox="1"/>
          <p:nvPr/>
        </p:nvSpPr>
        <p:spPr>
          <a:xfrm>
            <a:off x="26883360" y="11978640"/>
            <a:ext cx="8046720" cy="1188720"/>
          </a:xfrm>
          <a:prstGeom prst="rect">
            <a:avLst/>
          </a:prstGeom>
          <a:noFill/>
        </p:spPr>
        <p:txBody>
          <a:bodyPr wrap="square" lIns="0" rIns="0" tIns="0" bIns="0">
            <a:spAutoFit/>
          </a:bodyPr>
          <a:lstStyle/>
          <a:p>
            <a:pPr algn="ctr">
              <a:lnSpc>
                <a:spcPct val="108000"/>
              </a:lnSpc>
              <a:spcBef>
                <a:spcPts val="0"/>
              </a:spcBef>
              <a:spcAft>
                <a:spcPts val="1000"/>
              </a:spcAft>
            </a:pPr>
            <a:r>
              <a:rPr sz="2900" b="0">
                <a:solidFill>
                  <a:srgbClr val="313131"/>
                </a:solidFill>
                <a:latin typeface="NVIDIA Sans"/>
              </a:rPr>
              <a:t>Unified prefix / video attention</a:t>
            </a:r>
            <a:br>
              <a:rPr sz="2900" b="0">
                <a:solidFill>
                  <a:srgbClr val="313131"/>
                </a:solidFill>
                <a:latin typeface="NVIDIA Sans"/>
              </a:rPr>
            </a:br>
            <a:r>
              <a:rPr sz="2900" b="0">
                <a:solidFill>
                  <a:srgbClr val="313131"/>
                </a:solidFill>
                <a:latin typeface="NVIDIA Sans"/>
              </a:rPr>
              <a:t>Device-aware SM scheduling</a:t>
            </a:r>
          </a:p>
        </p:txBody>
      </p:sp>
      <p:sp>
        <p:nvSpPr>
          <p:cNvPr id="25" name="Request: 69.95 s*"/>
          <p:cNvSpPr txBox="1"/>
          <p:nvPr/>
        </p:nvSpPr>
        <p:spPr>
          <a:xfrm>
            <a:off x="26883360" y="13807440"/>
            <a:ext cx="8046720" cy="822960"/>
          </a:xfrm>
          <a:prstGeom prst="rect">
            <a:avLst/>
          </a:prstGeom>
          <a:noFill/>
        </p:spPr>
        <p:txBody>
          <a:bodyPr wrap="square" lIns="0" rIns="0" tIns="0" bIns="0">
            <a:spAutoFit/>
          </a:bodyPr>
          <a:lstStyle/>
          <a:p>
            <a:pPr algn="ctr">
              <a:lnSpc>
                <a:spcPct val="108000"/>
              </a:lnSpc>
              <a:spcBef>
                <a:spcPts val="0"/>
              </a:spcBef>
              <a:spcAft>
                <a:spcPts val="1000"/>
              </a:spcAft>
            </a:pPr>
            <a:r>
              <a:rPr sz="3200" b="1">
                <a:solidFill>
                  <a:srgbClr val="313131"/>
                </a:solidFill>
                <a:latin typeface="NVIDIA Sans Medium"/>
              </a:rPr>
              <a:t>Request: 69.95 s*</a:t>
            </a:r>
          </a:p>
        </p:txBody>
      </p:sp>
      <p:sp>
        <p:nvSpPr>
          <p:cNvPr id="26" name="LPIPS 0.2169  |  SSIM 0.6222"/>
          <p:cNvSpPr txBox="1"/>
          <p:nvPr/>
        </p:nvSpPr>
        <p:spPr>
          <a:xfrm>
            <a:off x="26883360" y="14859000"/>
            <a:ext cx="8046720" cy="777240"/>
          </a:xfrm>
          <a:prstGeom prst="rect">
            <a:avLst/>
          </a:prstGeom>
          <a:noFill/>
        </p:spPr>
        <p:txBody>
          <a:bodyPr wrap="square" lIns="0" rIns="0" tIns="0" bIns="0">
            <a:spAutoFit/>
          </a:bodyPr>
          <a:lstStyle/>
          <a:p>
            <a:pPr algn="ctr">
              <a:lnSpc>
                <a:spcPct val="108000"/>
              </a:lnSpc>
              <a:spcBef>
                <a:spcPts val="0"/>
              </a:spcBef>
              <a:spcAft>
                <a:spcPts val="1000"/>
              </a:spcAft>
            </a:pPr>
            <a:r>
              <a:rPr sz="2800" b="0">
                <a:solidFill>
                  <a:srgbClr val="313131"/>
                </a:solidFill>
                <a:latin typeface="NVIDIA Sans"/>
              </a:rPr>
              <a:t>LPIPS 0.2169  |  SSIM 0.6222</a:t>
            </a:r>
          </a:p>
        </p:txBody>
      </p:sp>
      <p:sp>
        <p:nvSpPr>
          <p:cNvPr id="27" name="Quantized arms include DiT, language encoder and video decoder."/>
          <p:cNvSpPr txBox="1"/>
          <p:nvPr/>
        </p:nvSpPr>
        <p:spPr>
          <a:xfrm>
            <a:off x="1828800" y="16459200"/>
            <a:ext cx="32918400" cy="822960"/>
          </a:xfrm>
          <a:prstGeom prst="rect">
            <a:avLst/>
          </a:prstGeom>
          <a:noFill/>
        </p:spPr>
        <p:txBody>
          <a:bodyPr wrap="square" lIns="0" rIns="0" tIns="0" bIns="0">
            <a:spAutoFit/>
          </a:bodyPr>
          <a:lstStyle/>
          <a:p>
            <a:pPr algn="ctr">
              <a:lnSpc>
                <a:spcPct val="108000"/>
              </a:lnSpc>
              <a:spcBef>
                <a:spcPts val="0"/>
              </a:spcBef>
              <a:spcAft>
                <a:spcPts val="1000"/>
              </a:spcAft>
            </a:pPr>
            <a:r>
              <a:rPr sz="3200" b="1">
                <a:solidFill>
                  <a:srgbClr val="76B900"/>
                </a:solidFill>
                <a:latin typeface="NVIDIA Sans Medium"/>
              </a:rPr>
              <a:t>Quantized arms include DiT, language encoder and video decoder.</a:t>
            </a:r>
          </a:p>
        </p:txBody>
      </p:sp>
      <p:sp>
        <p:nvSpPr>
          <p:cNvPr id="28" name="1344 × 768 · 124 frames at 24 FPS · 8 steps · Seed 1234 · VSA tile128"/>
          <p:cNvSpPr txBox="1"/>
          <p:nvPr/>
        </p:nvSpPr>
        <p:spPr>
          <a:xfrm>
            <a:off x="1828800" y="17510760"/>
            <a:ext cx="32918400" cy="731520"/>
          </a:xfrm>
          <a:prstGeom prst="rect">
            <a:avLst/>
          </a:prstGeom>
          <a:noFill/>
        </p:spPr>
        <p:txBody>
          <a:bodyPr wrap="square" lIns="0" rIns="0" tIns="0" bIns="0">
            <a:spAutoFit/>
          </a:bodyPr>
          <a:lstStyle/>
          <a:p>
            <a:pPr algn="ctr">
              <a:lnSpc>
                <a:spcPct val="108000"/>
              </a:lnSpc>
              <a:spcBef>
                <a:spcPts val="0"/>
              </a:spcBef>
              <a:spcAft>
                <a:spcPts val="1000"/>
              </a:spcAft>
            </a:pPr>
            <a:r>
              <a:rPr sz="2900" b="0">
                <a:solidFill>
                  <a:srgbClr val="313131"/>
                </a:solidFill>
                <a:latin typeface="NVIDIA Sans"/>
              </a:rPr>
              <a:t>1344 × 768 · 124 frames at 24 FPS · 8 steps · Seed 1234 · VSA tile128</a:t>
            </a:r>
          </a:p>
        </p:txBody>
      </p:sp>
      <p:sp>
        <p:nvSpPr>
          <p:cNvPr id="29" name="*Single requests with CPU offload. GPUs: BF16 0; Online / QAD 3; optimized 1."/>
          <p:cNvSpPr txBox="1"/>
          <p:nvPr/>
        </p:nvSpPr>
        <p:spPr>
          <a:xfrm>
            <a:off x="1828800" y="18425160"/>
            <a:ext cx="32918400" cy="685800"/>
          </a:xfrm>
          <a:prstGeom prst="rect">
            <a:avLst/>
          </a:prstGeom>
          <a:noFill/>
        </p:spPr>
        <p:txBody>
          <a:bodyPr wrap="square" lIns="0" rIns="0" tIns="0" bIns="0">
            <a:spAutoFit/>
          </a:bodyPr>
          <a:lstStyle/>
          <a:p>
            <a:pPr algn="ctr">
              <a:lnSpc>
                <a:spcPct val="108000"/>
              </a:lnSpc>
              <a:spcBef>
                <a:spcPts val="0"/>
              </a:spcBef>
              <a:spcAft>
                <a:spcPts val="1000"/>
              </a:spcAft>
            </a:pPr>
            <a:r>
              <a:rPr sz="2600" b="0">
                <a:solidFill>
                  <a:srgbClr val="313131"/>
                </a:solidFill>
                <a:latin typeface="NVIDIA Sans"/>
              </a:rPr>
              <a:t>*Single requests with CPU offload. GPUs: BF16 0; Online / QAD 3; Native FP4 1.</a:t>
            </a:r>
          </a:p>
        </p:txBody>
      </p:sp>
    </p:spTree>
  </p:cSld>
  <p:clrMapOvr>
    <a:masterClrMapping/>
  </p:clrMapOvr>
  <p:timing>
    <p:tnLst>
      <p:par>
        <p:cTn id="1" dur="indefinite" restart="never" nodeType="tmRoot">
          <p:childTnLst>
            <p:video>
              <p:cMediaNode vol="0">
                <p:cTn id="2" fill="hold" display="0">
                  <p:stCondLst>
                    <p:cond delay="0"/>
                  </p:stCondLst>
                </p:cTn>
                <p:tgtEl>
                  <p:spTgt spid="8"/>
                </p:tgtEl>
              </p:cMediaNode>
            </p:video>
            <p:video>
              <p:cMediaNode vol="0">
                <p:cTn id="3" fill="hold" display="0">
                  <p:stCondLst>
                    <p:cond delay="0"/>
                  </p:stCondLst>
                </p:cTn>
                <p:tgtEl>
                  <p:spTgt spid="13"/>
                </p:tgtEl>
              </p:cMediaNode>
            </p:video>
            <p:video>
              <p:cMediaNode vol="0">
                <p:cTn id="4" fill="hold" display="0">
                  <p:stCondLst>
                    <p:cond delay="0"/>
                  </p:stCondLst>
                </p:cTn>
                <p:tgtEl>
                  <p:spTgt spid="18"/>
                </p:tgtEl>
              </p:cMediaNode>
            </p:video>
            <p:video>
              <p:cMediaNode vol="0">
                <p:cTn id="5" fill="hold" display="0">
                  <p:stCondLst>
                    <p:cond delay="0"/>
                  </p:stCondLst>
                </p:cTn>
                <p:tgtEl>
                  <p:spTgt spid="23"/>
                </p:tgtEl>
              </p:cMediaNode>
            </p:video>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a:hlinkClick r:id="rId9"/>
          </p:cNvPr>
          <p:cNvSpPr txBox="1"/>
          <p:nvPr/>
        </p:nvSpPr>
        <p:spPr>
          <a:xfrm>
            <a:off x="1828800" y="914400"/>
            <a:ext cx="32918400" cy="2103120"/>
          </a:xfrm>
          <a:prstGeom prst="rect">
            <a:avLst/>
          </a:prstGeom>
          <a:noFill/>
        </p:spPr>
        <p:txBody>
          <a:bodyPr wrap="square" lIns="0" rIns="0" tIns="0" bIns="0">
            <a:spAutoFit/>
          </a:bodyPr>
          <a:lstStyle/>
          <a:p>
            <a:pPr>
              <a:spcAft>
                <a:spcPts val="800"/>
              </a:spcAft>
            </a:pPr>
            <a:r>
              <a:rPr sz="7600">
                <a:solidFill>
                  <a:srgbClr val="000000"/>
                </a:solidFill>
                <a:latin typeface="NVIDIA Sans Medium"/>
              </a:rPr>
              <a:t>Three Ideas Behind Faster Generation</a:t>
            </a:r>
          </a:p>
        </p:txBody>
      </p:sp>
      <p:sp>
        <p:nvSpPr>
          <p:cNvPr id="3" name="Subtitle"/>
          <p:cNvSpPr txBox="1"/>
          <p:nvPr/>
        </p:nvSpPr>
        <p:spPr>
          <a:xfrm>
            <a:off x="1828800" y="3200400"/>
            <a:ext cx="32918400" cy="914400"/>
          </a:xfrm>
          <a:prstGeom prst="rect">
            <a:avLst/>
          </a:prstGeom>
          <a:noFill/>
        </p:spPr>
        <p:txBody>
          <a:bodyPr wrap="square" lIns="0" rIns="0" tIns="0" bIns="0">
            <a:spAutoFit/>
          </a:bodyPr>
          <a:lstStyle/>
          <a:p>
            <a:pPr>
              <a:spcAft>
                <a:spcPts val="800"/>
              </a:spcAft>
            </a:pPr>
            <a:r>
              <a:rPr sz="3400">
                <a:solidFill>
                  <a:srgbClr val="313131"/>
                </a:solidFill>
                <a:latin typeface="NVIDIA Sans"/>
              </a:rPr>
              <a:t>Technical overview · detailed algorithms and source excerpts remain available on hidden slides</a:t>
            </a:r>
          </a:p>
        </p:txBody>
      </p:sp>
      <p:sp>
        <p:nvSpPr>
          <p:cNvPr id="4" name="Slide number"/>
          <p:cNvSpPr txBox="1"/>
          <p:nvPr/>
        </p:nvSpPr>
        <p:spPr>
          <a:xfrm>
            <a:off x="914400" y="19385280"/>
            <a:ext cx="914400" cy="640080"/>
          </a:xfrm>
          <a:prstGeom prst="rect">
            <a:avLst/>
          </a:prstGeom>
          <a:noFill/>
        </p:spPr>
        <p:txBody>
          <a:bodyPr wrap="square" lIns="0" rIns="0" tIns="0" bIns="0">
            <a:spAutoFit/>
          </a:bodyPr>
          <a:lstStyle/>
          <a:p>
            <a:pPr>
              <a:spcAft>
                <a:spcPts val="800"/>
              </a:spcAft>
            </a:pPr>
            <a:r>
              <a:rPr sz="2000">
                <a:solidFill>
                  <a:srgbClr val="000000"/>
                </a:solidFill>
                <a:latin typeface="NVIDIA Sans"/>
              </a:rPr>
              <a:t>9</a:t>
            </a:r>
          </a:p>
        </p:txBody>
      </p:sp>
      <p:sp>
        <p:nvSpPr>
          <p:cNvPr id="5" name="Overview panel 0"/>
          <p:cNvSpPr/>
          <p:nvPr/>
        </p:nvSpPr>
        <p:spPr>
          <a:xfrm>
            <a:off x="1828800" y="5029200"/>
            <a:ext cx="32918400" cy="37033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erview title 0"/>
          <p:cNvSpPr txBox="1"/>
          <p:nvPr/>
        </p:nvSpPr>
        <p:spPr>
          <a:xfrm>
            <a:off x="2468880" y="5440680"/>
            <a:ext cx="31089600" cy="822960"/>
          </a:xfrm>
          <a:prstGeom prst="rect">
            <a:avLst/>
          </a:prstGeom>
          <a:noFill/>
        </p:spPr>
        <p:txBody>
          <a:bodyPr wrap="square" lIns="0" rIns="0" tIns="0" bIns="0">
            <a:spAutoFit/>
          </a:bodyPr>
          <a:lstStyle/>
          <a:p>
            <a:pPr>
              <a:spcAft>
                <a:spcPts val="800"/>
              </a:spcAft>
            </a:pPr>
            <a:r>
              <a:rPr sz="4700">
                <a:solidFill>
                  <a:srgbClr val="000000"/>
                </a:solidFill>
                <a:latin typeface="NVIDIA Sans Medium"/>
              </a:rPr>
              <a:t>Less model work</a:t>
            </a:r>
          </a:p>
        </p:txBody>
      </p:sp>
      <p:sp>
        <p:nvSpPr>
          <p:cNvPr id="7" name="Overview body 0"/>
          <p:cNvSpPr txBox="1"/>
          <p:nvPr/>
        </p:nvSpPr>
        <p:spPr>
          <a:xfrm>
            <a:off x="2468880" y="6446520"/>
            <a:ext cx="31089600" cy="2011680"/>
          </a:xfrm>
          <a:prstGeom prst="rect">
            <a:avLst/>
          </a:prstGeom>
          <a:noFill/>
        </p:spPr>
        <p:txBody>
          <a:bodyPr wrap="square" lIns="0" rIns="0" tIns="0" bIns="0">
            <a:spAutoFit/>
          </a:bodyPr>
          <a:lstStyle/>
          <a:p>
            <a:pPr>
              <a:spcAft>
                <a:spcPts val="800"/>
              </a:spcAft>
            </a:pPr>
            <a:r>
              <a:rPr sz="3500">
                <a:solidFill>
                  <a:srgbClr val="000000"/>
                </a:solidFill>
                <a:latin typeface="NVIDIA Sans"/>
              </a:rPr>
              <a:t>Few-step distillation reduces evaluations.</a:t>
            </a:r>
          </a:p>
          <a:p>
            <a:pPr>
              <a:spcAft>
                <a:spcPts val="800"/>
              </a:spcAft>
            </a:pPr>
            <a:r>
              <a:rPr sz="3500">
                <a:solidFill>
                  <a:srgbClr val="000000"/>
                </a:solidFill>
                <a:latin typeface="NVIDIA Sans"/>
              </a:rPr>
              <a:t>Sparse attention concentrates work on selected regions.</a:t>
            </a:r>
          </a:p>
          <a:p>
            <a:pPr>
              <a:spcAft>
                <a:spcPts val="800"/>
              </a:spcAft>
            </a:pPr>
            <a:r>
              <a:rPr sz="3500">
                <a:solidFill>
                  <a:srgbClr val="000000"/>
                </a:solidFill>
                <a:latin typeface="NVIDIA Sans"/>
              </a:rPr>
              <a:t>Quantized inference lowers arithmetic and memory cost.</a:t>
            </a:r>
          </a:p>
        </p:txBody>
      </p:sp>
      <p:sp>
        <p:nvSpPr>
          <p:cNvPr id="8" name="Overview panel 1"/>
          <p:cNvSpPr/>
          <p:nvPr/>
        </p:nvSpPr>
        <p:spPr>
          <a:xfrm>
            <a:off x="1828800" y="9281160"/>
            <a:ext cx="32918400" cy="37033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erview title 1"/>
          <p:cNvSpPr txBox="1"/>
          <p:nvPr/>
        </p:nvSpPr>
        <p:spPr>
          <a:xfrm>
            <a:off x="2468880" y="9692640"/>
            <a:ext cx="31089600" cy="822960"/>
          </a:xfrm>
          <a:prstGeom prst="rect">
            <a:avLst/>
          </a:prstGeom>
          <a:noFill/>
        </p:spPr>
        <p:txBody>
          <a:bodyPr wrap="square" lIns="0" rIns="0" tIns="0" bIns="0">
            <a:spAutoFit/>
          </a:bodyPr>
          <a:lstStyle/>
          <a:p>
            <a:pPr>
              <a:spcAft>
                <a:spcPts val="800"/>
              </a:spcAft>
            </a:pPr>
            <a:r>
              <a:rPr sz="4700">
                <a:solidFill>
                  <a:srgbClr val="000000"/>
                </a:solidFill>
                <a:latin typeface="NVIDIA Sans Medium"/>
              </a:rPr>
              <a:t>Overlap across eight GPUs</a:t>
            </a:r>
          </a:p>
        </p:txBody>
      </p:sp>
      <p:sp>
        <p:nvSpPr>
          <p:cNvPr id="10" name="Overview body 1"/>
          <p:cNvSpPr txBox="1"/>
          <p:nvPr/>
        </p:nvSpPr>
        <p:spPr>
          <a:xfrm>
            <a:off x="2468880" y="10698480"/>
            <a:ext cx="31089600" cy="2011680"/>
          </a:xfrm>
          <a:prstGeom prst="rect">
            <a:avLst/>
          </a:prstGeom>
          <a:noFill/>
        </p:spPr>
        <p:txBody>
          <a:bodyPr wrap="square" lIns="0" rIns="0" tIns="0" bIns="0">
            <a:spAutoFit/>
          </a:bodyPr>
          <a:lstStyle/>
          <a:p>
            <a:pPr>
              <a:spcAft>
                <a:spcPts val="800"/>
              </a:spcAft>
            </a:pPr>
            <a:r>
              <a:rPr sz="3500">
                <a:solidFill>
                  <a:srgbClr val="000000"/>
                </a:solidFill>
                <a:latin typeface="NVIDIA Sans"/>
              </a:rPr>
              <a:t>Ulysses distributes attention across heads.</a:t>
            </a:r>
          </a:p>
          <a:p>
            <a:pPr>
              <a:spcAft>
                <a:spcPts val="800"/>
              </a:spcAft>
            </a:pPr>
            <a:r>
              <a:rPr sz="3500">
                <a:solidFill>
                  <a:srgbClr val="000000"/>
                </a:solidFill>
                <a:latin typeface="NVIDIA Sans"/>
              </a:rPr>
              <a:t>RDMA carries the exchanges.</a:t>
            </a:r>
          </a:p>
          <a:p>
            <a:pPr>
              <a:spcAft>
                <a:spcPts val="800"/>
              </a:spcAft>
            </a:pPr>
            <a:r>
              <a:rPr sz="3500">
                <a:solidFill>
                  <a:srgbClr val="000000"/>
                </a:solidFill>
                <a:latin typeface="NVIDIA Sans"/>
              </a:rPr>
              <a:t>Head bands overlap transfer with attention compute.</a:t>
            </a:r>
          </a:p>
        </p:txBody>
      </p:sp>
      <p:sp>
        <p:nvSpPr>
          <p:cNvPr id="11" name="Overview panel 2"/>
          <p:cNvSpPr/>
          <p:nvPr/>
        </p:nvSpPr>
        <p:spPr>
          <a:xfrm>
            <a:off x="1828800" y="13533120"/>
            <a:ext cx="32918400" cy="37033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erview title 2"/>
          <p:cNvSpPr txBox="1"/>
          <p:nvPr/>
        </p:nvSpPr>
        <p:spPr>
          <a:xfrm>
            <a:off x="2468880" y="13944600"/>
            <a:ext cx="31089600" cy="822960"/>
          </a:xfrm>
          <a:prstGeom prst="rect">
            <a:avLst/>
          </a:prstGeom>
          <a:noFill/>
        </p:spPr>
        <p:txBody>
          <a:bodyPr wrap="square" lIns="0" rIns="0" tIns="0" bIns="0">
            <a:spAutoFit/>
          </a:bodyPr>
          <a:lstStyle/>
          <a:p>
            <a:pPr>
              <a:spcAft>
                <a:spcPts val="800"/>
              </a:spcAft>
            </a:pPr>
            <a:r>
              <a:rPr sz="4700">
                <a:solidFill>
                  <a:srgbClr val="000000"/>
                </a:solidFill>
                <a:latin typeface="NVIDIA Sans Medium"/>
              </a:rPr>
              <a:t>Keep the output path moving</a:t>
            </a:r>
          </a:p>
        </p:txBody>
      </p:sp>
      <p:sp>
        <p:nvSpPr>
          <p:cNvPr id="13" name="Overview body 2"/>
          <p:cNvSpPr txBox="1"/>
          <p:nvPr/>
        </p:nvSpPr>
        <p:spPr>
          <a:xfrm>
            <a:off x="2468880" y="14950440"/>
            <a:ext cx="31089600" cy="2011680"/>
          </a:xfrm>
          <a:prstGeom prst="rect">
            <a:avLst/>
          </a:prstGeom>
          <a:noFill/>
        </p:spPr>
        <p:txBody>
          <a:bodyPr wrap="square" lIns="0" rIns="0" tIns="0" bIns="0">
            <a:spAutoFit/>
          </a:bodyPr>
          <a:lstStyle/>
          <a:p>
            <a:pPr>
              <a:spcAft>
                <a:spcPts val="800"/>
              </a:spcAft>
            </a:pPr>
            <a:r>
              <a:rPr sz="3500">
                <a:solidFill>
                  <a:srgbClr val="000000"/>
                </a:solidFill>
                <a:latin typeface="NVIDIA Sans"/>
              </a:rPr>
              <a:t>CUDA Graph replays stable head-band compute.
Fused packing reduces intermediate copies.
NVFP4 VAE and MP4 pre-encoding reduce output cost.</a:t>
            </a:r>
          </a:p>
        </p:txBody>
      </p:sp>
      <p:sp>
        <p:nvSpPr>
          <p:cNvPr id="14" name="Overview scope"/>
          <p:cNvSpPr txBox="1"/>
          <p:nvPr/>
        </p:nvSpPr>
        <p:spPr>
          <a:xfrm>
            <a:off x="1828800" y="18516600"/>
            <a:ext cx="32918400" cy="1051560"/>
          </a:xfrm>
          <a:prstGeom prst="rect">
            <a:avLst/>
          </a:prstGeom>
          <a:noFill/>
        </p:spPr>
        <p:txBody>
          <a:bodyPr wrap="square" lIns="0" rIns="0" tIns="0" bIns="0">
            <a:spAutoFit/>
          </a:bodyPr>
          <a:lstStyle/>
          <a:p>
            <a:pPr>
              <a:spcAft>
                <a:spcPts val="800"/>
              </a:spcAft>
            </a:pPr>
            <a:r>
              <a:rPr sz="2700">
                <a:solidFill>
                  <a:srgbClr val="313131"/>
                </a:solidFill>
                <a:latin typeface="NVIDIA Sans"/>
              </a:rPr>
              <a:t>These are optimization families. Use each demo’s own recipe and measurements; the four-step avatar and slide 15 are distinct workloads.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 Placeholder 1"/>
          <p:cNvSpPr>
            <a:spLocks noGrp="1"/>
          </p:cNvSpPr>
          <p:nvPr>
            <p:ph type="body" idx="14" sz="quarter"/>
          </p:nvPr>
        </p:nvSpPr>
        <p:spPr/>
        <p:txBody>
          <a:bodyPr/>
          <a:lstStyle/>
          <a:p>
            <a:r>
              <a:t>Two CPU sockets · four ConnectX-8 cards · two GPUs per PCIe subtree</a:t>
            </a:r>
          </a:p>
        </p:txBody>
      </p:sp>
      <p:sp>
        <p:nvSpPr>
          <p:cNvPr id="3" name="Title 2"/>
          <p:cNvSpPr>
            <a:spLocks noGrp="1"/>
          </p:cNvSpPr>
          <p:nvPr>
            <p:ph type="title"/>
          </p:nvPr>
        </p:nvSpPr>
        <p:spPr/>
        <p:txBody>
          <a:bodyPr/>
          <a:lstStyle/>
          <a:p>
            <a:r>
              <a:t>Eight-GPU Topology</a:t>
            </a:r>
          </a:p>
        </p:txBody>
      </p:sp>
      <p:sp>
        <p:nvSpPr>
          <p:cNvPr id="5" name="Text Placeholder 4"/>
          <p:cNvSpPr>
            <a:spLocks noGrp="1"/>
          </p:cNvSpPr>
          <p:nvPr>
            <p:ph type="body" idx="51" sz="quarter"/>
          </p:nvPr>
        </p:nvSpPr>
        <p:spPr>
          <a:xfrm>
            <a:off x="1828800" y="18425160"/>
            <a:ext cx="32918400" cy="822960"/>
          </a:xfrm>
        </p:spPr>
        <p:txBody>
          <a:bodyPr/>
          <a:lstStyle/>
          <a:p>
            <a:r>
              <a:t>One-way link capacities · network ports support simultaneous TX and RX</a:t>
            </a:r>
          </a:p>
        </p:txBody>
      </p:sp>
      <p:sp>
        <p:nvSpPr>
          <p:cNvPr id="7" name="Footer Placeholder">
            <a:extLst>
              <a:ext uri="{FF2B5EF4-FFF2-40B4-BE49-F238E27FC236}">
                <a16:creationId xmlns:a16="http://schemas.microsoft.com/office/drawing/2014/main" id="{62E9C3B1-E578-9546-78AF-A91BCF2187FB}"/>
              </a:ext>
            </a:extLst>
          </p:cNvPr>
          <p:cNvSpPr>
            <a:spLocks noGrp="1"/>
          </p:cNvSpPr>
          <p:nvPr>
            <p:ph type="ftr" sz="quarter" idx="19"/>
          </p:nvPr>
        </p:nvSpPr>
        <p:spPr/>
        <p:txBody>
          <a:bodyPr/>
          <a:lstStyle/>
          <a:p>
            <a:pPr>
              <a:lnSpc>
                <a:spcPct val="90000"/>
              </a:lnSpc>
            </a:pPr>
            <a:r>
              <a:rPr lang="en-US" sz="2000" b="0">
                <a:solidFill>
                  <a:srgbClr val="A7A7A7"/>
                </a:solidFill>
                <a:latin typeface="NVIDIA Sans"/>
              </a:rPr>
              <a:t>Sources: local PCIe / port audit · NVIDIA ConnectX-8 · AMD EPYC 9005 architecture · xGMI raw capacity assumption</a:t>
            </a:r>
            <a:endParaRPr lang="en-US" dirty="0"/>
          </a:p>
        </p:txBody>
      </p:sp>
      <p:sp>
        <p:nvSpPr>
          <p:cNvPr id="8" name="Slide Number Placeholder">
            <a:extLst>
              <a:ext uri="{FF2B5EF4-FFF2-40B4-BE49-F238E27FC236}">
                <a16:creationId xmlns:a16="http://schemas.microsoft.com/office/drawing/2014/main" id="{8CA48B7B-5A22-B5DB-CF09-43E03E4D8D98}"/>
              </a:ext>
            </a:extLst>
          </p:cNvPr>
          <p:cNvSpPr>
            <a:spLocks noGrp="1"/>
          </p:cNvSpPr>
          <p:nvPr>
            <p:ph type="sldNum" sz="quarter" idx="20"/>
          </p:nvPr>
        </p:nvSpPr>
        <p:spPr>
          <a:xfrm>
            <a:off x="914400" y="19431000"/>
            <a:ext cx="868680" cy="640080"/>
          </a:xfrm>
        </p:spPr>
        <p:txBody>
          <a:bodyPr/>
          <a:lstStyle/>
          <a:p>
            <a:pPr>
              <a:lnSpc>
                <a:spcPct val="90000"/>
              </a:lnSpc>
            </a:pPr>
            <a:fld id="{5D6728F8-03AC-4059-94FB-90617981AE50}" type="slidenum">
              <a:rPr lang="en-US" smtClean="0"/>
              <a:pPr/>
              <a:t>10</a:t>
            </a:fld>
            <a:endParaRPr lang="en-US"/>
          </a:p>
        </p:txBody>
      </p:sp>
      <p:pic>
        <p:nvPicPr>
          <p:cNvPr id="9" name="Topology with one-way capacity model" descr="slide-13-diagram.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828800" y="4800600"/>
            <a:ext cx="32918400" cy="13167359"/>
          </a:xfrm>
          <a:prstGeom prst="rect">
            <a:avLst/>
          </a:prstGeom>
          <a:ln w="9525">
            <a:solidFill>
              <a:srgbClr val="A7A7A7"/>
            </a:solidFill>
          </a:ln>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 Placeholder 1"/>
          <p:cNvSpPr>
            <a:spLocks noGrp="1"/>
          </p:cNvSpPr>
          <p:nvPr>
            <p:ph type="body" idx="13" sz="quarter"/>
          </p:nvPr>
        </p:nvSpPr>
        <p:spPr>
          <a:xfrm>
            <a:off x="1828800" y="3383280"/>
            <a:ext cx="32918400" cy="1005840"/>
          </a:xfrm>
        </p:spPr>
        <p:txBody>
          <a:bodyPr/>
          <a:lstStyle/>
          <a:p>
            <a:r>
              <a:t>Prior communication study · FI RDMA is 2.33–2.47× faster on matched Q/K/V/O exchanges</a:t>
            </a:r>
          </a:p>
        </p:txBody>
      </p:sp>
      <p:sp>
        <p:nvSpPr>
          <p:cNvPr id="3" name="Title 2"/>
          <p:cNvSpPr>
            <a:spLocks noGrp="1"/>
          </p:cNvSpPr>
          <p:nvPr>
            <p:ph type="title"/>
          </p:nvPr>
        </p:nvSpPr>
        <p:spPr>
          <a:xfrm>
            <a:off x="1828800" y="914400"/>
            <a:ext cx="32918400" cy="2468880"/>
          </a:xfrm>
        </p:spPr>
        <p:txBody>
          <a:bodyPr/>
          <a:lstStyle/>
          <a:p>
            <a:r>
              <a:t>Local NCCL to RDMA</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11</a:t>
            </a:fld>
            <a:endParaRPr lang="en-US"/>
          </a:p>
        </p:txBody>
      </p:sp>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2026-10-26 · local-only NCCL control · 3 rounds × 30 samples · communication microbenchmark, not E2E</a:t>
            </a:r>
            <a:endParaRPr lang="en-US" dirty="0"/>
          </a:p>
        </p:txBody>
      </p:sp>
      <p:pic>
        <p:nvPicPr>
          <p:cNvPr id="11" name="Original Ulysses local NCCL versus FI RDMA — matched sequence microbenchmark" descr="sequence-comparison.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8653760" y="5257800"/>
            <a:ext cx="16093440" cy="10997184"/>
          </a:xfrm>
          <a:prstGeom prst="rect">
            <a:avLst/>
          </a:prstGeom>
          <a:ln w="9525">
            <a:solidFill>
              <a:srgbClr val="A7A7A7"/>
            </a:solidFill>
          </a:ln>
        </p:spPr>
      </p:pic>
      <p:sp>
        <p:nvSpPr>
          <p:cNvPr id="12" name="Local NCCL · shared PCIe uplink"/>
          <p:cNvSpPr txBox="1"/>
          <p:nvPr/>
        </p:nvSpPr>
        <p:spPr>
          <a:xfrm>
            <a:off x="1828800" y="5303520"/>
            <a:ext cx="15544800" cy="777240"/>
          </a:xfrm>
          <a:prstGeom prst="rect">
            <a:avLst/>
          </a:prstGeom>
          <a:noFill/>
        </p:spPr>
        <p:txBody>
          <a:bodyPr wrap="square" lIns="0" rIns="0" tIns="0" bIns="0">
            <a:spAutoFit/>
          </a:bodyPr>
          <a:lstStyle/>
          <a:p>
            <a:pPr algn="l">
              <a:lnSpc>
                <a:spcPct val="112000"/>
              </a:lnSpc>
              <a:spcBef>
                <a:spcPts val="0"/>
              </a:spcBef>
              <a:spcAft>
                <a:spcPts val="0"/>
              </a:spcAft>
            </a:pPr>
            <a:r>
              <a:rPr sz="3800" b="1">
                <a:solidFill>
                  <a:srgbClr val="76B900"/>
                </a:solidFill>
                <a:latin typeface="NVIDIA Sans Medium"/>
              </a:rPr>
              <a:t>Local NCCL · shared PCIe uplink</a:t>
            </a:r>
          </a:p>
        </p:txBody>
      </p:sp>
      <p:sp>
        <p:nvSpPr>
          <p:cNvPr id="13" name="1 P2P peer + 6 SHM peers per rank"/>
          <p:cNvSpPr txBox="1"/>
          <p:nvPr/>
        </p:nvSpPr>
        <p:spPr>
          <a:xfrm>
            <a:off x="1828800" y="630936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1 P2P peer + 6 SHM peers per rank</a:t>
            </a:r>
          </a:p>
        </p:txBody>
      </p:sp>
      <p:sp>
        <p:nvSpPr>
          <p:cNvPr id="14" name="Cross-subtree payload uses host memory"/>
          <p:cNvSpPr txBox="1"/>
          <p:nvPr/>
        </p:nvSpPr>
        <p:spPr>
          <a:xfrm>
            <a:off x="1828800" y="699516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Cross-subtree payload uses host memory</a:t>
            </a:r>
          </a:p>
        </p:txBody>
      </p:sp>
      <p:sp>
        <p:nvSpPr>
          <p:cNvPr id="15" name="Two GPUs share one 63.0 GB/s uplink"/>
          <p:cNvSpPr txBox="1"/>
          <p:nvPr/>
        </p:nvSpPr>
        <p:spPr>
          <a:xfrm>
            <a:off x="1828800" y="768096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Two GPUs share one 63.0 GB/s uplink</a:t>
            </a:r>
          </a:p>
        </p:txBody>
      </p:sp>
      <p:sp>
        <p:nvSpPr>
          <p:cNvPr id="16" name="2 × B × 6/7 ≤ 63.0; B ≤ 36.8 GB/s"/>
          <p:cNvSpPr txBox="1"/>
          <p:nvPr/>
        </p:nvSpPr>
        <p:spPr>
          <a:xfrm>
            <a:off x="1828800" y="836676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2 × B × 6/7 &lt;= 63.0; B &lt;= 36.8 GB/s</a:t>
            </a:r>
          </a:p>
        </p:txBody>
      </p:sp>
      <p:sp>
        <p:nvSpPr>
          <p:cNvPr id="17" name="Cross-NUMA · raw xGMI model"/>
          <p:cNvSpPr txBox="1"/>
          <p:nvPr/>
        </p:nvSpPr>
        <p:spPr>
          <a:xfrm>
            <a:off x="1828800" y="9464040"/>
            <a:ext cx="15544800" cy="777240"/>
          </a:xfrm>
          <a:prstGeom prst="rect">
            <a:avLst/>
          </a:prstGeom>
          <a:noFill/>
        </p:spPr>
        <p:txBody>
          <a:bodyPr wrap="square" lIns="0" rIns="0" tIns="0" bIns="0">
            <a:spAutoFit/>
          </a:bodyPr>
          <a:lstStyle/>
          <a:p>
            <a:pPr algn="l">
              <a:lnSpc>
                <a:spcPct val="112000"/>
              </a:lnSpc>
              <a:spcBef>
                <a:spcPts val="0"/>
              </a:spcBef>
              <a:spcAft>
                <a:spcPts val="0"/>
              </a:spcAft>
            </a:pPr>
            <a:r>
              <a:rPr sz="3800" b="1">
                <a:solidFill>
                  <a:srgbClr val="76B900"/>
                </a:solidFill>
                <a:latin typeface="NVIDIA Sans Medium"/>
              </a:rPr>
              <a:t>Cross-NUMA · raw xGMI model</a:t>
            </a:r>
          </a:p>
        </p:txBody>
      </p:sp>
      <p:sp>
        <p:nvSpPr>
          <p:cNvPr id="18" name="C = 256 GB/s; installed capacity is unverified"/>
          <p:cNvSpPr txBox="1"/>
          <p:nvPr/>
        </p:nvSpPr>
        <p:spPr>
          <a:xfrm>
            <a:off x="1828800" y="1046988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000" b="0">
                <a:solidFill>
                  <a:srgbClr val="313131"/>
                </a:solidFill>
                <a:latin typeface="NVIDIA Sans"/>
              </a:rPr>
              <a:t>C = 256 GB/s; installed capacity is unverified</a:t>
            </a:r>
          </a:p>
        </p:txBody>
      </p:sp>
      <p:sp>
        <p:nvSpPr>
          <p:cNvPr id="19" name="4 × B × 4/7 ≤ 256; B ≤ 112 GB/s"/>
          <p:cNvSpPr txBox="1"/>
          <p:nvPr/>
        </p:nvSpPr>
        <p:spPr>
          <a:xfrm>
            <a:off x="1828800" y="1115568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4 × B × 4/7 &lt;= 256; B &lt;= 112 GB/s</a:t>
            </a:r>
          </a:p>
        </p:txBody>
      </p:sp>
      <p:sp>
        <p:nvSpPr>
          <p:cNvPr id="20" name="FI RDMA · nearest GPU-affine port"/>
          <p:cNvSpPr txBox="1"/>
          <p:nvPr/>
        </p:nvSpPr>
        <p:spPr>
          <a:xfrm>
            <a:off x="1828800" y="12207240"/>
            <a:ext cx="15544800" cy="777240"/>
          </a:xfrm>
          <a:prstGeom prst="rect">
            <a:avLst/>
          </a:prstGeom>
          <a:noFill/>
        </p:spPr>
        <p:txBody>
          <a:bodyPr wrap="square" lIns="0" rIns="0" tIns="0" bIns="0">
            <a:spAutoFit/>
          </a:bodyPr>
          <a:lstStyle/>
          <a:p>
            <a:pPr algn="l">
              <a:lnSpc>
                <a:spcPct val="112000"/>
              </a:lnSpc>
              <a:spcBef>
                <a:spcPts val="0"/>
              </a:spcBef>
              <a:spcAft>
                <a:spcPts val="0"/>
              </a:spcAft>
            </a:pPr>
            <a:r>
              <a:rPr sz="3800" b="1">
                <a:solidFill>
                  <a:srgbClr val="76B900"/>
                </a:solidFill>
                <a:latin typeface="NVIDIA Sans Medium"/>
              </a:rPr>
              <a:t>FI RDMA · nearest GPU-affine port</a:t>
            </a:r>
          </a:p>
        </p:txBody>
      </p:sp>
      <p:sp>
        <p:nvSpPr>
          <p:cNvPr id="21" name="One nearest 400G port per GPU"/>
          <p:cNvSpPr txBox="1"/>
          <p:nvPr/>
        </p:nvSpPr>
        <p:spPr>
          <a:xfrm>
            <a:off x="1828800" y="1321308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One nearest 400G port per GPU</a:t>
            </a:r>
          </a:p>
        </p:txBody>
      </p:sp>
      <p:sp>
        <p:nvSpPr>
          <p:cNvPr id="22" name="Bypasses host buffers and CPU uplinks"/>
          <p:cNvSpPr txBox="1"/>
          <p:nvPr/>
        </p:nvSpPr>
        <p:spPr>
          <a:xfrm>
            <a:off x="1828800" y="1389888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Bypasses host buffers and CPU uplinks</a:t>
            </a:r>
          </a:p>
        </p:txBody>
      </p:sp>
      <p:sp>
        <p:nvSpPr>
          <p:cNvPr id="23" name="B ≤ min(63.0, 128/2, 50) = 50 GB/s"/>
          <p:cNvSpPr txBox="1"/>
          <p:nvPr/>
        </p:nvSpPr>
        <p:spPr>
          <a:xfrm>
            <a:off x="1828800" y="1458468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B &lt;= min(63.0, 128/2, 50) = 50 GB/s</a:t>
            </a:r>
          </a:p>
        </p:txBody>
      </p:sp>
      <p:sp>
        <p:nvSpPr>
          <p:cNvPr id="24" name="Shared uplink sets the tighter raw bound"/>
          <p:cNvSpPr txBox="1"/>
          <p:nvPr/>
        </p:nvSpPr>
        <p:spPr>
          <a:xfrm>
            <a:off x="1828800" y="15864840"/>
            <a:ext cx="15544800" cy="777240"/>
          </a:xfrm>
          <a:prstGeom prst="rect">
            <a:avLst/>
          </a:prstGeom>
          <a:noFill/>
        </p:spPr>
        <p:txBody>
          <a:bodyPr wrap="square" lIns="0" rIns="0" tIns="0" bIns="0">
            <a:spAutoFit/>
          </a:bodyPr>
          <a:lstStyle/>
          <a:p>
            <a:pPr algn="l">
              <a:lnSpc>
                <a:spcPct val="112000"/>
              </a:lnSpc>
              <a:spcBef>
                <a:spcPts val="0"/>
              </a:spcBef>
              <a:spcAft>
                <a:spcPts val="0"/>
              </a:spcAft>
            </a:pPr>
            <a:r>
              <a:rPr sz="3300" b="1">
                <a:solidFill>
                  <a:srgbClr val="76B900"/>
                </a:solidFill>
                <a:latin typeface="NVIDIA Sans Medium"/>
              </a:rPr>
              <a:t>Shared uplink sets the tighter raw bound</a:t>
            </a:r>
          </a:p>
        </p:txBody>
      </p:sp>
      <p:sp>
        <p:nvSpPr>
          <p:cNvPr id="25" name="Local bound: min(36.8, 112) = 36.8 GB/s"/>
          <p:cNvSpPr txBox="1"/>
          <p:nvPr/>
        </p:nvSpPr>
        <p:spPr>
          <a:xfrm>
            <a:off x="1828800" y="16779240"/>
            <a:ext cx="15544800" cy="1554480"/>
          </a:xfrm>
          <a:prstGeom prst="rect">
            <a:avLst/>
          </a:prstGeom>
          <a:noFill/>
        </p:spPr>
        <p:txBody>
          <a:bodyPr wrap="square" lIns="0" rIns="0" tIns="0" bIns="0">
            <a:spAutoFit/>
          </a:bodyPr>
          <a:lstStyle/>
          <a:p>
            <a:pPr algn="l">
              <a:lnSpc>
                <a:spcPct val="112000"/>
              </a:lnSpc>
              <a:spcBef>
                <a:spcPts val="0"/>
              </a:spcBef>
              <a:spcAft>
                <a:spcPts val="0"/>
              </a:spcAft>
            </a:pPr>
            <a:r>
              <a:rPr sz="2900" b="0">
                <a:solidFill>
                  <a:srgbClr val="313131"/>
                </a:solidFill>
                <a:latin typeface="NVIDIA Sans"/>
              </a:rPr>
              <a:t>Local bound: min(36.8, 112) = 36.8 GB/s</a:t>
            </a:r>
          </a:p>
          <a:p>
            <a:pPr algn="l">
              <a:lnSpc>
                <a:spcPct val="112000"/>
              </a:lnSpc>
              <a:spcBef>
                <a:spcPts val="0"/>
              </a:spcBef>
              <a:spcAft>
                <a:spcPts val="0"/>
              </a:spcAft>
            </a:pPr>
            <a:r>
              <a:rPr sz="2900" b="0">
                <a:solidFill>
                  <a:srgbClr val="313131"/>
                </a:solidFill>
                <a:latin typeface="NVIDIA Sans"/>
              </a:rPr>
              <a:t>SHM, layout and scheduling add further cost</a:t>
            </a:r>
          </a:p>
          <a:p>
            <a:pPr algn="l">
              <a:lnSpc>
                <a:spcPct val="112000"/>
              </a:lnSpc>
              <a:spcBef>
                <a:spcPts val="0"/>
              </a:spcBef>
              <a:spcAft>
                <a:spcPts val="0"/>
              </a:spcAft>
            </a:pPr>
            <a:r>
              <a:rPr sz="2900" b="0">
                <a:solidFill>
                  <a:srgbClr val="313131"/>
                </a:solidFill>
                <a:latin typeface="NVIDIA Sans"/>
              </a:rPr>
              <a:t>Next: 2 / 3 / 2 head bands and graph replay</a:t>
            </a:r>
          </a:p>
        </p:txBody>
      </p:sp>
      <p:sp>
        <p:nvSpPr>
          <p:cNvPr id="26" name="Measured: communication + layout + scheduling"/>
          <p:cNvSpPr txBox="1"/>
          <p:nvPr/>
        </p:nvSpPr>
        <p:spPr>
          <a:xfrm>
            <a:off x="18653760" y="16596359"/>
            <a:ext cx="16093440" cy="685800"/>
          </a:xfrm>
          <a:prstGeom prst="rect">
            <a:avLst/>
          </a:prstGeom>
          <a:noFill/>
        </p:spPr>
        <p:txBody>
          <a:bodyPr wrap="square" lIns="0" rIns="0" tIns="0" bIns="0">
            <a:spAutoFit/>
          </a:bodyPr>
          <a:lstStyle/>
          <a:p>
            <a:pPr algn="l">
              <a:lnSpc>
                <a:spcPct val="112000"/>
              </a:lnSpc>
              <a:spcBef>
                <a:spcPts val="0"/>
              </a:spcBef>
              <a:spcAft>
                <a:spcPts val="0"/>
              </a:spcAft>
            </a:pPr>
            <a:r>
              <a:rPr sz="2900" b="0">
                <a:solidFill>
                  <a:srgbClr val="313131"/>
                </a:solidFill>
                <a:latin typeface="NVIDIA Sans"/>
              </a:rPr>
              <a:t>Measured: communication + layout + scheduling</a:t>
            </a:r>
          </a:p>
        </p:txBody>
      </p:sp>
      <p:sp>
        <p:nvSpPr>
          <p:cNvPr id="27" name="Separate Q/K-first candidate: 96/96 checks exact"/>
          <p:cNvSpPr txBox="1"/>
          <p:nvPr/>
        </p:nvSpPr>
        <p:spPr>
          <a:xfrm>
            <a:off x="18653760" y="17419320"/>
            <a:ext cx="16093440" cy="1097280"/>
          </a:xfrm>
          <a:prstGeom prst="rect">
            <a:avLst/>
          </a:prstGeom>
          <a:noFill/>
        </p:spPr>
        <p:txBody>
          <a:bodyPr wrap="square" lIns="0" rIns="0" tIns="0" bIns="0">
            <a:spAutoFit/>
          </a:bodyPr>
          <a:lstStyle/>
          <a:p>
            <a:pPr algn="l">
              <a:lnSpc>
                <a:spcPct val="112000"/>
              </a:lnSpc>
              <a:spcBef>
                <a:spcPts val="0"/>
              </a:spcBef>
              <a:spcAft>
                <a:spcPts val="0"/>
              </a:spcAft>
            </a:pPr>
            <a:r>
              <a:rPr sz="2800" b="0">
                <a:solidFill>
                  <a:srgbClr val="313131"/>
                </a:solidFill>
                <a:latin typeface="NVIDIA Sans"/>
              </a:rPr>
              <a:t>Separate Q/K-first candidate: 96/96 checks exact</a:t>
            </a:r>
          </a:p>
          <a:p>
            <a:pPr algn="l">
              <a:lnSpc>
                <a:spcPct val="112000"/>
              </a:lnSpc>
              <a:spcBef>
                <a:spcPts val="0"/>
              </a:spcBef>
              <a:spcAft>
                <a:spcPts val="0"/>
              </a:spcAft>
            </a:pPr>
            <a:r>
              <a:rPr sz="2800" b="0">
                <a:solidFill>
                  <a:srgbClr val="313131"/>
                </a:solidFill>
                <a:latin typeface="NVIDIA Sans"/>
              </a:rPr>
              <a:t>on four GPUs; full eight-GPU H3 remains pending</a:t>
            </a:r>
          </a:p>
        </p:txBody>
      </p:sp>
      <p:sp>
        <p:nvSpPr>
          <p:cNvPr id="28" name="B: off-rank TX per GPU · C: raw one-way xGMI capacity · necessary link bounds, not measured E2E"/>
          <p:cNvSpPr txBox="1"/>
          <p:nvPr/>
        </p:nvSpPr>
        <p:spPr>
          <a:xfrm>
            <a:off x="1828800" y="18653760"/>
            <a:ext cx="32918400" cy="594360"/>
          </a:xfrm>
          <a:prstGeom prst="rect">
            <a:avLst/>
          </a:prstGeom>
          <a:noFill/>
        </p:spPr>
        <p:txBody>
          <a:bodyPr wrap="square" lIns="0" rIns="0" tIns="0" bIns="0">
            <a:spAutoFit/>
          </a:bodyPr>
          <a:lstStyle/>
          <a:p>
            <a:pPr algn="ctr">
              <a:lnSpc>
                <a:spcPct val="112000"/>
              </a:lnSpc>
              <a:spcBef>
                <a:spcPts val="0"/>
              </a:spcBef>
              <a:spcAft>
                <a:spcPts val="0"/>
              </a:spcAft>
            </a:pPr>
            <a:r>
              <a:rPr sz="2500" b="0">
                <a:solidFill>
                  <a:srgbClr val="313131"/>
                </a:solidFill>
                <a:latin typeface="NVIDIA Sans"/>
              </a:rPr>
              <a:t>B: off-rank TX per GPU · C: raw one-way xGMI capacity · necessary link bounds, not measured E2E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3" name="Text Placeholder 2"/>
          <p:cNvSpPr>
            <a:spLocks noGrp="1"/>
          </p:cNvSpPr>
          <p:nvPr>
            <p:ph type="body" idx="14" sz="quarter"/>
          </p:nvPr>
        </p:nvSpPr>
        <p:spPr>
          <a:xfrm>
            <a:off x="1828800" y="3383280"/>
            <a:ext cx="32918400" cy="914400"/>
          </a:xfrm>
        </p:spPr>
        <p:txBody>
          <a:bodyPr/>
          <a:lstStyle/>
          <a:p>
            <a:r>
              <a:rPr>
                <a:latin typeface="NVIDIA Sans"/>
              </a:rPr>
              <a:t>Original source: head-shard exchange before attention; inverse exchange before output projection</a:t>
            </a:r>
          </a:p>
        </p:txBody>
      </p:sp>
      <p:sp>
        <p:nvSpPr>
          <p:cNvPr id="4" name="Title 3"/>
          <p:cNvSpPr>
            <a:spLocks noGrp="1"/>
          </p:cNvSpPr>
          <p:nvPr>
            <p:ph type="title"/>
          </p:nvPr>
        </p:nvSpPr>
        <p:spPr>
          <a:xfrm>
            <a:off x="1828800" y="914400"/>
            <a:ext cx="32918400" cy="2468880"/>
          </a:xfrm>
        </p:spPr>
        <p:txBody>
          <a:bodyPr/>
          <a:lstStyle/>
          <a:p>
            <a:r>
              <a:rPr>
                <a:latin typeface="NVIDIA Sans Medium"/>
              </a:rPr>
              <a:t>vLLM-Omni Ulysses: NCCL Implementation</a:t>
            </a:r>
          </a:p>
        </p:txBody>
      </p:sp>
      <p:sp>
        <p:nvSpPr>
          <p:cNvPr id="7"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Source: vLLM-Omni 63487a7f22db · comm.py:44–60; ulysses.py:538–544, 721 · wrapped excerpt; guards omitted · Apache-2.0</a:t>
            </a:r>
            <a:endParaRPr lang="en-US" dirty="0"/>
          </a:p>
        </p:txBody>
      </p:sp>
      <p:sp>
        <p:nvSpPr>
          <p:cNvPr id="8"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12</a:t>
            </a:fld>
            <a:endParaRPr lang="en-US"/>
          </a:p>
        </p:txBody>
      </p:sp>
      <p:sp>
        <p:nvSpPr>
          <p:cNvPr id="9" name="Q / K / V branch · comm.py"/>
          <p:cNvSpPr txBox="1"/>
          <p:nvPr/>
        </p:nvSpPr>
        <p:spPr>
          <a:xfrm>
            <a:off x="1828800" y="5120640"/>
            <a:ext cx="20574000" cy="73152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76B900"/>
                </a:solidFill>
                <a:latin typeface="NVIDIA Sans Medium"/>
              </a:rPr>
              <a:t>Q / K / V branch · comm.py</a:t>
            </a:r>
          </a:p>
        </p:txBody>
      </p:sp>
      <p:sp>
        <p:nvSpPr>
          <p:cNvPr id="10" name="Original all_to_all_4D QKV branch"/>
          <p:cNvSpPr txBox="1"/>
          <p:nvPr/>
        </p:nvSpPr>
        <p:spPr>
          <a:xfrm>
            <a:off x="1828800" y="6126480"/>
            <a:ext cx="20574000" cy="8412480"/>
          </a:xfrm>
          <a:prstGeom prst="rect">
            <a:avLst/>
          </a:prstGeom>
          <a:noFill/>
        </p:spPr>
        <p:txBody>
          <a:bodyPr wrap="none" lIns="0" rIns="0" tIns="0" bIns="0">
            <a:spAutoFit/>
          </a:bodyPr>
          <a:lstStyle/>
          <a:p>
            <a:pPr algn="l">
              <a:lnSpc>
                <a:spcPct val="108000"/>
              </a:lnSpc>
              <a:spcBef>
                <a:spcPts val="0"/>
              </a:spcBef>
              <a:spcAft>
                <a:spcPts val="0"/>
              </a:spcAft>
            </a:pPr>
            <a:r>
              <a:rPr sz="3200" b="0">
                <a:solidFill>
                  <a:srgbClr val="313131"/>
                </a:solidFill>
                <a:latin typeface="Roboto Mono"/>
              </a:rPr>
              <a:t>input_t = (</a:t>
            </a:r>
          </a:p>
          <a:p>
            <a:pPr algn="l">
              <a:lnSpc>
                <a:spcPct val="108000"/>
              </a:lnSpc>
              <a:spcBef>
                <a:spcPts val="0"/>
              </a:spcBef>
              <a:spcAft>
                <a:spcPts val="0"/>
              </a:spcAft>
            </a:pPr>
            <a:r>
              <a:rPr sz="3200" b="0">
                <a:solidFill>
                  <a:srgbClr val="313131"/>
                </a:solidFill>
                <a:latin typeface="Roboto Mono"/>
              </a:rPr>
              <a:t>    input.reshape(bs, shard_seqlen,</a:t>
            </a:r>
          </a:p>
          <a:p>
            <a:pPr algn="l">
              <a:lnSpc>
                <a:spcPct val="108000"/>
              </a:lnSpc>
              <a:spcBef>
                <a:spcPts val="0"/>
              </a:spcBef>
              <a:spcAft>
                <a:spcPts val="0"/>
              </a:spcAft>
            </a:pPr>
            <a:r>
              <a:rPr sz="3200" b="0">
                <a:solidFill>
                  <a:srgbClr val="313131"/>
                </a:solidFill>
                <a:latin typeface="Roboto Mono"/>
              </a:rPr>
              <a:t>                  seq_world_size, shard_hc, hs)</a:t>
            </a:r>
          </a:p>
          <a:p>
            <a:pPr algn="l">
              <a:lnSpc>
                <a:spcPct val="108000"/>
              </a:lnSpc>
              <a:spcBef>
                <a:spcPts val="0"/>
              </a:spcBef>
              <a:spcAft>
                <a:spcPts val="0"/>
              </a:spcAft>
            </a:pPr>
            <a:r>
              <a:rPr sz="3200" b="0">
                <a:solidFill>
                  <a:srgbClr val="313131"/>
                </a:solidFill>
                <a:latin typeface="Roboto Mono"/>
              </a:rPr>
              <a:t>    .transpose(0, 2).contiguous()</a:t>
            </a:r>
          </a:p>
          <a:p>
            <a:pPr algn="l">
              <a:lnSpc>
                <a:spcPct val="108000"/>
              </a:lnSpc>
              <a:spcBef>
                <a:spcPts val="0"/>
              </a:spcBef>
              <a:spcAft>
                <a:spcPts val="0"/>
              </a:spcAft>
            </a:pPr>
            <a:r>
              <a:rPr sz="3200" b="0">
                <a:solidFill>
                  <a:srgbClr val="313131"/>
                </a:solidFill>
                <a:latin typeface="Roboto Mono"/>
              </a:rPr>
              <a:t>)</a:t>
            </a:r>
          </a:p>
          <a:p>
            <a:pPr algn="l">
              <a:lnSpc>
                <a:spcPct val="108000"/>
              </a:lnSpc>
              <a:spcBef>
                <a:spcPts val="0"/>
              </a:spcBef>
              <a:spcAft>
                <a:spcPts val="0"/>
              </a:spcAft>
            </a:pPr>
            <a:r>
              <a:rPr sz="3200" b="0">
                <a:solidFill>
                  <a:srgbClr val="313131"/>
                </a:solidFill>
                <a:latin typeface="Roboto Mono"/>
              </a:rPr>
              <a:t>output = torch.empty_like(input_t)</a:t>
            </a:r>
          </a:p>
          <a:p>
            <a:pPr algn="l">
              <a:lnSpc>
                <a:spcPct val="108000"/>
              </a:lnSpc>
              <a:spcBef>
                <a:spcPts val="0"/>
              </a:spcBef>
              <a:spcAft>
                <a:spcPts val="0"/>
              </a:spcAft>
            </a:pPr>
            <a:r>
              <a:rPr sz="3200" b="0">
                <a:solidFill>
                  <a:srgbClr val="76B900"/>
                </a:solidFill>
                <a:latin typeface="Roboto Mono"/>
              </a:rPr>
              <a:t>dist.all_to_all_single(</a:t>
            </a:r>
          </a:p>
          <a:p>
            <a:pPr algn="l">
              <a:lnSpc>
                <a:spcPct val="108000"/>
              </a:lnSpc>
              <a:spcBef>
                <a:spcPts val="0"/>
              </a:spcBef>
              <a:spcAft>
                <a:spcPts val="0"/>
              </a:spcAft>
            </a:pPr>
            <a:r>
              <a:rPr sz="3200" b="0">
                <a:solidFill>
                  <a:srgbClr val="313131"/>
                </a:solidFill>
                <a:latin typeface="Roboto Mono"/>
              </a:rPr>
              <a:t>    output, input_t, group=group</a:t>
            </a:r>
          </a:p>
          <a:p>
            <a:pPr algn="l">
              <a:lnSpc>
                <a:spcPct val="108000"/>
              </a:lnSpc>
              <a:spcBef>
                <a:spcPts val="0"/>
              </a:spcBef>
              <a:spcAft>
                <a:spcPts val="0"/>
              </a:spcAft>
            </a:pPr>
            <a:r>
              <a:rPr sz="3200" b="0">
                <a:solidFill>
                  <a:srgbClr val="313131"/>
                </a:solidFill>
                <a:latin typeface="Roboto Mono"/>
              </a:rPr>
              <a:t>)</a:t>
            </a:r>
          </a:p>
          <a:p>
            <a:pPr algn="l">
              <a:lnSpc>
                <a:spcPct val="108000"/>
              </a:lnSpc>
              <a:spcBef>
                <a:spcPts val="0"/>
              </a:spcBef>
              <a:spcAft>
                <a:spcPts val="0"/>
              </a:spcAft>
            </a:pPr>
            <a:r>
              <a:rPr sz="3200" b="0">
                <a:solidFill>
                  <a:srgbClr val="313131"/>
                </a:solidFill>
                <a:latin typeface="Roboto Mono"/>
              </a:rPr>
              <a:t>output = output.reshape(seqlen, bs, shard_hc, hs)</a:t>
            </a:r>
          </a:p>
          <a:p>
            <a:pPr algn="l">
              <a:lnSpc>
                <a:spcPct val="108000"/>
              </a:lnSpc>
              <a:spcBef>
                <a:spcPts val="0"/>
              </a:spcBef>
              <a:spcAft>
                <a:spcPts val="0"/>
              </a:spcAft>
            </a:pPr>
            <a:r>
              <a:rPr sz="3200" b="0">
                <a:solidFill>
                  <a:srgbClr val="313131"/>
                </a:solidFill>
                <a:latin typeface="Roboto Mono"/>
              </a:rPr>
              <a:t>output = (</a:t>
            </a:r>
          </a:p>
          <a:p>
            <a:pPr algn="l">
              <a:lnSpc>
                <a:spcPct val="108000"/>
              </a:lnSpc>
              <a:spcBef>
                <a:spcPts val="0"/>
              </a:spcBef>
              <a:spcAft>
                <a:spcPts val="0"/>
              </a:spcAft>
            </a:pPr>
            <a:r>
              <a:rPr sz="3200" b="0">
                <a:solidFill>
                  <a:srgbClr val="313131"/>
                </a:solidFill>
                <a:latin typeface="Roboto Mono"/>
              </a:rPr>
              <a:t>    output.transpose(0, 1).contiguous()</a:t>
            </a:r>
          </a:p>
          <a:p>
            <a:pPr algn="l">
              <a:lnSpc>
                <a:spcPct val="108000"/>
              </a:lnSpc>
              <a:spcBef>
                <a:spcPts val="0"/>
              </a:spcBef>
              <a:spcAft>
                <a:spcPts val="0"/>
              </a:spcAft>
            </a:pPr>
            <a:r>
              <a:rPr sz="3200" b="0">
                <a:solidFill>
                  <a:srgbClr val="313131"/>
                </a:solidFill>
                <a:latin typeface="Roboto Mono"/>
              </a:rPr>
              <a:t>    .reshape(bs, seqlen, shard_hc, hs)</a:t>
            </a:r>
          </a:p>
          <a:p>
            <a:pPr algn="l">
              <a:lnSpc>
                <a:spcPct val="108000"/>
              </a:lnSpc>
              <a:spcBef>
                <a:spcPts val="0"/>
              </a:spcBef>
              <a:spcAft>
                <a:spcPts val="0"/>
              </a:spcAft>
            </a:pPr>
            <a:r>
              <a:rPr sz="3200" b="0">
                <a:solidFill>
                  <a:srgbClr val="313131"/>
                </a:solidFill>
                <a:latin typeface="Roboto Mono"/>
              </a:rPr>
              <a:t>)</a:t>
            </a:r>
          </a:p>
        </p:txBody>
      </p:sp>
      <p:sp>
        <p:nvSpPr>
          <p:cNvPr id="11" name="Ulysses entry · Q / K / V"/>
          <p:cNvSpPr txBox="1"/>
          <p:nvPr/>
        </p:nvSpPr>
        <p:spPr>
          <a:xfrm>
            <a:off x="23591520" y="5120640"/>
            <a:ext cx="11155680" cy="73152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Ulysses entry · Q / K / V</a:t>
            </a:r>
          </a:p>
        </p:txBody>
      </p:sp>
      <p:sp>
        <p:nvSpPr>
          <p:cNvPr id="12" name="Original query call site"/>
          <p:cNvSpPr txBox="1"/>
          <p:nvPr/>
        </p:nvSpPr>
        <p:spPr>
          <a:xfrm>
            <a:off x="23591520" y="6126480"/>
            <a:ext cx="11155680" cy="2926080"/>
          </a:xfrm>
          <a:prstGeom prst="rect">
            <a:avLst/>
          </a:prstGeom>
          <a:noFill/>
        </p:spPr>
        <p:txBody>
          <a:bodyPr wrap="none" lIns="0" rIns="0" tIns="0" bIns="0">
            <a:spAutoFit/>
          </a:bodyPr>
          <a:lstStyle/>
          <a:p>
            <a:pPr algn="l">
              <a:lnSpc>
                <a:spcPct val="108000"/>
              </a:lnSpc>
              <a:spcBef>
                <a:spcPts val="0"/>
              </a:spcBef>
              <a:spcAft>
                <a:spcPts val="0"/>
              </a:spcAft>
            </a:pPr>
            <a:r>
              <a:rPr sz="2700" b="0">
                <a:solidFill>
                  <a:srgbClr val="313131"/>
                </a:solidFill>
                <a:latin typeface="Roboto Mono"/>
              </a:rPr>
              <a:t>query = SeqAllToAll4D.apply(</a:t>
            </a:r>
          </a:p>
          <a:p>
            <a:pPr algn="l">
              <a:lnSpc>
                <a:spcPct val="108000"/>
              </a:lnSpc>
              <a:spcBef>
                <a:spcPts val="0"/>
              </a:spcBef>
              <a:spcAft>
                <a:spcPts val="0"/>
              </a:spcAft>
            </a:pPr>
            <a:r>
              <a:rPr sz="2700" b="0">
                <a:solidFill>
                  <a:srgbClr val="313131"/>
                </a:solidFill>
                <a:latin typeface="Roboto Mono"/>
              </a:rPr>
              <a:t>    self._ulysses_pg, query,</a:t>
            </a:r>
          </a:p>
          <a:p>
            <a:pPr algn="l">
              <a:lnSpc>
                <a:spcPct val="108000"/>
              </a:lnSpc>
              <a:spcBef>
                <a:spcPts val="0"/>
              </a:spcBef>
              <a:spcAft>
                <a:spcPts val="0"/>
              </a:spcAft>
            </a:pPr>
            <a:r>
              <a:rPr sz="2700" b="0">
                <a:solidFill>
                  <a:srgbClr val="313131"/>
                </a:solidFill>
                <a:latin typeface="Roboto Mono"/>
              </a:rPr>
              <a:t>    self._scatter_idx,</a:t>
            </a:r>
          </a:p>
          <a:p>
            <a:pPr algn="l">
              <a:lnSpc>
                <a:spcPct val="108000"/>
              </a:lnSpc>
              <a:spcBef>
                <a:spcPts val="0"/>
              </a:spcBef>
              <a:spcAft>
                <a:spcPts val="0"/>
              </a:spcAft>
            </a:pPr>
            <a:r>
              <a:rPr sz="2700" b="0">
                <a:solidFill>
                  <a:srgbClr val="313131"/>
                </a:solidFill>
                <a:latin typeface="Roboto Mono"/>
              </a:rPr>
              <a:t>    self._gather_idx, self._use_sync</a:t>
            </a:r>
          </a:p>
          <a:p>
            <a:pPr algn="l">
              <a:lnSpc>
                <a:spcPct val="108000"/>
              </a:lnSpc>
              <a:spcBef>
                <a:spcPts val="0"/>
              </a:spcBef>
              <a:spcAft>
                <a:spcPts val="0"/>
              </a:spcAft>
            </a:pPr>
            <a:r>
              <a:rPr sz="2700" b="0">
                <a:solidFill>
                  <a:srgbClr val="313131"/>
                </a:solidFill>
                <a:latin typeface="Roboto Mono"/>
              </a:rPr>
              <a:t>)</a:t>
            </a:r>
          </a:p>
        </p:txBody>
      </p:sp>
      <p:sp>
        <p:nvSpPr>
          <p:cNvPr id="13" name="Key and value use the same call."/>
          <p:cNvSpPr txBox="1"/>
          <p:nvPr/>
        </p:nvSpPr>
        <p:spPr>
          <a:xfrm>
            <a:off x="23591520" y="9235440"/>
            <a:ext cx="11155680" cy="594360"/>
          </a:xfrm>
          <a:prstGeom prst="rect">
            <a:avLst/>
          </a:prstGeom>
          <a:noFill/>
        </p:spPr>
        <p:txBody>
          <a:bodyPr wrap="square" lIns="0" rIns="0" tIns="0" bIns="0">
            <a:spAutoFit/>
          </a:bodyPr>
          <a:lstStyle/>
          <a:p>
            <a:pPr algn="l">
              <a:lnSpc>
                <a:spcPct val="108000"/>
              </a:lnSpc>
              <a:spcBef>
                <a:spcPts val="0"/>
              </a:spcBef>
              <a:spcAft>
                <a:spcPts val="1200"/>
              </a:spcAft>
            </a:pPr>
            <a:r>
              <a:rPr sz="2700" b="0">
                <a:solidFill>
                  <a:srgbClr val="313131"/>
                </a:solidFill>
                <a:latin typeface="NVIDIA Sans"/>
              </a:rPr>
              <a:t>Key and value use the same call.</a:t>
            </a:r>
          </a:p>
        </p:txBody>
      </p:sp>
      <p:sp>
        <p:nvSpPr>
          <p:cNvPr id="14" name="Ulysses exit · reverse O"/>
          <p:cNvSpPr txBox="1"/>
          <p:nvPr/>
        </p:nvSpPr>
        <p:spPr>
          <a:xfrm>
            <a:off x="23591520" y="10287000"/>
            <a:ext cx="11155680" cy="73152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Ulysses exit · reverse O</a:t>
            </a:r>
          </a:p>
        </p:txBody>
      </p:sp>
      <p:sp>
        <p:nvSpPr>
          <p:cNvPr id="15" name="Original output reverse call site"/>
          <p:cNvSpPr txBox="1"/>
          <p:nvPr/>
        </p:nvSpPr>
        <p:spPr>
          <a:xfrm>
            <a:off x="23591520" y="11292840"/>
            <a:ext cx="11155680" cy="3200400"/>
          </a:xfrm>
          <a:prstGeom prst="rect">
            <a:avLst/>
          </a:prstGeom>
          <a:noFill/>
        </p:spPr>
        <p:txBody>
          <a:bodyPr wrap="none" lIns="0" rIns="0" tIns="0" bIns="0">
            <a:spAutoFit/>
          </a:bodyPr>
          <a:lstStyle/>
          <a:p>
            <a:pPr algn="l">
              <a:lnSpc>
                <a:spcPct val="108000"/>
              </a:lnSpc>
              <a:spcBef>
                <a:spcPts val="0"/>
              </a:spcBef>
              <a:spcAft>
                <a:spcPts val="0"/>
              </a:spcAft>
            </a:pPr>
            <a:r>
              <a:rPr sz="2700" b="0">
                <a:solidFill>
                  <a:srgbClr val="313131"/>
                </a:solidFill>
                <a:latin typeface="Roboto Mono"/>
              </a:rPr>
              <a:t>return SeqAllToAll4D.apply(</a:t>
            </a:r>
          </a:p>
          <a:p>
            <a:pPr algn="l">
              <a:lnSpc>
                <a:spcPct val="108000"/>
              </a:lnSpc>
              <a:spcBef>
                <a:spcPts val="0"/>
              </a:spcBef>
              <a:spcAft>
                <a:spcPts val="0"/>
              </a:spcAft>
            </a:pPr>
            <a:r>
              <a:rPr sz="2700" b="0">
                <a:solidFill>
                  <a:srgbClr val="313131"/>
                </a:solidFill>
                <a:latin typeface="Roboto Mono"/>
              </a:rPr>
              <a:t>    ctx.ulysses_pg, attn_output,</a:t>
            </a:r>
          </a:p>
          <a:p>
            <a:pPr algn="l">
              <a:lnSpc>
                <a:spcPct val="108000"/>
              </a:lnSpc>
              <a:spcBef>
                <a:spcPts val="0"/>
              </a:spcBef>
              <a:spcAft>
                <a:spcPts val="0"/>
              </a:spcAft>
            </a:pPr>
            <a:r>
              <a:rPr sz="2700" b="0">
                <a:solidFill>
                  <a:srgbClr val="313131"/>
                </a:solidFill>
                <a:latin typeface="Roboto Mono"/>
              </a:rPr>
              <a:t>    ctx.gather_idx, ctx.scatter_idx,</a:t>
            </a:r>
          </a:p>
          <a:p>
            <a:pPr algn="l">
              <a:lnSpc>
                <a:spcPct val="108000"/>
              </a:lnSpc>
              <a:spcBef>
                <a:spcPts val="0"/>
              </a:spcBef>
              <a:spcAft>
                <a:spcPts val="0"/>
              </a:spcAft>
            </a:pPr>
            <a:r>
              <a:rPr sz="2700" b="0">
                <a:solidFill>
                  <a:srgbClr val="313131"/>
                </a:solidFill>
                <a:latin typeface="Roboto Mono"/>
              </a:rPr>
              <a:t>    ctx.use_sync</a:t>
            </a:r>
          </a:p>
          <a:p>
            <a:pPr algn="l">
              <a:lnSpc>
                <a:spcPct val="108000"/>
              </a:lnSpc>
              <a:spcBef>
                <a:spcPts val="0"/>
              </a:spcBef>
              <a:spcAft>
                <a:spcPts val="0"/>
              </a:spcAft>
            </a:pPr>
            <a:r>
              <a:rPr sz="2700" b="0">
                <a:solidFill>
                  <a:srgbClr val="313131"/>
                </a:solidFill>
                <a:latin typeface="Roboto Mono"/>
              </a:rPr>
              <a:t>)</a:t>
            </a:r>
          </a:p>
        </p:txBody>
      </p:sp>
      <p:sp>
        <p:nvSpPr>
          <p:cNvPr id="16" name="Dense Base50: four exchanges"/>
          <p:cNvSpPr txBox="1"/>
          <p:nvPr/>
        </p:nvSpPr>
        <p:spPr>
          <a:xfrm>
            <a:off x="1828800" y="155448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200" b="1">
                <a:solidFill>
                  <a:srgbClr val="76B900"/>
                </a:solidFill>
                <a:latin typeface="NVIDIA Sans Medium"/>
              </a:rPr>
              <a:t>Dense Base50: four exchanges</a:t>
            </a:r>
          </a:p>
        </p:txBody>
      </p:sp>
      <p:sp>
        <p:nvSpPr>
          <p:cNvPr id="17" name="Q / K / V, then O. A VSA gate adds"/>
          <p:cNvSpPr txBox="1"/>
          <p:nvPr/>
        </p:nvSpPr>
        <p:spPr>
          <a:xfrm>
            <a:off x="1828800" y="16642080"/>
            <a:ext cx="10424160" cy="182880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Q / K / V, then O. A VSA gate adds</a:t>
            </a:r>
          </a:p>
          <a:p>
            <a:pPr algn="l">
              <a:lnSpc>
                <a:spcPct val="108000"/>
              </a:lnSpc>
              <a:spcBef>
                <a:spcPts val="0"/>
              </a:spcBef>
              <a:spcAft>
                <a:spcPts val="1200"/>
              </a:spcAft>
            </a:pPr>
            <a:r>
              <a:rPr sz="2800" b="0">
                <a:solidFill>
                  <a:srgbClr val="313131"/>
                </a:solidFill>
                <a:latin typeface="NVIDIA Sans"/>
              </a:rPr>
              <a:t>another exchange when present.</a:t>
            </a:r>
          </a:p>
        </p:txBody>
      </p:sp>
      <p:sp>
        <p:nvSpPr>
          <p:cNvPr id="18" name="Layout work surrounds transport"/>
          <p:cNvSpPr txBox="1"/>
          <p:nvPr/>
        </p:nvSpPr>
        <p:spPr>
          <a:xfrm>
            <a:off x="13075920" y="155448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200" b="1">
                <a:solidFill>
                  <a:srgbClr val="76B900"/>
                </a:solidFill>
                <a:latin typeface="NVIDIA Sans Medium"/>
              </a:rPr>
              <a:t>Layout work surrounds transport</a:t>
            </a:r>
          </a:p>
        </p:txBody>
      </p:sp>
      <p:sp>
        <p:nvSpPr>
          <p:cNvPr id="19" name="Pack input, allocate output, restore layout."/>
          <p:cNvSpPr txBox="1"/>
          <p:nvPr/>
        </p:nvSpPr>
        <p:spPr>
          <a:xfrm>
            <a:off x="13075920" y="16642080"/>
            <a:ext cx="10424160" cy="182880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Pack input, allocate output, restore layout.</a:t>
            </a:r>
          </a:p>
          <a:p>
            <a:pPr algn="l">
              <a:lnSpc>
                <a:spcPct val="108000"/>
              </a:lnSpc>
              <a:spcBef>
                <a:spcPts val="0"/>
              </a:spcBef>
              <a:spcAft>
                <a:spcPts val="1200"/>
              </a:spcAft>
            </a:pPr>
            <a:r>
              <a:rPr sz="2800" b="0">
                <a:solidFill>
                  <a:srgbClr val="313131"/>
                </a:solidFill>
                <a:latin typeface="NVIDIA Sans"/>
              </a:rPr>
              <a:t>At B = 1, Q/K/V output can be a view.</a:t>
            </a:r>
          </a:p>
        </p:txBody>
      </p:sp>
      <p:sp>
        <p:nvSpPr>
          <p:cNvPr id="20" name="NCCL selects the physical route"/>
          <p:cNvSpPr txBox="1"/>
          <p:nvPr/>
        </p:nvSpPr>
        <p:spPr>
          <a:xfrm>
            <a:off x="24323040" y="155448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200" b="1">
                <a:solidFill>
                  <a:srgbClr val="76B900"/>
                </a:solidFill>
                <a:latin typeface="NVIDIA Sans Medium"/>
              </a:rPr>
              <a:t>NCCL selects the physical route</a:t>
            </a:r>
          </a:p>
        </p:txBody>
      </p:sp>
      <p:sp>
        <p:nvSpPr>
          <p:cNvPr id="21" name="P2P / SHM / NET depend on"/>
          <p:cNvSpPr txBox="1"/>
          <p:nvPr/>
        </p:nvSpPr>
        <p:spPr>
          <a:xfrm>
            <a:off x="24323040" y="16642080"/>
            <a:ext cx="10424160" cy="182880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P2P / SHM / NET depend on</a:t>
            </a:r>
          </a:p>
          <a:p>
            <a:pPr algn="l">
              <a:lnSpc>
                <a:spcPct val="108000"/>
              </a:lnSpc>
              <a:spcBef>
                <a:spcPts val="0"/>
              </a:spcBef>
              <a:spcAft>
                <a:spcPts val="1200"/>
              </a:spcAft>
            </a:pPr>
            <a:r>
              <a:rPr sz="2800" b="0">
                <a:solidFill>
                  <a:srgbClr val="313131"/>
                </a:solidFill>
                <a:latin typeface="NVIDIA Sans"/>
              </a:rPr>
              <a:t>topology and runtime settings.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Use bands of 2, 3 and 2 heads per GPU to overlap communication with attention</a:t>
            </a:r>
          </a:p>
        </p:txBody>
      </p:sp>
      <p:sp>
        <p:nvSpPr>
          <p:cNvPr id="4" name="Title 3"/>
          <p:cNvSpPr>
            <a:spLocks noGrp="1"/>
          </p:cNvSpPr>
          <p:nvPr>
            <p:ph type="title"/>
          </p:nvPr>
        </p:nvSpPr>
        <p:spPr/>
        <p:txBody>
          <a:bodyPr/>
          <a:lstStyle/>
          <a:p>
            <a:r>
              <a:t>Pipeline Ulysses by Head Bands</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Selected schedule: 2 / 3 / 2 · dependency schematic, not a measured Nsight timeline</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13</a:t>
            </a:fld>
            <a:endParaRPr lang="en-US"/>
          </a:p>
        </p:txBody>
      </p:sp>
      <p:sp>
        <p:nvSpPr>
          <p:cNvPr id="8" name="Start earlier"/>
          <p:cNvSpPr txBox="1"/>
          <p:nvPr/>
        </p:nvSpPr>
        <p:spPr>
          <a:xfrm>
            <a:off x="1828800" y="16550640"/>
            <a:ext cx="10424160" cy="82296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76B900"/>
                </a:solidFill>
                <a:latin typeface="NVIDIA Sans Medium"/>
              </a:rPr>
              <a:t>Start earlier</a:t>
            </a:r>
          </a:p>
        </p:txBody>
      </p:sp>
      <p:sp>
        <p:nvSpPr>
          <p:cNvPr id="9" name="Run the first two heads as soon as their full-sequence inputs arrive."/>
          <p:cNvSpPr txBox="1"/>
          <p:nvPr/>
        </p:nvSpPr>
        <p:spPr>
          <a:xfrm>
            <a:off x="1828800" y="17510760"/>
            <a:ext cx="10424160" cy="1463040"/>
          </a:xfrm>
          <a:prstGeom prst="rect">
            <a:avLst/>
          </a:prstGeom>
          <a:noFill/>
        </p:spPr>
        <p:txBody>
          <a:bodyPr wrap="square" lIns="0" rIns="0" tIns="0" bIns="0">
            <a:spAutoFit/>
          </a:bodyPr>
          <a:lstStyle/>
          <a:p>
            <a:pPr algn="l">
              <a:lnSpc>
                <a:spcPct val="108000"/>
              </a:lnSpc>
              <a:spcBef>
                <a:spcPts val="0"/>
              </a:spcBef>
              <a:spcAft>
                <a:spcPts val="1200"/>
              </a:spcAft>
            </a:pPr>
            <a:r>
              <a:rPr sz="3000" b="0">
                <a:solidFill>
                  <a:srgbClr val="313131"/>
                </a:solidFill>
                <a:latin typeface="NVIDIA Sans"/>
              </a:rPr>
              <a:t>Run the first two heads as soon as their full-sequence inputs arrive.</a:t>
            </a:r>
          </a:p>
        </p:txBody>
      </p:sp>
      <p:sp>
        <p:nvSpPr>
          <p:cNvPr id="10" name="Overlap across bands"/>
          <p:cNvSpPr txBox="1"/>
          <p:nvPr/>
        </p:nvSpPr>
        <p:spPr>
          <a:xfrm>
            <a:off x="13075920" y="16550640"/>
            <a:ext cx="10424160" cy="82296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76B900"/>
                </a:solidFill>
                <a:latin typeface="NVIDIA Sans Medium"/>
              </a:rPr>
              <a:t>Overlap across bands</a:t>
            </a:r>
          </a:p>
        </p:txBody>
      </p:sp>
      <p:sp>
        <p:nvSpPr>
          <p:cNvPr id="11" name="Transfer the next band while current-band attention executes."/>
          <p:cNvSpPr txBox="1"/>
          <p:nvPr/>
        </p:nvSpPr>
        <p:spPr>
          <a:xfrm>
            <a:off x="13075920" y="17510760"/>
            <a:ext cx="10424160" cy="1463040"/>
          </a:xfrm>
          <a:prstGeom prst="rect">
            <a:avLst/>
          </a:prstGeom>
          <a:noFill/>
        </p:spPr>
        <p:txBody>
          <a:bodyPr wrap="square" lIns="0" rIns="0" tIns="0" bIns="0">
            <a:spAutoFit/>
          </a:bodyPr>
          <a:lstStyle/>
          <a:p>
            <a:pPr algn="l">
              <a:lnSpc>
                <a:spcPct val="108000"/>
              </a:lnSpc>
              <a:spcBef>
                <a:spcPts val="0"/>
              </a:spcBef>
              <a:spcAft>
                <a:spcPts val="1200"/>
              </a:spcAft>
            </a:pPr>
            <a:r>
              <a:rPr sz="3000" b="0">
                <a:solidFill>
                  <a:srgbClr val="313131"/>
                </a:solidFill>
                <a:latin typeface="NVIDIA Sans"/>
              </a:rPr>
              <a:t>Transfer the next band while current-band attention executes.</a:t>
            </a:r>
          </a:p>
        </p:txBody>
      </p:sp>
      <p:sp>
        <p:nvSpPr>
          <p:cNvPr id="12" name="Then reduce launch cost"/>
          <p:cNvSpPr txBox="1"/>
          <p:nvPr/>
        </p:nvSpPr>
        <p:spPr>
          <a:xfrm>
            <a:off x="24323040" y="16550640"/>
            <a:ext cx="10424160" cy="82296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76B900"/>
                </a:solidFill>
                <a:latin typeface="NVIDIA Sans Medium"/>
              </a:rPr>
              <a:t>Pipeline adds repeated submissions</a:t>
            </a:r>
          </a:p>
        </p:txBody>
      </p:sp>
      <p:sp>
        <p:nvSpPr>
          <p:cNvPr id="13" name="Repeated small compute islands motivate CUDA Graph replay."/>
          <p:cNvSpPr txBox="1"/>
          <p:nvPr/>
        </p:nvSpPr>
        <p:spPr>
          <a:xfrm>
            <a:off x="24323040" y="17510760"/>
            <a:ext cx="10424160" cy="1463040"/>
          </a:xfrm>
          <a:prstGeom prst="rect">
            <a:avLst/>
          </a:prstGeom>
          <a:noFill/>
        </p:spPr>
        <p:txBody>
          <a:bodyPr wrap="square" lIns="0" rIns="0" tIns="0" bIns="0">
            <a:spAutoFit/>
          </a:bodyPr>
          <a:lstStyle/>
          <a:p>
            <a:pPr algn="l">
              <a:lnSpc>
                <a:spcPct val="108000"/>
              </a:lnSpc>
              <a:spcBef>
                <a:spcPts val="0"/>
              </a:spcBef>
              <a:spcAft>
                <a:spcPts val="1200"/>
              </a:spcAft>
            </a:pPr>
            <a:r>
              <a:rPr sz="3000" b="0">
                <a:solidFill>
                  <a:srgbClr val="313131"/>
                </a:solidFill>
                <a:latin typeface="NVIDIA Sans"/>
              </a:rPr>
              <a:t>Each band adds compute submissions.</a:t>
            </a:r>
            <a:br>
              <a:rPr sz="3000" b="0">
                <a:solidFill>
                  <a:srgbClr val="313131"/>
                </a:solidFill>
                <a:latin typeface="NVIDIA Sans"/>
              </a:rPr>
            </a:br>
            <a:r>
              <a:rPr sz="3000" b="0">
                <a:solidFill>
                  <a:srgbClr val="313131"/>
                </a:solidFill>
                <a:latin typeface="NVIDIA Sans"/>
              </a:rPr>
              <a:t>Graph replay becomes more valuable.</a:t>
            </a:r>
          </a:p>
        </p:txBody>
      </p:sp>
      <p:pic>
        <p:nvPicPr>
          <p:cNvPr id="14" name="Three-band Ulysses dependency schedule" descr="slide-17-diagram.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828801" y="5326380"/>
            <a:ext cx="32918397" cy="11109958"/>
          </a:xfrm>
          <a:prstGeom prst="rect">
            <a:avLst/>
          </a:prstGeom>
          <a:ln w="9525">
            <a:solidFill>
              <a:srgbClr val="A7A7A7"/>
            </a:solidFill>
          </a:ln>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Graph replay works before banding; smaller bands increase repeated compute submission work</a:t>
            </a:r>
          </a:p>
        </p:txBody>
      </p:sp>
      <p:sp>
        <p:nvSpPr>
          <p:cNvPr id="4" name="Title 3"/>
          <p:cNvSpPr>
            <a:spLocks noGrp="1"/>
          </p:cNvSpPr>
          <p:nvPr>
            <p:ph type="title"/>
          </p:nvPr>
        </p:nvSpPr>
        <p:spPr/>
        <p:txBody>
          <a:bodyPr/>
          <a:lstStyle/>
          <a:p>
            <a:r>
              <a:t>Head Bands Make CUDA Graph More Valuable</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Retained four-arm measurements · 12 counterbalanced rounds × 20 repeats · conceptual timeline · no matched 2 / 3 / 2 result</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14</a:t>
            </a:fld>
            <a:endParaRPr lang="en-US"/>
          </a:p>
        </p:txBody>
      </p:sp>
      <p:pic>
        <p:nvPicPr>
          <p:cNvPr id="7" name="CUDA Graph after Ulysses head pipelining" descr="cuda-graph-pipeline.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828800" y="5121920"/>
            <a:ext cx="22311360" cy="10330159"/>
          </a:xfrm>
          <a:prstGeom prst="rect">
            <a:avLst/>
          </a:prstGeom>
          <a:ln w="9525">
            <a:solidFill>
              <a:srgbClr val="A7A7A7"/>
            </a:solidFill>
          </a:ln>
        </p:spPr>
      </p:pic>
      <p:sp>
        <p:nvSpPr>
          <p:cNvPr id="8" name="Banding strengthens the need"/>
          <p:cNvSpPr txBox="1"/>
          <p:nvPr/>
        </p:nvSpPr>
        <p:spPr>
          <a:xfrm>
            <a:off x="25146000" y="5257800"/>
            <a:ext cx="9601200" cy="777240"/>
          </a:xfrm>
          <a:prstGeom prst="rect">
            <a:avLst/>
          </a:prstGeom>
          <a:noFill/>
        </p:spPr>
        <p:txBody>
          <a:bodyPr wrap="square" lIns="0" rIns="0" tIns="0" bIns="0">
            <a:spAutoFit/>
          </a:bodyPr>
          <a:lstStyle/>
          <a:p>
            <a:pPr algn="l">
              <a:lnSpc>
                <a:spcPct val="108000"/>
              </a:lnSpc>
              <a:spcBef>
                <a:spcPts val="0"/>
              </a:spcBef>
              <a:spcAft>
                <a:spcPts val="1200"/>
              </a:spcAft>
            </a:pPr>
            <a:r>
              <a:rPr sz="3100" b="1">
                <a:solidFill>
                  <a:srgbClr val="76B900"/>
                </a:solidFill>
                <a:latin typeface="NVIDIA Sans Medium"/>
              </a:rPr>
              <a:t>Banding strengthens the need</a:t>
            </a:r>
          </a:p>
        </p:txBody>
      </p:sp>
      <p:sp>
        <p:nvSpPr>
          <p:cNvPr id="9" name="Each band repeats unpack, Top-K,"/>
          <p:cNvSpPr txBox="1"/>
          <p:nvPr/>
        </p:nvSpPr>
        <p:spPr>
          <a:xfrm>
            <a:off x="25146000" y="6309360"/>
            <a:ext cx="9601200" cy="164592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Each band repeats unpack, Top-K,</a:t>
            </a:r>
          </a:p>
          <a:p>
            <a:pPr algn="l">
              <a:lnSpc>
                <a:spcPct val="108000"/>
              </a:lnSpc>
              <a:spcBef>
                <a:spcPts val="0"/>
              </a:spcBef>
              <a:spcAft>
                <a:spcPts val="1200"/>
              </a:spcAft>
            </a:pPr>
            <a:r>
              <a:rPr sz="2800" b="0">
                <a:solidFill>
                  <a:srgbClr val="313131"/>
                </a:solidFill>
                <a:latin typeface="NVIDIA Sans"/>
              </a:rPr>
              <a:t>attention and pack submissions.</a:t>
            </a:r>
          </a:p>
        </p:txBody>
      </p:sp>
      <p:sp>
        <p:nvSpPr>
          <p:cNvPr id="10" name="A stable workload fits replay"/>
          <p:cNvSpPr txBox="1"/>
          <p:nvPr/>
        </p:nvSpPr>
        <p:spPr>
          <a:xfrm>
            <a:off x="25146000" y="8321040"/>
            <a:ext cx="9601200" cy="777240"/>
          </a:xfrm>
          <a:prstGeom prst="rect">
            <a:avLst/>
          </a:prstGeom>
          <a:noFill/>
        </p:spPr>
        <p:txBody>
          <a:bodyPr wrap="square" lIns="0" rIns="0" tIns="0" bIns="0">
            <a:spAutoFit/>
          </a:bodyPr>
          <a:lstStyle/>
          <a:p>
            <a:pPr algn="l">
              <a:lnSpc>
                <a:spcPct val="108000"/>
              </a:lnSpc>
              <a:spcBef>
                <a:spcPts val="0"/>
              </a:spcBef>
              <a:spcAft>
                <a:spcPts val="1200"/>
              </a:spcAft>
            </a:pPr>
            <a:r>
              <a:rPr sz="3100" b="1">
                <a:solidFill>
                  <a:srgbClr val="76B900"/>
                </a:solidFill>
                <a:latin typeface="NVIDIA Sans Medium"/>
              </a:rPr>
              <a:t>A stable workload fits replay</a:t>
            </a:r>
          </a:p>
        </p:txBody>
      </p:sp>
      <p:sp>
        <p:nvSpPr>
          <p:cNvPr id="11" name="Fixed shapes and registered buffers;"/>
          <p:cNvSpPr txBox="1"/>
          <p:nvPr/>
        </p:nvSpPr>
        <p:spPr>
          <a:xfrm>
            <a:off x="25146000" y="9372600"/>
            <a:ext cx="9601200" cy="164592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Fixed shapes and registered buffers;</a:t>
            </a:r>
          </a:p>
          <a:p>
            <a:pPr algn="l">
              <a:lnSpc>
                <a:spcPct val="108000"/>
              </a:lnSpc>
              <a:spcBef>
                <a:spcPts val="0"/>
              </a:spcBef>
              <a:spcAft>
                <a:spcPts val="1200"/>
              </a:spcAft>
            </a:pPr>
            <a:r>
              <a:rPr sz="2800" b="0">
                <a:solidFill>
                  <a:srgbClr val="313131"/>
                </a:solidFill>
                <a:latin typeface="NVIDIA Sans"/>
              </a:rPr>
              <a:t>tensor values may change.</a:t>
            </a:r>
          </a:p>
        </p:txBody>
      </p:sp>
      <p:sp>
        <p:nvSpPr>
          <p:cNvPr id="12" name="400 calls amortize capture"/>
          <p:cNvSpPr txBox="1"/>
          <p:nvPr/>
        </p:nvSpPr>
        <p:spPr>
          <a:xfrm>
            <a:off x="25146000" y="11384280"/>
            <a:ext cx="9601200" cy="777240"/>
          </a:xfrm>
          <a:prstGeom prst="rect">
            <a:avLst/>
          </a:prstGeom>
          <a:noFill/>
        </p:spPr>
        <p:txBody>
          <a:bodyPr wrap="square" lIns="0" rIns="0" tIns="0" bIns="0">
            <a:spAutoFit/>
          </a:bodyPr>
          <a:lstStyle/>
          <a:p>
            <a:pPr algn="l">
              <a:lnSpc>
                <a:spcPct val="108000"/>
              </a:lnSpc>
              <a:spcBef>
                <a:spcPts val="0"/>
              </a:spcBef>
              <a:spcAft>
                <a:spcPts val="1200"/>
              </a:spcAft>
            </a:pPr>
            <a:r>
              <a:rPr sz="3100" b="1">
                <a:solidFill>
                  <a:srgbClr val="76B900"/>
                </a:solidFill>
                <a:latin typeface="NVIDIA Sans Medium"/>
              </a:rPr>
              <a:t>400 calls amortize capture</a:t>
            </a:r>
          </a:p>
        </p:txBody>
      </p:sp>
      <p:sp>
        <p:nvSpPr>
          <p:cNvPr id="13" name="Each band repeats over 50 blocks"/>
          <p:cNvSpPr txBox="1"/>
          <p:nvPr/>
        </p:nvSpPr>
        <p:spPr>
          <a:xfrm>
            <a:off x="25146000" y="12435840"/>
            <a:ext cx="9601200" cy="164592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Each band repeats over 50 blocks</a:t>
            </a:r>
          </a:p>
          <a:p>
            <a:pPr algn="l">
              <a:lnSpc>
                <a:spcPct val="108000"/>
              </a:lnSpc>
              <a:spcBef>
                <a:spcPts val="0"/>
              </a:spcBef>
              <a:spcAft>
                <a:spcPts val="1200"/>
              </a:spcAft>
            </a:pPr>
            <a:r>
              <a:rPr sz="2800" b="0">
                <a:solidFill>
                  <a:srgbClr val="313131"/>
                </a:solidFill>
                <a:latin typeface="NVIDIA Sans"/>
              </a:rPr>
              <a:t>and eight model evaluations.</a:t>
            </a:r>
          </a:p>
        </p:txBody>
      </p:sp>
      <p:sp>
        <p:nvSpPr>
          <p:cNvPr id="14" name="Capture compute only. RDMA, readiness"/>
          <p:cNvSpPr txBox="1"/>
          <p:nvPr/>
        </p:nvSpPr>
        <p:spPr>
          <a:xfrm>
            <a:off x="25146000" y="14356080"/>
            <a:ext cx="9601200" cy="1463040"/>
          </a:xfrm>
          <a:prstGeom prst="rect">
            <a:avLst/>
          </a:prstGeom>
          <a:noFill/>
        </p:spPr>
        <p:txBody>
          <a:bodyPr wrap="square" lIns="0" rIns="0" tIns="0" bIns="0">
            <a:spAutoFit/>
          </a:bodyPr>
          <a:lstStyle/>
          <a:p>
            <a:pPr algn="l">
              <a:lnSpc>
                <a:spcPct val="108000"/>
              </a:lnSpc>
              <a:spcBef>
                <a:spcPts val="0"/>
              </a:spcBef>
              <a:spcAft>
                <a:spcPts val="1200"/>
              </a:spcAft>
            </a:pPr>
            <a:r>
              <a:rPr sz="2500" b="0">
                <a:solidFill>
                  <a:srgbClr val="313131"/>
                </a:solidFill>
                <a:latin typeface="NVIDIA Sans"/>
              </a:rPr>
              <a:t>Capture compute only. RDMA, readiness</a:t>
            </a:r>
          </a:p>
          <a:p>
            <a:pPr algn="l">
              <a:lnSpc>
                <a:spcPct val="108000"/>
              </a:lnSpc>
              <a:spcBef>
                <a:spcPts val="0"/>
              </a:spcBef>
              <a:spcAft>
                <a:spcPts val="1200"/>
              </a:spcAft>
            </a:pPr>
            <a:r>
              <a:rPr sz="2500" b="0">
                <a:solidFill>
                  <a:srgbClr val="313131"/>
                </a:solidFill>
                <a:latin typeface="NVIDIA Sans"/>
              </a:rPr>
              <a:t>events and full W_O stay outside.</a:t>
            </a:r>
          </a:p>
        </p:txBody>
      </p:sp>
      <p:sp>
        <p:nvSpPr>
          <p:cNvPr id="15" name="Single-GPU compute experiment · historical 1 / 2 / 3 / 1 · no communication"/>
          <p:cNvSpPr txBox="1"/>
          <p:nvPr/>
        </p:nvSpPr>
        <p:spPr>
          <a:xfrm>
            <a:off x="1828800" y="15910559"/>
            <a:ext cx="32918400" cy="594360"/>
          </a:xfrm>
          <a:prstGeom prst="rect">
            <a:avLst/>
          </a:prstGeom>
          <a:noFill/>
        </p:spPr>
        <p:txBody>
          <a:bodyPr wrap="square" lIns="0" rIns="0" tIns="0" bIns="0">
            <a:spAutoFit/>
          </a:bodyPr>
          <a:lstStyle/>
          <a:p>
            <a:pPr algn="l">
              <a:lnSpc>
                <a:spcPct val="108000"/>
              </a:lnSpc>
              <a:spcBef>
                <a:spcPts val="0"/>
              </a:spcBef>
              <a:spcAft>
                <a:spcPts val="1200"/>
              </a:spcAft>
            </a:pPr>
            <a:r>
              <a:rPr sz="2600" b="0">
                <a:solidFill>
                  <a:srgbClr val="313131"/>
                </a:solidFill>
                <a:latin typeface="NVIDIA Sans"/>
              </a:rPr>
              <a:t>Single-GPU compute experiment · historical 1 / 2 / 3 / 1 · no communication</a:t>
            </a:r>
          </a:p>
        </p:txBody>
      </p:sp>
      <p:graphicFrame>
        <p:nvGraphicFramePr>
          <p:cNvPr id="16" name="Table 15"/>
          <p:cNvGraphicFramePr>
            <a:graphicFrameLocks noGrp="1"/>
          </p:cNvGraphicFramePr>
          <p:nvPr/>
        </p:nvGraphicFramePr>
        <p:xfrm>
          <a:off x="1828800" y="16687800"/>
          <a:ext cx="20665439" cy="2286000"/>
        </p:xfrm>
        <a:graphic>
          <a:graphicData uri="http://schemas.openxmlformats.org/drawingml/2006/table">
            <a:tbl>
              <a:tblPr firstRow="1" bandRow="1">
                <a:tableStyleId>{68D230F3-CF80-4859-8CE7-A43EE81993B5}</a:tableStyleId>
              </a:tblPr>
              <a:tblGrid>
                <a:gridCol w="7498079"/>
                <a:gridCol w="4389120"/>
                <a:gridCol w="4389120"/>
                <a:gridCol w="4389120"/>
              </a:tblGrid>
              <a:tr h="762000">
                <a:tc>
                  <a:txBody>
                    <a:bodyPr wrap="square"/>
                    <a:lstStyle/>
                    <a:p>
                      <a:pPr algn="ctr">
                        <a:lnSpc>
                          <a:spcPct val="100000"/>
                        </a:lnSpc>
                        <a:spcBef>
                          <a:spcPts val="0"/>
                        </a:spcBef>
                        <a:spcAft>
                          <a:spcPts val="0"/>
                        </a:spcAft>
                      </a:pPr>
                      <a:r>
                        <a:rPr sz="3600" b="0" i="0">
                          <a:solidFill>
                            <a:srgbClr val="76B900"/>
                          </a:solidFill>
                          <a:latin typeface="NVIDIA Sans Medium"/>
                        </a:rPr>
                        <a:t>Head layout</a:t>
                      </a:r>
                    </a:p>
                  </a:txBody>
                  <a:tcPr marL="365760" marR="182880" marT="91440" marB="91440" anchor="ctr"/>
                </a:tc>
                <a:tc>
                  <a:txBody>
                    <a:bodyPr wrap="square"/>
                    <a:lstStyle/>
                    <a:p>
                      <a:pPr algn="ctr">
                        <a:lnSpc>
                          <a:spcPct val="100000"/>
                        </a:lnSpc>
                        <a:spcBef>
                          <a:spcPts val="0"/>
                        </a:spcBef>
                        <a:spcAft>
                          <a:spcPts val="0"/>
                        </a:spcAft>
                      </a:pPr>
                      <a:r>
                        <a:rPr sz="3600" b="0" i="0">
                          <a:solidFill>
                            <a:srgbClr val="76B900"/>
                          </a:solidFill>
                          <a:latin typeface="NVIDIA Sans Medium"/>
                        </a:rPr>
                        <a:t>Eager ms</a:t>
                      </a:r>
                    </a:p>
                  </a:txBody>
                  <a:tcPr marL="182880" marR="182880" marT="91440" marB="91440" anchor="ctr"/>
                </a:tc>
                <a:tc>
                  <a:txBody>
                    <a:bodyPr wrap="square"/>
                    <a:lstStyle/>
                    <a:p>
                      <a:pPr algn="ctr">
                        <a:lnSpc>
                          <a:spcPct val="100000"/>
                        </a:lnSpc>
                        <a:spcBef>
                          <a:spcPts val="0"/>
                        </a:spcBef>
                        <a:spcAft>
                          <a:spcPts val="0"/>
                        </a:spcAft>
                      </a:pPr>
                      <a:r>
                        <a:rPr sz="3600" b="0" i="0">
                          <a:solidFill>
                            <a:srgbClr val="76B900"/>
                          </a:solidFill>
                          <a:latin typeface="NVIDIA Sans Medium"/>
                        </a:rPr>
                        <a:t>Graph ms</a:t>
                      </a:r>
                    </a:p>
                  </a:txBody>
                  <a:tcPr marL="182880" marR="182880" marT="91440" marB="91440" anchor="ctr"/>
                </a:tc>
                <a:tc>
                  <a:txBody>
                    <a:bodyPr wrap="square"/>
                    <a:lstStyle/>
                    <a:p>
                      <a:pPr algn="ctr">
                        <a:lnSpc>
                          <a:spcPct val="100000"/>
                        </a:lnSpc>
                        <a:spcBef>
                          <a:spcPts val="0"/>
                        </a:spcBef>
                        <a:spcAft>
                          <a:spcPts val="0"/>
                        </a:spcAft>
                      </a:pPr>
                      <a:r>
                        <a:rPr sz="3600" b="0" i="0">
                          <a:solidFill>
                            <a:srgbClr val="76B900"/>
                          </a:solidFill>
                          <a:latin typeface="NVIDIA Sans Medium"/>
                        </a:rPr>
                        <a:t>Reduction</a:t>
                      </a:r>
                    </a:p>
                  </a:txBody>
                  <a:tcPr marL="182880" marR="182880" marT="91440" marB="91440" anchor="ctr"/>
                </a:tc>
              </a:tr>
              <a:tr h="762000">
                <a:tc>
                  <a:txBody>
                    <a:bodyPr wrap="square"/>
                    <a:lstStyle/>
                    <a:p>
                      <a:pPr algn="l">
                        <a:lnSpc>
                          <a:spcPct val="100000"/>
                        </a:lnSpc>
                        <a:spcBef>
                          <a:spcPts val="0"/>
                        </a:spcBef>
                        <a:spcAft>
                          <a:spcPts val="0"/>
                        </a:spcAft>
                      </a:pPr>
                      <a:r>
                        <a:rPr sz="2800" b="0" i="0">
                          <a:solidFill>
                            <a:srgbClr val="000000"/>
                          </a:solidFill>
                          <a:latin typeface="NVIDIA Sans Medium"/>
                        </a:rPr>
                        <a:t>All 7 heads</a:t>
                      </a:r>
                    </a:p>
                  </a:txBody>
                  <a:tcPr marL="36576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11.703</a:t>
                      </a:r>
                    </a:p>
                  </a:txBody>
                  <a:tcPr marL="18288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11.658</a:t>
                      </a:r>
                    </a:p>
                  </a:txBody>
                  <a:tcPr marL="18288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0.39%</a:t>
                      </a:r>
                    </a:p>
                  </a:txBody>
                  <a:tcPr marL="182880" marR="182880" marT="91440" marB="91440" anchor="ctr"/>
                </a:tc>
              </a:tr>
              <a:tr h="762000">
                <a:tc>
                  <a:txBody>
                    <a:bodyPr wrap="square"/>
                    <a:lstStyle/>
                    <a:p>
                      <a:pPr algn="l">
                        <a:lnSpc>
                          <a:spcPct val="100000"/>
                        </a:lnSpc>
                        <a:spcBef>
                          <a:spcPts val="0"/>
                        </a:spcBef>
                        <a:spcAft>
                          <a:spcPts val="0"/>
                        </a:spcAft>
                      </a:pPr>
                      <a:r>
                        <a:rPr sz="2800" b="0" i="0">
                          <a:solidFill>
                            <a:srgbClr val="000000"/>
                          </a:solidFill>
                          <a:latin typeface="NVIDIA Sans Medium"/>
                        </a:rPr>
                        <a:t>Bands 1 / 2 / 3 / 1</a:t>
                      </a:r>
                    </a:p>
                  </a:txBody>
                  <a:tcPr marL="36576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12.323</a:t>
                      </a:r>
                    </a:p>
                  </a:txBody>
                  <a:tcPr marL="18288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12.040</a:t>
                      </a:r>
                    </a:p>
                  </a:txBody>
                  <a:tcPr marL="18288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2.30%</a:t>
                      </a:r>
                    </a:p>
                  </a:txBody>
                  <a:tcPr marL="182880" marR="182880" marT="91440" marB="91440" anchor="ctr"/>
                </a:tc>
              </a:tr>
            </a:tbl>
          </a:graphicData>
        </a:graphic>
      </p:graphicFrame>
      <p:sp>
        <p:nvSpPr>
          <p:cNvPr id="17" name="Banding still adds compute cost."/>
          <p:cNvSpPr txBox="1"/>
          <p:nvPr/>
        </p:nvSpPr>
        <p:spPr>
          <a:xfrm>
            <a:off x="23774400" y="16733520"/>
            <a:ext cx="10972800" cy="205740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Banding still adds compute cost.</a:t>
            </a:r>
          </a:p>
          <a:p>
            <a:pPr algn="l">
              <a:lnSpc>
                <a:spcPct val="108000"/>
              </a:lnSpc>
              <a:spcBef>
                <a:spcPts val="0"/>
              </a:spcBef>
              <a:spcAft>
                <a:spcPts val="1200"/>
              </a:spcAft>
            </a:pPr>
            <a:r>
              <a:rPr sz="2800" b="0">
                <a:solidFill>
                  <a:srgbClr val="313131"/>
                </a:solidFill>
                <a:latin typeface="NVIDIA Sans"/>
              </a:rPr>
              <a:t>End-to-end gains require enough</a:t>
            </a:r>
          </a:p>
          <a:p>
            <a:pPr algn="l">
              <a:lnSpc>
                <a:spcPct val="108000"/>
              </a:lnSpc>
              <a:spcBef>
                <a:spcPts val="0"/>
              </a:spcBef>
              <a:spcAft>
                <a:spcPts val="1200"/>
              </a:spcAft>
            </a:pPr>
            <a:r>
              <a:rPr sz="2800" b="0">
                <a:solidFill>
                  <a:srgbClr val="313131"/>
                </a:solidFill>
                <a:latin typeface="NVIDIA Sans"/>
              </a:rPr>
              <a:t>communication overlap to repay it.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 name="Table header"/>
          <p:cNvSpPr/>
          <p:nvPr/>
        </p:nvSpPr>
        <p:spPr>
          <a:xfrm>
            <a:off x="1828800" y="4709160"/>
            <a:ext cx="32918400" cy="1234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Header Stage"/>
          <p:cNvSpPr txBox="1"/>
          <p:nvPr/>
        </p:nvSpPr>
        <p:spPr>
          <a:xfrm>
            <a:off x="1965960" y="4892040"/>
            <a:ext cx="1737360" cy="914400"/>
          </a:xfrm>
          <a:prstGeom prst="rect">
            <a:avLst/>
          </a:prstGeom>
          <a:noFill/>
        </p:spPr>
        <p:txBody>
          <a:bodyPr wrap="square" lIns="18288" rIns="18288" tIns="0" bIns="0">
            <a:spAutoFit/>
          </a:bodyPr>
          <a:lstStyle/>
          <a:p>
            <a:pPr>
              <a:spcBef>
                <a:spcPts val="0"/>
              </a:spcBef>
              <a:spcAft>
                <a:spcPts val="0"/>
              </a:spcAft>
            </a:pPr>
            <a:r>
              <a:rPr sz="2800" b="0">
                <a:solidFill>
                  <a:srgbClr val="76B900"/>
                </a:solidFill>
                <a:latin typeface="NVIDIA Sans Medium"/>
              </a:rPr>
              <a:t>Stage</a:t>
            </a:r>
          </a:p>
        </p:txBody>
      </p:sp>
      <p:sp>
        <p:nvSpPr>
          <p:cNvPr id="7" name="Header Cumulative change"/>
          <p:cNvSpPr txBox="1"/>
          <p:nvPr/>
        </p:nvSpPr>
        <p:spPr>
          <a:xfrm>
            <a:off x="4160520" y="4892040"/>
            <a:ext cx="16459200" cy="914400"/>
          </a:xfrm>
          <a:prstGeom prst="rect">
            <a:avLst/>
          </a:prstGeom>
          <a:noFill/>
        </p:spPr>
        <p:txBody>
          <a:bodyPr wrap="square" lIns="18288" rIns="18288" tIns="0" bIns="0">
            <a:spAutoFit/>
          </a:bodyPr>
          <a:lstStyle/>
          <a:p>
            <a:pPr>
              <a:spcBef>
                <a:spcPts val="0"/>
              </a:spcBef>
              <a:spcAft>
                <a:spcPts val="0"/>
              </a:spcAft>
            </a:pPr>
            <a:r>
              <a:rPr sz="2800" b="0">
                <a:solidFill>
                  <a:srgbClr val="76B900"/>
                </a:solidFill>
                <a:latin typeface="NVIDIA Sans Medium"/>
              </a:rPr>
              <a:t>Cumulative change</a:t>
            </a:r>
          </a:p>
        </p:txBody>
      </p:sp>
      <p:sp>
        <p:nvSpPr>
          <p:cNvPr id="8" name="Header Median (s)"/>
          <p:cNvSpPr txBox="1"/>
          <p:nvPr/>
        </p:nvSpPr>
        <p:spPr>
          <a:xfrm>
            <a:off x="21076919" y="4892040"/>
            <a:ext cx="3566160" cy="914400"/>
          </a:xfrm>
          <a:prstGeom prst="rect">
            <a:avLst/>
          </a:prstGeom>
          <a:noFill/>
        </p:spPr>
        <p:txBody>
          <a:bodyPr wrap="square" lIns="18288" rIns="18288" tIns="0" bIns="0">
            <a:spAutoFit/>
          </a:bodyPr>
          <a:lstStyle/>
          <a:p>
            <a:pPr>
              <a:spcBef>
                <a:spcPts val="0"/>
              </a:spcBef>
              <a:spcAft>
                <a:spcPts val="0"/>
              </a:spcAft>
            </a:pPr>
            <a:r>
              <a:rPr sz="2800" b="0">
                <a:solidFill>
                  <a:srgbClr val="76B900"/>
                </a:solidFill>
                <a:latin typeface="NVIDIA Sans Medium"/>
              </a:rPr>
              <a:t>Median (s)</a:t>
            </a:r>
          </a:p>
        </p:txBody>
      </p:sp>
      <p:sp>
        <p:nvSpPr>
          <p:cNvPr id="9" name="Header E2E speedup&#10;vs. previous"/>
          <p:cNvSpPr txBox="1"/>
          <p:nvPr/>
        </p:nvSpPr>
        <p:spPr>
          <a:xfrm>
            <a:off x="25100280" y="4892040"/>
            <a:ext cx="6035040" cy="914400"/>
          </a:xfrm>
          <a:prstGeom prst="rect">
            <a:avLst/>
          </a:prstGeom>
          <a:noFill/>
        </p:spPr>
        <p:txBody>
          <a:bodyPr wrap="square" lIns="18288" rIns="18288" tIns="0" bIns="0">
            <a:spAutoFit/>
          </a:bodyPr>
          <a:lstStyle/>
          <a:p>
            <a:pPr>
              <a:spcBef>
                <a:spcPts val="0"/>
              </a:spcBef>
              <a:spcAft>
                <a:spcPts val="0"/>
              </a:spcAft>
            </a:pPr>
            <a:r>
              <a:rPr sz="2800" b="0">
                <a:solidFill>
                  <a:srgbClr val="76B900"/>
                </a:solidFill>
                <a:latin typeface="NVIDIA Sans Medium"/>
              </a:rPr>
              <a:t>E2E speedup</a:t>
            </a:r>
          </a:p>
          <a:p>
            <a:pPr>
              <a:spcBef>
                <a:spcPts val="0"/>
              </a:spcBef>
              <a:spcAft>
                <a:spcPts val="0"/>
              </a:spcAft>
            </a:pPr>
            <a:r>
              <a:rPr sz="2800" b="0">
                <a:solidFill>
                  <a:srgbClr val="76B900"/>
                </a:solidFill>
                <a:latin typeface="NVIDIA Sans Medium"/>
              </a:rPr>
              <a:t>vs. previous</a:t>
            </a:r>
          </a:p>
        </p:txBody>
      </p:sp>
      <p:sp>
        <p:nvSpPr>
          <p:cNvPr id="10" name="Header RTF"/>
          <p:cNvSpPr txBox="1"/>
          <p:nvPr/>
        </p:nvSpPr>
        <p:spPr>
          <a:xfrm>
            <a:off x="31683960" y="4892040"/>
            <a:ext cx="2926080" cy="914400"/>
          </a:xfrm>
          <a:prstGeom prst="rect">
            <a:avLst/>
          </a:prstGeom>
          <a:noFill/>
        </p:spPr>
        <p:txBody>
          <a:bodyPr wrap="square" lIns="18288" rIns="18288" tIns="0" bIns="0">
            <a:spAutoFit/>
          </a:bodyPr>
          <a:lstStyle/>
          <a:p>
            <a:pPr>
              <a:spcBef>
                <a:spcPts val="0"/>
              </a:spcBef>
              <a:spcAft>
                <a:spcPts val="0"/>
              </a:spcAft>
            </a:pPr>
            <a:r>
              <a:rPr sz="2800" b="0">
                <a:solidFill>
                  <a:srgbClr val="76B900"/>
                </a:solidFill>
                <a:latin typeface="NVIDIA Sans Medium"/>
              </a:rPr>
              <a:t>RTF</a:t>
            </a:r>
          </a:p>
        </p:txBody>
      </p:sp>
      <p:sp>
        <p:nvSpPr>
          <p:cNvPr id="11" name="Row background 0"/>
          <p:cNvSpPr/>
          <p:nvPr/>
        </p:nvSpPr>
        <p:spPr>
          <a:xfrm>
            <a:off x="1828800" y="6099048"/>
            <a:ext cx="32918400" cy="10058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tage 00 Stage"/>
          <p:cNvSpPr txBox="1"/>
          <p:nvPr/>
        </p:nvSpPr>
        <p:spPr>
          <a:xfrm>
            <a:off x="1965960" y="629107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00</a:t>
            </a:r>
          </a:p>
        </p:txBody>
      </p:sp>
      <p:sp>
        <p:nvSpPr>
          <p:cNvPr id="13" name="Stage 00 Cumulative change"/>
          <p:cNvSpPr txBox="1"/>
          <p:nvPr/>
        </p:nvSpPr>
        <p:spPr>
          <a:xfrm>
            <a:off x="4160520" y="629107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Baseline · original BF16 / dense / 50 evaluations</a:t>
            </a:r>
          </a:p>
        </p:txBody>
      </p:sp>
      <p:sp>
        <p:nvSpPr>
          <p:cNvPr id="14" name="Stage 00 Median (s)"/>
          <p:cNvSpPr txBox="1"/>
          <p:nvPr/>
        </p:nvSpPr>
        <p:spPr>
          <a:xfrm>
            <a:off x="21076919" y="629107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213.402</a:t>
            </a:r>
          </a:p>
        </p:txBody>
      </p:sp>
      <p:sp>
        <p:nvSpPr>
          <p:cNvPr id="15" name="Stage 00 E2E speedup&#10;vs. previous"/>
          <p:cNvSpPr txBox="1"/>
          <p:nvPr/>
        </p:nvSpPr>
        <p:spPr>
          <a:xfrm>
            <a:off x="25100280" y="629107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a:t>
            </a:r>
          </a:p>
        </p:txBody>
      </p:sp>
      <p:sp>
        <p:nvSpPr>
          <p:cNvPr id="16" name="Stage 00 RTF"/>
          <p:cNvSpPr txBox="1"/>
          <p:nvPr/>
        </p:nvSpPr>
        <p:spPr>
          <a:xfrm>
            <a:off x="31683960" y="629107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41.304</a:t>
            </a:r>
          </a:p>
        </p:txBody>
      </p:sp>
      <p:sp>
        <p:nvSpPr>
          <p:cNvPr id="17" name="Stage 01 Stage"/>
          <p:cNvSpPr txBox="1"/>
          <p:nvPr/>
        </p:nvSpPr>
        <p:spPr>
          <a:xfrm>
            <a:off x="1965960" y="7342631"/>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01</a:t>
            </a:r>
          </a:p>
        </p:txBody>
      </p:sp>
      <p:sp>
        <p:nvSpPr>
          <p:cNvPr id="18" name="Stage 01 Cumulative change"/>
          <p:cNvSpPr txBox="1"/>
          <p:nvPr/>
        </p:nvSpPr>
        <p:spPr>
          <a:xfrm>
            <a:off x="4160520" y="7342631"/>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 PDD · 50 → 8 evaluations</a:t>
            </a:r>
          </a:p>
        </p:txBody>
      </p:sp>
      <p:sp>
        <p:nvSpPr>
          <p:cNvPr id="19" name="Stage 01 Median (s)"/>
          <p:cNvSpPr txBox="1"/>
          <p:nvPr/>
        </p:nvSpPr>
        <p:spPr>
          <a:xfrm>
            <a:off x="21076919" y="7342631"/>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44.327</a:t>
            </a:r>
          </a:p>
        </p:txBody>
      </p:sp>
      <p:sp>
        <p:nvSpPr>
          <p:cNvPr id="20" name="Stage 01 E2E speedup&#10;vs. previous"/>
          <p:cNvSpPr txBox="1"/>
          <p:nvPr/>
        </p:nvSpPr>
        <p:spPr>
          <a:xfrm>
            <a:off x="25100280" y="7342631"/>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4.814×†</a:t>
            </a:r>
          </a:p>
        </p:txBody>
      </p:sp>
      <p:sp>
        <p:nvSpPr>
          <p:cNvPr id="21" name="Stage 01 RTF"/>
          <p:cNvSpPr txBox="1"/>
          <p:nvPr/>
        </p:nvSpPr>
        <p:spPr>
          <a:xfrm>
            <a:off x="31683960" y="7342631"/>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8.579</a:t>
            </a:r>
          </a:p>
        </p:txBody>
      </p:sp>
      <p:sp>
        <p:nvSpPr>
          <p:cNvPr id="22" name="Row background 2"/>
          <p:cNvSpPr/>
          <p:nvPr/>
        </p:nvSpPr>
        <p:spPr>
          <a:xfrm>
            <a:off x="1828800" y="8202168"/>
            <a:ext cx="32918400" cy="10058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Stage 02 Stage"/>
          <p:cNvSpPr txBox="1"/>
          <p:nvPr/>
        </p:nvSpPr>
        <p:spPr>
          <a:xfrm>
            <a:off x="1965960" y="839419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02</a:t>
            </a:r>
          </a:p>
        </p:txBody>
      </p:sp>
      <p:sp>
        <p:nvSpPr>
          <p:cNvPr id="24" name="Stage 02 Cumulative change"/>
          <p:cNvSpPr txBox="1"/>
          <p:nvPr/>
        </p:nvSpPr>
        <p:spPr>
          <a:xfrm>
            <a:off x="4160520" y="839419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 Trained VSA · native 8-step model / runtime</a:t>
            </a:r>
          </a:p>
        </p:txBody>
      </p:sp>
      <p:sp>
        <p:nvSpPr>
          <p:cNvPr id="25" name="Stage 02 Median (s)"/>
          <p:cNvSpPr txBox="1"/>
          <p:nvPr/>
        </p:nvSpPr>
        <p:spPr>
          <a:xfrm>
            <a:off x="21076919" y="839419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25.915</a:t>
            </a:r>
          </a:p>
        </p:txBody>
      </p:sp>
      <p:sp>
        <p:nvSpPr>
          <p:cNvPr id="26" name="Stage 02 E2E speedup&#10;vs. previous"/>
          <p:cNvSpPr txBox="1"/>
          <p:nvPr/>
        </p:nvSpPr>
        <p:spPr>
          <a:xfrm>
            <a:off x="25100280" y="839419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1.710×</a:t>
            </a:r>
          </a:p>
        </p:txBody>
      </p:sp>
      <p:sp>
        <p:nvSpPr>
          <p:cNvPr id="27" name="Stage 02 RTF"/>
          <p:cNvSpPr txBox="1"/>
          <p:nvPr/>
        </p:nvSpPr>
        <p:spPr>
          <a:xfrm>
            <a:off x="31683960" y="839419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5.016</a:t>
            </a:r>
          </a:p>
        </p:txBody>
      </p:sp>
      <p:sp>
        <p:nvSpPr>
          <p:cNvPr id="28" name="Stage 03 Stage"/>
          <p:cNvSpPr txBox="1"/>
          <p:nvPr/>
        </p:nvSpPr>
        <p:spPr>
          <a:xfrm>
            <a:off x="1965960" y="944575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03</a:t>
            </a:r>
          </a:p>
        </p:txBody>
      </p:sp>
      <p:sp>
        <p:nvSpPr>
          <p:cNvPr id="29" name="Stage 03 Cumulative change"/>
          <p:cNvSpPr txBox="1"/>
          <p:nvPr/>
        </p:nvSpPr>
        <p:spPr>
          <a:xfrm>
            <a:off x="4160520" y="944575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 QAD NVFP4 DiT / native FP4 attention</a:t>
            </a:r>
          </a:p>
        </p:txBody>
      </p:sp>
      <p:sp>
        <p:nvSpPr>
          <p:cNvPr id="30" name="Stage 03 Median (s)"/>
          <p:cNvSpPr txBox="1"/>
          <p:nvPr/>
        </p:nvSpPr>
        <p:spPr>
          <a:xfrm>
            <a:off x="21076919" y="944575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19.460</a:t>
            </a:r>
          </a:p>
        </p:txBody>
      </p:sp>
      <p:sp>
        <p:nvSpPr>
          <p:cNvPr id="31" name="Stage 03 E2E speedup&#10;vs. previous"/>
          <p:cNvSpPr txBox="1"/>
          <p:nvPr/>
        </p:nvSpPr>
        <p:spPr>
          <a:xfrm>
            <a:off x="25100280" y="944575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1.332×</a:t>
            </a:r>
          </a:p>
        </p:txBody>
      </p:sp>
      <p:sp>
        <p:nvSpPr>
          <p:cNvPr id="32" name="Stage 03 RTF"/>
          <p:cNvSpPr txBox="1"/>
          <p:nvPr/>
        </p:nvSpPr>
        <p:spPr>
          <a:xfrm>
            <a:off x="31683960" y="944575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3.767</a:t>
            </a:r>
          </a:p>
        </p:txBody>
      </p:sp>
      <p:sp>
        <p:nvSpPr>
          <p:cNvPr id="33" name="Row background 4"/>
          <p:cNvSpPr/>
          <p:nvPr/>
        </p:nvSpPr>
        <p:spPr>
          <a:xfrm>
            <a:off x="1828800" y="10305288"/>
            <a:ext cx="32918400" cy="10058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Stage 04 Stage"/>
          <p:cNvSpPr txBox="1"/>
          <p:nvPr/>
        </p:nvSpPr>
        <p:spPr>
          <a:xfrm>
            <a:off x="1965960" y="1049731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04</a:t>
            </a:r>
          </a:p>
        </p:txBody>
      </p:sp>
      <p:sp>
        <p:nvSpPr>
          <p:cNvPr id="35" name="Stage 04 Cumulative change"/>
          <p:cNvSpPr txBox="1"/>
          <p:nvPr/>
        </p:nvSpPr>
        <p:spPr>
          <a:xfrm>
            <a:off x="4160520" y="1049731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 RDMA / direct layout / V-gate overlap</a:t>
            </a:r>
          </a:p>
        </p:txBody>
      </p:sp>
      <p:sp>
        <p:nvSpPr>
          <p:cNvPr id="36" name="Stage 04 Median (s)"/>
          <p:cNvSpPr txBox="1"/>
          <p:nvPr/>
        </p:nvSpPr>
        <p:spPr>
          <a:xfrm>
            <a:off x="21076919" y="1049731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6.832</a:t>
            </a:r>
          </a:p>
        </p:txBody>
      </p:sp>
      <p:sp>
        <p:nvSpPr>
          <p:cNvPr id="37" name="Stage 04 E2E speedup&#10;vs. previous"/>
          <p:cNvSpPr txBox="1"/>
          <p:nvPr/>
        </p:nvSpPr>
        <p:spPr>
          <a:xfrm>
            <a:off x="25100280" y="1049731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2.848×</a:t>
            </a:r>
          </a:p>
        </p:txBody>
      </p:sp>
      <p:sp>
        <p:nvSpPr>
          <p:cNvPr id="38" name="Stage 04 RTF"/>
          <p:cNvSpPr txBox="1"/>
          <p:nvPr/>
        </p:nvSpPr>
        <p:spPr>
          <a:xfrm>
            <a:off x="31683960" y="1049731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1.322</a:t>
            </a:r>
          </a:p>
        </p:txBody>
      </p:sp>
      <p:sp>
        <p:nvSpPr>
          <p:cNvPr id="39" name="Stage 05 Stage"/>
          <p:cNvSpPr txBox="1"/>
          <p:nvPr/>
        </p:nvSpPr>
        <p:spPr>
          <a:xfrm>
            <a:off x="1965960" y="1154887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05</a:t>
            </a:r>
          </a:p>
        </p:txBody>
      </p:sp>
      <p:sp>
        <p:nvSpPr>
          <p:cNvPr id="40" name="Stage 05 Cumulative change"/>
          <p:cNvSpPr txBox="1"/>
          <p:nvPr/>
        </p:nvSpPr>
        <p:spPr>
          <a:xfrm>
            <a:off x="4160520" y="1154887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+ 2 / 3 / 2 head pipeline</a:t>
            </a:r>
          </a:p>
        </p:txBody>
      </p:sp>
      <p:sp>
        <p:nvSpPr>
          <p:cNvPr id="41" name="Stage 05 Median (s)"/>
          <p:cNvSpPr txBox="1"/>
          <p:nvPr/>
        </p:nvSpPr>
        <p:spPr>
          <a:xfrm>
            <a:off x="21076919" y="1154887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6.407</a:t>
            </a:r>
          </a:p>
        </p:txBody>
      </p:sp>
      <p:sp>
        <p:nvSpPr>
          <p:cNvPr id="42" name="Stage 05 E2E speedup&#10;vs. previous"/>
          <p:cNvSpPr txBox="1"/>
          <p:nvPr/>
        </p:nvSpPr>
        <p:spPr>
          <a:xfrm>
            <a:off x="25100280" y="1154887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1.066×</a:t>
            </a:r>
          </a:p>
        </p:txBody>
      </p:sp>
      <p:sp>
        <p:nvSpPr>
          <p:cNvPr id="43" name="Stage 05 RTF"/>
          <p:cNvSpPr txBox="1"/>
          <p:nvPr/>
        </p:nvSpPr>
        <p:spPr>
          <a:xfrm>
            <a:off x="31683960" y="1154887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1.240</a:t>
            </a:r>
          </a:p>
        </p:txBody>
      </p:sp>
      <p:sp>
        <p:nvSpPr>
          <p:cNvPr id="44" name="Row background 6"/>
          <p:cNvSpPr/>
          <p:nvPr/>
        </p:nvSpPr>
        <p:spPr>
          <a:xfrm>
            <a:off x="1828800" y="12408408"/>
            <a:ext cx="32918400" cy="10058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Stage 06 Stage"/>
          <p:cNvSpPr txBox="1"/>
          <p:nvPr/>
        </p:nvSpPr>
        <p:spPr>
          <a:xfrm>
            <a:off x="1965960" y="1260043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06</a:t>
            </a:r>
          </a:p>
        </p:txBody>
      </p:sp>
      <p:sp>
        <p:nvSpPr>
          <p:cNvPr id="46" name="Stage 06 Cumulative change"/>
          <p:cNvSpPr txBox="1"/>
          <p:nvPr/>
        </p:nvSpPr>
        <p:spPr>
          <a:xfrm>
            <a:off x="4160520" y="1260043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 Compute CUDA graphs</a:t>
            </a:r>
          </a:p>
        </p:txBody>
      </p:sp>
      <p:sp>
        <p:nvSpPr>
          <p:cNvPr id="47" name="Stage 06 Median (s)"/>
          <p:cNvSpPr txBox="1"/>
          <p:nvPr/>
        </p:nvSpPr>
        <p:spPr>
          <a:xfrm>
            <a:off x="21076919" y="1260043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6.193</a:t>
            </a:r>
          </a:p>
        </p:txBody>
      </p:sp>
      <p:sp>
        <p:nvSpPr>
          <p:cNvPr id="48" name="Stage 06 E2E speedup&#10;vs. previous"/>
          <p:cNvSpPr txBox="1"/>
          <p:nvPr/>
        </p:nvSpPr>
        <p:spPr>
          <a:xfrm>
            <a:off x="25100280" y="1260043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1.035×</a:t>
            </a:r>
          </a:p>
        </p:txBody>
      </p:sp>
      <p:sp>
        <p:nvSpPr>
          <p:cNvPr id="49" name="Stage 06 RTF"/>
          <p:cNvSpPr txBox="1"/>
          <p:nvPr/>
        </p:nvSpPr>
        <p:spPr>
          <a:xfrm>
            <a:off x="31683960" y="1260043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1.199</a:t>
            </a:r>
          </a:p>
        </p:txBody>
      </p:sp>
      <p:sp>
        <p:nvSpPr>
          <p:cNvPr id="50" name="Stage 07 Stage"/>
          <p:cNvSpPr txBox="1"/>
          <p:nvPr/>
        </p:nvSpPr>
        <p:spPr>
          <a:xfrm>
            <a:off x="1965960" y="1365199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07</a:t>
            </a:r>
          </a:p>
        </p:txBody>
      </p:sp>
      <p:sp>
        <p:nvSpPr>
          <p:cNvPr id="51" name="Stage 07 Cumulative change"/>
          <p:cNvSpPr txBox="1"/>
          <p:nvPr/>
        </p:nvSpPr>
        <p:spPr>
          <a:xfrm>
            <a:off x="4160520" y="1365199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+ 36-layer NVFP4 VAE / MP4 pre-encoding</a:t>
            </a:r>
          </a:p>
        </p:txBody>
      </p:sp>
      <p:sp>
        <p:nvSpPr>
          <p:cNvPr id="52" name="Stage 07 Median (s)"/>
          <p:cNvSpPr txBox="1"/>
          <p:nvPr/>
        </p:nvSpPr>
        <p:spPr>
          <a:xfrm>
            <a:off x="21076919" y="1365199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5.420</a:t>
            </a:r>
          </a:p>
        </p:txBody>
      </p:sp>
      <p:sp>
        <p:nvSpPr>
          <p:cNvPr id="53" name="Stage 07 E2E speedup&#10;vs. previous"/>
          <p:cNvSpPr txBox="1"/>
          <p:nvPr/>
        </p:nvSpPr>
        <p:spPr>
          <a:xfrm>
            <a:off x="25100280" y="1365199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1.143×</a:t>
            </a:r>
          </a:p>
        </p:txBody>
      </p:sp>
      <p:sp>
        <p:nvSpPr>
          <p:cNvPr id="54" name="Stage 07 RTF"/>
          <p:cNvSpPr txBox="1"/>
          <p:nvPr/>
        </p:nvSpPr>
        <p:spPr>
          <a:xfrm>
            <a:off x="31683960" y="1365199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1.049</a:t>
            </a:r>
          </a:p>
        </p:txBody>
      </p:sp>
      <p:sp>
        <p:nvSpPr>
          <p:cNvPr id="55" name="Row background 8"/>
          <p:cNvSpPr/>
          <p:nvPr/>
        </p:nvSpPr>
        <p:spPr>
          <a:xfrm>
            <a:off x="1828800" y="14511528"/>
            <a:ext cx="32918400" cy="10058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Stage 08–12 Stage"/>
          <p:cNvSpPr txBox="1"/>
          <p:nvPr/>
        </p:nvSpPr>
        <p:spPr>
          <a:xfrm>
            <a:off x="1965960" y="14703551"/>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Medium"/>
              </a:rPr>
              <a:t>08–12</a:t>
            </a:r>
          </a:p>
        </p:txBody>
      </p:sp>
      <p:sp>
        <p:nvSpPr>
          <p:cNvPr id="57" name="Stage 08–12 Cumulative change"/>
          <p:cNvSpPr txBox="1"/>
          <p:nvPr/>
        </p:nvSpPr>
        <p:spPr>
          <a:xfrm>
            <a:off x="4160520" y="14703551"/>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Medium"/>
              </a:rPr>
              <a:t>+ Output and data-movement optimizations</a:t>
            </a:r>
          </a:p>
        </p:txBody>
      </p:sp>
      <p:sp>
        <p:nvSpPr>
          <p:cNvPr id="58" name="Stage 08–12 Median (s)"/>
          <p:cNvSpPr txBox="1"/>
          <p:nvPr/>
        </p:nvSpPr>
        <p:spPr>
          <a:xfrm>
            <a:off x="21076919" y="14703551"/>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Medium"/>
              </a:rPr>
              <a:t>4.922</a:t>
            </a:r>
          </a:p>
        </p:txBody>
      </p:sp>
      <p:sp>
        <p:nvSpPr>
          <p:cNvPr id="59" name="Stage 08–12 E2E speedup&#10;vs. previous"/>
          <p:cNvSpPr txBox="1"/>
          <p:nvPr/>
        </p:nvSpPr>
        <p:spPr>
          <a:xfrm>
            <a:off x="25100280" y="14703551"/>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Medium"/>
              </a:rPr>
              <a:t>1.101×</a:t>
            </a:r>
          </a:p>
        </p:txBody>
      </p:sp>
      <p:sp>
        <p:nvSpPr>
          <p:cNvPr id="60" name="Stage 08–12 RTF"/>
          <p:cNvSpPr txBox="1"/>
          <p:nvPr/>
        </p:nvSpPr>
        <p:spPr>
          <a:xfrm>
            <a:off x="31683960" y="14703551"/>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Medium"/>
              </a:rPr>
              <a:t>0.953</a:t>
            </a:r>
          </a:p>
        </p:txBody>
      </p:sp>
      <p:sp>
        <p:nvSpPr>
          <p:cNvPr id="61" name="Grouped details"/>
          <p:cNvSpPr txBox="1"/>
          <p:nvPr/>
        </p:nvSpPr>
        <p:spPr>
          <a:xfrm>
            <a:off x="1828800" y="15864840"/>
            <a:ext cx="32918400" cy="640080"/>
          </a:xfrm>
          <a:prstGeom prst="rect">
            <a:avLst/>
          </a:prstGeom>
          <a:noFill/>
        </p:spPr>
        <p:txBody>
          <a:bodyPr wrap="square" lIns="18288" rIns="18288" tIns="0" bIns="0">
            <a:spAutoFit/>
          </a:bodyPr>
          <a:lstStyle/>
          <a:p>
            <a:pPr>
              <a:spcBef>
                <a:spcPts val="0"/>
              </a:spcBef>
              <a:spcAft>
                <a:spcPts val="0"/>
              </a:spcAft>
            </a:pPr>
            <a:r>
              <a:rPr sz="2800" b="0">
                <a:solidFill>
                  <a:srgbClr val="313131"/>
                </a:solidFill>
                <a:latin typeface="NVIDIA Sans"/>
              </a:rPr>
              <a:t>08–12: fused tile / AAC preparation, direct I/O packing, compact routing and Q/K/V copy removal.</a:t>
            </a:r>
          </a:p>
        </p:txBody>
      </p:sp>
      <p:sp>
        <p:nvSpPr>
          <p:cNvPr id="62" name="Ratio definition"/>
          <p:cNvSpPr txBox="1"/>
          <p:nvPr/>
        </p:nvSpPr>
        <p:spPr>
          <a:xfrm>
            <a:off x="1828800" y="16642080"/>
            <a:ext cx="32918400" cy="640080"/>
          </a:xfrm>
          <a:prstGeom prst="rect">
            <a:avLst/>
          </a:prstGeom>
          <a:noFill/>
        </p:spPr>
        <p:txBody>
          <a:bodyPr wrap="square" lIns="18288" rIns="18288" tIns="0" bIns="0">
            <a:spAutoFit/>
          </a:bodyPr>
          <a:lstStyle/>
          <a:p>
            <a:pPr>
              <a:spcBef>
                <a:spcPts val="0"/>
              </a:spcBef>
              <a:spcAft>
                <a:spcPts val="0"/>
              </a:spcAft>
            </a:pPr>
            <a:r>
              <a:rPr sz="2800" b="0">
                <a:solidFill>
                  <a:srgbClr val="000000"/>
                </a:solidFill>
                <a:latin typeface="NVIDIA Sans Medium"/>
              </a:rPr>
              <a:t>E2E speedup = previous displayed median ÷ current median. 08–12 compares the final result with stage 07.</a:t>
            </a:r>
          </a:p>
        </p:txBody>
      </p:sp>
      <p:sp>
        <p:nvSpPr>
          <p:cNvPr id="63" name="Final result"/>
          <p:cNvSpPr txBox="1"/>
          <p:nvPr/>
        </p:nvSpPr>
        <p:spPr>
          <a:xfrm>
            <a:off x="1828800" y="17465040"/>
            <a:ext cx="32918400" cy="731520"/>
          </a:xfrm>
          <a:prstGeom prst="rect">
            <a:avLst/>
          </a:prstGeom>
          <a:noFill/>
        </p:spPr>
        <p:txBody>
          <a:bodyPr wrap="square" lIns="18288" rIns="18288" tIns="0" bIns="0">
            <a:spAutoFit/>
          </a:bodyPr>
          <a:lstStyle/>
          <a:p>
            <a:pPr>
              <a:spcBef>
                <a:spcPts val="0"/>
              </a:spcBef>
              <a:spcAft>
                <a:spcPts val="0"/>
              </a:spcAft>
            </a:pPr>
            <a:r>
              <a:rPr sz="3600" b="0">
                <a:solidFill>
                  <a:srgbClr val="76B900"/>
                </a:solidFill>
                <a:latin typeface="NVIDIA Sans Medium"/>
              </a:rPr>
              <a:t>Final median: 4.922 s · recheck: 4.927 s · 6/6 measured requests below 5 s</a:t>
            </a:r>
          </a:p>
        </p:txBody>
      </p:sp>
      <p:sp>
        <p:nvSpPr>
          <p:cNvPr id="64" name="Baseline qualification"/>
          <p:cNvSpPr txBox="1"/>
          <p:nvPr/>
        </p:nvSpPr>
        <p:spPr>
          <a:xfrm>
            <a:off x="1828800" y="18333720"/>
            <a:ext cx="32918400" cy="594360"/>
          </a:xfrm>
          <a:prstGeom prst="rect">
            <a:avLst/>
          </a:prstGeom>
          <a:noFill/>
        </p:spPr>
        <p:txBody>
          <a:bodyPr wrap="square" lIns="18288" rIns="18288" tIns="0" bIns="0">
            <a:spAutoFit/>
          </a:bodyPr>
          <a:lstStyle/>
          <a:p>
            <a:pPr>
              <a:spcBef>
                <a:spcPts val="0"/>
              </a:spcBef>
              <a:spcAft>
                <a:spcPts val="0"/>
              </a:spcAft>
            </a:pPr>
            <a:r>
              <a:rPr sz="2500" b="0">
                <a:solidFill>
                  <a:srgbClr val="313131"/>
                </a:solidFill>
                <a:latin typeface="NVIDIA Sans"/>
              </a:rPr>
              <a:t>† Recorded median ratio; baseline refreshed separately (n = 2). Stages 01–12 retain n = 3 each; no isolated 50→8-step gain claimed.</a:t>
            </a:r>
          </a:p>
        </p:txBody>
      </p:sp>
      <p:sp>
        <p:nvSpPr>
          <p:cNvPr id="65" name="Scope"/>
          <p:cNvSpPr txBox="1"/>
          <p:nvPr/>
        </p:nvSpPr>
        <p:spPr>
          <a:xfrm>
            <a:off x="1828800" y="19019520"/>
            <a:ext cx="32918400" cy="548640"/>
          </a:xfrm>
          <a:prstGeom prst="rect">
            <a:avLst/>
          </a:prstGeom>
          <a:noFill/>
        </p:spPr>
        <p:txBody>
          <a:bodyPr wrap="square" lIns="18288" rIns="18288" tIns="0" bIns="0">
            <a:spAutoFit/>
          </a:bodyPr>
          <a:lstStyle/>
          <a:p>
            <a:pPr>
              <a:spcBef>
                <a:spcPts val="0"/>
              </a:spcBef>
              <a:spcAft>
                <a:spcPts val="0"/>
              </a:spcAft>
            </a:pPr>
            <a:r>
              <a:rPr sz="2500" b="0">
                <a:solidFill>
                  <a:srgbClr val="313131"/>
                </a:solidFill>
                <a:latin typeface="NVIDIA Sans"/>
              </a:rPr>
              <a:t>RTF = latency / 5.167 s. Standalone H3; ASR / LLM excluded. Model, schedule and precision changes are not all lossless.</a:t>
            </a:r>
          </a:p>
        </p:txBody>
      </p:sp>
      <p:sp>
        <p:nvSpPr>
          <p:cNvPr id="66" name="Slide Number Placeholder 65"/>
          <p:cNvSpPr>
            <a:spLocks noGrp="1"/>
          </p:cNvSpPr>
          <p:nvPr>
            <p:ph type="sldNum" idx="16" sz="quarter"/>
          </p:nvPr>
        </p:nvSpPr>
        <p:spPr/>
        <p:txBody>
          <a:bodyPr/>
          <a:p>
            <a:r>
              <a:rPr/>
              <a:t>15</a:t>
            </a:r>
          </a:p>
        </p:txBody>
      </p:sp>
      <p:sp>
        <p:nvSpPr>
          <p:cNvPr id="67" name="Text Placeholder 66"/>
          <p:cNvSpPr>
            <a:spLocks noGrp="1"/>
          </p:cNvSpPr>
          <p:nvPr>
            <p:ph type="body" idx="13" sz="quarter"/>
          </p:nvPr>
        </p:nvSpPr>
        <p:spPr/>
        <p:txBody>
          <a:bodyPr/>
          <a:lstStyle/>
          <a:p>
            <a:r>
              <a:rPr/>
              <a:t>960 × 544 · 5.167 s output · 8 GPUs · standalone H3</a:t>
            </a:r>
          </a:p>
        </p:txBody>
      </p:sp>
      <p:sp>
        <p:nvSpPr>
          <p:cNvPr id="68" name="Title 67"/>
          <p:cNvSpPr>
            <a:spLocks noGrp="1"/>
          </p:cNvSpPr>
          <p:nvPr>
            <p:ph type="title"/>
          </p:nvPr>
        </p:nvSpPr>
        <p:spPr/>
        <p:txBody>
          <a:bodyPr/>
          <a:lstStyle/>
          <a:p>
            <a:r>
              <a:rPr/>
              <a:t>Optimization Path: E2E Speedup</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1828800" y="914400"/>
            <a:ext cx="32918400" cy="2057400"/>
          </a:xfrm>
          <a:prstGeom prst="rect">
            <a:avLst/>
          </a:prstGeom>
          <a:noFill/>
        </p:spPr>
        <p:txBody>
          <a:bodyPr wrap="square" lIns="18288" rIns="18288" tIns="0" bIns="0">
            <a:spAutoFit/>
          </a:bodyPr>
          <a:lstStyle/>
          <a:p>
            <a:pPr>
              <a:spcBef>
                <a:spcPts val="0"/>
              </a:spcBef>
              <a:spcAft>
                <a:spcPts val="0"/>
              </a:spcAft>
            </a:pPr>
            <a:r>
              <a:rPr sz="7000" b="1">
                <a:solidFill>
                  <a:srgbClr val="000000"/>
                </a:solidFill>
                <a:latin typeface="NVIDIA Sans"/>
              </a:rPr>
              <a:t>Live Avatar: From a Question to a Video</a:t>
            </a:r>
          </a:p>
        </p:txBody>
      </p:sp>
      <p:sp>
        <p:nvSpPr>
          <p:cNvPr id="3" name="Subtitle"/>
          <p:cNvSpPr txBox="1"/>
          <p:nvPr/>
        </p:nvSpPr>
        <p:spPr>
          <a:xfrm>
            <a:off x="1828800" y="3200400"/>
            <a:ext cx="32918400" cy="1097280"/>
          </a:xfrm>
          <a:prstGeom prst="rect">
            <a:avLst/>
          </a:prstGeom>
          <a:noFill/>
        </p:spPr>
        <p:txBody>
          <a:bodyPr wrap="square" lIns="18288" rIns="18288" tIns="0" bIns="0">
            <a:spAutoFit/>
          </a:bodyPr>
          <a:lstStyle/>
          <a:p>
            <a:pPr>
              <a:spcBef>
                <a:spcPts val="0"/>
              </a:spcBef>
              <a:spcAft>
                <a:spcPts val="0"/>
              </a:spcAft>
            </a:pPr>
            <a:r>
              <a:rPr sz="3300" b="0">
                <a:solidFill>
                  <a:srgbClr val="313131"/>
                </a:solidFill>
                <a:latin typeface="NVIDIA Sans"/>
              </a:rPr>
              <a:t>960 × 544 · 24 FPS · 8 × SM120 GPUs · first window 5.167 s / each continuation adds 4.958 s</a:t>
            </a:r>
          </a:p>
        </p:txBody>
      </p:sp>
      <p:sp>
        <p:nvSpPr>
          <p:cNvPr id="4" name="Slide number"/>
          <p:cNvSpPr txBox="1"/>
          <p:nvPr/>
        </p:nvSpPr>
        <p:spPr>
          <a:xfrm>
            <a:off x="914400" y="19385280"/>
            <a:ext cx="914400" cy="640080"/>
          </a:xfrm>
          <a:prstGeom prst="rect">
            <a:avLst/>
          </a:prstGeom>
          <a:noFill/>
        </p:spPr>
        <p:txBody>
          <a:bodyPr wrap="square" lIns="18288" rIns="18288" tIns="0" bIns="0">
            <a:spAutoFit/>
          </a:bodyPr>
          <a:lstStyle/>
          <a:p>
            <a:pPr>
              <a:spcBef>
                <a:spcPts val="0"/>
              </a:spcBef>
              <a:spcAft>
                <a:spcPts val="0"/>
              </a:spcAft>
            </a:pPr>
            <a:r>
              <a:rPr sz="2400" b="0">
                <a:solidFill>
                  <a:srgbClr val="000000"/>
                </a:solidFill>
                <a:latin typeface="NVIDIA Sans"/>
              </a:rPr>
              <a:t>16</a:t>
            </a:r>
          </a:p>
        </p:txBody>
      </p:sp>
      <p:sp>
        <p:nvSpPr>
          <p:cNvPr id="5" name="Example question"/>
          <p:cNvSpPr/>
          <p:nvPr/>
        </p:nvSpPr>
        <p:spPr>
          <a:xfrm>
            <a:off x="1828800" y="4526280"/>
            <a:ext cx="32918400" cy="22402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Example label"/>
          <p:cNvSpPr txBox="1"/>
          <p:nvPr/>
        </p:nvSpPr>
        <p:spPr>
          <a:xfrm>
            <a:off x="2240280" y="4800600"/>
            <a:ext cx="32004000" cy="548640"/>
          </a:xfrm>
          <a:prstGeom prst="rect">
            <a:avLst/>
          </a:prstGeom>
          <a:noFill/>
        </p:spPr>
        <p:txBody>
          <a:bodyPr wrap="square" lIns="18288" rIns="18288" tIns="0" bIns="0">
            <a:spAutoFit/>
          </a:bodyPr>
          <a:lstStyle/>
          <a:p>
            <a:pPr>
              <a:spcBef>
                <a:spcPts val="0"/>
              </a:spcBef>
              <a:spcAft>
                <a:spcPts val="0"/>
              </a:spcAft>
            </a:pPr>
            <a:r>
              <a:rPr sz="2500" b="1">
                <a:solidFill>
                  <a:srgbClr val="76B900"/>
                </a:solidFill>
                <a:latin typeface="NVIDIA Sans"/>
              </a:rPr>
              <a:t>EXAMPLE · INTRODUCE YOURSELF</a:t>
            </a:r>
          </a:p>
        </p:txBody>
      </p:sp>
      <p:sp>
        <p:nvSpPr>
          <p:cNvPr id="7" name="User question"/>
          <p:cNvSpPr txBox="1"/>
          <p:nvPr/>
        </p:nvSpPr>
        <p:spPr>
          <a:xfrm>
            <a:off x="2240280" y="5486400"/>
            <a:ext cx="32004000" cy="822960"/>
          </a:xfrm>
          <a:prstGeom prst="rect">
            <a:avLst/>
          </a:prstGeom>
          <a:noFill/>
        </p:spPr>
        <p:txBody>
          <a:bodyPr wrap="square" lIns="18288" rIns="18288" tIns="0" bIns="0">
            <a:spAutoFit/>
          </a:bodyPr>
          <a:lstStyle/>
          <a:p>
            <a:pPr>
              <a:spcBef>
                <a:spcPts val="0"/>
              </a:spcBef>
              <a:spcAft>
                <a:spcPts val="0"/>
              </a:spcAft>
            </a:pPr>
            <a:r>
              <a:rPr sz="4300" b="1">
                <a:solidFill>
                  <a:srgbClr val="000000"/>
                </a:solidFill>
                <a:latin typeface="NVIDIA Sans"/>
              </a:rPr>
              <a:t>“Hi, could you introduce yourself?”</a:t>
            </a:r>
          </a:p>
        </p:txBody>
      </p:sp>
      <p:sp>
        <p:nvSpPr>
          <p:cNvPr id="8" name="Translation note"/>
          <p:cNvSpPr txBox="1"/>
          <p:nvPr/>
        </p:nvSpPr>
        <p:spPr>
          <a:xfrm>
            <a:off x="21488400" y="6858000"/>
            <a:ext cx="13258800" cy="502920"/>
          </a:xfrm>
          <a:prstGeom prst="rect">
            <a:avLst/>
          </a:prstGeom>
          <a:noFill/>
        </p:spPr>
        <p:txBody>
          <a:bodyPr wrap="square" lIns="18288" rIns="18288" tIns="0" bIns="0">
            <a:spAutoFit/>
          </a:bodyPr>
          <a:lstStyle/>
          <a:p>
            <a:pPr>
              <a:spcBef>
                <a:spcPts val="0"/>
              </a:spcBef>
              <a:spcAft>
                <a:spcPts val="0"/>
              </a:spcAft>
            </a:pPr>
            <a:r>
              <a:rPr sz="2400" b="0">
                <a:solidFill>
                  <a:srgbClr val="313131"/>
                </a:solidFill>
                <a:latin typeface="NVIDIA Sans"/>
              </a:rPr>
              <a:t>User question translated from the recorded demo</a:t>
            </a:r>
          </a:p>
        </p:txBody>
      </p:sp>
      <p:sp>
        <p:nvSpPr>
          <p:cNvPr id="9" name="Pipeline Microphone"/>
          <p:cNvSpPr/>
          <p:nvPr/>
        </p:nvSpPr>
        <p:spPr>
          <a:xfrm>
            <a:off x="1828800" y="7680960"/>
            <a:ext cx="4937760" cy="25603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Microphone"/>
          <p:cNvSpPr txBox="1"/>
          <p:nvPr/>
        </p:nvSpPr>
        <p:spPr>
          <a:xfrm>
            <a:off x="2148840" y="8046720"/>
            <a:ext cx="4297680" cy="685800"/>
          </a:xfrm>
          <a:prstGeom prst="rect">
            <a:avLst/>
          </a:prstGeom>
          <a:noFill/>
        </p:spPr>
        <p:txBody>
          <a:bodyPr wrap="square" lIns="18288" rIns="18288" tIns="0" bIns="0">
            <a:spAutoFit/>
          </a:bodyPr>
          <a:lstStyle/>
          <a:p>
            <a:pPr>
              <a:spcBef>
                <a:spcPts val="0"/>
              </a:spcBef>
              <a:spcAft>
                <a:spcPts val="0"/>
              </a:spcAft>
            </a:pPr>
            <a:r>
              <a:rPr sz="3800" b="1">
                <a:solidFill>
                  <a:srgbClr val="000000"/>
                </a:solidFill>
                <a:latin typeface="NVIDIA Sans"/>
              </a:rPr>
              <a:t>Microphone</a:t>
            </a:r>
          </a:p>
        </p:txBody>
      </p:sp>
      <p:sp>
        <p:nvSpPr>
          <p:cNvPr id="11" name="Microphone detail"/>
          <p:cNvSpPr txBox="1"/>
          <p:nvPr/>
        </p:nvSpPr>
        <p:spPr>
          <a:xfrm>
            <a:off x="2148840" y="8961120"/>
            <a:ext cx="4297680" cy="1005840"/>
          </a:xfrm>
          <a:prstGeom prst="rect">
            <a:avLst/>
          </a:prstGeom>
          <a:noFill/>
        </p:spPr>
        <p:txBody>
          <a:bodyPr wrap="square" lIns="18288" rIns="18288" tIns="0" bIns="0">
            <a:spAutoFit/>
          </a:bodyPr>
          <a:lstStyle/>
          <a:p>
            <a:pPr>
              <a:spcBef>
                <a:spcPts val="0"/>
              </a:spcBef>
              <a:spcAft>
                <a:spcPts val="0"/>
              </a:spcAft>
            </a:pPr>
            <a:r>
              <a:rPr sz="2800" b="0">
                <a:solidFill>
                  <a:srgbClr val="000000"/>
                </a:solidFill>
                <a:latin typeface="NVIDIA Sans"/>
              </a:rPr>
              <a:t>Spoken question</a:t>
            </a:r>
          </a:p>
        </p:txBody>
      </p:sp>
      <p:sp>
        <p:nvSpPr>
          <p:cNvPr id="12" name="Pipeline arrow 0"/>
          <p:cNvSpPr/>
          <p:nvPr/>
        </p:nvSpPr>
        <p:spPr>
          <a:xfrm>
            <a:off x="6858000" y="8732520"/>
            <a:ext cx="731520" cy="45720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Pipeline ASR"/>
          <p:cNvSpPr/>
          <p:nvPr/>
        </p:nvSpPr>
        <p:spPr>
          <a:xfrm>
            <a:off x="7680960" y="7680960"/>
            <a:ext cx="6400800" cy="25603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ASR"/>
          <p:cNvSpPr txBox="1"/>
          <p:nvPr/>
        </p:nvSpPr>
        <p:spPr>
          <a:xfrm>
            <a:off x="8001000" y="8046720"/>
            <a:ext cx="5760720" cy="685800"/>
          </a:xfrm>
          <a:prstGeom prst="rect">
            <a:avLst/>
          </a:prstGeom>
          <a:noFill/>
        </p:spPr>
        <p:txBody>
          <a:bodyPr wrap="square" lIns="18288" rIns="18288" tIns="0" bIns="0">
            <a:spAutoFit/>
          </a:bodyPr>
          <a:lstStyle/>
          <a:p>
            <a:pPr>
              <a:spcBef>
                <a:spcPts val="0"/>
              </a:spcBef>
              <a:spcAft>
                <a:spcPts val="0"/>
              </a:spcAft>
            </a:pPr>
            <a:r>
              <a:rPr sz="3800" b="1">
                <a:solidFill>
                  <a:srgbClr val="000000"/>
                </a:solidFill>
                <a:latin typeface="NVIDIA Sans"/>
              </a:rPr>
              <a:t>ASR</a:t>
            </a:r>
          </a:p>
        </p:txBody>
      </p:sp>
      <p:sp>
        <p:nvSpPr>
          <p:cNvPr id="15" name="ASR detail"/>
          <p:cNvSpPr txBox="1"/>
          <p:nvPr/>
        </p:nvSpPr>
        <p:spPr>
          <a:xfrm>
            <a:off x="8001000" y="8961120"/>
            <a:ext cx="5760720" cy="1005840"/>
          </a:xfrm>
          <a:prstGeom prst="rect">
            <a:avLst/>
          </a:prstGeom>
          <a:noFill/>
        </p:spPr>
        <p:txBody>
          <a:bodyPr wrap="square" lIns="18288" rIns="18288" tIns="0" bIns="0">
            <a:spAutoFit/>
          </a:bodyPr>
          <a:lstStyle/>
          <a:p>
            <a:pPr>
              <a:spcBef>
                <a:spcPts val="0"/>
              </a:spcBef>
              <a:spcAft>
                <a:spcPts val="0"/>
              </a:spcAft>
            </a:pPr>
            <a:r>
              <a:rPr sz="2800" b="0">
                <a:solidFill>
                  <a:srgbClr val="000000"/>
                </a:solidFill>
                <a:latin typeface="NVIDIA Sans"/>
              </a:rPr>
              <a:t>Speech → text</a:t>
            </a:r>
          </a:p>
          <a:p>
            <a:pPr>
              <a:spcBef>
                <a:spcPts val="0"/>
              </a:spcBef>
              <a:spcAft>
                <a:spcPts val="0"/>
              </a:spcAft>
            </a:pPr>
            <a:r>
              <a:rPr sz="2800" b="0">
                <a:solidFill>
                  <a:srgbClr val="000000"/>
                </a:solidFill>
                <a:latin typeface="NVIDIA Sans"/>
              </a:rPr>
              <a:t>Qwen3-ASR-0.6B</a:t>
            </a:r>
          </a:p>
        </p:txBody>
      </p:sp>
      <p:sp>
        <p:nvSpPr>
          <p:cNvPr id="16" name="Pipeline arrow 1"/>
          <p:cNvSpPr/>
          <p:nvPr/>
        </p:nvSpPr>
        <p:spPr>
          <a:xfrm>
            <a:off x="14173200" y="8732520"/>
            <a:ext cx="731520" cy="45720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Pipeline LLM"/>
          <p:cNvSpPr/>
          <p:nvPr/>
        </p:nvSpPr>
        <p:spPr>
          <a:xfrm>
            <a:off x="14996159" y="7680960"/>
            <a:ext cx="6400800" cy="25603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LLM"/>
          <p:cNvSpPr txBox="1"/>
          <p:nvPr/>
        </p:nvSpPr>
        <p:spPr>
          <a:xfrm>
            <a:off x="15316200" y="8046720"/>
            <a:ext cx="5760720" cy="685800"/>
          </a:xfrm>
          <a:prstGeom prst="rect">
            <a:avLst/>
          </a:prstGeom>
          <a:noFill/>
        </p:spPr>
        <p:txBody>
          <a:bodyPr wrap="square" lIns="18288" rIns="18288" tIns="0" bIns="0">
            <a:spAutoFit/>
          </a:bodyPr>
          <a:lstStyle/>
          <a:p>
            <a:pPr>
              <a:spcBef>
                <a:spcPts val="0"/>
              </a:spcBef>
              <a:spcAft>
                <a:spcPts val="0"/>
              </a:spcAft>
            </a:pPr>
            <a:r>
              <a:rPr sz="3800" b="1">
                <a:solidFill>
                  <a:srgbClr val="000000"/>
                </a:solidFill>
                <a:latin typeface="NVIDIA Sans"/>
              </a:rPr>
              <a:t>LLM</a:t>
            </a:r>
          </a:p>
        </p:txBody>
      </p:sp>
      <p:sp>
        <p:nvSpPr>
          <p:cNvPr id="19" name="LLM detail"/>
          <p:cNvSpPr txBox="1"/>
          <p:nvPr/>
        </p:nvSpPr>
        <p:spPr>
          <a:xfrm>
            <a:off x="15316200" y="8961120"/>
            <a:ext cx="5760720" cy="1005840"/>
          </a:xfrm>
          <a:prstGeom prst="rect">
            <a:avLst/>
          </a:prstGeom>
          <a:noFill/>
        </p:spPr>
        <p:txBody>
          <a:bodyPr wrap="square" lIns="18288" rIns="18288" tIns="0" bIns="0">
            <a:spAutoFit/>
          </a:bodyPr>
          <a:lstStyle/>
          <a:p>
            <a:pPr>
              <a:spcBef>
                <a:spcPts val="0"/>
              </a:spcBef>
              <a:spcAft>
                <a:spcPts val="0"/>
              </a:spcAft>
            </a:pPr>
            <a:r>
              <a:rPr sz="2800" b="0">
                <a:solidFill>
                  <a:srgbClr val="000000"/>
                </a:solidFill>
                <a:latin typeface="NVIDIA Sans"/>
              </a:rPr>
              <a:t>Text → short reply</a:t>
            </a:r>
          </a:p>
          <a:p>
            <a:pPr>
              <a:spcBef>
                <a:spcPts val="0"/>
              </a:spcBef>
              <a:spcAft>
                <a:spcPts val="0"/>
              </a:spcAft>
            </a:pPr>
            <a:r>
              <a:rPr sz="2800" b="0">
                <a:solidFill>
                  <a:srgbClr val="000000"/>
                </a:solidFill>
                <a:latin typeface="NVIDIA Sans"/>
              </a:rPr>
              <a:t>Qwen3-4B</a:t>
            </a:r>
          </a:p>
        </p:txBody>
      </p:sp>
      <p:sp>
        <p:nvSpPr>
          <p:cNvPr id="20" name="Pipeline arrow 2"/>
          <p:cNvSpPr/>
          <p:nvPr/>
        </p:nvSpPr>
        <p:spPr>
          <a:xfrm>
            <a:off x="21488400" y="8732520"/>
            <a:ext cx="731520" cy="45720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Pipeline H3"/>
          <p:cNvSpPr/>
          <p:nvPr/>
        </p:nvSpPr>
        <p:spPr>
          <a:xfrm>
            <a:off x="22311360" y="7680960"/>
            <a:ext cx="4206240" cy="25603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H3"/>
          <p:cNvSpPr txBox="1"/>
          <p:nvPr/>
        </p:nvSpPr>
        <p:spPr>
          <a:xfrm>
            <a:off x="22631400" y="8046720"/>
            <a:ext cx="3566159" cy="685800"/>
          </a:xfrm>
          <a:prstGeom prst="rect">
            <a:avLst/>
          </a:prstGeom>
          <a:noFill/>
        </p:spPr>
        <p:txBody>
          <a:bodyPr wrap="square" lIns="18288" rIns="18288" tIns="0" bIns="0">
            <a:spAutoFit/>
          </a:bodyPr>
          <a:lstStyle/>
          <a:p>
            <a:pPr>
              <a:spcBef>
                <a:spcPts val="0"/>
              </a:spcBef>
              <a:spcAft>
                <a:spcPts val="0"/>
              </a:spcAft>
            </a:pPr>
            <a:r>
              <a:rPr sz="3800" b="1">
                <a:solidFill>
                  <a:srgbClr val="000000"/>
                </a:solidFill>
                <a:latin typeface="NVIDIA Sans"/>
              </a:rPr>
              <a:t>H3</a:t>
            </a:r>
          </a:p>
        </p:txBody>
      </p:sp>
      <p:sp>
        <p:nvSpPr>
          <p:cNvPr id="23" name="Pipeline arrow 3"/>
          <p:cNvSpPr/>
          <p:nvPr/>
        </p:nvSpPr>
        <p:spPr>
          <a:xfrm>
            <a:off x="26609040" y="8732520"/>
            <a:ext cx="731520" cy="45720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Pipeline Playback"/>
          <p:cNvSpPr/>
          <p:nvPr/>
        </p:nvSpPr>
        <p:spPr>
          <a:xfrm>
            <a:off x="27432000" y="7680960"/>
            <a:ext cx="7315200" cy="25603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Playback"/>
          <p:cNvSpPr txBox="1"/>
          <p:nvPr/>
        </p:nvSpPr>
        <p:spPr>
          <a:xfrm>
            <a:off x="27752040" y="8046720"/>
            <a:ext cx="6675120" cy="685800"/>
          </a:xfrm>
          <a:prstGeom prst="rect">
            <a:avLst/>
          </a:prstGeom>
          <a:noFill/>
        </p:spPr>
        <p:txBody>
          <a:bodyPr wrap="square" lIns="18288" rIns="18288" tIns="0" bIns="0">
            <a:spAutoFit/>
          </a:bodyPr>
          <a:lstStyle/>
          <a:p>
            <a:pPr>
              <a:spcBef>
                <a:spcPts val="0"/>
              </a:spcBef>
              <a:spcAft>
                <a:spcPts val="0"/>
              </a:spcAft>
            </a:pPr>
            <a:r>
              <a:rPr sz="3800" b="1">
                <a:solidFill>
                  <a:srgbClr val="000000"/>
                </a:solidFill>
                <a:latin typeface="NVIDIA Sans"/>
              </a:rPr>
              <a:t>Playback</a:t>
            </a:r>
          </a:p>
        </p:txBody>
      </p:sp>
      <p:sp>
        <p:nvSpPr>
          <p:cNvPr id="26" name="Playback detail"/>
          <p:cNvSpPr txBox="1"/>
          <p:nvPr/>
        </p:nvSpPr>
        <p:spPr>
          <a:xfrm>
            <a:off x="27752040" y="8961120"/>
            <a:ext cx="6675120" cy="1005840"/>
          </a:xfrm>
          <a:prstGeom prst="rect">
            <a:avLst/>
          </a:prstGeom>
          <a:noFill/>
        </p:spPr>
        <p:txBody>
          <a:bodyPr wrap="square" lIns="18288" rIns="18288" tIns="0" bIns="0">
            <a:spAutoFit/>
          </a:bodyPr>
          <a:lstStyle/>
          <a:p>
            <a:pPr>
              <a:spcBef>
                <a:spcPts val="0"/>
              </a:spcBef>
              <a:spcAft>
                <a:spcPts val="0"/>
              </a:spcAft>
            </a:pPr>
            <a:r>
              <a:rPr sz="2800" b="0">
                <a:solidFill>
                  <a:srgbClr val="000000"/>
                </a:solidFill>
                <a:latin typeface="NVIDIA Sans"/>
              </a:rPr>
              <a:t>Native audio + video</a:t>
            </a:r>
          </a:p>
          <a:p>
            <a:pPr>
              <a:spcBef>
                <a:spcPts val="0"/>
              </a:spcBef>
              <a:spcAft>
                <a:spcPts val="0"/>
              </a:spcAft>
            </a:pPr>
            <a:r>
              <a:rPr sz="2800" b="0">
                <a:solidFill>
                  <a:srgbClr val="000000"/>
                </a:solidFill>
                <a:latin typeface="NVIDIA Sans"/>
              </a:rPr>
              <a:t>~5-second windows</a:t>
            </a:r>
          </a:p>
        </p:txBody>
      </p:sp>
      <p:sp>
        <p:nvSpPr>
          <p:cNvPr id="27" name="Reply label"/>
          <p:cNvSpPr txBox="1"/>
          <p:nvPr/>
        </p:nvSpPr>
        <p:spPr>
          <a:xfrm>
            <a:off x="1828800" y="10972800"/>
            <a:ext cx="17373600" cy="640080"/>
          </a:xfrm>
          <a:prstGeom prst="rect">
            <a:avLst/>
          </a:prstGeom>
          <a:noFill/>
        </p:spPr>
        <p:txBody>
          <a:bodyPr wrap="square" lIns="18288" rIns="18288" tIns="0" bIns="0">
            <a:spAutoFit/>
          </a:bodyPr>
          <a:lstStyle/>
          <a:p>
            <a:pPr>
              <a:spcBef>
                <a:spcPts val="0"/>
              </a:spcBef>
              <a:spcAft>
                <a:spcPts val="0"/>
              </a:spcAft>
            </a:pPr>
            <a:r>
              <a:rPr sz="3400" b="1">
                <a:solidFill>
                  <a:srgbClr val="000000"/>
                </a:solidFill>
                <a:latin typeface="NVIDIA Sans"/>
              </a:rPr>
              <a:t>LLM reply text</a:t>
            </a:r>
          </a:p>
        </p:txBody>
      </p:sp>
      <p:sp>
        <p:nvSpPr>
          <p:cNvPr id="28" name="Reply quote"/>
          <p:cNvSpPr/>
          <p:nvPr/>
        </p:nvSpPr>
        <p:spPr>
          <a:xfrm>
            <a:off x="1828800" y="11887200"/>
            <a:ext cx="17373600" cy="25603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ply"/>
          <p:cNvSpPr txBox="1"/>
          <p:nvPr/>
        </p:nvSpPr>
        <p:spPr>
          <a:xfrm>
            <a:off x="2194560" y="12481560"/>
            <a:ext cx="16642080" cy="1645920"/>
          </a:xfrm>
          <a:prstGeom prst="rect">
            <a:avLst/>
          </a:prstGeom>
          <a:noFill/>
        </p:spPr>
        <p:txBody>
          <a:bodyPr wrap="square" lIns="18288" rIns="18288" tIns="0" bIns="0">
            <a:spAutoFit/>
          </a:bodyPr>
          <a:lstStyle/>
          <a:p>
            <a:pPr>
              <a:spcBef>
                <a:spcPts val="0"/>
              </a:spcBef>
              <a:spcAft>
                <a:spcPts val="0"/>
              </a:spcAft>
            </a:pPr>
            <a:r>
              <a:rPr sz="3800" b="1">
                <a:solidFill>
                  <a:srgbClr val="000000"/>
                </a:solidFill>
                <a:latin typeface="NVIDIA Sans"/>
              </a:rPr>
              <a:t>“Hi, I’m Miles. I help with</a:t>
            </a:r>
          </a:p>
          <a:p>
            <a:pPr>
              <a:spcBef>
                <a:spcPts val="0"/>
              </a:spcBef>
              <a:spcAft>
                <a:spcPts val="0"/>
              </a:spcAft>
            </a:pPr>
            <a:r>
              <a:rPr sz="3800" b="1">
                <a:solidFill>
                  <a:srgbClr val="000000"/>
                </a:solidFill>
                <a:latin typeface="NVIDIA Sans"/>
              </a:rPr>
              <a:t>simple, clear answers.”</a:t>
            </a:r>
          </a:p>
        </p:txBody>
      </p:sp>
      <p:sp>
        <p:nvSpPr>
          <p:cNvPr id="30" name="Prompt label"/>
          <p:cNvSpPr txBox="1"/>
          <p:nvPr/>
        </p:nvSpPr>
        <p:spPr>
          <a:xfrm>
            <a:off x="1828800" y="15041880"/>
            <a:ext cx="17373600" cy="640080"/>
          </a:xfrm>
          <a:prstGeom prst="rect">
            <a:avLst/>
          </a:prstGeom>
          <a:noFill/>
        </p:spPr>
        <p:txBody>
          <a:bodyPr wrap="square" lIns="18288" rIns="18288" tIns="0" bIns="0">
            <a:spAutoFit/>
          </a:bodyPr>
          <a:lstStyle/>
          <a:p>
            <a:pPr>
              <a:spcBef>
                <a:spcPts val="0"/>
              </a:spcBef>
              <a:spcAft>
                <a:spcPts val="0"/>
              </a:spcAft>
            </a:pPr>
            <a:r>
              <a:rPr sz="3400" b="1">
                <a:solidFill>
                  <a:srgbClr val="000000"/>
                </a:solidFill>
                <a:latin typeface="NVIDIA Sans"/>
              </a:rPr>
              <a:t>H3 prompt · English excerpt</a:t>
            </a:r>
          </a:p>
        </p:txBody>
      </p:sp>
      <p:sp>
        <p:nvSpPr>
          <p:cNvPr id="31" name="Prompt explanation"/>
          <p:cNvSpPr txBox="1"/>
          <p:nvPr/>
        </p:nvSpPr>
        <p:spPr>
          <a:xfrm>
            <a:off x="1828800" y="15956280"/>
            <a:ext cx="17373600" cy="2331720"/>
          </a:xfrm>
          <a:prstGeom prst="rect">
            <a:avLst/>
          </a:prstGeom>
          <a:noFill/>
        </p:spPr>
        <p:txBody>
          <a:bodyPr wrap="square" lIns="18288" rIns="18288" tIns="0" bIns="0">
            <a:spAutoFit/>
          </a:bodyPr>
          <a:lstStyle/>
          <a:p>
            <a:pPr>
              <a:spcBef>
                <a:spcPts val="0"/>
              </a:spcBef>
              <a:spcAft>
                <a:spcPts val="0"/>
              </a:spcAft>
            </a:pPr>
            <a:r>
              <a:rPr sz="2800" b="0">
                <a:solidFill>
                  <a:srgbClr val="000000"/>
                </a:solidFill>
                <a:latin typeface="NVIDIA Sans"/>
              </a:rPr>
              <a:t>The man says exactly this English dialogue</a:t>
            </a:r>
          </a:p>
          <a:p>
            <a:pPr>
              <a:spcBef>
                <a:spcPts val="0"/>
              </a:spcBef>
              <a:spcAft>
                <a:spcPts val="0"/>
              </a:spcAft>
            </a:pPr>
            <a:r>
              <a:rPr sz="2800" b="0">
                <a:solidFill>
                  <a:srgbClr val="000000"/>
                </a:solidFill>
                <a:latin typeface="NVIDIA Sans"/>
              </a:rPr>
              <a:t>in his reference voice:</a:t>
            </a:r>
          </a:p>
          <a:p>
            <a:pPr>
              <a:spcBef>
                <a:spcPts val="0"/>
              </a:spcBef>
              <a:spcAft>
                <a:spcPts val="0"/>
              </a:spcAft>
            </a:pPr>
            <a:r>
              <a:rPr sz="2800" b="0">
                <a:solidFill>
                  <a:srgbClr val="000000"/>
                </a:solidFill>
                <a:latin typeface="NVIDIA Sans"/>
              </a:rPr>
              <a:t>"Hi, I'm Miles. I help with simple, clear answers."</a:t>
            </a:r>
          </a:p>
          <a:p>
            <a:pPr>
              <a:spcBef>
                <a:spcPts val="0"/>
              </a:spcBef>
              <a:spcAft>
                <a:spcPts val="0"/>
              </a:spcAft>
            </a:pPr>
            <a:r>
              <a:rPr sz="2800" b="0">
                <a:solidFill>
                  <a:srgbClr val="000000"/>
                </a:solidFill>
                <a:latin typeface="NVIDIA Sans"/>
              </a:rPr>
              <a:t>… His lips follow the words.</a:t>
            </a:r>
          </a:p>
        </p:txBody>
      </p:sp>
      <p:sp>
        <p:nvSpPr>
          <p:cNvPr id="32" name="Example outcome"/>
          <p:cNvSpPr txBox="1"/>
          <p:nvPr/>
        </p:nvSpPr>
        <p:spPr>
          <a:xfrm>
            <a:off x="1828800" y="18699480"/>
            <a:ext cx="17830800" cy="822960"/>
          </a:xfrm>
          <a:prstGeom prst="rect">
            <a:avLst/>
          </a:prstGeom>
          <a:noFill/>
        </p:spPr>
        <p:txBody>
          <a:bodyPr wrap="square" lIns="18288" rIns="18288" tIns="0" bIns="0">
            <a:spAutoFit/>
          </a:bodyPr>
          <a:lstStyle/>
          <a:p>
            <a:pPr>
              <a:spcBef>
                <a:spcPts val="0"/>
              </a:spcBef>
              <a:spcAft>
                <a:spcPts val="0"/>
              </a:spcAft>
            </a:pPr>
            <a:r>
              <a:rPr sz="3000" b="1">
                <a:solidFill>
                  <a:srgbClr val="000000"/>
                </a:solidFill>
                <a:latin typeface="NVIDIA Sans"/>
              </a:rPr>
              <a:t>A text reply becomes a speaking avatar clip.</a:t>
            </a:r>
          </a:p>
        </p:txBody>
      </p:sp>
      <p:sp>
        <p:nvSpPr>
          <p:cNvPr id="33" name="Output label"/>
          <p:cNvSpPr txBox="1"/>
          <p:nvPr/>
        </p:nvSpPr>
        <p:spPr>
          <a:xfrm>
            <a:off x="21488400" y="10972800"/>
            <a:ext cx="13258800" cy="640080"/>
          </a:xfrm>
          <a:prstGeom prst="rect">
            <a:avLst/>
          </a:prstGeom>
          <a:noFill/>
        </p:spPr>
        <p:txBody>
          <a:bodyPr wrap="square" lIns="18288" rIns="18288" tIns="0" bIns="0">
            <a:spAutoFit/>
          </a:bodyPr>
          <a:lstStyle/>
          <a:p>
            <a:pPr>
              <a:spcBef>
                <a:spcPts val="0"/>
              </a:spcBef>
              <a:spcAft>
                <a:spcPts val="0"/>
              </a:spcAft>
            </a:pPr>
            <a:r>
              <a:rPr sz="3400" b="1">
                <a:solidFill>
                  <a:srgbClr val="000000"/>
                </a:solidFill>
                <a:latin typeface="NVIDIA Sans"/>
              </a:rPr>
              <a:t>Reference image</a:t>
            </a:r>
          </a:p>
        </p:txBody>
      </p:sp>
      <p:sp>
        <p:nvSpPr>
          <p:cNvPr id="35" name="Frame provenance"/>
          <p:cNvSpPr txBox="1"/>
          <p:nvPr/>
        </p:nvSpPr>
        <p:spPr>
          <a:xfrm>
            <a:off x="21488400" y="19312128"/>
            <a:ext cx="11704320" cy="457200"/>
          </a:xfrm>
          <a:prstGeom prst="rect">
            <a:avLst/>
          </a:prstGeom>
          <a:noFill/>
        </p:spPr>
        <p:txBody>
          <a:bodyPr wrap="square" lIns="18288" rIns="18288" tIns="0" bIns="0">
            <a:spAutoFit/>
          </a:bodyPr>
          <a:lstStyle/>
          <a:p>
            <a:pPr>
              <a:spcBef>
                <a:spcPts val="0"/>
              </a:spcBef>
              <a:spcAft>
                <a:spcPts val="0"/>
              </a:spcAft>
            </a:pPr>
            <a:r>
              <a:rPr sz="2300" b="0">
                <a:solidFill>
                  <a:srgbClr val="313131"/>
                </a:solidFill>
                <a:latin typeface="NVIDIA Sans"/>
              </a:rPr>
              <a:t>Input portrait supplied to H3</a:t>
            </a:r>
          </a:p>
        </p:txBody>
      </p:sp>
      <p:pic>
        <p:nvPicPr>
          <p:cNvPr id="36" name="Picture 35" descr="reference.png"/>
          <p:cNvPicPr>
            <a:picLocks noChangeAspect="1"/>
          </p:cNvPicPr>
          <p:nvPr/>
        </p:nvPicPr>
        <p:blipFill>
          <a:blip r:embed="rId5"/>
          <a:stretch>
            <a:fillRect/>
          </a:stretch>
        </p:blipFill>
        <p:spPr>
          <a:xfrm>
            <a:off x="21488400" y="11795760"/>
            <a:ext cx="12801600" cy="73152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17</a:t>
            </a:r>
          </a:p>
        </p:txBody>
      </p:sp>
      <p:sp>
        <p:nvSpPr>
          <p:cNvPr id="3" name="Text Placeholder 2"/>
          <p:cNvSpPr>
            <a:spLocks noGrp="1"/>
          </p:cNvSpPr>
          <p:nvPr>
            <p:ph type="body" idx="13" sz="quarter"/>
          </p:nvPr>
        </p:nvSpPr>
        <p:spPr/>
        <p:txBody>
          <a:bodyPr/>
          <a:lstStyle/>
          <a:p>
            <a:r>
              <a:t>The previous ending guides the next clip. Only new content is appended.</a:t>
            </a:r>
          </a:p>
        </p:txBody>
      </p:sp>
      <p:sp>
        <p:nvSpPr>
          <p:cNvPr id="4" name="Title 3"/>
          <p:cNvSpPr>
            <a:spLocks noGrp="1"/>
          </p:cNvSpPr>
          <p:nvPr>
            <p:ph type="title"/>
          </p:nvPr>
        </p:nvSpPr>
        <p:spPr/>
        <p:txBody>
          <a:bodyPr/>
          <a:lstStyle/>
          <a:p>
            <a:r>
              <a:t>Continuation: Two Clips, One Timeline</a:t>
            </a:r>
          </a:p>
        </p:txBody>
      </p:sp>
      <p:sp>
        <p:nvSpPr>
          <p:cNvPr id="5" name="Chunk A heading"/>
          <p:cNvSpPr txBox="1"/>
          <p:nvPr/>
        </p:nvSpPr>
        <p:spPr>
          <a:xfrm>
            <a:off x="1828800" y="4754880"/>
            <a:ext cx="15864840" cy="731520"/>
          </a:xfrm>
          <a:prstGeom prst="rect">
            <a:avLst/>
          </a:prstGeom>
          <a:noFill/>
        </p:spPr>
        <p:txBody>
          <a:bodyPr wrap="square" lIns="0" rIns="0" tIns="0" bIns="0">
            <a:spAutoFit/>
          </a:bodyPr>
          <a:lstStyle/>
          <a:p>
            <a:pPr>
              <a:spcBef>
                <a:spcPts val="0"/>
              </a:spcBef>
              <a:spcAft>
                <a:spcPts val="0"/>
              </a:spcAft>
            </a:pPr>
            <a:r>
              <a:rPr sz="3000" b="0">
                <a:solidFill>
                  <a:srgbClr val="000000"/>
                </a:solidFill>
                <a:latin typeface="NVIDIA Sans Medium"/>
              </a:rPr>
              <a:t>CHUNK A  /  LAST FRAME</a:t>
            </a:r>
          </a:p>
        </p:txBody>
      </p:sp>
      <p:sp>
        <p:nvSpPr>
          <p:cNvPr id="6" name="Chunk B heading"/>
          <p:cNvSpPr txBox="1"/>
          <p:nvPr/>
        </p:nvSpPr>
        <p:spPr>
          <a:xfrm>
            <a:off x="18882360" y="4754880"/>
            <a:ext cx="15864840" cy="731520"/>
          </a:xfrm>
          <a:prstGeom prst="rect">
            <a:avLst/>
          </a:prstGeom>
          <a:noFill/>
        </p:spPr>
        <p:txBody>
          <a:bodyPr wrap="square" lIns="0" rIns="0" tIns="0" bIns="0">
            <a:spAutoFit/>
          </a:bodyPr>
          <a:lstStyle/>
          <a:p>
            <a:pPr>
              <a:spcBef>
                <a:spcPts val="0"/>
              </a:spcBef>
              <a:spcAft>
                <a:spcPts val="0"/>
              </a:spcAft>
            </a:pPr>
            <a:r>
              <a:rPr sz="3000" b="0">
                <a:solidFill>
                  <a:srgbClr val="000000"/>
                </a:solidFill>
                <a:latin typeface="NVIDIA Sans Medium"/>
              </a:rPr>
              <a:t>CHUNK B  /  FIRST RETAINED FRAME</a:t>
            </a:r>
          </a:p>
        </p:txBody>
      </p:sp>
      <p:pic>
        <p:nvPicPr>
          <p:cNvPr id="7" name="Actual last frame of Chunk A" descr="clip-a-ending.png"/>
          <p:cNvPicPr>
            <a:picLocks noChangeAspect="1"/>
          </p:cNvPicPr>
          <p:nvPr/>
        </p:nvPicPr>
        <p:blipFill>
          <a:blip r:embed="rId3"/>
          <a:stretch>
            <a:fillRect/>
          </a:stretch>
        </p:blipFill>
        <p:spPr>
          <a:xfrm>
            <a:off x="1828800" y="5806440"/>
            <a:ext cx="15864840" cy="8990076"/>
          </a:xfrm>
          <a:prstGeom prst="rect">
            <a:avLst/>
          </a:prstGeom>
        </p:spPr>
      </p:pic>
      <p:pic>
        <p:nvPicPr>
          <p:cNvPr id="8" name="Actual first retained frame of Chunk B" descr="clip-b-start.png"/>
          <p:cNvPicPr>
            <a:picLocks noChangeAspect="1"/>
          </p:cNvPicPr>
          <p:nvPr/>
        </p:nvPicPr>
        <p:blipFill>
          <a:blip r:embed="rId4"/>
          <a:stretch>
            <a:fillRect/>
          </a:stretch>
        </p:blipFill>
        <p:spPr>
          <a:xfrm>
            <a:off x="18882360" y="5806440"/>
            <a:ext cx="15864840" cy="8990076"/>
          </a:xfrm>
          <a:prstGeom prst="rect">
            <a:avLst/>
          </a:prstGeom>
        </p:spPr>
      </p:pic>
      <p:sp>
        <p:nvSpPr>
          <p:cNvPr id="9" name="Playback heading"/>
          <p:cNvSpPr txBox="1"/>
          <p:nvPr/>
        </p:nvSpPr>
        <p:spPr>
          <a:xfrm>
            <a:off x="1828800" y="15681959"/>
            <a:ext cx="11887200" cy="594360"/>
          </a:xfrm>
          <a:prstGeom prst="rect">
            <a:avLst/>
          </a:prstGeom>
          <a:noFill/>
        </p:spPr>
        <p:txBody>
          <a:bodyPr wrap="square" lIns="0" rIns="0" tIns="0" bIns="0">
            <a:spAutoFit/>
          </a:bodyPr>
          <a:lstStyle/>
          <a:p>
            <a:pPr>
              <a:spcBef>
                <a:spcPts val="0"/>
              </a:spcBef>
              <a:spcAft>
                <a:spcPts val="0"/>
              </a:spcAft>
            </a:pPr>
            <a:r>
              <a:rPr sz="2800" b="0">
                <a:solidFill>
                  <a:srgbClr val="313131"/>
                </a:solidFill>
                <a:latin typeface="NVIDIA Sans"/>
              </a:rPr>
              <a:t>CONTINUOUS PLAYBACK</a:t>
            </a:r>
          </a:p>
        </p:txBody>
      </p:sp>
      <p:sp>
        <p:nvSpPr>
          <p:cNvPr id="10" name="Discarded B prefix"/>
          <p:cNvSpPr/>
          <p:nvPr/>
        </p:nvSpPr>
        <p:spPr>
          <a:xfrm>
            <a:off x="17949333" y="15727680"/>
            <a:ext cx="677333" cy="5029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Connector 10"/>
          <p:cNvCxnSpPr/>
          <p:nvPr/>
        </p:nvCxnSpPr>
        <p:spPr>
          <a:xfrm>
            <a:off x="17949333" y="15681959"/>
            <a:ext cx="677333" cy="594361"/>
          </a:xfrm>
          <a:prstGeom prst="line">
            <a:avLst/>
          </a:prstGeom>
          <a:ln w="254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17949333" y="15681959"/>
            <a:ext cx="677333" cy="594361"/>
          </a:xfrm>
          <a:prstGeom prst="line">
            <a:avLst/>
          </a:prstGeom>
          <a:ln w="25400">
            <a:solidFill>
              <a:srgbClr val="000000"/>
            </a:solidFill>
          </a:ln>
        </p:spPr>
        <p:style>
          <a:lnRef idx="2">
            <a:schemeClr val="accent1"/>
          </a:lnRef>
          <a:fillRef idx="0">
            <a:schemeClr val="accent1"/>
          </a:fillRef>
          <a:effectRef idx="1">
            <a:schemeClr val="accent1"/>
          </a:effectRef>
          <a:fontRef idx="minor">
            <a:schemeClr val="tx1"/>
          </a:fontRef>
        </p:style>
      </p:cxnSp>
      <p:sp>
        <p:nvSpPr>
          <p:cNvPr id="13" name="Trim label"/>
          <p:cNvSpPr txBox="1"/>
          <p:nvPr/>
        </p:nvSpPr>
        <p:spPr>
          <a:xfrm>
            <a:off x="19175306" y="15663672"/>
            <a:ext cx="15544800" cy="640080"/>
          </a:xfrm>
          <a:prstGeom prst="rect">
            <a:avLst/>
          </a:prstGeom>
          <a:noFill/>
        </p:spPr>
        <p:txBody>
          <a:bodyPr wrap="square" lIns="0" rIns="0" tIns="0" bIns="0">
            <a:spAutoFit/>
          </a:bodyPr>
          <a:lstStyle/>
          <a:p>
            <a:pPr>
              <a:spcBef>
                <a:spcPts val="0"/>
              </a:spcBef>
              <a:spcAft>
                <a:spcPts val="0"/>
              </a:spcAft>
            </a:pPr>
            <a:r>
              <a:rPr sz="2800" b="0">
                <a:solidFill>
                  <a:srgbClr val="000000"/>
                </a:solidFill>
                <a:latin typeface="NVIDIA Sans"/>
              </a:rPr>
              <a:t>Trim B’s overlapping start</a:t>
            </a:r>
          </a:p>
        </p:txBody>
      </p:sp>
      <p:sp>
        <p:nvSpPr>
          <p:cNvPr id="14" name="Playback A"/>
          <p:cNvSpPr/>
          <p:nvPr/>
        </p:nvSpPr>
        <p:spPr>
          <a:xfrm>
            <a:off x="1828800" y="16642080"/>
            <a:ext cx="16797866" cy="123444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Playback B"/>
          <p:cNvSpPr/>
          <p:nvPr/>
        </p:nvSpPr>
        <p:spPr>
          <a:xfrm>
            <a:off x="18626666" y="16642080"/>
            <a:ext cx="16120533" cy="123444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Join marker"/>
          <p:cNvSpPr/>
          <p:nvPr/>
        </p:nvSpPr>
        <p:spPr>
          <a:xfrm>
            <a:off x="18599234" y="16642080"/>
            <a:ext cx="54864" cy="1234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Playback A label"/>
          <p:cNvSpPr txBox="1"/>
          <p:nvPr/>
        </p:nvSpPr>
        <p:spPr>
          <a:xfrm>
            <a:off x="2286000" y="16962120"/>
            <a:ext cx="15883466" cy="73152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Medium"/>
              </a:rPr>
              <a:t>Chunk A · 5.167 s</a:t>
            </a:r>
          </a:p>
        </p:txBody>
      </p:sp>
      <p:sp>
        <p:nvSpPr>
          <p:cNvPr id="18" name="Playback B label"/>
          <p:cNvSpPr txBox="1"/>
          <p:nvPr/>
        </p:nvSpPr>
        <p:spPr>
          <a:xfrm>
            <a:off x="19083866" y="16962120"/>
            <a:ext cx="15206133" cy="731520"/>
          </a:xfrm>
          <a:prstGeom prst="rect">
            <a:avLst/>
          </a:prstGeom>
          <a:noFill/>
        </p:spPr>
        <p:txBody>
          <a:bodyPr wrap="square" lIns="0" rIns="0" tIns="0" bIns="0">
            <a:spAutoFit/>
          </a:bodyPr>
          <a:lstStyle/>
          <a:p>
            <a:pPr>
              <a:spcBef>
                <a:spcPts val="0"/>
              </a:spcBef>
              <a:spcAft>
                <a:spcPts val="0"/>
              </a:spcAft>
            </a:pPr>
            <a:r>
              <a:rPr sz="3400" b="0">
                <a:solidFill>
                  <a:srgbClr val="FFFFFF"/>
                </a:solidFill>
                <a:latin typeface="NVIDIA Sans Medium"/>
              </a:rPr>
              <a:t>Chunk B · +4.958 s</a:t>
            </a:r>
          </a:p>
        </p:txBody>
      </p:sp>
      <p:sp>
        <p:nvSpPr>
          <p:cNvPr id="19" name="Context principle"/>
          <p:cNvSpPr txBox="1"/>
          <p:nvPr/>
        </p:nvSpPr>
        <p:spPr>
          <a:xfrm>
            <a:off x="1828800" y="18608040"/>
            <a:ext cx="32918400" cy="731520"/>
          </a:xfrm>
          <a:prstGeom prst="rect">
            <a:avLst/>
          </a:prstGeom>
          <a:noFill/>
        </p:spPr>
        <p:txBody>
          <a:bodyPr wrap="square" lIns="0" rIns="0" tIns="0" bIns="0">
            <a:spAutoFit/>
          </a:bodyPr>
          <a:lstStyle/>
          <a:p>
            <a:pPr>
              <a:spcBef>
                <a:spcPts val="0"/>
              </a:spcBef>
              <a:spcAft>
                <a:spcPts val="0"/>
              </a:spcAft>
            </a:pPr>
            <a:r>
              <a:rPr sz="2800" b="0">
                <a:solidFill>
                  <a:srgbClr val="313131"/>
                </a:solidFill>
                <a:latin typeface="NVIDIA Sans"/>
              </a:rPr>
              <a:t>Recent audio–video context conditions the next generation; matching audio is trimmed with the overlap.</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1828800" y="914400"/>
            <a:ext cx="32918400" cy="2057400"/>
          </a:xfrm>
          <a:prstGeom prst="rect">
            <a:avLst/>
          </a:prstGeom>
          <a:noFill/>
        </p:spPr>
        <p:txBody>
          <a:bodyPr wrap="square" lIns="18288" rIns="18288" tIns="0" bIns="0">
            <a:spAutoFit/>
          </a:bodyPr>
          <a:lstStyle/>
          <a:p>
            <a:pPr>
              <a:spcBef>
                <a:spcPts val="0"/>
              </a:spcBef>
              <a:spcAft>
                <a:spcPts val="0"/>
              </a:spcAft>
            </a:pPr>
            <a:r>
              <a:rPr sz="7000" b="1">
                <a:solidFill>
                  <a:srgbClr val="000000"/>
                </a:solidFill>
                <a:latin typeface="NVIDIA Sans"/>
              </a:rPr>
              <a:t>Live Avatar: Recorded Conversation</a:t>
            </a:r>
          </a:p>
        </p:txBody>
      </p:sp>
      <p:sp>
        <p:nvSpPr>
          <p:cNvPr id="3" name="Subtitle"/>
          <p:cNvSpPr txBox="1"/>
          <p:nvPr/>
        </p:nvSpPr>
        <p:spPr>
          <a:xfrm>
            <a:off x="1828800" y="3200400"/>
            <a:ext cx="32918400" cy="1097280"/>
          </a:xfrm>
          <a:prstGeom prst="rect">
            <a:avLst/>
          </a:prstGeom>
          <a:noFill/>
        </p:spPr>
        <p:txBody>
          <a:bodyPr wrap="square" lIns="18288" rIns="18288" tIns="0" bIns="0">
            <a:spAutoFit/>
          </a:bodyPr>
          <a:lstStyle/>
          <a:p>
            <a:pPr>
              <a:spcBef>
                <a:spcPts val="0"/>
              </a:spcBef>
              <a:spcAft>
                <a:spcPts val="0"/>
              </a:spcAft>
            </a:pPr>
            <a:r>
              <a:rPr sz="3300" b="0">
                <a:solidFill>
                  <a:srgbClr val="313131"/>
                </a:solidFill>
                <a:latin typeface="NVIDIA Sans"/>
              </a:rPr>
              <a:t>74.55 seconds · user-recorded microphone conversation · native H3 audio + video</a:t>
            </a:r>
          </a:p>
        </p:txBody>
      </p:sp>
      <p:sp>
        <p:nvSpPr>
          <p:cNvPr id="4" name="Slide number"/>
          <p:cNvSpPr txBox="1"/>
          <p:nvPr/>
        </p:nvSpPr>
        <p:spPr>
          <a:xfrm>
            <a:off x="914400" y="19385280"/>
            <a:ext cx="914400" cy="640080"/>
          </a:xfrm>
          <a:prstGeom prst="rect">
            <a:avLst/>
          </a:prstGeom>
          <a:noFill/>
        </p:spPr>
        <p:txBody>
          <a:bodyPr wrap="square" lIns="18288" rIns="18288" tIns="0" bIns="0">
            <a:spAutoFit/>
          </a:bodyPr>
          <a:lstStyle/>
          <a:p>
            <a:pPr>
              <a:spcBef>
                <a:spcPts val="0"/>
              </a:spcBef>
              <a:spcAft>
                <a:spcPts val="0"/>
              </a:spcAft>
            </a:pPr>
            <a:r>
              <a:rPr sz="2400" b="0">
                <a:solidFill>
                  <a:srgbClr val="000000"/>
                </a:solidFill>
                <a:latin typeface="NVIDIA Sans"/>
              </a:rPr>
              <a:t>18</a:t>
            </a:r>
          </a:p>
        </p:txBody>
      </p:sp>
      <p:pic>
        <p:nvPicPr>
          <p:cNvPr id="5" name="live-avatar-recording.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6761139" y="4754880"/>
            <a:ext cx="23053720" cy="13258800"/>
          </a:xfrm>
          <a:prstGeom prst="rect">
            <a:avLst/>
          </a:prstGeom>
        </p:spPr>
      </p:pic>
      <p:sp>
        <p:nvSpPr>
          <p:cNvPr id="6" name="Recording footer"/>
          <p:cNvSpPr txBox="1"/>
          <p:nvPr/>
        </p:nvSpPr>
        <p:spPr>
          <a:xfrm>
            <a:off x="1828800" y="18562320"/>
            <a:ext cx="32918400" cy="73152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Play the recorded interaction · fullscreen avatar, live captions and timing overlays</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5"/>
                </p:tgtEl>
              </p:cMediaNode>
            </p:video>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19</a:t>
            </a:r>
          </a:p>
        </p:txBody>
      </p:sp>
      <p:sp>
        <p:nvSpPr>
          <p:cNvPr id="3" name="Text Placeholder 2"/>
          <p:cNvSpPr>
            <a:spLocks noGrp="1"/>
          </p:cNvSpPr>
          <p:nvPr>
            <p:ph type="body" idx="13" sz="quarter"/>
          </p:nvPr>
        </p:nvSpPr>
        <p:spPr/>
        <p:txBody>
          <a:bodyPr/>
          <a:lstStyle/>
          <a:p/>
        </p:txBody>
      </p:sp>
      <p:sp>
        <p:nvSpPr>
          <p:cNvPr id="4" name="Title 3"/>
          <p:cNvSpPr>
            <a:spLocks noGrp="1"/>
          </p:cNvSpPr>
          <p:nvPr>
            <p:ph type="title"/>
          </p:nvPr>
        </p:nvSpPr>
        <p:spPr/>
        <p:txBody>
          <a:bodyPr/>
          <a:lstStyle/>
          <a:p>
            <a:r>
              <a:t>Takeaways</a:t>
            </a:r>
          </a:p>
        </p:txBody>
      </p:sp>
      <p:sp>
        <p:nvSpPr>
          <p:cNvPr id="5" name="Takeaway number 1"/>
          <p:cNvSpPr txBox="1"/>
          <p:nvPr/>
        </p:nvSpPr>
        <p:spPr>
          <a:xfrm>
            <a:off x="1828800" y="5084064"/>
            <a:ext cx="1828800" cy="822960"/>
          </a:xfrm>
          <a:prstGeom prst="rect">
            <a:avLst/>
          </a:prstGeom>
          <a:noFill/>
        </p:spPr>
        <p:txBody>
          <a:bodyPr wrap="square" lIns="0" rIns="0" tIns="0" bIns="0">
            <a:spAutoFit/>
          </a:bodyPr>
          <a:lstStyle/>
          <a:p>
            <a:pPr>
              <a:spcBef>
                <a:spcPts val="0"/>
              </a:spcBef>
              <a:spcAft>
                <a:spcPts val="0"/>
              </a:spcAft>
            </a:pPr>
            <a:r>
              <a:rPr sz="4400" b="0">
                <a:solidFill>
                  <a:srgbClr val="76B900"/>
                </a:solidFill>
                <a:latin typeface="NVIDIA Sans Medium"/>
              </a:rPr>
              <a:t>01</a:t>
            </a:r>
          </a:p>
        </p:txBody>
      </p:sp>
      <p:sp>
        <p:nvSpPr>
          <p:cNvPr id="6" name="Takeaway title 1"/>
          <p:cNvSpPr txBox="1"/>
          <p:nvPr/>
        </p:nvSpPr>
        <p:spPr>
          <a:xfrm>
            <a:off x="3931920" y="5029200"/>
            <a:ext cx="30815280" cy="960120"/>
          </a:xfrm>
          <a:prstGeom prst="rect">
            <a:avLst/>
          </a:prstGeom>
          <a:noFill/>
        </p:spPr>
        <p:txBody>
          <a:bodyPr wrap="square" lIns="0" rIns="0" tIns="0" bIns="0">
            <a:spAutoFit/>
          </a:bodyPr>
          <a:lstStyle/>
          <a:p>
            <a:pPr>
              <a:spcBef>
                <a:spcPts val="0"/>
              </a:spcBef>
              <a:spcAft>
                <a:spcPts val="0"/>
              </a:spcAft>
            </a:pPr>
            <a:r>
              <a:rPr sz="4800" b="0">
                <a:solidFill>
                  <a:srgbClr val="000000"/>
                </a:solidFill>
                <a:latin typeface="NVIDIA Sans Medium"/>
              </a:rPr>
              <a:t>Multi-GPU optimization starts with topology</a:t>
            </a:r>
          </a:p>
        </p:txBody>
      </p:sp>
      <p:sp>
        <p:nvSpPr>
          <p:cNvPr id="7" name="Takeaway body 1"/>
          <p:cNvSpPr txBox="1"/>
          <p:nvPr/>
        </p:nvSpPr>
        <p:spPr>
          <a:xfrm>
            <a:off x="3931920" y="6355080"/>
            <a:ext cx="30815280" cy="2468880"/>
          </a:xfrm>
          <a:prstGeom prst="rect">
            <a:avLst/>
          </a:prstGeom>
          <a:noFill/>
        </p:spPr>
        <p:txBody>
          <a:bodyPr wrap="square" lIns="0" rIns="0" tIns="0" bIns="0">
            <a:spAutoFit/>
          </a:bodyPr>
          <a:lstStyle/>
          <a:p>
            <a:pPr>
              <a:spcBef>
                <a:spcPts val="0"/>
              </a:spcBef>
              <a:spcAft>
                <a:spcPts val="0"/>
              </a:spcAft>
            </a:pPr>
            <a:r>
              <a:rPr sz="3600" b="0">
                <a:solidFill>
                  <a:srgbClr val="000000"/>
                </a:solidFill>
                <a:latin typeface="NVIDIA Sans"/>
              </a:rPr>
              <a:t>Map GPU/NIC links and locate communication bottlenecks.</a:t>
            </a:r>
          </a:p>
          <a:p>
            <a:pPr>
              <a:spcBef>
                <a:spcPts val="0"/>
              </a:spcBef>
              <a:spcAft>
                <a:spcPts val="0"/>
              </a:spcAft>
            </a:pPr>
            <a:r>
              <a:rPr sz="3600" b="0">
                <a:solidFill>
                  <a:srgbClr val="000000"/>
                </a:solidFill>
                <a:latin typeface="NVIDIA Sans"/>
              </a:rPr>
              <a:t>Use available bandwidth efficiently, or reduce data transfer.</a:t>
            </a:r>
          </a:p>
          <a:p>
            <a:pPr>
              <a:spcBef>
                <a:spcPts val="0"/>
              </a:spcBef>
              <a:spcAft>
                <a:spcPts val="0"/>
              </a:spcAft>
            </a:pPr>
            <a:r>
              <a:rPr sz="3600" b="0">
                <a:solidFill>
                  <a:srgbClr val="000000"/>
                </a:solidFill>
                <a:latin typeface="NVIDIA Sans"/>
              </a:rPr>
              <a:t>Communication is a key source of lossless speedups.</a:t>
            </a:r>
          </a:p>
        </p:txBody>
      </p:sp>
      <p:sp>
        <p:nvSpPr>
          <p:cNvPr id="8" name="Takeaway number 2"/>
          <p:cNvSpPr txBox="1"/>
          <p:nvPr/>
        </p:nvSpPr>
        <p:spPr>
          <a:xfrm>
            <a:off x="1828800" y="10021824"/>
            <a:ext cx="1828800" cy="822960"/>
          </a:xfrm>
          <a:prstGeom prst="rect">
            <a:avLst/>
          </a:prstGeom>
          <a:noFill/>
        </p:spPr>
        <p:txBody>
          <a:bodyPr wrap="square" lIns="0" rIns="0" tIns="0" bIns="0">
            <a:spAutoFit/>
          </a:bodyPr>
          <a:lstStyle/>
          <a:p>
            <a:pPr>
              <a:spcBef>
                <a:spcPts val="0"/>
              </a:spcBef>
              <a:spcAft>
                <a:spcPts val="0"/>
              </a:spcAft>
            </a:pPr>
            <a:r>
              <a:rPr sz="4400" b="0">
                <a:solidFill>
                  <a:srgbClr val="76B900"/>
                </a:solidFill>
                <a:latin typeface="NVIDIA Sans Medium"/>
              </a:rPr>
              <a:t>02</a:t>
            </a:r>
          </a:p>
        </p:txBody>
      </p:sp>
      <p:sp>
        <p:nvSpPr>
          <p:cNvPr id="9" name="Takeaway title 2"/>
          <p:cNvSpPr txBox="1"/>
          <p:nvPr/>
        </p:nvSpPr>
        <p:spPr>
          <a:xfrm>
            <a:off x="3931920" y="9966960"/>
            <a:ext cx="30815280" cy="960120"/>
          </a:xfrm>
          <a:prstGeom prst="rect">
            <a:avLst/>
          </a:prstGeom>
          <a:noFill/>
        </p:spPr>
        <p:txBody>
          <a:bodyPr wrap="square" lIns="0" rIns="0" tIns="0" bIns="0">
            <a:spAutoFit/>
          </a:bodyPr>
          <a:lstStyle/>
          <a:p>
            <a:pPr>
              <a:spcBef>
                <a:spcPts val="0"/>
              </a:spcBef>
              <a:spcAft>
                <a:spcPts val="0"/>
              </a:spcAft>
            </a:pPr>
            <a:r>
              <a:rPr sz="4800" b="0">
                <a:solidFill>
                  <a:srgbClr val="000000"/>
                </a:solidFill>
                <a:latin typeface="NVIDIA Sans Medium"/>
              </a:rPr>
              <a:t>Evaluate quantization case by case</a:t>
            </a:r>
          </a:p>
        </p:txBody>
      </p:sp>
      <p:sp>
        <p:nvSpPr>
          <p:cNvPr id="10" name="Takeaway body 2"/>
          <p:cNvSpPr txBox="1"/>
          <p:nvPr/>
        </p:nvSpPr>
        <p:spPr>
          <a:xfrm>
            <a:off x="3931920" y="11292840"/>
            <a:ext cx="30815280" cy="2468880"/>
          </a:xfrm>
          <a:prstGeom prst="rect">
            <a:avLst/>
          </a:prstGeom>
          <a:noFill/>
        </p:spPr>
        <p:txBody>
          <a:bodyPr wrap="square" lIns="0" rIns="0" tIns="0" bIns="0">
            <a:spAutoFit/>
          </a:bodyPr>
          <a:lstStyle/>
          <a:p>
            <a:pPr>
              <a:spcBef>
                <a:spcPts val="0"/>
              </a:spcBef>
              <a:spcAft>
                <a:spcPts val="0"/>
              </a:spcAft>
            </a:pPr>
            <a:r>
              <a:rPr sz="3600" b="0">
                <a:solidFill>
                  <a:srgbClr val="000000"/>
                </a:solidFill>
                <a:latin typeface="NVIDIA Sans"/>
              </a:rPr>
              <a:t>Lossy quantization behaves differently across models and workloads.</a:t>
            </a:r>
          </a:p>
          <a:p>
            <a:pPr>
              <a:spcBef>
                <a:spcPts val="0"/>
              </a:spcBef>
              <a:spcAft>
                <a:spcPts val="0"/>
              </a:spcAft>
            </a:pPr>
            <a:r>
              <a:rPr sz="3600" b="0">
                <a:solidFill>
                  <a:srgbClr val="000000"/>
                </a:solidFill>
                <a:latin typeface="NVIDIA Sans"/>
              </a:rPr>
              <a:t>Measure quality and latency on representative cases.</a:t>
            </a:r>
          </a:p>
        </p:txBody>
      </p:sp>
      <p:sp>
        <p:nvSpPr>
          <p:cNvPr id="11" name="Takeaway number 3"/>
          <p:cNvSpPr txBox="1"/>
          <p:nvPr/>
        </p:nvSpPr>
        <p:spPr>
          <a:xfrm>
            <a:off x="1828800" y="14685263"/>
            <a:ext cx="1828800" cy="822960"/>
          </a:xfrm>
          <a:prstGeom prst="rect">
            <a:avLst/>
          </a:prstGeom>
          <a:noFill/>
        </p:spPr>
        <p:txBody>
          <a:bodyPr wrap="square" lIns="0" rIns="0" tIns="0" bIns="0">
            <a:spAutoFit/>
          </a:bodyPr>
          <a:lstStyle/>
          <a:p>
            <a:pPr>
              <a:spcBef>
                <a:spcPts val="0"/>
              </a:spcBef>
              <a:spcAft>
                <a:spcPts val="0"/>
              </a:spcAft>
            </a:pPr>
            <a:r>
              <a:rPr sz="4400" b="0">
                <a:solidFill>
                  <a:srgbClr val="76B900"/>
                </a:solidFill>
                <a:latin typeface="NVIDIA Sans Medium"/>
              </a:rPr>
              <a:t>03</a:t>
            </a:r>
          </a:p>
        </p:txBody>
      </p:sp>
      <p:sp>
        <p:nvSpPr>
          <p:cNvPr id="12" name="Takeaway title 3"/>
          <p:cNvSpPr txBox="1"/>
          <p:nvPr/>
        </p:nvSpPr>
        <p:spPr>
          <a:xfrm>
            <a:off x="3931920" y="14630400"/>
            <a:ext cx="30815280" cy="960120"/>
          </a:xfrm>
          <a:prstGeom prst="rect">
            <a:avLst/>
          </a:prstGeom>
          <a:noFill/>
        </p:spPr>
        <p:txBody>
          <a:bodyPr wrap="square" lIns="0" rIns="0" tIns="0" bIns="0">
            <a:spAutoFit/>
          </a:bodyPr>
          <a:lstStyle/>
          <a:p>
            <a:pPr>
              <a:spcBef>
                <a:spcPts val="0"/>
              </a:spcBef>
              <a:spcAft>
                <a:spcPts val="0"/>
              </a:spcAft>
            </a:pPr>
            <a:r>
              <a:rPr sz="4800" b="0">
                <a:solidFill>
                  <a:srgbClr val="000000"/>
                </a:solidFill>
                <a:latin typeface="NVIDIA Sans Medium"/>
              </a:rPr>
              <a:t>Next: real-time response and richer interaction</a:t>
            </a:r>
          </a:p>
        </p:txBody>
      </p:sp>
      <p:sp>
        <p:nvSpPr>
          <p:cNvPr id="13" name="Takeaway body 3"/>
          <p:cNvSpPr txBox="1"/>
          <p:nvPr/>
        </p:nvSpPr>
        <p:spPr>
          <a:xfrm>
            <a:off x="3931920" y="15956280"/>
            <a:ext cx="30815280" cy="2468880"/>
          </a:xfrm>
          <a:prstGeom prst="rect">
            <a:avLst/>
          </a:prstGeom>
          <a:noFill/>
        </p:spPr>
        <p:txBody>
          <a:bodyPr wrap="square" lIns="0" rIns="0" tIns="0" bIns="0">
            <a:spAutoFit/>
          </a:bodyPr>
          <a:lstStyle/>
          <a:p>
            <a:pPr>
              <a:spcBef>
                <a:spcPts val="0"/>
              </a:spcBef>
              <a:spcAft>
                <a:spcPts val="0"/>
              </a:spcAft>
            </a:pPr>
            <a:r>
              <a:rPr sz="3600" b="0">
                <a:solidFill>
                  <a:srgbClr val="000000"/>
                </a:solidFill>
                <a:latin typeface="NVIDIA Sans"/>
              </a:rPr>
              <a:t>Autoregressive diffusion for lower response latency.</a:t>
            </a:r>
          </a:p>
          <a:p>
            <a:pPr>
              <a:spcBef>
                <a:spcPts val="0"/>
              </a:spcBef>
              <a:spcAft>
                <a:spcPts val="0"/>
              </a:spcAft>
            </a:pPr>
            <a:r>
              <a:rPr sz="3600" b="0">
                <a:solidFill>
                  <a:srgbClr val="000000"/>
                </a:solidFill>
                <a:latin typeface="NVIDIA Sans"/>
              </a:rPr>
              <a:t>Prompt enhancers for richer interaction.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name="NVIDIA26_Corp Template_LIGHT_v2">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0" rIns="0" rtlCol="0" anchor="ctr"/>
      <a:lstStyle>
        <a:defPPr algn="ctr">
          <a:defRPr sz="3200" dirty="0" smtClean="0">
            <a:solidFill>
              <a:schemeClr val="tx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w="38100">
          <a:solidFill>
            <a:schemeClr val="tx1"/>
          </a:solidFill>
          <a:headEnd w="lg" len="lg"/>
          <a:tailEnd type="triangle" w="lg" len="lg"/>
        </a:ln>
      </a:spPr>
      <a:bodyPr/>
      <a:lstStyle/>
      <a:style>
        <a:lnRef idx="2">
          <a:schemeClr val="accent1"/>
        </a:lnRef>
        <a:fillRef idx="0">
          <a:schemeClr val="accent1"/>
        </a:fillRef>
        <a:effectRef idx="1">
          <a:schemeClr val="accent1"/>
        </a:effectRef>
        <a:fontRef idx="minor">
          <a:schemeClr val="tx1"/>
        </a:fontRef>
      </a:style>
    </a:lnDef>
    <a:txDef>
      <a:spPr>
        <a:noFill/>
      </a:spPr>
      <a:bodyPr wrap="none" rtlCol="0">
        <a:spAutoFit/>
      </a:bodyPr>
      <a:lstStyle>
        <a:defPPr algn="l">
          <a:lnSpc>
            <a:spcPct val="90000"/>
          </a:lnSpc>
          <a:spcBef>
            <a:spcPts val="800"/>
          </a:spcBef>
          <a:spcAft>
            <a:spcPts val="800"/>
          </a:spcAft>
          <a:defRPr sz="4400" kern="100" dirty="0" smtClean="0"/>
        </a:defPPr>
      </a:lstStyle>
    </a:txDef>
  </a:objectDefaults>
  <a:extraClrSchemeLst/>
  <a:extLst>
    <a:ext uri="{05A4C25C-085E-4340-85A3-A5531E510DB2}">
      <thm15:themeFamily xmlns:thm15="http://schemas.microsoft.com/office/thememl/2012/main" name="NVIDIA_PPT_Light_External_v2.potx" id="{89D8623C-2635-485F-9CA6-5E5546024BA4}" vid="{EC5B26FE-8EF1-484B-8617-0D0B03B15F25}"/>
    </a:ext>
  </a:extLst>
</a:theme>
</file>

<file path=ppt/theme/theme2.xml><?xml version="1.0" encoding="utf-8"?>
<a:theme xmlns:a="http://schemas.openxmlformats.org/drawingml/2006/main" name="Office Theme">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FD8A66332A4B643BA3F21C52B2B93D0" ma:contentTypeVersion="4" ma:contentTypeDescription="Create a new document." ma:contentTypeScope="" ma:versionID="8decfa97248364fabb228738731d1da1">
  <xsd:schema xmlns:xsd="http://www.w3.org/2001/XMLSchema" xmlns:xs="http://www.w3.org/2001/XMLSchema" xmlns:p="http://schemas.microsoft.com/office/2006/metadata/properties" xmlns:ns2="7a9fe218-95ae-41b4-8786-2f7d21b2ee85" targetNamespace="http://schemas.microsoft.com/office/2006/metadata/properties" ma:root="true" ma:fieldsID="d8702d7798b6dde85716cd96fe22432a" ns2:_="">
    <xsd:import namespace="7a9fe218-95ae-41b4-8786-2f7d21b2ee8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a9fe218-95ae-41b4-8786-2f7d21b2ee8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BB32034-B9C2-45E1-BAA9-50B92CAE0F3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a9fe218-95ae-41b4-8786-2f7d21b2ee8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36BE7EB-3103-4BD6-89FC-147281D24011}">
  <ds:schemaRefs>
    <ds:schemaRef ds:uri="http://schemas.microsoft.com/sharepoint/v3/contenttype/forms"/>
  </ds:schemaRefs>
</ds:datastoreItem>
</file>

<file path=customXml/itemProps3.xml><?xml version="1.0" encoding="utf-8"?>
<ds:datastoreItem xmlns:ds="http://schemas.openxmlformats.org/officeDocument/2006/customXml" ds:itemID="{24018C0D-B231-48D3-BF16-B7FF90AABA23}">
  <ds:schemaRefs>
    <ds:schemaRef ds:uri="http://schemas.microsoft.com/office/2006/metadata/properties"/>
    <ds:schemaRef ds:uri="http://schemas.microsoft.com/office/infopath/2007/PartnerControls"/>
  </ds:schemaRefs>
</ds:datastoreItem>
</file>

<file path=docMetadata/LabelInfo.xml><?xml version="1.0" encoding="utf-8"?>
<clbl:labelList xmlns:clbl="http://schemas.microsoft.com/office/2020/mipLabelMetadata">
  <clbl:label id="{43083d15-7273-40c1-b7db-39efd9ccc17a}" enabled="0" method="" siteId="{43083d15-7273-40c1-b7db-39efd9ccc17a}" removed="1"/>
</clbl:labelList>
</file>

<file path=docProps/app.xml><?xml version="1.0" encoding="utf-8"?>
<Properties xmlns="http://schemas.openxmlformats.org/officeDocument/2006/extended-properties" xmlns:vt="http://schemas.openxmlformats.org/officeDocument/2006/docPropsVTypes">
  <Template>NVIDIA26_Corp Template_LIGHT_v2</Template>
  <TotalTime>0</TotalTime>
  <Words>1883</Words>
  <Application>Microsoft Macintosh PowerPoint</Application>
  <PresentationFormat>自定义</PresentationFormat>
  <Paragraphs>441</Paragraphs>
  <Slides>58</Slides>
  <Notes>6</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58</vt:i4>
      </vt:variant>
    </vt:vector>
  </HeadingPairs>
  <TitlesOfParts>
    <vt:vector size="63" baseType="lpstr">
      <vt:lpstr>NVIDIA Sans</vt:lpstr>
      <vt:lpstr>NVIDIA Sans Medium</vt:lpstr>
      <vt:lpstr>Roboto Mono</vt:lpstr>
      <vt:lpstr>Roboto Mono Medium</vt:lpstr>
      <vt:lpstr>NVIDIA26_Corp Template_LIGHT_v2</vt:lpstr>
      <vt:lpstr>PowerPoint 演示文稿</vt:lpstr>
      <vt:lpstr>Helpful Resources</vt:lpstr>
      <vt:lpstr>PowerPoint 演示文稿</vt:lpstr>
      <vt:lpstr>PowerPoint 演示文稿</vt:lpstr>
      <vt:lpstr>PowerPoint 演示文稿</vt:lpstr>
      <vt:lpstr>PowerPoint 演示文稿</vt:lpstr>
      <vt:lpstr>Long or short—inspiring quote goes here up to multiple lines of text and should be followed with source credit.”</vt:lpstr>
      <vt:lpstr>Speaker Highlight</vt:lpstr>
      <vt:lpstr>Slide Layout  With No Subtitle</vt:lpstr>
      <vt:lpstr>Slide Title Goes Here</vt:lpstr>
      <vt:lpstr>Confidential Slides</vt:lpstr>
      <vt:lpstr>Confidential Watermark</vt:lpstr>
      <vt:lpstr>Single-Column Layout</vt:lpstr>
      <vt:lpstr>Two-Column Layout</vt:lpstr>
      <vt:lpstr>NVIDIA Coding Slide</vt:lpstr>
      <vt:lpstr>Customer Success Story and Use Case Example</vt:lpstr>
      <vt:lpstr>Stack Diagram Example</vt:lpstr>
      <vt:lpstr>Column Chart Example</vt:lpstr>
      <vt:lpstr>Column Chart Example</vt:lpstr>
      <vt:lpstr>Column Chart Example</vt:lpstr>
      <vt:lpstr>Column Chart Example</vt:lpstr>
      <vt:lpstr>Combo Chart Example</vt:lpstr>
      <vt:lpstr>Line Chart Example</vt:lpstr>
      <vt:lpstr>Doughnut Chart Example</vt:lpstr>
      <vt:lpstr>Doughnut Chart Example</vt:lpstr>
      <vt:lpstr>Doughnut Chart Example</vt:lpstr>
      <vt:lpstr>Doughnut Chart Example</vt:lpstr>
      <vt:lpstr>Table Example</vt:lpstr>
      <vt:lpstr>Icon Layout</vt:lpstr>
      <vt:lpstr>Stats Example</vt:lpstr>
      <vt:lpstr>One-up Layout</vt:lpstr>
      <vt:lpstr>One-up Layout Alternative</vt:lpstr>
      <vt:lpstr>One-up Layout Alternative</vt:lpstr>
      <vt:lpstr>One-up Layout Heavy Content</vt:lpstr>
      <vt:lpstr>Two-up Layout</vt:lpstr>
      <vt:lpstr>Two-up Layout</vt:lpstr>
      <vt:lpstr>Three-up Layout</vt:lpstr>
      <vt:lpstr>Three-up Layout</vt:lpstr>
      <vt:lpstr>Four-up Layout</vt:lpstr>
      <vt:lpstr>Four-up Layout</vt:lpstr>
      <vt:lpstr>Four-up Layout Alternative</vt:lpstr>
      <vt:lpstr>Four-up Layout Alternative</vt:lpstr>
      <vt:lpstr>Five-up Layout</vt:lpstr>
      <vt:lpstr>Six-up Layout</vt:lpstr>
      <vt:lpstr>Seven-up Layout</vt:lpstr>
      <vt:lpstr>Eight-up Layout</vt:lpstr>
      <vt:lpstr>Nine-up Layout</vt:lpstr>
      <vt:lpstr>Ten-up Layout</vt:lpstr>
      <vt:lpstr>Montage / Image Showcase</vt:lpstr>
      <vt:lpstr>PowerPoint 演示文稿</vt:lpstr>
      <vt:lpstr>PowerPoint 演示文稿</vt:lpstr>
      <vt:lpstr>Demo Title Goes Here</vt:lpstr>
      <vt:lpstr>Progression</vt:lpstr>
      <vt:lpstr>Timeline</vt:lpstr>
      <vt:lpstr>Image Timeline</vt:lpstr>
      <vt:lpstr>World Map</vt:lpstr>
      <vt:lpstr>World Map</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Real-Time MiniMax H3 Generation and vLLM-Omni ComfyUI Applications</dc:title>
  <dc:subject>Public technical brief on real-time distributed video generation and ComfyUI applications</dc:subject>
  <dc:creator>Shunyang Li</dc:creator>
  <cp:keywords>MiniMax H3, vLLM-Omni, NVIDIA RTX PRO, GPUDirect RDMA, CUDA Graph, VSA</cp:keywords>
  <dc:description/>
  <cp:lastModifiedBy>Shunyang Li</cp:lastModifiedBy>
  <cp:revision>1</cp:revision>
  <dcterms:created xsi:type="dcterms:W3CDTF">2026-10-22T18:06:46Z</dcterms:created>
  <dcterms:modified xsi:type="dcterms:W3CDTF">2026-10-22T18:07:42Z</dcterms:modified>
  <cp:category/>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0x010100AFD8A66332A4B643BA3F21C52B2B93D0</vt:lpwstr>
  </property>
</Properties>
</file>