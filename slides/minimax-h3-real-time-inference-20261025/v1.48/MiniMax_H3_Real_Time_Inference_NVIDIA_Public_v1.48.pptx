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7" r:id="rId89"/>
    <p:sldId id="348" r:id="rId90"/>
    <p:sldId id="364" r:id="rId48"/>
    <p:sldId id="363" r:id="rId47"/>
    <p:sldId id="353" r:id="rId95"/>
    <p:sldId id="354" r:id="rId96"/>
    <p:sldId id="355" r:id="rId97"/>
    <p:sldId id="361" r:id="rId45"/>
    <p:sldId id="368" r:id="rId51"/>
    <p:sldId id="369" r:id="rId49"/>
    <p:sldId id="357" r:id="rId99"/>
    <p:sldId id="370" r:id="rId44"/>
    <p:sldId id="372" r:id="rId42"/>
    <p:sldId id="371" r:id="rId43"/>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2" Type="http://schemas.openxmlformats.org/officeDocument/2006/relationships/slide" Target="slides/slide19.xml"/><Relationship Id="rId43" Type="http://schemas.openxmlformats.org/officeDocument/2006/relationships/slide" Target="slides/slide20.xml"/><Relationship Id="rId44" Type="http://schemas.openxmlformats.org/officeDocument/2006/relationships/slide" Target="slides/slide18.xml"/><Relationship Id="rId45" Type="http://schemas.openxmlformats.org/officeDocument/2006/relationships/slide" Target="slides/slide14.xml"/><Relationship Id="rId47" Type="http://schemas.openxmlformats.org/officeDocument/2006/relationships/slide" Target="slides/slide10.xml"/><Relationship Id="rId48" Type="http://schemas.openxmlformats.org/officeDocument/2006/relationships/slide" Target="slides/slide9.xml"/><Relationship Id="rId49" Type="http://schemas.openxmlformats.org/officeDocument/2006/relationships/slide" Target="slides/slide16.xml"/><Relationship Id="rId51" Type="http://schemas.openxmlformats.org/officeDocument/2006/relationships/slide" Target="slides/slide15.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9" Type="http://schemas.openxmlformats.org/officeDocument/2006/relationships/slide" Target="slides/slide7.xml"/><Relationship Id="rId90" Type="http://schemas.openxmlformats.org/officeDocument/2006/relationships/slide" Target="slides/slide8.xml"/><Relationship Id="rId95" Type="http://schemas.openxmlformats.org/officeDocument/2006/relationships/slide" Target="slides/slide11.xml"/><Relationship Id="rId96" Type="http://schemas.openxmlformats.org/officeDocument/2006/relationships/slide" Target="slides/slide12.xml"/><Relationship Id="rId97" Type="http://schemas.openxmlformats.org/officeDocument/2006/relationships/slide" Target="slides/slide13.xml"/><Relationship Id="rId99" Type="http://schemas.openxmlformats.org/officeDocument/2006/relationships/slide" Target="slides/slide17.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6.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explains the actual rolling demo implementation as a schematic, not a new benchmark or a guarantee of seamless long-term quality.</a:t>
            </a:r>
          </a:p>
          <a:p>
            <a:r>
              <a:t>Each request generates 124 frames at 24 FPS. Window starts are 0, 119, 238. The first request emits all 124 frames. Subsequent requests remove five overlapping frames and corresponding decoded audio, yielding 119 new frames.</a:t>
            </a:r>
          </a:p>
          <a:p>
            <a:r>
              <a:t>The previous completed request retains only its last two video latent slices and an aligned audio latent tail. These are appended to existing visual/audio conditioning for the next request.</a:t>
            </a:r>
          </a:p>
          <a:p>
            <a:r>
              <a:t>The reference image and voice remain inputs. The next prompt may contain a new English reply or quiet listening instructions.</a:t>
            </a:r>
          </a:p>
          <a:p>
            <a:r>
              <a:t>In the interactive demo the video guide mixes 80 percent retained history and 20 percent seeded noise. The audio guide stays clean. Target video and audio prefix clamping are off.</a:t>
            </a:r>
          </a:p>
          <a:p>
            <a:r>
              <a:t>Cumulative AV positions continue across windows. Audio overlap uses rounded cumulative boundaries, resulting in eight or nine latent tokens; the slide simplifies this as matching audio.</a:t>
            </a:r>
          </a:p>
          <a:p>
            <a:r>
              <a:t>New state is committed only after successful MP4 generation. The diagram is fixed-size state handoff across requests; the runtime does not retain the whole video.</a:t>
            </a:r>
          </a:p>
          <a:p>
            <a:r>
              <a:t>The interaction example stays on slide 18. The recorded demonstration follows on slide 20.</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question translated from the recorded demo. The reply is the LLM preview, not a verified transcript of generated speech.</a:t>
            </a:r>
          </a:p>
          <a:p>
            <a:r>
              <a:t>The image is the actual input reference.png read by the demo server from workload.json and sent to H3 as an input reference.</a:t>
            </a:r>
          </a:p>
          <a:p>
            <a:r>
              <a:t>Reference image SHA256: 560c094f9900ea762227f84481ca8a2f73adac69963e0d1a78563bec1844d6b8</a:t>
            </a:r>
          </a:p>
          <a:p>
            <a:r>
              <a:t>The English H3 prompt, model configuration and following recorded video are unchanged.</a:t>
            </a:r>
          </a:p>
          <a:p>
            <a:r>
              <a:t>The slide omits low-level AV latent-tail implementation details.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17 describes the eight-evaluation QAD pipeline; slide 7 describes the distinct historical four-step avatar. Do not imply all techniques are enabled in both recipes.</a:t>
            </a:r>
          </a:p>
          <a:p>
            <a:r>
              <a:t>Online evidence: https://lishunyang12.github.io/fasth3-omni-evaluation-20261018/reports/h3-liveavatar-long-video-20261014/</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Shunyang Li | Benchmarks measured | 27 Oct 2026</a:t>
            </a:r>
          </a:p>
        </p:txBody>
      </p:sp>
      <p:sp>
        <p:nvSpPr>
          <p:cNvPr id="3" name="Text Placeholder 2"/>
          <p:cNvSpPr>
            <a:spLocks noGrp="1"/>
          </p:cNvSpPr>
          <p:nvPr>
            <p:ph type="body" idx="11" sz="quarter"/>
          </p:nvPr>
        </p:nvSpPr>
        <p:spPr>
          <a:xfrm>
            <a:off x="1828800" y="15956280"/>
            <a:ext cx="16459200" cy="1005840"/>
          </a:xfrm>
        </p:spPr>
        <p:txBody>
          <a:bodyPr/>
          <a:lstStyle/>
          <a:p>
            <a:r>
              <a:rPr sz="5800">
                <a:latin typeface="NVIDIA Sans"/>
              </a:rPr>
              <a:t>8× RTX PRO 5000 · vLLM-Omni</a:t>
            </a:r>
          </a:p>
        </p:txBody>
      </p:sp>
      <p:sp>
        <p:nvSpPr>
          <p:cNvPr id="4" name="Text Placeholder 3"/>
          <p:cNvSpPr>
            <a:spLocks noGrp="1"/>
          </p:cNvSpPr>
          <p:nvPr>
            <p:ph type="body" idx="10" sz="quarter"/>
          </p:nvPr>
        </p:nvSpPr>
        <p:spPr/>
        <p:txBody>
          <a:bodyPr/>
          <a:lstStyle/>
          <a:p>
            <a:r>
              <a:t>Toward Real-Time Generation</a:t>
            </a:r>
            <a:br/>
            <a:r>
              <a:t>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01 · Real-Time H3</a:t>
            </a:r>
            <a:br/>
            <a:r>
              <a:t>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transformer blocks are evaluated at each of 50 baseline steps.</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BASELINE E2E card"/>
          <p:cNvSpPr/>
          <p:nvPr/>
        </p:nvSpPr>
        <p:spPr>
          <a:xfrm>
            <a:off x="1828800" y="4754880"/>
            <a:ext cx="10607040" cy="28346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SELINE E2E label"/>
          <p:cNvSpPr txBox="1"/>
          <p:nvPr/>
        </p:nvSpPr>
        <p:spPr>
          <a:xfrm>
            <a:off x="2148840" y="5029200"/>
            <a:ext cx="9966960" cy="548640"/>
          </a:xfrm>
          <a:prstGeom prst="rect">
            <a:avLst/>
          </a:prstGeom>
          <a:noFill/>
        </p:spPr>
        <p:txBody>
          <a:bodyPr wrap="square" lIns="18288" rIns="18288" tIns="0" bIns="0">
            <a:spAutoFit/>
          </a:bodyPr>
          <a:lstStyle/>
          <a:p>
            <a:pPr>
              <a:spcBef>
                <a:spcPts val="0"/>
              </a:spcBef>
              <a:spcAft>
                <a:spcPts val="0"/>
              </a:spcAft>
            </a:pPr>
            <a:r>
              <a:rPr sz="2600" b="0">
                <a:solidFill>
                  <a:srgbClr val="000000"/>
                </a:solidFill>
                <a:latin typeface="NVIDIA Sans Medium"/>
              </a:rPr>
              <a:t>BASELINE E2E</a:t>
            </a:r>
          </a:p>
        </p:txBody>
      </p:sp>
      <p:sp>
        <p:nvSpPr>
          <p:cNvPr id="7" name="BASELINE E2E value"/>
          <p:cNvSpPr txBox="1"/>
          <p:nvPr/>
        </p:nvSpPr>
        <p:spPr>
          <a:xfrm>
            <a:off x="2148840" y="5623560"/>
            <a:ext cx="9966960" cy="914400"/>
          </a:xfrm>
          <a:prstGeom prst="rect">
            <a:avLst/>
          </a:prstGeom>
          <a:noFill/>
        </p:spPr>
        <p:txBody>
          <a:bodyPr wrap="square" lIns="18288" rIns="18288" tIns="0" bIns="0">
            <a:spAutoFit/>
          </a:bodyPr>
          <a:lstStyle/>
          <a:p>
            <a:pPr>
              <a:spcBef>
                <a:spcPts val="0"/>
              </a:spcBef>
              <a:spcAft>
                <a:spcPts val="0"/>
              </a:spcAft>
            </a:pPr>
            <a:r>
              <a:rPr sz="4800" b="0">
                <a:solidFill>
                  <a:srgbClr val="000000"/>
                </a:solidFill>
                <a:latin typeface="NVIDIA Sans Medium"/>
              </a:rPr>
              <a:t>213.402 s</a:t>
            </a:r>
          </a:p>
        </p:txBody>
      </p:sp>
      <p:sp>
        <p:nvSpPr>
          <p:cNvPr id="8" name="BASELINE E2E detail"/>
          <p:cNvSpPr txBox="1"/>
          <p:nvPr/>
        </p:nvSpPr>
        <p:spPr>
          <a:xfrm>
            <a:off x="2148840"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000000"/>
                </a:solidFill>
                <a:latin typeface="NVIDIA Sans"/>
              </a:rPr>
              <a:t>Complete-MP4 HTTP median · n = 2</a:t>
            </a:r>
          </a:p>
        </p:txBody>
      </p:sp>
      <p:sp>
        <p:nvSpPr>
          <p:cNvPr id="9" name="PROFILED REQUEST card"/>
          <p:cNvSpPr/>
          <p:nvPr/>
        </p:nvSpPr>
        <p:spPr>
          <a:xfrm>
            <a:off x="12984480" y="4754880"/>
            <a:ext cx="10607040" cy="28346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ROFILED REQUEST label"/>
          <p:cNvSpPr txBox="1"/>
          <p:nvPr/>
        </p:nvSpPr>
        <p:spPr>
          <a:xfrm>
            <a:off x="13304519" y="5029200"/>
            <a:ext cx="9966960" cy="548640"/>
          </a:xfrm>
          <a:prstGeom prst="rect">
            <a:avLst/>
          </a:prstGeom>
          <a:noFill/>
        </p:spPr>
        <p:txBody>
          <a:bodyPr wrap="square" lIns="18288" rIns="18288" tIns="0" bIns="0">
            <a:spAutoFit/>
          </a:bodyPr>
          <a:lstStyle/>
          <a:p>
            <a:pPr>
              <a:spcBef>
                <a:spcPts val="0"/>
              </a:spcBef>
              <a:spcAft>
                <a:spcPts val="0"/>
              </a:spcAft>
            </a:pPr>
            <a:r>
              <a:rPr sz="2600" b="0">
                <a:solidFill>
                  <a:srgbClr val="000000"/>
                </a:solidFill>
                <a:latin typeface="NVIDIA Sans Medium"/>
              </a:rPr>
              <a:t>PROFILED REQUEST</a:t>
            </a:r>
          </a:p>
        </p:txBody>
      </p:sp>
      <p:sp>
        <p:nvSpPr>
          <p:cNvPr id="11" name="PROFILED REQUEST value"/>
          <p:cNvSpPr txBox="1"/>
          <p:nvPr/>
        </p:nvSpPr>
        <p:spPr>
          <a:xfrm>
            <a:off x="13304519" y="5623560"/>
            <a:ext cx="9966960" cy="914400"/>
          </a:xfrm>
          <a:prstGeom prst="rect">
            <a:avLst/>
          </a:prstGeom>
          <a:noFill/>
        </p:spPr>
        <p:txBody>
          <a:bodyPr wrap="square" lIns="18288" rIns="18288" tIns="0" bIns="0">
            <a:spAutoFit/>
          </a:bodyPr>
          <a:lstStyle/>
          <a:p>
            <a:pPr>
              <a:spcBef>
                <a:spcPts val="0"/>
              </a:spcBef>
              <a:spcAft>
                <a:spcPts val="0"/>
              </a:spcAft>
            </a:pPr>
            <a:r>
              <a:rPr sz="4800" b="0">
                <a:solidFill>
                  <a:srgbClr val="000000"/>
                </a:solidFill>
                <a:latin typeface="NVIDIA Sans Medium"/>
              </a:rPr>
              <a:t>214.968 s</a:t>
            </a:r>
          </a:p>
        </p:txBody>
      </p:sp>
      <p:sp>
        <p:nvSpPr>
          <p:cNvPr id="12" name="PROFILED REQUEST detail"/>
          <p:cNvSpPr txBox="1"/>
          <p:nvPr/>
        </p:nvSpPr>
        <p:spPr>
          <a:xfrm>
            <a:off x="13304519"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000000"/>
                </a:solidFill>
                <a:latin typeface="NVIDIA Sans"/>
              </a:rPr>
              <a:t>Separate Nsight capture · n = 1</a:t>
            </a:r>
          </a:p>
        </p:txBody>
      </p:sp>
      <p:sp>
        <p:nvSpPr>
          <p:cNvPr id="13" name="GENERATED VIDEO card"/>
          <p:cNvSpPr/>
          <p:nvPr/>
        </p:nvSpPr>
        <p:spPr>
          <a:xfrm>
            <a:off x="24140160" y="4754880"/>
            <a:ext cx="10607040" cy="28346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ENERATED VIDEO label"/>
          <p:cNvSpPr txBox="1"/>
          <p:nvPr/>
        </p:nvSpPr>
        <p:spPr>
          <a:xfrm>
            <a:off x="24460200" y="5029200"/>
            <a:ext cx="9966960" cy="548640"/>
          </a:xfrm>
          <a:prstGeom prst="rect">
            <a:avLst/>
          </a:prstGeom>
          <a:noFill/>
        </p:spPr>
        <p:txBody>
          <a:bodyPr wrap="square" lIns="18288" rIns="18288" tIns="0" bIns="0">
            <a:spAutoFit/>
          </a:bodyPr>
          <a:lstStyle/>
          <a:p>
            <a:pPr>
              <a:spcBef>
                <a:spcPts val="0"/>
              </a:spcBef>
              <a:spcAft>
                <a:spcPts val="0"/>
              </a:spcAft>
            </a:pPr>
            <a:r>
              <a:rPr sz="2600" b="0">
                <a:solidFill>
                  <a:srgbClr val="000000"/>
                </a:solidFill>
                <a:latin typeface="NVIDIA Sans Medium"/>
              </a:rPr>
              <a:t>GENERATED VIDEO</a:t>
            </a:r>
          </a:p>
        </p:txBody>
      </p:sp>
      <p:sp>
        <p:nvSpPr>
          <p:cNvPr id="15" name="GENERATED VIDEO value"/>
          <p:cNvSpPr txBox="1"/>
          <p:nvPr/>
        </p:nvSpPr>
        <p:spPr>
          <a:xfrm>
            <a:off x="24460200" y="5623560"/>
            <a:ext cx="9966960" cy="914400"/>
          </a:xfrm>
          <a:prstGeom prst="rect">
            <a:avLst/>
          </a:prstGeom>
          <a:noFill/>
        </p:spPr>
        <p:txBody>
          <a:bodyPr wrap="square" lIns="18288" rIns="18288" tIns="0" bIns="0">
            <a:spAutoFit/>
          </a:bodyPr>
          <a:lstStyle/>
          <a:p>
            <a:pPr>
              <a:spcBef>
                <a:spcPts val="0"/>
              </a:spcBef>
              <a:spcAft>
                <a:spcPts val="0"/>
              </a:spcAft>
            </a:pPr>
            <a:r>
              <a:rPr sz="4800" b="0">
                <a:solidFill>
                  <a:srgbClr val="000000"/>
                </a:solidFill>
                <a:latin typeface="NVIDIA Sans Medium"/>
              </a:rPr>
              <a:t>960 × 544</a:t>
            </a:r>
          </a:p>
        </p:txBody>
      </p:sp>
      <p:sp>
        <p:nvSpPr>
          <p:cNvPr id="16" name="GENERATED VIDEO detail"/>
          <p:cNvSpPr txBox="1"/>
          <p:nvPr/>
        </p:nvSpPr>
        <p:spPr>
          <a:xfrm>
            <a:off x="24460200"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000000"/>
                </a:solidFill>
                <a:latin typeface="NVIDIA Sans"/>
              </a:rPr>
              <a:t>124 frames · 24 FPS · 5.167 s</a:t>
            </a:r>
          </a:p>
        </p:txBody>
      </p:sp>
      <p:sp>
        <p:nvSpPr>
          <p:cNvPr id="17" name="Config heading"/>
          <p:cNvSpPr txBox="1"/>
          <p:nvPr/>
        </p:nvSpPr>
        <p:spPr>
          <a:xfrm>
            <a:off x="1828800" y="8275320"/>
            <a:ext cx="13716000" cy="731520"/>
          </a:xfrm>
          <a:prstGeom prst="rect">
            <a:avLst/>
          </a:prstGeom>
          <a:noFill/>
        </p:spPr>
        <p:txBody>
          <a:bodyPr wrap="square" lIns="18288" rIns="18288" tIns="0" bIns="0">
            <a:spAutoFit/>
          </a:bodyPr>
          <a:lstStyle/>
          <a:p>
            <a:pPr>
              <a:spcBef>
                <a:spcPts val="0"/>
              </a:spcBef>
              <a:spcAft>
                <a:spcPts val="0"/>
              </a:spcAft>
            </a:pPr>
            <a:r>
              <a:rPr sz="3600" b="0">
                <a:solidFill>
                  <a:srgbClr val="000000"/>
                </a:solidFill>
                <a:latin typeface="NVIDIA Sans Medium"/>
              </a:rPr>
              <a:t>Reference configuration</a:t>
            </a:r>
          </a:p>
        </p:txBody>
      </p:sp>
      <p:sp>
        <p:nvSpPr>
          <p:cNvPr id="18" name="Config 0"/>
          <p:cNvSpPr txBox="1"/>
          <p:nvPr/>
        </p:nvSpPr>
        <p:spPr>
          <a:xfrm>
            <a:off x="1828800" y="9326880"/>
            <a:ext cx="13898880" cy="658368"/>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PRO 5000 reference · 73,415 MiB / GPU</a:t>
            </a:r>
          </a:p>
        </p:txBody>
      </p:sp>
      <p:sp>
        <p:nvSpPr>
          <p:cNvPr id="19" name="Config 1"/>
          <p:cNvSpPr txBox="1"/>
          <p:nvPr/>
        </p:nvSpPr>
        <p:spPr>
          <a:xfrm>
            <a:off x="1828800" y="10076688"/>
            <a:ext cx="13898880" cy="658368"/>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DiT TP1 / Ulysses8 · text TP8 · VAE tiles8</a:t>
            </a:r>
          </a:p>
        </p:txBody>
      </p:sp>
      <p:sp>
        <p:nvSpPr>
          <p:cNvPr id="20" name="Config 2"/>
          <p:cNvSpPr txBox="1"/>
          <p:nvPr/>
        </p:nvSpPr>
        <p:spPr>
          <a:xfrm>
            <a:off x="1828800" y="10826496"/>
            <a:ext cx="13898880" cy="658368"/>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Local NCCL · RDMA disabled</a:t>
            </a:r>
          </a:p>
        </p:txBody>
      </p:sp>
      <p:sp>
        <p:nvSpPr>
          <p:cNvPr id="21" name="Config 3"/>
          <p:cNvSpPr txBox="1"/>
          <p:nvPr/>
        </p:nvSpPr>
        <p:spPr>
          <a:xfrm>
            <a:off x="1828800" y="11576304"/>
            <a:ext cx="13898880" cy="658368"/>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Native VAE · FP16 decode autocast</a:t>
            </a:r>
          </a:p>
        </p:txBody>
      </p:sp>
      <p:sp>
        <p:nvSpPr>
          <p:cNvPr id="22" name="Config 4"/>
          <p:cNvSpPr txBox="1"/>
          <p:nvPr/>
        </p:nvSpPr>
        <p:spPr>
          <a:xfrm>
            <a:off x="1828800" y="12326111"/>
            <a:ext cx="13898880" cy="658368"/>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Exact AdaLN table resident before timing</a:t>
            </a:r>
          </a:p>
        </p:txBody>
      </p:sp>
      <p:sp>
        <p:nvSpPr>
          <p:cNvPr id="23" name="Config 5"/>
          <p:cNvSpPr txBox="1"/>
          <p:nvPr/>
        </p:nvSpPr>
        <p:spPr>
          <a:xfrm>
            <a:off x="1828800" y="13075919"/>
            <a:ext cx="13898880" cy="658368"/>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Fixed inputs / seed 43 · warmup excluded</a:t>
            </a:r>
          </a:p>
        </p:txBody>
      </p:sp>
      <p:sp>
        <p:nvSpPr>
          <p:cNvPr id="24" name="Stage heading"/>
          <p:cNvSpPr txBox="1"/>
          <p:nvPr/>
        </p:nvSpPr>
        <p:spPr>
          <a:xfrm>
            <a:off x="1828800" y="14310360"/>
            <a:ext cx="13990320" cy="731520"/>
          </a:xfrm>
          <a:prstGeom prst="rect">
            <a:avLst/>
          </a:prstGeom>
          <a:noFill/>
        </p:spPr>
        <p:txBody>
          <a:bodyPr wrap="square" lIns="18288" rIns="18288" tIns="0" bIns="0">
            <a:spAutoFit/>
          </a:bodyPr>
          <a:lstStyle/>
          <a:p>
            <a:pPr>
              <a:spcBef>
                <a:spcPts val="0"/>
              </a:spcBef>
              <a:spcAft>
                <a:spcPts val="0"/>
              </a:spcAft>
            </a:pPr>
            <a:r>
              <a:rPr sz="3600" b="0">
                <a:solidFill>
                  <a:srgbClr val="000000"/>
                </a:solidFill>
                <a:latin typeface="NVIDIA Sans Medium"/>
              </a:rPr>
              <a:t>CPU stage ranges · profiled request</a:t>
            </a:r>
          </a:p>
        </p:txBody>
      </p:sp>
      <p:sp>
        <p:nvSpPr>
          <p:cNvPr id="25" name="Stage background 0"/>
          <p:cNvSpPr/>
          <p:nvPr/>
        </p:nvSpPr>
        <p:spPr>
          <a:xfrm>
            <a:off x="1828800" y="15224759"/>
            <a:ext cx="13898880" cy="731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tage 0"/>
          <p:cNvSpPr txBox="1"/>
          <p:nvPr/>
        </p:nvSpPr>
        <p:spPr>
          <a:xfrm>
            <a:off x="2011680" y="15361919"/>
            <a:ext cx="9418320" cy="50292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Encoder</a:t>
            </a:r>
          </a:p>
        </p:txBody>
      </p:sp>
      <p:sp>
        <p:nvSpPr>
          <p:cNvPr id="27" name="Stage value 0"/>
          <p:cNvSpPr txBox="1"/>
          <p:nvPr/>
        </p:nvSpPr>
        <p:spPr>
          <a:xfrm>
            <a:off x="11338560" y="15361919"/>
            <a:ext cx="4114800" cy="50292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7.272 s</a:t>
            </a:r>
          </a:p>
        </p:txBody>
      </p:sp>
      <p:sp>
        <p:nvSpPr>
          <p:cNvPr id="28" name="Stage background 1"/>
          <p:cNvSpPr/>
          <p:nvPr/>
        </p:nvSpPr>
        <p:spPr>
          <a:xfrm>
            <a:off x="1828800" y="16047719"/>
            <a:ext cx="13898880" cy="731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age 1"/>
          <p:cNvSpPr txBox="1"/>
          <p:nvPr/>
        </p:nvSpPr>
        <p:spPr>
          <a:xfrm>
            <a:off x="2011680" y="16184879"/>
            <a:ext cx="9418320" cy="50292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DiT</a:t>
            </a:r>
          </a:p>
        </p:txBody>
      </p:sp>
      <p:sp>
        <p:nvSpPr>
          <p:cNvPr id="30" name="Stage value 1"/>
          <p:cNvSpPr txBox="1"/>
          <p:nvPr/>
        </p:nvSpPr>
        <p:spPr>
          <a:xfrm>
            <a:off x="11338560" y="16184879"/>
            <a:ext cx="4114800" cy="50292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204.814 s</a:t>
            </a:r>
          </a:p>
        </p:txBody>
      </p:sp>
      <p:sp>
        <p:nvSpPr>
          <p:cNvPr id="31" name="Stage background 2"/>
          <p:cNvSpPr/>
          <p:nvPr/>
        </p:nvSpPr>
        <p:spPr>
          <a:xfrm>
            <a:off x="1828800" y="16870680"/>
            <a:ext cx="13898880" cy="731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ge 2"/>
          <p:cNvSpPr txBox="1"/>
          <p:nvPr/>
        </p:nvSpPr>
        <p:spPr>
          <a:xfrm>
            <a:off x="2011680" y="17007839"/>
            <a:ext cx="9418320" cy="50292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VAE / audio decode</a:t>
            </a:r>
          </a:p>
        </p:txBody>
      </p:sp>
      <p:sp>
        <p:nvSpPr>
          <p:cNvPr id="33" name="Stage value 2"/>
          <p:cNvSpPr txBox="1"/>
          <p:nvPr/>
        </p:nvSpPr>
        <p:spPr>
          <a:xfrm>
            <a:off x="11338560" y="17007839"/>
            <a:ext cx="4114800" cy="50292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1.742 s</a:t>
            </a:r>
          </a:p>
        </p:txBody>
      </p:sp>
      <p:sp>
        <p:nvSpPr>
          <p:cNvPr id="34" name="Stage background 3"/>
          <p:cNvSpPr/>
          <p:nvPr/>
        </p:nvSpPr>
        <p:spPr>
          <a:xfrm>
            <a:off x="1828800" y="17693639"/>
            <a:ext cx="13898880" cy="731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ge 3"/>
          <p:cNvSpPr txBox="1"/>
          <p:nvPr/>
        </p:nvSpPr>
        <p:spPr>
          <a:xfrm>
            <a:off x="2011680" y="17830799"/>
            <a:ext cx="9418320" cy="50292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Other / response</a:t>
            </a:r>
          </a:p>
        </p:txBody>
      </p:sp>
      <p:sp>
        <p:nvSpPr>
          <p:cNvPr id="36" name="Stage value 3"/>
          <p:cNvSpPr txBox="1"/>
          <p:nvPr/>
        </p:nvSpPr>
        <p:spPr>
          <a:xfrm>
            <a:off x="11338560" y="17830799"/>
            <a:ext cx="4114800" cy="50292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1.140 s</a:t>
            </a:r>
          </a:p>
        </p:txBody>
      </p:sp>
      <p:sp>
        <p:nvSpPr>
          <p:cNvPr id="37" name="GPU heading"/>
          <p:cNvSpPr txBox="1"/>
          <p:nvPr/>
        </p:nvSpPr>
        <p:spPr>
          <a:xfrm>
            <a:off x="16824960" y="8275320"/>
            <a:ext cx="17922240" cy="731520"/>
          </a:xfrm>
          <a:prstGeom prst="rect">
            <a:avLst/>
          </a:prstGeom>
          <a:noFill/>
        </p:spPr>
        <p:txBody>
          <a:bodyPr wrap="square" lIns="18288" rIns="18288" tIns="0" bIns="0">
            <a:spAutoFit/>
          </a:bodyPr>
          <a:lstStyle/>
          <a:p>
            <a:pPr>
              <a:spcBef>
                <a:spcPts val="0"/>
              </a:spcBef>
              <a:spcAft>
                <a:spcPts val="0"/>
              </a:spcAft>
            </a:pPr>
            <a:r>
              <a:rPr sz="3600" b="0">
                <a:solidFill>
                  <a:srgbClr val="000000"/>
                </a:solidFill>
                <a:latin typeface="NVIDIA Sans Medium"/>
              </a:rPr>
              <a:t>GPU work by operator</a:t>
            </a:r>
          </a:p>
        </p:txBody>
      </p:sp>
      <p:sp>
        <p:nvSpPr>
          <p:cNvPr id="38" name="GPU scope"/>
          <p:cNvSpPr txBox="1"/>
          <p:nvPr/>
        </p:nvSpPr>
        <p:spPr>
          <a:xfrm>
            <a:off x="16824960" y="9235440"/>
            <a:ext cx="17922240" cy="64008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Accumulated CUDA durations, averaged over 8 GPUs</a:t>
            </a:r>
          </a:p>
        </p:txBody>
      </p:sp>
      <p:sp>
        <p:nvSpPr>
          <p:cNvPr id="39" name="Operator table header"/>
          <p:cNvSpPr/>
          <p:nvPr/>
        </p:nvSpPr>
        <p:spPr>
          <a:xfrm>
            <a:off x="16824960" y="10104120"/>
            <a:ext cx="1792224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Header Operator"/>
          <p:cNvSpPr txBox="1"/>
          <p:nvPr/>
        </p:nvSpPr>
        <p:spPr>
          <a:xfrm>
            <a:off x="17099280" y="10314432"/>
            <a:ext cx="10241280" cy="5029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Operator</a:t>
            </a:r>
          </a:p>
        </p:txBody>
      </p:sp>
      <p:sp>
        <p:nvSpPr>
          <p:cNvPr id="41" name="Header s / GPU"/>
          <p:cNvSpPr txBox="1"/>
          <p:nvPr/>
        </p:nvSpPr>
        <p:spPr>
          <a:xfrm>
            <a:off x="27614880" y="10314432"/>
            <a:ext cx="3657600" cy="5029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s / GPU</a:t>
            </a:r>
          </a:p>
        </p:txBody>
      </p:sp>
      <p:sp>
        <p:nvSpPr>
          <p:cNvPr id="42" name="Header Share"/>
          <p:cNvSpPr txBox="1"/>
          <p:nvPr/>
        </p:nvSpPr>
        <p:spPr>
          <a:xfrm>
            <a:off x="31821119" y="10314432"/>
            <a:ext cx="2743200" cy="5029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Share</a:t>
            </a:r>
          </a:p>
        </p:txBody>
      </p:sp>
      <p:sp>
        <p:nvSpPr>
          <p:cNvPr id="43" name="Operator background 0"/>
          <p:cNvSpPr/>
          <p:nvPr/>
        </p:nvSpPr>
        <p:spPr>
          <a:xfrm>
            <a:off x="16824960" y="11128248"/>
            <a:ext cx="17922240" cy="78638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perator 0"/>
          <p:cNvSpPr txBox="1"/>
          <p:nvPr/>
        </p:nvSpPr>
        <p:spPr>
          <a:xfrm>
            <a:off x="17099280" y="11265407"/>
            <a:ext cx="1033272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NCCL (includes waiting)</a:t>
            </a:r>
          </a:p>
        </p:txBody>
      </p:sp>
      <p:sp>
        <p:nvSpPr>
          <p:cNvPr id="45" name="Operator seconds 0"/>
          <p:cNvSpPr txBox="1"/>
          <p:nvPr/>
        </p:nvSpPr>
        <p:spPr>
          <a:xfrm>
            <a:off x="27614880" y="11265407"/>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122.182</a:t>
            </a:r>
          </a:p>
        </p:txBody>
      </p:sp>
      <p:sp>
        <p:nvSpPr>
          <p:cNvPr id="46" name="Operator share 0"/>
          <p:cNvSpPr txBox="1"/>
          <p:nvPr/>
        </p:nvSpPr>
        <p:spPr>
          <a:xfrm>
            <a:off x="31821119" y="11265407"/>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57.21%</a:t>
            </a:r>
          </a:p>
        </p:txBody>
      </p:sp>
      <p:sp>
        <p:nvSpPr>
          <p:cNvPr id="47" name="Operator 1"/>
          <p:cNvSpPr txBox="1"/>
          <p:nvPr/>
        </p:nvSpPr>
        <p:spPr>
          <a:xfrm>
            <a:off x="17099280" y="12079224"/>
            <a:ext cx="1033272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Attention</a:t>
            </a:r>
          </a:p>
        </p:txBody>
      </p:sp>
      <p:sp>
        <p:nvSpPr>
          <p:cNvPr id="48" name="Operator seconds 1"/>
          <p:cNvSpPr txBox="1"/>
          <p:nvPr/>
        </p:nvSpPr>
        <p:spPr>
          <a:xfrm>
            <a:off x="27614880" y="12079224"/>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47.105</a:t>
            </a:r>
          </a:p>
        </p:txBody>
      </p:sp>
      <p:sp>
        <p:nvSpPr>
          <p:cNvPr id="49" name="Operator share 1"/>
          <p:cNvSpPr txBox="1"/>
          <p:nvPr/>
        </p:nvSpPr>
        <p:spPr>
          <a:xfrm>
            <a:off x="31821119" y="12079224"/>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22.06%</a:t>
            </a:r>
          </a:p>
        </p:txBody>
      </p:sp>
      <p:sp>
        <p:nvSpPr>
          <p:cNvPr id="50" name="Operator background 2"/>
          <p:cNvSpPr/>
          <p:nvPr/>
        </p:nvSpPr>
        <p:spPr>
          <a:xfrm>
            <a:off x="16824960" y="12755880"/>
            <a:ext cx="17922240" cy="78638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perator 2"/>
          <p:cNvSpPr txBox="1"/>
          <p:nvPr/>
        </p:nvSpPr>
        <p:spPr>
          <a:xfrm>
            <a:off x="17099280" y="12893039"/>
            <a:ext cx="1033272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GEMM</a:t>
            </a:r>
          </a:p>
        </p:txBody>
      </p:sp>
      <p:sp>
        <p:nvSpPr>
          <p:cNvPr id="52" name="Operator seconds 2"/>
          <p:cNvSpPr txBox="1"/>
          <p:nvPr/>
        </p:nvSpPr>
        <p:spPr>
          <a:xfrm>
            <a:off x="27614880" y="12893039"/>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39.650</a:t>
            </a:r>
          </a:p>
        </p:txBody>
      </p:sp>
      <p:sp>
        <p:nvSpPr>
          <p:cNvPr id="53" name="Operator share 2"/>
          <p:cNvSpPr txBox="1"/>
          <p:nvPr/>
        </p:nvSpPr>
        <p:spPr>
          <a:xfrm>
            <a:off x="31821119" y="12893039"/>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18.57%</a:t>
            </a:r>
          </a:p>
        </p:txBody>
      </p:sp>
      <p:sp>
        <p:nvSpPr>
          <p:cNvPr id="54" name="Operator 3"/>
          <p:cNvSpPr txBox="1"/>
          <p:nvPr/>
        </p:nvSpPr>
        <p:spPr>
          <a:xfrm>
            <a:off x="17099280" y="13706855"/>
            <a:ext cx="1033272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Norm / activation / elementwise</a:t>
            </a:r>
          </a:p>
        </p:txBody>
      </p:sp>
      <p:sp>
        <p:nvSpPr>
          <p:cNvPr id="55" name="Operator seconds 3"/>
          <p:cNvSpPr txBox="1"/>
          <p:nvPr/>
        </p:nvSpPr>
        <p:spPr>
          <a:xfrm>
            <a:off x="27614880" y="13706855"/>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2.288</a:t>
            </a:r>
          </a:p>
        </p:txBody>
      </p:sp>
      <p:sp>
        <p:nvSpPr>
          <p:cNvPr id="56" name="Operator share 3"/>
          <p:cNvSpPr txBox="1"/>
          <p:nvPr/>
        </p:nvSpPr>
        <p:spPr>
          <a:xfrm>
            <a:off x="31821119" y="13706855"/>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1.07%</a:t>
            </a:r>
          </a:p>
        </p:txBody>
      </p:sp>
      <p:sp>
        <p:nvSpPr>
          <p:cNvPr id="57" name="Operator background 4"/>
          <p:cNvSpPr/>
          <p:nvPr/>
        </p:nvSpPr>
        <p:spPr>
          <a:xfrm>
            <a:off x="16824960" y="14383512"/>
            <a:ext cx="17922240" cy="78638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perator 4"/>
          <p:cNvSpPr txBox="1"/>
          <p:nvPr/>
        </p:nvSpPr>
        <p:spPr>
          <a:xfrm>
            <a:off x="17099280" y="14520672"/>
            <a:ext cx="1033272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Layout / device copies</a:t>
            </a:r>
          </a:p>
        </p:txBody>
      </p:sp>
      <p:sp>
        <p:nvSpPr>
          <p:cNvPr id="59" name="Operator seconds 4"/>
          <p:cNvSpPr txBox="1"/>
          <p:nvPr/>
        </p:nvSpPr>
        <p:spPr>
          <a:xfrm>
            <a:off x="27614880" y="14520672"/>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1.929</a:t>
            </a:r>
          </a:p>
        </p:txBody>
      </p:sp>
      <p:sp>
        <p:nvSpPr>
          <p:cNvPr id="60" name="Operator share 4"/>
          <p:cNvSpPr txBox="1"/>
          <p:nvPr/>
        </p:nvSpPr>
        <p:spPr>
          <a:xfrm>
            <a:off x="31821119" y="14520672"/>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0.90%</a:t>
            </a:r>
          </a:p>
        </p:txBody>
      </p:sp>
      <p:sp>
        <p:nvSpPr>
          <p:cNvPr id="61" name="Operator 5"/>
          <p:cNvSpPr txBox="1"/>
          <p:nvPr/>
        </p:nvSpPr>
        <p:spPr>
          <a:xfrm>
            <a:off x="17099280" y="15334488"/>
            <a:ext cx="1033272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CUDA memcpy / memset</a:t>
            </a:r>
          </a:p>
        </p:txBody>
      </p:sp>
      <p:sp>
        <p:nvSpPr>
          <p:cNvPr id="62" name="Operator seconds 5"/>
          <p:cNvSpPr txBox="1"/>
          <p:nvPr/>
        </p:nvSpPr>
        <p:spPr>
          <a:xfrm>
            <a:off x="27614880" y="15334488"/>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0.064</a:t>
            </a:r>
          </a:p>
        </p:txBody>
      </p:sp>
      <p:sp>
        <p:nvSpPr>
          <p:cNvPr id="63" name="Operator share 5"/>
          <p:cNvSpPr txBox="1"/>
          <p:nvPr/>
        </p:nvSpPr>
        <p:spPr>
          <a:xfrm>
            <a:off x="31821119" y="15334488"/>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0.03%</a:t>
            </a:r>
          </a:p>
        </p:txBody>
      </p:sp>
      <p:sp>
        <p:nvSpPr>
          <p:cNvPr id="64" name="Operator background 6"/>
          <p:cNvSpPr/>
          <p:nvPr/>
        </p:nvSpPr>
        <p:spPr>
          <a:xfrm>
            <a:off x="16824960" y="16011143"/>
            <a:ext cx="17922240" cy="78638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perator 6"/>
          <p:cNvSpPr txBox="1"/>
          <p:nvPr/>
        </p:nvSpPr>
        <p:spPr>
          <a:xfrm>
            <a:off x="17099280" y="16148304"/>
            <a:ext cx="1033272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Convolution</a:t>
            </a:r>
          </a:p>
        </p:txBody>
      </p:sp>
      <p:sp>
        <p:nvSpPr>
          <p:cNvPr id="66" name="Operator seconds 6"/>
          <p:cNvSpPr txBox="1"/>
          <p:nvPr/>
        </p:nvSpPr>
        <p:spPr>
          <a:xfrm>
            <a:off x="27614880" y="16148304"/>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0.192</a:t>
            </a:r>
          </a:p>
        </p:txBody>
      </p:sp>
      <p:sp>
        <p:nvSpPr>
          <p:cNvPr id="67" name="Operator share 6"/>
          <p:cNvSpPr txBox="1"/>
          <p:nvPr/>
        </p:nvSpPr>
        <p:spPr>
          <a:xfrm>
            <a:off x="31821119" y="16148304"/>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0.09%</a:t>
            </a:r>
          </a:p>
        </p:txBody>
      </p:sp>
      <p:sp>
        <p:nvSpPr>
          <p:cNvPr id="68" name="Operator 7"/>
          <p:cNvSpPr txBox="1"/>
          <p:nvPr/>
        </p:nvSpPr>
        <p:spPr>
          <a:xfrm>
            <a:off x="17099280" y="16962120"/>
            <a:ext cx="1033272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Other kernels</a:t>
            </a:r>
          </a:p>
        </p:txBody>
      </p:sp>
      <p:sp>
        <p:nvSpPr>
          <p:cNvPr id="69" name="Operator seconds 7"/>
          <p:cNvSpPr txBox="1"/>
          <p:nvPr/>
        </p:nvSpPr>
        <p:spPr>
          <a:xfrm>
            <a:off x="27614880" y="16962120"/>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0.143</a:t>
            </a:r>
          </a:p>
        </p:txBody>
      </p:sp>
      <p:sp>
        <p:nvSpPr>
          <p:cNvPr id="70" name="Operator share 7"/>
          <p:cNvSpPr txBox="1"/>
          <p:nvPr/>
        </p:nvSpPr>
        <p:spPr>
          <a:xfrm>
            <a:off x="31821119" y="16962120"/>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a:rPr>
              <a:t>0.07%</a:t>
            </a:r>
          </a:p>
        </p:txBody>
      </p:sp>
      <p:sp>
        <p:nvSpPr>
          <p:cNvPr id="71" name="NCCL qualification"/>
          <p:cNvSpPr txBox="1"/>
          <p:nvPr/>
        </p:nvSpPr>
        <p:spPr>
          <a:xfrm>
            <a:off x="16824960" y="17922240"/>
            <a:ext cx="17922240" cy="10972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NCCL includes synchronization and waiting.</a:t>
            </a:r>
          </a:p>
          <a:p>
            <a:pPr>
              <a:spcBef>
                <a:spcPts val="0"/>
              </a:spcBef>
              <a:spcAft>
                <a:spcPts val="0"/>
              </a:spcAft>
            </a:pPr>
            <a:r>
              <a:rPr sz="2800" b="0">
                <a:solidFill>
                  <a:srgbClr val="000000"/>
                </a:solidFill>
                <a:latin typeface="NVIDIA Sans Medium"/>
              </a:rPr>
              <a:t>Shares exclude CPU work / GPU idle gaps.</a:t>
            </a:r>
          </a:p>
        </p:txBody>
      </p:sp>
      <p:sp>
        <p:nvSpPr>
          <p:cNvPr id="72" name="Accounting note"/>
          <p:cNvSpPr txBox="1"/>
          <p:nvPr/>
        </p:nvSpPr>
        <p:spPr>
          <a:xfrm>
            <a:off x="1828800" y="19248120"/>
            <a:ext cx="31729680" cy="548640"/>
          </a:xfrm>
          <a:prstGeom prst="rect">
            <a:avLst/>
          </a:prstGeom>
          <a:noFill/>
        </p:spPr>
        <p:txBody>
          <a:bodyPr wrap="square" lIns="18288" rIns="18288" tIns="0" bIns="0">
            <a:spAutoFit/>
          </a:bodyPr>
          <a:lstStyle/>
          <a:p>
            <a:pPr>
              <a:spcBef>
                <a:spcPts val="0"/>
              </a:spcBef>
              <a:spcAft>
                <a:spcPts val="0"/>
              </a:spcAft>
            </a:pPr>
            <a:r>
              <a:rPr sz="2400" b="0">
                <a:solidFill>
                  <a:srgbClr val="313131"/>
                </a:solidFill>
                <a:latin typeface="NVIDIA Sans"/>
              </a:rPr>
              <a:t>Host ranges and accumulated GPU work are different views; neither is a GPU critical-path decomposition.</a:t>
            </a:r>
          </a:p>
        </p:txBody>
      </p:sp>
      <p:sp>
        <p:nvSpPr>
          <p:cNvPr id="73" name="Slide Number Placeholder 72"/>
          <p:cNvSpPr>
            <a:spLocks noGrp="1"/>
          </p:cNvSpPr>
          <p:nvPr>
            <p:ph type="sldNum" idx="16" sz="quarter"/>
          </p:nvPr>
        </p:nvSpPr>
        <p:spPr/>
        <p:txBody>
          <a:bodyPr/>
          <a:p>
            <a:r>
              <a:t>6</a:t>
            </a:r>
          </a:p>
        </p:txBody>
      </p:sp>
      <p:sp>
        <p:nvSpPr>
          <p:cNvPr id="74" name="Text Placeholder 73"/>
          <p:cNvSpPr>
            <a:spLocks noGrp="1"/>
          </p:cNvSpPr>
          <p:nvPr>
            <p:ph type="body" idx="13" sz="quarter"/>
          </p:nvPr>
        </p:nvSpPr>
        <p:spPr/>
        <p:txBody>
          <a:bodyPr/>
          <a:lstStyle/>
          <a:p>
            <a:r>
              <a:t>Original Ref2VA · 50 evaluations · BF16 · dense attention · 8 × SM120 GPUs</a:t>
            </a:r>
          </a:p>
        </p:txBody>
      </p:sp>
      <p:sp>
        <p:nvSpPr>
          <p:cNvPr id="75" name="Title 74"/>
          <p:cNvSpPr>
            <a:spLocks noGrp="1"/>
          </p:cNvSpPr>
          <p:nvPr>
            <p:ph type="title"/>
          </p:nvPr>
        </p:nvSpPr>
        <p:spPr/>
        <p:txBody>
          <a:bodyPr/>
          <a:lstStyle/>
          <a:p>
            <a:r>
              <a:t>Baseline: Nsight Systems Breakdown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9</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Retained single-GPU study at 1344 × 768 · Separate from the eight-GPU roadmap</a:t>
            </a:r>
          </a:p>
        </p:txBody>
      </p:sp>
      <p:sp>
        <p:nvSpPr>
          <p:cNvPr id="4" name="Title 3"/>
          <p:cNvSpPr>
            <a:spLocks noGrp="1"/>
          </p:cNvSpPr>
          <p:nvPr>
            <p:ph type="title"/>
          </p:nvPr>
        </p:nvSpPr>
        <p:spPr/>
        <p:txBody>
          <a:bodyPr/>
          <a:lstStyle/>
          <a:p>
            <a:r>
              <a:t>Prior Study: Quantization Quality</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sample; no general quality claim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BF16 weights</a:t>
            </a:r>
          </a:p>
          <a:p>
            <a:pPr algn="ctr">
              <a:lnSpc>
                <a:spcPct val="108000"/>
              </a:lnSpc>
              <a:spcBef>
                <a:spcPts val="0"/>
              </a:spcBef>
              <a:spcAft>
                <a:spcPts val="10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Fresh BF16-derived NVFP4</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QAD weights + native scales</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0.2177  |  SSIM 0.6225</a:t>
            </a:r>
          </a:p>
        </p:txBody>
      </p:sp>
      <p:sp>
        <p:nvSpPr>
          <p:cNvPr id="22" name="QAD + Optimized FP4"/>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Unified prefix / video attention</a:t>
            </a:r>
            <a:br>
              <a:rPr sz="2900" b="0">
                <a:solidFill>
                  <a:srgbClr val="313131"/>
                </a:solidFill>
                <a:latin typeface="NVIDIA Sans"/>
              </a:rPr>
            </a:br>
            <a:r>
              <a:rPr sz="2900" b="0">
                <a:solidFill>
                  <a:srgbClr val="313131"/>
                </a:solidFill>
                <a:latin typeface="NVIDIA Sans"/>
              </a:rPr>
              <a:t>Device-aware SM scheduling</a:t>
            </a:r>
          </a:p>
        </p:txBody>
      </p:sp>
      <p:sp>
        <p:nvSpPr>
          <p:cNvPr id="25" name="Request: 69.9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69.95 s*</a:t>
            </a:r>
          </a:p>
        </p:txBody>
      </p:sp>
      <p:sp>
        <p:nvSpPr>
          <p:cNvPr id="26" name="LPIPS 0.2169  |  SSIM 0.6222"/>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0.2169  |  SSIM 0.6222</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1344 × 768 · 124 frames at 24 FPS · 8 steps · Seed 1234 · VSA tile128</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*Single requests with CPU offload. GPUs: BF16 0; Online / QAD 3; Native FP4 1.</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rPr>
              <a:t>Three Ideas Behind Faster Generation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Technical overview · detailed algorithms and source excerpts remain available on hidden slides</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11</a:t>
            </a:r>
          </a:p>
        </p:txBody>
      </p:sp>
      <p:sp>
        <p:nvSpPr>
          <p:cNvPr id="5" name="Overview panel 0"/>
          <p:cNvSpPr/>
          <p:nvPr/>
        </p:nvSpPr>
        <p:spPr>
          <a:xfrm>
            <a:off x="1828800" y="502920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Less model work</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Few-step distillation reduces evaluations.</a:t>
            </a:r>
          </a:p>
          <a:p>
            <a:pPr>
              <a:spcAft>
                <a:spcPts val="800"/>
              </a:spcAft>
            </a:pPr>
            <a:r>
              <a:rPr sz="3500">
                <a:solidFill>
                  <a:srgbClr val="111111"/>
                </a:solidFill>
                <a:latin typeface="NVIDIA Sans"/>
              </a:rPr>
              <a:t>Sparse attention concentrates work on selected regions.</a:t>
            </a:r>
          </a:p>
          <a:p>
            <a:pPr>
              <a:spcAft>
                <a:spcPts val="800"/>
              </a:spcAft>
            </a:pPr>
            <a:r>
              <a:rPr sz="3500">
                <a:solidFill>
                  <a:srgbClr val="111111"/>
                </a:solidFill>
                <a:latin typeface="NVIDIA Sans"/>
              </a:rPr>
              <a:t>Quantized inference lowers arithmetic and memory cost.</a:t>
            </a:r>
          </a:p>
        </p:txBody>
      </p:sp>
      <p:sp>
        <p:nvSpPr>
          <p:cNvPr id="8" name="Overview panel 1"/>
          <p:cNvSpPr/>
          <p:nvPr/>
        </p:nvSpPr>
        <p:spPr>
          <a:xfrm>
            <a:off x="1828800" y="928116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Overlap across eight GPUs</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Ulysses distributes attention across heads.</a:t>
            </a:r>
          </a:p>
          <a:p>
            <a:pPr>
              <a:spcAft>
                <a:spcPts val="800"/>
              </a:spcAft>
            </a:pPr>
            <a:r>
              <a:rPr sz="3500">
                <a:solidFill>
                  <a:srgbClr val="111111"/>
                </a:solidFill>
                <a:latin typeface="NVIDIA Sans"/>
              </a:rPr>
              <a:t>RDMA carries the exchanges.</a:t>
            </a:r>
          </a:p>
          <a:p>
            <a:pPr>
              <a:spcAft>
                <a:spcPts val="800"/>
              </a:spcAft>
            </a:pPr>
            <a:r>
              <a:rPr sz="3500">
                <a:solidFill>
                  <a:srgbClr val="111111"/>
                </a:solidFill>
                <a:latin typeface="NVIDIA Sans"/>
              </a:rPr>
              <a:t>Head bands overlap transfer with attention compute.</a:t>
            </a:r>
          </a:p>
        </p:txBody>
      </p:sp>
      <p:sp>
        <p:nvSpPr>
          <p:cNvPr id="11" name="Overview panel 2"/>
          <p:cNvSpPr/>
          <p:nvPr/>
        </p:nvSpPr>
        <p:spPr>
          <a:xfrm>
            <a:off x="1828800" y="1353312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Keep the output path moving</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CUDA Graph replays stable head-band compute.
Fused packing reduces intermediate copies.
NVFP4 VAE and MP4 pre-encoding reduce output cost.</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555555"/>
                </a:solidFill>
                <a:latin typeface="NVIDIA Sans"/>
              </a:rPr>
              <a:t>These are optimization families. Use each demo’s own recipe and measurements; the four-step avatar and slide 17 are distinct workloads.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12</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13</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14</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Optimization Path: E2E Speedup</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960 × 544 · 124 frames / 24 FPS · 8 exclusive GPUs · same inputs and seed 43</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17</a:t>
            </a:r>
          </a:p>
        </p:txBody>
      </p:sp>
      <p:sp>
        <p:nvSpPr>
          <p:cNvPr id="5" name="Table header"/>
          <p:cNvSpPr/>
          <p:nvPr/>
        </p:nvSpPr>
        <p:spPr>
          <a:xfrm>
            <a:off x="1828800" y="4709160"/>
            <a:ext cx="32918400" cy="1234440"/>
          </a:xfrm>
          <a:prstGeom prst="rect">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E2E speedup</a:t>
            </a:r>
          </a:p>
          <a:p>
            <a:pPr>
              <a:spcBef>
                <a:spcPts val="0"/>
              </a:spcBef>
              <a:spcAft>
                <a:spcPts val="0"/>
              </a:spcAft>
            </a:pPr>
            <a:r>
              <a:rPr sz="2800" b="1">
                <a:solidFill>
                  <a:srgbClr val="17211A"/>
                </a:solidFill>
                <a:latin typeface="NVIDIA Sans"/>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RTF</a:t>
            </a:r>
          </a:p>
        </p:txBody>
      </p:sp>
      <p:sp>
        <p:nvSpPr>
          <p:cNvPr id="11" name="Row background 0"/>
          <p:cNvSpPr/>
          <p:nvPr/>
        </p:nvSpPr>
        <p:spPr>
          <a:xfrm>
            <a:off x="1828800" y="609904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8.579</a:t>
            </a:r>
          </a:p>
        </p:txBody>
      </p:sp>
      <p:sp>
        <p:nvSpPr>
          <p:cNvPr id="22" name="Row background 2"/>
          <p:cNvSpPr/>
          <p:nvPr/>
        </p:nvSpPr>
        <p:spPr>
          <a:xfrm>
            <a:off x="1828800" y="820216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3.767</a:t>
            </a:r>
          </a:p>
        </p:txBody>
      </p:sp>
      <p:sp>
        <p:nvSpPr>
          <p:cNvPr id="33" name="Row background 4"/>
          <p:cNvSpPr/>
          <p:nvPr/>
        </p:nvSpPr>
        <p:spPr>
          <a:xfrm>
            <a:off x="1828800" y="1030528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1.240</a:t>
            </a:r>
          </a:p>
        </p:txBody>
      </p:sp>
      <p:sp>
        <p:nvSpPr>
          <p:cNvPr id="44" name="Row background 6"/>
          <p:cNvSpPr/>
          <p:nvPr/>
        </p:nvSpPr>
        <p:spPr>
          <a:xfrm>
            <a:off x="1828800" y="1240840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1.049</a:t>
            </a:r>
          </a:p>
        </p:txBody>
      </p:sp>
      <p:sp>
        <p:nvSpPr>
          <p:cNvPr id="55" name="Row background 8"/>
          <p:cNvSpPr/>
          <p:nvPr/>
        </p:nvSpPr>
        <p:spPr>
          <a:xfrm>
            <a:off x="1828800" y="14511528"/>
            <a:ext cx="32918400" cy="100584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52604F"/>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300" b="1">
                <a:solidFill>
                  <a:srgbClr val="17211A"/>
                </a:solidFill>
                <a:latin typeface="NVIDIA Sans"/>
              </a:rPr>
              <a:t>Final 4.922 s · recheck 4.927 s · 6/6 requests &lt; 5 s · 4.5 s target not reached</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RTF = latency / 5.167 s. Standalone H3; ASR / LLM excluded. Model, schedule and precision changes are not all lossless.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Live Avatar: From a Question to a Video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960 × 544 · 24 FPS · 8 × SM120 GPUs · first window 5.167 s / each continuation adds 4.958 s</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18</a:t>
            </a:r>
          </a:p>
        </p:txBody>
      </p:sp>
      <p:sp>
        <p:nvSpPr>
          <p:cNvPr id="5" name="Example question"/>
          <p:cNvSpPr/>
          <p:nvPr/>
        </p:nvSpPr>
        <p:spPr>
          <a:xfrm>
            <a:off x="1828800" y="4526280"/>
            <a:ext cx="32918400" cy="224028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ample label"/>
          <p:cNvSpPr txBox="1"/>
          <p:nvPr/>
        </p:nvSpPr>
        <p:spPr>
          <a:xfrm>
            <a:off x="2240280" y="4800600"/>
            <a:ext cx="32004000" cy="548640"/>
          </a:xfrm>
          <a:prstGeom prst="rect">
            <a:avLst/>
          </a:prstGeom>
          <a:noFill/>
        </p:spPr>
        <p:txBody>
          <a:bodyPr wrap="square" lIns="18288" rIns="18288" tIns="0" bIns="0">
            <a:spAutoFit/>
          </a:bodyPr>
          <a:lstStyle/>
          <a:p>
            <a:pPr>
              <a:spcBef>
                <a:spcPts val="0"/>
              </a:spcBef>
              <a:spcAft>
                <a:spcPts val="0"/>
              </a:spcAft>
            </a:pPr>
            <a:r>
              <a:rPr sz="2500" b="1">
                <a:solidFill>
                  <a:srgbClr val="376B18"/>
                </a:solidFill>
                <a:latin typeface="NVIDIA Sans"/>
              </a:rPr>
              <a:t>EXAMPLE · INTRODUCE YOURSELF</a:t>
            </a:r>
          </a:p>
        </p:txBody>
      </p:sp>
      <p:sp>
        <p:nvSpPr>
          <p:cNvPr id="7" name="User question"/>
          <p:cNvSpPr txBox="1"/>
          <p:nvPr/>
        </p:nvSpPr>
        <p:spPr>
          <a:xfrm>
            <a:off x="2240280" y="5486400"/>
            <a:ext cx="32004000" cy="822960"/>
          </a:xfrm>
          <a:prstGeom prst="rect">
            <a:avLst/>
          </a:prstGeom>
          <a:noFill/>
        </p:spPr>
        <p:txBody>
          <a:bodyPr wrap="square" lIns="18288" rIns="18288" tIns="0" bIns="0">
            <a:spAutoFit/>
          </a:bodyPr>
          <a:lstStyle/>
          <a:p>
            <a:pPr>
              <a:spcBef>
                <a:spcPts val="0"/>
              </a:spcBef>
              <a:spcAft>
                <a:spcPts val="0"/>
              </a:spcAft>
            </a:pPr>
            <a:r>
              <a:rPr sz="4300" b="1">
                <a:solidFill>
                  <a:srgbClr val="17211A"/>
                </a:solidFill>
                <a:latin typeface="NVIDIA Sans"/>
              </a:rPr>
              <a:t>“Hi, could you introduce yourself?”</a:t>
            </a:r>
          </a:p>
        </p:txBody>
      </p:sp>
      <p:sp>
        <p:nvSpPr>
          <p:cNvPr id="8" name="Translation note"/>
          <p:cNvSpPr txBox="1"/>
          <p:nvPr/>
        </p:nvSpPr>
        <p:spPr>
          <a:xfrm>
            <a:off x="21488400" y="6858000"/>
            <a:ext cx="13258800" cy="502920"/>
          </a:xfrm>
          <a:prstGeom prst="rect">
            <a:avLst/>
          </a:prstGeom>
          <a:noFill/>
        </p:spPr>
        <p:txBody>
          <a:bodyPr wrap="square" lIns="18288" rIns="18288" tIns="0" bIns="0">
            <a:spAutoFit/>
          </a:bodyPr>
          <a:lstStyle/>
          <a:p>
            <a:pPr>
              <a:spcBef>
                <a:spcPts val="0"/>
              </a:spcBef>
              <a:spcAft>
                <a:spcPts val="0"/>
              </a:spcAft>
            </a:pPr>
            <a:r>
              <a:rPr sz="2400" b="0">
                <a:solidFill>
                  <a:srgbClr val="52604F"/>
                </a:solidFill>
                <a:latin typeface="NVIDIA Sans"/>
              </a:rPr>
              <a:t>User question translated from the recorded demo</a:t>
            </a:r>
          </a:p>
        </p:txBody>
      </p:sp>
      <p:sp>
        <p:nvSpPr>
          <p:cNvPr id="9" name="Pipeline Microphone"/>
          <p:cNvSpPr/>
          <p:nvPr/>
        </p:nvSpPr>
        <p:spPr>
          <a:xfrm>
            <a:off x="1828800" y="7680960"/>
            <a:ext cx="493776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icrophone"/>
          <p:cNvSpPr txBox="1"/>
          <p:nvPr/>
        </p:nvSpPr>
        <p:spPr>
          <a:xfrm>
            <a:off x="2148840" y="8046720"/>
            <a:ext cx="429768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Microphone</a:t>
            </a:r>
          </a:p>
        </p:txBody>
      </p:sp>
      <p:sp>
        <p:nvSpPr>
          <p:cNvPr id="11" name="Microphone detail"/>
          <p:cNvSpPr txBox="1"/>
          <p:nvPr/>
        </p:nvSpPr>
        <p:spPr>
          <a:xfrm>
            <a:off x="2148840" y="8961120"/>
            <a:ext cx="429768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Spoken question</a:t>
            </a:r>
          </a:p>
        </p:txBody>
      </p:sp>
      <p:sp>
        <p:nvSpPr>
          <p:cNvPr id="12" name="Pipeline arrow 0"/>
          <p:cNvSpPr/>
          <p:nvPr/>
        </p:nvSpPr>
        <p:spPr>
          <a:xfrm>
            <a:off x="68580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ipeline ASR"/>
          <p:cNvSpPr/>
          <p:nvPr/>
        </p:nvSpPr>
        <p:spPr>
          <a:xfrm>
            <a:off x="7680960" y="7680960"/>
            <a:ext cx="64008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SR"/>
          <p:cNvSpPr txBox="1"/>
          <p:nvPr/>
        </p:nvSpPr>
        <p:spPr>
          <a:xfrm>
            <a:off x="8001000" y="8046720"/>
            <a:ext cx="57607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ASR</a:t>
            </a:r>
          </a:p>
        </p:txBody>
      </p:sp>
      <p:sp>
        <p:nvSpPr>
          <p:cNvPr id="15" name="ASR detail"/>
          <p:cNvSpPr txBox="1"/>
          <p:nvPr/>
        </p:nvSpPr>
        <p:spPr>
          <a:xfrm>
            <a:off x="8001000" y="8961120"/>
            <a:ext cx="57607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Speech → text</a:t>
            </a:r>
          </a:p>
          <a:p>
            <a:pPr>
              <a:spcBef>
                <a:spcPts val="0"/>
              </a:spcBef>
              <a:spcAft>
                <a:spcPts val="0"/>
              </a:spcAft>
            </a:pPr>
            <a:r>
              <a:rPr sz="2800" b="0">
                <a:solidFill>
                  <a:srgbClr val="17211A"/>
                </a:solidFill>
                <a:latin typeface="NVIDIA Sans"/>
              </a:rPr>
              <a:t>Qwen3-ASR-0.6B</a:t>
            </a:r>
          </a:p>
        </p:txBody>
      </p:sp>
      <p:sp>
        <p:nvSpPr>
          <p:cNvPr id="16" name="Pipeline arrow 1"/>
          <p:cNvSpPr/>
          <p:nvPr/>
        </p:nvSpPr>
        <p:spPr>
          <a:xfrm>
            <a:off x="141732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ipeline LLM"/>
          <p:cNvSpPr/>
          <p:nvPr/>
        </p:nvSpPr>
        <p:spPr>
          <a:xfrm>
            <a:off x="14996159" y="7680960"/>
            <a:ext cx="64008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LM"/>
          <p:cNvSpPr txBox="1"/>
          <p:nvPr/>
        </p:nvSpPr>
        <p:spPr>
          <a:xfrm>
            <a:off x="15316200" y="8046720"/>
            <a:ext cx="57607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LLM</a:t>
            </a:r>
          </a:p>
        </p:txBody>
      </p:sp>
      <p:sp>
        <p:nvSpPr>
          <p:cNvPr id="19" name="LLM detail"/>
          <p:cNvSpPr txBox="1"/>
          <p:nvPr/>
        </p:nvSpPr>
        <p:spPr>
          <a:xfrm>
            <a:off x="15316200" y="8961120"/>
            <a:ext cx="57607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Text → short reply</a:t>
            </a:r>
          </a:p>
          <a:p>
            <a:pPr>
              <a:spcBef>
                <a:spcPts val="0"/>
              </a:spcBef>
              <a:spcAft>
                <a:spcPts val="0"/>
              </a:spcAft>
            </a:pPr>
            <a:r>
              <a:rPr sz="2800" b="0">
                <a:solidFill>
                  <a:srgbClr val="17211A"/>
                </a:solidFill>
                <a:latin typeface="NVIDIA Sans"/>
              </a:rPr>
              <a:t>Qwen3-4B</a:t>
            </a:r>
          </a:p>
        </p:txBody>
      </p:sp>
      <p:sp>
        <p:nvSpPr>
          <p:cNvPr id="20" name="Pipeline arrow 2"/>
          <p:cNvSpPr/>
          <p:nvPr/>
        </p:nvSpPr>
        <p:spPr>
          <a:xfrm>
            <a:off x="214884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peline H3"/>
          <p:cNvSpPr/>
          <p:nvPr/>
        </p:nvSpPr>
        <p:spPr>
          <a:xfrm>
            <a:off x="22311360" y="7680960"/>
            <a:ext cx="4206240" cy="256032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3"/>
          <p:cNvSpPr txBox="1"/>
          <p:nvPr/>
        </p:nvSpPr>
        <p:spPr>
          <a:xfrm>
            <a:off x="22631400" y="8046720"/>
            <a:ext cx="3566159"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H3</a:t>
            </a:r>
          </a:p>
        </p:txBody>
      </p:sp>
      <p:sp>
        <p:nvSpPr>
          <p:cNvPr id="23" name="Pipeline arrow 3"/>
          <p:cNvSpPr/>
          <p:nvPr/>
        </p:nvSpPr>
        <p:spPr>
          <a:xfrm>
            <a:off x="2660904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ipeline Playback"/>
          <p:cNvSpPr/>
          <p:nvPr/>
        </p:nvSpPr>
        <p:spPr>
          <a:xfrm>
            <a:off x="27432000" y="7680960"/>
            <a:ext cx="73152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layback"/>
          <p:cNvSpPr txBox="1"/>
          <p:nvPr/>
        </p:nvSpPr>
        <p:spPr>
          <a:xfrm>
            <a:off x="27752040" y="8046720"/>
            <a:ext cx="66751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Playback</a:t>
            </a:r>
          </a:p>
        </p:txBody>
      </p:sp>
      <p:sp>
        <p:nvSpPr>
          <p:cNvPr id="26" name="Playback detail"/>
          <p:cNvSpPr txBox="1"/>
          <p:nvPr/>
        </p:nvSpPr>
        <p:spPr>
          <a:xfrm>
            <a:off x="27752040" y="8961120"/>
            <a:ext cx="66751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Native audio + video</a:t>
            </a:r>
          </a:p>
          <a:p>
            <a:pPr>
              <a:spcBef>
                <a:spcPts val="0"/>
              </a:spcBef>
              <a:spcAft>
                <a:spcPts val="0"/>
              </a:spcAft>
            </a:pPr>
            <a:r>
              <a:rPr sz="2800" b="0">
                <a:solidFill>
                  <a:srgbClr val="17211A"/>
                </a:solidFill>
                <a:latin typeface="NVIDIA Sans"/>
              </a:rPr>
              <a:t>~5-second windows</a:t>
            </a:r>
          </a:p>
        </p:txBody>
      </p:sp>
      <p:sp>
        <p:nvSpPr>
          <p:cNvPr id="27" name="Reply label"/>
          <p:cNvSpPr txBox="1"/>
          <p:nvPr/>
        </p:nvSpPr>
        <p:spPr>
          <a:xfrm>
            <a:off x="1828800" y="10972800"/>
            <a:ext cx="173736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LLM reply text</a:t>
            </a:r>
          </a:p>
        </p:txBody>
      </p:sp>
      <p:sp>
        <p:nvSpPr>
          <p:cNvPr id="28" name="Reply quote"/>
          <p:cNvSpPr/>
          <p:nvPr/>
        </p:nvSpPr>
        <p:spPr>
          <a:xfrm>
            <a:off x="1828800" y="11887200"/>
            <a:ext cx="173736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ply"/>
          <p:cNvSpPr txBox="1"/>
          <p:nvPr/>
        </p:nvSpPr>
        <p:spPr>
          <a:xfrm>
            <a:off x="2194560" y="12481560"/>
            <a:ext cx="16642080" cy="164592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“Hi, I’m Miles. I help with</a:t>
            </a:r>
          </a:p>
          <a:p>
            <a:pPr>
              <a:spcBef>
                <a:spcPts val="0"/>
              </a:spcBef>
              <a:spcAft>
                <a:spcPts val="0"/>
              </a:spcAft>
            </a:pPr>
            <a:r>
              <a:rPr sz="3800" b="1">
                <a:solidFill>
                  <a:srgbClr val="17211A"/>
                </a:solidFill>
                <a:latin typeface="NVIDIA Sans"/>
              </a:rPr>
              <a:t>simple, clear answers.”</a:t>
            </a:r>
          </a:p>
        </p:txBody>
      </p:sp>
      <p:sp>
        <p:nvSpPr>
          <p:cNvPr id="30" name="Prompt label"/>
          <p:cNvSpPr txBox="1"/>
          <p:nvPr/>
        </p:nvSpPr>
        <p:spPr>
          <a:xfrm>
            <a:off x="1828800" y="15041880"/>
            <a:ext cx="173736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H3 prompt · English excerpt</a:t>
            </a:r>
          </a:p>
        </p:txBody>
      </p:sp>
      <p:sp>
        <p:nvSpPr>
          <p:cNvPr id="31" name="Prompt explanation"/>
          <p:cNvSpPr txBox="1"/>
          <p:nvPr/>
        </p:nvSpPr>
        <p:spPr>
          <a:xfrm>
            <a:off x="1828800" y="15956280"/>
            <a:ext cx="17373600" cy="233172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The man says exactly this English dialogue</a:t>
            </a:r>
          </a:p>
          <a:p>
            <a:pPr>
              <a:spcBef>
                <a:spcPts val="0"/>
              </a:spcBef>
              <a:spcAft>
                <a:spcPts val="0"/>
              </a:spcAft>
            </a:pPr>
            <a:r>
              <a:rPr sz="2800" b="0">
                <a:solidFill>
                  <a:srgbClr val="17211A"/>
                </a:solidFill>
                <a:latin typeface="NVIDIA Sans"/>
              </a:rPr>
              <a:t>in his reference voice:</a:t>
            </a:r>
          </a:p>
          <a:p>
            <a:pPr>
              <a:spcBef>
                <a:spcPts val="0"/>
              </a:spcBef>
              <a:spcAft>
                <a:spcPts val="0"/>
              </a:spcAft>
            </a:pPr>
            <a:r>
              <a:rPr sz="2800" b="0">
                <a:solidFill>
                  <a:srgbClr val="17211A"/>
                </a:solidFill>
                <a:latin typeface="NVIDIA Sans"/>
              </a:rPr>
              <a:t>"Hi, I'm Miles. I help with simple, clear answers."</a:t>
            </a:r>
          </a:p>
          <a:p>
            <a:pPr>
              <a:spcBef>
                <a:spcPts val="0"/>
              </a:spcBef>
              <a:spcAft>
                <a:spcPts val="0"/>
              </a:spcAft>
            </a:pPr>
            <a:r>
              <a:rPr sz="2800" b="0">
                <a:solidFill>
                  <a:srgbClr val="17211A"/>
                </a:solidFill>
                <a:latin typeface="NVIDIA Sans"/>
              </a:rPr>
              <a:t>… His lips follow the words.</a:t>
            </a:r>
          </a:p>
        </p:txBody>
      </p:sp>
      <p:sp>
        <p:nvSpPr>
          <p:cNvPr id="32" name="Example outcome"/>
          <p:cNvSpPr txBox="1"/>
          <p:nvPr/>
        </p:nvSpPr>
        <p:spPr>
          <a:xfrm>
            <a:off x="1828800" y="18699480"/>
            <a:ext cx="17830800" cy="8229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A text reply becomes a speaking avatar clip.</a:t>
            </a:r>
          </a:p>
        </p:txBody>
      </p:sp>
      <p:sp>
        <p:nvSpPr>
          <p:cNvPr id="33" name="Output label"/>
          <p:cNvSpPr txBox="1"/>
          <p:nvPr/>
        </p:nvSpPr>
        <p:spPr>
          <a:xfrm>
            <a:off x="21488400" y="10972800"/>
            <a:ext cx="132588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Reference image</a:t>
            </a:r>
          </a:p>
        </p:txBody>
      </p:sp>
      <p:sp>
        <p:nvSpPr>
          <p:cNvPr id="35" name="Frame provenance"/>
          <p:cNvSpPr txBox="1"/>
          <p:nvPr/>
        </p:nvSpPr>
        <p:spPr>
          <a:xfrm>
            <a:off x="21488400" y="19312128"/>
            <a:ext cx="11704320" cy="457200"/>
          </a:xfrm>
          <a:prstGeom prst="rect">
            <a:avLst/>
          </a:prstGeom>
          <a:noFill/>
        </p:spPr>
        <p:txBody>
          <a:bodyPr wrap="square" lIns="18288" rIns="18288" tIns="0" bIns="0">
            <a:spAutoFit/>
          </a:bodyPr>
          <a:lstStyle/>
          <a:p>
            <a:pPr>
              <a:spcBef>
                <a:spcPts val="0"/>
              </a:spcBef>
              <a:spcAft>
                <a:spcPts val="0"/>
              </a:spcAft>
            </a:pPr>
            <a:r>
              <a:rPr sz="2300" b="0">
                <a:solidFill>
                  <a:srgbClr val="52604F"/>
                </a:solidFill>
                <a:latin typeface="NVIDIA Sans"/>
              </a:rPr>
              <a:t>Input portrait supplied to H3</a:t>
            </a:r>
          </a:p>
        </p:txBody>
      </p:sp>
      <p:pic>
        <p:nvPicPr>
          <p:cNvPr id="36" name="Picture 35" descr="reference.png"/>
          <p:cNvPicPr>
            <a:picLocks noChangeAspect="1"/>
          </p:cNvPicPr>
          <p:nvPr/>
        </p:nvPicPr>
        <p:blipFill>
          <a:blip r:embed="rId5"/>
          <a:stretch>
            <a:fillRect/>
          </a:stretch>
        </p:blipFill>
        <p:spPr>
          <a:xfrm>
            <a:off x="21488400" y="11795760"/>
            <a:ext cx="12801600" cy="73152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Continuation: From One Window to the Next</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Reuse recent audio–video context, then append only newly generated frames.</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19</a:t>
            </a:r>
          </a:p>
        </p:txBody>
      </p:sp>
      <p:sp>
        <p:nvSpPr>
          <p:cNvPr id="5" name="Flow card 0"/>
          <p:cNvSpPr/>
          <p:nvPr/>
        </p:nvSpPr>
        <p:spPr>
          <a:xfrm>
            <a:off x="1828800" y="4754880"/>
            <a:ext cx="9144000" cy="57607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low label 0"/>
          <p:cNvSpPr txBox="1"/>
          <p:nvPr/>
        </p:nvSpPr>
        <p:spPr>
          <a:xfrm>
            <a:off x="2148840" y="5166360"/>
            <a:ext cx="8503920" cy="73152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1  KEEP RECENT CONTEXT</a:t>
            </a:r>
          </a:p>
        </p:txBody>
      </p:sp>
      <p:sp>
        <p:nvSpPr>
          <p:cNvPr id="7" name="Flow card 1"/>
          <p:cNvSpPr/>
          <p:nvPr/>
        </p:nvSpPr>
        <p:spPr>
          <a:xfrm>
            <a:off x="12801600" y="4754880"/>
            <a:ext cx="9144000" cy="57607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low label 1"/>
          <p:cNvSpPr txBox="1"/>
          <p:nvPr/>
        </p:nvSpPr>
        <p:spPr>
          <a:xfrm>
            <a:off x="13121640" y="5166360"/>
            <a:ext cx="8503920" cy="73152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2  CONDITION THE NEXT WINDOW</a:t>
            </a:r>
          </a:p>
        </p:txBody>
      </p:sp>
      <p:sp>
        <p:nvSpPr>
          <p:cNvPr id="9" name="Flow card 2"/>
          <p:cNvSpPr/>
          <p:nvPr/>
        </p:nvSpPr>
        <p:spPr>
          <a:xfrm>
            <a:off x="23774400" y="4754880"/>
            <a:ext cx="10972800" cy="576072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low label 2"/>
          <p:cNvSpPr txBox="1"/>
          <p:nvPr/>
        </p:nvSpPr>
        <p:spPr>
          <a:xfrm>
            <a:off x="24094440" y="5166360"/>
            <a:ext cx="10332720" cy="73152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3  GENERATE &amp; APPEND</a:t>
            </a:r>
          </a:p>
        </p:txBody>
      </p:sp>
      <p:sp>
        <p:nvSpPr>
          <p:cNvPr id="11" name="Video history"/>
          <p:cNvSpPr txBox="1"/>
          <p:nvPr/>
        </p:nvSpPr>
        <p:spPr>
          <a:xfrm>
            <a:off x="2194560" y="6263640"/>
            <a:ext cx="8412480" cy="64008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Last 2 video latent slices</a:t>
            </a:r>
          </a:p>
        </p:txBody>
      </p:sp>
      <p:sp>
        <p:nvSpPr>
          <p:cNvPr id="12" name="Video latent 0"/>
          <p:cNvSpPr/>
          <p:nvPr/>
        </p:nvSpPr>
        <p:spPr>
          <a:xfrm>
            <a:off x="2194560" y="7086600"/>
            <a:ext cx="3840480" cy="914400"/>
          </a:xfrm>
          <a:prstGeom prst="rect">
            <a:avLst/>
          </a:prstGeom>
          <a:solidFill>
            <a:srgbClr val="C6D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ideo latent label 0"/>
          <p:cNvSpPr txBox="1"/>
          <p:nvPr/>
        </p:nvSpPr>
        <p:spPr>
          <a:xfrm>
            <a:off x="2468880" y="7269480"/>
            <a:ext cx="3291840" cy="5943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v[T−1]</a:t>
            </a:r>
          </a:p>
        </p:txBody>
      </p:sp>
      <p:sp>
        <p:nvSpPr>
          <p:cNvPr id="14" name="Video latent 1"/>
          <p:cNvSpPr/>
          <p:nvPr/>
        </p:nvSpPr>
        <p:spPr>
          <a:xfrm>
            <a:off x="6446520" y="7086600"/>
            <a:ext cx="3840480" cy="914400"/>
          </a:xfrm>
          <a:prstGeom prst="rect">
            <a:avLst/>
          </a:prstGeom>
          <a:solidFill>
            <a:srgbClr val="C6D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Video latent label 1"/>
          <p:cNvSpPr txBox="1"/>
          <p:nvPr/>
        </p:nvSpPr>
        <p:spPr>
          <a:xfrm>
            <a:off x="6720840" y="7269480"/>
            <a:ext cx="3291840" cy="5943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v[T]</a:t>
            </a:r>
          </a:p>
        </p:txBody>
      </p:sp>
      <p:sp>
        <p:nvSpPr>
          <p:cNvPr id="16" name="Audio context"/>
          <p:cNvSpPr/>
          <p:nvPr/>
        </p:nvSpPr>
        <p:spPr>
          <a:xfrm>
            <a:off x="2194560" y="8321040"/>
            <a:ext cx="8046720" cy="914400"/>
          </a:xfrm>
          <a:prstGeom prst="rect">
            <a:avLst/>
          </a:prstGeom>
          <a:solidFill>
            <a:srgbClr val="DB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udio context label"/>
          <p:cNvSpPr txBox="1"/>
          <p:nvPr/>
        </p:nvSpPr>
        <p:spPr>
          <a:xfrm>
            <a:off x="2468880" y="8503920"/>
            <a:ext cx="7498079" cy="5943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Aligned audio tail</a:t>
            </a:r>
          </a:p>
        </p:txBody>
      </p:sp>
      <p:sp>
        <p:nvSpPr>
          <p:cNvPr id="18" name="Keep scope"/>
          <p:cNvSpPr txBox="1"/>
          <p:nvPr/>
        </p:nvSpPr>
        <p:spPr>
          <a:xfrm>
            <a:off x="2194560" y="9646920"/>
            <a:ext cx="8412480" cy="594360"/>
          </a:xfrm>
          <a:prstGeom prst="rect">
            <a:avLst/>
          </a:prstGeom>
          <a:noFill/>
        </p:spPr>
        <p:txBody>
          <a:bodyPr wrap="square" lIns="18288" rIns="18288" tIns="0" bIns="0">
            <a:spAutoFit/>
          </a:bodyPr>
          <a:lstStyle/>
          <a:p>
            <a:pPr>
              <a:spcBef>
                <a:spcPts val="0"/>
              </a:spcBef>
              <a:spcAft>
                <a:spcPts val="0"/>
              </a:spcAft>
            </a:pPr>
            <a:r>
              <a:rPr sz="2400" b="0">
                <a:solidFill>
                  <a:srgbClr val="52604F"/>
                </a:solidFill>
                <a:latin typeface="NVIDIA Sans"/>
              </a:rPr>
              <a:t>Keep only recent context after completion</a:t>
            </a:r>
          </a:p>
        </p:txBody>
      </p:sp>
      <p:sp>
        <p:nvSpPr>
          <p:cNvPr id="19" name="Right Arrow 18"/>
          <p:cNvSpPr/>
          <p:nvPr/>
        </p:nvSpPr>
        <p:spPr>
          <a:xfrm>
            <a:off x="11430000" y="7406640"/>
            <a:ext cx="914400" cy="59436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Next conditioning 0"/>
          <p:cNvSpPr txBox="1"/>
          <p:nvPr/>
        </p:nvSpPr>
        <p:spPr>
          <a:xfrm>
            <a:off x="13167360" y="6263640"/>
            <a:ext cx="8412480" cy="86868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Same reference image + voice</a:t>
            </a:r>
          </a:p>
        </p:txBody>
      </p:sp>
      <p:sp>
        <p:nvSpPr>
          <p:cNvPr id="21" name="Next conditioning 1"/>
          <p:cNvSpPr txBox="1"/>
          <p:nvPr/>
        </p:nvSpPr>
        <p:spPr>
          <a:xfrm>
            <a:off x="13167360" y="7315200"/>
            <a:ext cx="8412480" cy="86868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Next English reply / listening prompt</a:t>
            </a:r>
          </a:p>
        </p:txBody>
      </p:sp>
      <p:sp>
        <p:nvSpPr>
          <p:cNvPr id="22" name="Next conditioning 2"/>
          <p:cNvSpPr txBox="1"/>
          <p:nvPr/>
        </p:nvSpPr>
        <p:spPr>
          <a:xfrm>
            <a:off x="13167360" y="8366759"/>
            <a:ext cx="8412480" cy="86868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Recent video + audio context</a:t>
            </a:r>
          </a:p>
        </p:txBody>
      </p:sp>
      <p:sp>
        <p:nvSpPr>
          <p:cNvPr id="23" name="Condition principle"/>
          <p:cNvSpPr txBox="1"/>
          <p:nvPr/>
        </p:nvSpPr>
        <p:spPr>
          <a:xfrm>
            <a:off x="13167360" y="9646920"/>
            <a:ext cx="8412480" cy="594360"/>
          </a:xfrm>
          <a:prstGeom prst="rect">
            <a:avLst/>
          </a:prstGeom>
          <a:noFill/>
        </p:spPr>
        <p:txBody>
          <a:bodyPr wrap="square" lIns="18288" rIns="18288" tIns="0" bIns="0">
            <a:spAutoFit/>
          </a:bodyPr>
          <a:lstStyle/>
          <a:p>
            <a:pPr>
              <a:spcBef>
                <a:spcPts val="0"/>
              </a:spcBef>
              <a:spcAft>
                <a:spcPts val="0"/>
              </a:spcAft>
            </a:pPr>
            <a:r>
              <a:rPr sz="2400" b="1">
                <a:solidFill>
                  <a:srgbClr val="376B18"/>
                </a:solidFill>
                <a:latin typeface="NVIDIA Sans"/>
              </a:rPr>
              <a:t>History guides the next generation</a:t>
            </a:r>
          </a:p>
        </p:txBody>
      </p:sp>
      <p:sp>
        <p:nvSpPr>
          <p:cNvPr id="24" name="Right Arrow 23"/>
          <p:cNvSpPr/>
          <p:nvPr/>
        </p:nvSpPr>
        <p:spPr>
          <a:xfrm>
            <a:off x="22402800" y="7406640"/>
            <a:ext cx="914400" cy="59436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ame count 0"/>
          <p:cNvSpPr txBox="1"/>
          <p:nvPr/>
        </p:nvSpPr>
        <p:spPr>
          <a:xfrm>
            <a:off x="24185880" y="6263640"/>
            <a:ext cx="2743200" cy="96012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124</a:t>
            </a:r>
          </a:p>
        </p:txBody>
      </p:sp>
      <p:sp>
        <p:nvSpPr>
          <p:cNvPr id="26" name="Frame count detail 0"/>
          <p:cNvSpPr txBox="1"/>
          <p:nvPr/>
        </p:nvSpPr>
        <p:spPr>
          <a:xfrm>
            <a:off x="27066240" y="6446520"/>
            <a:ext cx="7223760" cy="77724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frames generated</a:t>
            </a:r>
          </a:p>
        </p:txBody>
      </p:sp>
      <p:sp>
        <p:nvSpPr>
          <p:cNvPr id="27" name="Frame count 1"/>
          <p:cNvSpPr txBox="1"/>
          <p:nvPr/>
        </p:nvSpPr>
        <p:spPr>
          <a:xfrm>
            <a:off x="24185880" y="7498079"/>
            <a:ext cx="2743200" cy="96012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− 5</a:t>
            </a:r>
          </a:p>
        </p:txBody>
      </p:sp>
      <p:sp>
        <p:nvSpPr>
          <p:cNvPr id="28" name="Frame count detail 1"/>
          <p:cNvSpPr txBox="1"/>
          <p:nvPr/>
        </p:nvSpPr>
        <p:spPr>
          <a:xfrm>
            <a:off x="27066240" y="7680959"/>
            <a:ext cx="7223760" cy="77724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overlap frames removed</a:t>
            </a:r>
          </a:p>
        </p:txBody>
      </p:sp>
      <p:sp>
        <p:nvSpPr>
          <p:cNvPr id="29" name="Frame count 2"/>
          <p:cNvSpPr txBox="1"/>
          <p:nvPr/>
        </p:nvSpPr>
        <p:spPr>
          <a:xfrm>
            <a:off x="24185880" y="8732520"/>
            <a:ext cx="2743200" cy="96012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119</a:t>
            </a:r>
          </a:p>
        </p:txBody>
      </p:sp>
      <p:sp>
        <p:nvSpPr>
          <p:cNvPr id="30" name="Frame count detail 2"/>
          <p:cNvSpPr txBox="1"/>
          <p:nvPr/>
        </p:nvSpPr>
        <p:spPr>
          <a:xfrm>
            <a:off x="27066240" y="8915400"/>
            <a:ext cx="7223760" cy="77724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new frames appended</a:t>
            </a:r>
          </a:p>
        </p:txBody>
      </p:sp>
      <p:sp>
        <p:nvSpPr>
          <p:cNvPr id="31" name="Timeline heading"/>
          <p:cNvSpPr txBox="1"/>
          <p:nvPr/>
        </p:nvSpPr>
        <p:spPr>
          <a:xfrm>
            <a:off x="1828800" y="11155680"/>
            <a:ext cx="32918400" cy="731520"/>
          </a:xfrm>
          <a:prstGeom prst="rect">
            <a:avLst/>
          </a:prstGeom>
          <a:noFill/>
        </p:spPr>
        <p:txBody>
          <a:bodyPr wrap="square" lIns="18288" rIns="18288" tIns="0" bIns="0">
            <a:spAutoFit/>
          </a:bodyPr>
          <a:lstStyle/>
          <a:p>
            <a:pPr>
              <a:spcBef>
                <a:spcPts val="0"/>
              </a:spcBef>
              <a:spcAft>
                <a:spcPts val="0"/>
              </a:spcAft>
            </a:pPr>
            <a:r>
              <a:rPr sz="3600" b="1">
                <a:solidFill>
                  <a:srgbClr val="17211A"/>
                </a:solidFill>
                <a:latin typeface="NVIDIA Sans"/>
              </a:rPr>
              <a:t>One continuous playback timeline</a:t>
            </a:r>
          </a:p>
        </p:txBody>
      </p:sp>
      <p:sp>
        <p:nvSpPr>
          <p:cNvPr id="32" name="Window label 0"/>
          <p:cNvSpPr txBox="1"/>
          <p:nvPr/>
        </p:nvSpPr>
        <p:spPr>
          <a:xfrm>
            <a:off x="1828800" y="12454128"/>
            <a:ext cx="4297680" cy="594360"/>
          </a:xfrm>
          <a:prstGeom prst="rect">
            <a:avLst/>
          </a:prstGeom>
          <a:noFill/>
        </p:spPr>
        <p:txBody>
          <a:bodyPr wrap="square" lIns="18288" rIns="18288" tIns="0" bIns="0">
            <a:spAutoFit/>
          </a:bodyPr>
          <a:lstStyle/>
          <a:p>
            <a:pPr>
              <a:spcBef>
                <a:spcPts val="0"/>
              </a:spcBef>
              <a:spcAft>
                <a:spcPts val="0"/>
              </a:spcAft>
            </a:pPr>
            <a:r>
              <a:rPr sz="2900" b="1">
                <a:solidFill>
                  <a:srgbClr val="17211A"/>
                </a:solidFill>
                <a:latin typeface="NVIDIA Sans"/>
              </a:rPr>
              <a:t>Window 0</a:t>
            </a:r>
          </a:p>
        </p:txBody>
      </p:sp>
      <p:sp>
        <p:nvSpPr>
          <p:cNvPr id="33" name="Window 0"/>
          <p:cNvSpPr/>
          <p:nvPr/>
        </p:nvSpPr>
        <p:spPr>
          <a:xfrm>
            <a:off x="6492240" y="12298680"/>
            <a:ext cx="9678494" cy="960120"/>
          </a:xfrm>
          <a:prstGeom prst="rect">
            <a:avLst/>
          </a:prstGeom>
          <a:solidFill>
            <a:srgbClr val="D9E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Window frames 0"/>
          <p:cNvSpPr txBox="1"/>
          <p:nvPr/>
        </p:nvSpPr>
        <p:spPr>
          <a:xfrm>
            <a:off x="7086600" y="12527280"/>
            <a:ext cx="8855534" cy="64008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0–123  ·  124 frames</a:t>
            </a:r>
          </a:p>
        </p:txBody>
      </p:sp>
      <p:sp>
        <p:nvSpPr>
          <p:cNvPr id="35" name="Window label 1"/>
          <p:cNvSpPr txBox="1"/>
          <p:nvPr/>
        </p:nvSpPr>
        <p:spPr>
          <a:xfrm>
            <a:off x="1828800" y="13734288"/>
            <a:ext cx="4297680" cy="594360"/>
          </a:xfrm>
          <a:prstGeom prst="rect">
            <a:avLst/>
          </a:prstGeom>
          <a:noFill/>
        </p:spPr>
        <p:txBody>
          <a:bodyPr wrap="square" lIns="18288" rIns="18288" tIns="0" bIns="0">
            <a:spAutoFit/>
          </a:bodyPr>
          <a:lstStyle/>
          <a:p>
            <a:pPr>
              <a:spcBef>
                <a:spcPts val="0"/>
              </a:spcBef>
              <a:spcAft>
                <a:spcPts val="0"/>
              </a:spcAft>
            </a:pPr>
            <a:r>
              <a:rPr sz="2900" b="1">
                <a:solidFill>
                  <a:srgbClr val="17211A"/>
                </a:solidFill>
                <a:latin typeface="NVIDIA Sans"/>
              </a:rPr>
              <a:t>Window 1</a:t>
            </a:r>
          </a:p>
        </p:txBody>
      </p:sp>
      <p:sp>
        <p:nvSpPr>
          <p:cNvPr id="36" name="Window 1"/>
          <p:cNvSpPr/>
          <p:nvPr/>
        </p:nvSpPr>
        <p:spPr>
          <a:xfrm>
            <a:off x="15780472" y="13578840"/>
            <a:ext cx="9678494" cy="960120"/>
          </a:xfrm>
          <a:prstGeom prst="rect">
            <a:avLst/>
          </a:prstGeom>
          <a:solidFill>
            <a:srgbClr val="D9E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erlap 1"/>
          <p:cNvSpPr/>
          <p:nvPr/>
        </p:nvSpPr>
        <p:spPr>
          <a:xfrm>
            <a:off x="15780472" y="13578840"/>
            <a:ext cx="390261" cy="960120"/>
          </a:xfrm>
          <a:prstGeom prst="rect">
            <a:avLst/>
          </a:prstGeom>
          <a:solidFill>
            <a:srgbClr val="E5A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Window frames 1"/>
          <p:cNvSpPr txBox="1"/>
          <p:nvPr/>
        </p:nvSpPr>
        <p:spPr>
          <a:xfrm>
            <a:off x="16374832" y="13807440"/>
            <a:ext cx="8855534" cy="64008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119–242  ·  124 frames</a:t>
            </a:r>
          </a:p>
        </p:txBody>
      </p:sp>
      <p:sp>
        <p:nvSpPr>
          <p:cNvPr id="39" name="Window label 2"/>
          <p:cNvSpPr txBox="1"/>
          <p:nvPr/>
        </p:nvSpPr>
        <p:spPr>
          <a:xfrm>
            <a:off x="1828800" y="15014448"/>
            <a:ext cx="4297680" cy="594360"/>
          </a:xfrm>
          <a:prstGeom prst="rect">
            <a:avLst/>
          </a:prstGeom>
          <a:noFill/>
        </p:spPr>
        <p:txBody>
          <a:bodyPr wrap="square" lIns="18288" rIns="18288" tIns="0" bIns="0">
            <a:spAutoFit/>
          </a:bodyPr>
          <a:lstStyle/>
          <a:p>
            <a:pPr>
              <a:spcBef>
                <a:spcPts val="0"/>
              </a:spcBef>
              <a:spcAft>
                <a:spcPts val="0"/>
              </a:spcAft>
            </a:pPr>
            <a:r>
              <a:rPr sz="2900" b="1">
                <a:solidFill>
                  <a:srgbClr val="17211A"/>
                </a:solidFill>
                <a:latin typeface="NVIDIA Sans"/>
              </a:rPr>
              <a:t>Window 2</a:t>
            </a:r>
          </a:p>
        </p:txBody>
      </p:sp>
      <p:sp>
        <p:nvSpPr>
          <p:cNvPr id="40" name="Window 2"/>
          <p:cNvSpPr/>
          <p:nvPr/>
        </p:nvSpPr>
        <p:spPr>
          <a:xfrm>
            <a:off x="25068705" y="14859000"/>
            <a:ext cx="9678494" cy="960120"/>
          </a:xfrm>
          <a:prstGeom prst="rect">
            <a:avLst/>
          </a:prstGeom>
          <a:solidFill>
            <a:srgbClr val="D9E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erlap 2"/>
          <p:cNvSpPr/>
          <p:nvPr/>
        </p:nvSpPr>
        <p:spPr>
          <a:xfrm>
            <a:off x="25068705" y="14859000"/>
            <a:ext cx="390261" cy="960120"/>
          </a:xfrm>
          <a:prstGeom prst="rect">
            <a:avLst/>
          </a:prstGeom>
          <a:solidFill>
            <a:srgbClr val="E5A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Window frames 2"/>
          <p:cNvSpPr txBox="1"/>
          <p:nvPr/>
        </p:nvSpPr>
        <p:spPr>
          <a:xfrm>
            <a:off x="25663065" y="15087600"/>
            <a:ext cx="8855534" cy="64008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238–361  ·  124 frames</a:t>
            </a:r>
          </a:p>
        </p:txBody>
      </p:sp>
      <p:sp>
        <p:nvSpPr>
          <p:cNvPr id="43" name="Playback label"/>
          <p:cNvSpPr txBox="1"/>
          <p:nvPr/>
        </p:nvSpPr>
        <p:spPr>
          <a:xfrm>
            <a:off x="1828800" y="16413480"/>
            <a:ext cx="4297680" cy="640080"/>
          </a:xfrm>
          <a:prstGeom prst="rect">
            <a:avLst/>
          </a:prstGeom>
          <a:noFill/>
        </p:spPr>
        <p:txBody>
          <a:bodyPr wrap="square" lIns="18288" rIns="18288" tIns="0" bIns="0">
            <a:spAutoFit/>
          </a:bodyPr>
          <a:lstStyle/>
          <a:p>
            <a:pPr>
              <a:spcBef>
                <a:spcPts val="0"/>
              </a:spcBef>
              <a:spcAft>
                <a:spcPts val="0"/>
              </a:spcAft>
            </a:pPr>
            <a:r>
              <a:rPr sz="2900" b="1">
                <a:solidFill>
                  <a:srgbClr val="17211A"/>
                </a:solidFill>
                <a:latin typeface="NVIDIA Sans"/>
              </a:rPr>
              <a:t>Playback</a:t>
            </a:r>
          </a:p>
        </p:txBody>
      </p:sp>
      <p:sp>
        <p:nvSpPr>
          <p:cNvPr id="44" name="Playback frames 0"/>
          <p:cNvSpPr/>
          <p:nvPr/>
        </p:nvSpPr>
        <p:spPr>
          <a:xfrm>
            <a:off x="6492240" y="16276320"/>
            <a:ext cx="9678494" cy="914400"/>
          </a:xfrm>
          <a:prstGeom prst="rect">
            <a:avLst/>
          </a:prstGeom>
          <a:solidFill>
            <a:srgbClr val="A8C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layback caption 0"/>
          <p:cNvSpPr txBox="1"/>
          <p:nvPr/>
        </p:nvSpPr>
        <p:spPr>
          <a:xfrm>
            <a:off x="6995159" y="16486632"/>
            <a:ext cx="8946974"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0–123  ·  5.167 s</a:t>
            </a:r>
          </a:p>
        </p:txBody>
      </p:sp>
      <p:sp>
        <p:nvSpPr>
          <p:cNvPr id="46" name="Playback frames 1"/>
          <p:cNvSpPr/>
          <p:nvPr/>
        </p:nvSpPr>
        <p:spPr>
          <a:xfrm>
            <a:off x="16170734" y="16276320"/>
            <a:ext cx="9288232" cy="914400"/>
          </a:xfrm>
          <a:prstGeom prst="rect">
            <a:avLst/>
          </a:prstGeom>
          <a:solidFill>
            <a:srgbClr val="C4D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layback caption 1"/>
          <p:cNvSpPr txBox="1"/>
          <p:nvPr/>
        </p:nvSpPr>
        <p:spPr>
          <a:xfrm>
            <a:off x="16673654" y="16486632"/>
            <a:ext cx="8556712"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124–242  ·  +4.958 s</a:t>
            </a:r>
          </a:p>
        </p:txBody>
      </p:sp>
      <p:sp>
        <p:nvSpPr>
          <p:cNvPr id="48" name="Playback frames 2"/>
          <p:cNvSpPr/>
          <p:nvPr/>
        </p:nvSpPr>
        <p:spPr>
          <a:xfrm>
            <a:off x="25458967" y="16276320"/>
            <a:ext cx="9288232" cy="914400"/>
          </a:xfrm>
          <a:prstGeom prst="rect">
            <a:avLst/>
          </a:prstGeom>
          <a:solidFill>
            <a:srgbClr val="D9E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layback caption 2"/>
          <p:cNvSpPr txBox="1"/>
          <p:nvPr/>
        </p:nvSpPr>
        <p:spPr>
          <a:xfrm>
            <a:off x="25961887" y="16486632"/>
            <a:ext cx="8556712"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243–361  ·  +4.958 s</a:t>
            </a:r>
          </a:p>
        </p:txBody>
      </p:sp>
      <p:sp>
        <p:nvSpPr>
          <p:cNvPr id="50" name="Overlap key"/>
          <p:cNvSpPr/>
          <p:nvPr/>
        </p:nvSpPr>
        <p:spPr>
          <a:xfrm>
            <a:off x="1828800" y="17693640"/>
            <a:ext cx="457200" cy="457200"/>
          </a:xfrm>
          <a:prstGeom prst="rect">
            <a:avLst/>
          </a:prstGeom>
          <a:solidFill>
            <a:srgbClr val="E5A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erlap explanation"/>
          <p:cNvSpPr txBox="1"/>
          <p:nvPr/>
        </p:nvSpPr>
        <p:spPr>
          <a:xfrm>
            <a:off x="2514600" y="17647920"/>
            <a:ext cx="32186880" cy="73152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5-frame overlap removed with matching audio; cumulative AV positions advance by 119 frames.</a:t>
            </a:r>
          </a:p>
        </p:txBody>
      </p:sp>
      <p:sp>
        <p:nvSpPr>
          <p:cNvPr id="52" name="Demo settings"/>
          <p:cNvSpPr txBox="1"/>
          <p:nvPr/>
        </p:nvSpPr>
        <p:spPr>
          <a:xfrm>
            <a:off x="1828800" y="18699480"/>
            <a:ext cx="32186880" cy="731520"/>
          </a:xfrm>
          <a:prstGeom prst="rect">
            <a:avLst/>
          </a:prstGeom>
          <a:noFill/>
        </p:spPr>
        <p:txBody>
          <a:bodyPr wrap="square" lIns="18288" rIns="18288" tIns="0" bIns="0">
            <a:spAutoFit/>
          </a:bodyPr>
          <a:lstStyle/>
          <a:p>
            <a:pPr>
              <a:spcBef>
                <a:spcPts val="0"/>
              </a:spcBef>
              <a:spcAft>
                <a:spcPts val="0"/>
              </a:spcAft>
            </a:pPr>
            <a:r>
              <a:rPr sz="2700" b="0">
                <a:solidFill>
                  <a:srgbClr val="52604F"/>
                </a:solidFill>
                <a:latin typeface="NVIDIA Sans"/>
              </a:rPr>
              <a:t>Demo: video guide = 80% history + 20% seeded noise · audio guide stays clean · target prefix off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74.55 seconds · user-recorded microphone conversation · native H3 audio + video</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20</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