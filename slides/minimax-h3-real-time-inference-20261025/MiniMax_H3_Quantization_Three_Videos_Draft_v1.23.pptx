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3" r:id="rId47"/>
    <p:sldId id="350" r:id="rId92"/>
    <p:sldId id="351" r:id="rId93"/>
    <p:sldId id="352" r:id="rId94"/>
    <p:sldId id="353" r:id="rId95"/>
    <p:sldId id="354" r:id="rId96"/>
    <p:sldId id="355" r:id="rId97"/>
    <p:sldId id="361" r:id="rId45"/>
    <p:sldId id="356" r:id="rId98"/>
    <p:sldId id="362" r:id="rId46"/>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7.xml"/><Relationship Id="rId46" Type="http://schemas.openxmlformats.org/officeDocument/2006/relationships/slide" Target="slides/slide19.xml"/><Relationship Id="rId47" Type="http://schemas.openxmlformats.org/officeDocument/2006/relationships/slide" Target="slides/slide24.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2" Type="http://schemas.openxmlformats.org/officeDocument/2006/relationships/slide" Target="slides/slide11.xml"/><Relationship Id="rId93" Type="http://schemas.openxmlformats.org/officeDocument/2006/relationships/slide" Target="slides/slide12.xml"/><Relationship Id="rId94" Type="http://schemas.openxmlformats.org/officeDocument/2006/relationships/slide" Target="slides/slide13.xml"/><Relationship Id="rId95" Type="http://schemas.openxmlformats.org/officeDocument/2006/relationships/slide" Target="slides/slide14.xml"/><Relationship Id="rId96" Type="http://schemas.openxmlformats.org/officeDocument/2006/relationships/slide" Target="slides/slide15.xml"/><Relationship Id="rId97" Type="http://schemas.openxmlformats.org/officeDocument/2006/relationships/slide" Target="slides/slide16.xml"/><Relationship Id="rId98" Type="http://schemas.openxmlformats.org/officeDocument/2006/relationships/slide" Target="slides/slide18.xml"/><Relationship Id="rId99" Type="http://schemas.openxmlformats.org/officeDocument/2006/relationships/slide" Target="slides/slide20.xml"/><Relationship Id="rId100" Type="http://schemas.openxmlformats.org/officeDocument/2006/relationships/slide" Target="slides/slide21.xml"/><Relationship Id="rId101" Type="http://schemas.openxmlformats.org/officeDocument/2006/relationships/slide" Target="slides/slide22.xml"/><Relationship Id="rId102" Type="http://schemas.openxmlformats.org/officeDocument/2006/relationships/slide" Target="slides/slide23.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Requested three-way video comparison: BF16 reference, pure online NVFP4, and QAD NVFP4. This is a layout-only draft with no videos attached. No quality claim is made before the chosen media and matching generation settings are verified. Default layout is three portrait video panels side by side. Preserve complete source frames; do not crop or stretch landscape videos to imitate portrait sources.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xGMI installed link configuration unavailable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15</a:t>
            </a:fld>
            <a:endParaRPr lang="en-US"/>
          </a:p>
        </p:txBody>
      </p:sp>
      <p:pic>
        <p:nvPicPr>
          <p:cNvPr id="9" name="Topology with separately identified PCIe and network capacities" descr="topology-bandwidth.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1828801" y="4800600"/>
            <a:ext cx="32918397" cy="13167359"/>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1243584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also shares xGMI</a:t>
            </a:r>
          </a:p>
          <a:p>
            <a:pPr lvl="1" algn="l"/>
            <a:r>
              <a:rPr b="0">
                <a:solidFill>
                  <a:srgbClr val="313131"/>
                </a:solidFill>
                <a:latin typeface="NVIDIA Sans"/>
              </a:rPr>
              <a:t>4 × B × 4/7 ≤ C  →  B ≤ 7C/16</a:t>
            </a:r>
          </a:p>
          <a:p>
            <a:pPr lvl="1" algn="l"/>
            <a:r>
              <a:rPr b="0">
                <a:solidFill>
                  <a:srgbClr val="313131"/>
                </a:solidFill>
                <a:latin typeface="NVIDIA Sans"/>
              </a:rPr>
              <a:t>Local-path ceiling: min(36.8, 7C/16)</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9" name="Bandwidth comparison scope"/>
          <p:cNvSpPr>
            <a:spLocks noGrp="1"/>
          </p:cNvSpPr>
          <p:nvPr>
            <p:ph type="body" idx="52" sz="quarter"/>
          </p:nvPr>
        </p:nvSpPr>
        <p:spPr>
          <a:xfrm>
            <a:off x="17922240" y="17190720"/>
            <a:ext cx="16824960" cy="1234440"/>
          </a:xfrm>
        </p:spPr>
        <p:txBody>
          <a:bodyPr/>
          <a:lstStyle/>
          <a:p>
            <a:r>
              <a:t>2.33–2.47× measured communication speedup
Includes layout, allocation and scheduling</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usable xGMI bandwidth
Necessary link bounds; SHM and software add costs</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577840"/>
            <a:ext cx="23042880" cy="11155680"/>
          </a:xfrm>
        </p:spPr>
        <p:txBody>
          <a:bodyPr wrap="none" lIns="0" rIns="0" tIns="0" bIns="0"/>
          <a:lstStyle/>
          <a:p>
            <a:pPr>
              <a:spcAft>
                <a:spcPts val="1800"/>
              </a:spcAft>
            </a:pPr>
            <a:r>
              <a:rPr sz="3800" b="0">
                <a:solidFill>
                  <a:srgbClr val="A7A7A7"/>
                </a:solidFill>
                <a:latin typeface="Roboto Mono"/>
              </a:rPr>
              <a:t># comm.py:44–62 · original Q/K/V branch</a:t>
            </a:r>
          </a:p>
          <a:p>
            <a:pPr>
              <a:spcAft>
                <a:spcPts val="1800"/>
              </a:spcAft>
            </a:pPr>
            <a:r>
              <a:rPr sz="3800" b="0">
                <a:solidFill>
                  <a:srgbClr val="313131"/>
                </a:solidFill>
                <a:latin typeface="Roboto Mono"/>
              </a:rPr>
              <a:t>input_t = (</a:t>
            </a:r>
          </a:p>
          <a:p>
            <a:pPr>
              <a:spcAft>
                <a:spcPts val="1800"/>
              </a:spcAft>
            </a:pPr>
            <a:r>
              <a:rPr sz="3800" b="0">
                <a:solidFill>
                  <a:srgbClr val="313131"/>
                </a:solidFill>
                <a:latin typeface="Roboto Mono"/>
              </a:rPr>
              <a:t>    input.reshape(bs, shard_seqlen,</a:t>
            </a:r>
          </a:p>
          <a:p>
            <a:pPr>
              <a:spcAft>
                <a:spcPts val="1800"/>
              </a:spcAft>
            </a:pPr>
            <a:r>
              <a:rPr sz="3800" b="0">
                <a:solidFill>
                  <a:srgbClr val="313131"/>
                </a:solidFill>
                <a:latin typeface="Roboto Mono"/>
              </a:rPr>
              <a:t>                  seq_world_size, shard_hc, hs)</a:t>
            </a:r>
          </a:p>
          <a:p>
            <a:pPr>
              <a:spcAft>
                <a:spcPts val="1800"/>
              </a:spcAft>
            </a:pPr>
            <a:r>
              <a:rPr sz="3800" b="0">
                <a:solidFill>
                  <a:srgbClr val="313131"/>
                </a:solidFill>
                <a:latin typeface="Roboto Mono"/>
              </a:rPr>
              <a:t>    .transpose(0, 2).contiguous()</a:t>
            </a:r>
          </a:p>
          <a:p>
            <a:pPr>
              <a:spcAft>
                <a:spcPts val="1800"/>
              </a:spcAft>
            </a:pPr>
            <a:r>
              <a:rPr sz="3800" b="0">
                <a:solidFill>
                  <a:srgbClr val="313131"/>
                </a:solidFill>
                <a:latin typeface="Roboto Mono"/>
              </a:rPr>
              <a:t>)</a:t>
            </a:r>
          </a:p>
          <a:p>
            <a:pPr>
              <a:spcAft>
                <a:spcPts val="1800"/>
              </a:spcAft>
            </a:pPr>
            <a:r>
              <a:rPr sz="3800" b="0">
                <a:solidFill>
                  <a:srgbClr val="313131"/>
                </a:solidFill>
                <a:latin typeface="Roboto Mono"/>
              </a:rPr>
              <a:t>output = torch.empty_like(input_t)</a:t>
            </a:r>
          </a:p>
          <a:p>
            <a:pPr>
              <a:spcAft>
                <a:spcPts val="1800"/>
              </a:spcAft>
            </a:pPr>
            <a:r>
              <a:rPr sz="3800" b="1">
                <a:solidFill>
                  <a:srgbClr val="76B900"/>
                </a:solidFill>
                <a:latin typeface="Roboto Mono"/>
              </a:rPr>
              <a:t>dist.all_to_all_single(output, input_t, group=group)</a:t>
            </a:r>
          </a:p>
          <a:p>
            <a:pPr>
              <a:spcAft>
                <a:spcPts val="1800"/>
              </a:spcAft>
            </a:pPr>
            <a:r>
              <a:rPr sz="3800" b="0">
                <a:solidFill>
                  <a:srgbClr val="313131"/>
                </a:solidFill>
                <a:latin typeface="Roboto Mono"/>
              </a:rPr>
              <a:t>output = output.reshape(seqlen, bs, shard_hc, hs)</a:t>
            </a:r>
          </a:p>
          <a:p>
            <a:pPr>
              <a:spcAft>
                <a:spcPts val="1800"/>
              </a:spcAft>
            </a:pPr>
            <a:r>
              <a:rPr sz="3800" b="0">
                <a:solidFill>
                  <a:srgbClr val="313131"/>
                </a:solidFill>
                <a:latin typeface="Roboto Mono"/>
              </a:rPr>
              <a:t>output = (output.transpose(0, 1).contiguous()</a:t>
            </a:r>
          </a:p>
          <a:p>
            <a:pPr>
              <a:spcAft>
                <a:spcPts val="1800"/>
              </a:spcAft>
            </a:pPr>
            <a:r>
              <a:rPr sz="3800" b="0">
                <a:solidFill>
                  <a:srgbClr val="313131"/>
                </a:solidFill>
                <a:latin typeface="Roboto Mono"/>
              </a:rPr>
              <a:t>          .reshape(bs, seqlen, shard_hc, hs))</a:t>
            </a:r>
          </a:p>
        </p:txBody>
      </p:sp>
      <p:sp>
        <p:nvSpPr>
          <p:cNvPr id="3" name="Text Placeholder 2"/>
          <p:cNvSpPr>
            <a:spLocks noGrp="1"/>
          </p:cNvSpPr>
          <p:nvPr>
            <p:ph type="body" idx="14" sz="quarter"/>
          </p:nvPr>
        </p:nvSpPr>
        <p:spPr/>
        <p:txBody>
          <a:bodyPr/>
          <a:lstStyle/>
          <a:p>
            <a:r>
              <a:t>Q/K/V: pack head shards → NCCL all-to-all → restore sequence layout</a:t>
            </a:r>
          </a:p>
        </p:txBody>
      </p:sp>
      <p:sp>
        <p:nvSpPr>
          <p:cNvPr id="4" name="Title 3"/>
          <p:cNvSpPr>
            <a:spLocks noGrp="1"/>
          </p:cNvSpPr>
          <p:nvPr>
            <p:ph type="title"/>
          </p:nvPr>
        </p:nvSpPr>
        <p:spPr/>
        <p:txBody>
          <a:bodyPr/>
          <a:lstStyle/>
          <a:p>
            <a:r>
              <a:t>Original vLLM-Omni Ulysses</a:t>
            </a:r>
          </a:p>
        </p:txBody>
      </p:sp>
      <p:sp>
        <p:nvSpPr>
          <p:cNvPr id="5" name="Original Ulysses source notes"/>
          <p:cNvSpPr>
            <a:spLocks noGrp="1"/>
          </p:cNvSpPr>
          <p:nvPr>
            <p:ph type="body" idx="20" sz="quarter"/>
          </p:nvPr>
        </p:nvSpPr>
        <p:spPr>
          <a:xfrm>
            <a:off x="25603200" y="5577840"/>
            <a:ext cx="9144000" cy="11887200"/>
          </a:xfrm>
        </p:spPr>
        <p:txBody>
          <a:bodyPr wrap="square" lIns="0" rIns="0" tIns="0" bIns="0"/>
          <a:lstStyle/>
          <a:p>
            <a:pPr algn="l"/>
            <a:r>
              <a:rPr b="1">
                <a:solidFill>
                  <a:srgbClr val="76B900"/>
                </a:solidFill>
                <a:latin typeface="NVIDIA Sans Medium"/>
              </a:rPr>
              <a:t>Four exchanges per dense block</a:t>
            </a:r>
          </a:p>
          <a:p>
            <a:pPr lvl="1" algn="l"/>
            <a:r>
              <a:rPr b="0">
                <a:solidFill>
                  <a:srgbClr val="313131"/>
                </a:solidFill>
                <a:latin typeface="NVIDIA Sans"/>
              </a:rPr>
              <a:t>Q / K / V: scatter heads</a:t>
            </a:r>
          </a:p>
          <a:p>
            <a:pPr lvl="1" algn="l"/>
            <a:r>
              <a:rPr b="0">
                <a:solidFill>
                  <a:srgbClr val="313131"/>
                </a:solidFill>
                <a:latin typeface="NVIDIA Sans"/>
              </a:rPr>
              <a:t>O: scatter sequence</a:t>
            </a:r>
          </a:p>
          <a:p>
            <a:pPr algn="l"/>
            <a:r>
              <a:rPr b="1">
                <a:solidFill>
                  <a:srgbClr val="76B900"/>
                </a:solidFill>
                <a:latin typeface="NVIDIA Sans Medium"/>
              </a:rPr>
              <a:t>NCCL selects the route</a:t>
            </a:r>
          </a:p>
          <a:p>
            <a:pPr lvl="1" algn="l"/>
            <a:r>
              <a:rPr b="0">
                <a:solidFill>
                  <a:srgbClr val="313131"/>
                </a:solidFill>
                <a:latin typeface="NVIDIA Sans"/>
              </a:rPr>
              <a:t>P2P / SHM / NET depend on topology and configuration</a:t>
            </a:r>
          </a:p>
          <a:p>
            <a:pPr algn="l"/>
            <a:r>
              <a:rPr b="1">
                <a:solidFill>
                  <a:srgbClr val="76B900"/>
                </a:solidFill>
                <a:latin typeface="NVIDIA Sans Medium"/>
              </a:rPr>
              <a:t>At batch = 1</a:t>
            </a:r>
          </a:p>
          <a:p>
            <a:pPr lvl="1" algn="l"/>
            <a:r>
              <a:rPr b="0">
                <a:solidFill>
                  <a:srgbClr val="313131"/>
                </a:solidFill>
                <a:latin typeface="NVIDIA Sans"/>
              </a:rPr>
              <a:t>Q/K/V output transpose is a view; contiguous() does not always copy</a:t>
            </a:r>
          </a:p>
        </p:txBody>
      </p:sp>
      <p:sp>
        <p:nvSpPr>
          <p:cNvPr id="6" name="Ulysses call-chain source"/>
          <p:cNvSpPr>
            <a:spLocks noGrp="1"/>
          </p:cNvSpPr>
          <p:nvPr>
            <p:ph type="body" idx="52" sz="quarter"/>
          </p:nvPr>
        </p:nvSpPr>
        <p:spPr>
          <a:xfrm>
            <a:off x="1828800" y="16916400"/>
            <a:ext cx="32918400" cy="1417320"/>
          </a:xfrm>
        </p:spPr>
        <p:txBody>
          <a:bodyPr/>
          <a:lstStyle/>
          <a:p>
            <a:r>
              <a:t>ulysses.py:538–547 → SeqAllToAll4D.forward → all_to_all_4D → PyTorch NCCL
O reverses the exchange at ulysses.py:721 · pinned source: 63487a7f22db</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Base50 checkout 63487a7f22db · comm.py:44–62 · line wrapping adjusted;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303520"/>
            <a:ext cx="15727680" cy="12801600"/>
          </a:xfrm>
        </p:spPr>
        <p:txBody>
          <a:bodyPr wrap="square" lIns="0" rIns="0" tIns="0" bIns="0"/>
          <a:lstStyle/>
          <a:p>
            <a:pPr algn="l"/>
            <a:r>
              <a:rPr b="1">
                <a:solidFill>
                  <a:srgbClr val="76B900"/>
                </a:solidFill>
                <a:latin typeface="NVIDIA Sans Medium"/>
              </a:rPr>
              <a:t>Measured benefit</a:t>
            </a:r>
          </a:p>
          <a:p>
            <a:pPr lvl="1" algn="l"/>
            <a:r>
              <a:rPr b="0">
                <a:solidFill>
                  <a:srgbClr val="313131"/>
                </a:solidFill>
                <a:latin typeface="NVIDIA Sans"/>
              </a:rPr>
              <a:t>2.33–2.47× faster Q/K/V/O exchanges</a:t>
            </a:r>
          </a:p>
          <a:p>
            <a:pPr lvl="1" algn="l"/>
            <a:r>
              <a:rPr b="0">
                <a:solidFill>
                  <a:srgbClr val="313131"/>
                </a:solidFill>
                <a:latin typeface="NVIDIA Sans"/>
              </a:rPr>
              <a:t>17.0–18.3 → 39.9–42.7 GB/s/GPU</a:t>
            </a:r>
          </a:p>
          <a:p>
            <a:pPr lvl="1" algn="l"/>
            <a:r>
              <a:rPr b="0">
                <a:solidFill>
                  <a:srgbClr val="313131"/>
                </a:solidFill>
                <a:latin typeface="NVIDIA Sans"/>
              </a:rPr>
              <a:t>Three sequence lengths; exact output checks</a:t>
            </a:r>
          </a:p>
          <a:p>
            <a:pPr algn="l"/>
            <a:r>
              <a:rPr b="1">
                <a:solidFill>
                  <a:srgbClr val="76B900"/>
                </a:solidFill>
                <a:latin typeface="NVIDIA Sans Medium"/>
              </a:rPr>
              <a:t>Topology explains the opportunity</a:t>
            </a:r>
          </a:p>
          <a:p>
            <a:pPr lvl="1" algn="l"/>
            <a:r>
              <a:rPr b="0">
                <a:solidFill>
                  <a:srgbClr val="313131"/>
                </a:solidFill>
                <a:latin typeface="NVIDIA Sans"/>
              </a:rPr>
              <a:t>Local NCCL: one P2P peer, six SHM peers</a:t>
            </a:r>
          </a:p>
          <a:p>
            <a:pPr lvl="1" algn="l"/>
            <a:r>
              <a:rPr b="0">
                <a:solidFill>
                  <a:srgbClr val="313131"/>
                </a:solidFill>
                <a:latin typeface="NVIDIA Sans"/>
              </a:rPr>
              <a:t>FI RDMA: one nearest 400G port per GPU</a:t>
            </a:r>
          </a:p>
          <a:p>
            <a:pPr lvl="1" algn="l"/>
            <a:r>
              <a:rPr b="0">
                <a:solidFill>
                  <a:srgbClr val="313131"/>
                </a:solidFill>
                <a:latin typeface="NVIDIA Sans"/>
              </a:rPr>
              <a:t>Payload bypasses shared CPU uplinks and host buffers</a:t>
            </a:r>
          </a:p>
        </p:txBody>
      </p:sp>
      <p:sp>
        <p:nvSpPr>
          <p:cNvPr id="3" name="Text Placeholder 2"/>
          <p:cNvSpPr>
            <a:spLocks noGrp="1"/>
          </p:cNvSpPr>
          <p:nvPr>
            <p:ph type="body" idx="14" sz="quarter"/>
          </p:nvPr>
        </p:nvSpPr>
        <p:spPr/>
        <p:txBody>
          <a:bodyPr/>
          <a:lstStyle/>
          <a:p>
            <a:r>
              <a:t>Use GPU-affine FI RDMA for the tested eight-GPU configuration</a:t>
            </a:r>
          </a:p>
        </p:txBody>
      </p:sp>
      <p:sp>
        <p:nvSpPr>
          <p:cNvPr id="4" name="Title 3"/>
          <p:cNvSpPr>
            <a:spLocks noGrp="1"/>
          </p:cNvSpPr>
          <p:nvPr>
            <p:ph type="title"/>
          </p:nvPr>
        </p:nvSpPr>
        <p:spPr/>
        <p:txBody>
          <a:bodyPr/>
          <a:lstStyle/>
          <a:p>
            <a:r>
              <a:t>Ulysses Communication: Conclusion</a:t>
            </a:r>
          </a:p>
        </p:txBody>
      </p:sp>
      <p:sp>
        <p:nvSpPr>
          <p:cNvPr id="5" name="Communication interpretation and next step"/>
          <p:cNvSpPr>
            <a:spLocks noGrp="1"/>
          </p:cNvSpPr>
          <p:nvPr>
            <p:ph type="body" idx="13" sz="quarter"/>
          </p:nvPr>
        </p:nvSpPr>
        <p:spPr>
          <a:xfrm>
            <a:off x="19202400" y="5303520"/>
            <a:ext cx="15544800" cy="12801600"/>
          </a:xfrm>
        </p:spPr>
        <p:txBody>
          <a:bodyPr wrap="square" lIns="0" rIns="0" tIns="0" bIns="0"/>
          <a:lstStyle/>
          <a:p>
            <a:pPr algn="l"/>
            <a:r>
              <a:rPr b="1">
                <a:solidFill>
                  <a:srgbClr val="76B900"/>
                </a:solidFill>
                <a:latin typeface="NVIDIA Sans Medium"/>
              </a:rPr>
              <a:t>Scope of the measured gain</a:t>
            </a:r>
          </a:p>
          <a:p>
            <a:pPr lvl="1" algn="l"/>
            <a:r>
              <a:rPr b="0">
                <a:solidFill>
                  <a:srgbClr val="313131"/>
                </a:solidFill>
                <a:latin typeface="NVIDIA Sans"/>
              </a:rPr>
              <a:t>Comparison includes transport, layout, allocation and scheduling</a:t>
            </a:r>
          </a:p>
          <a:p>
            <a:pPr lvl="1" algn="l"/>
            <a:r>
              <a:rPr b="0">
                <a:solidFill>
                  <a:srgbClr val="313131"/>
                </a:solidFill>
                <a:latin typeface="NVIDIA Sans"/>
              </a:rPr>
              <a:t>PCIe versus xGMI saturation is not isolated</a:t>
            </a:r>
          </a:p>
          <a:p>
            <a:pPr lvl="1" algn="l"/>
            <a:r>
              <a:rPr b="0">
                <a:solidFill>
                  <a:srgbClr val="313131"/>
                </a:solidFill>
                <a:latin typeface="NVIDIA Sans"/>
              </a:rPr>
              <a:t>CPU remote reads do not establish GPU-path capacity</a:t>
            </a:r>
          </a:p>
          <a:p>
            <a:pPr algn="l"/>
            <a:r>
              <a:rPr b="1">
                <a:solidFill>
                  <a:srgbClr val="76B900"/>
                </a:solidFill>
                <a:latin typeface="NVIDIA Sans Medium"/>
              </a:rPr>
              <a:t>Next optimization</a:t>
            </a:r>
          </a:p>
          <a:p>
            <a:pPr lvl="1" algn="l"/>
            <a:r>
              <a:rPr b="0">
                <a:solidFill>
                  <a:srgbClr val="313131"/>
                </a:solidFill>
                <a:latin typeface="NVIDIA Sans"/>
              </a:rPr>
              <a:t>Produce directly into registered RDMA buffers</a:t>
            </a:r>
          </a:p>
          <a:p>
            <a:pPr lvl="1" algn="l"/>
            <a:r>
              <a:rPr b="0">
                <a:solidFill>
                  <a:srgbClr val="313131"/>
                </a:solidFill>
                <a:latin typeface="NVIDIA Sans"/>
              </a:rPr>
              <a:t>Validate overlap and full H3 end-to-end impact</a:t>
            </a:r>
          </a:p>
        </p:txBody>
      </p:sp>
      <p:sp>
        <p:nvSpPr>
          <p:cNvPr id="6"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Controlled local-NCCL comparison · communication speedup only · full-model benefit requires matched E2E validation</a:t>
            </a:r>
            <a:endParaRPr lang="en-US" dirty="0"/>
          </a:p>
        </p:txBody>
      </p:sp>
      <p:sp>
        <p:nvSpPr>
          <p:cNvPr id="7"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20</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BF16 reference · Online NVFP4 · QAD NVFP4</a:t>
            </a:r>
          </a:p>
        </p:txBody>
      </p:sp>
      <p:sp>
        <p:nvSpPr>
          <p:cNvPr id="4" name="Title 3"/>
          <p:cNvSpPr>
            <a:spLocks noGrp="1"/>
          </p:cNvSpPr>
          <p:nvPr>
            <p:ph type="title"/>
          </p:nvPr>
        </p:nvSpPr>
        <p:spPr/>
        <p:txBody>
          <a:bodyPr/>
          <a:lstStyle/>
          <a:p>
            <a:r>
              <a:t>Quantization</a:t>
            </a:r>
          </a:p>
        </p:txBody>
      </p:sp>
      <p:sp>
        <p:nvSpPr>
          <p:cNvPr id="5" name="Portrait video placeholder — BF16 Reference"/>
          <p:cNvSpPr/>
          <p:nvPr/>
        </p:nvSpPr>
        <p:spPr>
          <a:xfrm>
            <a:off x="3714750" y="5029200"/>
            <a:ext cx="7200900" cy="12801600"/>
          </a:xfrm>
          <a:prstGeom prst="rect">
            <a:avLst/>
          </a:prstGeom>
          <a:solidFill>
            <a:srgbClr val="F7F7F7"/>
          </a:solidFill>
          <a:ln w="952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r>
              <a:rPr sz="3600">
                <a:solidFill>
                  <a:srgbClr val="313131"/>
                </a:solidFill>
                <a:latin typeface="NVIDIA Sans"/>
              </a:rPr>
              <a:t>Video pending</a:t>
            </a:r>
          </a:p>
        </p:txBody>
      </p:sp>
      <p:sp>
        <p:nvSpPr>
          <p:cNvPr id="6" name="Video label — BF16 Reference"/>
          <p:cNvSpPr>
            <a:spLocks noGrp="1"/>
          </p:cNvSpPr>
          <p:nvPr>
            <p:ph type="body" idx="14" sz="quarter"/>
          </p:nvPr>
        </p:nvSpPr>
        <p:spPr>
          <a:xfrm>
            <a:off x="2286000" y="18059400"/>
            <a:ext cx="10058400" cy="914400"/>
          </a:xfrm>
        </p:spPr>
        <p:txBody>
          <a:bodyPr/>
          <a:lstStyle/>
          <a:p>
            <a:pPr algn="ctr"/>
            <a:r>
              <a:rPr sz="4000" b="1">
                <a:solidFill>
                  <a:srgbClr val="313131"/>
                </a:solidFill>
                <a:latin typeface="NVIDIA Sans Medium"/>
              </a:rPr>
              <a:t>BF16 Reference</a:t>
            </a:r>
          </a:p>
        </p:txBody>
      </p:sp>
      <p:sp>
        <p:nvSpPr>
          <p:cNvPr id="7" name="Portrait video placeholder — Online NVFP4"/>
          <p:cNvSpPr/>
          <p:nvPr/>
        </p:nvSpPr>
        <p:spPr>
          <a:xfrm>
            <a:off x="14687550" y="5029200"/>
            <a:ext cx="7200900" cy="12801600"/>
          </a:xfrm>
          <a:prstGeom prst="rect">
            <a:avLst/>
          </a:prstGeom>
          <a:solidFill>
            <a:srgbClr val="F7F7F7"/>
          </a:solidFill>
          <a:ln w="952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r>
              <a:rPr sz="3600">
                <a:solidFill>
                  <a:srgbClr val="313131"/>
                </a:solidFill>
                <a:latin typeface="NVIDIA Sans"/>
              </a:rPr>
              <a:t>Video pending</a:t>
            </a:r>
          </a:p>
        </p:txBody>
      </p:sp>
      <p:sp>
        <p:nvSpPr>
          <p:cNvPr id="8" name="Video label — Online NVFP4"/>
          <p:cNvSpPr>
            <a:spLocks noGrp="1"/>
          </p:cNvSpPr>
          <p:nvPr>
            <p:ph type="body" idx="14" sz="quarter"/>
          </p:nvPr>
        </p:nvSpPr>
        <p:spPr>
          <a:xfrm>
            <a:off x="13258800" y="18059400"/>
            <a:ext cx="10058400" cy="914400"/>
          </a:xfrm>
        </p:spPr>
        <p:txBody>
          <a:bodyPr/>
          <a:lstStyle/>
          <a:p>
            <a:pPr algn="ctr"/>
            <a:r>
              <a:rPr sz="4000" b="1">
                <a:solidFill>
                  <a:srgbClr val="313131"/>
                </a:solidFill>
                <a:latin typeface="NVIDIA Sans Medium"/>
              </a:rPr>
              <a:t>Online NVFP4</a:t>
            </a:r>
          </a:p>
        </p:txBody>
      </p:sp>
      <p:sp>
        <p:nvSpPr>
          <p:cNvPr id="9" name="Portrait video placeholder — QAD NVFP4"/>
          <p:cNvSpPr/>
          <p:nvPr/>
        </p:nvSpPr>
        <p:spPr>
          <a:xfrm>
            <a:off x="25660350" y="5029200"/>
            <a:ext cx="7200900" cy="12801600"/>
          </a:xfrm>
          <a:prstGeom prst="rect">
            <a:avLst/>
          </a:prstGeom>
          <a:solidFill>
            <a:srgbClr val="F7F7F7"/>
          </a:solidFill>
          <a:ln w="952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r>
              <a:rPr sz="3600">
                <a:solidFill>
                  <a:srgbClr val="313131"/>
                </a:solidFill>
                <a:latin typeface="NVIDIA Sans"/>
              </a:rPr>
              <a:t>Video pending</a:t>
            </a:r>
          </a:p>
        </p:txBody>
      </p:sp>
      <p:sp>
        <p:nvSpPr>
          <p:cNvPr id="10" name="Video label — QAD NVFP4"/>
          <p:cNvSpPr>
            <a:spLocks noGrp="1"/>
          </p:cNvSpPr>
          <p:nvPr>
            <p:ph type="body" idx="14" sz="quarter"/>
          </p:nvPr>
        </p:nvSpPr>
        <p:spPr>
          <a:xfrm>
            <a:off x="24231600" y="18059400"/>
            <a:ext cx="10058400" cy="914400"/>
          </a:xfrm>
        </p:spPr>
        <p:txBody>
          <a:bodyPr/>
          <a:lstStyle/>
          <a:p>
            <a:pPr algn="ctr"/>
            <a:r>
              <a:rPr sz="4000" b="1">
                <a:solidFill>
                  <a:srgbClr val="76B900"/>
                </a:solidFill>
                <a:latin typeface="NVIDIA Sans Medium"/>
              </a:rPr>
              <a:t>QAD NVFP4</a:t>
            </a:r>
          </a:p>
        </p:txBody>
      </p:sp>
      <p:sp>
        <p:nvSpPr>
          <p:cNvPr id="11"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Layout preview · three video files pending · preserve source aspect ratio when embedding</a:t>
            </a:r>
            <a:endParaRPr lang="en-US" dirty="0"/>
          </a:p>
        </p:txBody>
      </p:sp>
      <p:sp>
        <p:nvSpPr>
          <p:cNvPr id="12"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