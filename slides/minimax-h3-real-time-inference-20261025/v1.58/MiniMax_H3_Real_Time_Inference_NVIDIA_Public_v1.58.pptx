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6.xml"/><Relationship Id="rId34" Type="http://schemas.openxmlformats.org/officeDocument/2006/relationships/slide" Target="slides/slide15.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6.xml"/><Relationship Id="rId38" Type="http://schemas.openxmlformats.org/officeDocument/2006/relationships/slide" Target="slides/slide35.xml"/><Relationship Id="rId39" Type="http://schemas.openxmlformats.org/officeDocument/2006/relationships/slide" Target="slides/slide33.xml"/><Relationship Id="rId40" Type="http://schemas.openxmlformats.org/officeDocument/2006/relationships/slide" Target="slides/slide21.xml"/><Relationship Id="rId41" Type="http://schemas.openxmlformats.org/officeDocument/2006/relationships/slide" Target="slides/slide40.xml"/><Relationship Id="rId42" Type="http://schemas.openxmlformats.org/officeDocument/2006/relationships/slide" Target="slides/slide11.xml"/><Relationship Id="rId43" Type="http://schemas.openxmlformats.org/officeDocument/2006/relationships/slide" Target="slides/slide39.xml"/><Relationship Id="rId44" Type="http://schemas.openxmlformats.org/officeDocument/2006/relationships/slide" Target="slides/slide38.xml"/><Relationship Id="rId45" Type="http://schemas.openxmlformats.org/officeDocument/2006/relationships/slide" Target="slides/slide30.xml"/><Relationship Id="rId46" Type="http://schemas.openxmlformats.org/officeDocument/2006/relationships/slide" Target="slides/slide34.xml"/><Relationship Id="rId47" Type="http://schemas.openxmlformats.org/officeDocument/2006/relationships/slide" Target="slides/slide26.xml"/><Relationship Id="rId48" Type="http://schemas.openxmlformats.org/officeDocument/2006/relationships/slide" Target="slides/slide25.xml"/><Relationship Id="rId49" Type="http://schemas.openxmlformats.org/officeDocument/2006/relationships/slide" Target="slides/slide32.xml"/><Relationship Id="rId50" Type="http://schemas.openxmlformats.org/officeDocument/2006/relationships/slide" Target="slides/slide2.xml"/><Relationship Id="rId51" Type="http://schemas.openxmlformats.org/officeDocument/2006/relationships/slide" Target="slides/slide31.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7.xml"/><Relationship Id="rId62"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8.xml"/><Relationship Id="rId85" Type="http://schemas.openxmlformats.org/officeDocument/2006/relationships/slide" Target="slides/slide19.xml"/><Relationship Id="rId86" Type="http://schemas.openxmlformats.org/officeDocument/2006/relationships/slide" Target="slides/slide20.xml"/><Relationship Id="rId87" Type="http://schemas.openxmlformats.org/officeDocument/2006/relationships/slide" Target="slides/slide22.xml"/><Relationship Id="rId89" Type="http://schemas.openxmlformats.org/officeDocument/2006/relationships/slide" Target="slides/slide23.xml"/><Relationship Id="rId90" Type="http://schemas.openxmlformats.org/officeDocument/2006/relationships/slide" Target="slides/slide24.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9" Type="http://schemas.openxmlformats.org/officeDocument/2006/relationships/slide" Target="slides/slide37.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18. The recorded demonstration follows on slide 20.</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a:p>
            <a:r>
              <a:t>Main slide 11 now explicitly diagrams previous AV context and next prompt conditioning H3, then temporal-overlap trimming before append. Both stills are retained actual demo frames; the right still is already trimmed. The arrows are conceptual, not a latent-space visualization or a measured timing diagram. The pipeline is slide 10; recorded demo follows on slide 12.</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handoff, about 45 seconds. The official ComfyUI extension sends inference requests to a local or remote vLLM-Omni service. ComfyUI does not load H3 weights in these workflows. On upstream main 08177216af4b44cef54ec5bdc75c265a9f0cd697, the extension contains image/video generation, multimodal understanding, TTS/voice cloning, music, restoration and H3 reference/editing/guide nodes. This slide selects three high-level points rather than claiming every model supports every node. H3 all-in-one includes T2VA, first/last-frame FL2VA and mixed-reference Ref2VA; it does not include a prompt LLM. API/model support bounds the UI. The official screenshot is an existing illustrative graph, not a new test or a recommended H3 benchmark configuration. No ComfyUI inference was run for this deck. Sources: https://github.com/vllm-project/vllm-omni/tree/08177216af4b44cef54ec5bdc75c265a9f0cd697/apps/ComfyUI-vLLM-Omni ; https://docs.vllm.ai/projects/vllm-omni/en/latest/features/comfyui/ ; https://github.com/vllm-project/vllm-omni/blob/08177216af4b44cef54ec5bdc75c265a9f0cd697/apps/ComfyUI-vLLM-Omni/docs/h3-06-all-in-one.md</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closing slide replacing an outdated copied event page, as requested. Official GitHub project, current documentation URL and #sig-omni Slack community were checked against https://github.com/vllm-project/vllm-omni and https://docs.vllm.ai/projects/vllm-omni/en/latest/ on 2026-10-31. This is a general contribution invitation, not an event announcement, availability guarantee or product roadmap. No release number, event date, star count or temporary invitation QR is shown. Original closing source stays archived in sources/official-closing-source.pptx.</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Reuse recent context, generate the next window, then append only new content.</a:t>
            </a:r>
          </a:p>
        </p:txBody>
      </p:sp>
      <p:sp>
        <p:nvSpPr>
          <p:cNvPr id="4" name="Title 3"/>
          <p:cNvSpPr>
            <a:spLocks noGrp="1"/>
          </p:cNvSpPr>
          <p:nvPr>
            <p:ph type="title"/>
          </p:nvPr>
        </p:nvSpPr>
        <p:spPr/>
        <p:txBody>
          <a:bodyPr/>
          <a:lstStyle/>
          <a:p>
            <a:r>
              <a:rPr sz="8800"/>
              <a:t>Continuation: From One Clip to the Next</a:t>
            </a:r>
          </a:p>
        </p:txBody>
      </p:sp>
      <p:sp>
        <p:nvSpPr>
          <p:cNvPr id="5" name="Actual ending of chunk A heading"/>
          <p:cNvSpPr txBox="1"/>
          <p:nvPr/>
        </p:nvSpPr>
        <p:spPr>
          <a:xfrm>
            <a:off x="1828800" y="5760720"/>
            <a:ext cx="1042416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Medium"/>
              </a:rPr>
              <a:t>CHUNK A · ENDING</a:t>
            </a:r>
          </a:p>
        </p:txBody>
      </p:sp>
      <p:pic>
        <p:nvPicPr>
          <p:cNvPr id="6" name="Actual ending of chunk A" descr="image.png"/>
          <p:cNvPicPr>
            <a:picLocks noChangeAspect="1"/>
          </p:cNvPicPr>
          <p:nvPr/>
        </p:nvPicPr>
        <p:blipFill>
          <a:blip r:embed="rId3"/>
          <a:stretch>
            <a:fillRect/>
          </a:stretch>
        </p:blipFill>
        <p:spPr>
          <a:xfrm>
            <a:off x="1828800" y="7315200"/>
            <a:ext cx="10424160" cy="5907024"/>
          </a:xfrm>
          <a:prstGeom prst="rect">
            <a:avLst/>
          </a:prstGeom>
        </p:spPr>
      </p:pic>
      <p:sp>
        <p:nvSpPr>
          <p:cNvPr id="7" name="Actual first retained frame of chunk B heading"/>
          <p:cNvSpPr txBox="1"/>
          <p:nvPr/>
        </p:nvSpPr>
        <p:spPr>
          <a:xfrm>
            <a:off x="24323040" y="5760720"/>
            <a:ext cx="1042416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Medium"/>
              </a:rPr>
              <a:t>CHUNK B · FIRST RETAINED FRAME</a:t>
            </a:r>
          </a:p>
        </p:txBody>
      </p:sp>
      <p:pic>
        <p:nvPicPr>
          <p:cNvPr id="8" name="Actual first retained frame of chunk B" descr="image.png"/>
          <p:cNvPicPr>
            <a:picLocks noChangeAspect="1"/>
          </p:cNvPicPr>
          <p:nvPr/>
        </p:nvPicPr>
        <p:blipFill>
          <a:blip r:embed="rId4"/>
          <a:stretch>
            <a:fillRect/>
          </a:stretch>
        </p:blipFill>
        <p:spPr>
          <a:xfrm>
            <a:off x="24323040" y="7315200"/>
            <a:ext cx="10424160" cy="5907024"/>
          </a:xfrm>
          <a:prstGeom prst="rect">
            <a:avLst/>
          </a:prstGeom>
        </p:spPr>
      </p:pic>
      <p:sp>
        <p:nvSpPr>
          <p:cNvPr id="9" name="Next prompt"/>
          <p:cNvSpPr/>
          <p:nvPr/>
        </p:nvSpPr>
        <p:spPr>
          <a:xfrm>
            <a:off x="13167360" y="5486400"/>
            <a:ext cx="10241280" cy="21031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ext prompt text"/>
          <p:cNvSpPr txBox="1"/>
          <p:nvPr/>
        </p:nvSpPr>
        <p:spPr>
          <a:xfrm>
            <a:off x="13441680" y="5806440"/>
            <a:ext cx="9692640" cy="1554480"/>
          </a:xfrm>
          <a:prstGeom prst="rect">
            <a:avLst/>
          </a:prstGeom>
          <a:noFill/>
        </p:spPr>
        <p:txBody>
          <a:bodyPr wrap="square" lIns="0" rIns="0" tIns="0" bIns="0">
            <a:spAutoFit/>
          </a:bodyPr>
          <a:lstStyle/>
          <a:p>
            <a:pPr algn="ctr">
              <a:spcBef>
                <a:spcPts val="0"/>
              </a:spcBef>
              <a:spcAft>
                <a:spcPts val="0"/>
              </a:spcAft>
            </a:pPr>
            <a:r>
              <a:rPr sz="3500" b="0">
                <a:solidFill>
                  <a:srgbClr val="000000"/>
                </a:solidFill>
                <a:latin typeface="NVIDIA Sans Medium"/>
              </a:rPr>
              <a:t>Next reply or</a:t>
            </a:r>
          </a:p>
          <a:p>
            <a:pPr algn="ctr">
              <a:spcBef>
                <a:spcPts val="0"/>
              </a:spcBef>
              <a:spcAft>
                <a:spcPts val="0"/>
              </a:spcAft>
            </a:pPr>
            <a:r>
              <a:rPr sz="3500" b="0">
                <a:solidFill>
                  <a:srgbClr val="000000"/>
                </a:solidFill>
                <a:latin typeface="NVIDIA Sans Medium"/>
              </a:rPr>
              <a:t>listening prompt</a:t>
            </a:r>
          </a:p>
        </p:txBody>
      </p:sp>
      <p:cxnSp>
        <p:nvCxnSpPr>
          <p:cNvPr id="11" name="Prompt into H3"/>
          <p:cNvCxnSpPr/>
          <p:nvPr/>
        </p:nvCxnSpPr>
        <p:spPr>
          <a:xfrm>
            <a:off x="18288000" y="7589520"/>
            <a:ext cx="0" cy="155448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Next window model"/>
          <p:cNvSpPr/>
          <p:nvPr/>
        </p:nvSpPr>
        <p:spPr>
          <a:xfrm>
            <a:off x="13167360" y="9144000"/>
            <a:ext cx="1024128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ext window model text"/>
          <p:cNvSpPr txBox="1"/>
          <p:nvPr/>
        </p:nvSpPr>
        <p:spPr>
          <a:xfrm>
            <a:off x="13441680" y="9509760"/>
            <a:ext cx="9692640" cy="100584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14" name="Next window duration"/>
          <p:cNvSpPr txBox="1"/>
          <p:nvPr/>
        </p:nvSpPr>
        <p:spPr>
          <a:xfrm>
            <a:off x="13441680" y="10789920"/>
            <a:ext cx="9692640" cy="64008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Generate the next ~5 s</a:t>
            </a:r>
          </a:p>
        </p:txBody>
      </p:sp>
      <p:cxnSp>
        <p:nvCxnSpPr>
          <p:cNvPr id="15" name="Previous context into H3"/>
          <p:cNvCxnSpPr/>
          <p:nvPr/>
        </p:nvCxnSpPr>
        <p:spPr>
          <a:xfrm>
            <a:off x="12252960" y="10378440"/>
            <a:ext cx="91440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H3 produces B"/>
          <p:cNvCxnSpPr/>
          <p:nvPr/>
        </p:nvCxnSpPr>
        <p:spPr>
          <a:xfrm>
            <a:off x="23408640" y="10378440"/>
            <a:ext cx="91440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Previous context label"/>
          <p:cNvSpPr txBox="1"/>
          <p:nvPr/>
        </p:nvSpPr>
        <p:spPr>
          <a:xfrm>
            <a:off x="1828800" y="13533120"/>
            <a:ext cx="10424160" cy="73152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Recent motion + voice</a:t>
            </a:r>
          </a:p>
        </p:txBody>
      </p:sp>
      <p:sp>
        <p:nvSpPr>
          <p:cNvPr id="18" name="Reference identity label"/>
          <p:cNvSpPr txBox="1"/>
          <p:nvPr/>
        </p:nvSpPr>
        <p:spPr>
          <a:xfrm>
            <a:off x="13167360" y="13533120"/>
            <a:ext cx="1024128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Same reference image + voice</a:t>
            </a:r>
          </a:p>
        </p:txBody>
      </p:sp>
      <p:sp>
        <p:nvSpPr>
          <p:cNvPr id="19" name="New window label"/>
          <p:cNvSpPr txBox="1"/>
          <p:nvPr/>
        </p:nvSpPr>
        <p:spPr>
          <a:xfrm>
            <a:off x="24323040" y="13533120"/>
            <a:ext cx="1042416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New video + matching audio</a:t>
            </a:r>
          </a:p>
        </p:txBody>
      </p:sp>
      <p:sp>
        <p:nvSpPr>
          <p:cNvPr id="20" name="Playback instruction"/>
          <p:cNvSpPr txBox="1"/>
          <p:nvPr/>
        </p:nvSpPr>
        <p:spPr>
          <a:xfrm>
            <a:off x="1828800" y="14996159"/>
            <a:ext cx="32918400" cy="73152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PLAYBACK: trim B’s overlap, then append its new video and audio</a:t>
            </a:r>
          </a:p>
        </p:txBody>
      </p:sp>
      <p:sp>
        <p:nvSpPr>
          <p:cNvPr id="21" name="Playback A"/>
          <p:cNvSpPr/>
          <p:nvPr/>
        </p:nvSpPr>
        <p:spPr>
          <a:xfrm>
            <a:off x="1828800" y="16276320"/>
            <a:ext cx="16797866" cy="13716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layback B"/>
          <p:cNvSpPr/>
          <p:nvPr/>
        </p:nvSpPr>
        <p:spPr>
          <a:xfrm>
            <a:off x="18626666" y="16276320"/>
            <a:ext cx="16120533" cy="137160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layback join"/>
          <p:cNvSpPr/>
          <p:nvPr/>
        </p:nvSpPr>
        <p:spPr>
          <a:xfrm>
            <a:off x="18594662" y="16276320"/>
            <a:ext cx="64008"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layback A label"/>
          <p:cNvSpPr txBox="1"/>
          <p:nvPr/>
        </p:nvSpPr>
        <p:spPr>
          <a:xfrm>
            <a:off x="2286000" y="16623792"/>
            <a:ext cx="15544800" cy="82296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Chunk A · 5.167 s</a:t>
            </a:r>
          </a:p>
        </p:txBody>
      </p:sp>
      <p:sp>
        <p:nvSpPr>
          <p:cNvPr id="25" name="Playback B label"/>
          <p:cNvSpPr txBox="1"/>
          <p:nvPr/>
        </p:nvSpPr>
        <p:spPr>
          <a:xfrm>
            <a:off x="19083866" y="16623792"/>
            <a:ext cx="14630400" cy="822960"/>
          </a:xfrm>
          <a:prstGeom prst="rect">
            <a:avLst/>
          </a:prstGeom>
          <a:noFill/>
        </p:spPr>
        <p:txBody>
          <a:bodyPr wrap="square" lIns="0" rIns="0" tIns="0" bIns="0">
            <a:spAutoFit/>
          </a:bodyPr>
          <a:lstStyle/>
          <a:p>
            <a:pPr>
              <a:spcBef>
                <a:spcPts val="0"/>
              </a:spcBef>
              <a:spcAft>
                <a:spcPts val="0"/>
              </a:spcAft>
            </a:pPr>
            <a:r>
              <a:rPr sz="3500" b="0">
                <a:solidFill>
                  <a:srgbClr val="FFFFFF"/>
                </a:solidFill>
                <a:latin typeface="NVIDIA Sans Medium"/>
              </a:rPr>
              <a:t>Chunk B · +4.958 s</a:t>
            </a:r>
          </a:p>
        </p:txBody>
      </p:sp>
      <p:sp>
        <p:nvSpPr>
          <p:cNvPr id="26" name="Overlap explanation"/>
          <p:cNvSpPr txBox="1"/>
          <p:nvPr/>
        </p:nvSpPr>
        <p:spPr>
          <a:xfrm>
            <a:off x="1828800" y="1856232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Remove 5 overlapping frames and aligned audio from each continuation window.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12</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Visual workflows, powered by a local or remote model service.</a:t>
            </a:r>
          </a:p>
        </p:txBody>
      </p:sp>
      <p:sp>
        <p:nvSpPr>
          <p:cNvPr id="4" name="Title 3"/>
          <p:cNvSpPr>
            <a:spLocks noGrp="1"/>
          </p:cNvSpPr>
          <p:nvPr>
            <p:ph type="title"/>
          </p:nvPr>
        </p:nvSpPr>
        <p:spPr/>
        <p:txBody>
          <a:bodyPr/>
          <a:lstStyle/>
          <a:p>
            <a:r>
              <a:rPr sz="8800"/>
              <a:t>vLLM-Omni for Creators — ComfyUI</a:t>
            </a:r>
          </a:p>
        </p:txBody>
      </p:sp>
      <p:pic>
        <p:nvPicPr>
          <p:cNvPr id="5" name="Official ComfyUI video workflow screenshot" descr="comfyui-video-generation.jpg"/>
          <p:cNvPicPr>
            <a:picLocks noChangeAspect="1"/>
          </p:cNvPicPr>
          <p:nvPr/>
        </p:nvPicPr>
        <p:blipFill>
          <a:blip r:embed="rId2"/>
          <a:stretch>
            <a:fillRect/>
          </a:stretch>
        </p:blipFill>
        <p:spPr>
          <a:xfrm>
            <a:off x="1828800" y="5303520"/>
            <a:ext cx="16966346" cy="12618720"/>
          </a:xfrm>
          <a:prstGeom prst="rect">
            <a:avLst/>
          </a:prstGeom>
        </p:spPr>
      </p:pic>
      <p:sp>
        <p:nvSpPr>
          <p:cNvPr id="6" name="Comfy availability"/>
          <p:cNvSpPr txBox="1"/>
          <p:nvPr/>
        </p:nvSpPr>
        <p:spPr>
          <a:xfrm>
            <a:off x="21031200" y="5669280"/>
            <a:ext cx="137160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AVAILABLE ON MAIN</a:t>
            </a:r>
          </a:p>
        </p:txBody>
      </p:sp>
      <p:sp>
        <p:nvSpPr>
          <p:cNvPr id="7" name="Comfy capability 0"/>
          <p:cNvSpPr txBox="1"/>
          <p:nvPr/>
        </p:nvSpPr>
        <p:spPr>
          <a:xfrm>
            <a:off x="21031200" y="7498079"/>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Compose visually</a:t>
            </a:r>
          </a:p>
        </p:txBody>
      </p:sp>
      <p:sp>
        <p:nvSpPr>
          <p:cNvPr id="8" name="Comfy explanation 0"/>
          <p:cNvSpPr txBox="1"/>
          <p:nvPr/>
        </p:nvSpPr>
        <p:spPr>
          <a:xfrm>
            <a:off x="21031200" y="877824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Image, video and audio workflows.</a:t>
            </a:r>
          </a:p>
        </p:txBody>
      </p:sp>
      <p:sp>
        <p:nvSpPr>
          <p:cNvPr id="9" name="Comfy capability 1"/>
          <p:cNvSpPr txBox="1"/>
          <p:nvPr/>
        </p:nvSpPr>
        <p:spPr>
          <a:xfrm>
            <a:off x="21031200" y="1060704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Serve separately</a:t>
            </a:r>
          </a:p>
        </p:txBody>
      </p:sp>
      <p:sp>
        <p:nvSpPr>
          <p:cNvPr id="10" name="Comfy explanation 1"/>
          <p:cNvSpPr txBox="1"/>
          <p:nvPr/>
        </p:nvSpPr>
        <p:spPr>
          <a:xfrm>
            <a:off x="21031200" y="1188720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Models run in vLLM-Omni.</a:t>
            </a:r>
          </a:p>
        </p:txBody>
      </p:sp>
      <p:sp>
        <p:nvSpPr>
          <p:cNvPr id="11" name="Comfy capability 2"/>
          <p:cNvSpPr txBox="1"/>
          <p:nvPr/>
        </p:nvSpPr>
        <p:spPr>
          <a:xfrm>
            <a:off x="21031200" y="1371600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Bring H3 into the graph</a:t>
            </a:r>
          </a:p>
        </p:txBody>
      </p:sp>
      <p:sp>
        <p:nvSpPr>
          <p:cNvPr id="12" name="Comfy explanation 2"/>
          <p:cNvSpPr txBox="1"/>
          <p:nvPr/>
        </p:nvSpPr>
        <p:spPr>
          <a:xfrm>
            <a:off x="21031200" y="14996159"/>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Text, keyframes or reference media.</a:t>
            </a:r>
          </a:p>
        </p:txBody>
      </p:sp>
      <p:sp>
        <p:nvSpPr>
          <p:cNvPr id="13" name="Comfy takeaway"/>
          <p:cNvSpPr txBox="1"/>
          <p:nvPr/>
        </p:nvSpPr>
        <p:spPr>
          <a:xfrm>
            <a:off x="1828800" y="18059400"/>
            <a:ext cx="32918400" cy="100584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Compose in ComfyUI. Run models in vLLM-Omni.</a:t>
            </a:r>
          </a:p>
        </p:txBody>
      </p:sp>
      <p:sp>
        <p:nvSpPr>
          <p:cNvPr id="14" name="Comfy sourc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300" b="0">
                <a:solidFill>
                  <a:srgbClr val="313131"/>
                </a:solidFill>
                <a:latin typeface="NVIDIA Sans"/>
              </a:rPr>
              <a:t>Official UI example, not benchmark settings. Upstream main verified 30 Oct 2026 ·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Join the open-source multimodal serving community.</a:t>
            </a:r>
          </a:p>
        </p:txBody>
      </p:sp>
      <p:sp>
        <p:nvSpPr>
          <p:cNvPr id="4" name="Title 3"/>
          <p:cNvSpPr>
            <a:spLocks noGrp="1"/>
          </p:cNvSpPr>
          <p:nvPr>
            <p:ph type="title"/>
          </p:nvPr>
        </p:nvSpPr>
        <p:spPr/>
        <p:txBody>
          <a:bodyPr/>
          <a:lstStyle/>
          <a:p>
            <a:r>
              <a:rPr sz="8800"/>
              <a:t>Build with vLLM-Omni</a:t>
            </a:r>
          </a:p>
        </p:txBody>
      </p:sp>
      <p:sp>
        <p:nvSpPr>
          <p:cNvPr id="5" name="Community invitation"/>
          <p:cNvSpPr txBox="1"/>
          <p:nvPr/>
        </p:nvSpPr>
        <p:spPr>
          <a:xfrm>
            <a:off x="1828800" y="5486400"/>
            <a:ext cx="32004000" cy="5029200"/>
          </a:xfrm>
          <a:prstGeom prst="rect">
            <a:avLst/>
          </a:prstGeom>
          <a:noFill/>
        </p:spPr>
        <p:txBody>
          <a:bodyPr wrap="square" lIns="0" rIns="0" tIns="0" bIns="0">
            <a:spAutoFit/>
          </a:bodyPr>
          <a:lstStyle/>
          <a:p>
            <a:pPr>
              <a:spcBef>
                <a:spcPts val="0"/>
              </a:spcBef>
              <a:spcAft>
                <a:spcPts val="0"/>
              </a:spcAft>
            </a:pPr>
            <a:r>
              <a:rPr sz="11200" b="0">
                <a:solidFill>
                  <a:srgbClr val="000000"/>
                </a:solidFill>
                <a:latin typeface="NVIDIA Sans Medium"/>
              </a:rPr>
              <a:t>Bring a model.</a:t>
            </a:r>
          </a:p>
          <a:p>
            <a:pPr>
              <a:spcBef>
                <a:spcPts val="0"/>
              </a:spcBef>
              <a:spcAft>
                <a:spcPts val="0"/>
              </a:spcAft>
            </a:pPr>
            <a:r>
              <a:rPr sz="11200" b="0">
                <a:solidFill>
                  <a:srgbClr val="000000"/>
                </a:solidFill>
                <a:latin typeface="NVIDIA Sans Medium"/>
              </a:rPr>
              <a:t>Build a workflow.</a:t>
            </a:r>
          </a:p>
        </p:txBody>
      </p:sp>
      <p:sp>
        <p:nvSpPr>
          <p:cNvPr id="6" name="Community contribution"/>
          <p:cNvSpPr txBox="1"/>
          <p:nvPr/>
        </p:nvSpPr>
        <p:spPr>
          <a:xfrm>
            <a:off x="1828800" y="11795760"/>
            <a:ext cx="32918400" cy="1097280"/>
          </a:xfrm>
          <a:prstGeom prst="rect">
            <a:avLst/>
          </a:prstGeom>
          <a:noFill/>
        </p:spPr>
        <p:txBody>
          <a:bodyPr wrap="square" lIns="0" rIns="0" tIns="0" bIns="0">
            <a:spAutoFit/>
          </a:bodyPr>
          <a:lstStyle/>
          <a:p>
            <a:pPr>
              <a:spcBef>
                <a:spcPts val="0"/>
              </a:spcBef>
              <a:spcAft>
                <a:spcPts val="0"/>
              </a:spcAft>
            </a:pPr>
            <a:r>
              <a:rPr sz="4100" b="0">
                <a:solidFill>
                  <a:srgbClr val="76B900"/>
                </a:solidFill>
                <a:latin typeface="NVIDIA Sans Medium"/>
              </a:rPr>
              <a:t>Contribute models · Optimize serving · Share creator workflows</a:t>
            </a:r>
          </a:p>
        </p:txBody>
      </p:sp>
      <p:cxnSp>
        <p:nvCxnSpPr>
          <p:cNvPr id="7" name="Closing divider"/>
          <p:cNvCxnSpPr/>
          <p:nvPr/>
        </p:nvCxnSpPr>
        <p:spPr>
          <a:xfrm>
            <a:off x="1828800" y="13807440"/>
            <a:ext cx="32918400" cy="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8" name="Code + contributions"/>
          <p:cNvSpPr txBox="1"/>
          <p:nvPr/>
        </p:nvSpPr>
        <p:spPr>
          <a:xfrm>
            <a:off x="1828800" y="14859000"/>
            <a:ext cx="1600200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Code + contributions</a:t>
            </a:r>
          </a:p>
        </p:txBody>
      </p:sp>
      <p:sp>
        <p:nvSpPr>
          <p:cNvPr id="9" name="Code + contributions URL"/>
          <p:cNvSpPr txBox="1"/>
          <p:nvPr/>
        </p:nvSpPr>
        <p:spPr>
          <a:xfrm>
            <a:off x="1828800" y="16184880"/>
            <a:ext cx="16002000" cy="91440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a:hlinkClick r:id="rId3"/>
              </a:rPr>
              <a:t>github.com/vllm-project/vllm-omni</a:t>
            </a:r>
          </a:p>
        </p:txBody>
      </p:sp>
      <p:sp>
        <p:nvSpPr>
          <p:cNvPr id="10" name="Documentation"/>
          <p:cNvSpPr txBox="1"/>
          <p:nvPr/>
        </p:nvSpPr>
        <p:spPr>
          <a:xfrm>
            <a:off x="20116800" y="14859000"/>
            <a:ext cx="1463040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Documentation</a:t>
            </a:r>
          </a:p>
        </p:txBody>
      </p:sp>
      <p:sp>
        <p:nvSpPr>
          <p:cNvPr id="11" name="Documentation URL"/>
          <p:cNvSpPr txBox="1"/>
          <p:nvPr/>
        </p:nvSpPr>
        <p:spPr>
          <a:xfrm>
            <a:off x="20116800" y="16184880"/>
            <a:ext cx="14630400" cy="91440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a:hlinkClick r:id="rId7"/>
              </a:rPr>
              <a:t>docs.vllm.ai/projects/vllm-omni</a:t>
            </a:r>
          </a:p>
        </p:txBody>
      </p:sp>
      <p:sp>
        <p:nvSpPr>
          <p:cNvPr id="12" name="Developer community"/>
          <p:cNvSpPr txBox="1"/>
          <p:nvPr/>
        </p:nvSpPr>
        <p:spPr>
          <a:xfrm>
            <a:off x="1828800" y="1856232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hlinkClick r:id="rId8"/>
              </a:rPr>
              <a:t>Developer community: slack.vllm.ai · #sig-omni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27</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28</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37</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