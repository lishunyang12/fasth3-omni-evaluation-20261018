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does not depend on head batching. An all-head Ulysses exchange can still replay a captured unpack, attention and pack compute island when resolution, frame count, tensor geometry, strides and registered buffer addresses remain fixed. Sequence length can change when H, W, T or the packed reference slots change, so arbitrary video requests have less cross-request reuse than LLM decode. The current captured island contains no block-specific weights, and its key uses implementation configuration rather than the DiT block instance. When configuration and metadata match, one GraphExec per band/profile can replay across all 50 blocks and all denoising steps: 400 times under PDD8 or 2,500 times under Base50. The (1, 2, 3, 1) band plan uses four such GraphExecs. Fixed live-stream profiles also reuse their Graphs across continuation windows, which can amortize warmup and capture far better than arbitrary generation. A paired single-GPU component test used a saved real layer-0 input, 12 counterbalanced rounds and 20 repeats per arm. All four arms were bit-exact. All-head eager measured 11.703171 ms and all-head Graph measured 11.658073 ms, a 0.3853 percent reduction. Four-band eager measured 12.323460 ms and four-band Graph measured 12.040123 ms, a 2.2992 percent reduction. The test contains no collective or RDMA, so it shows that Graph helps the finer launch schedule more; it does not establish the end-to-end value of head banding. Banding alone adds compute overhead, and its intended gain comes from communication-compute overlap. The upper timeline shows the remaining limitation: attention still waits for the complete QKV exchange, so Graph replay only removes CPU launch and scheduling gaps. The lower timeline divides the seven local heads into fixed bands. Once band zero arrives, its captured compute island can run while the communication stream moves the next band. Graph replay keeps the smaller per-band unpack, attention and pack operations from becoming launch-bound. RDMA work requests, completion polling, readiness events and dynamic band scheduling remain outside CUDA Graph. CUDA Graph does not increase RDMA bandwidth and does not make arbitrary dynamic sequence lengths static. Cross-request variation still requires a bounded shape cache, padding and masking, or eager fallback on a cache miss.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decode commonly captures a small set of batch-size buckets with query length one, then reuses those graphs across many token steps and requests. Video generation has a higher-dimensional shape key. Output height, width and frame count change the latent sequence length; packed reference slots or conditioning length can add another dimension; head-band width and stable registered-buffer addresses also participate in the current prototype key. Therefore arbitrary video requests have lower cross-request Graph hit rate. The captured island contains no block-specific weights, and its key does not include the DiT block instance. When configuration and metadata match, one GraphExec per band/profile can replay across all 50 blocks and all denoising steps: 400 times under PDD8 or 2,500 times under Base50. The (1, 2, 3, 1) plan uses four GraphExecs. A fixed live-avatar profile can recover even more reuse because resolution, frame window, reference slots, band plan and persistent buffers repeat across continuation requests. For fixed-sparsity or fixed-Top-K VSA, the selected count is fixed for one profile. Top-K indices, scores and Q/K/V values change, but their tensor shapes do not, so those content changes do not require recapture. If a ratio-based K is derived from sequence length, K can still change when a new request changes H, W or T. The serving policy is to pre-capture a bounded set of hot profiles, use persistent registered buffer pools, run uncommon shapes eagerly, and capture only after a reuse threshold. Report Graph hit rate, cold capture cost, private-pool memory and eager fallback rate.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parallelism choice for one latency-sensitive request. Data parallelism creates additional model replicas for concurrent requests and therefore improves serving throughput; it does not split this one request. The locked route is DP1, TP1, USP8 and Ring1: one request on one eight-GPU replica, not DP8. MiniMax H3 is CFG-distilled and has no negative guidance branch. The current pipeline identifies the model as CFG-distilled, rejects any cfg_parallel_size other than one, sets state.do_true_cfg to false, and the denoise loop executes the positive presentation exactly once per step. CFG parallelism therefore has no second branch to run. USP8 instead shards the aligned 56,960-token sequence across eight ranks; the five Q, K, V, gate and output slots cross the topology in each measured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p:txBody>
          <a:bodyPr/>
          <a:lstStyle/>
          <a:p>
            <a:r>
              <a:t>H3 follows a learned velocity field from noise toward clean video and audio latents</a:t>
            </a:r>
          </a:p>
        </p:txBody>
      </p:sp>
      <p:sp>
        <p:nvSpPr>
          <p:cNvPr id="4" name="Title 3"/>
          <p:cNvSpPr>
            <a:spLocks noGrp="1"/>
          </p:cNvSpPr>
          <p:nvPr>
            <p:ph type="title"/>
          </p:nvPr>
        </p:nvSpPr>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Teacher targets</a:t>
            </a:r>
          </a:p>
          <a:p>
            <a:pPr lvl="1" algn="l"/>
            <a:r>
              <a:rPr b="0">
                <a:solidFill>
                  <a:srgbClr val="313131"/>
                </a:solidFill>
                <a:latin typeface="NVIDIA Sans"/>
              </a:rPr>
              <a:t>Base H3 supplies the mean denoising direction for each fine interval</a:t>
            </a:r>
          </a:p>
          <a:p>
            <a:pPr algn="l"/>
            <a:r>
              <a:rPr b="1">
                <a:solidFill>
                  <a:srgbClr val="76B900"/>
                </a:solidFill>
                <a:latin typeface="NVIDIA Sans Medium"/>
              </a:rPr>
              <a:t>One student pass</a:t>
            </a:r>
          </a:p>
          <a:p>
            <a:pPr lvl="1" algn="l"/>
            <a:r>
              <a:rPr b="0">
                <a:solidFill>
                  <a:srgbClr val="313131"/>
                </a:solidFill>
                <a:latin typeface="NVIDIA Sans"/>
              </a:rPr>
              <a:t>From the same noisy latent, predict four consecutive directions in parallel</a:t>
            </a:r>
          </a:p>
          <a:p>
            <a:pPr algn="l"/>
            <a:r>
              <a:rPr b="1">
                <a:solidFill>
                  <a:srgbClr val="313131"/>
                </a:solidFill>
                <a:latin typeface="NVIDIA Sans Medium"/>
              </a:rPr>
              <a:t>Advance and repeat</a:t>
            </a:r>
          </a:p>
          <a:p>
            <a:pPr lvl="1" algn="l"/>
            <a:r>
              <a:rPr b="0">
                <a:solidFill>
                  <a:srgbClr val="313131"/>
                </a:solidFill>
                <a:latin typeface="NVIDIA Sans"/>
              </a:rPr>
              <a:t>Combine the four predictions to cross one block; repeat from the new latent</a:t>
            </a:r>
          </a:p>
          <a:p>
            <a:pPr algn="l"/>
            <a:r>
              <a:rPr b="1">
                <a:solidFill>
                  <a:srgbClr val="313131"/>
                </a:solidFill>
                <a:latin typeface="NVIDIA Sans Medium"/>
              </a:rPr>
              <a:t>H3 PDD8</a:t>
            </a:r>
          </a:p>
          <a:p>
            <a:pPr lvl="1" algn="l"/>
            <a:r>
              <a:rPr b="0">
                <a:solidFill>
                  <a:srgbClr val="313131"/>
                </a:solidFill>
                <a:latin typeface="NVIDIA Sans"/>
              </a:rPr>
              <a:t>Train a new 32-interval grid: 32 ÷ 4 = 8 passes</a:t>
            </a:r>
          </a:p>
          <a:p>
            <a:pPr lvl="1" algn="l"/>
            <a:r>
              <a:rPr b="0">
                <a:solidFill>
                  <a:srgbClr val="313131"/>
                </a:solidFill>
                <a:latin typeface="NVIDIA Sans"/>
              </a:rPr>
              <a:t>Repeated block calls: 2,500 → 400 (−84%)</a:t>
            </a:r>
          </a:p>
        </p:txBody>
      </p:sp>
      <p:sp>
        <p:nvSpPr>
          <p:cNvPr id="3" name="Text Placeholder 2"/>
          <p:cNvSpPr>
            <a:spLocks noGrp="1"/>
          </p:cNvSpPr>
          <p:nvPr>
            <p:ph type="body" idx="14" sz="quarter"/>
          </p:nvPr>
        </p:nvSpPr>
        <p:spPr/>
        <p:txBody>
          <a:bodyPr/>
          <a:lstStyle/>
          <a:p>
            <a:r>
              <a:t>Predict four denoising directions in parallel; advance one interval block per pass</a:t>
            </a:r>
          </a:p>
        </p:txBody>
      </p:sp>
      <p:sp>
        <p:nvSpPr>
          <p:cNvPr id="4" name="Title 3"/>
          <p:cNvSpPr>
            <a:spLocks noGrp="1"/>
          </p:cNvSpPr>
          <p:nvPr>
            <p:ph type="title"/>
          </p:nvPr>
        </p:nvSpPr>
        <p:spPr/>
        <p:txBody>
          <a:bodyPr/>
          <a:lstStyle/>
          <a:p>
            <a:r>
              <a:t>PDD Turns 50 DiT Passes Into 8</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Dense workload</a:t>
            </a:r>
          </a:p>
          <a:p>
            <a:pPr lvl="1" algn="l"/>
            <a:r>
              <a:rPr b="0">
                <a:solidFill>
                  <a:srgbClr val="313131"/>
                </a:solidFill>
                <a:latin typeface="NVIDIA Sans"/>
              </a:rPr>
              <a:t>34,373 tokens → 1.181B pairs/head/block at 544P</a:t>
            </a:r>
          </a:p>
          <a:p>
            <a:pPr algn="l"/>
            <a:r>
              <a:rPr b="1">
                <a:solidFill>
                  <a:srgbClr val="76B900"/>
                </a:solidFill>
                <a:latin typeface="NVIDIA Sans Medium"/>
              </a:rPr>
              <a:t>Learned VSA route</a:t>
            </a:r>
          </a:p>
          <a:p>
            <a:pPr lvl="1" algn="l"/>
            <a:r>
              <a:rPr b="0">
                <a:solidFill>
                  <a:srgbClr val="313131"/>
                </a:solidFill>
                <a:latin typeface="NVIDIA Sans"/>
              </a:rPr>
              <a:t>Partition → coarse score → Top-K → fine attention → gate</a:t>
            </a:r>
          </a:p>
          <a:p>
            <a:pPr algn="l"/>
            <a:r>
              <a:rPr b="1">
                <a:solidFill>
                  <a:srgbClr val="313131"/>
                </a:solidFill>
                <a:latin typeface="NVIDIA Sans Medium"/>
              </a:rPr>
              <a:t>Paper defaults</a:t>
            </a:r>
          </a:p>
          <a:p>
            <a:pPr lvl="1" algn="l"/>
            <a:r>
              <a:rPr b="0">
                <a:solidFill>
                  <a:srgbClr val="313131"/>
                </a:solidFill>
                <a:latin typeface="NVIDIA Sans"/>
              </a:rPr>
              <a:t>4 × 4 × 4 = 64 tokens per cube · Top-K = 32 KV cubes</a:t>
            </a:r>
          </a:p>
          <a:p>
            <a:pPr algn="l"/>
            <a:r>
              <a:rPr b="1">
                <a:solidFill>
                  <a:srgbClr val="313131"/>
                </a:solidFill>
                <a:latin typeface="NVIDIA Sans Medium"/>
              </a:rPr>
              <a:t>System boundary</a:t>
            </a:r>
          </a:p>
          <a:p>
            <a:pPr lvl="1" algn="l"/>
            <a:r>
              <a:rPr b="0">
                <a:solidFill>
                  <a:srgbClr val="313131"/>
                </a:solidFill>
                <a:latin typeface="NVIDIA Sans"/>
              </a:rPr>
              <a:t>Attention compute becomes sparse; USP8 still exchanges full-length Q/K/V/O</a:t>
            </a:r>
          </a:p>
          <a:p>
            <a:pPr lvl="1" algn="l"/>
            <a:r>
              <a:rPr b="0">
                <a:solidFill>
                  <a:srgbClr val="313131"/>
                </a:solidFill>
                <a:latin typeface="NVIDIA Sans"/>
              </a:rPr>
              <a:t>Needs sparse-trained routing and gate weights</a:t>
            </a:r>
          </a:p>
        </p:txBody>
      </p:sp>
      <p:sp>
        <p:nvSpPr>
          <p:cNvPr id="3" name="Text Placeholder 2"/>
          <p:cNvSpPr>
            <a:spLocks noGrp="1"/>
          </p:cNvSpPr>
          <p:nvPr>
            <p:ph type="body" idx="14" sz="quarter"/>
          </p:nvPr>
        </p:nvSpPr>
        <p:spPr/>
        <p:txBody>
          <a:bodyPr/>
          <a:lstStyle/>
          <a:p>
            <a:r>
              <a:t>Video Sparse Attention learns which 3-D video cubes matter</a:t>
            </a:r>
          </a:p>
        </p:txBody>
      </p:sp>
      <p:sp>
        <p:nvSpPr>
          <p:cNvPr id="4" name="Title 3"/>
          <p:cNvSpPr>
            <a:spLocks noGrp="1"/>
          </p:cNvSpPr>
          <p:nvPr>
            <p:ph type="title"/>
          </p:nvPr>
        </p:nvSpPr>
        <p:spPr/>
        <p:txBody>
          <a:bodyPr/>
          <a:lstStyle/>
          <a:p>
            <a:r>
              <a:t>VSA Makes Attention Sparse</a:t>
            </a:r>
          </a:p>
        </p:txBody>
      </p:sp>
      <p:sp>
        <p:nvSpPr>
          <p:cNvPr id="5" name="Text Placeholder 4"/>
          <p:cNvSpPr>
            <a:spLocks noGrp="1"/>
          </p:cNvSpPr>
          <p:nvPr>
            <p:ph type="body" idx="52" sz="quarter"/>
          </p:nvPr>
        </p:nvSpPr>
        <p:spPr/>
        <p:txBody>
          <a:bodyPr/>
          <a:lstStyle/>
          <a:p>
            <a:r>
              <a:t>Paper: 64-token cubes · Top-K = 32 KV cubes/query · H3: route 128 rows, kernel 64 rows</a:t>
            </a:r>
          </a:p>
        </p:txBody>
      </p:sp>
      <p:sp>
        <p:nvSpPr>
          <p:cNvPr id="6" name="Text Placeholder 5"/>
          <p:cNvSpPr>
            <a:spLocks noGrp="1"/>
          </p:cNvSpPr>
          <p:nvPr>
            <p:ph type="body" idx="51" sz="quarter"/>
          </p:nvPr>
        </p:nvSpPr>
        <p:spPr/>
        <p:txBody>
          <a:bodyPr/>
          <a:lstStyle/>
          <a:p>
            <a:r>
              <a:t>Partition → Coarse → Top-K → Fine → Gate</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Each path targets different SM120 kernels, and current evidence validates them separately</a:t>
            </a:r>
          </a:p>
        </p:txBody>
      </p:sp>
      <p:sp>
        <p:nvSpPr>
          <p:cNvPr id="3" name="Title 2"/>
          <p:cNvSpPr>
            <a:spLocks noGrp="1"/>
          </p:cNvSpPr>
          <p:nvPr>
            <p:ph type="title"/>
          </p:nvPr>
        </p:nvSpPr>
        <p:spPr/>
        <p:txBody>
          <a:bodyPr/>
          <a:lstStyle/>
          <a:p>
            <a:r>
              <a:t>QAD Quantizes Linears;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Effect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QAD checkpoint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NVFP4 linears; BF16 exceptions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Recovers quantization error during distillation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forwards; PDD32; VSA 90%; tile 128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Sage VSA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Q/K INT8; V FP8; BF16 output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Quantizes tile64 fine attention after routing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d=128; opt-in; Ulysses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Token refiner: BF16; VSA default: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the sensitive short path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Same-seed quality check pending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BF16 Q/K/V before Sage; BF16 O after Sage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collective payloads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QAD and Sage do not reduce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FastH3 Omni NVFP4-QAD rev 0087718 · NVIDIA ModelOpt QAD · vLLM-Omni SM120 Sage-VSA @ 63487a7</a:t>
            </a:r>
            <a:endParaRPr lang="en-US" dirty="0"/>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runs 2,500 blocks at S = 34,432 on eight RTX PRO 5000 GPUs with local NCCL and no RDMA against a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All heads + Graph</a:t>
            </a:r>
          </a:p>
          <a:p>
            <a:pPr lvl="1" algn="l"/>
            <a:r>
              <a:rPr b="0">
                <a:solidFill>
                  <a:srgbClr val="313131"/>
                </a:solidFill>
                <a:latin typeface="NVIDIA Sans"/>
              </a:rPr>
              <a:t>Cuts launch overhead, but attention still waits for the full exchange</a:t>
            </a:r>
          </a:p>
          <a:p>
            <a:pPr algn="l"/>
            <a:r>
              <a:rPr b="1">
                <a:solidFill>
                  <a:srgbClr val="76B900"/>
                </a:solidFill>
                <a:latin typeface="NVIDIA Sans Medium"/>
              </a:rPr>
              <a:t>Head bands + Graph</a:t>
            </a:r>
          </a:p>
          <a:p>
            <a:pPr lvl="1" algn="l"/>
            <a:r>
              <a:rPr b="0">
                <a:solidFill>
                  <a:srgbClr val="313131"/>
                </a:solidFill>
                <a:latin typeface="NVIDIA Sans"/>
              </a:rPr>
              <a:t>Starts attention as each fixed band arrives and pipelines later bands</a:t>
            </a:r>
          </a:p>
          <a:p>
            <a:pPr algn="l"/>
            <a:r>
              <a:rPr b="1">
                <a:solidFill>
                  <a:srgbClr val="76B900"/>
                </a:solidFill>
                <a:latin typeface="NVIDIA Sans Medium"/>
              </a:rPr>
              <a:t>Measured compute-only</a:t>
            </a:r>
          </a:p>
          <a:p>
            <a:pPr lvl="1" algn="l"/>
            <a:r>
              <a:rPr b="0">
                <a:solidFill>
                  <a:srgbClr val="313131"/>
                </a:solidFill>
                <a:latin typeface="NVIDIA Sans"/>
              </a:rPr>
              <a:t>All-head −0.39% · four bands −2.30%; banding pays off through overlap</a:t>
            </a:r>
          </a:p>
          <a:p>
            <a:pPr algn="l"/>
            <a:r>
              <a:rPr b="1">
                <a:solidFill>
                  <a:srgbClr val="313131"/>
                </a:solidFill>
                <a:latin typeface="NVIDIA Sans Medium"/>
              </a:rPr>
              <a:t>Capture boundary</a:t>
            </a:r>
          </a:p>
          <a:p>
            <a:pPr lvl="1" algn="l"/>
            <a:r>
              <a:rPr b="0">
                <a:solidFill>
                  <a:srgbClr val="313131"/>
                </a:solidFill>
                <a:latin typeface="NVIDIA Sans"/>
              </a:rPr>
              <a:t>Graph: unpack → attention → pack; RDMA and readiness events stay outside</a:t>
            </a:r>
          </a:p>
        </p:txBody>
      </p:sp>
      <p:sp>
        <p:nvSpPr>
          <p:cNvPr id="3" name="Text Placeholder 2"/>
          <p:cNvSpPr>
            <a:spLocks noGrp="1"/>
          </p:cNvSpPr>
          <p:nvPr>
            <p:ph type="body" idx="14" sz="quarter"/>
          </p:nvPr>
        </p:nvSpPr>
        <p:spPr/>
        <p:txBody>
          <a:bodyPr/>
          <a:lstStyle/>
          <a:p>
            <a:r>
              <a:t>All-head replay cuts launch gaps; head bands expose overlap</a:t>
            </a:r>
          </a:p>
        </p:txBody>
      </p:sp>
      <p:sp>
        <p:nvSpPr>
          <p:cNvPr id="4" name="Title 3"/>
          <p:cNvSpPr>
            <a:spLocks noGrp="1"/>
          </p:cNvSpPr>
          <p:nvPr>
            <p:ph type="title"/>
          </p:nvPr>
        </p:nvSpPr>
        <p:spPr/>
        <p:txBody>
          <a:bodyPr/>
          <a:lstStyle/>
          <a:p>
            <a:r>
              <a:t>CUDA Graph for Head Pipelining</a:t>
            </a:r>
          </a:p>
        </p:txBody>
      </p:sp>
      <p:sp>
        <p:nvSpPr>
          <p:cNvPr id="5" name="Text Placeholder 4"/>
          <p:cNvSpPr>
            <a:spLocks noGrp="1"/>
          </p:cNvSpPr>
          <p:nvPr>
            <p:ph type="body" idx="52" sz="quarter"/>
          </p:nvPr>
        </p:nvSpPr>
        <p:spPr/>
        <p:txBody>
          <a:bodyPr/>
          <a:lstStyle/>
          <a:p>
            <a:r>
              <a:t>Measured compute-only: all-head −0.39% · four bands −2.30% · banding pays off through overlap</a:t>
            </a:r>
          </a:p>
        </p:txBody>
      </p:sp>
      <p:sp>
        <p:nvSpPr>
          <p:cNvPr id="6" name="Text Placeholder 5"/>
          <p:cNvSpPr>
            <a:spLocks noGrp="1"/>
          </p:cNvSpPr>
          <p:nvPr>
            <p:ph type="body" idx="51" sz="quarter"/>
          </p:nvPr>
        </p:nvSpPr>
        <p:spPr/>
        <p:txBody>
          <a:bodyPr/>
          <a:lstStyle/>
          <a:p>
            <a:r>
              <a:t>Same Graph Benefit · Different Overlap</a:t>
            </a:r>
          </a:p>
        </p:txBody>
      </p:sp>
      <p:pic>
        <p:nvPicPr>
          <p:cNvPr id="7" name="Picture Placeholder 6" descr="cuda-graph-head-band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component test: head-compute-four-arm-20261025 · CUDA Programming Guide · author diagram</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Arbitrary video requests have lower Graph reuse than LLM decode; fixed live streams reuse across continuation windows</a:t>
            </a:r>
          </a:p>
        </p:txBody>
      </p:sp>
      <p:sp>
        <p:nvSpPr>
          <p:cNvPr id="3" name="Title 2"/>
          <p:cNvSpPr>
            <a:spLocks noGrp="1"/>
          </p:cNvSpPr>
          <p:nvPr>
            <p:ph type="title"/>
          </p:nvPr>
        </p:nvSpPr>
        <p:spPr/>
        <p:txBody>
          <a:bodyPr/>
          <a:lstStyle/>
          <a:p>
            <a:r>
              <a:t>CUDA Graph Reuse Depends on the Video Profile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graphicFrame>
        <p:nvGraphicFramePr>
          <p:cNvPr id="5" name="Official NVIDIA CUDA Graph Reus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50"/>
        </p:xfrm>
        <a:graphic>
          <a:graphicData uri="http://schemas.openxmlformats.org/drawingml/2006/table">
            <a:tbl>
              <a:tblPr>
                <a:tableStyleId>{68D230F3-CF80-4859-8CE7-A43EE81993B5}</a:tableStyleId>
              </a:tblPr>
              <a:tblGrid>
                <a:gridCol w="4663440">
                  <a:extLst>
                    <a:ext uri="{9D8B030D-6E8A-4147-A177-3AD203B41FA5}">
                      <a16:colId xmlns:a16="http://schemas.microsoft.com/office/drawing/2014/main" val="1714626306"/>
                    </a:ext>
                  </a:extLst>
                </a:gridCol>
                <a:gridCol w="6949440">
                  <a:extLst>
                    <a:ext uri="{9D8B030D-6E8A-4147-A177-3AD203B41FA5}">
                      <a16:colId xmlns:a16="http://schemas.microsoft.com/office/drawing/2014/main" val="1697748500"/>
                    </a:ext>
                  </a:extLst>
                </a:gridCol>
                <a:gridCol w="8595360">
                  <a:extLst>
                    <a:ext uri="{9D8B030D-6E8A-4147-A177-3AD203B41FA5}">
                      <a16:colId xmlns:a16="http://schemas.microsoft.com/office/drawing/2014/main" val="3872581152"/>
                    </a:ext>
                  </a:extLst>
                </a:gridCol>
                <a:gridCol w="8062081">
                  <a:extLst>
                    <a:ext uri="{9D8B030D-6E8A-4147-A177-3AD203B41FA5}">
                      <a16:colId xmlns:a16="http://schemas.microsoft.com/office/drawing/2014/main" val="2543914041"/>
                    </a:ext>
                  </a:extLst>
                </a:gridCol>
              </a:tblGrid>
              <a:tr h="105156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Question</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LLM Decode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H3 Video</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Serving Policy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Shape key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q_len = 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H/W/T · reference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head band</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Cache a small set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of hot profiles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Replay window</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Many token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and requests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Across blocks + steps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PDD8: 400 · Base50: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Reuse persistent slots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across continuation windows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Top-K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Count fixed per profile</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indices and values 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Content changes replay</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same Graph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New geometry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Select another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batch bucket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Bucket hit or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eager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Capture only after</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the profile becomes hot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48618">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Buffer addresses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Static or pooled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decode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Registered QKV/O</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staging buffers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Use a persistent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buffer pool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*Per band/profile GraphExec when configuration matches · (1,2,3,1) uses four GraphExecs · Sources: CUDA Programming Guide; current H3 prototype audit</a:t>
            </a:r>
            <a:endParaRPr lang="en-US"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Single-request latency</a:t>
            </a:r>
          </a:p>
          <a:p>
            <a:pPr lvl="1" algn="l"/>
            <a:r>
              <a:rPr b="0">
                <a:solidFill>
                  <a:srgbClr val="313131"/>
                </a:solidFill>
                <a:latin typeface="NVIDIA Sans"/>
              </a:rPr>
              <a:t>DP adds replicas and throughput; it does not split one request</a:t>
            </a:r>
          </a:p>
          <a:p>
            <a:pPr algn="l"/>
            <a:r>
              <a:rPr b="1">
                <a:solidFill>
                  <a:srgbClr val="313131"/>
                </a:solidFill>
                <a:latin typeface="NVIDIA Sans Medium"/>
              </a:rPr>
              <a:t>No CFG branch</a:t>
            </a:r>
          </a:p>
          <a:p>
            <a:pPr lvl="1" algn="l"/>
            <a:r>
              <a:rPr b="0">
                <a:solidFill>
                  <a:srgbClr val="313131"/>
                </a:solidFill>
                <a:latin typeface="NVIDIA Sans"/>
              </a:rPr>
              <a:t>H3 is CFG-distilled: one positive forward per step, so CFGP has nothing to parallelize</a:t>
            </a:r>
          </a:p>
          <a:p>
            <a:pPr algn="l"/>
            <a:r>
              <a:rPr b="1">
                <a:solidFill>
                  <a:srgbClr val="76B900"/>
                </a:solidFill>
                <a:latin typeface="NVIDIA Sans Medium"/>
              </a:rPr>
              <a:t>USP8 fits the work</a:t>
            </a:r>
          </a:p>
          <a:p>
            <a:pPr lvl="1" algn="l"/>
            <a:r>
              <a:rPr b="0">
                <a:solidFill>
                  <a:srgbClr val="313131"/>
                </a:solidFill>
                <a:latin typeface="NVIDIA Sans"/>
              </a:rPr>
              <a:t>Eight ranks shard the 56,960-token sequence; Q/K/V/G/O cross the topology</a:t>
            </a:r>
          </a:p>
          <a:p>
            <a:pPr algn="l"/>
            <a:r>
              <a:rPr b="1">
                <a:solidFill>
                  <a:srgbClr val="313131"/>
                </a:solidFill>
                <a:latin typeface="NVIDIA Sans Medium"/>
              </a:rPr>
              <a:t>Topology per rank</a:t>
            </a:r>
          </a:p>
          <a:p>
            <a:pPr lvl="1" algn="l"/>
            <a:r>
              <a:rPr b="0">
                <a:solidFill>
                  <a:srgbClr val="313131"/>
                </a:solidFill>
                <a:latin typeface="NVIDIA Sans"/>
              </a:rPr>
              <a:t>1 PXB · 2 NODE · 4 SYS peers per rank</a:t>
            </a:r>
          </a:p>
        </p:txBody>
      </p:sp>
      <p:sp>
        <p:nvSpPr>
          <p:cNvPr id="3" name="Text Placeholder 2"/>
          <p:cNvSpPr>
            <a:spLocks noGrp="1"/>
          </p:cNvSpPr>
          <p:nvPr>
            <p:ph type="body" idx="14" sz="quarter"/>
          </p:nvPr>
        </p:nvSpPr>
        <p:spPr/>
        <p:txBody>
          <a:bodyPr/>
          <a:lstStyle/>
          <a:p>
            <a:r>
              <a:t>DP for throughput · no CFG branch · USP8 for single-request latency</a:t>
            </a:r>
          </a:p>
        </p:txBody>
      </p:sp>
      <p:sp>
        <p:nvSpPr>
          <p:cNvPr id="4" name="Title 3"/>
          <p:cNvSpPr>
            <a:spLocks noGrp="1"/>
          </p:cNvSpPr>
          <p:nvPr>
            <p:ph type="title"/>
          </p:nvPr>
        </p:nvSpPr>
        <p:spPr/>
        <p:txBody>
          <a:bodyPr/>
          <a:lstStyle/>
          <a:p>
            <a:r>
              <a:t>Why This Request Uses USP8</a:t>
            </a:r>
          </a:p>
        </p:txBody>
      </p:sp>
      <p:sp>
        <p:nvSpPr>
          <p:cNvPr id="5" name="Text Placeholder 4"/>
          <p:cNvSpPr>
            <a:spLocks noGrp="1"/>
          </p:cNvSpPr>
          <p:nvPr>
            <p:ph type="body" idx="52" sz="quarter"/>
          </p:nvPr>
        </p:nvSpPr>
        <p:spPr/>
        <p:txBody>
          <a:bodyPr/>
          <a:lstStyle/>
          <a:p>
            <a:r>
              <a:t>Per rank: 1 PXB + 2 NODE + 4 SYS peers · every GPU has a nearest CX-8 exit</a:t>
            </a:r>
          </a:p>
        </p:txBody>
      </p:sp>
      <p:sp>
        <p:nvSpPr>
          <p:cNvPr id="6" name="Text Placeholder 5"/>
          <p:cNvSpPr>
            <a:spLocks noGrp="1"/>
          </p:cNvSpPr>
          <p:nvPr>
            <p:ph type="body" idx="51" sz="quarter"/>
          </p:nvPr>
        </p:nvSpPr>
        <p:spPr/>
        <p:txBody>
          <a:bodyPr/>
          <a:lstStyle/>
          <a:p>
            <a:r>
              <a:t>DP1 / TP1 / USP8 / Ring1 · One Request, One Replica</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960×544 · 362f · BF16 · DP1 / TP1 / USP8 / Ring1 · S = 56,960 · Q/K/V/G/O</a:t>
            </a:r>
          </a:p>
        </p:txBody>
      </p:sp>
      <p:sp>
        <p:nvSpPr>
          <p:cNvPr id="3" name="Title 2"/>
          <p:cNvSpPr>
            <a:spLocks noGrp="1"/>
          </p:cNvSpPr>
          <p:nvPr>
            <p:ph type="title"/>
          </p:nvPr>
        </p:nvSpPr>
        <p:spPr/>
        <p:txBody>
          <a:bodyPr/>
          <a:lstStyle/>
          <a:p>
            <a:r>
              <a:t>GPUDirect RDMA Shortens the Route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15</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p:txBody>
          <a:bodyPr/>
          <a:lstStyle/>
          <a:p>
            <a:r>
              <a:t>Four GPUs are byte-exact; eight-GPU H3 remains pending</a:t>
            </a:r>
          </a:p>
        </p:txBody>
      </p:sp>
      <p:sp>
        <p:nvSpPr>
          <p:cNvPr id="4" name="Title 3"/>
          <p:cNvSpPr>
            <a:spLocks noGrp="1"/>
          </p:cNvSpPr>
          <p:nvPr>
            <p:ph type="title"/>
          </p:nvPr>
        </p:nvSpPr>
        <p:spPr/>
        <p:txBody>
          <a:bodyPr/>
          <a:lstStyle/>
          <a:p>
            <a:r>
              <a:t>RDMA Precheck Passes 96/96</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16</a:t>
            </a:fld>
            <a:endParaRPr lang="en-US"/>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17</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