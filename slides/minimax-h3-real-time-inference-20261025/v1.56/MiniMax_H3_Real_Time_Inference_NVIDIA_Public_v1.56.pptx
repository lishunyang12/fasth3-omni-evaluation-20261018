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89" r:id="rId59"/>
    <p:sldId id="390" r:id="rId60"/>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2" r:id="rId42"/>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0" Type="http://schemas.openxmlformats.org/officeDocument/2006/relationships/slide" Target="slides/slide44.xml"/><Relationship Id="rId31" Type="http://schemas.openxmlformats.org/officeDocument/2006/relationships/slide" Target="slides/slide43.xml"/><Relationship Id="rId32" Type="http://schemas.openxmlformats.org/officeDocument/2006/relationships/slide" Target="slides/slide42.xml"/><Relationship Id="rId33" Type="http://schemas.openxmlformats.org/officeDocument/2006/relationships/slide" Target="slides/slide15.xml"/><Relationship Id="rId34" Type="http://schemas.openxmlformats.org/officeDocument/2006/relationships/slide" Target="slides/slide14.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5.xml"/><Relationship Id="rId38" Type="http://schemas.openxmlformats.org/officeDocument/2006/relationships/slide" Target="slides/slide34.xml"/><Relationship Id="rId39" Type="http://schemas.openxmlformats.org/officeDocument/2006/relationships/slide" Target="slides/slide32.xml"/><Relationship Id="rId40" Type="http://schemas.openxmlformats.org/officeDocument/2006/relationships/slide" Target="slides/slide20.xml"/><Relationship Id="rId41" Type="http://schemas.openxmlformats.org/officeDocument/2006/relationships/slide" Target="slides/slide40.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37.xml"/><Relationship Id="rId45" Type="http://schemas.openxmlformats.org/officeDocument/2006/relationships/slide" Target="slides/slide29.xml"/><Relationship Id="rId46" Type="http://schemas.openxmlformats.org/officeDocument/2006/relationships/slide" Target="slides/slide33.xml"/><Relationship Id="rId47" Type="http://schemas.openxmlformats.org/officeDocument/2006/relationships/slide" Target="slides/slide25.xml"/><Relationship Id="rId48" Type="http://schemas.openxmlformats.org/officeDocument/2006/relationships/slide" Target="slides/slide24.xml"/><Relationship Id="rId49" Type="http://schemas.openxmlformats.org/officeDocument/2006/relationships/slide" Target="slides/slide31.xml"/><Relationship Id="rId50" Type="http://schemas.openxmlformats.org/officeDocument/2006/relationships/slide" Target="slides/slide2.xml"/><Relationship Id="rId51" Type="http://schemas.openxmlformats.org/officeDocument/2006/relationships/slide" Target="slides/slide30.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1.xml"/><Relationship Id="rId60" Type="http://schemas.openxmlformats.org/officeDocument/2006/relationships/slide" Target="slides/slide12.xml"/><Relationship Id="rId61" Type="http://schemas.openxmlformats.org/officeDocument/2006/relationships/slide" Target="slides/slide16.xml"/><Relationship Id="rId62" Type="http://schemas.openxmlformats.org/officeDocument/2006/relationships/slide" Target="slides/slide13.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7.xml"/><Relationship Id="rId85" Type="http://schemas.openxmlformats.org/officeDocument/2006/relationships/slide" Target="slides/slide18.xml"/><Relationship Id="rId86" Type="http://schemas.openxmlformats.org/officeDocument/2006/relationships/slide" Target="slides/slide19.xml"/><Relationship Id="rId87" Type="http://schemas.openxmlformats.org/officeDocument/2006/relationships/slide" Target="slides/slide21.xml"/><Relationship Id="rId89" Type="http://schemas.openxmlformats.org/officeDocument/2006/relationships/slide" Target="slides/slide22.xml"/><Relationship Id="rId90" Type="http://schemas.openxmlformats.org/officeDocument/2006/relationships/slide" Target="slides/slide23.xml"/><Relationship Id="rId95" Type="http://schemas.openxmlformats.org/officeDocument/2006/relationships/slide" Target="slides/slide26.xml"/><Relationship Id="rId96" Type="http://schemas.openxmlformats.org/officeDocument/2006/relationships/slide" Target="slides/slide27.xml"/><Relationship Id="rId97" Type="http://schemas.openxmlformats.org/officeDocument/2006/relationships/slide" Target="slides/slide28.xml"/><Relationship Id="rId99" Type="http://schemas.openxmlformats.org/officeDocument/2006/relationships/slide" Target="slides/slide36.xml"/><Relationship Id="rId102" Type="http://schemas.openxmlformats.org/officeDocument/2006/relationships/slide" Target="slides/slide4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17. The recorded demonstration follows on slide 19.</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a:p/>
          <a:p>
            <a:r>
              <a:t>Presentation emphasis: Explain the experience-level purpose first: each window should feel like part of one conversation. The images and timeline show context reuse and overlap trimming. This does not establish indefinitely stable generation or eliminate all seams.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and unknown CPU link are not bandwidth encodings. GPU PCIe max and host uplink 64GB/s raw (63.015 after 128/130 encoding); shared NIC endpoint 128GB/s raw; network port 50GB/s. No xGMI capacity or saturation is asserted.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Creator handoff, about 45 seconds. The official ComfyUI extension sends inference requests to a local or remote vLLM-Omni service. ComfyUI does not load H3 weights in these workflows. On upstream main 08177216af4b44cef54ec5bdc75c265a9f0cd697, the extension contains image/video generation, multimodal understanding, TTS/voice cloning, music, restoration and H3 reference/editing/guide nodes. This slide selects three high-level points rather than claiming every model supports every node. H3 all-in-one includes T2VA, first/last-frame FL2VA and mixed-reference Ref2VA; it does not include a prompt LLM. API/model support bounds the UI. The official screenshot is an existing illustrative graph, not a new test or a recommended H3 benchmark configuration. No ComfyUI inference was run for this deck. Sources: https://github.com/vllm-project/vllm-omni/tree/08177216af4b44cef54ec5bdc75c265a9f0cd697/apps/ComfyUI-vLLM-Omni ; https://docs.vllm.ai/projects/vllm-omni/en/latest/features/comfyui/ ; https://github.com/vllm-project/vllm-omni/blob/08177216af4b44cef54ec5bdc75c265a9f0cd697/apps/ComfyUI-vLLM-Omni/docs/h3-06-all-in-one.md</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everyone to build the vLLM-Omni ecosystem: contribute model integrations, performance improvements, creator workflows, tests and documentation. The entire final slide is copied visually from the presenter's saved public deck, vLLM-Omni Slides (Public) 2026-04 latest (1).pptx, source slide 45, author metadata liuhongsheng, SHA256 1f457b63851bf0bd1d9a3cb8a1b8d7765b8507a1ae83a29f20df62ca405d8b72. Original content, logos, community links and QR codes are retained. The copied page is a full-slide image to preserve the original design in the NVIDIA deck; the individual source page is also retained as official-closing-source.pptx. No claim is made that historical QR invitations are current. Current canonical community information: https://github.com/vllm-project/vllm-omni#join-the-community ; https://slack.vllm.ai/ (#sig-omni).</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25400">
            <a:solidFill>
              <a:srgbClr val="A7A7A7"/>
            </a:solidFill>
            <a:prstDash val="dash"/>
          </a:ln>
        </p:spPr>
        <p:style>
          <a:lnRef idx="2">
            <a:schemeClr val="accent1"/>
          </a:lnRef>
          <a:fillRef idx="0">
            <a:schemeClr val="accent1"/>
          </a:fillRef>
          <a:effectRef idx="1">
            <a:schemeClr val="accent1"/>
          </a:effectRef>
          <a:fontRef idx="minor">
            <a:schemeClr val="tx1"/>
          </a:fontRef>
        </p:style>
      </p:cxnSp>
      <p:sp>
        <p:nvSpPr>
          <p:cNvPr id="10" name="CPU capacity unknown"/>
          <p:cNvSpPr txBox="1"/>
          <p:nvPr/>
        </p:nvSpPr>
        <p:spPr>
          <a:xfrm>
            <a:off x="15819120" y="5074920"/>
            <a:ext cx="4937760" cy="50292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Rate unverified</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conversation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11</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12</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a:r>
              <a:t>Visual workflows, powered by a local or remote model service.</a:t>
            </a:r>
          </a:p>
        </p:txBody>
      </p:sp>
      <p:sp>
        <p:nvSpPr>
          <p:cNvPr id="4" name="Title 3"/>
          <p:cNvSpPr>
            <a:spLocks noGrp="1"/>
          </p:cNvSpPr>
          <p:nvPr>
            <p:ph type="title"/>
          </p:nvPr>
        </p:nvSpPr>
        <p:spPr/>
        <p:txBody>
          <a:bodyPr/>
          <a:lstStyle/>
          <a:p>
            <a:r>
              <a:rPr sz="8800"/>
              <a:t>vLLM-Omni for Creators — ComfyUI</a:t>
            </a:r>
          </a:p>
        </p:txBody>
      </p:sp>
      <p:pic>
        <p:nvPicPr>
          <p:cNvPr id="5" name="Official ComfyUI video workflow screenshot" descr="comfyui-video-generation.jpg"/>
          <p:cNvPicPr>
            <a:picLocks noChangeAspect="1"/>
          </p:cNvPicPr>
          <p:nvPr/>
        </p:nvPicPr>
        <p:blipFill>
          <a:blip r:embed="rId2"/>
          <a:stretch>
            <a:fillRect/>
          </a:stretch>
        </p:blipFill>
        <p:spPr>
          <a:xfrm>
            <a:off x="1828800" y="5303520"/>
            <a:ext cx="16966346" cy="12618720"/>
          </a:xfrm>
          <a:prstGeom prst="rect">
            <a:avLst/>
          </a:prstGeom>
        </p:spPr>
      </p:pic>
      <p:sp>
        <p:nvSpPr>
          <p:cNvPr id="6" name="Comfy availability"/>
          <p:cNvSpPr txBox="1"/>
          <p:nvPr/>
        </p:nvSpPr>
        <p:spPr>
          <a:xfrm>
            <a:off x="21031200" y="5669280"/>
            <a:ext cx="137160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AVAILABLE ON MAIN</a:t>
            </a:r>
          </a:p>
        </p:txBody>
      </p:sp>
      <p:sp>
        <p:nvSpPr>
          <p:cNvPr id="7" name="Comfy capability 0"/>
          <p:cNvSpPr txBox="1"/>
          <p:nvPr/>
        </p:nvSpPr>
        <p:spPr>
          <a:xfrm>
            <a:off x="21031200" y="7498079"/>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Compose visually</a:t>
            </a:r>
          </a:p>
        </p:txBody>
      </p:sp>
      <p:sp>
        <p:nvSpPr>
          <p:cNvPr id="8" name="Comfy explanation 0"/>
          <p:cNvSpPr txBox="1"/>
          <p:nvPr/>
        </p:nvSpPr>
        <p:spPr>
          <a:xfrm>
            <a:off x="21031200" y="877824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Image, video and audio workflows.</a:t>
            </a:r>
          </a:p>
        </p:txBody>
      </p:sp>
      <p:sp>
        <p:nvSpPr>
          <p:cNvPr id="9" name="Comfy capability 1"/>
          <p:cNvSpPr txBox="1"/>
          <p:nvPr/>
        </p:nvSpPr>
        <p:spPr>
          <a:xfrm>
            <a:off x="21031200" y="1060704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Serve separately</a:t>
            </a:r>
          </a:p>
        </p:txBody>
      </p:sp>
      <p:sp>
        <p:nvSpPr>
          <p:cNvPr id="10" name="Comfy explanation 1"/>
          <p:cNvSpPr txBox="1"/>
          <p:nvPr/>
        </p:nvSpPr>
        <p:spPr>
          <a:xfrm>
            <a:off x="21031200" y="1188720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Models run in vLLM-Omni.</a:t>
            </a:r>
          </a:p>
        </p:txBody>
      </p:sp>
      <p:sp>
        <p:nvSpPr>
          <p:cNvPr id="11" name="Comfy capability 2"/>
          <p:cNvSpPr txBox="1"/>
          <p:nvPr/>
        </p:nvSpPr>
        <p:spPr>
          <a:xfrm>
            <a:off x="21031200" y="1371600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Bring H3 into the graph</a:t>
            </a:r>
          </a:p>
        </p:txBody>
      </p:sp>
      <p:sp>
        <p:nvSpPr>
          <p:cNvPr id="12" name="Comfy explanation 2"/>
          <p:cNvSpPr txBox="1"/>
          <p:nvPr/>
        </p:nvSpPr>
        <p:spPr>
          <a:xfrm>
            <a:off x="21031200" y="14996159"/>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Text, keyframes or reference media.</a:t>
            </a:r>
          </a:p>
        </p:txBody>
      </p:sp>
      <p:sp>
        <p:nvSpPr>
          <p:cNvPr id="13" name="Comfy takeaway"/>
          <p:cNvSpPr txBox="1"/>
          <p:nvPr/>
        </p:nvSpPr>
        <p:spPr>
          <a:xfrm>
            <a:off x="1828800" y="18059400"/>
            <a:ext cx="32918400" cy="100584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Compose in ComfyUI. Run models in vLLM-Omni.</a:t>
            </a:r>
          </a:p>
        </p:txBody>
      </p:sp>
      <p:sp>
        <p:nvSpPr>
          <p:cNvPr id="14" name="Comfy sourc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300" b="0">
                <a:solidFill>
                  <a:srgbClr val="313131"/>
                </a:solidFill>
                <a:latin typeface="NVIDIA Sans"/>
              </a:rPr>
              <a:t>Official UI example, not benchmark settings. Upstream main verified 30 Oct 2026 · 08177216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Planned open-source release</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official public vLLM-Omni closing slide" descr="vllm-omni-official-closing.png"/>
          <p:cNvPicPr>
            <a:picLocks noChangeAspect="1"/>
          </p:cNvPicPr>
          <p:nvPr/>
        </p:nvPicPr>
        <p:blipFill>
          <a:blip r:embed="rId2"/>
          <a:stretch>
            <a:fillRect/>
          </a:stretch>
        </p:blipFill>
        <p:spPr>
          <a:xfrm>
            <a:off x="0" y="0"/>
            <a:ext cx="36576000" cy="20574000"/>
          </a:xfrm>
          <a:prstGeom prst="rect">
            <a:avLst/>
          </a:prstGeom>
        </p:spPr>
      </p:pic>
      <p:sp>
        <p:nvSpPr>
          <p:cNvPr id="3" name="GitHub original hyperlink">
            <a:hlinkClick r:id="rId3"/>
          </p:cNvPr>
          <p:cNvSpPr/>
          <p:nvPr/>
        </p:nvSpPr>
        <p:spPr>
          <a:xfrm>
            <a:off x="5074920" y="4315968"/>
            <a:ext cx="20080224" cy="3941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nnouncement original hyperlink">
            <a:hlinkClick r:id="rId4"/>
          </p:cNvPr>
          <p:cNvSpPr/>
          <p:nvPr/>
        </p:nvSpPr>
        <p:spPr>
          <a:xfrm>
            <a:off x="5074920" y="9006840"/>
            <a:ext cx="19677888" cy="3941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veloper Slack original hyperlink">
            <a:hlinkClick r:id="rId5"/>
          </p:cNvPr>
          <p:cNvSpPr/>
          <p:nvPr/>
        </p:nvSpPr>
        <p:spPr>
          <a:xfrm>
            <a:off x="5486400" y="13688568"/>
            <a:ext cx="21113496" cy="4800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18</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19</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22</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23</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24</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25</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26</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27</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28</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29</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30</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32</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33</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36</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37</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38</a:t>
            </a:r>
          </a:p>
        </p:txBody>
      </p:sp>
      <p:sp>
        <p:nvSpPr>
          <p:cNvPr id="3" name="Text Placeholder 2"/>
          <p:cNvSpPr>
            <a:spLocks noGrp="1"/>
          </p:cNvSpPr>
          <p:nvPr>
            <p:ph type="body" idx="13" sz="quarter"/>
          </p:nvPr>
        </p:nvSpPr>
        <p:spPr/>
        <p:txBody>
          <a:bodyPr/>
          <a:lstStyle/>
          <a:p>
            <a:r>
              <a:t>The previous ending guides the next clip. Only new content is appended.</a:t>
            </a:r>
          </a:p>
        </p:txBody>
      </p:sp>
      <p:sp>
        <p:nvSpPr>
          <p:cNvPr id="4" name="Title 3"/>
          <p:cNvSpPr>
            <a:spLocks noGrp="1"/>
          </p:cNvSpPr>
          <p:nvPr>
            <p:ph type="title"/>
          </p:nvPr>
        </p:nvSpPr>
        <p:spPr/>
        <p:txBody>
          <a:bodyPr/>
          <a:lstStyle/>
          <a:p>
            <a:r>
              <a:t>Continuation Makes Clips Feel Continuous</a:t>
            </a:r>
          </a:p>
        </p:txBody>
      </p:sp>
      <p:sp>
        <p:nvSpPr>
          <p:cNvPr id="5" name="Chunk A heading"/>
          <p:cNvSpPr txBox="1"/>
          <p:nvPr/>
        </p:nvSpPr>
        <p:spPr>
          <a:xfrm>
            <a:off x="182880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A  /  LAST FRAME</a:t>
            </a:r>
          </a:p>
        </p:txBody>
      </p:sp>
      <p:sp>
        <p:nvSpPr>
          <p:cNvPr id="6" name="Chunk B heading"/>
          <p:cNvSpPr txBox="1"/>
          <p:nvPr/>
        </p:nvSpPr>
        <p:spPr>
          <a:xfrm>
            <a:off x="1888236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B  /  FIRST RETAINED FRAME</a:t>
            </a:r>
          </a:p>
        </p:txBody>
      </p:sp>
      <p:pic>
        <p:nvPicPr>
          <p:cNvPr id="7" name="Actual last frame of Chunk A" descr="clip-a-ending.png"/>
          <p:cNvPicPr>
            <a:picLocks noChangeAspect="1"/>
          </p:cNvPicPr>
          <p:nvPr/>
        </p:nvPicPr>
        <p:blipFill>
          <a:blip r:embed="rId3"/>
          <a:stretch>
            <a:fillRect/>
          </a:stretch>
        </p:blipFill>
        <p:spPr>
          <a:xfrm>
            <a:off x="1828800" y="5806440"/>
            <a:ext cx="15864840" cy="8990076"/>
          </a:xfrm>
          <a:prstGeom prst="rect">
            <a:avLst/>
          </a:prstGeom>
        </p:spPr>
      </p:pic>
      <p:pic>
        <p:nvPicPr>
          <p:cNvPr id="8" name="Actual first retained frame of Chunk B" descr="clip-b-start.png"/>
          <p:cNvPicPr>
            <a:picLocks noChangeAspect="1"/>
          </p:cNvPicPr>
          <p:nvPr/>
        </p:nvPicPr>
        <p:blipFill>
          <a:blip r:embed="rId4"/>
          <a:stretch>
            <a:fillRect/>
          </a:stretch>
        </p:blipFill>
        <p:spPr>
          <a:xfrm>
            <a:off x="18882360" y="5806440"/>
            <a:ext cx="15864840" cy="8990076"/>
          </a:xfrm>
          <a:prstGeom prst="rect">
            <a:avLst/>
          </a:prstGeom>
        </p:spPr>
      </p:pic>
      <p:sp>
        <p:nvSpPr>
          <p:cNvPr id="9" name="Playback heading"/>
          <p:cNvSpPr txBox="1"/>
          <p:nvPr/>
        </p:nvSpPr>
        <p:spPr>
          <a:xfrm>
            <a:off x="1828800" y="15681959"/>
            <a:ext cx="11887200" cy="59436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CONTINUOUS PLAYBACK</a:t>
            </a:r>
          </a:p>
        </p:txBody>
      </p:sp>
      <p:sp>
        <p:nvSpPr>
          <p:cNvPr id="10" name="Discarded B prefix"/>
          <p:cNvSpPr/>
          <p:nvPr/>
        </p:nvSpPr>
        <p:spPr>
          <a:xfrm>
            <a:off x="17949333" y="15727680"/>
            <a:ext cx="677333" cy="502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rim label"/>
          <p:cNvSpPr txBox="1"/>
          <p:nvPr/>
        </p:nvSpPr>
        <p:spPr>
          <a:xfrm>
            <a:off x="19175306" y="15663672"/>
            <a:ext cx="155448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B’s overlapping start</a:t>
            </a:r>
          </a:p>
        </p:txBody>
      </p:sp>
      <p:sp>
        <p:nvSpPr>
          <p:cNvPr id="14" name="Playback A"/>
          <p:cNvSpPr/>
          <p:nvPr/>
        </p:nvSpPr>
        <p:spPr>
          <a:xfrm>
            <a:off x="1828800" y="16642080"/>
            <a:ext cx="16797866"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yback B"/>
          <p:cNvSpPr/>
          <p:nvPr/>
        </p:nvSpPr>
        <p:spPr>
          <a:xfrm>
            <a:off x="18626666" y="16642080"/>
            <a:ext cx="16120533" cy="1234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Join marker"/>
          <p:cNvSpPr/>
          <p:nvPr/>
        </p:nvSpPr>
        <p:spPr>
          <a:xfrm>
            <a:off x="18599234" y="16642080"/>
            <a:ext cx="54864"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yback A label"/>
          <p:cNvSpPr txBox="1"/>
          <p:nvPr/>
        </p:nvSpPr>
        <p:spPr>
          <a:xfrm>
            <a:off x="2286000" y="16962120"/>
            <a:ext cx="15883466"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Chunk A · 5.167 s</a:t>
            </a:r>
          </a:p>
        </p:txBody>
      </p:sp>
      <p:sp>
        <p:nvSpPr>
          <p:cNvPr id="18" name="Playback B label"/>
          <p:cNvSpPr txBox="1"/>
          <p:nvPr/>
        </p:nvSpPr>
        <p:spPr>
          <a:xfrm>
            <a:off x="19083866" y="16962120"/>
            <a:ext cx="15206133" cy="731520"/>
          </a:xfrm>
          <a:prstGeom prst="rect">
            <a:avLst/>
          </a:prstGeom>
          <a:noFill/>
        </p:spPr>
        <p:txBody>
          <a:bodyPr wrap="square" lIns="0" rIns="0" tIns="0" bIns="0">
            <a:spAutoFit/>
          </a:bodyPr>
          <a:lstStyle/>
          <a:p>
            <a:pPr>
              <a:spcBef>
                <a:spcPts val="0"/>
              </a:spcBef>
              <a:spcAft>
                <a:spcPts val="0"/>
              </a:spcAft>
            </a:pPr>
            <a:r>
              <a:rPr sz="3400" b="0">
                <a:solidFill>
                  <a:srgbClr val="FFFFFF"/>
                </a:solidFill>
                <a:latin typeface="NVIDIA Sans Medium"/>
              </a:rPr>
              <a:t>Chunk B · +4.958 s</a:t>
            </a:r>
          </a:p>
        </p:txBody>
      </p:sp>
      <p:sp>
        <p:nvSpPr>
          <p:cNvPr id="19" name="Context principle"/>
          <p:cNvSpPr txBox="1"/>
          <p:nvPr/>
        </p:nvSpPr>
        <p:spPr>
          <a:xfrm>
            <a:off x="1828800" y="18608040"/>
            <a:ext cx="32918400" cy="73152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Recent audio–video context conditions the next generation; matching audio is trimmed with the overlap.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39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42</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