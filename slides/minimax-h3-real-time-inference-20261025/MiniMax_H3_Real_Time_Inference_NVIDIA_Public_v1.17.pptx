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 Id="rId102" Type="http://schemas.openxmlformats.org/officeDocument/2006/relationships/slide" Target="slides/slide79.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PTQ and QAD deploy the same NVFP4 format. PTQ calibrates activation scales and rounds a model after training; the weights never learn the resulting four-bit error. QAD instead runs the deployed quantized student forward during training and compares it with a frozen BF16 teacher. Gradients update only the student, and the teacher disappears at inference. In the publisher-reported FastH3 V2 study over 30 held-out prompts, per-step video-plus-audio relative L2 error against BF16 falls from 0.431 for PTQ to 0.351 for QAD, a 19 percent reduction; final-video error after eight steps falls from 0.817 to 0.713, a 13 percent reduction. Memory and file layout remain unchanged. This supports 'closer to BF16,' not bit-identical or globally equal quality. The two frames on this slide are a separate, strictly matched Ref2VA qualitative check: 1344 by 768, 124 frames, 24 FPS, eight steps, seed 1234, identical prompt and references, original video VAE and BF16 attention. Left is the BF16 checkpoint; right is the NVFP4 QAD checkpoint. Public metric: https://haoailab.com/blogs/fasth3-v21/ . Matched sample page: https://lishunyang12.github.io/fasth3-omni-evaluation-20261018/pro5000-4gpu/</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vLLM already centralizes CUDA Graph dispatch, capture, replay, caching and eager fallback through its graph manager, CudagraphDispatcher, CUDAGraphWrapper and FULL, PIECEWISE or NONE runtime modes. The production H3 path should reuse that lifecycle instead of retaining the benchmark prototype's private graph manager. H3 adds a thin profile adapter, stable registered I/O buffers and one graph-safe callable. The profile key must cover S bucket, Kmax, reference layout, head-band geometry and any backend choice that changes topology.</a:t>
            </a:r>
          </a:p>
          <a:p/>
          <a:p>
            <a:r>
              <a:t>The H3 callable captures only unpack QKV, VSA attention and O-bundle packing. QKV packing and input RDMA, readiness events, reverse RDMA and gather, local gate assembly, complete NVFP4 W_O and dynamic scheduling remain outside the Graph. In vLLM terms this is a PIECEWISE boundary: the framework owns dispatch and replay; H3 owns the communication boundary and persistent registered buffers. CUDA Graph reduces launch gaps but does not fuse kernels or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from the private benchmark module. Moving its lifecycle into vLLM is the proposed production integration and is not part of the measured 9.481 percent result.</a:t>
            </a:r>
          </a:p>
          <a:p/>
          <a:p>
            <a:r>
              <a:t>Official references: https://docs.vllm.ai/en/latest/design/cuda_graphs/ ; https://github.com/vllm-project/vllm/blob/main/vllm/compilation/cuda_graph.py ; https://docs.nvidia.com/cuda/cuda-programming-guide/04-special-topics/cuda-graphs.html</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measured prototype captures synchronously on a miss, keeps tensors and geometry in a private pool, limits the cache to 32 entries and raises if the cache is full. The production path should move dispatch, capture, cache, graph-pool ownership and NONE-mode eager fallback to vLLM's existing graph framework. H3 supplies a profile descriptor and replay-buffer adapter. vLLM's EncoderCudaGraphManager provides a useful public pattern for token budgets, persistent buffers, smallest-fit replay and overflow fallback, but it is an encoder-specific class; this slide borrows its policy and does not claim that H3 DiT directly uses that manager.</a:t>
            </a:r>
          </a:p>
          <a:p/>
          <a:p>
            <a:r>
              <a:t>Because H3 sequence lengths can span roughly 60K to 1M, mechanically doubling buckets can waste too much attention compute. Start with curated exact profiles for common products, keep unknown profiles eager, and capture only after qualification. Report Graph hit rate, padding overhead, cold capture cost, graph-pool memory and eager fallback share.</a:t>
            </a:r>
          </a:p>
          <a:p/>
          <a:p>
            <a:r>
              <a:t>Official references: https://docs.vllm.ai/en/latest/design/cuda_graphs/ ; https://docs.vllm.ai/en/latest/design/cuda_graphs_multimodal/ ; https://docs.pytorch.org/docs/stable/notes/cuda.html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page explains the Ulysses tensor transform; this page shows the physical roads underneath it. The five Q, K, V, gate and output slots cross the topology in each measured VSA-enabled DiT block. The retained host has two NUMA sockets and four two-GPU PCIe islands. P0 contains GPUs 0 and 1, P1 contains GPUs 2 and 3, P2 contains GPUs 4 and 5, and P3 contains GPUs 6 and 7. From any GPU, one remote peer shares its PCIe subtree and is classified PXB, two peers sit behind the other subtree on the same NUMA socket and are classified NODE, and four peers sit across the CPU-to-CPU path and are classified SYS. Ulysses uses equal peer chunks, so the logical off-rank split is 1/7 PXB, 2/7 NODE and 4/7 SYS. Therefore 57.1 percent of minimum one-way off-rank logical payload is cross-socket. This is a topology and logical-payload statement; it is not a captured split of NCCL wire bytes, route residency, or elapsed time. The nearest-NIC mapping is GPU0 to mlx5_2, GPU1 to mlx5_3, GPU2 to mlx5_0, GPU3 to mlx5_1, GPU4 to mlx5_6, GPU5 to mlx5_7, GPU6 to mlx5_4 and GPU7 to mlx5_5. Each retained ConnectX-8 port was active at 400 Gb/s. The editable diagram shows hardware containment and path classes; it does not assert that the local NCCL control transported every byte over a single physical route family. Code anchors: pipeline_minimax_h3.py lines 648 and 886-887; pipeline_minimax_h3.py line 3539; denoise_loop.py lines 3-7 and the single model call beginning at line 404.</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5.png"/><Relationship Id="rId4" Type="http://schemas.openxmlformats.org/officeDocument/2006/relationships/image" Target="../media/image2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QAD keeps the NVFP4 student close to its BF16 target; versus PTQ, error falls at the same 4-bit deployment</a:t>
            </a:r>
          </a:p>
        </p:txBody>
      </p:sp>
      <p:sp>
        <p:nvSpPr>
          <p:cNvPr id="3" name="Title 2"/>
          <p:cNvSpPr>
            <a:spLocks noGrp="1"/>
          </p:cNvSpPr>
          <p:nvPr>
            <p:ph type="title"/>
          </p:nvPr>
        </p:nvSpPr>
        <p:spPr/>
        <p:txBody>
          <a:bodyPr/>
          <a:lstStyle/>
          <a:p>
            <a:r>
              <a:t>Quantization</a:t>
            </a:r>
          </a:p>
        </p:txBody>
      </p:sp>
      <p:sp>
        <p:nvSpPr>
          <p:cNvPr id="4" name="Text Placeholder 3"/>
          <p:cNvSpPr>
            <a:spLocks noGrp="1"/>
          </p:cNvSpPr>
          <p:nvPr>
            <p:ph type="body" idx="52" sz="quarter"/>
          </p:nvPr>
        </p:nvSpPr>
        <p:spPr/>
        <p:txBody>
          <a:bodyPr/>
          <a:lstStyle/>
          <a:p>
            <a:r>
              <a:t>Matched Ref2VA frame · same prompt, references, seed, and 8-step schedule</a:t>
            </a:r>
          </a:p>
        </p:txBody>
      </p:sp>
      <p:sp>
        <p:nvSpPr>
          <p:cNvPr id="5" name="Text Placeholder 4"/>
          <p:cNvSpPr>
            <a:spLocks noGrp="1"/>
          </p:cNvSpPr>
          <p:nvPr>
            <p:ph type="body" idx="51" sz="quarter"/>
          </p:nvPr>
        </p:nvSpPr>
        <p:spPr/>
        <p:txBody>
          <a:bodyPr/>
          <a:lstStyle/>
          <a:p>
            <a:r>
              <a:t>BF16 Reference</a:t>
            </a:r>
          </a:p>
        </p:txBody>
      </p:sp>
      <p:pic>
        <p:nvPicPr>
          <p:cNvPr id="6" name="Picture Placeholder 5" descr="qad-matched-bf16-reference-family-f024.png"/>
          <p:cNvPicPr>
            <a:picLocks noGrp="1" noChangeAspect="1"/>
          </p:cNvPicPr>
          <p:nvPr>
            <p:ph type="pic" idx="53" sz="quarter"/>
          </p:nvPr>
        </p:nvPicPr>
        <p:blipFill>
          <a:blip r:embed="rId3"/>
          <a:srcRect t="761" b="761"/>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Published V2: PTQ 0.431 → QAD 0.351 relative L2 error vs BF16 (−19%)</a:t>
            </a:r>
          </a:p>
        </p:txBody>
      </p:sp>
      <p:sp>
        <p:nvSpPr>
          <p:cNvPr id="8" name="Text Placeholder 7"/>
          <p:cNvSpPr>
            <a:spLocks noGrp="1"/>
          </p:cNvSpPr>
          <p:nvPr>
            <p:ph type="body" idx="55" sz="quarter"/>
          </p:nvPr>
        </p:nvSpPr>
        <p:spPr/>
        <p:txBody>
          <a:bodyPr/>
          <a:lstStyle/>
          <a:p>
            <a:r>
              <a:rPr>
                <a:solidFill>
                  <a:srgbClr val="76B900"/>
                </a:solidFill>
              </a:rPr>
              <a:t>NVFP4 + QAD</a:t>
            </a:r>
          </a:p>
        </p:txBody>
      </p:sp>
      <p:pic>
        <p:nvPicPr>
          <p:cNvPr id="9" name="Picture Placeholder 8" descr="qad-matched-nvfp4-qad-family-f024.png"/>
          <p:cNvPicPr>
            <a:picLocks noGrp="1" noChangeAspect="1"/>
          </p:cNvPicPr>
          <p:nvPr>
            <p:ph type="pic" idx="56" sz="quarter"/>
          </p:nvPr>
        </p:nvPicPr>
        <p:blipFill>
          <a:blip r:embed="rId4"/>
          <a:srcRect t="761" b="761"/>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Hao AI Lab, FastH3-QAD-v2 (30 held-out prompts) · matched Ref2VA checkpoint study; qualitative frame only</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DiT block reshards Q, K, and V across eight GPUs, then restores O</a:t>
            </a:r>
          </a:p>
        </p:txBody>
      </p:sp>
      <p:sp>
        <p:nvSpPr>
          <p:cNvPr id="3" name="Title 2"/>
          <p:cNvSpPr>
            <a:spLocks noGrp="1"/>
          </p:cNvSpPr>
          <p:nvPr>
            <p:ph type="title"/>
          </p:nvPr>
        </p:nvSpPr>
        <p:spPr/>
        <p:txBody>
          <a:bodyPr/>
          <a:lstStyle/>
          <a:p>
            <a:r>
              <a:t>Ulysses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Aggregate Rate for RTF 1*</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A2A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K, V, or O</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0.432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Reuse vLLM’s lifecycle</a:t>
            </a:r>
          </a:p>
          <a:p>
            <a:pPr lvl="1" algn="l"/>
            <a:r>
              <a:rPr b="0">
                <a:solidFill>
                  <a:srgbClr val="313131"/>
                </a:solidFill>
                <a:latin typeface="NVIDIA Sans"/>
              </a:rPr>
              <a:t>Dispatch, capture, cache, replay, and eager fallback stay in the existing framework</a:t>
            </a:r>
          </a:p>
          <a:p>
            <a:pPr algn="l"/>
            <a:r>
              <a:rPr b="1">
                <a:solidFill>
                  <a:srgbClr val="76B900"/>
                </a:solidFill>
                <a:latin typeface="NVIDIA Sans Medium"/>
              </a:rPr>
              <a:t>Capture only stable H3 work</a:t>
            </a:r>
          </a:p>
          <a:p>
            <a:pPr lvl="1" algn="l"/>
            <a:r>
              <a:rPr b="0">
                <a:solidFill>
                  <a:srgbClr val="313131"/>
                </a:solidFill>
                <a:latin typeface="NVIDIA Sans"/>
              </a:rPr>
              <a:t>Fixed buffers replay unpack QKV → VSA → pack O</a:t>
            </a:r>
          </a:p>
          <a:p>
            <a:pPr algn="l"/>
            <a:r>
              <a:rPr b="1">
                <a:solidFill>
                  <a:srgbClr val="313131"/>
                </a:solidFill>
                <a:latin typeface="NVIDIA Sans Medium"/>
              </a:rPr>
              <a:t>Leave communication at the boundary</a:t>
            </a:r>
          </a:p>
          <a:p>
            <a:pPr lvl="1" algn="l"/>
            <a:r>
              <a:rPr b="0">
                <a:solidFill>
                  <a:srgbClr val="313131"/>
                </a:solidFill>
                <a:latin typeface="NVIDIA Sans"/>
              </a:rPr>
              <a:t>RDMA, readiness events, reverse gather, and dynamic scheduling remain eager</a:t>
            </a:r>
          </a:p>
          <a:p>
            <a:pPr algn="l"/>
            <a:r>
              <a:rPr b="1">
                <a:solidFill>
                  <a:srgbClr val="76B900"/>
                </a:solidFill>
                <a:latin typeface="NVIDIA Sans Medium"/>
              </a:rPr>
              <a:t>Measured on one fixed profile</a:t>
            </a:r>
          </a:p>
          <a:p>
            <a:pPr lvl="1" algn="l"/>
            <a:r>
              <a:rPr b="0">
                <a:solidFill>
                  <a:srgbClr val="313131"/>
                </a:solidFill>
                <a:latin typeface="NVIDIA Sans"/>
              </a:rPr>
              <a:t>8-GPU head pipeline: 13.250 s → 11.994 s (−9.48%)</a:t>
            </a:r>
          </a:p>
        </p:txBody>
      </p:sp>
      <p:sp>
        <p:nvSpPr>
          <p:cNvPr id="3" name="Text Placeholder 2"/>
          <p:cNvSpPr>
            <a:spLocks noGrp="1"/>
          </p:cNvSpPr>
          <p:nvPr>
            <p:ph type="body" idx="14" sz="quarter"/>
          </p:nvPr>
        </p:nvSpPr>
        <p:spPr>
          <a:xfrm>
            <a:off x="1828800" y="5806440"/>
            <a:ext cx="13716000" cy="1417320"/>
          </a:xfrm>
        </p:spPr>
        <p:txBody>
          <a:bodyPr/>
          <a:lstStyle/>
          <a:p>
            <a:r>
              <a:t>Reuse vLLM’s graph lifecycle around H3’s request-stable compute island</a:t>
            </a:r>
          </a:p>
        </p:txBody>
      </p:sp>
      <p:sp>
        <p:nvSpPr>
          <p:cNvPr id="4" name="Title 3"/>
          <p:cNvSpPr>
            <a:spLocks noGrp="1"/>
          </p:cNvSpPr>
          <p:nvPr>
            <p:ph type="title"/>
          </p:nvPr>
        </p:nvSpPr>
        <p:spPr>
          <a:xfrm>
            <a:off x="1828800" y="1828800"/>
            <a:ext cx="13716000" cy="3840480"/>
          </a:xfrm>
        </p:spPr>
        <p:txBody>
          <a:bodyPr/>
          <a:lstStyle/>
          <a:p>
            <a:r>
              <a:t>CUDA Graph</a:t>
            </a:r>
          </a:p>
        </p:txBody>
      </p:sp>
      <p:sp>
        <p:nvSpPr>
          <p:cNvPr id="5" name="Text Placeholder 4"/>
          <p:cNvSpPr>
            <a:spLocks noGrp="1"/>
          </p:cNvSpPr>
          <p:nvPr>
            <p:ph type="body" idx="52" sz="quarter"/>
          </p:nvPr>
        </p:nvSpPr>
        <p:spPr/>
        <p:txBody>
          <a:bodyPr/>
          <a:lstStyle/>
          <a:p>
            <a:r>
              <a:t>Direct crops of the official planning and dispatch nodes</a:t>
            </a:r>
          </a:p>
        </p:txBody>
      </p:sp>
      <p:sp>
        <p:nvSpPr>
          <p:cNvPr id="6" name="Text Placeholder 5"/>
          <p:cNvSpPr>
            <a:spLocks noGrp="1"/>
          </p:cNvSpPr>
          <p:nvPr>
            <p:ph type="body" idx="51" sz="quarter"/>
          </p:nvPr>
        </p:nvSpPr>
        <p:spPr/>
        <p:txBody>
          <a:bodyPr/>
          <a:lstStyle/>
          <a:p>
            <a:r>
              <a:t>vLLM Executor Runtime · Detail View</a:t>
            </a:r>
          </a:p>
        </p:txBody>
      </p:sp>
      <p:pic>
        <p:nvPicPr>
          <p:cNvPr id="7" name="Picture Placeholder 6" descr="cuda-graph-concept-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executor runtime figure · H3 fixed-profile measurements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One request repeats the same geometry</a:t>
            </a:r>
          </a:p>
          <a:p>
            <a:pPr lvl="1" algn="l"/>
            <a:r>
              <a:rPr b="0">
                <a:solidFill>
                  <a:srgbClr val="313131"/>
                </a:solidFill>
                <a:latin typeface="NVIDIA Sans"/>
              </a:rPr>
              <a:t>50 blocks × 8 steps provide 400 replay opportunities per head band; tensor values may change</a:t>
            </a:r>
          </a:p>
          <a:p>
            <a:pPr algn="l"/>
            <a:r>
              <a:rPr b="1">
                <a:solidFill>
                  <a:srgbClr val="76B900"/>
                </a:solidFill>
                <a:latin typeface="NVIDIA Sans Medium"/>
              </a:rPr>
              <a:t>Match the complete profile</a:t>
            </a:r>
          </a:p>
          <a:p>
            <a:pPr lvl="1" algn="l"/>
            <a:r>
              <a:rPr b="0">
                <a:solidFill>
                  <a:srgbClr val="313131"/>
                </a:solidFill>
                <a:latin typeface="NVIDIA Sans"/>
              </a:rPr>
              <a:t>Packed length S, sparse budget Kmax, reference layout, head band, and backend</a:t>
            </a:r>
          </a:p>
          <a:p>
            <a:pPr algn="l"/>
            <a:r>
              <a:rPr b="1">
                <a:solidFill>
                  <a:srgbClr val="76B900"/>
                </a:solidFill>
                <a:latin typeface="NVIDIA Sans Medium"/>
              </a:rPr>
              <a:t>On a hit, copy and replay</a:t>
            </a:r>
          </a:p>
          <a:p>
            <a:pPr lvl="1" algn="l"/>
            <a:r>
              <a:rPr b="0">
                <a:solidFill>
                  <a:srgbClr val="313131"/>
                </a:solidFill>
                <a:latin typeface="NVIDIA Sans"/>
              </a:rPr>
              <a:t>Copy current values into stable buffers, then launch the cached graph</a:t>
            </a:r>
          </a:p>
          <a:p>
            <a:pPr algn="l"/>
            <a:r>
              <a:rPr b="1">
                <a:solidFill>
                  <a:srgbClr val="313131"/>
                </a:solidFill>
                <a:latin typeface="NVIDIA Sans Medium"/>
              </a:rPr>
              <a:t>On a miss, run eager</a:t>
            </a:r>
          </a:p>
          <a:p>
            <a:pPr lvl="1" algn="l"/>
            <a:r>
              <a:rPr b="0">
                <a:solidFill>
                  <a:srgbClr val="313131"/>
                </a:solidFill>
                <a:latin typeface="NVIDIA Sans"/>
              </a:rPr>
              <a:t>Serve immediately, qualify recurring profiles, then capture; report hit rate, cold cost, and graph memory</a:t>
            </a:r>
          </a:p>
        </p:txBody>
      </p:sp>
      <p:sp>
        <p:nvSpPr>
          <p:cNvPr id="3" name="Text Placeholder 2"/>
          <p:cNvSpPr>
            <a:spLocks noGrp="1"/>
          </p:cNvSpPr>
          <p:nvPr>
            <p:ph type="body" idx="14" sz="quarter"/>
          </p:nvPr>
        </p:nvSpPr>
        <p:spPr>
          <a:xfrm>
            <a:off x="1828800" y="5806440"/>
            <a:ext cx="13716000" cy="1417320"/>
          </a:xfrm>
        </p:spPr>
        <p:txBody>
          <a:bodyPr/>
          <a:lstStyle/>
          <a:p>
            <a:r>
              <a:t>Video shapes vary across requests, so replay is keyed by a qualified profile</a:t>
            </a:r>
          </a:p>
        </p:txBody>
      </p:sp>
      <p:sp>
        <p:nvSpPr>
          <p:cNvPr id="4" name="Title 3"/>
          <p:cNvSpPr>
            <a:spLocks noGrp="1"/>
          </p:cNvSpPr>
          <p:nvPr>
            <p:ph type="title"/>
          </p:nvPr>
        </p:nvSpPr>
        <p:spPr>
          <a:xfrm>
            <a:off x="1828800" y="1828800"/>
            <a:ext cx="13716000" cy="3840480"/>
          </a:xfrm>
        </p:spPr>
        <p:txBody>
          <a:bodyPr/>
          <a:lstStyle/>
          <a:p>
            <a:r>
              <a:t>CUDA Graph Reuse</a:t>
            </a:r>
          </a:p>
        </p:txBody>
      </p:sp>
      <p:sp>
        <p:nvSpPr>
          <p:cNvPr id="5" name="Text Placeholder 4"/>
          <p:cNvSpPr>
            <a:spLocks noGrp="1"/>
          </p:cNvSpPr>
          <p:nvPr>
            <p:ph type="body" idx="52" sz="quarter"/>
          </p:nvPr>
        </p:nvSpPr>
        <p:spPr/>
        <p:txBody>
          <a:bodyPr/>
          <a:lstStyle/>
          <a:p>
            <a:r>
              <a:t>H3 extends the dispatch key; the wrapper still owns replay and fallback</a:t>
            </a:r>
          </a:p>
        </p:txBody>
      </p:sp>
      <p:sp>
        <p:nvSpPr>
          <p:cNvPr id="6" name="Text Placeholder 5"/>
          <p:cNvSpPr>
            <a:spLocks noGrp="1"/>
          </p:cNvSpPr>
          <p:nvPr>
            <p:ph type="body" idx="51" sz="quarter"/>
          </p:nvPr>
        </p:nvSpPr>
        <p:spPr/>
        <p:txBody>
          <a:bodyPr/>
          <a:lstStyle/>
          <a:p>
            <a:r>
              <a:t>vLLM CUDAGraphWrapper · Detail View</a:t>
            </a:r>
          </a:p>
        </p:txBody>
      </p:sp>
      <p:pic>
        <p:nvPicPr>
          <p:cNvPr id="7" name="Picture Placeholder 6" descr="cuda-graph-reuse-16x9.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vLLM CUDA Graphs design, CUDAGraphWrapper flow · vLLM multimodal budget policy · H3 prototype audit</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USP</a:t>
            </a:r>
          </a:p>
        </p:txBody>
      </p:sp>
      <p:sp>
        <p:nvSpPr>
          <p:cNvPr id="5" name="Text Placeholder 4"/>
          <p:cNvSpPr>
            <a:spLocks noGrp="1"/>
          </p:cNvSpPr>
          <p:nvPr>
            <p:ph type="body" idx="52" sz="quarter"/>
          </p:nvPr>
        </p:nvSpPr>
        <p:spPr/>
        <p:txBody>
          <a:bodyPr/>
          <a:lstStyle/>
          <a:p>
            <a:r>
              <a:t>7,120 × 56 → 56,960 × 7 → 7,120 × 56 · repeated in every attention block</a:t>
            </a:r>
          </a:p>
        </p:txBody>
      </p:sp>
      <p:sp>
        <p:nvSpPr>
          <p:cNvPr id="6" name="Text Placeholder 5"/>
          <p:cNvSpPr>
            <a:spLocks noGrp="1"/>
          </p:cNvSpPr>
          <p:nvPr>
            <p:ph type="body" idx="51" sz="quarter"/>
          </p:nvPr>
        </p:nvSpPr>
        <p:spPr/>
        <p:txBody>
          <a:bodyPr/>
          <a:lstStyle/>
          <a:p>
            <a:r>
              <a:t>Same Tensor, Different Ownership</a:t>
            </a:r>
          </a:p>
        </p:txBody>
      </p:sp>
      <p:pic>
        <p:nvPicPr>
          <p:cNvPr id="7" name="Picture Placeholder 6" descr="ulysses-sequence-parallel-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Adapted from DeepSpeed-Ulysses (Jacobs et al., 2023) · current H3 path: DP1 / TP1 / USP8 / Ring1 · measured 362-frame profile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Four PCIe islands</a:t>
            </a:r>
          </a:p>
          <a:p>
            <a:pPr lvl="1" algn="l"/>
            <a:r>
              <a:rPr b="0">
                <a:solidFill>
                  <a:srgbClr val="313131"/>
                </a:solidFill>
                <a:latin typeface="NVIDIA Sans"/>
              </a:rPr>
              <a:t>Each island holds two GPUs and two nearest 400-Gb/s CX-8 ports</a:t>
            </a:r>
          </a:p>
          <a:p>
            <a:pPr algn="l"/>
            <a:r>
              <a:rPr b="1">
                <a:solidFill>
                  <a:srgbClr val="76B900"/>
                </a:solidFill>
                <a:latin typeface="NVIDIA Sans Medium"/>
              </a:rPr>
              <a:t>Three kinds of peer path</a:t>
            </a:r>
          </a:p>
          <a:p>
            <a:pPr lvl="1" algn="l"/>
            <a:r>
              <a:rPr b="0">
                <a:solidFill>
                  <a:srgbClr val="313131"/>
                </a:solidFill>
                <a:latin typeface="NVIDIA Sans"/>
              </a:rPr>
              <a:t>From one rank: 1 PXB, 2 NODE, and 4 SYS peers</a:t>
            </a:r>
          </a:p>
          <a:p>
            <a:pPr algn="l"/>
            <a:r>
              <a:rPr b="1">
                <a:solidFill>
                  <a:srgbClr val="76B900"/>
                </a:solidFill>
                <a:latin typeface="NVIDIA Sans Medium"/>
              </a:rPr>
              <a:t>Most peers cross sockets</a:t>
            </a:r>
          </a:p>
          <a:p>
            <a:pPr lvl="1" algn="l"/>
            <a:r>
              <a:rPr b="0">
                <a:solidFill>
                  <a:srgbClr val="313131"/>
                </a:solidFill>
                <a:latin typeface="NVIDIA Sans"/>
              </a:rPr>
              <a:t>Four of seven off-rank peers use the SYS path</a:t>
            </a:r>
          </a:p>
          <a:p>
            <a:pPr algn="l"/>
            <a:r>
              <a:rPr b="1">
                <a:solidFill>
                  <a:srgbClr val="76B900"/>
                </a:solidFill>
                <a:latin typeface="NVIDIA Sans Medium"/>
              </a:rPr>
              <a:t>Why the baseline is uneven</a:t>
            </a:r>
          </a:p>
          <a:p>
            <a:pPr lvl="1" algn="l"/>
            <a:r>
              <a:rPr b="0">
                <a:solidFill>
                  <a:srgbClr val="313131"/>
                </a:solidFill>
                <a:latin typeface="NVIDIA Sans"/>
              </a:rPr>
              <a:t>IB is disabled, so local NCCL follows these host paths</a:t>
            </a:r>
          </a:p>
        </p:txBody>
      </p:sp>
      <p:sp>
        <p:nvSpPr>
          <p:cNvPr id="3" name="Text Placeholder 2"/>
          <p:cNvSpPr>
            <a:spLocks noGrp="1"/>
          </p:cNvSpPr>
          <p:nvPr>
            <p:ph type="body" idx="14" sz="quarter"/>
          </p:nvPr>
        </p:nvSpPr>
        <p:spPr>
          <a:xfrm>
            <a:off x="1828800" y="5806440"/>
            <a:ext cx="13716000" cy="1417320"/>
          </a:xfrm>
        </p:spPr>
        <p:txBody>
          <a:bodyPr/>
          <a:lstStyle/>
          <a:p>
            <a:r>
              <a:t>The exchange is balanced in bytes; the host paths are not</a:t>
            </a:r>
          </a:p>
        </p:txBody>
      </p:sp>
      <p:sp>
        <p:nvSpPr>
          <p:cNvPr id="4" name="Title 3"/>
          <p:cNvSpPr>
            <a:spLocks noGrp="1"/>
          </p:cNvSpPr>
          <p:nvPr>
            <p:ph type="title"/>
          </p:nvPr>
        </p:nvSpPr>
        <p:spPr>
          <a:xfrm>
            <a:off x="1828800" y="1828800"/>
            <a:ext cx="13716000" cy="3840480"/>
          </a:xfrm>
        </p:spPr>
        <p:txBody>
          <a:bodyPr/>
          <a:lstStyle/>
          <a:p>
            <a:r>
              <a:t>USP Communication</a:t>
            </a:r>
          </a:p>
        </p:txBody>
      </p:sp>
      <p:sp>
        <p:nvSpPr>
          <p:cNvPr id="5" name="Text Placeholder 4"/>
          <p:cNvSpPr>
            <a:spLocks noGrp="1"/>
          </p:cNvSpPr>
          <p:nvPr>
            <p:ph type="body" idx="52" sz="quarter"/>
          </p:nvPr>
        </p:nvSpPr>
        <p:spPr/>
        <p:txBody>
          <a:bodyPr/>
          <a:lstStyle/>
          <a:p>
            <a:r>
              <a:t>The math is balanced. The roads are not.</a:t>
            </a:r>
          </a:p>
        </p:txBody>
      </p:sp>
      <p:sp>
        <p:nvSpPr>
          <p:cNvPr id="6" name="Text Placeholder 5"/>
          <p:cNvSpPr>
            <a:spLocks noGrp="1"/>
          </p:cNvSpPr>
          <p:nvPr>
            <p:ph type="body" idx="51" sz="quarter"/>
          </p:nvPr>
        </p:nvSpPr>
        <p:spPr/>
        <p:txBody>
          <a:bodyPr/>
          <a:lstStyle/>
          <a:p>
            <a:r>
              <a:t>Eight GPUs · Four PCIe Islands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MiniMaxH3Pipeline and denoise-loop code audit · retained nvidia-smi topo -m · 8 nearest 400-Gb/s CX-8 ports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15</a:t>
            </a:fld>
            <a:endParaRPr lang="en-US"/>
          </a:p>
        </p:txBody>
      </p:sp>
      <p:sp>
        <p:nvSpPr>
          <p:cNvPr id="10" name="Rectangle 9"/>
          <p:cNvSpPr/>
          <p:nvPr/>
        </p:nvSpPr>
        <p:spPr>
          <a:xfrm>
            <a:off x="19705320" y="1920240"/>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25360" y="2066544"/>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0 · CPU 0</a:t>
            </a:r>
          </a:p>
        </p:txBody>
      </p:sp>
      <p:sp>
        <p:nvSpPr>
          <p:cNvPr id="12" name="Rectangle 11"/>
          <p:cNvSpPr/>
          <p:nvPr/>
        </p:nvSpPr>
        <p:spPr>
          <a:xfrm>
            <a:off x="2002536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7772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9705320" y="8183879"/>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25360" y="8330183"/>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1 · CPU 1</a:t>
            </a:r>
          </a:p>
        </p:txBody>
      </p:sp>
      <p:sp>
        <p:nvSpPr>
          <p:cNvPr id="16" name="Rectangle 15"/>
          <p:cNvSpPr/>
          <p:nvPr/>
        </p:nvSpPr>
        <p:spPr>
          <a:xfrm>
            <a:off x="2002536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7772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21602700" y="393649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160270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21458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9055060" y="393649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05506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666939"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91919" y="393649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602700" y="1020013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160270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521458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055060" y="1020013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05506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666939"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791919" y="1020013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134820" y="7589520"/>
            <a:ext cx="0" cy="594359"/>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226527"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P0</a:t>
            </a:r>
          </a:p>
        </p:txBody>
      </p:sp>
      <p:sp>
        <p:nvSpPr>
          <p:cNvPr id="34" name="Rounded Rectangle 33"/>
          <p:cNvSpPr/>
          <p:nvPr/>
        </p:nvSpPr>
        <p:spPr>
          <a:xfrm>
            <a:off x="2029968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48256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0</a:t>
            </a:r>
          </a:p>
        </p:txBody>
      </p:sp>
      <p:sp>
        <p:nvSpPr>
          <p:cNvPr id="36" name="Rounded Rectangle 35"/>
          <p:cNvSpPr/>
          <p:nvPr/>
        </p:nvSpPr>
        <p:spPr>
          <a:xfrm>
            <a:off x="2029968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48256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mlx5_2</a:t>
            </a:r>
          </a:p>
        </p:txBody>
      </p:sp>
      <p:sp>
        <p:nvSpPr>
          <p:cNvPr id="38" name="Rounded Rectangle 37"/>
          <p:cNvSpPr/>
          <p:nvPr/>
        </p:nvSpPr>
        <p:spPr>
          <a:xfrm>
            <a:off x="2391156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094439"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1</a:t>
            </a:r>
          </a:p>
        </p:txBody>
      </p:sp>
      <p:sp>
        <p:nvSpPr>
          <p:cNvPr id="40" name="Rounded Rectangle 39"/>
          <p:cNvSpPr/>
          <p:nvPr/>
        </p:nvSpPr>
        <p:spPr>
          <a:xfrm>
            <a:off x="2391156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94439"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mlx5_3</a:t>
            </a:r>
          </a:p>
        </p:txBody>
      </p:sp>
      <p:sp>
        <p:nvSpPr>
          <p:cNvPr id="42" name="TextBox 41"/>
          <p:cNvSpPr txBox="1"/>
          <p:nvPr/>
        </p:nvSpPr>
        <p:spPr>
          <a:xfrm>
            <a:off x="27678888"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P1</a:t>
            </a:r>
          </a:p>
        </p:txBody>
      </p:sp>
      <p:sp>
        <p:nvSpPr>
          <p:cNvPr id="43" name="Rounded Rectangle 42"/>
          <p:cNvSpPr/>
          <p:nvPr/>
        </p:nvSpPr>
        <p:spPr>
          <a:xfrm>
            <a:off x="2775204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93492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2</a:t>
            </a:r>
          </a:p>
        </p:txBody>
      </p:sp>
      <p:sp>
        <p:nvSpPr>
          <p:cNvPr id="45" name="Rounded Rectangle 44"/>
          <p:cNvSpPr/>
          <p:nvPr/>
        </p:nvSpPr>
        <p:spPr>
          <a:xfrm>
            <a:off x="2775204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93492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mlx5_0</a:t>
            </a:r>
          </a:p>
        </p:txBody>
      </p:sp>
      <p:sp>
        <p:nvSpPr>
          <p:cNvPr id="47" name="Rounded Rectangle 46"/>
          <p:cNvSpPr/>
          <p:nvPr/>
        </p:nvSpPr>
        <p:spPr>
          <a:xfrm>
            <a:off x="31363919"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54680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3</a:t>
            </a:r>
          </a:p>
        </p:txBody>
      </p:sp>
      <p:sp>
        <p:nvSpPr>
          <p:cNvPr id="49" name="Rounded Rectangle 48"/>
          <p:cNvSpPr/>
          <p:nvPr/>
        </p:nvSpPr>
        <p:spPr>
          <a:xfrm>
            <a:off x="31363919"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54680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mlx5_1</a:t>
            </a:r>
          </a:p>
        </p:txBody>
      </p:sp>
      <p:sp>
        <p:nvSpPr>
          <p:cNvPr id="51" name="TextBox 50"/>
          <p:cNvSpPr txBox="1"/>
          <p:nvPr/>
        </p:nvSpPr>
        <p:spPr>
          <a:xfrm>
            <a:off x="20226527"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P2</a:t>
            </a:r>
          </a:p>
        </p:txBody>
      </p:sp>
      <p:sp>
        <p:nvSpPr>
          <p:cNvPr id="52" name="Rounded Rectangle 51"/>
          <p:cNvSpPr/>
          <p:nvPr/>
        </p:nvSpPr>
        <p:spPr>
          <a:xfrm>
            <a:off x="2029968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48256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4</a:t>
            </a:r>
          </a:p>
        </p:txBody>
      </p:sp>
      <p:sp>
        <p:nvSpPr>
          <p:cNvPr id="54" name="Rounded Rectangle 53"/>
          <p:cNvSpPr/>
          <p:nvPr/>
        </p:nvSpPr>
        <p:spPr>
          <a:xfrm>
            <a:off x="2029968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048256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mlx5_6</a:t>
            </a:r>
          </a:p>
        </p:txBody>
      </p:sp>
      <p:sp>
        <p:nvSpPr>
          <p:cNvPr id="56" name="Rounded Rectangle 55"/>
          <p:cNvSpPr/>
          <p:nvPr/>
        </p:nvSpPr>
        <p:spPr>
          <a:xfrm>
            <a:off x="2391156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094439"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5</a:t>
            </a:r>
          </a:p>
        </p:txBody>
      </p:sp>
      <p:sp>
        <p:nvSpPr>
          <p:cNvPr id="58" name="Rounded Rectangle 57"/>
          <p:cNvSpPr/>
          <p:nvPr/>
        </p:nvSpPr>
        <p:spPr>
          <a:xfrm>
            <a:off x="2391156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4094439"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mlx5_7</a:t>
            </a:r>
          </a:p>
        </p:txBody>
      </p:sp>
      <p:sp>
        <p:nvSpPr>
          <p:cNvPr id="60" name="TextBox 59"/>
          <p:cNvSpPr txBox="1"/>
          <p:nvPr/>
        </p:nvSpPr>
        <p:spPr>
          <a:xfrm>
            <a:off x="27678888"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P3</a:t>
            </a:r>
          </a:p>
        </p:txBody>
      </p:sp>
      <p:sp>
        <p:nvSpPr>
          <p:cNvPr id="61" name="Rounded Rectangle 60"/>
          <p:cNvSpPr/>
          <p:nvPr/>
        </p:nvSpPr>
        <p:spPr>
          <a:xfrm>
            <a:off x="2775204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93492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6</a:t>
            </a:r>
          </a:p>
        </p:txBody>
      </p:sp>
      <p:sp>
        <p:nvSpPr>
          <p:cNvPr id="63" name="Rounded Rectangle 62"/>
          <p:cNvSpPr/>
          <p:nvPr/>
        </p:nvSpPr>
        <p:spPr>
          <a:xfrm>
            <a:off x="2775204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93492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mlx5_4</a:t>
            </a:r>
          </a:p>
        </p:txBody>
      </p:sp>
      <p:sp>
        <p:nvSpPr>
          <p:cNvPr id="65" name="Rounded Rectangle 64"/>
          <p:cNvSpPr/>
          <p:nvPr/>
        </p:nvSpPr>
        <p:spPr>
          <a:xfrm>
            <a:off x="31363919"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54680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7</a:t>
            </a:r>
          </a:p>
        </p:txBody>
      </p:sp>
      <p:sp>
        <p:nvSpPr>
          <p:cNvPr id="67" name="Rounded Rectangle 66"/>
          <p:cNvSpPr/>
          <p:nvPr/>
        </p:nvSpPr>
        <p:spPr>
          <a:xfrm>
            <a:off x="31363919"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54680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mlx5_5</a:t>
            </a:r>
          </a:p>
        </p:txBody>
      </p:sp>
      <p:cxnSp>
        <p:nvCxnSpPr>
          <p:cNvPr id="69" name="Connector 68"/>
          <p:cNvCxnSpPr/>
          <p:nvPr/>
        </p:nvCxnSpPr>
        <p:spPr>
          <a:xfrm>
            <a:off x="19842480" y="14593824"/>
            <a:ext cx="54864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05374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76B900"/>
                </a:solidFill>
                <a:latin typeface="NVIDIA Sans Medium"/>
              </a:rPr>
              <a:t>PXB · 1/7 peer</a:t>
            </a:r>
          </a:p>
        </p:txBody>
      </p:sp>
      <p:cxnSp>
        <p:nvCxnSpPr>
          <p:cNvPr id="71" name="Connector 70"/>
          <p:cNvCxnSpPr/>
          <p:nvPr/>
        </p:nvCxnSpPr>
        <p:spPr>
          <a:xfrm>
            <a:off x="24277320" y="14593824"/>
            <a:ext cx="548640"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497226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0074DF"/>
                </a:solidFill>
                <a:latin typeface="NVIDIA Sans Medium"/>
              </a:rPr>
              <a:t>NODE · 2/7 peers</a:t>
            </a:r>
          </a:p>
        </p:txBody>
      </p:sp>
      <p:cxnSp>
        <p:nvCxnSpPr>
          <p:cNvPr id="73" name="Connector 72"/>
          <p:cNvCxnSpPr/>
          <p:nvPr/>
        </p:nvCxnSpPr>
        <p:spPr>
          <a:xfrm>
            <a:off x="29215080" y="14593824"/>
            <a:ext cx="548639" cy="0"/>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9100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EF9100"/>
                </a:solidFill>
                <a:latin typeface="NVIDIA Sans Medium"/>
              </a:rPr>
              <a:t>SYS · 4/7 peers · 57.1%</a:t>
            </a:r>
          </a:p>
        </p:txBody>
      </p:sp>
      <p:cxnSp>
        <p:nvCxnSpPr>
          <p:cNvPr id="75" name="Connector 74"/>
          <p:cNvCxnSpPr/>
          <p:nvPr/>
        </p:nvCxnSpPr>
        <p:spPr>
          <a:xfrm>
            <a:off x="19842480" y="15288767"/>
            <a:ext cx="548640" cy="0"/>
          </a:xfrm>
          <a:prstGeom prst="line">
            <a:avLst/>
          </a:prstGeom>
          <a:ln w="38100">
            <a:solidFill>
              <a:srgbClr val="1DBBA4"/>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20537424" y="15060167"/>
            <a:ext cx="13624560" cy="512064"/>
          </a:xfrm>
          <a:prstGeom prst="rect">
            <a:avLst/>
          </a:prstGeom>
          <a:noFill/>
        </p:spPr>
        <p:txBody>
          <a:bodyPr wrap="square" anchor="t" lIns="0" rIns="0" tIns="0" bIns="0">
            <a:spAutoFit/>
          </a:bodyPr>
          <a:lstStyle/>
          <a:p>
            <a:pPr algn="l">
              <a:spcBef>
                <a:spcPts val="0"/>
              </a:spcBef>
              <a:spcAft>
                <a:spcPts val="0"/>
              </a:spcAft>
              <a:buNone/>
            </a:pPr>
            <a:r>
              <a:rPr sz="2000" b="1" i="0">
                <a:solidFill>
                  <a:srgbClr val="1DBBA4"/>
                </a:solidFill>
                <a:latin typeface="NVIDIA Sans Medium"/>
              </a:rPr>
              <a:t>Nearest-NIC GPUDirect RDMA · assigned 400-Gb/s CX-8 port per GPU</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nearest-NIC path moves the same payload in less than half the measured communication + layout time</a:t>
            </a:r>
          </a:p>
        </p:txBody>
      </p:sp>
      <p:sp>
        <p:nvSpPr>
          <p:cNvPr id="3" name="Title 2"/>
          <p:cNvSpPr>
            <a:spLocks noGrp="1"/>
          </p:cNvSpPr>
          <p:nvPr>
            <p:ph type="title"/>
          </p:nvPr>
        </p:nvSpPr>
        <p:spPr/>
        <p:txBody>
          <a:bodyPr/>
          <a:lstStyle/>
          <a:p>
            <a:r>
              <a:t>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