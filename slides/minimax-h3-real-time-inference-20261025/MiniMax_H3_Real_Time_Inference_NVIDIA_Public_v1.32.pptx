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8.xml"/><Relationship Id="rId51" Type="http://schemas.openxmlformats.org/officeDocument/2006/relationships/slide" Target="slides/slide1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9.xml"/><Relationship Id="rId100" Type="http://schemas.openxmlformats.org/officeDocument/2006/relationships/slide" Target="slides/slide20.xml"/><Relationship Id="rId101" Type="http://schemas.openxmlformats.org/officeDocument/2006/relationships/slide" Target="slides/slide21.xml"/><Relationship Id="rId102" Type="http://schemas.openxmlformats.org/officeDocument/2006/relationships/slide" Target="slides/slide2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side-by-side clips of the user-selected James Lo crowded night-market reference. Same prompt, image, seed 1234, 1344x768, 124 frames at 24fps, eight evaluations, original BF16 encoder and original video/audio VAE. BF16 and Online NVFP4 clips retained unchanged from v1.31 on GPU 0. QAD cuDNN and QAD + Sage newly generated sequentially on GPU 3 with identical checkpoint and software except attention selection. Layerwise CPU offload, one resident DiT block. Direct Online NVFP4 uses untouched BF16 weights, round-to-nearest NVFP4, per-input activation amax and per-16 E4M3 scales; no calibration table or QAD products.</a:t>
            </a:r>
          </a:p>
          <a:p>
            <a:r>
              <a:t>QAD + Sage uses the same published QAD NVFP4 DiT weights. Fine attention uses CAKE Sage via FlashInfer, INT8 Q/K and FP8 V, BF16 output. Logical tile128 sparse selection is unchanged: each selected tile is represented by both 64-token halves in the same attention reduction. Pooling, top-k, dense prefix and learned coarse correction are retained. The token refiner keeps its common BF16 SDPA path. An isolated two-guard runtime patch enables the existing tile128 adapter for Sage. The installed FlashInfer wheel lacks the required ragged/per-row-count specialization, so both new QAD arms use the previously verified FlashInfer source checkout. No quality tuning or new calibration.</a:t>
            </a:r>
          </a:p>
          <a:p>
            <a:r>
              <a:t>Request times include first generation, CPU offload, possible first-use JIT, encoding and complete MP4 receipt; exclude model loading and offline weight packing. The shared GEMM/Sage JIT cache was populated before the displayed QAD timings. The initial QAD cold-compilation request is recorded separately and excluded from the displayed timing. No full-model warmup or steady-state repeats. These times are illustrative, not a production speedup benchmark.</a:t>
            </a:r>
          </a:p>
          <a:p>
            <a:r>
              <a:t>All four embedded videos start together and are muted. PDF uses frame 60 for every poster. Full-resolution LPIPS AlexNet v0.1 and RGB Gaussian SSIM average all 124 same-index decoded frames against BF16. Motion can diverge despite identical seed; scores do not isolate texture preservation, action correctness, temporal stability or general quality. Audio is not scored.</a:t>
            </a:r>
          </a:p>
          <a:p>
            <a:r>
              <a:t>Reference: James Lo / Unsplash, https://unsplash.com/photos/crowded-street-market-at-night-with-lanterns-prZR_BQiZzU. Prompt requests a bag handoff and slow camera motion; these requested actions are not asserted as completed.</a:t>
            </a:r>
          </a:p>
          <a:p>
            <a:r>
              <a:t>Visual review: {"scope": "Visual contact-sheet review at frames 0,24,48,72,96,120; full-video similarity measured separately.", "retained_BF16_Online_review": {"method": "Visual inspection of decoded frames 0, 24, 48, 72, 96 and 120 for all three outputs.", "observed": "All three retain a densely populated night-market wide composition, shopfronts and overhead lanterns. Foreground pedestrians move through and occlude the crowd; positions and appearances diverge between variants.", "not_verified": "The prompt requested a shopping-bag handoff and a one-metre camera glide; neither is asserted as successfully realized.", "files": ["bf16-contact.png", "online-contact.png", "qad-contact.png"]}, "new_QAD_and_Sage": ["Dense crowd, shops, lantern strings and the wide night-market composition persist in both clips.", "Foreground pedestrians change position and occlude others; the two clips differ in individual appearance and motion.", "No whole-frame corruption or blank frames was apparent in the sampled frames.", "Small-face and text fidelity, action correctness and temporal stability are not established by this sampled visual check."], "requested_actions_not_verified": ["Specific shopping-bag handoff", "Exact one-meter camera travel"]}</a:t>
            </a:r>
          </a:p>
          <a:p>
            <a:r>
              <a:t>Measured results: {"online_nvfp4": {"lpips_alex_v0_1": {"mean": 0.20293374329565034, "std_population": 0.025967516105094113, "min": 0.10791829973459244, "max": 0.24780380725860596, "frames": 124}, "ssim_rgb": {"mean": 0.5856079840882614, "std_population": 0.06557552277576059, "min": 0.4950069698834845, "max": 0.7241507284598728, "frames": 124}}, "qad_nvfp4": {"lpips_alex_v0_1": {"mean": 0.1864361187983905, "std_population": 0.03237268742291045, "min": 0.0830867737531662, "max": 0.26430436968803406, "frames": 124}, "ssim_rgb": {"mean": 0.6437654416671673, "std_population": 0.05560447690054216, "min": 0.5207953646026361, "max": 0.8245423213251488, "frames": 124}}, "qad_nvfp4_sage": {"lpips_alex_v0_1": {"mean": 0.19817851513864532, "std_population": 0.02879523384700233, "min": 0.09071141481399536, "max": 0.2357463389635086, "frames": 124}, "ssim_rgb": {"mean": 0.6264287235545855, "std_population": 0.05985428408962352, "min": 0.548336103427627, "max": 0.8068987751583977, "frames": 124}}}</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Add SageAttention to QAD and inspect crowd detail, shop textures and occlusions</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matched sample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BF16 weights</a:t>
            </a:r>
          </a:p>
          <a:p>
            <a:pPr algn="ctr">
              <a:lnSpc>
                <a:spcPct val="108000"/>
              </a:lnSpc>
              <a:spcBef>
                <a:spcPts val="0"/>
              </a:spcBef>
              <a:spcAft>
                <a:spcPts val="12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Direct NVFP4; no calibration"/>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Direct NVFP4; no calibration</a:t>
            </a:r>
          </a:p>
          <a:p>
            <a:pPr algn="ctr">
              <a:lnSpc>
                <a:spcPct val="108000"/>
              </a:lnSpc>
              <a:spcBef>
                <a:spcPts val="0"/>
              </a:spcBef>
              <a:spcAft>
                <a:spcPts val="1200"/>
              </a:spcAft>
            </a:pPr>
            <a:r>
              <a:rPr sz="2900" b="0">
                <a:solidFill>
                  <a:srgbClr val="313131"/>
                </a:solidFill>
                <a:latin typeface="NVIDIA Sans"/>
              </a:rPr>
              <a:t>cuDNN BF16 attention</a:t>
            </a:r>
          </a:p>
        </p:txBody>
      </p:sp>
      <p:sp>
        <p:nvSpPr>
          <p:cNvPr id="15" name="Request: 103.14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103.14 s*</a:t>
            </a:r>
          </a:p>
        </p:txBody>
      </p:sp>
      <p:sp>
        <p:nvSpPr>
          <p:cNvPr id="16" name="LPIPS 0.2029  |  SSIM 0.5856"/>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0.2029  |  SSIM 0.5856</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Published QAD DiT"/>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Published QAD DiT</a:t>
            </a:r>
          </a:p>
          <a:p>
            <a:pPr algn="ctr">
              <a:lnSpc>
                <a:spcPct val="108000"/>
              </a:lnSpc>
              <a:spcBef>
                <a:spcPts val="0"/>
              </a:spcBef>
              <a:spcAft>
                <a:spcPts val="1200"/>
              </a:spcAft>
            </a:pPr>
            <a:r>
              <a:rPr sz="2900" b="0">
                <a:solidFill>
                  <a:srgbClr val="313131"/>
                </a:solidFill>
                <a:latin typeface="NVIDIA Sans"/>
              </a:rPr>
              <a:t>cuDNN BF16 attention</a:t>
            </a:r>
          </a:p>
        </p:txBody>
      </p:sp>
      <p:sp>
        <p:nvSpPr>
          <p:cNvPr id="20" name="Request: 102.06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102.06 s*</a:t>
            </a:r>
          </a:p>
        </p:txBody>
      </p:sp>
      <p:sp>
        <p:nvSpPr>
          <p:cNvPr id="21" name="LPIPS 0.1864  |  SSIM 0.6438"/>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0.1864  |  SSIM 0.6438</a:t>
            </a:r>
          </a:p>
        </p:txBody>
      </p:sp>
      <p:sp>
        <p:nvSpPr>
          <p:cNvPr id="22" name="QAD + SageAttention"/>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200"/>
              </a:spcAft>
            </a:pPr>
            <a:r>
              <a:rPr sz="3600" b="1">
                <a:solidFill>
                  <a:srgbClr val="76B900"/>
                </a:solidFill>
                <a:latin typeface="NVIDIA Sans Medium"/>
              </a:rPr>
              <a:t>QAD + SageAttention</a:t>
            </a:r>
          </a:p>
        </p:txBody>
      </p:sp>
      <p:pic>
        <p:nvPicPr>
          <p:cNvPr id="23" name="QAD + SageAttention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DiT"/>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Same QAD DiT</a:t>
            </a:r>
          </a:p>
          <a:p>
            <a:pPr algn="ctr">
              <a:lnSpc>
                <a:spcPct val="108000"/>
              </a:lnSpc>
              <a:spcBef>
                <a:spcPts val="0"/>
              </a:spcBef>
              <a:spcAft>
                <a:spcPts val="1200"/>
              </a:spcAft>
            </a:pPr>
            <a:r>
              <a:rPr sz="2900" b="0">
                <a:solidFill>
                  <a:srgbClr val="313131"/>
                </a:solidFill>
                <a:latin typeface="NVIDIA Sans"/>
              </a:rPr>
              <a:t>Sage: INT8 Q/K, FP8 V</a:t>
            </a:r>
          </a:p>
        </p:txBody>
      </p:sp>
      <p:sp>
        <p:nvSpPr>
          <p:cNvPr id="25" name="Request: 85.0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200"/>
              </a:spcAft>
            </a:pPr>
            <a:r>
              <a:rPr sz="3200" b="1">
                <a:solidFill>
                  <a:srgbClr val="313131"/>
                </a:solidFill>
                <a:latin typeface="NVIDIA Sans Medium"/>
              </a:rPr>
              <a:t>Request: 85.05 s*</a:t>
            </a:r>
          </a:p>
        </p:txBody>
      </p:sp>
      <p:sp>
        <p:nvSpPr>
          <p:cNvPr id="26" name="LPIPS 0.1982  |  SSIM 0.6264"/>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200"/>
              </a:spcAft>
            </a:pPr>
            <a:r>
              <a:rPr sz="2800" b="0">
                <a:solidFill>
                  <a:srgbClr val="313131"/>
                </a:solidFill>
                <a:latin typeface="NVIDIA Sans"/>
              </a:rPr>
              <a:t>LPIPS 0.1982  |  SSIM 0.6264</a:t>
            </a:r>
          </a:p>
        </p:txBody>
      </p:sp>
      <p:sp>
        <p:nvSpPr>
          <p:cNvPr id="27" name="QAD + Sage retains the same VSA tile128 routing and 90% target sparsity."/>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300" b="1">
                <a:solidFill>
                  <a:srgbClr val="76B900"/>
                </a:solidFill>
                <a:latin typeface="NVIDIA Sans Medium"/>
              </a:rPr>
              <a:t>QAD + Sage retains the same VSA tile128 routing and 90% target sparsity.</a:t>
            </a:r>
          </a:p>
        </p:txBody>
      </p:sp>
      <p:sp>
        <p:nvSpPr>
          <p:cNvPr id="28" name="1344 × 768 · 124 frames at 24 FPS · 8 steps · Seed 1234 · Same BF16 encoder and VAE"/>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Same BF16 encoder and VAE</a:t>
            </a:r>
          </a:p>
        </p:txBody>
      </p:sp>
      <p:sp>
        <p:nvSpPr>
          <p:cNvPr id="29" name="*First request with CPU offload. QAD pair on GPU 3; BF16 / Online retained from GPU 0."/>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*First request with CPU offload. QAD pair on GPU 3; BF16 / Online retained from GPU 0.</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so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so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VSA, QAD/Sage and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