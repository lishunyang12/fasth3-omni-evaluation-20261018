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70" r:id="rId44"/>
    <p:sldId id="371" r:id="rId43"/>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3" Type="http://schemas.openxmlformats.org/officeDocument/2006/relationships/slide" Target="slides/slide20.xml"/><Relationship Id="rId44" Type="http://schemas.openxmlformats.org/officeDocument/2006/relationships/slide" Target="slides/slide19.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6.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https://lishunyang12.github.io/fasth3-omni-evaluation-20261018/slides/minimax-h3-real-time-inference-20261025/v1.45/baseline-breakdown.html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interactive demo. Not the historical LightX2V four-step Zhiwei recipe. {"hardware": {"gpus": 8, "architecture": "SM120", "driver_name": "NVIDIA Graphics Device", "recorded_system": "PRO 5000 reference node", "memory_mib_per_gpu": 73415, "no_pro5500_result": true}, "h3": {"task": "Ref2VA", "steps": 8, "dit": "QAD NVFP4", "attention": "native NVFP4 VSA", "sparsity_setting": 0.9, "reference_keep_rate": 0.1, "tensor_parallel": 1, "ulysses": 8, "text_encoder_tp": 8, "vae_patch_parallel": 8, "transport": "BF16 RDMA", "head_bands": [2, 3, 2], "video_vae": "36-layer NVFP4; 216 packed linears; BF16 decode autocast", "audio": "native H3 audio decoder; no separate TTS", "mp4_preencoding": true, "graph_cache": "Cleared at 24 entries between requests; changing dialogue can require warmup"}, "media": {"width": 960, "height": 544, "fps": 24, "first_window_frames": 124, "first_window_seconds": 5.166666666666667, "new_continuation_frames": 119, "new_continuation_seconds": 4.958333333333333, "overlap_frames": 5}, "continuity": {"video_history_noise": 0.2, "target_video_prefix": "off", "reference_image_noise": 0.001, "audio_history_noise": 0, "audio_target_prefix": "off", "position": "cumulative AV positions", "video_history": "0.8 * retained video latent + 0.2 * seeded noise", "lossless": false}, "vad": {"model": "Silero ONNX", "device": "CPU", "sample_rate": 16000, "channels": 1, "packet_ms": 200, "quiet_endpoint_ms": 600, "pre_roll_ms": 800}, "asr": {"model": "Qwen3-ASR-0.6B", "precision": "BF16", "gpu": 6, "shared_with_h3": true, "execution": "Partial transcription during speech; final transcription at endpoint"}, "llm": {"model": "Qwen3-4B", "precision": "BF16", "gpu": 7, "shared_with_h3": true, "thinking": false, "temperature": 0.4, "max_tokens": 160, "output": "Short English replies, streamed"}, "software": {"h3": {"python": "3.12.13", "torch_distribution": "2.13.0", "vllm": "0.32.0", "transformers": "5.19.0", "diffusers": "0.40.0", "flashinfer_python": "0.7.0.post1"}, "asr_llm": {"python": "3.12.13", "torch": "2.13.0+cu132", "vllm": "0.28.0", "transformers": "5.14.1"}}, "playback": {"active_calls": 1, "unplayed_windows_limit": 2, "includes_inflight_generation": true}, "timing": {"avatar_generation": "H3 HTTP request through complete MP4; excludes subsequent CPU idle-audio screening and media delivery", "reply_video_starts": "Estimated microphone speech endpoint to first rendered reply frame, including endpoint detection, ASR, LLM, queueing, generation, transfer and playback wait"}, "captions": "Recognized user speech plus intended current reply text; not word-aligned or verified transcription of H3 audio", "benchmark_difference": "The refreshed baseline and retained ladder use fixed prompt/seed on exclusive eight-GPU H3 with ASR/LLM stopped. Later rows were not rerun under the refreshed baseline policy. The live demo shares GPU 6/7 and carries video/audio history.", "provenance": {"h3_stage_sha256": "9397b6fe46b28481984cb4e2cc96facb438a442af873de22f898f7135664528c", "history_validation_sha256": "62adb582967c64111aed91e39f07ed654a04097ecbd223496818467fbd59be49", "live_overlay_validation_sha256": "50954bb50fd02f16e88db94301e5991601196c882ada7cc9bb0dff16c2b69573"}}</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question translated from the recorded demo. The reply is the LLM preview, not a verified transcript of generated speech.</a:t>
            </a:r>
          </a:p>
          <a:p>
            <a:r>
              <a:t>The image is the actual input reference.png read by the demo server from workload.json and sent to H3 as an input reference.</a:t>
            </a:r>
          </a:p>
          <a:p>
            <a:r>
              <a:t>Reference image SHA256: 560c094f9900ea762227f84481ca8a2f73adac69963e0d1a78563bec1844d6b8</a:t>
            </a:r>
          </a:p>
          <a:p>
            <a:r>
              <a:t>The English H3 prompt, model configuration and following recorded video are unchanged.</a:t>
            </a:r>
          </a:p>
          <a:p>
            <a:r>
              <a:t>The slide omits low-level AV latent-tail implementation details.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18 describes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hyperlink" Target="https://lishunyang12.github.io/fasth3-omni-evaluation-20261018/slides/minimax-h3-real-time-inference-20261025/v1.39/continuous-generation.html" TargetMode="External"/><Relationship Id="rId5" Type="http://schemas.openxmlformats.org/officeDocument/2006/relationships/hyperlink" Target="https://lishunyang12.github.io/fasth3-omni-evaluation-20261018/slides/minimax-h3-real-time-inference-20261025/v1.42/demo-config.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transformer blocks are evaluated at each of 50 baseline steps.</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Baseline: Nsight Systems Breakdown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Original Ref2VA · 50 evaluations · BF16 · dense attention · 8 × SM120 GPUs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6</a:t>
            </a:r>
          </a:p>
        </p:txBody>
      </p:sp>
      <p:sp>
        <p:nvSpPr>
          <p:cNvPr id="5" name="BASELINE E2E card"/>
          <p:cNvSpPr/>
          <p:nvPr/>
        </p:nvSpPr>
        <p:spPr>
          <a:xfrm>
            <a:off x="182880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SELINE E2E label"/>
          <p:cNvSpPr txBox="1"/>
          <p:nvPr/>
        </p:nvSpPr>
        <p:spPr>
          <a:xfrm>
            <a:off x="214884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BASELINE E2E</a:t>
            </a:r>
          </a:p>
        </p:txBody>
      </p:sp>
      <p:sp>
        <p:nvSpPr>
          <p:cNvPr id="7" name="BASELINE E2E value"/>
          <p:cNvSpPr txBox="1"/>
          <p:nvPr/>
        </p:nvSpPr>
        <p:spPr>
          <a:xfrm>
            <a:off x="214884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213.402 s</a:t>
            </a:r>
          </a:p>
        </p:txBody>
      </p:sp>
      <p:sp>
        <p:nvSpPr>
          <p:cNvPr id="8" name="BASELINE E2E detail"/>
          <p:cNvSpPr txBox="1"/>
          <p:nvPr/>
        </p:nvSpPr>
        <p:spPr>
          <a:xfrm>
            <a:off x="214884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Complete-MP4 HTTP median · n = 2</a:t>
            </a:r>
          </a:p>
        </p:txBody>
      </p:sp>
      <p:sp>
        <p:nvSpPr>
          <p:cNvPr id="9" name="PROFILED REQUEST card"/>
          <p:cNvSpPr/>
          <p:nvPr/>
        </p:nvSpPr>
        <p:spPr>
          <a:xfrm>
            <a:off x="1298448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FILED REQUEST label"/>
          <p:cNvSpPr txBox="1"/>
          <p:nvPr/>
        </p:nvSpPr>
        <p:spPr>
          <a:xfrm>
            <a:off x="13304519"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PROFILED REQUEST</a:t>
            </a:r>
          </a:p>
        </p:txBody>
      </p:sp>
      <p:sp>
        <p:nvSpPr>
          <p:cNvPr id="11" name="PROFILED REQUEST value"/>
          <p:cNvSpPr txBox="1"/>
          <p:nvPr/>
        </p:nvSpPr>
        <p:spPr>
          <a:xfrm>
            <a:off x="13304519"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214.968 s</a:t>
            </a:r>
          </a:p>
        </p:txBody>
      </p:sp>
      <p:sp>
        <p:nvSpPr>
          <p:cNvPr id="12" name="PROFILED REQUEST detail"/>
          <p:cNvSpPr txBox="1"/>
          <p:nvPr/>
        </p:nvSpPr>
        <p:spPr>
          <a:xfrm>
            <a:off x="13304519"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Separate Nsight capture · n = 1</a:t>
            </a:r>
          </a:p>
        </p:txBody>
      </p:sp>
      <p:sp>
        <p:nvSpPr>
          <p:cNvPr id="13" name="GENERATED VIDEO card"/>
          <p:cNvSpPr/>
          <p:nvPr/>
        </p:nvSpPr>
        <p:spPr>
          <a:xfrm>
            <a:off x="2414016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ENERATED VIDEO label"/>
          <p:cNvSpPr txBox="1"/>
          <p:nvPr/>
        </p:nvSpPr>
        <p:spPr>
          <a:xfrm>
            <a:off x="2446020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GENERATED VIDEO</a:t>
            </a:r>
          </a:p>
        </p:txBody>
      </p:sp>
      <p:sp>
        <p:nvSpPr>
          <p:cNvPr id="15" name="GENERATED VIDEO value"/>
          <p:cNvSpPr txBox="1"/>
          <p:nvPr/>
        </p:nvSpPr>
        <p:spPr>
          <a:xfrm>
            <a:off x="2446020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960 × 544</a:t>
            </a:r>
          </a:p>
        </p:txBody>
      </p:sp>
      <p:sp>
        <p:nvSpPr>
          <p:cNvPr id="16" name="GENERATED VIDEO detail"/>
          <p:cNvSpPr txBox="1"/>
          <p:nvPr/>
        </p:nvSpPr>
        <p:spPr>
          <a:xfrm>
            <a:off x="2446020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124 frames · 24 FPS · 5.167 s</a:t>
            </a:r>
          </a:p>
        </p:txBody>
      </p:sp>
      <p:sp>
        <p:nvSpPr>
          <p:cNvPr id="17" name="Config heading"/>
          <p:cNvSpPr txBox="1"/>
          <p:nvPr/>
        </p:nvSpPr>
        <p:spPr>
          <a:xfrm>
            <a:off x="1828800" y="8275320"/>
            <a:ext cx="13716000" cy="731520"/>
          </a:xfrm>
          <a:prstGeom prst="rect">
            <a:avLst/>
          </a:prstGeom>
          <a:noFill/>
        </p:spPr>
        <p:txBody>
          <a:bodyPr wrap="square" lIns="18288" rIns="18288" tIns="0" bIns="0">
            <a:spAutoFit/>
          </a:bodyPr>
          <a:lstStyle/>
          <a:p>
            <a:pPr>
              <a:spcBef>
                <a:spcPts val="0"/>
              </a:spcBef>
              <a:spcAft>
                <a:spcPts val="0"/>
              </a:spcAft>
            </a:pPr>
            <a:r>
              <a:rPr sz="3500" b="1">
                <a:solidFill>
                  <a:srgbClr val="17211A"/>
                </a:solidFill>
                <a:latin typeface="NVIDIA Sans"/>
              </a:rPr>
              <a:t>Reference configuration</a:t>
            </a:r>
          </a:p>
        </p:txBody>
      </p:sp>
      <p:sp>
        <p:nvSpPr>
          <p:cNvPr id="18" name="Config 0"/>
          <p:cNvSpPr txBox="1"/>
          <p:nvPr/>
        </p:nvSpPr>
        <p:spPr>
          <a:xfrm>
            <a:off x="1828800" y="9326880"/>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PRO 5000 reference · 73,415 MiB / GPU</a:t>
            </a:r>
          </a:p>
        </p:txBody>
      </p:sp>
      <p:sp>
        <p:nvSpPr>
          <p:cNvPr id="19" name="Config 1"/>
          <p:cNvSpPr txBox="1"/>
          <p:nvPr/>
        </p:nvSpPr>
        <p:spPr>
          <a:xfrm>
            <a:off x="1828800" y="10076688"/>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DiT TP1 / Ulysses8 · text TP8 · VAE tiles8</a:t>
            </a:r>
          </a:p>
        </p:txBody>
      </p:sp>
      <p:sp>
        <p:nvSpPr>
          <p:cNvPr id="20" name="Config 2"/>
          <p:cNvSpPr txBox="1"/>
          <p:nvPr/>
        </p:nvSpPr>
        <p:spPr>
          <a:xfrm>
            <a:off x="1828800" y="10826496"/>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Local NCCL · RDMA disabled</a:t>
            </a:r>
          </a:p>
        </p:txBody>
      </p:sp>
      <p:sp>
        <p:nvSpPr>
          <p:cNvPr id="21" name="Config 3"/>
          <p:cNvSpPr txBox="1"/>
          <p:nvPr/>
        </p:nvSpPr>
        <p:spPr>
          <a:xfrm>
            <a:off x="1828800" y="11576304"/>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Native VAE · FP16 decode autocast</a:t>
            </a:r>
          </a:p>
        </p:txBody>
      </p:sp>
      <p:sp>
        <p:nvSpPr>
          <p:cNvPr id="22" name="Config 4"/>
          <p:cNvSpPr txBox="1"/>
          <p:nvPr/>
        </p:nvSpPr>
        <p:spPr>
          <a:xfrm>
            <a:off x="1828800" y="12326111"/>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Exact AdaLN table resident before timing</a:t>
            </a:r>
          </a:p>
        </p:txBody>
      </p:sp>
      <p:sp>
        <p:nvSpPr>
          <p:cNvPr id="23" name="Config 5"/>
          <p:cNvSpPr txBox="1"/>
          <p:nvPr/>
        </p:nvSpPr>
        <p:spPr>
          <a:xfrm>
            <a:off x="1828800" y="13075919"/>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Fixed inputs / seed 43 · warmup excluded</a:t>
            </a:r>
          </a:p>
        </p:txBody>
      </p:sp>
      <p:sp>
        <p:nvSpPr>
          <p:cNvPr id="24" name="Stage heading"/>
          <p:cNvSpPr txBox="1"/>
          <p:nvPr/>
        </p:nvSpPr>
        <p:spPr>
          <a:xfrm>
            <a:off x="1828800" y="14310360"/>
            <a:ext cx="13990320" cy="73152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CPU stage ranges · profiled request</a:t>
            </a:r>
          </a:p>
        </p:txBody>
      </p:sp>
      <p:sp>
        <p:nvSpPr>
          <p:cNvPr id="25" name="Stage background 0"/>
          <p:cNvSpPr/>
          <p:nvPr/>
        </p:nvSpPr>
        <p:spPr>
          <a:xfrm>
            <a:off x="1828800" y="15224759"/>
            <a:ext cx="13898880" cy="73152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age 0"/>
          <p:cNvSpPr txBox="1"/>
          <p:nvPr/>
        </p:nvSpPr>
        <p:spPr>
          <a:xfrm>
            <a:off x="2011680" y="15361919"/>
            <a:ext cx="9418320" cy="50292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Encoder</a:t>
            </a:r>
          </a:p>
        </p:txBody>
      </p:sp>
      <p:sp>
        <p:nvSpPr>
          <p:cNvPr id="27" name="Stage value 0"/>
          <p:cNvSpPr txBox="1"/>
          <p:nvPr/>
        </p:nvSpPr>
        <p:spPr>
          <a:xfrm>
            <a:off x="11338560" y="1536191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7.272 s</a:t>
            </a:r>
          </a:p>
        </p:txBody>
      </p:sp>
      <p:sp>
        <p:nvSpPr>
          <p:cNvPr id="28" name="Stage background 1"/>
          <p:cNvSpPr/>
          <p:nvPr/>
        </p:nvSpPr>
        <p:spPr>
          <a:xfrm>
            <a:off x="1828800" y="16047719"/>
            <a:ext cx="13898880" cy="7315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1"/>
          <p:cNvSpPr txBox="1"/>
          <p:nvPr/>
        </p:nvSpPr>
        <p:spPr>
          <a:xfrm>
            <a:off x="2011680" y="16184879"/>
            <a:ext cx="941832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DiT</a:t>
            </a:r>
          </a:p>
        </p:txBody>
      </p:sp>
      <p:sp>
        <p:nvSpPr>
          <p:cNvPr id="30" name="Stage value 1"/>
          <p:cNvSpPr txBox="1"/>
          <p:nvPr/>
        </p:nvSpPr>
        <p:spPr>
          <a:xfrm>
            <a:off x="11338560" y="1618487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204.814 s</a:t>
            </a:r>
          </a:p>
        </p:txBody>
      </p:sp>
      <p:sp>
        <p:nvSpPr>
          <p:cNvPr id="31" name="Stage background 2"/>
          <p:cNvSpPr/>
          <p:nvPr/>
        </p:nvSpPr>
        <p:spPr>
          <a:xfrm>
            <a:off x="1828800" y="16870680"/>
            <a:ext cx="13898880" cy="73152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ge 2"/>
          <p:cNvSpPr txBox="1"/>
          <p:nvPr/>
        </p:nvSpPr>
        <p:spPr>
          <a:xfrm>
            <a:off x="2011680" y="17007839"/>
            <a:ext cx="9418320" cy="50292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VAE / audio decode</a:t>
            </a:r>
          </a:p>
        </p:txBody>
      </p:sp>
      <p:sp>
        <p:nvSpPr>
          <p:cNvPr id="33" name="Stage value 2"/>
          <p:cNvSpPr txBox="1"/>
          <p:nvPr/>
        </p:nvSpPr>
        <p:spPr>
          <a:xfrm>
            <a:off x="11338560" y="1700783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1.742 s</a:t>
            </a:r>
          </a:p>
        </p:txBody>
      </p:sp>
      <p:sp>
        <p:nvSpPr>
          <p:cNvPr id="34" name="Stage background 3"/>
          <p:cNvSpPr/>
          <p:nvPr/>
        </p:nvSpPr>
        <p:spPr>
          <a:xfrm>
            <a:off x="1828800" y="17693639"/>
            <a:ext cx="13898880" cy="73152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ge 3"/>
          <p:cNvSpPr txBox="1"/>
          <p:nvPr/>
        </p:nvSpPr>
        <p:spPr>
          <a:xfrm>
            <a:off x="2011680" y="17830799"/>
            <a:ext cx="9418320" cy="50292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Other / response</a:t>
            </a:r>
          </a:p>
        </p:txBody>
      </p:sp>
      <p:sp>
        <p:nvSpPr>
          <p:cNvPr id="36" name="Stage value 3"/>
          <p:cNvSpPr txBox="1"/>
          <p:nvPr/>
        </p:nvSpPr>
        <p:spPr>
          <a:xfrm>
            <a:off x="11338560" y="1783079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1.140 s</a:t>
            </a:r>
          </a:p>
        </p:txBody>
      </p:sp>
      <p:sp>
        <p:nvSpPr>
          <p:cNvPr id="37" name="GPU heading"/>
          <p:cNvSpPr txBox="1"/>
          <p:nvPr/>
        </p:nvSpPr>
        <p:spPr>
          <a:xfrm>
            <a:off x="16824960" y="8275320"/>
            <a:ext cx="17922240" cy="731520"/>
          </a:xfrm>
          <a:prstGeom prst="rect">
            <a:avLst/>
          </a:prstGeom>
          <a:noFill/>
        </p:spPr>
        <p:txBody>
          <a:bodyPr wrap="square" lIns="18288" rIns="18288" tIns="0" bIns="0">
            <a:spAutoFit/>
          </a:bodyPr>
          <a:lstStyle/>
          <a:p>
            <a:pPr>
              <a:spcBef>
                <a:spcPts val="0"/>
              </a:spcBef>
              <a:spcAft>
                <a:spcPts val="0"/>
              </a:spcAft>
            </a:pPr>
            <a:r>
              <a:rPr sz="3500" b="1">
                <a:solidFill>
                  <a:srgbClr val="17211A"/>
                </a:solidFill>
                <a:latin typeface="NVIDIA Sans"/>
              </a:rPr>
              <a:t>GPU work by operator</a:t>
            </a:r>
          </a:p>
        </p:txBody>
      </p:sp>
      <p:sp>
        <p:nvSpPr>
          <p:cNvPr id="38" name="GPU scope"/>
          <p:cNvSpPr txBox="1"/>
          <p:nvPr/>
        </p:nvSpPr>
        <p:spPr>
          <a:xfrm>
            <a:off x="16824960" y="9235440"/>
            <a:ext cx="17922240" cy="64008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Accumulated CUDA durations, averaged over 8 GPUs</a:t>
            </a:r>
          </a:p>
        </p:txBody>
      </p:sp>
      <p:sp>
        <p:nvSpPr>
          <p:cNvPr id="39" name="Operator table header"/>
          <p:cNvSpPr/>
          <p:nvPr/>
        </p:nvSpPr>
        <p:spPr>
          <a:xfrm>
            <a:off x="16824960" y="10104120"/>
            <a:ext cx="17922240" cy="86868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Header Operator"/>
          <p:cNvSpPr txBox="1"/>
          <p:nvPr/>
        </p:nvSpPr>
        <p:spPr>
          <a:xfrm>
            <a:off x="17099280" y="10314432"/>
            <a:ext cx="1024128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Operator</a:t>
            </a:r>
          </a:p>
        </p:txBody>
      </p:sp>
      <p:sp>
        <p:nvSpPr>
          <p:cNvPr id="41" name="Header s / GPU"/>
          <p:cNvSpPr txBox="1"/>
          <p:nvPr/>
        </p:nvSpPr>
        <p:spPr>
          <a:xfrm>
            <a:off x="27614880" y="10314432"/>
            <a:ext cx="36576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s / GPU</a:t>
            </a:r>
          </a:p>
        </p:txBody>
      </p:sp>
      <p:sp>
        <p:nvSpPr>
          <p:cNvPr id="42" name="Header Share"/>
          <p:cNvSpPr txBox="1"/>
          <p:nvPr/>
        </p:nvSpPr>
        <p:spPr>
          <a:xfrm>
            <a:off x="31821119" y="10314432"/>
            <a:ext cx="27432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Share</a:t>
            </a:r>
          </a:p>
        </p:txBody>
      </p:sp>
      <p:sp>
        <p:nvSpPr>
          <p:cNvPr id="43" name="Operator background 0"/>
          <p:cNvSpPr/>
          <p:nvPr/>
        </p:nvSpPr>
        <p:spPr>
          <a:xfrm>
            <a:off x="16824960" y="11128248"/>
            <a:ext cx="17922240" cy="786384"/>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perator 0"/>
          <p:cNvSpPr txBox="1"/>
          <p:nvPr/>
        </p:nvSpPr>
        <p:spPr>
          <a:xfrm>
            <a:off x="17099280" y="11265407"/>
            <a:ext cx="10332720" cy="59436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NCCL (includes waiting)</a:t>
            </a:r>
          </a:p>
        </p:txBody>
      </p:sp>
      <p:sp>
        <p:nvSpPr>
          <p:cNvPr id="45" name="Operator seconds 0"/>
          <p:cNvSpPr txBox="1"/>
          <p:nvPr/>
        </p:nvSpPr>
        <p:spPr>
          <a:xfrm>
            <a:off x="27614880" y="11265407"/>
            <a:ext cx="36576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122.182</a:t>
            </a:r>
          </a:p>
        </p:txBody>
      </p:sp>
      <p:sp>
        <p:nvSpPr>
          <p:cNvPr id="46" name="Operator share 0"/>
          <p:cNvSpPr txBox="1"/>
          <p:nvPr/>
        </p:nvSpPr>
        <p:spPr>
          <a:xfrm>
            <a:off x="31821119" y="11265407"/>
            <a:ext cx="27432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57.21%</a:t>
            </a:r>
          </a:p>
        </p:txBody>
      </p:sp>
      <p:sp>
        <p:nvSpPr>
          <p:cNvPr id="47" name="Operator 1"/>
          <p:cNvSpPr txBox="1"/>
          <p:nvPr/>
        </p:nvSpPr>
        <p:spPr>
          <a:xfrm>
            <a:off x="17099280" y="12079224"/>
            <a:ext cx="10332720" cy="59436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Attention</a:t>
            </a:r>
          </a:p>
        </p:txBody>
      </p:sp>
      <p:sp>
        <p:nvSpPr>
          <p:cNvPr id="48" name="Operator seconds 1"/>
          <p:cNvSpPr txBox="1"/>
          <p:nvPr/>
        </p:nvSpPr>
        <p:spPr>
          <a:xfrm>
            <a:off x="27614880" y="12079224"/>
            <a:ext cx="36576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47.105</a:t>
            </a:r>
          </a:p>
        </p:txBody>
      </p:sp>
      <p:sp>
        <p:nvSpPr>
          <p:cNvPr id="49" name="Operator share 1"/>
          <p:cNvSpPr txBox="1"/>
          <p:nvPr/>
        </p:nvSpPr>
        <p:spPr>
          <a:xfrm>
            <a:off x="31821119" y="12079224"/>
            <a:ext cx="27432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22.06%</a:t>
            </a:r>
          </a:p>
        </p:txBody>
      </p:sp>
      <p:sp>
        <p:nvSpPr>
          <p:cNvPr id="50" name="Operator background 2"/>
          <p:cNvSpPr/>
          <p:nvPr/>
        </p:nvSpPr>
        <p:spPr>
          <a:xfrm>
            <a:off x="16824960" y="12755880"/>
            <a:ext cx="17922240" cy="786384"/>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perator 2"/>
          <p:cNvSpPr txBox="1"/>
          <p:nvPr/>
        </p:nvSpPr>
        <p:spPr>
          <a:xfrm>
            <a:off x="17099280" y="12893039"/>
            <a:ext cx="10332720" cy="59436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GEMM</a:t>
            </a:r>
          </a:p>
        </p:txBody>
      </p:sp>
      <p:sp>
        <p:nvSpPr>
          <p:cNvPr id="52" name="Operator seconds 2"/>
          <p:cNvSpPr txBox="1"/>
          <p:nvPr/>
        </p:nvSpPr>
        <p:spPr>
          <a:xfrm>
            <a:off x="27614880" y="12893039"/>
            <a:ext cx="36576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39.650</a:t>
            </a:r>
          </a:p>
        </p:txBody>
      </p:sp>
      <p:sp>
        <p:nvSpPr>
          <p:cNvPr id="53" name="Operator share 2"/>
          <p:cNvSpPr txBox="1"/>
          <p:nvPr/>
        </p:nvSpPr>
        <p:spPr>
          <a:xfrm>
            <a:off x="31821119" y="12893039"/>
            <a:ext cx="27432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18.57%</a:t>
            </a:r>
          </a:p>
        </p:txBody>
      </p:sp>
      <p:sp>
        <p:nvSpPr>
          <p:cNvPr id="54" name="Operator 3"/>
          <p:cNvSpPr txBox="1"/>
          <p:nvPr/>
        </p:nvSpPr>
        <p:spPr>
          <a:xfrm>
            <a:off x="17099280" y="13706855"/>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Norm / activation / elementwise</a:t>
            </a:r>
          </a:p>
        </p:txBody>
      </p:sp>
      <p:sp>
        <p:nvSpPr>
          <p:cNvPr id="55" name="Operator seconds 3"/>
          <p:cNvSpPr txBox="1"/>
          <p:nvPr/>
        </p:nvSpPr>
        <p:spPr>
          <a:xfrm>
            <a:off x="27614880" y="13706855"/>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2.288</a:t>
            </a:r>
          </a:p>
        </p:txBody>
      </p:sp>
      <p:sp>
        <p:nvSpPr>
          <p:cNvPr id="56" name="Operator share 3"/>
          <p:cNvSpPr txBox="1"/>
          <p:nvPr/>
        </p:nvSpPr>
        <p:spPr>
          <a:xfrm>
            <a:off x="31821119" y="13706855"/>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1.07%</a:t>
            </a:r>
          </a:p>
        </p:txBody>
      </p:sp>
      <p:sp>
        <p:nvSpPr>
          <p:cNvPr id="57" name="Operator background 4"/>
          <p:cNvSpPr/>
          <p:nvPr/>
        </p:nvSpPr>
        <p:spPr>
          <a:xfrm>
            <a:off x="16824960" y="14383512"/>
            <a:ext cx="17922240" cy="786384"/>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perator 4"/>
          <p:cNvSpPr txBox="1"/>
          <p:nvPr/>
        </p:nvSpPr>
        <p:spPr>
          <a:xfrm>
            <a:off x="17099280" y="14520672"/>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Layout / device copies</a:t>
            </a:r>
          </a:p>
        </p:txBody>
      </p:sp>
      <p:sp>
        <p:nvSpPr>
          <p:cNvPr id="59" name="Operator seconds 4"/>
          <p:cNvSpPr txBox="1"/>
          <p:nvPr/>
        </p:nvSpPr>
        <p:spPr>
          <a:xfrm>
            <a:off x="27614880" y="14520672"/>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1.929</a:t>
            </a:r>
          </a:p>
        </p:txBody>
      </p:sp>
      <p:sp>
        <p:nvSpPr>
          <p:cNvPr id="60" name="Operator share 4"/>
          <p:cNvSpPr txBox="1"/>
          <p:nvPr/>
        </p:nvSpPr>
        <p:spPr>
          <a:xfrm>
            <a:off x="31821119" y="14520672"/>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0.90%</a:t>
            </a:r>
          </a:p>
        </p:txBody>
      </p:sp>
      <p:sp>
        <p:nvSpPr>
          <p:cNvPr id="61" name="Operator 5"/>
          <p:cNvSpPr txBox="1"/>
          <p:nvPr/>
        </p:nvSpPr>
        <p:spPr>
          <a:xfrm>
            <a:off x="17099280" y="15334488"/>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CUDA memcpy / memset</a:t>
            </a:r>
          </a:p>
        </p:txBody>
      </p:sp>
      <p:sp>
        <p:nvSpPr>
          <p:cNvPr id="62" name="Operator seconds 5"/>
          <p:cNvSpPr txBox="1"/>
          <p:nvPr/>
        </p:nvSpPr>
        <p:spPr>
          <a:xfrm>
            <a:off x="27614880" y="15334488"/>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0.064</a:t>
            </a:r>
          </a:p>
        </p:txBody>
      </p:sp>
      <p:sp>
        <p:nvSpPr>
          <p:cNvPr id="63" name="Operator share 5"/>
          <p:cNvSpPr txBox="1"/>
          <p:nvPr/>
        </p:nvSpPr>
        <p:spPr>
          <a:xfrm>
            <a:off x="31821119" y="15334488"/>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0.03%</a:t>
            </a:r>
          </a:p>
        </p:txBody>
      </p:sp>
      <p:sp>
        <p:nvSpPr>
          <p:cNvPr id="64" name="Operator background 6"/>
          <p:cNvSpPr/>
          <p:nvPr/>
        </p:nvSpPr>
        <p:spPr>
          <a:xfrm>
            <a:off x="16824960" y="16011143"/>
            <a:ext cx="17922240" cy="786384"/>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perator 6"/>
          <p:cNvSpPr txBox="1"/>
          <p:nvPr/>
        </p:nvSpPr>
        <p:spPr>
          <a:xfrm>
            <a:off x="17099280" y="16148304"/>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Convolution</a:t>
            </a:r>
          </a:p>
        </p:txBody>
      </p:sp>
      <p:sp>
        <p:nvSpPr>
          <p:cNvPr id="66" name="Operator seconds 6"/>
          <p:cNvSpPr txBox="1"/>
          <p:nvPr/>
        </p:nvSpPr>
        <p:spPr>
          <a:xfrm>
            <a:off x="27614880" y="16148304"/>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0.192</a:t>
            </a:r>
          </a:p>
        </p:txBody>
      </p:sp>
      <p:sp>
        <p:nvSpPr>
          <p:cNvPr id="67" name="Operator share 6"/>
          <p:cNvSpPr txBox="1"/>
          <p:nvPr/>
        </p:nvSpPr>
        <p:spPr>
          <a:xfrm>
            <a:off x="31821119" y="16148304"/>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0.09%</a:t>
            </a:r>
          </a:p>
        </p:txBody>
      </p:sp>
      <p:sp>
        <p:nvSpPr>
          <p:cNvPr id="68" name="Operator 7"/>
          <p:cNvSpPr txBox="1"/>
          <p:nvPr/>
        </p:nvSpPr>
        <p:spPr>
          <a:xfrm>
            <a:off x="17099280" y="16962120"/>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Other kernels</a:t>
            </a:r>
          </a:p>
        </p:txBody>
      </p:sp>
      <p:sp>
        <p:nvSpPr>
          <p:cNvPr id="69" name="Operator seconds 7"/>
          <p:cNvSpPr txBox="1"/>
          <p:nvPr/>
        </p:nvSpPr>
        <p:spPr>
          <a:xfrm>
            <a:off x="27614880" y="16962120"/>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0.143</a:t>
            </a:r>
          </a:p>
        </p:txBody>
      </p:sp>
      <p:sp>
        <p:nvSpPr>
          <p:cNvPr id="70" name="Operator share 7"/>
          <p:cNvSpPr txBox="1"/>
          <p:nvPr/>
        </p:nvSpPr>
        <p:spPr>
          <a:xfrm>
            <a:off x="31821119" y="16962120"/>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0.07%</a:t>
            </a:r>
          </a:p>
        </p:txBody>
      </p:sp>
      <p:sp>
        <p:nvSpPr>
          <p:cNvPr id="71" name="NCCL qualification"/>
          <p:cNvSpPr txBox="1"/>
          <p:nvPr/>
        </p:nvSpPr>
        <p:spPr>
          <a:xfrm>
            <a:off x="16824960" y="17922240"/>
            <a:ext cx="17922240" cy="109728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NCCL includes synchronization and waiting.</a:t>
            </a:r>
          </a:p>
          <a:p>
            <a:pPr>
              <a:spcBef>
                <a:spcPts val="0"/>
              </a:spcBef>
              <a:spcAft>
                <a:spcPts val="0"/>
              </a:spcAft>
            </a:pPr>
            <a:r>
              <a:rPr sz="2700" b="1">
                <a:solidFill>
                  <a:srgbClr val="17211A"/>
                </a:solidFill>
                <a:latin typeface="NVIDIA Sans"/>
              </a:rPr>
              <a:t>Shares exclude CPU work / GPU idle gaps.</a:t>
            </a:r>
          </a:p>
        </p:txBody>
      </p:sp>
      <p:sp>
        <p:nvSpPr>
          <p:cNvPr id="72" name="Accounting note"/>
          <p:cNvSpPr txBox="1"/>
          <p:nvPr/>
        </p:nvSpPr>
        <p:spPr>
          <a:xfrm>
            <a:off x="1828800" y="19248120"/>
            <a:ext cx="31729680" cy="54864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Host ranges and accumulated GPU work are different views; neither is a GPU critical-path decomposition.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4"/>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hlinkClick r:id="rId5"/>
              </a:rPr>
              <a:t>Five-Second Avatar: Live Conversation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Demo focus · reference identity, expression, native speech and continuity</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7</a:t>
            </a:r>
          </a:p>
        </p:txBody>
      </p:sp>
      <p:sp>
        <p:nvSpPr>
          <p:cNvPr id="5" name="Demo panel 0"/>
          <p:cNvSpPr/>
          <p:nvPr/>
        </p:nvSpPr>
        <p:spPr>
          <a:xfrm>
            <a:off x="1828800" y="512064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mo title 0"/>
          <p:cNvSpPr txBox="1"/>
          <p:nvPr/>
        </p:nvSpPr>
        <p:spPr>
          <a:xfrm>
            <a:off x="2468880" y="553212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01 · Natural presence</a:t>
            </a:r>
          </a:p>
        </p:txBody>
      </p:sp>
      <p:sp>
        <p:nvSpPr>
          <p:cNvPr id="7" name="Demo body 0"/>
          <p:cNvSpPr txBox="1"/>
          <p:nvPr/>
        </p:nvSpPr>
        <p:spPr>
          <a:xfrm>
            <a:off x="2468880" y="662940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Listen with natural presence.
Microphone stays active; live captions show the question.</a:t>
            </a:r>
          </a:p>
        </p:txBody>
      </p:sp>
      <p:sp>
        <p:nvSpPr>
          <p:cNvPr id="8" name="Demo panel 1"/>
          <p:cNvSpPr/>
          <p:nvPr/>
        </p:nvSpPr>
        <p:spPr>
          <a:xfrm>
            <a:off x="1828800" y="9052559"/>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mo title 1"/>
          <p:cNvSpPr txBox="1"/>
          <p:nvPr/>
        </p:nvSpPr>
        <p:spPr>
          <a:xfrm>
            <a:off x="2468880" y="946403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02 · Speech and expression</a:t>
            </a:r>
          </a:p>
        </p:txBody>
      </p:sp>
      <p:sp>
        <p:nvSpPr>
          <p:cNvPr id="10" name="Demo body 1"/>
          <p:cNvSpPr txBox="1"/>
          <p:nvPr/>
        </p:nvSpPr>
        <p:spPr>
          <a:xfrm>
            <a:off x="2468880" y="10561319"/>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Generate a short answer as native audio and video.
Show generation time and actual reply-video start time.</a:t>
            </a:r>
          </a:p>
        </p:txBody>
      </p:sp>
      <p:sp>
        <p:nvSpPr>
          <p:cNvPr id="11" name="Demo panel 2"/>
          <p:cNvSpPr/>
          <p:nvPr/>
        </p:nvSpPr>
        <p:spPr>
          <a:xfrm>
            <a:off x="1828800" y="1298448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mo title 2"/>
          <p:cNvSpPr txBox="1"/>
          <p:nvPr/>
        </p:nvSpPr>
        <p:spPr>
          <a:xfrm>
            <a:off x="2468880" y="1339595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03 · Continuous generation</a:t>
            </a:r>
          </a:p>
        </p:txBody>
      </p:sp>
      <p:sp>
        <p:nvSpPr>
          <p:cNvPr id="13" name="Demo body 2"/>
          <p:cNvSpPr txBox="1"/>
          <p:nvPr/>
        </p:nvSpPr>
        <p:spPr>
          <a:xfrm>
            <a:off x="2468880" y="1449324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Carry video and audio history across windows.
Inspect the face, mouth and transitions while speaking.</a:t>
            </a:r>
          </a:p>
        </p:txBody>
      </p:sp>
      <p:sp>
        <p:nvSpPr>
          <p:cNvPr id="14" name="Demo metrics"/>
          <p:cNvSpPr txBox="1"/>
          <p:nvPr/>
        </p:nvSpPr>
        <p:spPr>
          <a:xfrm>
            <a:off x="1828800" y="17373600"/>
            <a:ext cx="32918400" cy="731520"/>
          </a:xfrm>
          <a:prstGeom prst="rect">
            <a:avLst/>
          </a:prstGeom>
          <a:noFill/>
        </p:spPr>
        <p:txBody>
          <a:bodyPr wrap="square" lIns="0" rIns="0" tIns="0" bIns="0">
            <a:spAutoFit/>
          </a:bodyPr>
          <a:lstStyle/>
          <a:p>
            <a:pPr>
              <a:spcAft>
                <a:spcPts val="800"/>
              </a:spcAft>
            </a:pPr>
            <a:r>
              <a:rPr sz="3400">
                <a:solidFill>
                  <a:srgbClr val="111111"/>
                </a:solidFill>
                <a:latin typeface="NVIDIA Sans Medium"/>
              </a:rPr>
              <a:t>960 × 544 · 24 FPS · 8 steps · 8 SM120 GPUs · QAD NVFP4 / native FP4 VSA</a:t>
            </a:r>
          </a:p>
        </p:txBody>
      </p:sp>
      <p:sp>
        <p:nvSpPr>
          <p:cNvPr id="15" name="Demo caveat"/>
          <p:cNvSpPr txBox="1"/>
          <p:nvPr/>
        </p:nvSpPr>
        <p:spPr>
          <a:xfrm>
            <a:off x="1828800" y="18333720"/>
            <a:ext cx="32918400" cy="1280160"/>
          </a:xfrm>
          <a:prstGeom prst="rect">
            <a:avLst/>
          </a:prstGeom>
          <a:noFill/>
        </p:spPr>
        <p:txBody>
          <a:bodyPr wrap="square" lIns="0" rIns="0" tIns="0" bIns="0">
            <a:spAutoFit/>
          </a:bodyPr>
          <a:lstStyle/>
          <a:p>
            <a:pPr>
              <a:spcAft>
                <a:spcPts val="800"/>
              </a:spcAft>
            </a:pPr>
            <a:r>
              <a:rPr sz="2700">
                <a:solidFill>
                  <a:srgbClr val="555555"/>
                </a:solidFill>
                <a:latin typeface="NVIDIA Sans"/>
              </a:rPr>
              <a:t>119 new frames / 4.958 s per continuation · 20% history noise · video prefix off.
ASR and LLM share GPUs 6 / 7. The speech-to-video example is on slide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12</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
Fused packing reduces intermediate copies.
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18 are distinct workloads.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Optimization Path: E2E Speedup</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124 frames / 24 FPS · 8 exclusive GPUs · same inputs and seed 43</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18</a:t>
            </a:r>
          </a:p>
        </p:txBody>
      </p:sp>
      <p:sp>
        <p:nvSpPr>
          <p:cNvPr id="5" name="Table header"/>
          <p:cNvSpPr/>
          <p:nvPr/>
        </p:nvSpPr>
        <p:spPr>
          <a:xfrm>
            <a:off x="1828800" y="4709160"/>
            <a:ext cx="32918400" cy="123444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a:t>
            </a:r>
          </a:p>
          <a:p>
            <a:pPr>
              <a:spcBef>
                <a:spcPts val="0"/>
              </a:spcBef>
              <a:spcAft>
                <a:spcPts val="0"/>
              </a:spcAft>
            </a:pPr>
            <a:r>
              <a:rPr sz="2800" b="1">
                <a:solidFill>
                  <a:srgbClr val="17211A"/>
                </a:solidFill>
                <a:latin typeface="NVIDIA Sans"/>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RTF</a:t>
            </a:r>
          </a:p>
        </p:txBody>
      </p:sp>
      <p:sp>
        <p:nvSpPr>
          <p:cNvPr id="11" name="Row background 0"/>
          <p:cNvSpPr/>
          <p:nvPr/>
        </p:nvSpPr>
        <p:spPr>
          <a:xfrm>
            <a:off x="1828800" y="609904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8.579</a:t>
            </a:r>
          </a:p>
        </p:txBody>
      </p:sp>
      <p:sp>
        <p:nvSpPr>
          <p:cNvPr id="22" name="Row background 2"/>
          <p:cNvSpPr/>
          <p:nvPr/>
        </p:nvSpPr>
        <p:spPr>
          <a:xfrm>
            <a:off x="1828800" y="820216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3.767</a:t>
            </a:r>
          </a:p>
        </p:txBody>
      </p:sp>
      <p:sp>
        <p:nvSpPr>
          <p:cNvPr id="33" name="Row background 4"/>
          <p:cNvSpPr/>
          <p:nvPr/>
        </p:nvSpPr>
        <p:spPr>
          <a:xfrm>
            <a:off x="1828800" y="1030528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1.240</a:t>
            </a:r>
          </a:p>
        </p:txBody>
      </p:sp>
      <p:sp>
        <p:nvSpPr>
          <p:cNvPr id="44" name="Row background 6"/>
          <p:cNvSpPr/>
          <p:nvPr/>
        </p:nvSpPr>
        <p:spPr>
          <a:xfrm>
            <a:off x="1828800" y="1240840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1.049</a:t>
            </a:r>
          </a:p>
        </p:txBody>
      </p:sp>
      <p:sp>
        <p:nvSpPr>
          <p:cNvPr id="55" name="Row background 8"/>
          <p:cNvSpPr/>
          <p:nvPr/>
        </p:nvSpPr>
        <p:spPr>
          <a:xfrm>
            <a:off x="1828800" y="14511528"/>
            <a:ext cx="32918400" cy="100584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52604F"/>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300" b="1">
                <a:solidFill>
                  <a:srgbClr val="17211A"/>
                </a:solidFill>
                <a:latin typeface="NVIDIA Sans"/>
              </a:rPr>
              <a:t>Final 4.922 s · recheck 4.927 s · 6/6 requests &lt; 5 s · 4.5 s target not reached</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RTF = latency / 5.167 s. Standalone H3; ASR / LLM excluded. Model, schedule and precision changes are not all lossless.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From a Question to a Video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24 FPS · 8 × SM120 GPUs · first window 5.167 s / each continuation adds 4.958 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19</a:t>
            </a:r>
          </a:p>
        </p:txBody>
      </p:sp>
      <p:sp>
        <p:nvSpPr>
          <p:cNvPr id="5" name="Example question"/>
          <p:cNvSpPr/>
          <p:nvPr/>
        </p:nvSpPr>
        <p:spPr>
          <a:xfrm>
            <a:off x="1828800" y="4526280"/>
            <a:ext cx="32918400" cy="224028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ample label"/>
          <p:cNvSpPr txBox="1"/>
          <p:nvPr/>
        </p:nvSpPr>
        <p:spPr>
          <a:xfrm>
            <a:off x="2240280" y="4800600"/>
            <a:ext cx="32004000" cy="548640"/>
          </a:xfrm>
          <a:prstGeom prst="rect">
            <a:avLst/>
          </a:prstGeom>
          <a:noFill/>
        </p:spPr>
        <p:txBody>
          <a:bodyPr wrap="square" lIns="18288" rIns="18288" tIns="0" bIns="0">
            <a:spAutoFit/>
          </a:bodyPr>
          <a:lstStyle/>
          <a:p>
            <a:pPr>
              <a:spcBef>
                <a:spcPts val="0"/>
              </a:spcBef>
              <a:spcAft>
                <a:spcPts val="0"/>
              </a:spcAft>
            </a:pPr>
            <a:r>
              <a:rPr sz="2500" b="1">
                <a:solidFill>
                  <a:srgbClr val="376B18"/>
                </a:solidFill>
                <a:latin typeface="NVIDIA Sans"/>
              </a:rPr>
              <a:t>EXAMPLE · INTRODUCE YOURSELF</a:t>
            </a:r>
          </a:p>
        </p:txBody>
      </p:sp>
      <p:sp>
        <p:nvSpPr>
          <p:cNvPr id="7" name="User question"/>
          <p:cNvSpPr txBox="1"/>
          <p:nvPr/>
        </p:nvSpPr>
        <p:spPr>
          <a:xfrm>
            <a:off x="2240280" y="5486400"/>
            <a:ext cx="32004000" cy="822960"/>
          </a:xfrm>
          <a:prstGeom prst="rect">
            <a:avLst/>
          </a:prstGeom>
          <a:noFill/>
        </p:spPr>
        <p:txBody>
          <a:bodyPr wrap="square" lIns="18288" rIns="18288" tIns="0" bIns="0">
            <a:spAutoFit/>
          </a:bodyPr>
          <a:lstStyle/>
          <a:p>
            <a:pPr>
              <a:spcBef>
                <a:spcPts val="0"/>
              </a:spcBef>
              <a:spcAft>
                <a:spcPts val="0"/>
              </a:spcAft>
            </a:pPr>
            <a:r>
              <a:rPr sz="4300" b="1">
                <a:solidFill>
                  <a:srgbClr val="17211A"/>
                </a:solidFill>
                <a:latin typeface="NVIDIA Sans"/>
              </a:rPr>
              <a:t>“Hi, could you introduce yourself?”</a:t>
            </a:r>
          </a:p>
        </p:txBody>
      </p:sp>
      <p:sp>
        <p:nvSpPr>
          <p:cNvPr id="8" name="Translation note"/>
          <p:cNvSpPr txBox="1"/>
          <p:nvPr/>
        </p:nvSpPr>
        <p:spPr>
          <a:xfrm>
            <a:off x="21488400" y="6858000"/>
            <a:ext cx="13258800" cy="50292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User question translated from the recorded demo</a:t>
            </a:r>
          </a:p>
        </p:txBody>
      </p:sp>
      <p:sp>
        <p:nvSpPr>
          <p:cNvPr id="9" name="Pipeline Microphone"/>
          <p:cNvSpPr/>
          <p:nvPr/>
        </p:nvSpPr>
        <p:spPr>
          <a:xfrm>
            <a:off x="1828800" y="7680960"/>
            <a:ext cx="493776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icrophone"/>
          <p:cNvSpPr txBox="1"/>
          <p:nvPr/>
        </p:nvSpPr>
        <p:spPr>
          <a:xfrm>
            <a:off x="2148840" y="8046720"/>
            <a:ext cx="429768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Microphone</a:t>
            </a:r>
          </a:p>
        </p:txBody>
      </p:sp>
      <p:sp>
        <p:nvSpPr>
          <p:cNvPr id="11" name="Microphone detail"/>
          <p:cNvSpPr txBox="1"/>
          <p:nvPr/>
        </p:nvSpPr>
        <p:spPr>
          <a:xfrm>
            <a:off x="2148840" y="8961120"/>
            <a:ext cx="429768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Spoken question</a:t>
            </a:r>
          </a:p>
        </p:txBody>
      </p:sp>
      <p:sp>
        <p:nvSpPr>
          <p:cNvPr id="12" name="Pipeline arrow 0"/>
          <p:cNvSpPr/>
          <p:nvPr/>
        </p:nvSpPr>
        <p:spPr>
          <a:xfrm>
            <a:off x="68580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ipeline ASR"/>
          <p:cNvSpPr/>
          <p:nvPr/>
        </p:nvSpPr>
        <p:spPr>
          <a:xfrm>
            <a:off x="7680960"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SR"/>
          <p:cNvSpPr txBox="1"/>
          <p:nvPr/>
        </p:nvSpPr>
        <p:spPr>
          <a:xfrm>
            <a:off x="80010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ASR</a:t>
            </a:r>
          </a:p>
        </p:txBody>
      </p:sp>
      <p:sp>
        <p:nvSpPr>
          <p:cNvPr id="15" name="ASR detail"/>
          <p:cNvSpPr txBox="1"/>
          <p:nvPr/>
        </p:nvSpPr>
        <p:spPr>
          <a:xfrm>
            <a:off x="80010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Speech → text</a:t>
            </a:r>
          </a:p>
          <a:p>
            <a:pPr>
              <a:spcBef>
                <a:spcPts val="0"/>
              </a:spcBef>
              <a:spcAft>
                <a:spcPts val="0"/>
              </a:spcAft>
            </a:pPr>
            <a:r>
              <a:rPr sz="2800" b="0">
                <a:solidFill>
                  <a:srgbClr val="17211A"/>
                </a:solidFill>
                <a:latin typeface="NVIDIA Sans"/>
              </a:rPr>
              <a:t>Qwen3-ASR-0.6B</a:t>
            </a:r>
          </a:p>
        </p:txBody>
      </p:sp>
      <p:sp>
        <p:nvSpPr>
          <p:cNvPr id="16" name="Pipeline arrow 1"/>
          <p:cNvSpPr/>
          <p:nvPr/>
        </p:nvSpPr>
        <p:spPr>
          <a:xfrm>
            <a:off x="141732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peline LLM"/>
          <p:cNvSpPr/>
          <p:nvPr/>
        </p:nvSpPr>
        <p:spPr>
          <a:xfrm>
            <a:off x="14996159"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LM"/>
          <p:cNvSpPr txBox="1"/>
          <p:nvPr/>
        </p:nvSpPr>
        <p:spPr>
          <a:xfrm>
            <a:off x="153162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LLM</a:t>
            </a:r>
          </a:p>
        </p:txBody>
      </p:sp>
      <p:sp>
        <p:nvSpPr>
          <p:cNvPr id="19" name="LLM detail"/>
          <p:cNvSpPr txBox="1"/>
          <p:nvPr/>
        </p:nvSpPr>
        <p:spPr>
          <a:xfrm>
            <a:off x="153162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Text → short reply</a:t>
            </a:r>
          </a:p>
          <a:p>
            <a:pPr>
              <a:spcBef>
                <a:spcPts val="0"/>
              </a:spcBef>
              <a:spcAft>
                <a:spcPts val="0"/>
              </a:spcAft>
            </a:pPr>
            <a:r>
              <a:rPr sz="2800" b="0">
                <a:solidFill>
                  <a:srgbClr val="17211A"/>
                </a:solidFill>
                <a:latin typeface="NVIDIA Sans"/>
              </a:rPr>
              <a:t>Qwen3-4B</a:t>
            </a:r>
          </a:p>
        </p:txBody>
      </p:sp>
      <p:sp>
        <p:nvSpPr>
          <p:cNvPr id="20" name="Pipeline arrow 2"/>
          <p:cNvSpPr/>
          <p:nvPr/>
        </p:nvSpPr>
        <p:spPr>
          <a:xfrm>
            <a:off x="214884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peline H3"/>
          <p:cNvSpPr/>
          <p:nvPr/>
        </p:nvSpPr>
        <p:spPr>
          <a:xfrm>
            <a:off x="22311360" y="7680960"/>
            <a:ext cx="4206240" cy="25603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p:cNvSpPr txBox="1"/>
          <p:nvPr/>
        </p:nvSpPr>
        <p:spPr>
          <a:xfrm>
            <a:off x="22631400" y="8046720"/>
            <a:ext cx="3566159"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H3</a:t>
            </a:r>
          </a:p>
        </p:txBody>
      </p:sp>
      <p:sp>
        <p:nvSpPr>
          <p:cNvPr id="23" name="Pipeline arrow 3"/>
          <p:cNvSpPr/>
          <p:nvPr/>
        </p:nvSpPr>
        <p:spPr>
          <a:xfrm>
            <a:off x="2660904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peline Playback"/>
          <p:cNvSpPr/>
          <p:nvPr/>
        </p:nvSpPr>
        <p:spPr>
          <a:xfrm>
            <a:off x="27432000" y="7680960"/>
            <a:ext cx="73152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layback"/>
          <p:cNvSpPr txBox="1"/>
          <p:nvPr/>
        </p:nvSpPr>
        <p:spPr>
          <a:xfrm>
            <a:off x="27752040" y="8046720"/>
            <a:ext cx="66751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Playback</a:t>
            </a:r>
          </a:p>
        </p:txBody>
      </p:sp>
      <p:sp>
        <p:nvSpPr>
          <p:cNvPr id="26" name="Playback detail"/>
          <p:cNvSpPr txBox="1"/>
          <p:nvPr/>
        </p:nvSpPr>
        <p:spPr>
          <a:xfrm>
            <a:off x="27752040" y="8961120"/>
            <a:ext cx="66751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Native audio + video</a:t>
            </a:r>
          </a:p>
          <a:p>
            <a:pPr>
              <a:spcBef>
                <a:spcPts val="0"/>
              </a:spcBef>
              <a:spcAft>
                <a:spcPts val="0"/>
              </a:spcAft>
            </a:pPr>
            <a:r>
              <a:rPr sz="2800" b="0">
                <a:solidFill>
                  <a:srgbClr val="17211A"/>
                </a:solidFill>
                <a:latin typeface="NVIDIA Sans"/>
              </a:rPr>
              <a:t>~5-second windows</a:t>
            </a:r>
          </a:p>
        </p:txBody>
      </p:sp>
      <p:sp>
        <p:nvSpPr>
          <p:cNvPr id="27" name="Reply label"/>
          <p:cNvSpPr txBox="1"/>
          <p:nvPr/>
        </p:nvSpPr>
        <p:spPr>
          <a:xfrm>
            <a:off x="1828800" y="1097280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LLM reply text</a:t>
            </a:r>
          </a:p>
        </p:txBody>
      </p:sp>
      <p:sp>
        <p:nvSpPr>
          <p:cNvPr id="28" name="Reply quote"/>
          <p:cNvSpPr/>
          <p:nvPr/>
        </p:nvSpPr>
        <p:spPr>
          <a:xfrm>
            <a:off x="1828800" y="11887200"/>
            <a:ext cx="173736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ply"/>
          <p:cNvSpPr txBox="1"/>
          <p:nvPr/>
        </p:nvSpPr>
        <p:spPr>
          <a:xfrm>
            <a:off x="2194560" y="12481560"/>
            <a:ext cx="16642080" cy="164592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“Hi, I’m Miles. I help with</a:t>
            </a:r>
          </a:p>
          <a:p>
            <a:pPr>
              <a:spcBef>
                <a:spcPts val="0"/>
              </a:spcBef>
              <a:spcAft>
                <a:spcPts val="0"/>
              </a:spcAft>
            </a:pPr>
            <a:r>
              <a:rPr sz="3800" b="1">
                <a:solidFill>
                  <a:srgbClr val="17211A"/>
                </a:solidFill>
                <a:latin typeface="NVIDIA Sans"/>
              </a:rPr>
              <a:t>simple, clear answers.”</a:t>
            </a:r>
          </a:p>
        </p:txBody>
      </p:sp>
      <p:sp>
        <p:nvSpPr>
          <p:cNvPr id="30" name="Prompt label"/>
          <p:cNvSpPr txBox="1"/>
          <p:nvPr/>
        </p:nvSpPr>
        <p:spPr>
          <a:xfrm>
            <a:off x="1828800" y="1504188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H3 prompt · English excerpt</a:t>
            </a:r>
          </a:p>
        </p:txBody>
      </p:sp>
      <p:sp>
        <p:nvSpPr>
          <p:cNvPr id="31" name="Prompt explanation"/>
          <p:cNvSpPr txBox="1"/>
          <p:nvPr/>
        </p:nvSpPr>
        <p:spPr>
          <a:xfrm>
            <a:off x="1828800" y="15956280"/>
            <a:ext cx="17373600" cy="233172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The man says exactly this English dialogue</a:t>
            </a:r>
          </a:p>
          <a:p>
            <a:pPr>
              <a:spcBef>
                <a:spcPts val="0"/>
              </a:spcBef>
              <a:spcAft>
                <a:spcPts val="0"/>
              </a:spcAft>
            </a:pPr>
            <a:r>
              <a:rPr sz="2800" b="0">
                <a:solidFill>
                  <a:srgbClr val="17211A"/>
                </a:solidFill>
                <a:latin typeface="NVIDIA Sans"/>
              </a:rPr>
              <a:t>in his reference voice:</a:t>
            </a:r>
          </a:p>
          <a:p>
            <a:pPr>
              <a:spcBef>
                <a:spcPts val="0"/>
              </a:spcBef>
              <a:spcAft>
                <a:spcPts val="0"/>
              </a:spcAft>
            </a:pPr>
            <a:r>
              <a:rPr sz="2800" b="0">
                <a:solidFill>
                  <a:srgbClr val="17211A"/>
                </a:solidFill>
                <a:latin typeface="NVIDIA Sans"/>
              </a:rPr>
              <a:t>"Hi, I'm Miles. I help with simple, clear answers."</a:t>
            </a:r>
          </a:p>
          <a:p>
            <a:pPr>
              <a:spcBef>
                <a:spcPts val="0"/>
              </a:spcBef>
              <a:spcAft>
                <a:spcPts val="0"/>
              </a:spcAft>
            </a:pPr>
            <a:r>
              <a:rPr sz="2800" b="0">
                <a:solidFill>
                  <a:srgbClr val="17211A"/>
                </a:solidFill>
                <a:latin typeface="NVIDIA Sans"/>
              </a:rPr>
              <a:t>… His lips follow the words.</a:t>
            </a:r>
          </a:p>
        </p:txBody>
      </p:sp>
      <p:sp>
        <p:nvSpPr>
          <p:cNvPr id="32" name="Example outcome"/>
          <p:cNvSpPr txBox="1"/>
          <p:nvPr/>
        </p:nvSpPr>
        <p:spPr>
          <a:xfrm>
            <a:off x="1828800" y="18699480"/>
            <a:ext cx="17830800" cy="8229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A text reply becomes a speaking avatar clip.</a:t>
            </a:r>
          </a:p>
        </p:txBody>
      </p:sp>
      <p:sp>
        <p:nvSpPr>
          <p:cNvPr id="33" name="Output label"/>
          <p:cNvSpPr txBox="1"/>
          <p:nvPr/>
        </p:nvSpPr>
        <p:spPr>
          <a:xfrm>
            <a:off x="21488400" y="10972800"/>
            <a:ext cx="132588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Reference image</a:t>
            </a:r>
          </a:p>
        </p:txBody>
      </p:sp>
      <p:sp>
        <p:nvSpPr>
          <p:cNvPr id="35" name="Frame provenance"/>
          <p:cNvSpPr txBox="1"/>
          <p:nvPr/>
        </p:nvSpPr>
        <p:spPr>
          <a:xfrm>
            <a:off x="21488400" y="19312128"/>
            <a:ext cx="11704320" cy="457200"/>
          </a:xfrm>
          <a:prstGeom prst="rect">
            <a:avLst/>
          </a:prstGeom>
          <a:noFill/>
        </p:spPr>
        <p:txBody>
          <a:bodyPr wrap="square" lIns="18288" rIns="18288" tIns="0" bIns="0">
            <a:spAutoFit/>
          </a:bodyPr>
          <a:lstStyle/>
          <a:p>
            <a:pPr>
              <a:spcBef>
                <a:spcPts val="0"/>
              </a:spcBef>
              <a:spcAft>
                <a:spcPts val="0"/>
              </a:spcAft>
            </a:pPr>
            <a:r>
              <a:rPr sz="2300" b="0">
                <a:solidFill>
                  <a:srgbClr val="52604F"/>
                </a:solidFill>
                <a:latin typeface="NVIDIA Sans"/>
              </a:rPr>
              <a:t>Input portrait supplied to H3</a:t>
            </a:r>
          </a:p>
        </p:txBody>
      </p:sp>
      <p:pic>
        <p:nvPicPr>
          <p:cNvPr id="36" name="Picture 35" descr="reference.png"/>
          <p:cNvPicPr>
            <a:picLocks noChangeAspect="1"/>
          </p:cNvPicPr>
          <p:nvPr/>
        </p:nvPicPr>
        <p:blipFill>
          <a:blip r:embed="rId5"/>
          <a:stretch>
            <a:fillRect/>
          </a:stretch>
        </p:blipFill>
        <p:spPr>
          <a:xfrm>
            <a:off x="21488400" y="11795760"/>
            <a:ext cx="12801600" cy="73152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20</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