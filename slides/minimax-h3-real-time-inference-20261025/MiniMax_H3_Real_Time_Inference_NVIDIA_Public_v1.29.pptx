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7" r:id="rId44"/>
    <p:sldId id="368" r:id="rId51"/>
    <p:sldId id="369" r:id="rId49"/>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4" Type="http://schemas.openxmlformats.org/officeDocument/2006/relationships/slide" Target="slides/slide16.xml"/><Relationship Id="rId45" Type="http://schemas.openxmlformats.org/officeDocument/2006/relationships/slide" Target="slides/slide15.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8.xml"/><Relationship Id="rId51" Type="http://schemas.openxmlformats.org/officeDocument/2006/relationships/slide" Target="slides/slide17.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2.xml"/><Relationship Id="rId96" Type="http://schemas.openxmlformats.org/officeDocument/2006/relationships/slide" Target="slides/slide13.xml"/><Relationship Id="rId97" Type="http://schemas.openxmlformats.org/officeDocument/2006/relationships/slide" Target="slides/slide14.xml"/><Relationship Id="rId99" Type="http://schemas.openxmlformats.org/officeDocument/2006/relationships/slide" Target="slides/slide20.xml"/><Relationship Id="rId100" Type="http://schemas.openxmlformats.org/officeDocument/2006/relationships/slide" Target="slides/slide21.xml"/><Relationship Id="rId101" Type="http://schemas.openxmlformats.org/officeDocument/2006/relationships/slide" Target="slides/slide22.xml"/><Relationship Id="rId102" Type="http://schemas.openxmlformats.org/officeDocument/2006/relationships/slide" Target="slides/slide23.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videos are embedded as separate MP4 objects on this same slide, left to right: BF16 reference, Online NVFP4 without QAD training, and published QAD NVFP4. The video frames are not cropped or stretched. Videos start together at slide entry and are muted by default. Same request JSON: two family reference views, prompt, seed 1234, 1344x768, 124 frames at 24 FPS, eight transformer evaluations, cuDNN BF16 VSA and original video/audio decoders. Online NVFP4 quantizes untouched BF16 checkpoint 88d512c5 weights. No calibration dataset or table is loaded. Every DiT projection computes its activation global scale as 2688/max(abs(current_input)) on each forward; weights use their own tensor amax. Per-16 E4M3 block scales are computed dynamically. Weights are quantized once and cached before loading; activations are dynamically quantized on each forward. This is PTQ, without teacher supervision or QAD weight updates. It does not use the FP4 attention emulator. BF16 and Online NVFP4 use the original BF16 text encoder; the retained published QAD run uses its checkpoint encoder. Therefore this is a checkpoint-level visual comparison, not an isolated DiT QAD ablation. The original BF16 run uses HSDP, whereas quantized runs do not. No latency attribution or universal quality claim is made. The PDF contains frame-24 posters; video playback is in the PPTX or local HTML preview. https://github.com/hao-ai-lab/FastVideo/blob/ea3275dfd1ce48cbb01f9fc7f28e918e857a0536/examples/train/configs/knowledge_distillation/minimax_h3/omniref_nvfp4_qad.yaml</a:t>
            </a:r>
          </a:p>
          <a:p>
            <a:r>
              <a:t>Measured decoded-video similarity: {"online_nvfp4": {"lpips_alex_v0_1": {"mean": 0.2977905738497934, "std_population": 0.1439843131812286, "min": 0.09652196615934372, "max": 0.5121737718582153, "frames": 124}, "ssim_rgb": {"mean": 0.5777637524457234, "std_population": 0.13019779426300312, "min": 0.4346516289486761, "max": 0.8592144454339667, "frames": 124}}, "qad_nvfp4": {"lpips_alex_v0_1": {"mean": 0.2501977474819268, "std_population": 0.1342112506959792, "min": 0.08768212795257568, "max": 0.44881367683410645, "frames": 124}, "ssim_rgb": {"mean": 0.6437721022708937, "std_population": 0.13355167661847192, "min": 0.5014632406551502, "max": 0.8743636803808933, "frames": 124}}}</a:t>
            </a:r>
          </a:p>
          <a:p>
            <a:r>
              <a:t>LPIPS: pretrained AlexNet v0.1, FP32 RGB [-1,1]. SSIM: RGB, Gaussian 11x11 sigma 1.5, population covariance, data range 255. All 124 frames at original 1344x768; same frame-index alignment; no resize. Single-prompt checkpoint similarity, not general video quality. Request curl time_total is recorded in video-generation-times.json and displayed above. The online request was the first inference after startup, whereas retained runs used already-active servers. Timings exclude model loading and prepacking, include encoding/download; do not infer a quantization speedup.</a:t>
            </a:r>
          </a:p>
          <a:p>
            <a:r>
              <a:t>Direct Online NVFP4 uses the algorithm on the untouched BF16 checkpoint without numerical tuning. Amax scaling is part of the quantization algorithm. Videos and previously reported request times and LPIPS/SSIM are unchanged in v1.26.</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Nsight Systems GUI screenshot of FastH3_QAD36L_8xPRO5000_960x544_PCIe_GPU_NIC.nsys-rep. This is the pre-head-pipeline RDMA baseline; it already overlaps V/g projection with the first exchange. Q/K/V/G and O are otherwise whole-head operands. Exposed transport is defined using event-sync return to closing barrier CPU launch, intersected with productive CUDA kernels, excluding pack/unpack/copy/barrier kernels. Mean over eight GPUs: phase 3.761780366 s, exposed 3.244157462 s, covered 13.760%. Includes host posting/CQ polling/flush; not exact NIC wire time or E2E attribution. Screenshot does not show the proposed 2/3/2 schedule. Nsight reported possible incomplete CUDA/NVTX/OSRT collection; expected windows reconcile.</a:t>
            </a:r>
          </a:p>
          <a:p>
            <a:r>
              <a:t>v1.29 annotations are native transparent overlays; the embedded Nsight screenshot bytes remain unchanged. Region 1 covers source pixels x525..732,y74..248, spanning sparse transport/control activity with little productive compute before the main attention region. Region 2 covers x1118..1174,y74..248, the exposed tail around O return. These are visually selected illustrative regions, not independently measured duration brackets; neither implies all GPU activity is absent. Guide lines extend from external labels to GPU-lane boxes. The 3.24 s value remains the full-trace exposed transport aggregate and is not the duration of these two boxes. The baseline is FI RDMA, not an NCCL trace or a CUDA Graph before/after comparison.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4173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BF16 reference · Direct Online NVFP4 · Published QAD checkpoint</a:t>
            </a:r>
          </a:p>
        </p:txBody>
      </p:sp>
      <p:sp>
        <p:nvSpPr>
          <p:cNvPr id="4" name="Title 3"/>
          <p:cNvSpPr>
            <a:spLocks noGrp="1"/>
          </p:cNvSpPr>
          <p:nvPr>
            <p:ph type="title"/>
          </p:nvPr>
        </p:nvSpPr>
        <p:spPr/>
        <p:txBody>
          <a:bodyPr/>
          <a:lstStyle/>
          <a:p>
            <a:r>
              <a:t>Quantization: Three-Way Video Comparison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Matched request · cuDNN BF16 attention + original VAE · checkpoint comparison, including encoder precision</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8288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828800" y="7315200"/>
            <a:ext cx="10515600" cy="6008914"/>
          </a:xfrm>
          <a:prstGeom prst="rect">
            <a:avLst/>
          </a:prstGeom>
          <a:ln w="9525">
            <a:solidFill>
              <a:srgbClr val="A7A7A7"/>
            </a:solidFill>
          </a:ln>
        </p:spPr>
      </p:pic>
      <p:sp>
        <p:nvSpPr>
          <p:cNvPr id="9" name="Original BF16 weights"/>
          <p:cNvSpPr txBox="1"/>
          <p:nvPr/>
        </p:nvSpPr>
        <p:spPr>
          <a:xfrm>
            <a:off x="18288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Original BF16 weights</a:t>
            </a:r>
          </a:p>
        </p:txBody>
      </p:sp>
      <p:sp>
        <p:nvSpPr>
          <p:cNvPr id="10" name="Request E2E: 48.12 s*"/>
          <p:cNvSpPr txBox="1"/>
          <p:nvPr/>
        </p:nvSpPr>
        <p:spPr>
          <a:xfrm>
            <a:off x="18288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48.12 s*</a:t>
            </a:r>
          </a:p>
        </p:txBody>
      </p:sp>
      <p:sp>
        <p:nvSpPr>
          <p:cNvPr id="11" name="LPIPS ↓ 0.0000  |  SSIM ↑ 1.0000"/>
          <p:cNvSpPr txBox="1"/>
          <p:nvPr/>
        </p:nvSpPr>
        <p:spPr>
          <a:xfrm>
            <a:off x="18288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0.0000  |  SSIM ↑ 1.0000</a:t>
            </a:r>
          </a:p>
        </p:txBody>
      </p:sp>
      <p:sp>
        <p:nvSpPr>
          <p:cNvPr id="12" name="Online NVFP4"/>
          <p:cNvSpPr txBox="1"/>
          <p:nvPr/>
        </p:nvSpPr>
        <p:spPr>
          <a:xfrm>
            <a:off x="130302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3030200" y="7315200"/>
            <a:ext cx="10515600" cy="6008914"/>
          </a:xfrm>
          <a:prstGeom prst="rect">
            <a:avLst/>
          </a:prstGeom>
          <a:ln w="9525">
            <a:solidFill>
              <a:srgbClr val="A7A7A7"/>
            </a:solidFill>
          </a:ln>
        </p:spPr>
      </p:pic>
      <p:sp>
        <p:nvSpPr>
          <p:cNvPr id="14" name="No calibration · No QAD"/>
          <p:cNvSpPr txBox="1"/>
          <p:nvPr/>
        </p:nvSpPr>
        <p:spPr>
          <a:xfrm>
            <a:off x="130302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No calibration / fine-tuning / QAD</a:t>
            </a:r>
          </a:p>
        </p:txBody>
      </p:sp>
      <p:sp>
        <p:nvSpPr>
          <p:cNvPr id="15" name="Request E2E: 32.44 s*"/>
          <p:cNvSpPr txBox="1"/>
          <p:nvPr/>
        </p:nvSpPr>
        <p:spPr>
          <a:xfrm>
            <a:off x="130302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32.44 s*</a:t>
            </a:r>
          </a:p>
        </p:txBody>
      </p:sp>
      <p:sp>
        <p:nvSpPr>
          <p:cNvPr id="16" name="LPIPS ↓ 0.2978  |  SSIM ↑ 0.5778"/>
          <p:cNvSpPr txBox="1"/>
          <p:nvPr/>
        </p:nvSpPr>
        <p:spPr>
          <a:xfrm>
            <a:off x="130302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0.2978  |  SSIM ↑ 0.5778</a:t>
            </a:r>
          </a:p>
        </p:txBody>
      </p:sp>
      <p:sp>
        <p:nvSpPr>
          <p:cNvPr id="17" name="QAD NVFP4"/>
          <p:cNvSpPr txBox="1"/>
          <p:nvPr/>
        </p:nvSpPr>
        <p:spPr>
          <a:xfrm>
            <a:off x="242316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24231600" y="7315200"/>
            <a:ext cx="10515600" cy="6008914"/>
          </a:xfrm>
          <a:prstGeom prst="rect">
            <a:avLst/>
          </a:prstGeom>
          <a:ln w="9525">
            <a:solidFill>
              <a:srgbClr val="A7A7A7"/>
            </a:solidFill>
          </a:ln>
        </p:spPr>
      </p:pic>
      <p:sp>
        <p:nvSpPr>
          <p:cNvPr id="19" name="Published QAD checkpoint"/>
          <p:cNvSpPr txBox="1"/>
          <p:nvPr/>
        </p:nvSpPr>
        <p:spPr>
          <a:xfrm>
            <a:off x="242316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Published QAD checkpoint</a:t>
            </a:r>
          </a:p>
        </p:txBody>
      </p:sp>
      <p:sp>
        <p:nvSpPr>
          <p:cNvPr id="20" name="Request E2E: 28.40 s*"/>
          <p:cNvSpPr txBox="1"/>
          <p:nvPr/>
        </p:nvSpPr>
        <p:spPr>
          <a:xfrm>
            <a:off x="242316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28.40 s*</a:t>
            </a:r>
          </a:p>
        </p:txBody>
      </p:sp>
      <p:sp>
        <p:nvSpPr>
          <p:cNvPr id="21" name="LPIPS ↓ 0.2502  |  SSIM ↑ 0.6438"/>
          <p:cNvSpPr txBox="1"/>
          <p:nvPr/>
        </p:nvSpPr>
        <p:spPr>
          <a:xfrm>
            <a:off x="242316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0.2502  |  SSIM ↑ 0.6438</a:t>
            </a:r>
          </a:p>
        </p:txBody>
      </p:sp>
      <p:sp>
        <p:nvSpPr>
          <p:cNvPr id="22" name="1344 × 768  ·  124 frames @ 24 FPS  ·  8 steps  ·  Seed 1234"/>
          <p:cNvSpPr txBox="1"/>
          <p:nvPr/>
        </p:nvSpPr>
        <p:spPr>
          <a:xfrm>
            <a:off x="1828800" y="1719072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400" b="0">
                <a:solidFill>
                  <a:srgbClr val="313131"/>
                </a:solidFill>
                <a:latin typeface="NVIDIA Sans"/>
              </a:rPr>
              <a:t>1344 × 768  ·  124 frames @ 24 FPS  ·  8 steps  ·  Seed 1234</a:t>
            </a:r>
          </a:p>
        </p:txBody>
      </p:sp>
      <p:sp>
        <p:nvSpPr>
          <p:cNvPr id="23" name="*Single requests; warmup / encoder / HSDP differ. Metrics: all frames vs. BF16."/>
          <p:cNvSpPr txBox="1"/>
          <p:nvPr/>
        </p:nvSpPr>
        <p:spPr>
          <a:xfrm>
            <a:off x="1828800" y="1828800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*Single requests; warmup / encoder / HSDP differ. Metrics: all frames vs. BF16.</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r>
              <a:t>Original website illustration: P = 4
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Sequence shards → head shards → sequence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pic>
        <p:nvPicPr>
          <p:cNvPr id="10" name="Original website Ulysses schematic — P=4 illustration" descr="Original website Ulysses schematic — P=4 illustration">
            <a:hlinkClick r:id="rId6"/>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373600" y="4310538"/>
            <a:ext cx="17373600" cy="11129962"/>
          </a:xfrm>
          <a:prstGeom prst="rect">
            <a:avLst/>
          </a:prstGeom>
          <a:ln w="9525">
            <a:solidFill>
              <a:srgbClr val="A7A7A7"/>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5943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13</a:t>
            </a:fld>
            <a:endParaRPr lang="en-US"/>
          </a:p>
        </p:txBody>
      </p:sp>
      <p:pic>
        <p:nvPicPr>
          <p:cNvPr id="9" name="Topology with one-way capacity model" descr="topology-bandwidth.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Matched eight-GPU Q/K/V/O exchanges · FI RDMA is 2.33–2.47× faster across three sequence lengths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sp>
        <p:nvSpPr>
          <p:cNvPr id="7" name="Bandwidth bounds — native template text"/>
          <p:cNvSpPr>
            <a:spLocks noGrp="1"/>
          </p:cNvSpPr>
          <p:nvPr>
            <p:ph type="body" idx="20" sz="quarter"/>
          </p:nvPr>
        </p:nvSpPr>
        <p:spPr>
          <a:xfrm>
            <a:off x="1828800" y="5303520"/>
            <a:ext cx="15636240" cy="7772400"/>
          </a:xfrm>
        </p:spPr>
        <p:txBody>
          <a:bodyPr wrap="square" lIns="0" rIns="0" tIns="0" bIns="0"/>
          <a:lstStyle/>
          <a:p>
            <a:pPr algn="l"/>
            <a:r>
              <a:rPr b="1">
                <a:solidFill>
                  <a:srgbClr val="76B900"/>
                </a:solidFill>
                <a:latin typeface="NVIDIA Sans Medium"/>
              </a:rPr>
              <a:t>Local NCCL: one P2P peer, six SHM peers</a:t>
            </a:r>
          </a:p>
          <a:p>
            <a:pPr lvl="1" algn="l"/>
            <a:r>
              <a:rPr b="0">
                <a:solidFill>
                  <a:srgbClr val="313131"/>
                </a:solidFill>
                <a:latin typeface="NVIDIA Sans"/>
              </a:rPr>
              <a:t>Cross-subtree payload uses host memory</a:t>
            </a:r>
          </a:p>
          <a:p>
            <a:pPr lvl="1" algn="l"/>
            <a:r>
              <a:rPr b="0">
                <a:solidFill>
                  <a:srgbClr val="313131"/>
                </a:solidFill>
                <a:latin typeface="NVIDIA Sans"/>
              </a:rPr>
              <a:t>Two GPUs share one 63.0 GB/s uplink</a:t>
            </a:r>
          </a:p>
          <a:p>
            <a:pPr lvl="1" algn="l"/>
            <a:r>
              <a:rPr b="0">
                <a:solidFill>
                  <a:srgbClr val="313131"/>
                </a:solidFill>
                <a:latin typeface="NVIDIA Sans"/>
              </a:rPr>
              <a:t>2 × B × 6/7 ≤ 63.0  →  B ≤ 36.8 GB/s</a:t>
            </a:r>
          </a:p>
          <a:p>
            <a:pPr algn="l"/>
            <a:r>
              <a:rPr b="1">
                <a:solidFill>
                  <a:srgbClr val="76B900"/>
                </a:solidFill>
                <a:latin typeface="NVIDIA Sans Medium"/>
              </a:rPr>
              <a:t>Cross-NUMA: C = 256 GB/s (raw model)</a:t>
            </a:r>
          </a:p>
          <a:p>
            <a:pPr lvl="1" algn="l"/>
            <a:r>
              <a:rPr b="0">
                <a:solidFill>
                  <a:srgbClr val="313131"/>
                </a:solidFill>
                <a:latin typeface="NVIDIA Sans"/>
              </a:rPr>
              <a:t>4 × B × 4/7 ≤ 256 → B ≤ 112 GB/s</a:t>
            </a:r>
          </a:p>
          <a:p>
            <a:pPr lvl="1" algn="l"/>
            <a:r>
              <a:rPr b="0">
                <a:solidFill>
                  <a:srgbClr val="313131"/>
                </a:solidFill>
                <a:latin typeface="NVIDIA Sans"/>
              </a:rPr>
              <a:t>Local ceiling: min(36.8, 112) = 36.8</a:t>
            </a:r>
          </a:p>
          <a:p>
            <a:pPr algn="l"/>
            <a:r>
              <a:rPr b="1">
                <a:solidFill>
                  <a:srgbClr val="76B900"/>
                </a:solidFill>
                <a:latin typeface="NVIDIA Sans Medium"/>
              </a:rPr>
              <a:t>FI RDMA: one nearest 400G port per GPU</a:t>
            </a:r>
          </a:p>
          <a:p>
            <a:pPr lvl="1" algn="l"/>
            <a:r>
              <a:rPr b="0">
                <a:solidFill>
                  <a:srgbClr val="313131"/>
                </a:solidFill>
                <a:latin typeface="NVIDIA Sans"/>
              </a:rPr>
              <a:t>Bypasses host buffers and CPU-facing uplinks</a:t>
            </a:r>
          </a:p>
          <a:p>
            <a:pPr lvl="1" algn="l"/>
            <a:r>
              <a:rPr b="0">
                <a:solidFill>
                  <a:srgbClr val="313131"/>
                </a:solidFill>
                <a:latin typeface="NVIDIA Sans"/>
              </a:rPr>
              <a:t>B ≤ min(63.0, 128/2, 50) = 50 GB/s</a:t>
            </a:r>
          </a:p>
        </p:txBody>
      </p:sp>
      <p:sp>
        <p:nvSpPr>
          <p:cNvPr id="10" name="Bandwidth variable definitions"/>
          <p:cNvSpPr>
            <a:spLocks noGrp="1"/>
          </p:cNvSpPr>
          <p:nvPr>
            <p:ph type="body" idx="52" sz="quarter"/>
          </p:nvPr>
        </p:nvSpPr>
        <p:spPr>
          <a:xfrm>
            <a:off x="1828800" y="17465040"/>
            <a:ext cx="15636240" cy="1143000"/>
          </a:xfrm>
        </p:spPr>
        <p:txBody>
          <a:bodyPr/>
          <a:lstStyle/>
          <a:p>
            <a:r>
              <a:t>B: off-rank TX per GPU · C: raw xGMI model input
Necessary link bounds; effective capacity can be lower</a:t>
            </a:r>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22240" y="5224272"/>
            <a:ext cx="16824960" cy="11497056"/>
          </a:xfrm>
          <a:prstGeom prst="rect">
            <a:avLst/>
          </a:prstGeom>
          <a:ln w="9525">
            <a:solidFill>
              <a:srgbClr val="A7A7A7"/>
            </a:solidFill>
          </a:ln>
        </p:spPr>
      </p:pic>
      <p:sp>
        <p:nvSpPr>
          <p:cNvPr id="12" name="Shared PCIe uplink is the tighter raw bound"/>
          <p:cNvSpPr txBox="1"/>
          <p:nvPr/>
        </p:nvSpPr>
        <p:spPr>
          <a:xfrm>
            <a:off x="1828800" y="13258800"/>
            <a:ext cx="15636240" cy="822960"/>
          </a:xfrm>
          <a:prstGeom prst="rect">
            <a:avLst/>
          </a:prstGeom>
          <a:noFill/>
        </p:spPr>
        <p:txBody>
          <a:bodyPr wrap="square" lIns="0" rIns="0" tIns="0" bIns="0">
            <a:spAutoFit/>
          </a:bodyPr>
          <a:lstStyle/>
          <a:p>
            <a:pPr algn="l">
              <a:lnSpc>
                <a:spcPct val="108000"/>
              </a:lnSpc>
              <a:spcBef>
                <a:spcPts val="0"/>
              </a:spcBef>
              <a:spcAft>
                <a:spcPts val="1200"/>
              </a:spcAft>
            </a:pPr>
            <a:r>
              <a:rPr sz="3300" b="1">
                <a:solidFill>
                  <a:srgbClr val="76B900"/>
                </a:solidFill>
                <a:latin typeface="NVIDIA Sans Medium"/>
              </a:rPr>
              <a:t>Shared PCIe uplink is the tighter raw bound</a:t>
            </a:r>
          </a:p>
        </p:txBody>
      </p:sp>
      <p:sp>
        <p:nvSpPr>
          <p:cNvPr id="13" name="SHM, layout and scheduling add further cost."/>
          <p:cNvSpPr txBox="1"/>
          <p:nvPr/>
        </p:nvSpPr>
        <p:spPr>
          <a:xfrm>
            <a:off x="1828800" y="14310360"/>
            <a:ext cx="15636240" cy="2377440"/>
          </a:xfrm>
          <a:prstGeom prst="rect">
            <a:avLst/>
          </a:prstGeom>
          <a:noFill/>
        </p:spPr>
        <p:txBody>
          <a:bodyPr wrap="square" lIns="0" rIns="0" tIns="0" bIns="0">
            <a:spAutoFit/>
          </a:bodyPr>
          <a:lstStyle/>
          <a:p>
            <a:pPr algn="l">
              <a:lnSpc>
                <a:spcPct val="108000"/>
              </a:lnSpc>
              <a:spcBef>
                <a:spcPts val="0"/>
              </a:spcBef>
              <a:spcAft>
                <a:spcPts val="1200"/>
              </a:spcAft>
            </a:pPr>
            <a:r>
              <a:rPr sz="3100" b="0">
                <a:solidFill>
                  <a:srgbClr val="313131"/>
                </a:solidFill>
                <a:latin typeface="NVIDIA Sans"/>
              </a:rPr>
              <a:t>SHM, layout and scheduling add further cost.</a:t>
            </a:r>
          </a:p>
          <a:p>
            <a:pPr algn="l">
              <a:lnSpc>
                <a:spcPct val="108000"/>
              </a:lnSpc>
              <a:spcBef>
                <a:spcPts val="0"/>
              </a:spcBef>
              <a:spcAft>
                <a:spcPts val="1200"/>
              </a:spcAft>
            </a:pPr>
            <a:r>
              <a:rPr sz="3100" b="0">
                <a:solidFill>
                  <a:srgbClr val="313131"/>
                </a:solidFill>
                <a:latin typeface="NVIDIA Sans"/>
              </a:rPr>
              <a:t>Next: hide waits with 2 / 3 / 2 head bands,</a:t>
            </a:r>
          </a:p>
          <a:p>
            <a:pPr algn="l">
              <a:lnSpc>
                <a:spcPct val="108000"/>
              </a:lnSpc>
              <a:spcBef>
                <a:spcPts val="0"/>
              </a:spcBef>
              <a:spcAft>
                <a:spcPts val="1200"/>
              </a:spcAft>
            </a:pPr>
            <a:r>
              <a:rPr sz="3100" b="0">
                <a:solidFill>
                  <a:srgbClr val="313131"/>
                </a:solidFill>
                <a:latin typeface="NVIDIA Sans"/>
              </a:rPr>
              <a:t>then reduce compute launch cost with graphs.</a:t>
            </a:r>
          </a:p>
        </p:txBody>
      </p:sp>
      <p:sp>
        <p:nvSpPr>
          <p:cNvPr id="14" name="Measured: communication + layout + scheduling; not E2E."/>
          <p:cNvSpPr txBox="1"/>
          <p:nvPr/>
        </p:nvSpPr>
        <p:spPr>
          <a:xfrm>
            <a:off x="17922240" y="17053560"/>
            <a:ext cx="16824960" cy="64008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Measured: communication + layout + scheduling; not E2E.</a:t>
            </a:r>
          </a:p>
        </p:txBody>
      </p:sp>
      <p:sp>
        <p:nvSpPr>
          <p:cNvPr id="15" name="Separate Q/K-first candidate: 96/96 rank checks exact"/>
          <p:cNvSpPr txBox="1"/>
          <p:nvPr/>
        </p:nvSpPr>
        <p:spPr>
          <a:xfrm>
            <a:off x="17922240" y="17785080"/>
            <a:ext cx="16824960" cy="114300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Separate Q/K-first candidate: 96/96 rank checks exact</a:t>
            </a:r>
          </a:p>
          <a:p>
            <a:pPr algn="l">
              <a:lnSpc>
                <a:spcPct val="108000"/>
              </a:lnSpc>
              <a:spcBef>
                <a:spcPts val="0"/>
              </a:spcBef>
              <a:spcAft>
                <a:spcPts val="1200"/>
              </a:spcAft>
            </a:pPr>
            <a:r>
              <a:rPr sz="2700" b="0">
                <a:solidFill>
                  <a:srgbClr val="313131"/>
                </a:solidFill>
                <a:latin typeface="NVIDIA Sans"/>
              </a:rPr>
              <a:t>on four GPUs; full eight-GPU H3 validation pending.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p:txBody>
          <a:bodyPr/>
          <a:lstStyle/>
          <a:p>
            <a:r>
              <a:t>Original source: head-shard exchange before attention; inverse exchange before output projection</a:t>
            </a:r>
          </a:p>
        </p:txBody>
      </p:sp>
      <p:sp>
        <p:nvSpPr>
          <p:cNvPr id="4" name="Title 3"/>
          <p:cNvSpPr>
            <a:spLocks noGrp="1"/>
          </p:cNvSpPr>
          <p:nvPr>
            <p:ph type="title"/>
          </p:nvPr>
        </p:nvSpPr>
        <p:spPr/>
        <p:txBody>
          <a:bodyPr/>
          <a:lstStyle/>
          <a:p>
            <a: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Whole-head dependencies expose communication waits before attention and output projection</a:t>
            </a:r>
          </a:p>
        </p:txBody>
      </p:sp>
      <p:sp>
        <p:nvSpPr>
          <p:cNvPr id="4" name="Title 3"/>
          <p:cNvSpPr>
            <a:spLocks noGrp="1"/>
          </p:cNvSpPr>
          <p:nvPr>
            <p:ph type="title"/>
          </p:nvPr>
        </p:nvSpPr>
        <p:spPr/>
        <p:txBody>
          <a:bodyPr/>
          <a:lstStyle/>
          <a:p>
            <a:r>
              <a:t>RDMA Still Leaves Ulysses Waiting</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Nsight Systems 2025.3.2 · retained FI RDMA baseline · 8 × RTX PRO 5000 · 960 × 544 · 362 frames · 8 steps</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pic>
        <p:nvPicPr>
          <p:cNvPr id="7" name="Actual Nsight Systems RDMA baseline" descr="image.png"/>
          <p:cNvPicPr>
            <a:picLocks noChangeAspect="1"/>
          </p:cNvPicPr>
          <p:nvPr/>
        </p:nvPicPr>
        <p:blipFill>
          <a:blip r:embed="rId3"/>
          <a:stretch>
            <a:fillRect/>
          </a:stretch>
        </p:blipFill>
        <p:spPr>
          <a:xfrm>
            <a:off x="1828800" y="6448225"/>
            <a:ext cx="24688800" cy="11883788"/>
          </a:xfrm>
          <a:prstGeom prst="rect">
            <a:avLst/>
          </a:prstGeom>
          <a:ln w="9525">
            <a:solidFill>
              <a:srgbClr val="A7A7A7"/>
            </a:solidFill>
          </a:ln>
        </p:spPr>
      </p:pic>
      <p:sp>
        <p:nvSpPr>
          <p:cNvPr id="8" name="Bubble 1: input-readiness phase, little productive compute"/>
          <p:cNvSpPr/>
          <p:nvPr/>
        </p:nvSpPr>
        <p:spPr>
          <a:xfrm>
            <a:off x="11501650" y="7811636"/>
            <a:ext cx="3813866" cy="3205859"/>
          </a:xfrm>
          <a:prstGeom prst="rect">
            <a:avLst/>
          </a:prstGeom>
          <a:solidFill>
            <a:srgbClr val="76B900">
              <a:alpha val="13000"/>
            </a:srgbClr>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bble 2: exposed O-return tail"/>
          <p:cNvSpPr/>
          <p:nvPr/>
        </p:nvSpPr>
        <p:spPr>
          <a:xfrm>
            <a:off x="22427365" y="7811636"/>
            <a:ext cx="1031770" cy="3205859"/>
          </a:xfrm>
          <a:prstGeom prst="rect">
            <a:avLst/>
          </a:prstGeom>
          <a:solidFill>
            <a:srgbClr val="76B900">
              <a:alpha val="13000"/>
            </a:srgbClr>
          </a:solid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1 · Input-readiness bubble"/>
          <p:cNvSpPr txBox="1"/>
          <p:nvPr/>
        </p:nvSpPr>
        <p:spPr>
          <a:xfrm>
            <a:off x="9875520" y="5257800"/>
            <a:ext cx="8503920" cy="731520"/>
          </a:xfrm>
          <a:prstGeom prst="rect">
            <a:avLst/>
          </a:prstGeom>
          <a:noFill/>
        </p:spPr>
        <p:txBody>
          <a:bodyPr wrap="square" lIns="0" rIns="0" tIns="0" bIns="0">
            <a:spAutoFit/>
          </a:bodyPr>
          <a:lstStyle/>
          <a:p>
            <a:pPr algn="l">
              <a:lnSpc>
                <a:spcPct val="108000"/>
              </a:lnSpc>
              <a:spcBef>
                <a:spcPts val="0"/>
              </a:spcBef>
              <a:spcAft>
                <a:spcPts val="1200"/>
              </a:spcAft>
            </a:pPr>
            <a:r>
              <a:rPr sz="3000" b="1">
                <a:solidFill>
                  <a:srgbClr val="76B900"/>
                </a:solidFill>
                <a:latin typeface="NVIDIA Sans Medium"/>
              </a:rPr>
              <a:t>1 · Input-readiness bubble</a:t>
            </a:r>
          </a:p>
        </p:txBody>
      </p:sp>
      <p:sp>
        <p:nvSpPr>
          <p:cNvPr id="11" name="2 · O-return tail"/>
          <p:cNvSpPr txBox="1"/>
          <p:nvPr/>
        </p:nvSpPr>
        <p:spPr>
          <a:xfrm>
            <a:off x="21305520" y="5257800"/>
            <a:ext cx="5943600" cy="731520"/>
          </a:xfrm>
          <a:prstGeom prst="rect">
            <a:avLst/>
          </a:prstGeom>
          <a:noFill/>
        </p:spPr>
        <p:txBody>
          <a:bodyPr wrap="square" lIns="0" rIns="0" tIns="0" bIns="0">
            <a:spAutoFit/>
          </a:bodyPr>
          <a:lstStyle/>
          <a:p>
            <a:pPr algn="l">
              <a:lnSpc>
                <a:spcPct val="108000"/>
              </a:lnSpc>
              <a:spcBef>
                <a:spcPts val="0"/>
              </a:spcBef>
              <a:spcAft>
                <a:spcPts val="1200"/>
              </a:spcAft>
            </a:pPr>
            <a:r>
              <a:rPr sz="3000" b="1">
                <a:solidFill>
                  <a:srgbClr val="76B900"/>
                </a:solidFill>
                <a:latin typeface="NVIDIA Sans Medium"/>
              </a:rPr>
              <a:t>2 · O-return tail</a:t>
            </a:r>
          </a:p>
        </p:txBody>
      </p:sp>
      <p:sp>
        <p:nvSpPr>
          <p:cNvPr id="12" name="Bubble label guide"/>
          <p:cNvSpPr/>
          <p:nvPr/>
        </p:nvSpPr>
        <p:spPr>
          <a:xfrm>
            <a:off x="13408584" y="6035040"/>
            <a:ext cx="13716" cy="177659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ubble label guide"/>
          <p:cNvSpPr/>
          <p:nvPr/>
        </p:nvSpPr>
        <p:spPr>
          <a:xfrm>
            <a:off x="22943251" y="6035040"/>
            <a:ext cx="13716" cy="177659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1 · Inputs not ready"/>
          <p:cNvSpPr txBox="1"/>
          <p:nvPr/>
        </p:nvSpPr>
        <p:spPr>
          <a:xfrm>
            <a:off x="27523440" y="5486400"/>
            <a:ext cx="7223760" cy="10058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1 · Inputs not ready</a:t>
            </a:r>
          </a:p>
        </p:txBody>
      </p:sp>
      <p:sp>
        <p:nvSpPr>
          <p:cNvPr id="15" name="Attention needs the full"/>
          <p:cNvSpPr txBox="1"/>
          <p:nvPr/>
        </p:nvSpPr>
        <p:spPr>
          <a:xfrm>
            <a:off x="27523440" y="6720840"/>
            <a:ext cx="7223760" cy="192024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Attention needs the full</a:t>
            </a:r>
          </a:p>
          <a:p>
            <a:pPr algn="l">
              <a:lnSpc>
                <a:spcPct val="108000"/>
              </a:lnSpc>
              <a:spcBef>
                <a:spcPts val="0"/>
              </a:spcBef>
              <a:spcAft>
                <a:spcPts val="1200"/>
              </a:spcAft>
            </a:pPr>
            <a:r>
              <a:rPr sz="2900" b="0">
                <a:solidFill>
                  <a:srgbClr val="313131"/>
                </a:solidFill>
                <a:latin typeface="NVIDIA Sans"/>
              </a:rPr>
              <a:t>Q/K/V for its head group.</a:t>
            </a:r>
          </a:p>
        </p:txBody>
      </p:sp>
      <p:sp>
        <p:nvSpPr>
          <p:cNvPr id="16" name="2 · O return pending"/>
          <p:cNvSpPr txBox="1"/>
          <p:nvPr/>
        </p:nvSpPr>
        <p:spPr>
          <a:xfrm>
            <a:off x="27523440" y="9144000"/>
            <a:ext cx="7223760" cy="10058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2 · O return pending</a:t>
            </a:r>
          </a:p>
        </p:txBody>
      </p:sp>
      <p:sp>
        <p:nvSpPr>
          <p:cNvPr id="17" name="Output projection waits"/>
          <p:cNvSpPr txBox="1"/>
          <p:nvPr/>
        </p:nvSpPr>
        <p:spPr>
          <a:xfrm>
            <a:off x="27523440" y="10378440"/>
            <a:ext cx="7223760" cy="192024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Output projection waits</a:t>
            </a:r>
          </a:p>
          <a:p>
            <a:pPr algn="l">
              <a:lnSpc>
                <a:spcPct val="108000"/>
              </a:lnSpc>
              <a:spcBef>
                <a:spcPts val="0"/>
              </a:spcBef>
              <a:spcAft>
                <a:spcPts val="1200"/>
              </a:spcAft>
            </a:pPr>
            <a:r>
              <a:rPr sz="2900" b="0">
                <a:solidFill>
                  <a:srgbClr val="313131"/>
                </a:solidFill>
                <a:latin typeface="NVIDIA Sans"/>
              </a:rPr>
              <a:t>for the returned O.</a:t>
            </a:r>
          </a:p>
        </p:txBody>
      </p:sp>
      <p:sp>
        <p:nvSpPr>
          <p:cNvPr id="18" name="Next: pipeline heads"/>
          <p:cNvSpPr txBox="1"/>
          <p:nvPr/>
        </p:nvSpPr>
        <p:spPr>
          <a:xfrm>
            <a:off x="27523440" y="12801600"/>
            <a:ext cx="7223760" cy="10058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Next: pipeline heads</a:t>
            </a:r>
          </a:p>
        </p:txBody>
      </p:sp>
      <p:sp>
        <p:nvSpPr>
          <p:cNvPr id="19" name="Compute one band while"/>
          <p:cNvSpPr txBox="1"/>
          <p:nvPr/>
        </p:nvSpPr>
        <p:spPr>
          <a:xfrm>
            <a:off x="27523440" y="14036040"/>
            <a:ext cx="7223760" cy="192024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Compute one band while</a:t>
            </a:r>
          </a:p>
          <a:p>
            <a:pPr algn="l">
              <a:lnSpc>
                <a:spcPct val="108000"/>
              </a:lnSpc>
              <a:spcBef>
                <a:spcPts val="0"/>
              </a:spcBef>
              <a:spcAft>
                <a:spcPts val="1200"/>
              </a:spcAft>
            </a:pPr>
            <a:r>
              <a:rPr sz="2900" b="0">
                <a:solidFill>
                  <a:srgbClr val="313131"/>
                </a:solidFill>
                <a:latin typeface="NVIDIA Sans"/>
              </a:rPr>
              <a:t>transferring the next.</a:t>
            </a:r>
          </a:p>
        </p:txBody>
      </p:sp>
      <p:sp>
        <p:nvSpPr>
          <p:cNvPr id="20" name="3.24 s / GPU"/>
          <p:cNvSpPr txBox="1"/>
          <p:nvPr/>
        </p:nvSpPr>
        <p:spPr>
          <a:xfrm>
            <a:off x="27523440" y="16459200"/>
            <a:ext cx="7223760" cy="822960"/>
          </a:xfrm>
          <a:prstGeom prst="rect">
            <a:avLst/>
          </a:prstGeom>
          <a:noFill/>
        </p:spPr>
        <p:txBody>
          <a:bodyPr wrap="square" lIns="0" rIns="0" tIns="0" bIns="0">
            <a:spAutoFit/>
          </a:bodyPr>
          <a:lstStyle/>
          <a:p>
            <a:pPr algn="l">
              <a:lnSpc>
                <a:spcPct val="108000"/>
              </a:lnSpc>
              <a:spcBef>
                <a:spcPts val="0"/>
              </a:spcBef>
              <a:spcAft>
                <a:spcPts val="1200"/>
              </a:spcAft>
            </a:pPr>
            <a:r>
              <a:rPr sz="3900" b="1">
                <a:solidFill>
                  <a:srgbClr val="76B900"/>
                </a:solidFill>
                <a:latin typeface="NVIDIA Sans Medium"/>
              </a:rPr>
              <a:t>3.24 s / GPU</a:t>
            </a:r>
          </a:p>
        </p:txBody>
      </p:sp>
      <p:sp>
        <p:nvSpPr>
          <p:cNvPr id="21" name="Exposed phase · full DiT"/>
          <p:cNvSpPr txBox="1"/>
          <p:nvPr/>
        </p:nvSpPr>
        <p:spPr>
          <a:xfrm>
            <a:off x="27523440" y="17465040"/>
            <a:ext cx="7223760" cy="109728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Exposed phase · full DiT</a:t>
            </a:r>
          </a:p>
          <a:p>
            <a:pPr algn="l">
              <a:lnSpc>
                <a:spcPct val="108000"/>
              </a:lnSpc>
              <a:spcBef>
                <a:spcPts val="0"/>
              </a:spcBef>
              <a:spcAft>
                <a:spcPts val="1200"/>
              </a:spcAft>
            </a:pPr>
            <a:r>
              <a:rPr sz="2500" b="0">
                <a:solidFill>
                  <a:srgbClr val="313131"/>
                </a:solidFill>
                <a:latin typeface="NVIDIA Sans"/>
              </a:rPr>
              <a:t>Mean across eight GPUs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2 → 3 → 2 heads per GPU to overlap communication and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repeats unpack / VSA / pack.
Graph replay reduces that submission cost.</a:t>
            </a:r>
          </a:p>
        </p:txBody>
      </p:sp>
      <p:pic>
        <p:nvPicPr>
          <p:cNvPr id="14" name="Three-band Ulysses dependency schedule" descr="head-pipeline-232.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28800" y="5326380"/>
            <a:ext cx="32918400" cy="11109959"/>
          </a:xfrm>
          <a:prstGeom prst="rect">
            <a:avLst/>
          </a:prstGeom>
          <a:ln w="9525">
            <a:solidFill>
              <a:srgbClr val="A7A7A7"/>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Head bands hide communication; graph replay reduces repeated compute submission overhead</a:t>
            </a:r>
          </a:p>
        </p:txBody>
      </p:sp>
      <p:sp>
        <p:nvSpPr>
          <p:cNvPr id="4" name="Title 3"/>
          <p:cNvSpPr>
            <a:spLocks noGrp="1"/>
          </p:cNvSpPr>
          <p:nvPr>
            <p:ph type="title"/>
          </p:nvPr>
        </p:nvSpPr>
        <p:spPr/>
        <p:txBody>
          <a:bodyPr/>
          <a:lstStyle/>
          <a:p>
            <a:r>
              <a:t>CUDA Graph Completes the Head Pipeline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H3 prototype + retained measurements · diagram is conceptual · selected 2 / 3 / 2 has not been benchmarked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18</a:t>
            </a:fld>
            <a:endParaRPr lang="en-US"/>
          </a:p>
        </p:txBody>
      </p:sp>
      <p:pic>
        <p:nvPicPr>
          <p:cNvPr id="7" name="CUDA Graph after Ulysses head pipelining" descr="cuda-graph-pipeline.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28800" y="5121920"/>
            <a:ext cx="22311360" cy="10330159"/>
          </a:xfrm>
          <a:prstGeom prst="rect">
            <a:avLst/>
          </a:prstGeom>
          <a:ln w="9525">
            <a:solidFill>
              <a:srgbClr val="A7A7A7"/>
            </a:solidFill>
          </a:ln>
        </p:spPr>
      </p:pic>
      <p:sp>
        <p:nvSpPr>
          <p:cNvPr id="8" name="More submissions per block"/>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More submissions per block</a:t>
            </a:r>
          </a:p>
        </p:txBody>
      </p:sp>
      <p:sp>
        <p:nvSpPr>
          <p:cNvPr id="9" name="Each head band repeats"/>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head band repeats</a:t>
            </a:r>
          </a:p>
          <a:p>
            <a:pPr algn="l">
              <a:lnSpc>
                <a:spcPct val="108000"/>
              </a:lnSpc>
              <a:spcBef>
                <a:spcPts val="0"/>
              </a:spcBef>
              <a:spcAft>
                <a:spcPts val="1200"/>
              </a:spcAft>
            </a:pPr>
            <a:r>
              <a:rPr sz="2800" b="0">
                <a:solidFill>
                  <a:srgbClr val="313131"/>
                </a:solidFill>
                <a:latin typeface="NVIDIA Sans"/>
              </a:rPr>
              <a:t>unpack, VSA and pack.</a:t>
            </a:r>
          </a:p>
        </p:txBody>
      </p:sp>
      <p:sp>
        <p:nvSpPr>
          <p:cNvPr id="10" name="Stable compute per band"/>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Stable compute per band</a:t>
            </a:r>
          </a:p>
        </p:txBody>
      </p:sp>
      <p:sp>
        <p:nvSpPr>
          <p:cNvPr id="11" name="Fixed shapes and buffer addresse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buffer addresses;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per band"/>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per band</a:t>
            </a:r>
          </a:p>
        </p:txBody>
      </p:sp>
      <p:sp>
        <p:nvSpPr>
          <p:cNvPr id="13" name="50 blocks × 8 evaluation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50 blocks × 8 evaluations</a:t>
            </a:r>
          </a:p>
          <a:p>
            <a:pPr algn="l">
              <a:lnSpc>
                <a:spcPct val="108000"/>
              </a:lnSpc>
              <a:spcBef>
                <a:spcPts val="0"/>
              </a:spcBef>
              <a:spcAft>
                <a:spcPts val="1200"/>
              </a:spcAft>
            </a:pPr>
            <a:r>
              <a:rPr sz="2800" b="0">
                <a:solidFill>
                  <a:srgbClr val="313131"/>
                </a:solidFill>
                <a:latin typeface="NVIDIA Sans"/>
              </a:rPr>
              <a:t>reuse one execution profile.</a:t>
            </a:r>
          </a:p>
        </p:txBody>
      </p:sp>
      <p:sp>
        <p:nvSpPr>
          <p:cNvPr id="14" name="Qualify each profile; budget capture time"/>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Qualify each profile; budget capture time</a:t>
            </a:r>
          </a:p>
          <a:p>
            <a:pPr algn="l">
              <a:lnSpc>
                <a:spcPct val="108000"/>
              </a:lnSpc>
              <a:spcBef>
                <a:spcPts val="0"/>
              </a:spcBef>
              <a:spcAft>
                <a:spcPts val="1200"/>
              </a:spcAft>
            </a:pPr>
            <a:r>
              <a:rPr sz="2500" b="0">
                <a:solidFill>
                  <a:srgbClr val="313131"/>
                </a:solidFill>
                <a:latin typeface="NVIDIA Sans"/>
              </a:rPr>
              <a:t>and graph memory. Large kernels may gain little.</a:t>
            </a:r>
          </a:p>
        </p:txBody>
      </p:sp>
      <p:sp>
        <p:nvSpPr>
          <p:cNvPr id="15" name="Capture: unpack → VSA → pack    ·    RDMA, readiness events and full W_O stay eager"/>
          <p:cNvSpPr txBox="1"/>
          <p:nvPr/>
        </p:nvSpPr>
        <p:spPr>
          <a:xfrm>
            <a:off x="1828800" y="16002000"/>
            <a:ext cx="32918400" cy="731520"/>
          </a:xfrm>
          <a:prstGeom prst="rect">
            <a:avLst/>
          </a:prstGeom>
          <a:noFill/>
        </p:spPr>
        <p:txBody>
          <a:bodyPr wrap="square" lIns="0" rIns="0" tIns="0" bIns="0">
            <a:spAutoFit/>
          </a:bodyPr>
          <a:lstStyle/>
          <a:p>
            <a:pPr algn="l">
              <a:lnSpc>
                <a:spcPct val="108000"/>
              </a:lnSpc>
              <a:spcBef>
                <a:spcPts val="0"/>
              </a:spcBef>
              <a:spcAft>
                <a:spcPts val="1200"/>
              </a:spcAft>
            </a:pPr>
            <a:r>
              <a:rPr sz="3000" b="1">
                <a:solidFill>
                  <a:srgbClr val="313131"/>
                </a:solidFill>
                <a:latin typeface="NVIDIA Sans Medium"/>
              </a:rPr>
              <a:t>Capture: unpack → VSA → pack    ·    RDMA, readiness events and full W_O stay eager</a:t>
            </a:r>
          </a:p>
        </p:txBody>
      </p:sp>
      <p:sp>
        <p:nvSpPr>
          <p:cNvPr id="16" name="Historical 1 / 2 / 3 / 1 · warmed request cohorts"/>
          <p:cNvSpPr txBox="1"/>
          <p:nvPr/>
        </p:nvSpPr>
        <p:spPr>
          <a:xfrm>
            <a:off x="1828800" y="17190720"/>
            <a:ext cx="164592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Historical 1 / 2 / 3 / 1 · warmed request cohorts</a:t>
            </a:r>
          </a:p>
        </p:txBody>
      </p:sp>
      <p:sp>
        <p:nvSpPr>
          <p:cNvPr id="17" name="13.250 → 11.994 s  (−9.48%)"/>
          <p:cNvSpPr txBox="1"/>
          <p:nvPr/>
        </p:nvSpPr>
        <p:spPr>
          <a:xfrm>
            <a:off x="1828800" y="17967960"/>
            <a:ext cx="1645920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13.250 → 11.994 s  (−9.48%)</a:t>
            </a:r>
          </a:p>
        </p:txBody>
      </p:sp>
      <p:sp>
        <p:nvSpPr>
          <p:cNvPr id="18" name="Historical 1 / 2 / 3 / 1 · single-GPU compute only"/>
          <p:cNvSpPr txBox="1"/>
          <p:nvPr/>
        </p:nvSpPr>
        <p:spPr>
          <a:xfrm>
            <a:off x="18653760" y="17190720"/>
            <a:ext cx="1609344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Historical 1 / 2 / 3 / 1 · single-GPU compute only</a:t>
            </a:r>
          </a:p>
        </p:txBody>
      </p:sp>
      <p:sp>
        <p:nvSpPr>
          <p:cNvPr id="19" name="12.323 → 12.040 ms  (−2.30%)"/>
          <p:cNvSpPr txBox="1"/>
          <p:nvPr/>
        </p:nvSpPr>
        <p:spPr>
          <a:xfrm>
            <a:off x="18653760" y="17967960"/>
            <a:ext cx="1609344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12.323 → 12.040 ms  (−2.30%)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19</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21</a:t>
            </a:fld>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