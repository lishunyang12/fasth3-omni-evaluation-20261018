
<file path=[Content_Types].xml><?xml version="1.0" encoding="utf-8"?>
<Types xmlns="http://schemas.openxmlformats.org/package/2006/content-types">
  <Default Extension="fntdata" ContentType="application/x-fontdata"/>
  <Default Extension="jpeg" ContentType="image/jpeg"/>
  <Default Extension="jpg" ContentType="image/jpeg"/>
  <Default Extension="mp4" ContentType="video/mp4"/>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docMetadata/LabelInfo.xml" ContentType="application/vnd.ms-office.classificationlabel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authors.xml" ContentType="application/vnd.ms-powerpoint.authors+xml"/>
  <Override PartName="/ppt/charts/chart4.xml" ContentType="application/vnd.openxmlformats-officedocument.drawingml.chart+xml"/>
  <Override PartName="/ppt/charts/colors4.xml" ContentType="application/vnd.ms-office.chartcolorstyle+xml"/>
  <Override PartName="/ppt/charts/style4.xml" ContentType="application/vnd.ms-office.chartstyle+xml"/>
  <Override PartName="/ppt/handoutMasters/handoutMaster1.xml" ContentType="application/vnd.openxmlformats-officedocument.presentationml.handoutMaster+xml"/>
  <Override PartName="/ppt/media/h3vector1.svg" ContentType="image/svg+xml"/>
  <Override PartName="/ppt/media/h3vector10.svg" ContentType="image/svg+xml"/>
  <Override PartName="/ppt/media/h3vector11.svg" ContentType="image/svg+xml"/>
  <Override PartName="/ppt/media/h3vector12.svg" ContentType="image/svg+xml"/>
  <Override PartName="/ppt/media/h3vector13.svg" ContentType="image/svg+xml"/>
  <Override PartName="/ppt/media/h3vector14.svg" ContentType="image/svg+xml"/>
  <Override PartName="/ppt/media/h3vector15.svg" ContentType="image/svg+xml"/>
  <Override PartName="/ppt/media/h3vector16.svg" ContentType="image/svg+xml"/>
  <Override PartName="/ppt/media/h3vector2.svg" ContentType="image/svg+xml"/>
  <Override PartName="/ppt/media/h3vector3.svg" ContentType="image/svg+xml"/>
  <Override PartName="/ppt/media/h3vector4.svg" ContentType="image/svg+xml"/>
  <Override PartName="/ppt/media/h3vector5.svg" ContentType="image/svg+xml"/>
  <Override PartName="/ppt/media/h3vector6.svg" ContentType="image/svg+xml"/>
  <Override PartName="/ppt/media/h3vector7.svg" ContentType="image/svg+xml"/>
  <Override PartName="/ppt/media/h3vector8.svg" ContentType="image/svg+xml"/>
  <Override PartName="/ppt/media/h3vector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 Id="rId6"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660" r:id="rId4"/>
  </p:sldMasterIdLst>
  <p:notesMasterIdLst>
    <p:notesMasterId r:id="rId63"/>
  </p:notesMasterIdLst>
  <p:handoutMasterIdLst>
    <p:handoutMasterId r:id="rId64"/>
  </p:handoutMasterIdLst>
  <p:sldIdLst>
    <p:sldId id="379" r:id="rId36"/>
    <p:sldId id="380" r:id="rId50"/>
    <p:sldId id="381" r:id="rId35"/>
    <p:sldId id="382" r:id="rId52"/>
    <p:sldId id="383" r:id="rId53"/>
    <p:sldId id="384" r:id="rId54"/>
    <p:sldId id="385" r:id="rId55"/>
    <p:sldId id="386" r:id="rId56"/>
    <p:sldId id="387" r:id="rId57"/>
    <p:sldId id="388" r:id="rId58"/>
    <p:sldId id="372" r:id="rId42"/>
    <p:sldId id="389" r:id="rId59"/>
    <p:sldId id="390" r:id="rId60"/>
    <p:sldId id="398" r:id="rId29"/>
    <p:sldId id="392" r:id="rId62"/>
    <p:sldId id="393" r:id="rId34"/>
    <p:sldId id="394" r:id="rId33"/>
    <p:sldId id="391" r:id="rId61"/>
    <p:sldId id="340" r:id="rId82"/>
    <p:sldId id="343" r:id="rId85"/>
    <p:sldId id="344" r:id="rId86"/>
    <p:sldId id="374" r:id="rId40"/>
    <p:sldId id="345" r:id="rId87"/>
    <p:sldId id="347" r:id="rId89"/>
    <p:sldId id="348" r:id="rId90"/>
    <p:sldId id="364" r:id="rId48"/>
    <p:sldId id="363" r:id="rId47"/>
    <p:sldId id="353" r:id="rId95"/>
    <p:sldId id="354" r:id="rId96"/>
    <p:sldId id="355" r:id="rId97"/>
    <p:sldId id="361" r:id="rId45"/>
    <p:sldId id="368" r:id="rId51"/>
    <p:sldId id="369" r:id="rId49"/>
    <p:sldId id="375" r:id="rId39"/>
    <p:sldId id="376" r:id="rId46"/>
    <p:sldId id="377" r:id="rId38"/>
    <p:sldId id="378" r:id="rId37"/>
    <p:sldId id="357" r:id="rId99"/>
    <p:sldId id="370" r:id="rId44"/>
    <p:sldId id="371" r:id="rId43"/>
    <p:sldId id="373" r:id="rId41"/>
    <p:sldId id="360" r:id="rId102"/>
    <p:sldId id="395" r:id="rId32"/>
    <p:sldId id="396" r:id="rId31"/>
    <p:sldId id="397" r:id="rId30"/>
  </p:sldIdLst>
  <p:sldSz cx="36576000" cy="20574000"/>
  <p:notesSz cx="6858000" cy="9144000"/>
  <p:embeddedFontLst>
    <p:embeddedFont>
      <p:font typeface="NVIDIA Sans" panose="020B0503020203020204" pitchFamily="34" charset="0"/>
      <p:regular r:id="rId65"/>
      <p:bold r:id="rId66"/>
      <p:italic r:id="rId67"/>
      <p:boldItalic r:id="rId68"/>
    </p:embeddedFont>
    <p:embeddedFont>
      <p:font typeface="NVIDIA Sans Medium" panose="020B0503020203020204" pitchFamily="34" charset="0"/>
      <p:regular r:id="rId69"/>
      <p:italic r:id="rId70"/>
    </p:embeddedFont>
    <p:embeddedFont>
      <p:font typeface="Roboto Mono" pitchFamily="49" charset="0"/>
      <p:regular r:id="rId71"/>
      <p:bold r:id="rId72"/>
      <p:italic r:id="rId73"/>
      <p:boldItalic r:id="rId74"/>
    </p:embeddedFont>
    <p:embeddedFont>
      <p:font typeface="Roboto Mono Medium" panose="00000009000000000000" pitchFamily="49" charset="0"/>
      <p:regular r:id="rId75"/>
      <p:italic r:id="rId7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1DDFCC83-3E81-21FA-A956-02F202B4A25D}" name="Ashley Piersons" initials="AP" userId="S::apiersons@nvidia.com::ed6063d9-7721-4b59-a04e-d5ea60483c44" providerId="AD"/>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080808"/>
    <a:srgbClr val="FFFFFF"/>
    <a:srgbClr val="68A300"/>
    <a:srgbClr val="A4CC8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68D230F3-CF80-4859-8CE7-A43EE81993B5}">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8D230F3-CF80-4859-8CE7-A43EE81993B5}" styleName="Light Style 1 - Accent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0000" autoAdjust="0"/>
    <p:restoredTop sz="92671" autoAdjust="0"/>
  </p:normalViewPr>
  <p:slideViewPr>
    <p:cSldViewPr snapToGrid="0" showGuides="1">
      <p:cViewPr varScale="1">
        <p:scale>
          <a:sx n="39" d="100"/>
          <a:sy n="39" d="100"/>
        </p:scale>
        <p:origin x="624" y="184"/>
      </p:cViewPr>
      <p:guideLst>
        <p:guide/>
        <p:guide pos="23040"/>
        <p:guide pos="576"/>
        <p:guide pos="22464"/>
        <p:guide orient="horz"/>
        <p:guide orient="horz" pos="12960"/>
        <p:guide orient="horz" pos="576"/>
        <p:guide orient="horz" pos="12384"/>
      </p:guideLst>
    </p:cSldViewPr>
  </p:slideViewPr>
  <p:notesTextViewPr>
    <p:cViewPr>
      <p:scale>
        <a:sx n="1" d="1"/>
        <a:sy n="1" d="1"/>
      </p:scale>
      <p:origin x="0" y="0"/>
    </p:cViewPr>
  </p:notesTextViewPr>
  <p:sorterViewPr>
    <p:cViewPr>
      <p:scale>
        <a:sx n="20" d="100"/>
        <a:sy n="20" d="100"/>
      </p:scale>
      <p:origin x="0" y="-8328"/>
    </p:cViewPr>
  </p:sorterViewPr>
  <p:notesViewPr>
    <p:cSldViewPr snapToGrid="0" showGuides="1">
      <p:cViewPr varScale="1">
        <p:scale>
          <a:sx n="114" d="100"/>
          <a:sy n="114" d="100"/>
        </p:scale>
        <p:origin x="2508" y="9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customXml" Target="../customXml/item1.xml"/><Relationship Id="rId2" Type="http://schemas.openxmlformats.org/officeDocument/2006/relationships/customXml" Target="../customXml/item2.xml"/><Relationship Id="rId3" Type="http://schemas.openxmlformats.org/officeDocument/2006/relationships/customXml" Target="../customXml/item3.xml"/><Relationship Id="rId4" Type="http://schemas.openxmlformats.org/officeDocument/2006/relationships/slideMaster" Target="slideMasters/slideMaster1.xml"/><Relationship Id="rId29" Type="http://schemas.openxmlformats.org/officeDocument/2006/relationships/slide" Target="slides/slide14.xml"/><Relationship Id="rId30" Type="http://schemas.openxmlformats.org/officeDocument/2006/relationships/slide" Target="slides/slide45.xml"/><Relationship Id="rId31" Type="http://schemas.openxmlformats.org/officeDocument/2006/relationships/slide" Target="slides/slide44.xml"/><Relationship Id="rId32" Type="http://schemas.openxmlformats.org/officeDocument/2006/relationships/slide" Target="slides/slide43.xml"/><Relationship Id="rId33" Type="http://schemas.openxmlformats.org/officeDocument/2006/relationships/slide" Target="slides/slide17.xml"/><Relationship Id="rId34" Type="http://schemas.openxmlformats.org/officeDocument/2006/relationships/slide" Target="slides/slide16.xml"/><Relationship Id="rId35" Type="http://schemas.openxmlformats.org/officeDocument/2006/relationships/slide" Target="slides/slide3.xml"/><Relationship Id="rId36" Type="http://schemas.openxmlformats.org/officeDocument/2006/relationships/slide" Target="slides/slide1.xml"/><Relationship Id="rId37" Type="http://schemas.openxmlformats.org/officeDocument/2006/relationships/slide" Target="slides/slide37.xml"/><Relationship Id="rId38" Type="http://schemas.openxmlformats.org/officeDocument/2006/relationships/slide" Target="slides/slide36.xml"/><Relationship Id="rId39" Type="http://schemas.openxmlformats.org/officeDocument/2006/relationships/slide" Target="slides/slide34.xml"/><Relationship Id="rId40" Type="http://schemas.openxmlformats.org/officeDocument/2006/relationships/slide" Target="slides/slide22.xml"/><Relationship Id="rId41" Type="http://schemas.openxmlformats.org/officeDocument/2006/relationships/slide" Target="slides/slide41.xml"/><Relationship Id="rId42" Type="http://schemas.openxmlformats.org/officeDocument/2006/relationships/slide" Target="slides/slide11.xml"/><Relationship Id="rId43" Type="http://schemas.openxmlformats.org/officeDocument/2006/relationships/slide" Target="slides/slide40.xml"/><Relationship Id="rId44" Type="http://schemas.openxmlformats.org/officeDocument/2006/relationships/slide" Target="slides/slide39.xml"/><Relationship Id="rId45" Type="http://schemas.openxmlformats.org/officeDocument/2006/relationships/slide" Target="slides/slide31.xml"/><Relationship Id="rId46" Type="http://schemas.openxmlformats.org/officeDocument/2006/relationships/slide" Target="slides/slide35.xml"/><Relationship Id="rId47" Type="http://schemas.openxmlformats.org/officeDocument/2006/relationships/slide" Target="slides/slide27.xml"/><Relationship Id="rId48" Type="http://schemas.openxmlformats.org/officeDocument/2006/relationships/slide" Target="slides/slide26.xml"/><Relationship Id="rId49" Type="http://schemas.openxmlformats.org/officeDocument/2006/relationships/slide" Target="slides/slide33.xml"/><Relationship Id="rId50" Type="http://schemas.openxmlformats.org/officeDocument/2006/relationships/slide" Target="slides/slide2.xml"/><Relationship Id="rId51" Type="http://schemas.openxmlformats.org/officeDocument/2006/relationships/slide" Target="slides/slide32.xml"/><Relationship Id="rId52" Type="http://schemas.openxmlformats.org/officeDocument/2006/relationships/slide" Target="slides/slide4.xml"/><Relationship Id="rId53" Type="http://schemas.openxmlformats.org/officeDocument/2006/relationships/slide" Target="slides/slide5.xml"/><Relationship Id="rId54" Type="http://schemas.openxmlformats.org/officeDocument/2006/relationships/slide" Target="slides/slide6.xml"/><Relationship Id="rId55" Type="http://schemas.openxmlformats.org/officeDocument/2006/relationships/slide" Target="slides/slide7.xml"/><Relationship Id="rId56" Type="http://schemas.openxmlformats.org/officeDocument/2006/relationships/slide" Target="slides/slide8.xml"/><Relationship Id="rId57" Type="http://schemas.openxmlformats.org/officeDocument/2006/relationships/slide" Target="slides/slide9.xml"/><Relationship Id="rId58" Type="http://schemas.openxmlformats.org/officeDocument/2006/relationships/slide" Target="slides/slide10.xml"/><Relationship Id="rId59" Type="http://schemas.openxmlformats.org/officeDocument/2006/relationships/slide" Target="slides/slide12.xml"/><Relationship Id="rId60" Type="http://schemas.openxmlformats.org/officeDocument/2006/relationships/slide" Target="slides/slide13.xml"/><Relationship Id="rId61" Type="http://schemas.openxmlformats.org/officeDocument/2006/relationships/slide" Target="slides/slide18.xml"/><Relationship Id="rId62" Type="http://schemas.openxmlformats.org/officeDocument/2006/relationships/slide" Target="slides/slide15.xml"/><Relationship Id="rId63" Type="http://schemas.openxmlformats.org/officeDocument/2006/relationships/notesMaster" Target="notesMasters/notesMaster1.xml"/><Relationship Id="rId64" Type="http://schemas.openxmlformats.org/officeDocument/2006/relationships/handoutMaster" Target="handoutMasters/handoutMaster1.xml"/><Relationship Id="rId65" Type="http://schemas.openxmlformats.org/officeDocument/2006/relationships/font" Target="fonts/font1.fntdata"/><Relationship Id="rId66" Type="http://schemas.openxmlformats.org/officeDocument/2006/relationships/font" Target="fonts/font2.fntdata"/><Relationship Id="rId67" Type="http://schemas.openxmlformats.org/officeDocument/2006/relationships/font" Target="fonts/font3.fntdata"/><Relationship Id="rId68" Type="http://schemas.openxmlformats.org/officeDocument/2006/relationships/font" Target="fonts/font4.fntdata"/><Relationship Id="rId69" Type="http://schemas.openxmlformats.org/officeDocument/2006/relationships/font" Target="fonts/font5.fntdata"/><Relationship Id="rId70" Type="http://schemas.openxmlformats.org/officeDocument/2006/relationships/font" Target="fonts/font6.fntdata"/><Relationship Id="rId71" Type="http://schemas.openxmlformats.org/officeDocument/2006/relationships/font" Target="fonts/font7.fntdata"/><Relationship Id="rId72" Type="http://schemas.openxmlformats.org/officeDocument/2006/relationships/font" Target="fonts/font8.fntdata"/><Relationship Id="rId73" Type="http://schemas.openxmlformats.org/officeDocument/2006/relationships/font" Target="fonts/font9.fntdata"/><Relationship Id="rId74" Type="http://schemas.openxmlformats.org/officeDocument/2006/relationships/font" Target="fonts/font10.fntdata"/><Relationship Id="rId75" Type="http://schemas.openxmlformats.org/officeDocument/2006/relationships/font" Target="fonts/font11.fntdata"/><Relationship Id="rId76" Type="http://schemas.openxmlformats.org/officeDocument/2006/relationships/font" Target="fonts/font12.fntdata"/><Relationship Id="rId77" Type="http://schemas.openxmlformats.org/officeDocument/2006/relationships/presProps" Target="presProps.xml"/><Relationship Id="rId78" Type="http://schemas.openxmlformats.org/officeDocument/2006/relationships/viewProps" Target="viewProps.xml"/><Relationship Id="rId79" Type="http://schemas.openxmlformats.org/officeDocument/2006/relationships/theme" Target="theme/theme1.xml"/><Relationship Id="rId80" Type="http://schemas.openxmlformats.org/officeDocument/2006/relationships/tableStyles" Target="tableStyles.xml"/><Relationship Id="rId81" Type="http://schemas.microsoft.com/office/2018/10/relationships/authors" Target="authors.xml"/><Relationship Id="rId82" Type="http://schemas.openxmlformats.org/officeDocument/2006/relationships/slide" Target="slides/slide19.xml"/><Relationship Id="rId85" Type="http://schemas.openxmlformats.org/officeDocument/2006/relationships/slide" Target="slides/slide20.xml"/><Relationship Id="rId86" Type="http://schemas.openxmlformats.org/officeDocument/2006/relationships/slide" Target="slides/slide21.xml"/><Relationship Id="rId87" Type="http://schemas.openxmlformats.org/officeDocument/2006/relationships/slide" Target="slides/slide23.xml"/><Relationship Id="rId89" Type="http://schemas.openxmlformats.org/officeDocument/2006/relationships/slide" Target="slides/slide24.xml"/><Relationship Id="rId90" Type="http://schemas.openxmlformats.org/officeDocument/2006/relationships/slide" Target="slides/slide25.xml"/><Relationship Id="rId95" Type="http://schemas.openxmlformats.org/officeDocument/2006/relationships/slide" Target="slides/slide28.xml"/><Relationship Id="rId96" Type="http://schemas.openxmlformats.org/officeDocument/2006/relationships/slide" Target="slides/slide29.xml"/><Relationship Id="rId97" Type="http://schemas.openxmlformats.org/officeDocument/2006/relationships/slide" Target="slides/slide30.xml"/><Relationship Id="rId99" Type="http://schemas.openxmlformats.org/officeDocument/2006/relationships/slide" Target="slides/slide38.xml"/><Relationship Id="rId102" Type="http://schemas.openxmlformats.org/officeDocument/2006/relationships/slide" Target="slides/slide42.xml"/></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___3.xlsx"/></Relationships>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15"/>
          <c:y val="0.055"/>
          <c:w val="0.750"/>
          <c:h val="0.835"/>
        </c:manualLayout>
      </c:layout>
      <c:barChart>
        <c:barDir val="bar"/>
        <c:grouping val="clustered"/>
        <c:varyColors val="0"/>
        <c:ser>
          <c:idx val="0"/>
          <c:order val="0"/>
          <c:tx>
            <c:strRef>
              <c:f>Sheet1!$B$1</c:f>
              <c:strCache>
                <c:ptCount val="1"/>
                <c:pt idx="0">
                  <c:v>Full parameters (B)</c:v>
                </c:pt>
              </c:strCache>
            </c:strRef>
          </c:tx>
          <c:spPr>
            <a:solidFill>
              <a:srgbClr val="A7A7A7"/>
            </a:solidFill>
            <a:ln>
              <a:noFill/>
            </a:ln>
            <a:effectLst/>
          </c:spPr>
          <c:invertIfNegative val="0"/>
          <c:dPt>
            <c:idx val="0"/>
            <c:invertIfNegative val="0"/>
            <c:bubble3D val="0"/>
            <c:spPr>
              <a:solidFill>
                <a:schemeClr val="accent1"/>
              </a:solidFill>
              <a:ln>
                <a:noFill/>
              </a:ln>
              <a:effectLst/>
            </c:spPr>
            <c:extLst>
              <c:ext xmlns:c16="http://schemas.microsoft.com/office/drawing/2014/chart" uri="{C3380CC4-5D6E-409C-BE32-E72D297353CC}">
                <c16:uniqueId val="{00000001-9282-4C7D-93A0-078375DDFF91}"/>
              </c:ext>
            </c:extLst>
          </c:dPt>
          <c:dPt>
            <c:idx val="1"/>
            <c:invertIfNegative val="0"/>
            <c:bubble3D val="0"/>
            <c:spPr>
              <a:solidFill>
                <a:srgbClr val="A7A7A7"/>
              </a:solidFill>
              <a:ln>
                <a:noFill/>
              </a:ln>
              <a:effectLst/>
            </c:spPr>
            <c:extLst>
              <c:ext xmlns:c16="http://schemas.microsoft.com/office/drawing/2014/chart" uri="{C3380CC4-5D6E-409C-BE32-E72D297353CC}">
                <c16:uniqueId val="{00000003-9282-4C7D-93A0-078375DDFF91}"/>
              </c:ext>
            </c:extLst>
          </c:dPt>
          <c:dPt>
            <c:idx val="2"/>
            <c:invertIfNegative val="0"/>
            <c:bubble3D val="0"/>
            <c:spPr>
              <a:solidFill>
                <a:srgbClr val="A7A7A7"/>
              </a:solidFill>
              <a:ln>
                <a:noFill/>
              </a:ln>
              <a:effectLst/>
            </c:spPr>
            <c:extLst>
              <c:ext xmlns:c16="http://schemas.microsoft.com/office/drawing/2014/chart" uri="{C3380CC4-5D6E-409C-BE32-E72D297353CC}">
                <c16:uniqueId val="{00000005-9282-4C7D-93A0-078375DDFF91}"/>
              </c:ext>
            </c:extLst>
          </c:dPt>
          <c:dPt>
            <c:idx val="3"/>
            <c:spPr>
              <a:solidFill>
                <a:srgbClr val="A7A7A7"/>
              </a:solidFill>
              <a:ln>
                <a:noFill/>
              </a:ln>
            </c:spPr>
          </c:dPt>
          <c:dLbls>
            <c:delete val="1"/>
          </c:dLbls>
          <c:cat>
            <c:strRef>
              <c:f>Sheet1!$A$2:$A$5</c:f>
              <c:strCache>
                <c:ptCount val="4"/>
                <c:pt idx="0">
                  <c:v>MiniMax H3</c:v>
                </c:pt>
                <c:pt idx="1">
                  <c:v>Wan2.2 A14B</c:v>
                </c:pt>
                <c:pt idx="2">
                  <c:v>LTX-2.5</c:v>
                </c:pt>
                <c:pt idx="3">
                  <c:v>HunyuanVideo-1.5</c:v>
                </c:pt>
              </c:strCache>
            </c:strRef>
          </c:cat>
          <c:val>
            <c:numRef>
              <c:f>Sheet1!$B$2:$B$5</c:f>
              <c:numCache>
                <c:formatCode>General</c:formatCode>
                <c:ptCount val="4"/>
                <c:pt idx="0">
                  <c:v>33</c:v>
                </c:pt>
                <c:pt idx="1">
                  <c:v>27</c:v>
                </c:pt>
                <c:pt idx="2">
                  <c:v>22</c:v>
                </c:pt>
                <c:pt idx="3">
                  <c:v>8.3</c:v>
                </c:pt>
              </c:numCache>
            </c:numRef>
          </c:val>
          <c:extLst>
            <c:ext xmlns:c16="http://schemas.microsoft.com/office/drawing/2014/chart" uri="{C3380CC4-5D6E-409C-BE32-E72D297353CC}">
              <c16:uniqueId val="{0000000A-9282-4C7D-93A0-078375DDFF91}"/>
            </c:ext>
          </c:extLst>
        </c:ser>
        <c:dLbls>
          <c:dLblPos val="outEnd"/>
          <c:showLegendKey val="0"/>
          <c:showVal val="1"/>
          <c:showCatName val="0"/>
          <c:showSerName val="0"/>
          <c:showPercent val="0"/>
          <c:showBubbleSize val="0"/>
        </c:dLbls>
        <c:gapWidth val="450"/>
        <c:overlap val="-50"/>
        <c:axId val="488380944"/>
        <c:axId val="488380464"/>
      </c:barChart>
      <c:catAx>
        <c:axId val="488380944"/>
        <c:scaling>
          <c:orientation val="maxMin"/>
        </c:scaling>
        <c:delete val="0"/>
        <c:axPos val="l"/>
        <c:numFmt formatCode="General" sourceLinked="1"/>
        <c:majorTickMark val="none"/>
        <c:minorTickMark val="none"/>
        <c:tickLblPos val="nextTo"/>
        <c:spPr>
          <a:noFill/>
          <a:ln w="38100" cap="flat" cmpd="sng" algn="ctr">
            <a:solidFill>
              <a:srgbClr val="A7A7A7"/>
            </a:solidFill>
            <a:round/>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464"/>
        <c:crosses val="autoZero"/>
        <c:auto val="1"/>
        <c:lblAlgn val="ctr"/>
        <c:lblOffset val="100"/>
        <c:noMultiLvlLbl val="0"/>
      </c:catAx>
      <c:valAx>
        <c:axId val="488380464"/>
        <c:scaling>
          <c:orientation val="minMax"/>
          <c:max val="40.0"/>
          <c:min val="0.0"/>
        </c:scaling>
        <c:delete val="0"/>
        <c:axPos val="b"/>
        <c:majorGridlines>
          <c:spPr>
            <a:ln w="12700" cap="flat" cmpd="sng" algn="ctr">
              <a:solidFill>
                <a:srgbClr val="A7A7A7">
                  <a:alpha val="50000"/>
                </a:srgbClr>
              </a:solidFill>
              <a:round/>
            </a:ln>
            <a:effectLst/>
          </c:spPr>
        </c:majorGridlines>
        <c:numFmt formatCode="General" sourceLinked="1"/>
        <c:majorTickMark val="none"/>
        <c:minorTickMark val="none"/>
        <c:tickLblPos val="nextTo"/>
        <c:spPr>
          <a:noFill/>
          <a:ln>
            <a:noFill/>
          </a:ln>
          <a:effectLst/>
        </c:spPr>
        <c:txPr>
          <a:bodyPr rot="0" spcFirstLastPara="1" vertOverflow="ellipsis" vert="horz" wrap="square" anchor="ctr" anchorCtr="1"/>
          <a:lstStyle/>
          <a:p>
            <a:pPr>
              <a:defRPr sz="3200" b="0" i="0" u="none" strike="noStrike" kern="1200" baseline="0">
                <a:solidFill>
                  <a:schemeClr val="tx1"/>
                </a:solidFill>
                <a:latin typeface="+mn-lt"/>
                <a:ea typeface="+mn-ea"/>
                <a:cs typeface="+mn-cs"/>
              </a:defRPr>
            </a:pPr>
            <a:endParaRPr lang="en-US"/>
          </a:p>
        </c:txPr>
        <c:crossAx val="488380944"/>
        <c:crosses val="autoZero"/>
        <c:crossBetween val="between"/>
        <c:majorUnit val="10.0"/>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3200"/>
      </a:pPr>
      <a:endParaRPr lang="en-US"/>
    </a:p>
  </c:txPr>
  <c:externalData r:id="rId3">
    <c:autoUpdate val="0"/>
  </c:externalData>
</c:chartSpac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 Id="rId2" Type="http://schemas.openxmlformats.org/officeDocument/2006/relationships/image" Target="../media/image7.png"/></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26D52E6-A280-0EB1-7695-16D5111302B3}"/>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900903243"/>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2880" userDrawn="1">
          <p15:clr>
            <a:srgbClr val="F26B43"/>
          </p15:clr>
        </p15:guide>
        <p15:guide id="2" pos="2160"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7.png"/></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0"/>
            <a:r>
              <a:rPr lang="en-US" dirty="0"/>
              <a:t>	Second level</a:t>
            </a:r>
          </a:p>
          <a:p>
            <a:pPr lvl="0"/>
            <a:r>
              <a:rPr lang="en-US" dirty="0"/>
              <a:t>		Third level</a:t>
            </a:r>
          </a:p>
          <a:p>
            <a:pPr lvl="0"/>
            <a:r>
              <a:rPr lang="en-US" dirty="0"/>
              <a:t>			Fourth level</a:t>
            </a:r>
          </a:p>
          <a:p>
            <a:pPr lvl="0"/>
            <a:r>
              <a:rPr lang="en-US" dirty="0"/>
              <a:t>				Fifth level</a:t>
            </a:r>
          </a:p>
        </p:txBody>
      </p:sp>
      <p:pic>
        <p:nvPicPr>
          <p:cNvPr id="7" name="Picture 6">
            <a:extLst>
              <a:ext uri="{FF2B5EF4-FFF2-40B4-BE49-F238E27FC236}">
                <a16:creationId xmlns:a16="http://schemas.microsoft.com/office/drawing/2014/main" id="{8628458B-708F-5BA6-F1E0-71698020D55C}"/>
              </a:ext>
            </a:extLst>
          </p:cNvPr>
          <p:cNvPicPr>
            <a:picLocks noChangeAspect="1"/>
          </p:cNvPicPr>
          <p:nvPr/>
        </p:nvPicPr>
        <p:blipFill>
          <a:blip r:embed="rId2"/>
          <a:srcRect/>
          <a:stretch/>
        </p:blipFill>
        <p:spPr>
          <a:xfrm>
            <a:off x="102174" y="8697011"/>
            <a:ext cx="1019352" cy="359605"/>
          </a:xfrm>
          <a:prstGeom prst="rect">
            <a:avLst/>
          </a:prstGeom>
        </p:spPr>
      </p:pic>
    </p:spTree>
    <p:extLst>
      <p:ext uri="{BB962C8B-B14F-4D97-AF65-F5344CB8AC3E}">
        <p14:creationId xmlns:p14="http://schemas.microsoft.com/office/powerpoint/2010/main" val="784714751"/>
      </p:ext>
    </p:extLst>
  </p:cSld>
  <p:clrMap bg1="lt1" tx1="dk1" bg2="lt2" tx2="dk2" accent1="accent1" accent2="accent2" accent3="accent3" accent4="accent4" accent5="accent5" accent6="accent6" hlink="hlink" folHlink="folHlink"/>
  <p:notesStyle>
    <a:lvl1pPr marL="0" indent="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1pPr>
    <a:lvl2pPr marL="13716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2pPr>
    <a:lvl3pPr marL="27432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3pPr>
    <a:lvl4pPr marL="41148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4pPr>
    <a:lvl5pPr marL="5486400" indent="-457200" algn="l" defTabSz="182880" rtl="0" eaLnBrk="1" latinLnBrk="0" hangingPunct="1">
      <a:defRPr sz="1200" kern="1200">
        <a:solidFill>
          <a:schemeClr val="tx1"/>
        </a:solidFill>
        <a:latin typeface="NVIDIA Sans" panose="020B0503020203020204" pitchFamily="34" charset="0"/>
        <a:ea typeface="+mn-ea"/>
        <a:cs typeface="NVIDIA Sans" panose="020B0503020203020204" pitchFamily="34" charset="0"/>
      </a:defRPr>
    </a:lvl5pPr>
    <a:lvl6pPr marL="6858000" algn="l" defTabSz="2743200" rtl="0" eaLnBrk="1" latinLnBrk="0" hangingPunct="1">
      <a:defRPr sz="3600" kern="1200">
        <a:solidFill>
          <a:schemeClr val="tx1"/>
        </a:solidFill>
        <a:latin typeface="+mn-lt"/>
        <a:ea typeface="+mn-ea"/>
        <a:cs typeface="+mn-cs"/>
      </a:defRPr>
    </a:lvl6pPr>
    <a:lvl7pPr marL="8229600" algn="l" defTabSz="2743200" rtl="0" eaLnBrk="1" latinLnBrk="0" hangingPunct="1">
      <a:defRPr sz="3600" kern="1200">
        <a:solidFill>
          <a:schemeClr val="tx1"/>
        </a:solidFill>
        <a:latin typeface="+mn-lt"/>
        <a:ea typeface="+mn-ea"/>
        <a:cs typeface="+mn-cs"/>
      </a:defRPr>
    </a:lvl7pPr>
    <a:lvl8pPr marL="9601200" algn="l" defTabSz="2743200" rtl="0" eaLnBrk="1" latinLnBrk="0" hangingPunct="1">
      <a:defRPr sz="3600" kern="1200">
        <a:solidFill>
          <a:schemeClr val="tx1"/>
        </a:solidFill>
        <a:latin typeface="+mn-lt"/>
        <a:ea typeface="+mn-ea"/>
        <a:cs typeface="+mn-cs"/>
      </a:defRPr>
    </a:lvl8pPr>
    <a:lvl9pPr marL="10972800" algn="l" defTabSz="2743200" rtl="0" eaLnBrk="1" latinLnBrk="0" hangingPunct="1">
      <a:defRPr sz="3600" kern="1200">
        <a:solidFill>
          <a:schemeClr val="tx1"/>
        </a:solidFill>
        <a:latin typeface="+mn-lt"/>
        <a:ea typeface="+mn-ea"/>
        <a:cs typeface="+mn-cs"/>
      </a:defRPr>
    </a:lvl9pPr>
  </p:notesStyle>
  <p:extLst>
    <p:ext uri="{620B2872-D7B9-4A21-9093-7833F8D536E1}">
      <p15:sldGuideLst xmlns:p15="http://schemas.microsoft.com/office/powerpoint/2012/main">
        <p15:guide id="1" orient="horz" pos="2880" userDrawn="1">
          <p15:clr>
            <a:srgbClr val="F26B43"/>
          </p15:clr>
        </p15:guide>
        <p15:guide id="2" pos="2160" userDrawn="1">
          <p15:clr>
            <a:srgbClr val="F26B43"/>
          </p15:clr>
        </p15:guide>
      </p15:sldGuideLst>
    </p:ext>
  </p:extLst>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a:p>
            <a:r>
              <a:t>Condensed baseline: measured E2E median 213.40215269569308 s from two unprofiled requests. Nsight operator shares come from a separate 214.968 s profiled request. Other combines norm/activation, layout, memcpy/memset, convolution and other kernels. Kernel durations include overlap and synchronization; NCCL is not pure network transfer time. Full configuration and eight operator categories remain on hidden slide 18 and baseline-breakdown.html. Native VAE FP16 decode; exact precomputed AdaLN is already part of the engineering baseline.</a:t>
            </a: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Compute-rich, bandwidth-modest is a qualitative platform insight, not a measured roofline or a universal bandwidth-bound claim. It refers here to inter-GPU communication relative to Blackwell tensor compute. GPUs have no NVLink; GPU transfers use PCIe and selected NIC routes. Per-GPU Gen5 x16 raw nominal is 64 GB/s one way, 63.015 after line encoding, before packets. A shared host uplink can serve two GPUs. Do not multiply that shared capacity by the GPU count. Specifications: 110 SMs, 72 GB GDDR7 ECC, 300 W max board power, FP4 Tensor Cores. NVIDIA official page checked 2026-10-31: https://www.nvidia.com/en-us/products/workstations/professional-desktop-gpus/rtx-pro-5000/ . Published capacities are not measured payload rates or sustained compute. Current standalone H3 reference has eight GPUs; no new hardware measurements.</a:t>
            </a: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diagram describes the public OmniRef QAD training recipe, not training performed by this project. PR #1989 was open at inspection. The frozen teacher is the same eight-forward OmniRef checkpoint without student quantization. Student trainable master weights must be FP32: the code rejects BF16 masters because small updates would round away. The NVFP4 linear forward casts current master weights to BF16, quantizes weights and activations, and executes FlashInfer mm_fp4. The backward uses straight-through dense linear gradients. FP4 fine attention is modeled by a differentiable emulator. Teacher and loss computation are removed for inference. Few-step distillation and QAD address separate costs: fewer model evaluations versus quantized numerical error. https://github.com/hao-ai-lab/FastVideo/blob/ea3275dfd1ce48cbb01f9fc7f28e918e857a0536/fastvideo/train/models/minimax_h3/omniref_pdd.py</a:t>
            </a:r>
          </a:p>
          <a:p>
            <a:r>
              <a:t>https://github.com/hao-ai-lab/FastVideo/blob/ea3275dfd1ce48cbb01f9fc7f28e918e857a0536/fastvideo/layers/quantization/nvfp4_qad.py</a:t>
            </a:r>
          </a:p>
          <a:p>
            <a:r>
              <a:t>Precision map merged from the former standalone What Runs in Four Bits slide. Only attention and FFN projection parameters train; the VSA gates remain frozen while executing NVFP4. The public QAD recipe calibrates selected FFN activation global scales; this differs from the direct Online NVFP4 comparison, which has no calibration table. Designated boundary modules remain FP32.</a:t>
            </a: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variants share scene, prompt, seed 1234, 1344x768, 124 frames at 24 fps, eight evaluations, and vLLM-Omni. Quantized arms include NVFP4 linears in the DiT, language encoder and video decoder. The vision tower and audio VAE retain higher precision. Online independently quantizes BF16 weights and uses current-input activation scales. QAD preserves checkpoint weights and linear activation scales.</a:t>
            </a:r>
          </a:p>
          <a:p>
            <a:r>
              <a:t>The fourth column replaces the previous alternative-attention result with optimized native FP4. It uses the same QAD encoder and decoder. Prefix attention precision differs from the protected-prefix QAD baseline; this is an experimental variant, not a claim of exact equivalence to baseline QAD.</a:t>
            </a:r>
          </a:p>
          <a:p>
            <a:r>
              <a:t>LPIPS AlexNet v0.1 and RGB Gaussian SSIM average all 124 decoded frames at original resolution, matched by frame index. The optimized MP4 is SHA-256 identical to the previously scored unified-prefix clip, with the same BF16 reference. Framewise similarity is affected by divergent motion; one scene and seed cannot establish general quality or temporal consistency. Audio is not evaluated.</a:t>
            </a:r>
          </a:p>
          <a:p>
            <a:r>
              <a:t>Request times are single requests with layerwise CPU offload, generation and MP4 encoding, excluding model loading. BF16 is retained from GPU 0, Online and baseline QAD from GPU 3, and optimized QAD ran on GPU 1 of the same machine. First-use work varies; these timings do not establish controlled production speedups.</a:t>
            </a:r>
          </a:p>
          <a:p>
            <a:r>
              <a:t>Four videos are embedded, muted and start together. PDF shows frame 60. Photo: James Lo / Unsplash, https://unsplash.com/photos/crowded-street-market-at-night-with-lanterns-prZR_BQiZzU.</a:t>
            </a:r>
          </a:p>
          <a:p/>
          <a:p>
            <a:r>
              <a:t>Presentation emphasis: Display only the method names and BF16-relative ratios rounded to one decimal. Exact source timings: BF16 152.576882 s; Online NVFP4 89.120574 s; QAD 84.467848 s; QAD + Native FP4 69.949291 s. These descriptive cross-run ratios are not controlled production speedups. Inspect quality on the representative workload before adopting a precision change. Source: v1.38/measurements.json. No new measurements.</a:t>
            </a:r>
          </a:p>
        </p:txBody>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p:txBody>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source checkout is clean and its HEAD equals the Base50 r4 launch.json head. Original source path: vllm_omni/diffusion/distributed/comm.py, lines 16-117. The slide shows the Q/K/V branch expressions from lines 44,46,51,57,60; line wrapping is adjusted and guards are omitted. This is an excerpt, not a standalone executable function. Copyright (c) Microsoft Corporation and Jiarui Fang, Apache-2.0. Q/K/V call sites: diffusion/attention/parallel/ulysses.py:538-544; optional VSA gate at 545-548 adds an exchange when present. The dense Base50 case uses four Q/K/V/O exchanges, not the gate-bearing QAD five-slot case. O reverse is ulysses.py:721. SeqAllToAll4D.forward delegates at comm.py:117. The inverse branch is comm.py:64-99. Factory picks Ulysses at factory.py:80-88. Attention defaults are scatter_idx=2,gather_idx=1,use_sync=False at layer.py:68-70. With --no-ulysses-a2a-permute, Base50 chooses this ordinary NCCL path. The baseline source contains no FlashInfer Ulysses adapter; the backend environment label alone is not the code-path proof. The group is created through torch.distributed.new_group, inheriting NCCL. all_to_all_single is a PyTorch API, not a specification of PCIe/RDMA. NCCL transport selection occurs below this code. For contiguous B1 inputs, QKV input packing copies, while its final singleton-dimension transpose is already contiguous. For tested H/P=7, O input packing and output reorder both copy. Eager Q/K/V/O therefore has five materializing relayouts; this does not measure their latency and full-model compilation may change the physical execution. NCCL 2.29.7 default P2P cutoff PATH_PXB is in src/graph/paths.cc:298; AMD &lt;=2 GPUs is a separate exception at line304. Intra-host NET preference is controlled by NCCL_NET_DISABLE_INTRA at paths.cc:493-498. SHM/direct/direct at shm.cc:119 denotes mapped host buffers without the optional CE staging mode, not direct GPU-to-GPU P2P. Sources: https://github.com/NVIDIA/nccl/blob/v2.29.7-1/src/graph/paths.cc#L298 https://github.com/NVIDIA/nccl/blob/v2.29.7-1/src/transport/shm.cc#L119</a:t>
            </a:r>
          </a:p>
          <a:p>
            <a:r>
              <a:t>v1.29 shows the original QKV branch and original query / output call sites directly on one coding-layout slide. Only line wrapping, outer parentheses and omitted guards differ from the source. Source snapshot: h3-nccl-rdma-20261026/source/{comm.py,ulysses.py}. The application code delegates to PyTorch/NCCL; it is not NCCL library internals. Bottom notes use separate boxes with explicit room for wrapped lines.</a:t>
            </a:r>
          </a:p>
        </p:txBody>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p:txBody>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p:txBody>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Real time is RTF = end-to-end generation latency divided by finished-media duration, with RTF &lt;= 1.0. The baseline is MiniMax H3 Base Ref2VA at 960x544: 124 frames / 24 FPS = 5.167 s. It uses 50 denoising steps, BF16, eight GPUs with USP8, local NCCL, and no RDMA. MiniMax H3 uses a 33B dense Omni Transformer with 50 Transformer blocks; the reference workload runs 50 denoising steps. These are distinct dimensions. Wan2.2 A14B is 27B total / 14B active, LTX-2.5 uses its official 22B designation, and HunyuanVideo-1.5 is 8.3B. The comparison excludes text encoders. Open H3-Base targets native 768p; the H3-Regenerate-2K module is not part of the open release and is excluded. The 130 GB figure is the raw BF16 size of the 32B encoder plus 33B generator, before VAE, activations, attention workspace, and CUDA Graph pools. Sources: https://huggingface.co/MiniMaxAI/MiniMax-H3 ; https://github.com/Wan-Video/Wan2.2 ; https://huggingface.co/Lightricks/LTX-2.5 ; https://github.com/Tencent-Hunyuan/HunyuanVideo-1.5</a:t>
            </a:r>
          </a:p>
          <a:p/>
          <a:p>
            <a:r>
              <a:t>Presentation emphasis: Start with the user-visible deadline. For this workload, 5.167 seconds of output requires E2E latency below 5.167 seconds. Model size motivates the problem; the deadline defines success.</a:t>
            </a:r>
          </a:p>
        </p:txBody>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Existing Nsight analysis, now synchronized into slide 5. No new benchmark run.</a:t>
            </a:r>
          </a:p>
          <a:p>
            <a:r>
              <a:t>Baseline E2E remains the two unprofiled-request median. The profile is a separate request.</a:t>
            </a:r>
          </a:p>
          <a:p>
            <a:r>
              <a:t>Operator denominator is the sum of kernel, CUDA memcpy and memset durations across eight GPUs. Mean seconds per GPU is the sum divided by eight.</a:t>
            </a:r>
          </a:p>
          <a:p>
            <a:r>
              <a:t>CUDA operation durations may overlap across streams. Do not call NCCL share the fraction of E2E latency or pure network transfer time.</a:t>
            </a:r>
          </a:p>
          <a:p>
            <a:r>
              <a:t>NVTX values are host range spans; Other / response is the residual to the profiled HTTP duration. They are not GPU stage critical-path times.</a:t>
            </a:r>
          </a:p>
          <a:p>
            <a:r>
              <a:t>https://lishunyang12.github.io/fasth3-omni-evaluation-20261018/slides/minimax-h3-real-time-inference-20261025/v1.47/baseline-breakdown.html</a:t>
            </a:r>
          </a:p>
          <a:p>
            <a:r>
              <a:t>{"status": "pass", "profiled_http_seconds": 214.9683357188478, "unprofiled_median_seconds": 213.40215269569308, "unprofiled_samples": 2, "unprofiled_individual_seconds": [214.70544344000518, 212.09886195138097], "configuration": {"model": "Original Ref2VA", "steps": 50, "dit_precision": "BF16", "attention": "Dense cuDNN; SDPA token refiner", "width": 960, "height": 544, "frames": 124, "fps": 24, "seed": 43, "gpus": 8, "architecture": "SM120", "vram_mib_per_gpu": 73415, "parallelism": "TP1 / Ulysses8 / text encoder TP8 / VAE tiles8", "transport": "Local NCCL; RDMA disabled", "decoder": "Native unquantized VAE; FP16 decode autocast", "conditioning": "Exact AdaLN projections computed before timing and resident on GPU"}, "operator_breakdown": {"status": "pass", "devices": 8, "denominator_ns": 1708417910041, "denominator": "Sum of kernel, CUDA memcpy and CUDA memset durations across all eight GPUs in the single profiled request interval.", "rows": [{"category": "GEMM", "mean_seconds_per_gpu": 39.6496529745, "aggregate_gpu_seconds": 317.197223796, "share_percent": 18.566723161336306, "instances": 107147, "average_duration_us": 2960.392953568462}, {"category": "Attention", "mean_seconds_per_gpu": 47.105474658375, "aggregate_gpu_seconds": 376.843797267, "share_percent": 22.0580570510383, "instances": 25196, "average_duration_us": 14956.492985672328}, {"category": "NCCL", "mean_seconds_per_gpu": 122.1817823255, "aggregate_gpu_seconds": 977.454258604, "share_percent": 57.21400208105652, "instances": 81648, "average_duration_us": 11971.564013864394}, {"category": "Norm / activation / elementwise", "mean_seconds_per_gpu": 2.287662046625, "aggregate_gpu_seconds": 18.301296373, "share_percent": 1.0712423620377984, "instances": 311644, "average_duration_us": 58.72500793533647}, {"category": "Layout / device copies", "mean_seconds_per_gpu": 1.928634855875, "aggregate_gpu_seconds": 15.429078847, "share_percent": 0.9031208790494195, "instances": 251038, "average_duration_us": 61.46112878130005}, {"category": "CUDA memcpy / memset", "mean_seconds_per_gpu": 0.063794294625, "aggregate_gpu_seconds": 0.510354357, "share_percent": 0.02987292242726208, "instances": 65897, "average_duration_us": 7.744728242560359}, {"category": "Convolution", "mean_seconds_per_gpu": 0.191801648, "aggregate_gpu_seconds": 1.534413184, "share_percent": 0.08981486174908901, "instances": 6962, "average_duration_us": 220.3983315139328}, {"category": "Other kernels", "mean_seconds_per_gpu": 0.143435951625, "aggregate_gpu_seconds": 1.147487613, "share_percent": 0.06716668130530554, "instances": 58546, "average_duration_us": 19.59976109384074}], "per_device": [{"device_id": 0, "category": "GEMM", "seconds": 39.349302567, "share_percent": 18.441661416136995, "instances": 13556}, {"device_id": 0, "category": "Attention", "seconds": 47.023767948, "share_percent": 22.038418737700297, "instances": 3181}, {"device_id": 0, "category": "NCCL", "seconds": 122.327233876, "share_percent": 57.330556882746485, "instances": 10206}, {"device_id": 0, "category": "Norm / activation / elementwise", "seconds": 2.300393544, "share_percent": 1.0781151404165736, "instances": 39657}, {"device_id": 0, "category": "Layout / device copies", "seconds": 1.950553105, "share_percent": 0.9141569885605011, "instances": 39010}, {"device_id": 0, "category": "CUDA memcpy / memset", "seconds": 0.068656516, "share_percent": 0.03217694188931906, "instances": 8385}, {"device_id": 0, "category": "Convolution", "seconds": 0.203745672, "share_percent": 0.09548857166221865, "instances": 935}, {"device_id": 0, "category": "Other kernels", "seconds": 0.148134048, "share_percent": 0.06942532088761394, "instances": 7460}, {"device_id": 1, "category": "GEMM", "seconds": 39.736427713, "share_percent": 18.606852435769365, "instances": 13510}, {"device_id": 1, "category": "Attention", "seconds": 47.20268323, "share_percent": 22.102977343019607, "instances": 3181}, {"device_id": 1, "category": "NCCL", "seconds": 121.966562735, "share_percent": 57.111672224267416, "instances": 10206}, {"device_id": 1, "category": "Norm / activation / elementwise", "seconds": 2.313585791, "share_percent": 1.0833522761923102, "instances": 39594}, {"device_id": 1, "category": "Layout / device copies", "seconds": 1.941813325, "share_percent": 0.9092672913892859, "instances": 31016}, {"device_id": 1, "category": "CUDA memcpy / memset", "seconds": 0.062922296, "share_percent": 0.029463792896732177, "instances": 8289}, {"device_id": 1, "category": "Convolution", "seconds": 0.190943112, "share_percent": 0.08941041037386074, "instances": 861}, {"device_id": 1, "category": "Other kernels", "seconds": 0.143092906, "share_percent": 0.06700422609142498, "instances": 7298}, {"device_id": 2, "category": "GEMM", "seconds": 39.936509611, "share_percent": 18.699310143212678, "instances": 13510}, {"device_id": 2, "category": "Attention", "seconds": 47.335441913, "share_percent": 22.16368224761973, "instances": 3181}, {"device_id": 2, "category": "NCCL", "seconds": 121.664765441, "share_percent": 56.96660035247171, "instances": 10206}, {"device_id": 2, "category": "Norm / activation / elementwise", "seconds": 2.294844114, "share_percent": 1.0745055648576896, "instances": 39544}, {"device_id": 2, "category": "Layout / device copies", "seconds": 1.943414633, "share_percent": 0.909957162338376, "instances": 30916}, {"device_id": 2, "category": "CUDA memcpy / memset", "seconds": 0.062230861, "share_percent": 0.02913810399689108, "instances": 8289}, {"device_id": 2, "category": "Convolution", "seconds": 0.191443308, "share_percent": 0.08963872471590663, "instances": 861}, {"device_id": 2, "category": "Other kernels", "seconds": 0.14345147, "share_percent": 0.06716770078702432, "instances": 7298}, {"device_id": 3, "category": "GEMM", "seconds": 39.701020186, "share_percent": 18.589400361101337, "instances": 13560}, {"device_id": 3, "category": "Attention", "seconds": 47.086809952, "share_percent": 22.04768436236524, "instances": 3181}, {"device_id": 3, "category": "NCCL", "seconds": 122.135225576, "share_percent": 57.18796634919521, "instances": 10206}, {"device_id": 3, "category": "Norm / activation / elementwise", "seconds": 2.304492532, "share_percent": 1.0790436645157735, "instances": 39594}, {"device_id": 3, "category": "Layout / device copies", "seconds": 1.942294512, "share_percent": 0.9094499368928117, "instances": 31066}, {"device_id": 3, "category": "CUDA memcpy / memset", "seconds": 0.065829689, "share_percent": 0.030823753110992377, "instances": 8289}, {"device_id": 3, "category": "Convolution", "seconds": 0.189714518, "share_percent": 0.08883094471861958, "instances": 861}, {"device_id": 3, "category": "Other kernels", "seconds": 0.1426648, "share_percent": 0.06680062810002195, "instances": 7298}, {"device_id": 4, "category": "GEMM", "seconds": 39.342634796, "share_percent": 18.41847185312396, "instances": 13510}, {"device_id": 4, "category": "Attention", "seconds": 46.486953183, "share_percent": 21.763123979323044, "instances": 3181}, {"device_id": 4, "category": "NCCL", "seconds": 123.154218693, "share_percent": 57.655327924837266, "instances": 10206}, {"device_id": 4, "category": "Norm / activation / elementwise", "seconds": 2.289910042, "share_percent": 1.0720340382248887, "instances": 39544}, {"device_id": 4, "category": "Layout / device copies", "seconds": 1.935071961, "share_percent": 0.9059146300763654, "instances": 30916}, {"device_id": 4, "category": "CUDA memcpy / memset", "seconds": 0.064936529, "share_percent": 0.030400394834452452, "instances": 8289}, {"device_id": 4, "category": "Convolution", "seconds": 0.188304185, "share_percent": 0.08815564461383174, "instances": 861}, {"device_id": 4, "category": "Other kernels", "seconds": 0.142199614, "share_percent": 0.06657153496619342, "instances": 7298}, {"device_id": 5, "category": "GEMM", "seconds": 39.761582064, "share_percent": 18.616278784742278, "instances": 13510}, {"device_id": 5, "category": "Attention", "seconds": 47.16373082, "share_percent": 22.081947344560305, "instances": 3181}, {"device_id": 5, "category": "NCCL", "seconds": 122.027848167, "share_percent": 57.13315021828237, "instances": 10206}, {"device_id": 5, "category": "Norm / activation / elementwise", "seconds": 2.296869648, "share_percent": 1.0753889427879395, "instances": 39544}, {"device_id": 5, "category": "Layout / device copies", "seconds": 1.9395993, "share_percent": 0.9081158099134878, "instances": 30916}, {"device_id": 5, "category": "CUDA memcpy / memset", "seconds": 0.064032573, "share_percent": 0.029979899400221235, "instances": 8289}, {"device_id": 5, "category": "Convolution", "seconds": 0.189154744, "share_percent": 0.08856180425850764, "instances": 861}, {"device_id": 5, "category": "Other kernels", "seconds": 0.142198915, "share_percent": 0.06657719605489866, "instances": 7298}, {"device_id": 6, "category": "GEMM", "seconds": 39.658986799, "share_percent": 18.570204761375553, "instances": 13510}, {"device_id": 6, "category": "Attention", "seconds": 47.041026134, "share_percent": 22.02682312387329, "instances": 3181}, {"device_id": 6, "category": "NCCL", "seconds": 122.240622724, "share_percent": 57.23881463860232, "instances": 10206}, {"device_id": 6, "category": "Norm / activation / elementwise", "seconds": 2.291372957, "share_percent": 1.072928696132033, "instances": 39544}, {"device_id": 6, "category": "Layout / device copies", "seconds": 1.937248232, "share_percent": 0.9071108277218994, "instances": 30916}, {"device_id": 6, "category": "CUDA memcpy / memset", "seconds": 0.060336094, "share_percent": 0.028252199829518973, "instances": 8289}, {"device_id": 6, "category": "Convolution", "seconds": 0.19014962, "share_percent": 0.08903700431365506, "instances": 861}, {"device_id": 6, "category": "Other kernels", "seconds": 0.142721121, "share_percent": 0.0668287481517275, "instances": 7298}, {"device_id": 7, "category": "GEMM", "seconds": 39.71076006, "share_percent": 18.591507972557494, "instances": 12481}, {"device_id": 7, "category": "Attention", "seconds": 47.503384087, "share_percent": 22.239804593075856, "instances": 2929}, {"device_id": 7, "category": "NCCL", "seconds": 121.937781392, "share_percent": 57.087983999300484, "instances": 10206}, {"device_id": 7, "category": "Norm / activation / elementwise", "seconds": 2.209827745, "share_percent": 1.0345818130167073, "instances": 34623}, {"device_id": 7, "category": "Layout / device copies", "seconds": 1.839083779, "share_percent": 0.8610094767216516, "instances": 26282}, {"device_id": 7, "category": "CUDA memcpy / memset", "seconds": 0.061409799, "share_percent": 0.028750413388628885, "instances": 7778}, {"device_id": 7, "category": "Convolution", "seconds": 0.190958025, "share_percent": 0.08940140251275093, "instances": 861}, {"device_id": 7, "category": "Other kernels", "seconds": 0.143024739, "share_percent": 0.06696032942642838, "instances": 7298}], "stage_categories": [{"stage": "explicit_vae", "category": "Attention", "mean_seconds_per_gpu": 0.073424998125}, {"stage": "explicit_vae", "category": "CUDA memcpy / memset", "mean_seconds_per_gpu": 0.005660434375}, {"stage": "explicit_vae", "category": "Convolution", "mean_seconds_per_gpu": 0.005351867875}, {"stage": "explicit_vae", "category": "GEMM", "mean_seconds_per_gpu": 0.597402368}, {"stage": "explicit_vae", "category": "Layout / device copies", "mean_seconds_per_gpu": 0.206106582}, {"stage": "explicit_vae", "category": "NCCL", "mean_seconds_per_gpu": 0.56345313075}, {"stage": "explicit_vae", "category": "Norm / activation / elementwise", "mean_seconds_per_gpu": 0.180928999875}, {"stage": "explicit_vae", "category": "Other kernels", "mean_seconds_per_gpu": 0.0268907705}, {"stage": "non_dit_scoped", "category": "Attention", "mean_seconds_per_gpu": 0.667262048625}, {"stage": "non_dit_scoped", "category": "CUDA memcpy / memset", "mean_seconds_per_gpu": 0.036150056875}, {"stage": "non_dit_scoped", "category": "Convolution", "mean_seconds_per_gpu": 0.186449780125}, {"stage": "non_dit_scoped", "category": "GEMM", "mean_seconds_per_gpu": 0.372183022375}, {"stage": "non_dit_scoped", "category": "Layout / device copies", "mean_seconds_per_gpu": 0.201084648125}, {"stage": "non_dit_scoped", "category": "NCCL", "mean_seconds_per_gpu": 6.031570317375}, {"stage": "non_dit_scoped", "category": "Norm / activation / elementwise", "mean_seconds_per_gpu": 0.180157481375}, {"stage": "non_dit_scoped", "category": "Other kernels", "mean_seconds_per_gpu": 0.0417612915}, {"stage": "pipeline_diffuse", "category": "Attention", "mean_seconds_per_gpu": 46.364787611625}, {"stage": "pipeline_diffuse", "category": "CUDA memcpy / memset", "mean_seconds_per_gpu": 0.021551229625}, {"stage": "pipeline_diffuse", "category": "GEMM", "mean_seconds_per_gpu": 38.680067584125}, {"stage": "pipeline_diffuse", "category": "Layout / device copies", "mean_seconds_per_gpu": 1.52144362575}, {"stage": "pipeline_diffuse", "category": "NCCL", "mean_seconds_per_gpu": 115.586758877375}, {"stage": "pipeline_diffuse", "category": "Norm / activation / elementwise", "mean_seconds_per_gpu": 1.926575565375}, {"stage": "pipeline_diffuse", "category": "Other kernels", "mean_seconds_per_gpu": 0.074783889625}, {"stage": "unattributed", "category": "CUDA memcpy / memset", "mean_seconds_per_gpu": 0.00043257375}], "classification": {"method": "Explicit first-match kernel-name rules across all stages; original NVTX stage attribution retained.", "rules": [{"id": "nccl", "category": "NCCL", "pattern": "(?:nccl|msccl)"}, {"id": "attention", "category": "Attention", "pattern": "(?:flash[_:]?(?:attn|attention)|flash_(?:fwd|bwd)|flashattention|fmha|fused.?multi.?head.?attention|scaled.?dot.?product|memory.?efficient.?attention|(?:^|[_:])sdpa(?:[_:&lt;]|$)|cudnn[^\\n]*sdpa|(?:^|[_:])attention(?:[_:&lt;]|$)|(?:^|[_:])attn(?:[_:&lt;]|$))"}, {"id": "convolution", "category": "Convolution", "pattern": "(?:xmma_(?:fprop|dgrad|wgrad)_implicit_gemm|implicit_convolve|(?:^|[_:])conv(?:[123]d|olution|_fwd|_dgrad|_wgrad)|(?:^|[_:])(?:im2col|col2im|vol2col)|cudnn[^\\n]*convolve)"}, {"id": "gemm", "category": "GEMM", "pattern": "(?:gemm|gemv|matmul|cutlass::Kernel|cutlass_kernel|wgmma|tensorop|cublas|triton[^\\n]*(?:persistent_mm|scaled_mm|addmm)|(?:^|[_:])b?mm(?:[_:&lt;]|$)|(?:^|[_:])addmm(?:[_:&lt;]|$))"}, {"id": "layout", "category": "Layout / device copies", "pattern": "(?:memcpy|memmove|copy_kernel|direct_copy|copy_if|copy_device|CatArrayBatchedCopy|concat|concatenate|transpose|permute|nchwToNhwc|nhwcToNchw|tensorTransformGeneric|contiguous|gather_kernel|scatter_kernel|_scatter_gather_elementwise_kernel|indexFunc|index_(?:select|put)|indexSelect(?:Small|Large)Index|index_elementwise|pack_kernel|unpack_kernel|split_with_sizes_copy|ConvertTo|convert_kernel|cast_kernel|typecast|FillFunctor|fill_kernel)"}, {"id": "pointwise", "category": "Norm / activation / elementwise", "pattern": "(?:rms.?norm|layer.?norm|group.?norm|batch.?norm|act_and_mul|silu|swiglu|geglu|gelu|glu_kernel|fused.?mlp|elementwise|indexed_gate|norm_indexed|norm_scale|rope|rotary|softmax|reduce_kernel|Reduce(?:\\.cuh|\\.cu)|vectorized.*?kernel|unrolled.*?kernel)"}], "unmatched_category": "Other kernels", "fused_kernel_accounting": "The complete fused kernel duration stays in its matched category. Attention is not split into internal matrix products; fused GEMM epilogues stay in GEMM. Explicit implicit-GEMM convolution kernels are classified as Convolution."}, "validation": {"source_strict_acceptance": true, "independent_nsys_totals": true, "categories_partition_total": true, "per_device_matches_grouped_names": true}, "limitations": ["Aggregate GPU operation durations overlap across devices and streams; these are not additive E2E critical-path times.", "NCCL duration includes synchronization and waiting; it is not a direct bandwidth or network-transfer measurement.", "Kernel categories are explicit name-based classifications; unmatched names remain visible in Other kernels.", "The denominator excludes CPU-only work and GPU idle gaps."], "sources": {"summary_sha256": "0b663cbdd2f3a9e5e0d453d5f355fd348f99c62bd7240da048001ea53805ba0b", "classifier_sha256": "4e739e27c44cb983d50eeb909ea9d954d654ea3f96f2a45192610b8feadb9af2"}}, "host_nvtx_stage_envelopes": [{"stage": "Encoder", "seconds": 7.271786674}, {"stage": "DiT", "seconds": 204.813919985}, {"stage": "VAE / audio decode", "seconds": 1.742411768}, {"stage": "Other / response", "seconds": 1.1402172918477902}], "host_nvtx_ranges": [{"label": "H3.encoder.text_and_vision", "start_ns": 350352756, "end_ns": 7622139430}, {"label": "H3.DiT.50_steps", "start_ns": 8149580399, "end_ns": 212963500384}, {"label": "H3.decode", "start_ns": 212964276362, "end_ns": 214706688130}], "validation": {"matched_model_inputs_and_precision": true, "complete_projection_tables": true, "native_projections_exact": true, "output_matches_unprofiled_reference": true, "strict_nsys_counts_and_attribution": true, "independent_nsys_totals": true, "all_eight_devices": true}, "capture_requests": [{"ordinal": 0, "phase": "initialize", "e2e_seconds": 273.27750528045, "mp4_sha256": "1b33831db7a24ace2e96365b63356b8052a2abe1932b92e894fbf5db0a4f0900", "decoded_sha256": {"video": "SHA256=e7b6a5d5a15abebfc0981dba0d0c8f6759336ebce40a0e1c36a4d5d187cc45a1", "audio": "SHA256=cee8b1b9dad71362550dcd3967d1d7405bd1d49a8406245427744fefe5a0bf65"}}, {"ordinal": 1, "phase": "warmup", "e2e_seconds": 254.3866053307429, "mp4_sha256": "a7581ae1cb28d3503ff4ab8b31124d91f6184df989fef4817560da62e2148a4f", "decoded_sha256": {"video": "SHA256=9ec38b0f73faf69377395e652b8b7d3cf6617b9bc31c01964d059aabdf535261", "audio": "SHA256=2f76428baefb1ffd0af21ef1df7caea4764689ed8bffe0766b1718833ddeb263"}}, {"ordinal": 2, "phase": "profiled", "e2e_seconds": 214.9683357188478, "mp4_sha256": "a7581ae1cb28d3503ff4ab8b31124d91f6184df989fef4817560da62e2148a4f", "decoded_sha256": {"video": "SHA256=9ec38b0f73faf69377395e652b8b7d3cf6617b9bc31c01964d059aabdf535261", "audio": "SHA256=2f76428baefb1ffd0af21ef1df7caea4764689ed8bffe0766b1718833ddeb263"}}], "report": {"filename": "H3_Base50_Exact_Precomputed_8GPU.nsys-rep", "bytes": 1581264986, "sha256": "e8bd92874b2a86af889cecb257e71032d2694df438cdf3991bf6bf0c8616c401"}, "provenance": {"nsys_version": "NVIDIA Nsight Systems version 2025.3.2.474-253236389321v0", "graph_trace": "node", "gpu_metrics_hz": 1000, "nic_metrics": false, "sqlite_sha256": "384899be27cf0bb9b20e15ebc570f8715d32f09222967fc0560cf76f1702fbdf", "source_stage_sha256": "9df6a5063ca69c1a1b9ef8de693d7aa77f3b65944d2dee7c561ac812515a5bb0", "server_log_sha256": "bc276ee5c53f8c1a531209370f6d210d87160b8fe0a8395aa025858a6e3ee58f", "strict_analysis_sha256": "0b663cbdd2f3a9e5e0d453d5f355fd348f99c62bd7240da048001ea53805ba0b", "analysis_program_sha256": "6d4eb0bbf672d842c9ccb1e8668712106b2a0f37ee0433555d5b12662716b58a"}, "limitations": ["The profiled request is separate from the two unprofiled timing requests; profiler overhead must not replace the 213.402 s benchmark median.", "NVTX host stage envelopes describe CPU range duration, not synchronized GPU critical-path intervals.", "The GPU category denominator sums CUDA operation durations across all GPUs, including communication waiting; it excludes CPU time and idle gaps.", "No optimization-ladder cohorts were rerun."]}</a:t>
            </a:r>
          </a:p>
        </p:txBody>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hardware table intentionally shows only GPU identity, SM count, memory, power, and interconnect. The latest user instruction removed the proposed shared-features and throttling paragraphs.</a:t>
            </a:r>
          </a:p>
          <a:p>
            <a:r>
              <a:t>The selected reference configuration is eight RTX PRO 5000 cards with 72 GB each. Power entries are product specifications, not measured draw or a claim about the benchmark node power cap. RTX PRO 5000 maximum total board power is 300 W per NVIDIA; do not label it 350 W.</a:t>
            </a:r>
          </a:p>
          <a:p>
            <a:r>
              <a:t>RTX PRO 6000 here denotes Workstation / Server editions at a maximum 600 W; the Max-Q edition is not part of this row. GeForce RTX 5090 is 575 W total graphics power.</a:t>
            </a:r>
          </a:p>
          <a:p>
            <a:r>
              <a:t>DGX Spark is retained as the comparison row from the previous deck. It is explicitly labeled SM121, not SM120. Its 140 W is GB10 CPU-plus-GPU SoC TDP, not GPU-only power and not the 240 W power supply rating. NVLink-C2C is CPU-to-GPU inside the SoC, not NVLink between separate GPUs.</a:t>
            </a:r>
          </a:p>
          <a:p>
            <a:r>
              <a:t>SM counts are retained from the validated hardware table: 110, 188, 170, 48. PRO 5000 has 14,080 CUDA cores / 128 per SM = 110.</a:t>
            </a:r>
          </a:p>
          <a:p>
            <a:r>
              <a:t>Specification sources, checked 30 Oct 2026:</a:t>
            </a:r>
          </a:p>
          <a:p>
            <a:r>
              <a:t>https://www.nvidia.com/en-us/products/workstations/professional-desktop-gpus/rtx-pro-5000/</a:t>
            </a:r>
          </a:p>
          <a:p>
            <a:r>
              <a:t>https://www.nvidia.com/content/dam/en-zz/Solutions/products/workstations/professional-desktop-gpus/rtx-pro-5000-blackwell/workstation-datasheet-blackwell-rtx-pro-5000-5488550-nvidia.pdf</a:t>
            </a:r>
          </a:p>
          <a:p>
            <a:r>
              <a:t>https://www.nvidia.com/en-us/products/workstations/professional-desktop-gpus/rtx-pro-6000/</a:t>
            </a:r>
          </a:p>
          <a:p>
            <a:r>
              <a:t>https://www.nvidia.com/en-us/geforce/graphics-cards/50-series/rtx-5090/</a:t>
            </a:r>
          </a:p>
          <a:p>
            <a:r>
              <a:t>https://www.nvidia.com/en-us/products/workstations/dgx-spark/</a:t>
            </a:r>
          </a:p>
          <a:p>
            <a:r>
              <a:t>https://www.nvidia.com/content/dam/en-zz/Solutions/dgx-spark/nvidia-gb10-superchip-whitepaper.pdf</a:t>
            </a:r>
          </a:p>
          <a:p>
            <a:r>
              <a:t>https://developer.nvidia.com/cuda/gpus</a:t>
            </a:r>
          </a:p>
        </p:txBody>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Video generation starts from noise. Base H3 runs the full DiT once for each denoising update, so the model runs 50 times. Parallel Decoding Distillation uses Base H3 as the teacher and trains a student to predict several fine-interval updates in one DiT evaluation. The released H3 Ref2VA PDD adapter uses a new 32-interval schedule and predicts four interval velocities per evaluation, so 32 divided by 4 equals eight DiT evaluations. This is not the same as selecting eight of the original 50 solver steps. Each H3 evaluation still crosses 50 DiT blocks, so repeated block executions fall from 50 times 50, or 2,500, to 8 times 50, or 400. That is 84 percent fewer repeated block calls, reducing repeated attention, GEMM/MLP, and USP communication together. The 84 percent figure is workload arithmetic, not measured end-to-end speedup; encoders, VAE, data movement, memory, and matched quality still require end-to-end validation. NVIDIA Figure 2 shows the generic N=12, L=4 mechanism; the H3 N=32, L=4 schedule is labeled outside the paper figure.</a:t>
            </a:r>
          </a:p>
        </p:txBody>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Architecture paraphrased from VSA Figure 1 and Section 3: https://arxiv.org/html/2505.13389v4 . H3 uses logical tiles of 128; do not substitute the paper default block geometry. The displayed figure is the cited VSA figure. H3 adaptation fixes the fine gate at one.</a:t>
            </a:r>
          </a:p>
        </p:txBody>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takeaways after the recorded demo. These summarize the experiment and future directions; they do not add benchmark results.</a:t>
            </a:r>
          </a:p>
          <a:p>
            <a:r>
              <a:t>Communication optimization is described as lossless when the numerical workload is retained. GPU/NIC topology, bottlenecks, available bandwidth and transfer volume must be considered together.</a:t>
            </a:r>
          </a:p>
          <a:p>
            <a:r>
              <a:t>Quantization quality must be evaluated per model and workload. No universal quality claim is made.</a:t>
            </a:r>
          </a:p>
          <a:p>
            <a:r>
              <a:t>The final point is future work: autoregressive diffusion for lower response latency, and prompt enhancement for richer interactions. Neither is presented as a completed improvement in the recorded demo.</a:t>
            </a:r>
          </a:p>
          <a:p/>
          <a:p>
            <a:r>
              <a:t>Presentation emphasis: Close with reusable decisions: inspect topology; qualify quantization per workload; move from fast generation toward responsive, continuous interaction. The last point is future work, not a claim about the recorded demo.</a:t>
            </a:r>
          </a:p>
        </p:txBody>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Stages group representative kernels rather than counting individual launches. The timeline is a conceptual launch-bound example on the same illustrative time scale. Matching kernel widths indicate unchanged work; the diagram is not an Nsight capture, and does not quantify the measured request gain. No retained paired Nsight screenshots isolate the graph-only change. RDMA and input/output readiness events are outside this prototype capture; graphs do not directly raise link bandwidth. Capture body: unpack QKV, original fine/coarse VSA, pack O_BUNDLE.</a:t>
            </a:r>
          </a:p>
          <a:p>
            <a:r>
              <a:t>Historical selected-profile 8-GPU head pipeline 1/2/3/1: warmed local HTTP request to complete MP4 mean 13.249868 s without compute graph versus 11.993609333333334 s with graph, three measured requests per cohort, fixed 960x544 / 362 frames / 8 steps / one reference. Model load and one per-shape warmup excluded. This is retained cohort evidence, not a newly randomized run or a new 2/3/2 measurement.</a:t>
            </a:r>
          </a:p>
          <a:p>
            <a:r>
              <a:t>Separate single-GPU four-arm component experiment on saved real layer-0 input: 12 counterbalanced rounds x 20 repeats, 5 warmup repeats. Seven-head eager 11.703171412150065 ms, graph 11.658073425292969 ms (0.385% reduction); bands 1/2/3/1 eager 12.323460133870443 ms, graph 12.040123176574706 ms (2.299% reduction). Excludes RDMA, gate, W_O, other DiT, encoder, VAE and HTTP. Bit-exact output checks passed before and after. Even banded graph compute remains 2.879% slower than unbanded eager compute; total pipeline gain depends on communication overlap. Evidence: cuda-graph-evidence.json.</a:t>
            </a:r>
          </a:p>
          <a:p>
            <a:r>
              <a:t>https://docs.nvidia.com/cuda/cuda-programming-guide/04-special-topics/cuda-graphs.html</a:t>
            </a:r>
          </a:p>
          <a:p>
            <a:r>
              <a:t>https://docs.pytorch.org/docs/stable/notes/cuda</a:t>
            </a:r>
          </a:p>
          <a:p/>
          <a:p>
            <a:r>
              <a:t>Merged suitability and scope from v1.28 page 19:</a:t>
            </a:r>
          </a:p>
          <a:p>
            <a:r>
              <a:t>Suitability follows from the inspected qad_head_compute_graph.py implementation, not a claim that every H3 or RDMA operation is graph-safe. The existing prototype is opt-in, inference-only, on a dedicated compute stream. It validates production SP8 geometry, tile128 multi-region metadata, mask-free non-joint attention, registered BF16 input/output views, and fixed addresses. A request runs 50 blocks x 8 model evaluations, giving 400 repeated attention calls per band when the profile, route plan, runtime and backend stay unchanged. Weights/GEMMs are outside this compute island, allowing reuse across blocks.</a:t>
            </a:r>
          </a:p>
          <a:p>
            <a:r>
              <a:t>Sparse Top-K selection is input-dependent, but values/selected indices may change while tensor shapes and launch structure remain fixed. Input-ready wait is enqueued before replay and output-ready recorded afterward; correctness requires stable buffer lifetime and safe reuse. Tensor values are refreshed in registered storage before replay. Cached entries retain runtime, route plan, geometry and callable objects.</a:t>
            </a:r>
          </a:p>
          <a:p>
            <a:r>
              <a:t>Actual cache identity includes runtime identity, compute stream, band position/start/head count, receive/send data pointers, shapes, strides, dtype/device, route-plan identity, complete reference/video/padding metadata, sparsity/keep rate, provider/precision/backend settings and callable identities. Two equal-sized bands A/C need not share GraphExec because their registered addresses differ. S and Kmax shorthand on slides denotes geometry encoded in buffers/plan and metadata.</a:t>
            </a:r>
          </a:p>
          <a:p>
            <a:r>
              <a:t>The actual prototype warms exact shape/JIT, synchronizes, captures a private pool and explicitly first-replays on a miss; full cache raises an error. Eager fallback and qualifying recurring profiles in vLLM are proposed production policy, not behavior already implemented by this prototype. Different resolution/frame/reference/head profile must not replay an incompatible graph.</a:t>
            </a:r>
          </a:p>
          <a:p>
            <a:r>
              <a:t>The same CUDA Graph mechanism is common in LLM inference; decode often dispatches batch/token-count profiles, while this H3 compute island dispatches video/reference geometry and head-band slots. This is a workload distinction, not a different graph algorithm. Kernel-dominated large bands may gain little. Capture/instantiate time and private-pool memory must amortize across replays. In the separate four-arm prototype, the 1/2/3/1 cold install after external JIT took 38.663 ms and added 1222 MiB reserved memory; these are experiment-specific costs, not a forecast for 2/3/2.</a:t>
            </a:r>
          </a:p>
          <a:p>
            <a:r>
              <a:t>https://docs.nvidia.com/cuda/cuda-programming-guide/04-special-topics/cuda-graphs.html</a:t>
            </a:r>
          </a:p>
          <a:p>
            <a:r>
              <a:t>https://docs.pytorch.org/docs/stable/notes/cuda</a:t>
            </a:r>
          </a:p>
          <a:p>
            <a:r>
              <a:t>Key causal distinction: head pipelining exposes useful transfer/attention overlap; graph replay amortizes the extra per-band compute submissions. Illustrative timeline retains the same kernel-stage widths in both modes; it is not measured Nsight evidence and does not attribute the entire 9.48% request delta to GPU idle time. All detailed production scope, LLM comparison, cache-key requirements and cold-cost evidence remain in speaker notes.</a:t>
            </a:r>
          </a:p>
          <a:p/>
          <a:p>
            <a:r>
              <a:t>v1.30 clarifies why combine these optimizations. Graph replay is possible before splitting heads. In the controlled four-arm experiment, Graph reduced all-seven-head compute by 0.385% and 1/2/3/1 banded compute by 2.299%. Splitting by itself added 5.30% compute time; split-plus-Graph remained 2.879% slower than all-head eager compute. Therefore these component results support a stronger Graph benefit after splitting, not a claim that the combined path always wins. End-to-end benefit relies on useful communication overlap. The retained 8-GPU 1/2/3/1 warmed request cohorts are 13.249868 seconds without compute Graph and 11.993609333 seconds with it, a 9.481% reduction (three requests each, not newly randomized). No matched full-model four-arm experiment establishes the combined path against all-head Graph.</a:t>
            </a:r>
          </a:p>
          <a:p>
            <a:r>
              <a:t>Graph batches submission; it does not fuse the GPU kernels. QKV linear projection is outside this compute island. Capture includes unpack QKV, original fine/coarse VSA including routing/Top-K, and pack O_BUNDLE. Host mlx5 RDMA, readiness events, local gate/assembly and full W_O remain outside the current prototype. Do not generalize this scope to all RDMA APIs.</a:t>
            </a:r>
          </a:p>
          <a:p>
            <a:r>
              <a:t>The CPU schedule submits each compute band before continuing host-driven RDMA, so reducing submission work can also allow earlier host progress. This is a mechanistic explanation, not measured attribution of the entire request delta. If CPU submission is already ahead of GPU execution, Graph can add little benefit.</a:t>
            </a:r>
          </a:p>
          <a:p>
            <a:r>
              <a:t>Nsight timing semantics: enqueue occurs during the CPU launch API, so a GPU kernel may begin before that API returns. The conceptual drawing now marks enqueue points before each GPU start. CPU API return is not the dependency that gates GPU execution. Kernel widths are preserved across eager and graph diagrams; the diagram is not a measured before/after trace.</a:t>
            </a:r>
          </a:p>
          <a:p>
            <a:r>
              <a:t>Suitability is conditional on a stable profile: request geometry, S, Kmax, reference/padding metadata, band slot, backend, dtype, shape, stride and registered buffer pointers. Different data and sparse indices can be supplied without changing launch structure. Equal-sized bands can still require distinct graphs because pointers differ. Fifty blocks times eight evaluations give 400 uses per band when runtime/route/backend/profile remain unchanged. H3 has a repeated geometry within a request, whereas continuously batched LLM decoding often varies batch size, KV length and active requests; both can use Graph after their profiles and buffers are qualified.</a:t>
            </a:r>
          </a:p>
          <a:p>
            <a:r>
              <a:t>Caveats: capture/JIT/first-replay costs and private graph pools must be amortized. Historical four-band cold install after external geometry JIT cost 38.663 ms and increased reserved memory by 1222 MiB in this experiment. A shape/cache miss warms, synchronizes and captures; the retained 32-entry cache raises when full. An eager production fallback is proposed, not implemented. CPU work is not replayed. Correct readiness, collective order, stream joins and buffer lifetime remain necessary. The retained qualification is inference-only, tile 128, mask-free, nonjoint and SP8. The selected 2/3/2 schedule needs its own qualification and end-to-end measurements.</a:t>
            </a:r>
          </a:p>
          <a:p>
            <a:r>
              <a:t>Official timing semantics: https://docs.nvidia.com/nsight-systems/AnalysisGuide/</a:t>
            </a:r>
          </a:p>
          <a:p>
            <a:r>
              <a:t>Graph semantics: https://docs.pytorch.org/docs/stable/notes/cuda ; https://docs.nvidia.com/cuda/cuda-programming-guide/04-special-topics/cuda-graphs.html</a:t>
            </a:r>
          </a:p>
          <a:p/>
        </p:txBody>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Detailed schematic of the retained interactive runtime, not a new test. Retain the final two temporal video latent slices, not two decoded frames or two attention tokens, plus the aligned audio latent tail. Audio length is 8 or 9 latent tokens: round((start+5)*5/3)-round(start*5/3), start=119*ordinal. No attention K/V tensors are passed between requests; the tail is patchified/packed and appended to visual/audio condition rows, so K/V is computed in the new request. Video history =0.8*history +0.2*seeded noise: a linear coefficient, not noise variance or replacement frames. Reference-image noise stays 0.001; audio history is clean. Target video/audio prefix clamping off. Cumulative AV positions. Generate 124 decoded frames; continuation drops 5 frames and 8/9 audio-token intervals and emits 119 frames. Timeline schematic, not to scale. Right image is the actual first retained frame after trim; left is the actual previous ending. State commits after successful MP4 generation. Fixed-size conditioning does not guarantee indefinite quality. This custom recorded demo differs from upstream planned production ComfyUI graphs. Pipeline slide 10, demo slide 12. Source hashes in continuation.json; no new benchmark.</a:t>
            </a:r>
          </a:p>
        </p:txBody>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p:txBody>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High-level explanation only. Slide 16 describes the eight-evaluation QAD pipeline; slide 6 describes the distinct historical four-step avatar. Do not imply all techniques are enabled in both recipes.</a:t>
            </a:r>
          </a:p>
          <a:p>
            <a:r>
              <a:t>Online evidence: https://lishunyang12.github.io/fasth3-omni-evaluation-20261018/reports/h3-liveavatar-long-video-20261014/</a:t>
            </a:r>
          </a:p>
          <a:p/>
          <a:p>
            <a:r>
              <a:t>Presentation emphasis: Use the three lessons to interpret the evidence, rather than walking through every implementation. The measured baseline NCCL work includes waiting and overlap. RDMA/layout/overlap is a grouped intervention, not an isolated RDMA result. The four-step avatar and eight-step ladder remain distinct workloads. Hidden slides retain the implementation details.</a:t>
            </a:r>
          </a:p>
        </p:txBody>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Static functional topology, no payload overlays. Four CX8 devices each serve two GPUs. GPU-to-switch and shared switch-to-CPU links are PCIe Gen5 x16: 63.015 GB/s per direction after line encoding and before packet overhead. Switch-to-NIC is Gen6 x16: 128 GB/s nominal per direction shared by two NIC functions. Each GPU is mapped to a 400 Gb/s RoCE port: 50 GB/s nominal one-way. Each CX8 has 800 Gb/s aggregate network capacity for its two GPUs, or 100 GB/s send and independently 100 GB/s receive. The eight ports total 400 GB/s nominal send, not guaranteed effective throughput. Protocol, fabric and receiver constraints remain. The former 256 GB/s xGMI platform maximum is removed: it was not this host's verified configured capacity. A new CPU sequential remote-memory-read experiment measured 113.02-135.71 GB/s medians across 8/16/32/56 threads and both directions. This workload includes DRAM, fabric and CPU limitations; it is not GPU-path capacity or an xGMI counter measurement. Kernel 5.15 lacks an exposed HSMP interface on this host, and privileged configuration access is unavailable. Sources: https://developer.nvidia.com/blog/nvidia-connectx-8-supernics-advance-ai-platform-architecture-with-pcie-gen6-connectivity/ https://docs.amd.com/v/u/en-US/58462_amd-epyc-9005-tg-architecture-overview</a:t>
            </a:r>
          </a:p>
          <a:p>
            <a:r>
              <a:t>CPU-to-CPU capacity uses C=256 GB/s as the raw one-way aggregate model input (4 links x 16 lanes x 32 Gb/s / 8). Installed link configuration and effective payload rate are not established. https://docs.amd.com/v/u/en-US/58462_amd-epyc-9005-tg-architecture-overview</a:t>
            </a:r>
          </a:p>
          <a:p>
            <a:r>
              <a:t>Topology redrawn as SVG in v1.32. Separate GPU, NIC and host-uplink wiring; capacities and device mapping retained. Blue lines show the NIC/fabric branch. The fabric rail represents logical connectivity, not a single measured physical link. xGMI 256 GB/s remains an unverified raw-capacity model input.</a:t>
            </a:r>
          </a:p>
        </p:txBody>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gray bars now use original vLLM-Omni all_to_all_4D, AST-extracted without modifications from clean checkout 63487a7f22db603adefcdac378cfe2a26f6bcb7c, matching the recorded Base50 source HEAD. The original function is replayed eagerly; this is not a full-model torch.compile or E2E run. PyTorch 2.13.0+cu132, NCCL 2.29.7, 8 GPUs, B1 H56 D128 BF16. Q/K/V scatter heads and O gathers heads. The comparison explicitly adds NCCL_NET_DISABLE_INTRA=1 with NCCL_IB_DISABLE=1, NCCL_P2P_DISABLE=0, NCCL_SHM_DISABLE=0. This additional local-only control was NOT recorded in the historical Base50 launch. Fresh original-source audit finds all 56 directed pairs: eight within-subtree P2P/CUMEM, 16 within-NUMA cross-subtree SHM/direct/direct, 32 cross-NUMA SHM/direct/direct. All eight physical mlx5_0..7 TX/RX counters remained unchanged during 20 Q/K/V/O repeats. The separate IB-disable-only replay selected NET/Socket for cross-NUMA; it must not be called a pure P2P/SHM run. Historical Base50 per-pair routes remain unrecorded. Connection logs establish routes, not channel byte/time fractions. Each local two-GPU subtree must carry six of seven peer payloads over its CPU uplink; 2*B*6/7 &lt;=63.015 gives B&lt;=36.759. The socket cut requires 4*B*4/7&lt;=C, so B&lt;=7*C/16. C is unmeasured; raw xGMI platform maximum is not usable C. SHM staging can add further memory/protocol overhead. All-RDMA uses nearest GPU-affine ports and bypasses the CPU-facing payload route. The necessary RDMA bound is min(63.015,128/2,50)=50 GB/s/GPU, with no network oversubscription assumed; all values are one-way. These capacity bounds do not explain or predict the entire measured improvement. Original NCCL includes its eager output allocations and relayouts; FI uses reusable registered outputs and ordinary-input staging. Both include synchronization and CPU-to-GPU-completion timing. No GEMM/attention, no graphs, unlocked clocks, resident services preserved. The timing is rank maximum per sample, then pooled median across three rounds with alternating route order. Original-source and route audit: local-nccl-20261026/source-evidence.json, route-audits.json. [{"sequence": 15104, "route": "nccl", "samples": 90, "median_ms": 5.5599215, "p10_ms": 5.464282000000001, "p90_ms": 5.776382, "round_medians_ms": [5.5446314999999995, 5.5613515, 5.569026], "TX_bytes_per_GPU": 94732288, "effective_TX_GBps_per_GPU": 17.038421855416484}, {"sequence": 15104, "route": "rdma", "samples": 90, "median_ms": 2.3746525, "p10_ms": 2.3610830000000003, "p90_ms": 2.387686, "round_medians_ms": [2.3754575, 2.3743675, 2.3743375], "TX_bytes_per_GPU": 94732288, "effective_TX_GBps_per_GPU": 39.893116150678885}, {"sequence": 32768, "route": "nccl", "samples": 90, "median_ms": 12.123344, "p10_ms": 11.8987111, "p90_ms": 12.4382989, "round_medians_ms": [12.0223615, 12.136538999999999, 12.241837499999999], "TX_bytes_per_GPU": 205520896, "effective_TX_GBps_per_GPU": 16.952492315651526}, {"sequence": 32768, "route": "rdma", "samples": 90, "median_ms": 4.9158825, "p10_ms": 4.904389, "p90_ms": 4.929872, "round_medians_ms": [4.916513, 4.918573, 4.9130175000000005], "TX_bytes_per_GPU": 205520896, "effective_TX_GBps_per_GPU": 41.80752814982864}, {"sequence": 65536, "route": "nccl", "samples": 90, "median_ms": 22.4714855, "p10_ms": 21.618092100000002, "p90_ms": 23.0818239, "round_medians_ms": [22.239369500000002, 22.4875045, 22.560588000000003], "TX_bytes_per_GPU": 411041792, "effective_TX_GBps_per_GPU": 18.2917053703459}, {"sequence": 65536, "route": "rdma", "samples": 90, "median_ms": 9.6350585, "p10_ms": 9.622725099999998, "p90_ms": 9.661646, "round_medians_ms": [9.634298000000001, 9.639059, 9.631359], "TX_bytes_per_GPU": 411041792, "effective_TX_GBps_per_GPU": 42.661058259272636}]</a:t>
            </a:r>
          </a:p>
          <a:p>
            <a:r>
              <a:t>Conclusion update: The local-NCCL to FI-RDMA speedups are 2.341361, 2.466158 and 2.332262 for S=15104/32768/65536. The comparison validates the complete tested communication implementations, not a pure link substitution. To support B=36.759, the socket cut needs C=84.0205 GB/s. CPU remote-read results above this value do not establish the GPU/SHM path capacity, especially with simultaneous bidirectional traffic. Neither PCIe saturation nor xGMI saturation is isolated. Do not claim xGMI saturation is the cause of the observed improvement.</a:t>
            </a:r>
          </a:p>
          <a:p>
            <a:r>
              <a:t>C=256 GB/s is a one-way raw aggregate capacity assumption, not the installed measured payload bandwidth. Uniform all-to-all yields B&lt;=7C/16=112 GB/s, so the shared Gen5 x16 uplink bound (36.8 GB/s) is tighter in this model. Real SHM, memory and interconnect costs can reduce observed throughput. The curves remain the retained communication microbenchmarks, not E2E.</a:t>
            </a:r>
          </a:p>
          <a:p/>
          <a:p>
            <a:r>
              <a:t>Merged prior p17 validation:</a:t>
            </a:r>
          </a:p>
          <a:p>
            <a:r>
              <a:t>The transport precheck used four physical ranks and the real RDMA route with synthetic, rank-distinct BF16 inputs. Its 96 passing rank-cases are 24 distributed configurations observed on four ranks: two row counts, three head widths, two stream priorities and two phases. It retained the production eight-slot layout, transported physical peer slots zero through three and zero-filled the other receive slots. Q and K were exchanged while V contained NaNs; only after that exchange did a producer stream publish V and record a CUDA event, which the communication stream waited on before reading V. This proves ordering and synchronization, not concurrent V projection or overlap gain. The captured graph contains only fixed-address split-QKV unpack, which remained byte-exact after inputs changed and the graph replayed. The all-RDMA collective stays outside CUDA Graph capture and explicitly refuses capture because it posts mlx5 work requests and polls completion queues from the host. Whole output return and two row-chunk returns, including the repeated coarse tail, matched independent references byte for byte. These are transport and layout exactness results; full attention, W_O, end-to-end latency, peak memory and candidate overlap were not measured. The complete eight-GPU H3 candidate therefore remains pending. Evidence bundle: real-rdma-four-gpu-20261024-v2/summary.json.</a:t>
            </a:r>
          </a:p>
          <a:p/>
          <a:p>
            <a:r>
              <a:t>Merged prior p18 interpretation:</a:t>
            </a:r>
          </a:p>
          <a:p>
            <a:r>
              <a:t>Recommended presentation closing: On this eight-GPU PCIe platform, use the tested GPU-affine FI RDMA path for Ulysses. Against the controlled local NCCL replay of the original Ulysses code, the complete FI implementation improves communication throughput from 17.0-18.3 to 39.9-42.7 GB/s/GPU and reduces Q/K/V/O time by a factor of 2.33-2.47. The local-only environment adds NCCL_NET_DISABLE_INTRA=1; it is not a rerun of historical Base50 E2E. Route logs establish P2P/SHM versus nearest-port RDMA selection. They do not establish per-link utilization or attribute percentages of performance. The optimistic PCIe shared-uplink bound is 36.76 GB/s/GPU. The xGMI cut would need at least 84.02 GB/s to support that bound, but the relevant GPU/SHM capacity is unmeasured. The CPU remote-memory experiment is supporting platform context only. Do not infer that CPU interconnect is harmless or saturated. Further tuning should reduce input staging via direct production into registered buffers, followed by full-H3 validation of correctness, E2E latency and compute/communication overlap. Previous isolated producer-direct communication experiments showed possible improvement, but those are not an E2E result. The immediately preceding validation slide concerns a separate overlap/graph/tiled-O candidate, whose full eight-GPU H3 acceptance remains pending. No claim is made that NCCL inherently cannot use RDMA or that the observed implementation speedup is solely due to network bandwidth.</a:t>
            </a:r>
          </a:p>
          <a:p/>
          <a:p>
            <a:r>
              <a:t>Current model clarification: C=256 GB/s is only the raw one-way aggregate xGMI assumption; installed effective capacity is unknown. Under that assumption the 36.8 GB/s shared PCIe uplink bound is tighter. This does not exclude memory/SHM/xGMI implementation costs as contributors to the measured gap.</a:t>
            </a:r>
          </a:p>
        </p:txBody>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 stages 08–12 as one engineering refinement, with the detailed stage measurements retained on the linked data page.</a:t>
            </a:r>
          </a:p>
          <a:p>
            <a:r>
              <a:t>Speedups are ratios of the unrounded medians of adjacent displayed configurations, not ratios of rounded table values or paired per-request speedups.</a:t>
            </a:r>
          </a:p>
          <a:p>
            <a:r>
              <a:t>The 00→01 value is a descriptive ratio across separately recorded baseline policies, not an isolated causal gain from step reduction.</a:t>
            </a:r>
          </a:p>
          <a:p>
            <a:r>
              <a:t>The final 4.922-second result is a standalone 124-frame request and does not establish sustained rolling RTF below one.</a:t>
            </a:r>
          </a:p>
          <a:p>
            <a:r>
              <a:t>https://lishunyang12.github.io/fasth3-omni-evaluation-20261018/slides/minimax-h3-real-time-inference-20261025/v1.43/benchmarks.html</a:t>
            </a:r>
          </a:p>
          <a:p>
            <a:r>
              <a:t>[{"stage": "00", "title": "Baseline \u00b7 original BF16 / dense / 50 evaluations", "median_seconds": 213.40215269569308, "rtf": 41.303642457230914, "previous_stage": null, "speedup": null, "separately_refreshed_baseline": false}, {"stage": "01", "title": "+ PDD \u00b7 50 \u2192 8 evaluations", "median_seconds": 44.32691093347967, "rtf": 8.579402116157354, "previous_stage": "00-base50", "speedup": 4.814279817872727, "separately_refreshed_baseline": true}, {"stage": "02", "title": "+ Trained VSA \u00b7 native 8-step model / runtime", "median_seconds": 25.915374606847763, "rtf": 5.015878956164083, "previous_stage": "01-pdd8", "speedup": 1.7104483962106, "separately_refreshed_baseline": false}, {"stage": "03", "title": "+ QAD NVFP4 DiT / native FP4 attention", "median_seconds": 19.460303778760135, "rtf": 3.766510408792284, "previous_stage": "02-vsa", "speedup": 1.3317045253493416, "separately_refreshed_baseline": false}, {"stage": "04", "title": "+ RDMA / direct layout / V-gate overlap", "median_seconds": 6.832498379051685, "rtf": 1.3224190411067778, "previous_stage": "03-qad-native-fp4", "speedup": 2.84819735024381, "separately_refreshed_baseline": false}, {"stage": "05", "title": "+ 2 / 3 / 2 head pipeline", "median_seconds": 6.407273745164275, "rtf": 1.240117499064053, "previous_stage": "04-ulysses", "speedup": 1.0663659226684887, "separately_refreshed_baseline": false}, {"stage": "06", "title": "+ Compute CUDA graphs", "median_seconds": 6.192990344949067, "rtf": 1.198643292570787, "previous_stage": "05-head-232", "speedup": 1.0346009582252902, "separately_refreshed_baseline": false}, {"stage": "07", "title": "+ 36-layer NVFP4 VAE / MP4 pre-encoding", "median_seconds": 5.419804787263274, "rtf": 1.048994474954182, "previous_stage": "06-cuda-graph", "speedup": 1.1426593001103664, "separately_refreshed_baseline": false}, {"stage": "08\u201312", "title": "+ Output and data-movement optimizations", "median_seconds": 4.9224158665165305, "rtf": 0.9527256515838446, "previous_stage": "07-vae-output", "speedup": 1.1010456926506564, "separately_refreshed_baseline": false}]</a:t>
            </a:r>
          </a:p>
          <a:p/>
          <a:p>
            <a:r>
              <a:t>Presentation emphasis: Use the table as evidence for how the bottleneck shifts. Highlight the grouped communication change and the output-path work that completes the path below five seconds. Do not narrate every row. Final 4.922 s is standalone H3 latency; it does not establish the full conversational response latency. Keep the separately refreshed baseline qualification.</a:t>
            </a:r>
          </a:p>
        </p:txBody>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talk has two parts: taking MiniMax H3 toward real-time generation on eight RTX PRO 5000 GPUs, then using vLLM-Omni as the multi-GPU backend for ComfyUI applications.</a:t>
            </a:r>
          </a:p>
          <a:p/>
          <a:p>
            <a:r>
              <a:t>Presentation emphasis: Cover title, speaker and date supplied by the presenter. The H3 study remains the case study supporting the talk.</a:t>
            </a:r>
          </a:p>
        </p:txBody>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Published architecture comparison, not a matched quality or performance benchmark. MiniMax H3 full dense OmniTransformer 33B; Wan2.2 A14B total 27B with 14B active per denoising step; LTX-2.5 official 22B designation; HunyuanVideo-1.5 8.3B. Encoder and VAE parameters excluded. H3 full weights include precomputable modulation branches, so the bar is not runtime-active parameter count or FLOPs. Open H3-Base defaults to 768 pixels on the short side. This benchmark instead uses 960x544 at 124 frames/24 FPS (5.1667 s). H3-Regenerate-2K is not included. Joint audio-video and multimodal reference conditioning are model capabilities, not exclusive to H3. Sources checked 2026-10-31: https://huggingface.co/MiniMaxAI/MiniMax-H3 ; https://github.com/Wan-Video/Wan2.2 ; https://huggingface.co/Lightricks/LTX-2.5 ; https://github.com/Tencent-Hunyuan/HunyuanVideo-1.5</a:t>
            </a:r>
          </a:p>
        </p:txBody>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GPU owns seven attention heads after Ulysses redistribution. Selected band slices [0:2], [2:5], [5:7]. Each band receives Q/K/V for the complete global sequence before executing fine/coarse VSA. Stream events gate readiness and buffer reuse. Returned O bands restore all 56 heads for each token in the local token shard before full W_O; there is no independent full output projection per head band. Shared NIC direction capacity still applies; the communication lane here serializes operations and illustrates overlap with compute. The schedule is conceptual with illustrative durations, not a prediction of latency. 2/3/2 is selected for the updated presentation and has not been benchmarked here. Historical measurements used 1/2/3/1 and are labeled separately.</a:t>
            </a:r>
          </a:p>
          <a:p>
            <a:r>
              <a:t>v1.27 visual revision: consistent blue input transfers, gray output transfers, green compute bands with visible separation, three readiness arrows and an explicit complete-output dependency. Timing coordinates and logical ordering are unchanged.</a:t>
            </a:r>
          </a:p>
          <a:p>
            <a:r>
              <a:t>Pipeline changes dependency granularity to hide transfers behind productive work. It also repeats the compute submission sequence for every band. CUDA Graph is the following optimization: replay each qualified band compute island to reduce CPU/driver submission overhead. It neither changes link bandwidth nor replaces the head-pipeline readiness dependencies.</a:t>
            </a:r>
          </a:p>
          <a:p>
            <a:r>
              <a:t>Head-band caveats: smaller bands can lose kernel efficiency and add launches, events and communication calls. Each band still needs full-sequence QKV; all O bands must restore the full 56-head local-token representation before W_O. Rank ordering, input readiness and buffer lifetime must remain correct. Compute and transfers can compete for HBM/PCIe/NIC resources. Overlap must repay the extra scheduling and split-kernel cost. CUDA Graph can already be used before banding; banding increases repeated submissions and strengthens its motivation. The displayed 2/3/2 remains a selected schematic, without a matched full-model benchmark in this release.</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60 seconds. One message: distillation reduces repeated work, rather than merely making an individual kernel faster. The released PDD8 student uses eight model evaluations with a trained 32-fine-interval schedule, predicting four interval directions per call. It is not a selection of eight original solver steps. (50-8)/50=84% is evaluation-count arithmetic, not measured latency reduction. Each evaluation still crosses 50 DiT blocks. Quality must be checked with the distilled model. Source: preserved original Distillation detail slide and its FastGen-PDD / Alibaba-PAI Ref2VA Acc-8Step references. The separately refreshed baseline comparison is qualified in the measured table; do not claim a clean isolated 4.8× distillation gain.</a:t>
            </a:r>
          </a:p>
          <a:p>
            <a:r>
              <a:t>Added explanatory detail: PDD8 predicts four trained fine-interval directions per evaluation over the 32-interval schedule. It is not selecting eight original solver steps. Recorded stage 00→01 medians 213.40215269569308→44.32691093347967 seconds; separately refreshed baseline, not a matched rerun. No new measurements.</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70 seconds. One message: VSA and NVFP4 change different dimensions of the cost. VSA uses coarse global attention to select content-dependent fine-attention regions; the displayed grid is an abstract selection schematic, not a causal mask or a fixed Top-K policy. QAD trains a student to compensate for quantization error. NVFP4 does not mean every operation is four-bit; sensitive components retain higher precision. The QAD training recipe is public implementation analysis, not training reproduced by this project. Original VSA and QAD detail slides are retained hidden with their primary sources. Avoid claiming quality equivalence from a single video. Use the recorded optimization table for E2E evidence.</a:t>
            </a:r>
          </a:p>
          <a:p>
            <a:r>
              <a:t>Added recorded E2E changes: stage01 PDD8→stage02 trained VSA (44.3269→25.9154s), then stage03 QAD NVFP4/native FP4 attention (19.4603s). These compare cumulative model/runtime variants, not isolated attention or GEMM kernels. Full precision is retained in sensitive paths. New text does not claim losslessness.</a:t>
            </a:r>
          </a:p>
          <a:p>
            <a:r>
              <a:t>Explicit configuration: VSA sparsity setting 0.9 (90%); block/tile size 128 tokens. Recorded native attention metadata uses vsa_h3_tile_size=128 and vsa_h3_sparsity=0.9; demo-config.json retains sparsity_setting=0.9. The 10-by-10 grid illustrates the setting only, not a captured mask, fixed Top-K selection, measured whole-model sparsity, or a 90% E2E reduction. Prefix/reference policies and coarse attention are separate work. Block size is measured in tokens, not pixels. No runtime configuration changed.</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Route comparison added to the same two-socket/four-subtree/eight-GPU topology. Black dashed arrows illustrate the controlled local-only NCCL replay for GPU0→GPU4; green illustrates the tested GPU-affine FlashInfer RDMA payload route. These are logical data-flow diagrams, not packet traces. In the NCCL local-only audit, every rank uses P2P/CUMEM to its one same-subtree peer and SHM/direct/direct to six others. Same-NUMA different-subtree payload uses host buffers and host uplinks; cross-NUMA also traverses the CPU interconnect. Dashed arrows include host-buffer staging, not direct P2P across all GPUs. FI RDMA uses mapped GPU0→mlx5_2 and GPU4→mlx5_6; payload bypasses host buffers/uplinks, with CPU control work still present. External RoCE switch wiring is unaudited. Network rail is logical connectivity. Known physical link widths scale with nominal raw one-way capacity; black route emphasis is not a bandwidth encoding. The CPU physical link uses the user-supplied 128GB/s system bandwidth. GPU PCIe max and host uplink 64GB/s raw (63.015 after 128/130 encoding); shared NIC endpoint 128GB/s raw; network port 50GB/s. CPU-to-CPU bandwidth is 128GB/s as supplied by the presenter on 2026-10-31; this is not a new throughput measurement. The source statement does not establish one-way versus aggregate-duplex accounting, so no directional split or saturation is inferred. Measured S15104 eight-GPU exchange: NCCL 5.5599215ms,17.0384218554GB/s/GPU; FI RDMA2.3746525ms,39.8931161507GB/s/GPU;2.341362x. This is rank-max timing, pooled median over three rounds of30 samples, B1,H56,D128,BF16,Q/K/V scatters and O gather,94,732,288 off-rank TX bytes/GPU. Includes layouts, allocations/staging,synchronization; excludes attention,GEMM,E2E. Original source63487a7f22db AST-extracted all_to_all_4D unchanged. Local-only adds NCCL_NET_DISABLE_INTRA=1,NCCL_IB_DISABLE=1,P2P and SHM enabled. The historical Base50 run did not record NET_DISABLE_INTRA; its per-pair routes are unknown. An IB-disable-only replay used NET/Socket cross-NUMA, so it must not be depicted as this local-only SHM control. NCCL can also use RDMA; this is not a universal library comparison. These implementation gains are not isolated link gains or the19.46→6.83s cumulative E2E change. Sources: retained public sequence-comparison-v1.23.json and hidden slide28; local-only route audit pair counts P2P8,SHM48. No new measurement.</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select a suitable route, then overlap transfers and reduce avoidable layouts/submission overhead. The 3.1× label is the ratio of retained stage-03 and stage-06 E2E medians, 19.460303778760135 / 6.192990344949067 = 3.1423113382748515. It combines RDMA/direct layout/V-gate overlap, the selected 2/3/2 head pipeline and compute graph replay. It is not an isolated RDMA or bandwidth speedup. The schematic uses three illustrative bands, not real Nsight durations or equal-sized 2/3/2 bands. Every band must receive its required full-sequence inputs; output dependencies and buffer lifetimes still apply. Smaller bands add launches and can reduce kernel efficiency, so overlap must repay that overhead. Source: benchmark-data.json stages 03 through 06; original hidden detail slides preserve the implementation and component experiments. This is the same standalone 960×544, 124-frame, eight-evaluation, eight-GPU case; ASR/LLM are excluded. No new measurements.</a:t>
            </a:r>
          </a:p>
          <a:p>
            <a:r>
              <a:t>Expanded mechanism and measurements: stage03 19.4603s →stage04 RDMA/direct layout/V-gate 6.8325s →stage05 2/3/2 head pipeline 6.4073s →stage06 compute CUDA graphs 6.1930s. The 3.1x result groups those changes. The separate 2.34x route replay on slide7 includes communication/layout/synchronization and is not this E2E experiment. The equal-width schedule is conceptual, not a scale drawing of 2/3/2 durations.</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Restored the cumulative optimization ladder to main slide9. Every value is from unchanged benchmark-data.json. Displayed rows00–07 are individual stages;08–12 combines output/data movement work and compares stage12 with stage07, not stage11. Overall213.40215269569308/4.9224158665165305=43.353x;RTF4.9224158665165305/(124/24)=0.95272565. Baseline refreshed separately with n2;later stagesn3 retained,not a matched rerun. No isolated distillation or RDMA causality is asserted. PDD,VSA,QAD/precision are not all lossless. Final standalone H3 latency excludes ASR,LLM,rolling history and browser playback. Original detailed table remains on hidden slide36; previous final-number-only design on hidden slide44. Row08–12 includes fused tile/AAC prep,direct output/input packing,integer routing compaction and producer copy elision. Final recheck4.927s is a separate retained result,not averaged into the main table.</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User-requested closed conversation loop: a user pictogram on the left sends speech through Qwen3-ASR-0.6B, Qwen3-4B, and H3; a generated avatar frame appears on the right and generated voice returns to the user.</a:t>
            </a:r>
          </a:p>
          <a:p>
            <a:r>
              <a:t>The recorded ASR is Qwen3-ASR-0.6B, not 0.5B. Model identity is verified against demo-config.json. Qwen3-4B produces short replies; the server combines the reply with fixed English scene/speaking instructions to form the H3 prompt.</a:t>
            </a:r>
          </a:p>
          <a:p>
            <a:r>
              <a:t>The question is the English translation of the recorded user question. The right speech bubble and prompt excerpt are intended LLM reply text, not verified transcription of generated H3 audio.</a:t>
            </a:r>
          </a:p>
          <a:p>
            <a:r>
              <a:t>The upper portrait is the actual reference image passed into H3. The right frame is media/clip-a-ending.png, a previously generated frame from the validated interactive demo session, not a new render for this question. The figure illustrates the data flow, not frame-accurate word/audio alignment.</a:t>
            </a:r>
          </a:p>
          <a:p>
            <a:r>
              <a:t>Output is H3 native video and audio; there is no separate TTS. The return arrow denotes audio playback to the user, not model feedback. First window 5.167 s; continuation adds 4.958 s after overlap trimming.</a:t>
            </a:r>
          </a:p>
          <a:p>
            <a:r>
              <a:t>Existing video/audio recordings and all benchmark measurements remain unchanged.</a:t>
            </a:r>
          </a:p>
          <a:p/>
          <a:p>
            <a:r>
              <a:t>Presentation emphasis: The user experiences the complete loop. The standalone generation result is one component of response latency. Walk through the concrete spoken example, then show the recorded experience; do not assign unmeasured latency to the full loop.</a:t>
            </a:r>
          </a:p>
          <a:p>
            <a:r>
              <a:t>Light-talk edit removes the repeated ASR transcript while retaining the actual reference image, English question/prompt excerpt, actual generated still and generated-voice return loop. ASR is Qwen3-ASR-0.6B; Qwen3-4B emits reply text and the server assembles the H3 prompt. The still is not a newly generated rendering of the example words. Full detail remains on hidden slide 34 and demo-config.html.</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a:p>
            <a:r>
              <a:t>Visible settings: 20% video-history noise (0.8 retained latent +0.2 seeded noise), last two video latent time slices, aligned 8 or 9 audio latent tokens. Audio clean; target prefix clamping off. No attention KV cache is reused across chunks. Same settings remain visible beside online video. Recorded media bytes unchanged.</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insights for a short talk. (1) Map GPU/NIC topology and the actual bottleneck. Use bandwidth, overlap communication with computation, and reduce data movement for lossless speedups. (2) Quantization quality and efficiency vary by model and workload; validate representative scenes. (3) Autoregressive diffusion and richer prompt enhancement are future directions, not claims of improvements implemented in this demo.</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Required closing slide from NVIDIA Corporate PPT Template Starter Guide v1, page 22.</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Supported status checked against upstream main 08177216af4b44cef54ec5bdc75c265a9f0cd697 on 2026-10-31; RFC checkboxes can lag merged code. Existing templates: All-in-One T2VA/FL2VA/Ref2VA, timeline guides, latent-mask editing/continuation, supplied-track music videos and SeedVR2 restoration. Model/API restrictions apply; not all modes combine. H3 second-pass refinement is backend-supported, merged #8322, via server defaults latent_refine and optional latent_upscale; learned upscale needs a separate checkpoint. Request mode only; no dedicated ComfyUI node/template. SeedVR2 is a separate model. Planned support means public development work or RFC proposals, not delivery commitments: CTRL-02 #7492 and WF-06 #7507 draft/open; character replacement #9194 open; identity plus timeline-anchor template #9420 open, while guide nodes already exist. RFC #8251 proposes H3-01 story/dialogue, H3-02 long-video, H3-05 repeatable avatar production graphs. This does not negate existing bounded continuation or guarantee unlimited generation. #7943 generation progress remains open. Q4 roadmap #8264 includes ComfyUI but priorities/ownership require coordination. No feature delivery dates announced. No new inference/benchmark. https://github.com/vllm-project/vllm-omni/issues/8264 ; https://github.com/vllm-project/vllm-omni/issues/7380 ; https://github.com/vllm-project/vllm-omni/issues/8251</a:t>
            </a:r>
          </a:p>
          <a:p/>
          <a:p>
            <a:r>
              <a:t>Workflow speaker notes, checked 31 October 2026.</a:t>
            </a:r>
          </a:p>
          <a:p>
            <a:r>
              <a:t>Text, keyframes and mixed references [Supported template]: Start from a text prompt, constrain the first and/or last frame, or supply image, video and audio references. The connected inputs select T2VA, FL2VA or Ref2VA. These are alternative generation modes; the service must load the matching checkpoint partition.</a:t>
            </a:r>
          </a:p>
          <a:p>
            <a:r>
              <a:t>Source: https://github.com/vllm-project/vllm-omni/blob/08177216af4b44cef54ec5bdc75c265a9f0cd697/apps/ComfyUI-vLLM-Omni/docs/h3-06-all-in-one.md</a:t>
            </a:r>
          </a:p>
          <a:p/>
          <a:p>
            <a:r>
              <a:t>Timeline guides [Supported nodes and template]: Place an image, video or audio guide at a chosen frame of the output. For example, frame 36 is 1.5 seconds at 24 FPS. This controls when supplied content appears. Requires base H3; the current guide path rejects FastH3, nonzero request LoRA and latent-mask editing.</a:t>
            </a:r>
          </a:p>
          <a:p>
            <a:r>
              <a:t>Source: https://github.com/vllm-project/vllm-omni/blob/08177216af4b44cef54ec5bdc75c265a9f0cd697/apps/ComfyUI-vLLM-Omni/README.md#timeline-guides-minimax-h3</a:t>
            </a:r>
          </a:p>
          <a:p/>
          <a:p>
            <a:r>
              <a:t>Inpainting and removal [Supported latent-mask template]: Supply a source video and a spatial mask. Preserve the unmasked context and regenerate the selected region: remove an object or describe replacement content. A separate audio mask decides whether source audio is preserved or regenerated.</a:t>
            </a:r>
          </a:p>
          <a:p>
            <a:r>
              <a:t>Source: https://github.com/vllm-project/vllm-omni/blob/08177216af4b44cef54ec5bdc75c265a9f0cd697/apps/ComfyUI-vLLM-Omni/docs/wf05-h3-latent-editing.md</a:t>
            </a:r>
          </a:p>
          <a:p/>
          <a:p>
            <a:r>
              <a:t>Continuation and extension [Supported latent-mask template]: Use a temporal mask to retain an initial part and regenerate the remaining interval, or request a longer duration to add new content after the source. This editing workflow is distinct from the rolling AV-tail implementation in our interactive demo.</a:t>
            </a:r>
          </a:p>
          <a:p>
            <a:r>
              <a:t>Source: https://github.com/vllm-project/vllm-omni/blob/08177216af4b44cef54ec5bdc75c265a9f0cd697/apps/ComfyUI-vLLM-Omni/docs/wf05-h3-latent-editing.md</a:t>
            </a:r>
          </a:p>
          <a:p/>
          <a:p>
            <a:r>
              <a:t>SeedVR2 upscale / restoration [Supported local and remote workflows]: Generate an H3 clip, then restore or upscale its decoded frames with a separate SeedVR2 model. Preserve the generated audio and FPS. The local template uses a ComfyUI SeedVR2 extension; the remote route calls a separate vLLM-Omni SeedVR2 service.</a:t>
            </a:r>
          </a:p>
          <a:p>
            <a:r>
              <a:t>Source: https://github.com/vllm-project/vllm-omni/blob/08177216af4b44cef54ec5bdc75c265a9f0cd697/apps/ComfyUI-vLLM-Omni/docs/wf07-h3-upscale.md</a:t>
            </a:r>
          </a:p>
          <a:p/>
          <a:p>
            <a:r>
              <a:t>H3 second-pass refinement [Backend capability; server-configured]: Generate a base latent, optionally upscale that latent, add noise and run the tail of the H3 denoising schedule before VAE decoding. This can change visual details and audio. It is request-mode only, rejects latent-tail continuation and latent-mask editing, and currently has no dedicated ComfyUI node or template.</a:t>
            </a:r>
          </a:p>
          <a:p>
            <a:r>
              <a:t>Source: https://github.com/vllm-project/vllm-omni/blob/08177216af4b44cef54ec5bdc75c265a9f0cd697/recipes/MiniMaxAI/MiniMax-H3.md</a:t>
            </a:r>
          </a:p>
          <a:p/>
          <a:p>
            <a:r>
              <a:t>Music-driven video [Supported supplied-track template]: Supply a music track and a character/style image. Slice the track, generate one Ref2VA shot per slice with locked source audio, then join the shots and restore the original recording as the final soundtrack. Shots share the reference image but do not carry latent history between requests; cuts are expected.</a:t>
            </a:r>
          </a:p>
          <a:p>
            <a:r>
              <a:t>Source: https://github.com/vllm-project/vllm-omni/blob/08177216af4b44cef54ec5bdc75c265a9f0cd697/apps/ComfyUI-vLLM-Omni/docs/h3-03-music-video.md</a:t>
            </a:r>
          </a:p>
          <a:p/>
          <a:p>
            <a:r>
              <a:t>ControlNet workflows [Draft PRs; not merged]: Use pose, depth or edge hints to constrain motion and composition. The proposed workflow offers Canny, Depth, Pose, HED, MLSD and Inpaint controls. Dependencies and quality validation remain; do not present it as available on main.</a:t>
            </a:r>
          </a:p>
          <a:p>
            <a:r>
              <a:t>Source: https://github.com/vllm-project/vllm-omni/pull/7507</a:t>
            </a:r>
          </a:p>
          <a:p/>
          <a:p>
            <a:r>
              <a:t>Character replacement [Open PR; not merged]: Combine a source video and a new character reference to replace the subject while aiming to retain the original motion and scene. Backend dependencies and quality validation remain.</a:t>
            </a:r>
          </a:p>
          <a:p>
            <a:r>
              <a:t>Source: https://github.com/vllm-project/vllm-omni/pull/9194</a:t>
            </a:r>
          </a:p>
          <a:p/>
          <a:p>
            <a:r>
              <a:t>Multi-anchor workflow [Open template PR; not merged]: Combine an identity reference with several time-indexed image anchors in one ready-to-run graph. Reference and timeline-guide nodes already exist; the pending item is the combined template, not the entire guide capability.</a:t>
            </a:r>
          </a:p>
          <a:p>
            <a:r>
              <a:t>Source: https://github.com/vllm-project/vllm-omni/pull/9420</a:t>
            </a:r>
          </a:p>
          <a:p/>
          <a:p>
            <a:r>
              <a:t>Long-form stories and avatars [RFC proposals]: Compose multiple bounded shots or continuation segments into story, dialogue and repeatable-avatar workflows, with explicit boundary and audio handling. This is a proposed workflow family, not a promise of unlimited single-request generation or real-time performance.</a:t>
            </a:r>
          </a:p>
          <a:p>
            <a:r>
              <a:t>Source: https://github.com/vllm-project/vllm-omni/issues/8251</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45 seconds. This is the presenter's planned open-source developer tool for end-to-end video generation and editing, with a backend designed to use models served by vLLM-Omni. Video Studio is a descriptive working title, not an announced official product name. No repository, release date, completion status, UI screenshot or tested model matrix was supplied, so none is asserted. Prompt/assets → generation → editing/assembly → export is a conceptual product flow, not a screenshot or completed integration. Model serving is the inference backend; it is not described as implementing the editing UI. Source for the plan: user instruction in this conversation.</a:t>
            </a:r>
          </a:p>
          <a:p>
            <a:r>
              <a:t>Presenter-provided target, 2026-10-31: expected open-source release in early November 2026. This is a plan, not a confirmed release or completed integration.</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Replaced the prior GitHub and official general-WeChat QR codes with all three user-supplied group invitations, as explicitly requested on 2026-10-31. Source repository lishunyang12/vllm-omni-rankings at 49fc3c9ef469ed6b3ac1579eaa4ead3c89d7872d. Visible labels translate the group names shown in the original images: vLLM-Omni ComfyUI developer community; Agentic video generation with minimax-h3; vLLM Study Group Shenzhen. These are presenter-supplied community groups, not a claim of official project administration. Images are embedded byte-for-byte and cropped natively to retain the full QR and white quiet zone. All source images state validity before November 7, shown as 7 Nov 2026 for this presentation. Successful decoding is tested on originals and the rendered slide; no WeChat account admission is tested. GitHub and official Slack remain text links. Previous images stay only as archived assets and are not displayed. No benchmark, demo or continuation settings changed.</a:t>
            </a:r>
          </a:p>
          <a:p>
            <a:r>
              <a:t>Four community entries: the three presenter-supplied WeChat invitations from v1.61, plus the user-provided vLLM Bilibili channel. Bilibili URL is https://space.bilibili.com/189708420 with tracking parameters removed. Public account-card API returned mid 189708420 and account name vllm_project; its description links vllm-project/vllm. Channel lead Wang Zhipeng (princepride), a vLLM-Omni maintainer, links this exact URL as the vLLM Bilibili channel in https://github.com/princepride/princepride . Official channel is the presenter/project-channel designation, not a claim of a Bilibili verification badge. QR generated directly from the clean URL, with no redirect service. WeChat expiry applies only to the three group invitations. All four rendered QR codes are checked against expected destinations. No benchmark/demo changes.</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About five seconds is the nominal target. The benchmark emits 124 frames at 24 FPS, exactly 5.1666666667 seconds. Its RTF threshold is E2E latency / 5.1666666667 &lt; 1; the presentation uses &lt;5 seconds as the stricter practical target. Standalone H3 timing ends at the complete MP4 HTTP response and excludes ASR, LLM and browser playback. Interactive response is a separate budget.</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Light talk: about 75 seconds. One message: the nominal GPU count does not describe the communication system. This simplified logical topology retains the recorded two CPU sockets, four PCIe subtrees, two GPUs per subtree and four ConnectX-8 devices. Each NIC has two GPU-affine ports in the audited configuration. Black lines denote CPU-facing and GPU PCIe wiring; green lines highlight the NIC/fabric branch. The fabric rail is logical connectivity, not one physical measured link. Do not interpret the drawing as a measured bandwidth timeline. Link-rate algebra, xGMI capacity assumptions and route-audit details remain on the original hidden topology/communication slides. New slide introduces no new topology measurement.</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Presentation edit of the user recording. Its first five seconds were already removed. From the resulting 74.55 s source: 0–18.6375 s plays at 1x; 18.6375–74.55 s plays at 3x. Output approximately 37.275 s. Audio is synchronized with pitch-preserving tempo change; a 3x playback badge is burned into the accelerated portion. This is editorial playback acceleration, not a measured H3 speedup. Original 74.55 s recording remains publicly available in v1.54/media/live-avatar-recording.mp4. The generation/response overlays are historical recorded values and are not retimed measurements. Standalone H3 benchmark unchanged.</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Final effect, not a narration of every intermediate row. Overall ratio is 213.40215269569308 / 4.9224158665165305 = 43.35313359996793. RTF is 4.9224158665165305/(124/24)=0.9527256515838446. Final stage is 12-copy-elision. Baseline was refreshed separately (n=2); later stages retain n=3 each. This is a descriptive ratio of recorded medians, not a matched rerun or isolated lossless gain. Optimized path includes PDD eight evaluations, trained VSA, QAD NVFP4/native FP4 attention, RDMA/layout/V-gate, 2/3/2 head overlap, CUDA graphs, 36-layer NVFP4 VAE and output/data movement changes. Standalone H3 excludes ASR, LLM, rolling history, media delivery and playback. This does not establish sustained real-time interactive response. Full optimization ladder remains on hidden slide 33 and benchmarks.html.</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left image is the official vLLM-Omni architecture. The right image is the official ComfyUI extension H3 workflow screenshot. Both are reproduced without modifications from upstream commit 08177216af4b44cef54ec5bdc75c265a9f0cd697. ComfyUI sends requests to the model service; generated video and audio return to the workflow. The screenshot illustrates the interface, not the benchmark configuration or a new result. ComfyUI does not load the H3 weights for this remote-serving integration. The next slide lists supported and proposed workflows. Source images: https://github.com/vllm-project/vllm-omni/blob/08177216af4b44cef54ec5bdc75c265a9f0cd697/docs/source/architecture/vllm-omni-main-architecture.png ; https://github.com/vllm-project/vllm-omni/blob/08177216af4b44cef54ec5bdc75c265a9f0cd697/apps/ComfyUI-vLLM-Omni/docs/images/comfyui-video-generation.jpg .</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jp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jp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pic>
        <p:nvPicPr>
          <p:cNvPr id="5" name="KV Cover">
            <a:extLst>
              <a:ext uri="{FF2B5EF4-FFF2-40B4-BE49-F238E27FC236}">
                <a16:creationId xmlns:a16="http://schemas.microsoft.com/office/drawing/2014/main" id="{1159C106-99AA-D6FE-4680-F5FA37DEFB33}"/>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6" name="Gradient">
            <a:extLst>
              <a:ext uri="{FF2B5EF4-FFF2-40B4-BE49-F238E27FC236}">
                <a16:creationId xmlns:a16="http://schemas.microsoft.com/office/drawing/2014/main" id="{AB8E17C0-2F94-AA60-3059-BB1990DAB002}"/>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3" name="Text Placeholder 2">
            <a:extLst>
              <a:ext uri="{FF2B5EF4-FFF2-40B4-BE49-F238E27FC236}">
                <a16:creationId xmlns:a16="http://schemas.microsoft.com/office/drawing/2014/main" id="{C732FCE6-27DF-71BF-764C-6A33A1DC24AA}"/>
              </a:ext>
            </a:extLst>
          </p:cNvPr>
          <p:cNvSpPr>
            <a:spLocks noGrp="1"/>
          </p:cNvSpPr>
          <p:nvPr>
            <p:ph type="body" sz="quarter" idx="12" hasCustomPrompt="1"/>
          </p:nvPr>
        </p:nvSpPr>
        <p:spPr>
          <a:xfrm>
            <a:off x="1828800" y="16919165"/>
            <a:ext cx="16459200" cy="1828800"/>
          </a:xfrm>
          <a:prstGeom prst="rect">
            <a:avLst/>
          </a:prstGeom>
        </p:spPr>
        <p:txBody>
          <a:bodyPr lIns="0" tIns="45720" rIns="0" bIns="45720" anchor="t">
            <a:noAutofit/>
          </a:bodyPr>
          <a:lstStyle>
            <a:lvl1pPr marL="0" indent="0">
              <a:lnSpc>
                <a:spcPct val="90000"/>
              </a:lnSpc>
              <a:spcBef>
                <a:spcPts val="0"/>
              </a:spcBef>
              <a:buNone/>
              <a:defRPr sz="40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Event Details  |  Date</a:t>
            </a:r>
          </a:p>
        </p:txBody>
      </p:sp>
      <p:sp>
        <p:nvSpPr>
          <p:cNvPr id="9" name="Text Placeholder 1">
            <a:extLst>
              <a:ext uri="{FF2B5EF4-FFF2-40B4-BE49-F238E27FC236}">
                <a16:creationId xmlns:a16="http://schemas.microsoft.com/office/drawing/2014/main" id="{B6A7270C-E57A-891D-68FA-E278EDAFDF52}"/>
              </a:ext>
            </a:extLst>
          </p:cNvPr>
          <p:cNvSpPr>
            <a:spLocks noGrp="1"/>
          </p:cNvSpPr>
          <p:nvPr>
            <p:ph type="body" sz="quarter" idx="11" hasCustomPrompt="1"/>
          </p:nvPr>
        </p:nvSpPr>
        <p:spPr>
          <a:xfrm>
            <a:off x="1828800" y="16002000"/>
            <a:ext cx="16459200" cy="729430"/>
          </a:xfrm>
          <a:prstGeom prst="rect">
            <a:avLst/>
          </a:prstGeom>
        </p:spPr>
        <p:txBody>
          <a:bodyPr lIns="0" tIns="45720" rIns="0" bIns="45720" anchor="b">
            <a:noAutofit/>
          </a:bodyPr>
          <a:lstStyle>
            <a:lvl1pPr marL="0" indent="0">
              <a:lnSpc>
                <a:spcPct val="90000"/>
              </a:lnSpc>
              <a:spcBef>
                <a:spcPts val="0"/>
              </a:spcBef>
              <a:buNone/>
              <a:defRPr sz="48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speaker name</a:t>
            </a:r>
          </a:p>
        </p:txBody>
      </p:sp>
      <p:sp>
        <p:nvSpPr>
          <p:cNvPr id="8" name="Title Placeholder">
            <a:extLst>
              <a:ext uri="{FF2B5EF4-FFF2-40B4-BE49-F238E27FC236}">
                <a16:creationId xmlns:a16="http://schemas.microsoft.com/office/drawing/2014/main" id="{1B05952E-BEBB-3131-39CE-8BE18E92B621}"/>
              </a:ext>
            </a:extLst>
          </p:cNvPr>
          <p:cNvSpPr>
            <a:spLocks noGrp="1"/>
          </p:cNvSpPr>
          <p:nvPr>
            <p:ph type="body" sz="quarter" idx="10" hasCustomPrompt="1"/>
          </p:nvPr>
        </p:nvSpPr>
        <p:spPr>
          <a:xfrm>
            <a:off x="1737360" y="6858000"/>
            <a:ext cx="16459200" cy="8402300"/>
          </a:xfrm>
          <a:prstGeom prst="rect">
            <a:avLst/>
          </a:prstGeom>
        </p:spPr>
        <p:txBody>
          <a:bodyPr lIns="0" tIns="45720" rIns="0" bIns="45720" anchor="b">
            <a:noAutofit/>
          </a:bodyPr>
          <a:lstStyle>
            <a:lvl1pPr marL="0" indent="0">
              <a:lnSpc>
                <a:spcPct val="90000"/>
              </a:lnSpc>
              <a:spcBef>
                <a:spcPts val="0"/>
              </a:spcBef>
              <a:buNone/>
              <a:defRPr sz="12000" baseline="0">
                <a:latin typeface="+mj-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Click to Edit Presentation Title</a:t>
            </a:r>
          </a:p>
        </p:txBody>
      </p:sp>
      <p:sp>
        <p:nvSpPr>
          <p:cNvPr id="17" name="Logo Text">
            <a:extLst>
              <a:ext uri="{FF2B5EF4-FFF2-40B4-BE49-F238E27FC236}">
                <a16:creationId xmlns:a16="http://schemas.microsoft.com/office/drawing/2014/main" id="{EDAA1242-21FF-D853-07AB-7B5BC2BE0B6D}"/>
              </a:ext>
            </a:extLst>
          </p:cNvPr>
          <p:cNvSpPr>
            <a:spLocks noGrp="1" noRot="1" noMove="1" noResize="1" noEditPoints="1" noAdjustHandles="1" noChangeArrowheads="1" noChangeShapeType="1"/>
          </p:cNvSpPr>
          <p:nvPr userDrawn="1"/>
        </p:nvSpPr>
        <p:spPr>
          <a:xfrm>
            <a:off x="3658247" y="3129472"/>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a:p>
        </p:txBody>
      </p:sp>
      <p:sp>
        <p:nvSpPr>
          <p:cNvPr id="16" name="Logo Eye">
            <a:extLst>
              <a:ext uri="{FF2B5EF4-FFF2-40B4-BE49-F238E27FC236}">
                <a16:creationId xmlns:a16="http://schemas.microsoft.com/office/drawing/2014/main" id="{7397046C-7F78-E4D8-0656-B1D73F72DF49}"/>
              </a:ext>
            </a:extLst>
          </p:cNvPr>
          <p:cNvSpPr>
            <a:spLocks noGrp="1" noRot="1" noMove="1" noResize="1" noEditPoints="1" noAdjustHandles="1" noChangeArrowheads="1" noChangeShapeType="1"/>
          </p:cNvSpPr>
          <p:nvPr userDrawn="1"/>
        </p:nvSpPr>
        <p:spPr>
          <a:xfrm>
            <a:off x="1828916" y="2933922"/>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a:p>
        </p:txBody>
      </p:sp>
    </p:spTree>
    <p:extLst>
      <p:ext uri="{BB962C8B-B14F-4D97-AF65-F5344CB8AC3E}">
        <p14:creationId xmlns:p14="http://schemas.microsoft.com/office/powerpoint/2010/main" val="14452572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accent4"/>
        </a:solidFill>
        <a:effectLst/>
      </p:bgPr>
    </p:bg>
    <p:spTree>
      <p:nvGrpSpPr>
        <p:cNvPr id="1" name=""/>
        <p:cNvGrpSpPr/>
        <p:nvPr/>
      </p:nvGrpSpPr>
      <p:grpSpPr>
        <a:xfrm>
          <a:off x="0" y="0"/>
          <a:ext cx="0" cy="0"/>
          <a:chOff x="0" y="0"/>
          <a:chExt cx="0" cy="0"/>
        </a:xfrm>
      </p:grpSpPr>
      <p:pic>
        <p:nvPicPr>
          <p:cNvPr id="4" name="KV Agenda">
            <a:extLst>
              <a:ext uri="{FF2B5EF4-FFF2-40B4-BE49-F238E27FC236}">
                <a16:creationId xmlns:a16="http://schemas.microsoft.com/office/drawing/2014/main" id="{286A11D6-2655-138C-4E2C-CC95BD1E31EF}"/>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2" name="Gradient">
            <a:extLst>
              <a:ext uri="{FF2B5EF4-FFF2-40B4-BE49-F238E27FC236}">
                <a16:creationId xmlns:a16="http://schemas.microsoft.com/office/drawing/2014/main" id="{BCF38184-F10E-5413-DFC7-636D799CF93E}"/>
              </a:ext>
            </a:extLst>
          </p:cNvPr>
          <p:cNvSpPr>
            <a:spLocks noGrp="1" noRot="1" noMove="1" noResize="1" noEditPoints="1" noAdjustHandles="1" noChangeArrowheads="1" noChangeShapeType="1"/>
          </p:cNvSpPr>
          <p:nvPr userDrawn="1"/>
        </p:nvSpPr>
        <p:spPr>
          <a:xfrm>
            <a:off x="0" y="0"/>
            <a:ext cx="26365200" cy="20574000"/>
          </a:xfrm>
          <a:prstGeom prst="rect">
            <a:avLst/>
          </a:prstGeom>
          <a:gradFill flip="none" rotWithShape="1">
            <a:gsLst>
              <a:gs pos="50000">
                <a:srgbClr val="FFFFFF">
                  <a:alpha val="75000"/>
                </a:srgbClr>
              </a:gs>
              <a:gs pos="0">
                <a:schemeClr val="bg1">
                  <a:alpha val="85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p>
        </p:txBody>
      </p:sp>
      <p:sp>
        <p:nvSpPr>
          <p:cNvPr id="6" name="Text Placeholder">
            <a:extLst>
              <a:ext uri="{FF2B5EF4-FFF2-40B4-BE49-F238E27FC236}">
                <a16:creationId xmlns:a16="http://schemas.microsoft.com/office/drawing/2014/main" id="{D5E6BF86-B8AE-0D7A-9EED-4667F43D1A0F}"/>
              </a:ext>
            </a:extLst>
          </p:cNvPr>
          <p:cNvSpPr>
            <a:spLocks noGrp="1"/>
          </p:cNvSpPr>
          <p:nvPr>
            <p:ph type="body" sz="quarter" idx="10" hasCustomPrompt="1"/>
          </p:nvPr>
        </p:nvSpPr>
        <p:spPr>
          <a:xfrm>
            <a:off x="9144000" y="3200400"/>
            <a:ext cx="14173200" cy="14173200"/>
          </a:xfrm>
          <a:prstGeom prst="rect">
            <a:avLst/>
          </a:prstGeom>
        </p:spPr>
        <p:txBody>
          <a:bodyPr lIns="0" tIns="45720" rIns="0" bIns="45720" anchor="ctr">
            <a:noAutofit/>
          </a:bodyPr>
          <a:lstStyle>
            <a:lvl1pPr marL="0" indent="0">
              <a:lnSpc>
                <a:spcPct val="90000"/>
              </a:lnSpc>
              <a:spcBef>
                <a:spcPts val="3000"/>
              </a:spcBef>
              <a:spcAft>
                <a:spcPts val="3000"/>
              </a:spcAft>
              <a:buNone/>
              <a:defRPr sz="5400" kern="100" baseline="0">
                <a:latin typeface="+mn-lt"/>
              </a:defRPr>
            </a:lvl1pPr>
            <a:lvl2pPr>
              <a:buNone/>
              <a:defRPr sz="12000">
                <a:latin typeface="+mj-lt"/>
              </a:defRPr>
            </a:lvl2pPr>
            <a:lvl3pPr>
              <a:buNone/>
              <a:defRPr sz="12000">
                <a:latin typeface="+mj-lt"/>
              </a:defRPr>
            </a:lvl3pPr>
            <a:lvl4pPr>
              <a:buNone/>
              <a:defRPr sz="12000">
                <a:latin typeface="+mj-lt"/>
              </a:defRPr>
            </a:lvl4pPr>
            <a:lvl5pPr>
              <a:buNone/>
              <a:defRPr sz="12000">
                <a:latin typeface="+mj-lt"/>
              </a:defRPr>
            </a:lvl5pPr>
          </a:lstStyle>
          <a:p>
            <a:pPr lvl="0"/>
            <a:r>
              <a:rPr lang="en-US" dirty="0"/>
              <a:t>Text goes here</a:t>
            </a:r>
          </a:p>
          <a:p>
            <a:pPr lvl="0"/>
            <a:r>
              <a:rPr lang="en-US" dirty="0"/>
              <a:t>Text goes here</a:t>
            </a:r>
          </a:p>
          <a:p>
            <a:pPr lvl="0"/>
            <a:r>
              <a:rPr lang="en-US" dirty="0"/>
              <a:t>Text goes here</a:t>
            </a:r>
          </a:p>
          <a:p>
            <a:pPr lvl="0"/>
            <a:r>
              <a:rPr lang="en-US" dirty="0"/>
              <a:t>Text goes here</a:t>
            </a:r>
          </a:p>
          <a:p>
            <a:pPr lvl="0"/>
            <a:r>
              <a:rPr lang="en-US" dirty="0"/>
              <a:t>Text goes here</a:t>
            </a:r>
          </a:p>
        </p:txBody>
      </p:sp>
      <p:sp>
        <p:nvSpPr>
          <p:cNvPr id="7" name="Agenda Title">
            <a:extLst>
              <a:ext uri="{FF2B5EF4-FFF2-40B4-BE49-F238E27FC236}">
                <a16:creationId xmlns:a16="http://schemas.microsoft.com/office/drawing/2014/main" id="{28EF0C95-765E-4725-72B9-B01FAF7A27C6}"/>
              </a:ext>
            </a:extLst>
          </p:cNvPr>
          <p:cNvSpPr txBox="1"/>
          <p:nvPr userDrawn="1"/>
        </p:nvSpPr>
        <p:spPr>
          <a:xfrm>
            <a:off x="1828800" y="9355604"/>
            <a:ext cx="5732660" cy="1938992"/>
          </a:xfrm>
          <a:prstGeom prst="rect">
            <a:avLst/>
          </a:prstGeom>
          <a:noFill/>
        </p:spPr>
        <p:txBody>
          <a:bodyPr wrap="none" lIns="0" rIns="0" rtlCol="0" anchor="ctr">
            <a:noAutofit/>
          </a:bodyPr>
          <a:lstStyle/>
          <a:p>
            <a:r>
              <a:rPr lang="en-US" sz="12000" kern="100" baseline="0" dirty="0">
                <a:latin typeface="+mj-lt"/>
              </a:rPr>
              <a:t>Agenda</a:t>
            </a:r>
          </a:p>
        </p:txBody>
      </p:sp>
    </p:spTree>
    <p:extLst>
      <p:ext uri="{BB962C8B-B14F-4D97-AF65-F5344CB8AC3E}">
        <p14:creationId xmlns:p14="http://schemas.microsoft.com/office/powerpoint/2010/main" val="372437144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ransition">
    <p:bg>
      <p:bgPr>
        <a:solidFill>
          <a:schemeClr val="accent4"/>
        </a:solidFill>
        <a:effectLst/>
      </p:bgPr>
    </p:bg>
    <p:spTree>
      <p:nvGrpSpPr>
        <p:cNvPr id="1" name=""/>
        <p:cNvGrpSpPr/>
        <p:nvPr/>
      </p:nvGrpSpPr>
      <p:grpSpPr>
        <a:xfrm>
          <a:off x="0" y="0"/>
          <a:ext cx="0" cy="0"/>
          <a:chOff x="0" y="0"/>
          <a:chExt cx="0" cy="0"/>
        </a:xfrm>
      </p:grpSpPr>
      <p:pic>
        <p:nvPicPr>
          <p:cNvPr id="3" name="KV Transition">
            <a:extLst>
              <a:ext uri="{FF2B5EF4-FFF2-40B4-BE49-F238E27FC236}">
                <a16:creationId xmlns:a16="http://schemas.microsoft.com/office/drawing/2014/main" id="{F0FDF11B-123E-E679-C0FA-F41F44F1366E}"/>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Text Placeholder">
            <a:extLst>
              <a:ext uri="{FF2B5EF4-FFF2-40B4-BE49-F238E27FC236}">
                <a16:creationId xmlns:a16="http://schemas.microsoft.com/office/drawing/2014/main" id="{AE985F00-3D1C-4B62-A80F-86E9A2D77267}"/>
              </a:ext>
            </a:extLst>
          </p:cNvPr>
          <p:cNvSpPr>
            <a:spLocks noGrp="1"/>
          </p:cNvSpPr>
          <p:nvPr>
            <p:ph type="body" sz="quarter" idx="11" hasCustomPrompt="1"/>
          </p:nvPr>
        </p:nvSpPr>
        <p:spPr>
          <a:xfrm>
            <a:off x="18059400" y="2470666"/>
            <a:ext cx="16687800" cy="3416320"/>
          </a:xfrm>
        </p:spPr>
        <p:txBody>
          <a:bodyPr anchor="ctr">
            <a:noAutofit/>
          </a:bodyPr>
          <a:lstStyle>
            <a:lvl1pPr>
              <a:spcBef>
                <a:spcPts val="0"/>
              </a:spcBef>
              <a:spcAft>
                <a:spcPts val="0"/>
              </a:spcAft>
              <a:buNone/>
              <a:defRPr sz="12000">
                <a:latin typeface="+mj-lt"/>
              </a:defRPr>
            </a:lvl1pPr>
            <a:lvl2pPr>
              <a:buNone/>
              <a:defRPr/>
            </a:lvl2pPr>
            <a:lvl3pPr>
              <a:buNone/>
              <a:defRPr/>
            </a:lvl3pPr>
            <a:lvl4pPr>
              <a:buNone/>
              <a:defRPr/>
            </a:lvl4pPr>
            <a:lvl5pPr>
              <a:buNone/>
              <a:defRPr/>
            </a:lvl5pPr>
          </a:lstStyle>
          <a:p>
            <a:pPr lvl="0"/>
            <a:r>
              <a:rPr lang="en-US" dirty="0"/>
              <a:t>Click to Edit Transition Title Here</a:t>
            </a:r>
          </a:p>
        </p:txBody>
      </p:sp>
    </p:spTree>
    <p:extLst>
      <p:ext uri="{BB962C8B-B14F-4D97-AF65-F5344CB8AC3E}">
        <p14:creationId xmlns:p14="http://schemas.microsoft.com/office/powerpoint/2010/main" val="22730569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Quote">
    <p:bg>
      <p:bgPr>
        <a:solidFill>
          <a:schemeClr val="accent4"/>
        </a:solidFill>
        <a:effectLst/>
      </p:bgPr>
    </p:bg>
    <p:spTree>
      <p:nvGrpSpPr>
        <p:cNvPr id="1" name=""/>
        <p:cNvGrpSpPr/>
        <p:nvPr/>
      </p:nvGrpSpPr>
      <p:grpSpPr>
        <a:xfrm>
          <a:off x="0" y="0"/>
          <a:ext cx="0" cy="0"/>
          <a:chOff x="0" y="0"/>
          <a:chExt cx="0" cy="0"/>
        </a:xfrm>
      </p:grpSpPr>
      <p:pic>
        <p:nvPicPr>
          <p:cNvPr id="7" name="KV Quote">
            <a:extLst>
              <a:ext uri="{FF2B5EF4-FFF2-40B4-BE49-F238E27FC236}">
                <a16:creationId xmlns:a16="http://schemas.microsoft.com/office/drawing/2014/main" id="{C1489B41-1ACE-E5CA-AA75-542FCC9200C2}"/>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8" name="Gradient">
            <a:extLst>
              <a:ext uri="{FF2B5EF4-FFF2-40B4-BE49-F238E27FC236}">
                <a16:creationId xmlns:a16="http://schemas.microsoft.com/office/drawing/2014/main" id="{5902D4C3-9D78-F0C7-D1DE-4ED685302DF5}"/>
              </a:ext>
            </a:extLst>
          </p:cNvPr>
          <p:cNvSpPr>
            <a:spLocks noGrp="1" noRot="1" noMove="1" noResize="1" noEditPoints="1" noAdjustHandles="1" noChangeArrowheads="1" noChangeShapeType="1"/>
          </p:cNvSpPr>
          <p:nvPr userDrawn="1"/>
        </p:nvSpPr>
        <p:spPr>
          <a:xfrm>
            <a:off x="0" y="0"/>
            <a:ext cx="36576000" cy="20574000"/>
          </a:xfrm>
          <a:prstGeom prst="rect">
            <a:avLst/>
          </a:prstGeom>
          <a:gradFill flip="none" rotWithShape="1">
            <a:gsLst>
              <a:gs pos="0">
                <a:schemeClr val="bg1">
                  <a:alpha val="5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5" name="Text Placeholder 2">
            <a:extLst>
              <a:ext uri="{FF2B5EF4-FFF2-40B4-BE49-F238E27FC236}">
                <a16:creationId xmlns:a16="http://schemas.microsoft.com/office/drawing/2014/main" id="{ADEBA1E2-C4F3-9C5A-7504-F537799FE527}"/>
              </a:ext>
            </a:extLst>
          </p:cNvPr>
          <p:cNvSpPr>
            <a:spLocks noGrp="1"/>
          </p:cNvSpPr>
          <p:nvPr>
            <p:ph type="body" sz="quarter" idx="11" hasCustomPrompt="1"/>
          </p:nvPr>
        </p:nvSpPr>
        <p:spPr>
          <a:xfrm>
            <a:off x="6583680" y="15882170"/>
            <a:ext cx="23317200" cy="757130"/>
          </a:xfrm>
        </p:spPr>
        <p:txBody>
          <a:bodyPr>
            <a:noAutofit/>
          </a:bodyPr>
          <a:lstStyle>
            <a:lvl1pPr marL="1005840">
              <a:spcBef>
                <a:spcPts val="0"/>
              </a:spcBef>
              <a:spcAft>
                <a:spcPts val="0"/>
              </a:spcAft>
              <a:buNone/>
              <a:defRPr sz="4800" baseline="0">
                <a:latin typeface="+mn-lt"/>
              </a:defRPr>
            </a:lvl1pPr>
          </a:lstStyle>
          <a:p>
            <a:pPr lvl="0"/>
            <a:r>
              <a:rPr lang="en-US" dirty="0"/>
              <a:t>Name, Company</a:t>
            </a:r>
          </a:p>
        </p:txBody>
      </p:sp>
      <p:sp>
        <p:nvSpPr>
          <p:cNvPr id="2" name="Text Placeholder 1">
            <a:extLst>
              <a:ext uri="{FF2B5EF4-FFF2-40B4-BE49-F238E27FC236}">
                <a16:creationId xmlns:a16="http://schemas.microsoft.com/office/drawing/2014/main" id="{B0414548-19C6-5111-D0E3-F080E8B02C68}"/>
              </a:ext>
            </a:extLst>
          </p:cNvPr>
          <p:cNvSpPr>
            <a:spLocks noGrp="1"/>
          </p:cNvSpPr>
          <p:nvPr>
            <p:ph type="title" hasCustomPrompt="1"/>
          </p:nvPr>
        </p:nvSpPr>
        <p:spPr>
          <a:xfrm>
            <a:off x="6583680" y="3962400"/>
            <a:ext cx="23317200" cy="10972800"/>
          </a:xfrm>
        </p:spPr>
        <p:txBody>
          <a:bodyPr anchor="t">
            <a:normAutofit/>
          </a:bodyPr>
          <a:lstStyle>
            <a:lvl1pPr marL="914400" indent="-685800" defTabSz="914400">
              <a:lnSpc>
                <a:spcPct val="100000"/>
              </a:lnSpc>
              <a:buSzPct val="100000"/>
              <a:buFont typeface="NVIDIA Sans" panose="020B0503020203020204" pitchFamily="34" charset="0"/>
              <a:buChar char="“"/>
              <a:defRPr sz="15000" kern="100" baseline="0">
                <a:latin typeface="+mn-lt"/>
              </a:defRPr>
            </a:lvl1pPr>
          </a:lstStyle>
          <a:p>
            <a:r>
              <a:rPr lang="en-US" dirty="0"/>
              <a:t>Quote placeholder.”</a:t>
            </a:r>
          </a:p>
        </p:txBody>
      </p:sp>
    </p:spTree>
    <p:extLst>
      <p:ext uri="{BB962C8B-B14F-4D97-AF65-F5344CB8AC3E}">
        <p14:creationId xmlns:p14="http://schemas.microsoft.com/office/powerpoint/2010/main" val="19028764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Speaker">
    <p:bg>
      <p:bgPr>
        <a:solidFill>
          <a:schemeClr val="accent4"/>
        </a:solidFill>
        <a:effectLst/>
      </p:bgPr>
    </p:bg>
    <p:spTree>
      <p:nvGrpSpPr>
        <p:cNvPr id="1" name=""/>
        <p:cNvGrpSpPr/>
        <p:nvPr/>
      </p:nvGrpSpPr>
      <p:grpSpPr>
        <a:xfrm>
          <a:off x="0" y="0"/>
          <a:ext cx="0" cy="0"/>
          <a:chOff x="0" y="0"/>
          <a:chExt cx="0" cy="0"/>
        </a:xfrm>
      </p:grpSpPr>
      <p:pic>
        <p:nvPicPr>
          <p:cNvPr id="7" name="KV Speaker">
            <a:extLst>
              <a:ext uri="{FF2B5EF4-FFF2-40B4-BE49-F238E27FC236}">
                <a16:creationId xmlns:a16="http://schemas.microsoft.com/office/drawing/2014/main" id="{CFF18E61-3C4B-6028-6E3C-5A0C25F567F5}"/>
              </a:ext>
            </a:extLst>
          </p:cNvPr>
          <p:cNvPicPr>
            <a:picLocks noChangeAspect="1"/>
          </p:cNvPicPr>
          <p:nvPr userDrawn="1"/>
        </p:nvPicPr>
        <p:blipFill>
          <a:blip r:embed="rId2"/>
          <a:srcRect/>
          <a:stretch/>
        </p:blipFill>
        <p:spPr>
          <a:xfrm>
            <a:off x="2" y="0"/>
            <a:ext cx="36575996" cy="20573997"/>
          </a:xfrm>
          <a:prstGeom prst="rect">
            <a:avLst/>
          </a:prstGeom>
        </p:spPr>
      </p:pic>
      <p:sp>
        <p:nvSpPr>
          <p:cNvPr id="8" name="Gradient">
            <a:extLst>
              <a:ext uri="{FF2B5EF4-FFF2-40B4-BE49-F238E27FC236}">
                <a16:creationId xmlns:a16="http://schemas.microsoft.com/office/drawing/2014/main" id="{8000293E-AB43-EBF8-BC82-0C817228C41B}"/>
              </a:ext>
            </a:extLst>
          </p:cNvPr>
          <p:cNvSpPr>
            <a:spLocks/>
          </p:cNvSpPr>
          <p:nvPr userDrawn="1"/>
        </p:nvSpPr>
        <p:spPr>
          <a:xfrm>
            <a:off x="0" y="0"/>
            <a:ext cx="36576000" cy="20574000"/>
          </a:xfrm>
          <a:prstGeom prst="rect">
            <a:avLst/>
          </a:prstGeom>
          <a:gradFill>
            <a:gsLst>
              <a:gs pos="15000">
                <a:schemeClr val="bg1">
                  <a:alpha val="40000"/>
                </a:schemeClr>
              </a:gs>
              <a:gs pos="100000">
                <a:schemeClr val="bg1">
                  <a:alpha val="0"/>
                </a:schemeClr>
              </a:gs>
            </a:gsLst>
            <a:lin ang="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3200" dirty="0">
              <a:solidFill>
                <a:schemeClr val="bg1"/>
              </a:solidFill>
              <a:latin typeface="+mj-lt"/>
            </a:endParaRPr>
          </a:p>
        </p:txBody>
      </p:sp>
      <p:sp>
        <p:nvSpPr>
          <p:cNvPr id="11" name="Text Placeholder">
            <a:extLst>
              <a:ext uri="{FF2B5EF4-FFF2-40B4-BE49-F238E27FC236}">
                <a16:creationId xmlns:a16="http://schemas.microsoft.com/office/drawing/2014/main" id="{794AC3DC-E5C8-57AA-F1F0-E4E9A2F01BE2}"/>
              </a:ext>
            </a:extLst>
          </p:cNvPr>
          <p:cNvSpPr>
            <a:spLocks noGrp="1"/>
          </p:cNvSpPr>
          <p:nvPr>
            <p:ph type="body" sz="quarter" idx="14" hasCustomPrompt="1"/>
          </p:nvPr>
        </p:nvSpPr>
        <p:spPr>
          <a:xfrm>
            <a:off x="1828801" y="5943600"/>
            <a:ext cx="20116800" cy="4114800"/>
          </a:xfrm>
        </p:spPr>
        <p:txBody>
          <a:bodyPr>
            <a:noAutofit/>
          </a:bodyPr>
          <a:lstStyle>
            <a:lvl1pPr>
              <a:defRPr>
                <a:solidFill>
                  <a:schemeClr val="tx1"/>
                </a:solidFill>
                <a:latin typeface="+mn-lt"/>
              </a:defRPr>
            </a:lvl1pPr>
            <a:lvl2pPr>
              <a:defRPr>
                <a:solidFill>
                  <a:schemeClr val="tx1"/>
                </a:solidFill>
                <a:latin typeface="+mn-lt"/>
              </a:defRPr>
            </a:lvl2pPr>
            <a:lvl3pPr>
              <a:defRPr>
                <a:solidFill>
                  <a:schemeClr val="tx1"/>
                </a:solidFill>
                <a:latin typeface="+mn-lt"/>
              </a:defRPr>
            </a:lvl3pPr>
            <a:lvl4pPr>
              <a:defRPr>
                <a:solidFill>
                  <a:schemeClr val="tx1"/>
                </a:solidFill>
                <a:latin typeface="+mn-lt"/>
              </a:defRPr>
            </a:lvl4pPr>
            <a:lvl5pPr>
              <a:defRPr>
                <a:solidFill>
                  <a:schemeClr val="tx1"/>
                </a:solidFill>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C04FA0E0-9C96-392B-D33F-3466D05F7DF4}"/>
              </a:ext>
            </a:extLst>
          </p:cNvPr>
          <p:cNvSpPr>
            <a:spLocks noGrp="1"/>
          </p:cNvSpPr>
          <p:nvPr>
            <p:ph type="body" sz="quarter" idx="13" hasCustomPrompt="1"/>
          </p:nvPr>
        </p:nvSpPr>
        <p:spPr>
          <a:xfrm>
            <a:off x="1828800" y="3383280"/>
            <a:ext cx="32918400" cy="914400"/>
          </a:xfrm>
        </p:spPr>
        <p:txBody>
          <a:bodyPr tIns="91440">
            <a:noAutofit/>
          </a:bodyPr>
          <a:lstStyle>
            <a:lvl1pPr>
              <a:buFontTx/>
              <a:buNone/>
              <a:defRPr sz="4800">
                <a:solidFill>
                  <a:schemeClr val="tx1"/>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0" name="Title">
            <a:extLst>
              <a:ext uri="{FF2B5EF4-FFF2-40B4-BE49-F238E27FC236}">
                <a16:creationId xmlns:a16="http://schemas.microsoft.com/office/drawing/2014/main" id="{A7E842F0-73CD-B6BE-1671-CF2E4C3D6069}"/>
              </a:ext>
            </a:extLst>
          </p:cNvPr>
          <p:cNvSpPr>
            <a:spLocks noGrp="1"/>
          </p:cNvSpPr>
          <p:nvPr>
            <p:ph type="title" hasCustomPrompt="1"/>
          </p:nvPr>
        </p:nvSpPr>
        <p:spPr>
          <a:xfrm>
            <a:off x="1828800" y="914400"/>
            <a:ext cx="32918400" cy="2468880"/>
          </a:xfrm>
        </p:spPr>
        <p:txBody>
          <a:bodyPr/>
          <a:lstStyle>
            <a:lvl1pPr>
              <a:defRPr>
                <a:solidFill>
                  <a:schemeClr val="tx1"/>
                </a:solidFill>
                <a:latin typeface="+mj-lt"/>
              </a:defRPr>
            </a:lvl1pPr>
          </a:lstStyle>
          <a:p>
            <a:r>
              <a:rPr lang="en-US" dirty="0"/>
              <a:t>Click to Edit Title Here</a:t>
            </a:r>
          </a:p>
        </p:txBody>
      </p:sp>
      <p:sp>
        <p:nvSpPr>
          <p:cNvPr id="2" name="Occupation Placeholder 3">
            <a:extLst>
              <a:ext uri="{FF2B5EF4-FFF2-40B4-BE49-F238E27FC236}">
                <a16:creationId xmlns:a16="http://schemas.microsoft.com/office/drawing/2014/main" id="{0EB760A4-0BDA-FCD7-294C-06DD0458085F}"/>
              </a:ext>
            </a:extLst>
          </p:cNvPr>
          <p:cNvSpPr>
            <a:spLocks noGrp="1"/>
          </p:cNvSpPr>
          <p:nvPr>
            <p:ph type="body" sz="quarter" idx="30" hasCustomPrompt="1"/>
          </p:nvPr>
        </p:nvSpPr>
        <p:spPr>
          <a:xfrm>
            <a:off x="15544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6" name="Name Placeholder 3">
            <a:extLst>
              <a:ext uri="{FF2B5EF4-FFF2-40B4-BE49-F238E27FC236}">
                <a16:creationId xmlns:a16="http://schemas.microsoft.com/office/drawing/2014/main" id="{2A7EE98A-14CA-4FDE-3BBC-547CA78134AE}"/>
              </a:ext>
            </a:extLst>
          </p:cNvPr>
          <p:cNvSpPr>
            <a:spLocks noGrp="1"/>
          </p:cNvSpPr>
          <p:nvPr>
            <p:ph type="body" sz="quarter" idx="27" hasCustomPrompt="1"/>
          </p:nvPr>
        </p:nvSpPr>
        <p:spPr>
          <a:xfrm>
            <a:off x="15544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5" name="Picture Placeholder 3">
            <a:extLst>
              <a:ext uri="{FF2B5EF4-FFF2-40B4-BE49-F238E27FC236}">
                <a16:creationId xmlns:a16="http://schemas.microsoft.com/office/drawing/2014/main" id="{65035A17-84AD-B446-290E-48C215AFB587}"/>
              </a:ext>
            </a:extLst>
          </p:cNvPr>
          <p:cNvSpPr>
            <a:spLocks noGrp="1"/>
          </p:cNvSpPr>
          <p:nvPr>
            <p:ph type="pic" sz="quarter" idx="18" hasCustomPrompt="1"/>
          </p:nvPr>
        </p:nvSpPr>
        <p:spPr>
          <a:xfrm>
            <a:off x="15544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6" name="Occupation Placeholder 2">
            <a:extLst>
              <a:ext uri="{FF2B5EF4-FFF2-40B4-BE49-F238E27FC236}">
                <a16:creationId xmlns:a16="http://schemas.microsoft.com/office/drawing/2014/main" id="{3BCECAB6-EED4-6C61-619E-0CB03435E448}"/>
              </a:ext>
            </a:extLst>
          </p:cNvPr>
          <p:cNvSpPr>
            <a:spLocks noGrp="1"/>
          </p:cNvSpPr>
          <p:nvPr>
            <p:ph type="body" sz="quarter" idx="29" hasCustomPrompt="1"/>
          </p:nvPr>
        </p:nvSpPr>
        <p:spPr>
          <a:xfrm>
            <a:off x="8686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17" name="Name Placeholder 2">
            <a:extLst>
              <a:ext uri="{FF2B5EF4-FFF2-40B4-BE49-F238E27FC236}">
                <a16:creationId xmlns:a16="http://schemas.microsoft.com/office/drawing/2014/main" id="{AD4CF95F-54EF-099D-AB51-5F454C5C2064}"/>
              </a:ext>
            </a:extLst>
          </p:cNvPr>
          <p:cNvSpPr>
            <a:spLocks noGrp="1"/>
          </p:cNvSpPr>
          <p:nvPr>
            <p:ph type="body" sz="quarter" idx="26" hasCustomPrompt="1"/>
          </p:nvPr>
        </p:nvSpPr>
        <p:spPr>
          <a:xfrm>
            <a:off x="8686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18" name="Picture Placeholder 2">
            <a:extLst>
              <a:ext uri="{FF2B5EF4-FFF2-40B4-BE49-F238E27FC236}">
                <a16:creationId xmlns:a16="http://schemas.microsoft.com/office/drawing/2014/main" id="{903A1C07-C832-6984-03F5-70F355004BC3}"/>
              </a:ext>
            </a:extLst>
          </p:cNvPr>
          <p:cNvSpPr>
            <a:spLocks noGrp="1"/>
          </p:cNvSpPr>
          <p:nvPr>
            <p:ph type="pic" sz="quarter" idx="17" hasCustomPrompt="1"/>
          </p:nvPr>
        </p:nvSpPr>
        <p:spPr>
          <a:xfrm>
            <a:off x="8686800" y="10515600"/>
            <a:ext cx="6400800" cy="6400800"/>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9" name="Occupation Placeholder 1">
            <a:extLst>
              <a:ext uri="{FF2B5EF4-FFF2-40B4-BE49-F238E27FC236}">
                <a16:creationId xmlns:a16="http://schemas.microsoft.com/office/drawing/2014/main" id="{2CF04087-50EE-96A6-22F4-7B9B652690B0}"/>
              </a:ext>
            </a:extLst>
          </p:cNvPr>
          <p:cNvSpPr>
            <a:spLocks noGrp="1"/>
          </p:cNvSpPr>
          <p:nvPr>
            <p:ph type="body" sz="quarter" idx="28" hasCustomPrompt="1"/>
          </p:nvPr>
        </p:nvSpPr>
        <p:spPr>
          <a:xfrm>
            <a:off x="1828800" y="17866936"/>
            <a:ext cx="6400800" cy="920935"/>
          </a:xfrm>
        </p:spPr>
        <p:txBody>
          <a:bodyPr/>
          <a:lstStyle>
            <a:lvl1pPr algn="ctr">
              <a:lnSpc>
                <a:spcPct val="100000"/>
              </a:lnSpc>
              <a:spcBef>
                <a:spcPts val="0"/>
              </a:spcBef>
              <a:spcAft>
                <a:spcPts val="0"/>
              </a:spcAft>
              <a:buNone/>
              <a:defRPr sz="2800">
                <a:solidFill>
                  <a:schemeClr val="tx1"/>
                </a:solidFill>
                <a:latin typeface="+mn-lt"/>
              </a:defRPr>
            </a:lvl1pPr>
            <a:lvl2pPr>
              <a:buNone/>
              <a:defRPr/>
            </a:lvl2pPr>
            <a:lvl3pPr>
              <a:buNone/>
              <a:defRPr/>
            </a:lvl3pPr>
            <a:lvl4pPr>
              <a:buNone/>
              <a:defRPr/>
            </a:lvl4pPr>
            <a:lvl5pPr>
              <a:buNone/>
              <a:defRPr/>
            </a:lvl5pPr>
          </a:lstStyle>
          <a:p>
            <a:pPr lvl="0"/>
            <a:r>
              <a:rPr lang="en-US" dirty="0"/>
              <a:t>Job Title, Company</a:t>
            </a:r>
          </a:p>
        </p:txBody>
      </p:sp>
      <p:sp>
        <p:nvSpPr>
          <p:cNvPr id="20" name="Name Placeholder 1">
            <a:extLst>
              <a:ext uri="{FF2B5EF4-FFF2-40B4-BE49-F238E27FC236}">
                <a16:creationId xmlns:a16="http://schemas.microsoft.com/office/drawing/2014/main" id="{44AB9F9F-C0EC-6E66-8AE9-84E99191AB93}"/>
              </a:ext>
            </a:extLst>
          </p:cNvPr>
          <p:cNvSpPr>
            <a:spLocks noGrp="1"/>
          </p:cNvSpPr>
          <p:nvPr>
            <p:ph type="body" sz="quarter" idx="25" hasCustomPrompt="1"/>
          </p:nvPr>
        </p:nvSpPr>
        <p:spPr>
          <a:xfrm>
            <a:off x="1828800" y="17118410"/>
            <a:ext cx="6400800" cy="707886"/>
          </a:xfrm>
        </p:spPr>
        <p:txBody>
          <a:bodyPr anchor="b">
            <a:spAutoFit/>
          </a:bodyPr>
          <a:lstStyle>
            <a:lvl1pPr algn="ctr">
              <a:lnSpc>
                <a:spcPct val="100000"/>
              </a:lnSpc>
              <a:spcBef>
                <a:spcPts val="0"/>
              </a:spcBef>
              <a:spcAft>
                <a:spcPts val="0"/>
              </a:spcAft>
              <a:buNone/>
              <a:defRPr sz="4000">
                <a:solidFill>
                  <a:schemeClr val="tx1"/>
                </a:solidFill>
                <a:latin typeface="+mj-lt"/>
              </a:defRPr>
            </a:lvl1pPr>
            <a:lvl2pPr>
              <a:buNone/>
              <a:defRPr/>
            </a:lvl2pPr>
            <a:lvl3pPr>
              <a:buNone/>
              <a:defRPr/>
            </a:lvl3pPr>
            <a:lvl4pPr>
              <a:buNone/>
              <a:defRPr/>
            </a:lvl4pPr>
            <a:lvl5pPr>
              <a:buNone/>
              <a:defRPr/>
            </a:lvl5pPr>
          </a:lstStyle>
          <a:p>
            <a:pPr lvl="0"/>
            <a:r>
              <a:rPr lang="en-US" dirty="0"/>
              <a:t>Speaker Name</a:t>
            </a:r>
          </a:p>
        </p:txBody>
      </p:sp>
      <p:sp>
        <p:nvSpPr>
          <p:cNvPr id="21" name="Picture Placeholder 1">
            <a:extLst>
              <a:ext uri="{FF2B5EF4-FFF2-40B4-BE49-F238E27FC236}">
                <a16:creationId xmlns:a16="http://schemas.microsoft.com/office/drawing/2014/main" id="{ED721DC3-5019-6710-1D8A-B709232FCF2C}"/>
              </a:ext>
            </a:extLst>
          </p:cNvPr>
          <p:cNvSpPr>
            <a:spLocks noGrp="1"/>
          </p:cNvSpPr>
          <p:nvPr>
            <p:ph type="pic" sz="quarter" idx="16" hasCustomPrompt="1"/>
          </p:nvPr>
        </p:nvSpPr>
        <p:spPr>
          <a:xfrm>
            <a:off x="1828800" y="10515600"/>
            <a:ext cx="6400800" cy="6400800"/>
          </a:xfrm>
          <a:solidFill>
            <a:schemeClr val="bg2"/>
          </a:solidFill>
          <a:ln>
            <a:solidFill>
              <a:schemeClr val="accent6"/>
            </a:solidFill>
          </a:ln>
        </p:spPr>
        <p:txBody>
          <a:bodyPr tIns="0" bIns="2103120" anchor="ctr">
            <a:normAutofit/>
          </a:bodyPr>
          <a:lstStyle>
            <a:lvl1pPr algn="ctr">
              <a:buNone/>
              <a:defRPr sz="2800">
                <a:solidFill>
                  <a:schemeClr val="tx1">
                    <a:lumMod val="50000"/>
                    <a:lumOff val="50000"/>
                  </a:schemeClr>
                </a:solidFill>
              </a:defRPr>
            </a:lvl1pPr>
          </a:lstStyle>
          <a:p>
            <a:r>
              <a:rPr lang="en-US" dirty="0"/>
              <a:t>Click icon to place image</a:t>
            </a:r>
          </a:p>
        </p:txBody>
      </p:sp>
    </p:spTree>
    <p:extLst>
      <p:ext uri="{BB962C8B-B14F-4D97-AF65-F5344CB8AC3E}">
        <p14:creationId xmlns:p14="http://schemas.microsoft.com/office/powerpoint/2010/main" val="351278886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losing Slide">
    <p:bg>
      <p:bgPr>
        <a:solidFill>
          <a:schemeClr val="accent4"/>
        </a:solidFill>
        <a:effectLst/>
      </p:bgPr>
    </p:bg>
    <p:spTree>
      <p:nvGrpSpPr>
        <p:cNvPr id="1" name=""/>
        <p:cNvGrpSpPr/>
        <p:nvPr/>
      </p:nvGrpSpPr>
      <p:grpSpPr>
        <a:xfrm>
          <a:off x="0" y="0"/>
          <a:ext cx="0" cy="0"/>
          <a:chOff x="0" y="0"/>
          <a:chExt cx="0" cy="0"/>
        </a:xfrm>
      </p:grpSpPr>
      <p:pic>
        <p:nvPicPr>
          <p:cNvPr id="4" name="KV Closing">
            <a:extLst>
              <a:ext uri="{FF2B5EF4-FFF2-40B4-BE49-F238E27FC236}">
                <a16:creationId xmlns:a16="http://schemas.microsoft.com/office/drawing/2014/main" id="{D163A2C7-4DBD-77C7-03F3-50784ABE87C5}"/>
              </a:ext>
            </a:extLst>
          </p:cNvPr>
          <p:cNvPicPr>
            <a:picLocks noGrp="1" noRot="1" noChangeAspect="1" noMove="1" noResize="1" noEditPoints="1" noAdjustHandles="1" noChangeArrowheads="1" noChangeShapeType="1" noCrop="1"/>
          </p:cNvPicPr>
          <p:nvPr userDrawn="1"/>
        </p:nvPicPr>
        <p:blipFill>
          <a:blip r:embed="rId2"/>
          <a:stretch>
            <a:fillRect/>
          </a:stretch>
        </p:blipFill>
        <p:spPr>
          <a:xfrm>
            <a:off x="0" y="0"/>
            <a:ext cx="36576000" cy="20574000"/>
          </a:xfrm>
          <a:prstGeom prst="rect">
            <a:avLst/>
          </a:prstGeom>
        </p:spPr>
      </p:pic>
      <p:sp>
        <p:nvSpPr>
          <p:cNvPr id="5" name="Gradient">
            <a:extLst>
              <a:ext uri="{FF2B5EF4-FFF2-40B4-BE49-F238E27FC236}">
                <a16:creationId xmlns:a16="http://schemas.microsoft.com/office/drawing/2014/main" id="{FD412695-43ED-8E18-EE2A-6688B5CBA1B9}"/>
              </a:ext>
            </a:extLst>
          </p:cNvPr>
          <p:cNvSpPr>
            <a:spLocks noGrp="1" noRot="1" noMove="1" noResize="1" noEditPoints="1" noAdjustHandles="1" noChangeArrowheads="1" noChangeShapeType="1"/>
          </p:cNvSpPr>
          <p:nvPr userDrawn="1"/>
        </p:nvSpPr>
        <p:spPr>
          <a:xfrm>
            <a:off x="0" y="0"/>
            <a:ext cx="19659600" cy="20574000"/>
          </a:xfrm>
          <a:prstGeom prst="rect">
            <a:avLst/>
          </a:prstGeom>
          <a:gradFill flip="none" rotWithShape="1">
            <a:gsLst>
              <a:gs pos="0">
                <a:schemeClr val="bg1">
                  <a:alpha val="20000"/>
                </a:schemeClr>
              </a:gs>
              <a:gs pos="100000">
                <a:schemeClr val="bg1">
                  <a:alpha val="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Logo Text">
            <a:extLst>
              <a:ext uri="{FF2B5EF4-FFF2-40B4-BE49-F238E27FC236}">
                <a16:creationId xmlns:a16="http://schemas.microsoft.com/office/drawing/2014/main" id="{80BCAFA5-89AF-533D-D6D2-1C914E182AD5}"/>
              </a:ext>
            </a:extLst>
          </p:cNvPr>
          <p:cNvSpPr>
            <a:spLocks noGrp="1" noRot="1" noMove="1" noResize="1" noEditPoints="1" noAdjustHandles="1" noChangeArrowheads="1" noChangeShapeType="1"/>
          </p:cNvSpPr>
          <p:nvPr userDrawn="1"/>
        </p:nvSpPr>
        <p:spPr>
          <a:xfrm>
            <a:off x="3658247" y="17905019"/>
            <a:ext cx="3646099" cy="683416"/>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pPr algn="l"/>
            <a:endParaRPr lang="en-US"/>
          </a:p>
        </p:txBody>
      </p:sp>
      <p:sp>
        <p:nvSpPr>
          <p:cNvPr id="2" name="Logo Eye">
            <a:extLst>
              <a:ext uri="{FF2B5EF4-FFF2-40B4-BE49-F238E27FC236}">
                <a16:creationId xmlns:a16="http://schemas.microsoft.com/office/drawing/2014/main" id="{E8AAC571-D4E5-31AA-5989-EA3B402954C8}"/>
              </a:ext>
            </a:extLst>
          </p:cNvPr>
          <p:cNvSpPr>
            <a:spLocks noGrp="1" noRot="1" noMove="1" noResize="1" noEditPoints="1" noAdjustHandles="1" noChangeArrowheads="1" noChangeShapeType="1"/>
          </p:cNvSpPr>
          <p:nvPr userDrawn="1"/>
        </p:nvSpPr>
        <p:spPr>
          <a:xfrm>
            <a:off x="1828916" y="17709469"/>
            <a:ext cx="1571299" cy="1039766"/>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pPr algn="l"/>
            <a:endParaRPr lang="en-US"/>
          </a:p>
        </p:txBody>
      </p:sp>
    </p:spTree>
    <p:extLst>
      <p:ext uri="{BB962C8B-B14F-4D97-AF65-F5344CB8AC3E}">
        <p14:creationId xmlns:p14="http://schemas.microsoft.com/office/powerpoint/2010/main" val="10802978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Embargo">
    <p:spTree>
      <p:nvGrpSpPr>
        <p:cNvPr id="1" name=""/>
        <p:cNvGrpSpPr/>
        <p:nvPr/>
      </p:nvGrpSpPr>
      <p:grpSpPr>
        <a:xfrm>
          <a:off x="0" y="0"/>
          <a:ext cx="0" cy="0"/>
          <a:chOff x="0" y="0"/>
          <a:chExt cx="0" cy="0"/>
        </a:xfrm>
      </p:grpSpPr>
      <p:sp>
        <p:nvSpPr>
          <p:cNvPr id="7" name="Red Border Bottom">
            <a:extLst>
              <a:ext uri="{FF2B5EF4-FFF2-40B4-BE49-F238E27FC236}">
                <a16:creationId xmlns:a16="http://schemas.microsoft.com/office/drawing/2014/main" id="{A47B56B7-6189-B712-00D6-DE875C5A82EA}"/>
              </a:ext>
            </a:extLst>
          </p:cNvPr>
          <p:cNvSpPr/>
          <p:nvPr userDrawn="1"/>
        </p:nvSpPr>
        <p:spPr>
          <a:xfrm>
            <a:off x="0" y="2034540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6" name="Red Border Top">
            <a:extLst>
              <a:ext uri="{FF2B5EF4-FFF2-40B4-BE49-F238E27FC236}">
                <a16:creationId xmlns:a16="http://schemas.microsoft.com/office/drawing/2014/main" id="{BE43CC2B-153E-856F-4121-4368A04664A1}"/>
              </a:ext>
            </a:extLst>
          </p:cNvPr>
          <p:cNvSpPr/>
          <p:nvPr userDrawn="1"/>
        </p:nvSpPr>
        <p:spPr>
          <a:xfrm>
            <a:off x="0" y="0"/>
            <a:ext cx="36576000" cy="228600"/>
          </a:xfrm>
          <a:prstGeom prst="rect">
            <a:avLst/>
          </a:prstGeom>
          <a:solidFill>
            <a:srgbClr val="E5202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kern="100" baseline="0"/>
          </a:p>
        </p:txBody>
      </p:sp>
      <p:sp>
        <p:nvSpPr>
          <p:cNvPr id="13" name="Footer Placeholder">
            <a:extLst>
              <a:ext uri="{FF2B5EF4-FFF2-40B4-BE49-F238E27FC236}">
                <a16:creationId xmlns:a16="http://schemas.microsoft.com/office/drawing/2014/main" id="{00B4E871-88C4-CC33-C003-7170BE2B6E83}"/>
              </a:ext>
            </a:extLst>
          </p:cNvPr>
          <p:cNvSpPr>
            <a:spLocks noGrp="1"/>
          </p:cNvSpPr>
          <p:nvPr>
            <p:ph type="ftr" sz="quarter" idx="18"/>
          </p:nvPr>
        </p:nvSpPr>
        <p:spPr/>
        <p:txBody>
          <a:bodyPr/>
          <a:lstStyle/>
          <a:p>
            <a:pPr>
              <a:lnSpc>
                <a:spcPct val="90000"/>
              </a:lnSpc>
            </a:pPr>
            <a:r>
              <a:rPr lang="en-US"/>
              <a:t>Source information in NVIDIA Sans, medium gray; 20 pt</a:t>
            </a:r>
            <a:endParaRPr lang="en-US" dirty="0"/>
          </a:p>
        </p:txBody>
      </p:sp>
      <p:sp>
        <p:nvSpPr>
          <p:cNvPr id="3" name="Confidential Tag">
            <a:extLst>
              <a:ext uri="{FF2B5EF4-FFF2-40B4-BE49-F238E27FC236}">
                <a16:creationId xmlns:a16="http://schemas.microsoft.com/office/drawing/2014/main" id="{BDF10C9D-ED7C-EA69-42A0-05377844B8F1}"/>
              </a:ext>
            </a:extLst>
          </p:cNvPr>
          <p:cNvSpPr txBox="1"/>
          <p:nvPr userDrawn="1"/>
        </p:nvSpPr>
        <p:spPr>
          <a:xfrm>
            <a:off x="1814511" y="10711668"/>
            <a:ext cx="8271495" cy="400110"/>
          </a:xfrm>
          <a:prstGeom prst="rect">
            <a:avLst/>
          </a:prstGeom>
          <a:noFill/>
        </p:spPr>
        <p:txBody>
          <a:bodyPr wrap="none" lIns="0" rIns="0" rtlCol="0">
            <a:noAutofit/>
          </a:bodyPr>
          <a:lstStyle/>
          <a:p>
            <a:r>
              <a:rPr lang="en-US" sz="2000" b="1" kern="100" spc="0" baseline="0" dirty="0">
                <a:latin typeface="+mn-lt"/>
              </a:rPr>
              <a:t>DO NOT DISTRIBUTE UNTIL DATES LISTED.  NVIDIA CONFIDENTIAL.</a:t>
            </a:r>
          </a:p>
        </p:txBody>
      </p:sp>
      <p:sp>
        <p:nvSpPr>
          <p:cNvPr id="29" name="Zone Placeholder">
            <a:extLst>
              <a:ext uri="{FF2B5EF4-FFF2-40B4-BE49-F238E27FC236}">
                <a16:creationId xmlns:a16="http://schemas.microsoft.com/office/drawing/2014/main" id="{453B8D8C-ECFD-FFDC-F4B5-AD3BAF3265AE}"/>
              </a:ext>
            </a:extLst>
          </p:cNvPr>
          <p:cNvSpPr>
            <a:spLocks noGrp="1"/>
          </p:cNvSpPr>
          <p:nvPr>
            <p:ph type="body" sz="quarter" idx="16" hasCustomPrompt="1"/>
          </p:nvPr>
        </p:nvSpPr>
        <p:spPr>
          <a:xfrm>
            <a:off x="29450825" y="5476814"/>
            <a:ext cx="3657600" cy="11197937"/>
          </a:xfrm>
        </p:spPr>
        <p:txBody>
          <a:bodyPr wrap="square" tIns="274320" bIns="45720">
            <a:noAutofit/>
          </a:bodyPr>
          <a:lstStyle>
            <a:lvl1pPr>
              <a:lnSpc>
                <a:spcPct val="100000"/>
              </a:lnSpc>
              <a:spcBef>
                <a:spcPts val="0"/>
              </a:spcBef>
              <a:spcAft>
                <a:spcPts val="3200"/>
              </a:spcAft>
              <a:buNone/>
              <a:defRPr sz="4000">
                <a:latin typeface="+mn-lt"/>
              </a:defRPr>
            </a:lvl1pPr>
          </a:lstStyle>
          <a:p>
            <a:r>
              <a:rPr lang="en-US" dirty="0"/>
              <a:t>PT</a:t>
            </a:r>
          </a:p>
          <a:p>
            <a:r>
              <a:rPr lang="en-US" dirty="0"/>
              <a:t>CST</a:t>
            </a:r>
          </a:p>
          <a:p>
            <a:r>
              <a:rPr lang="en-US" dirty="0"/>
              <a:t>BRT</a:t>
            </a:r>
          </a:p>
          <a:p>
            <a:r>
              <a:rPr lang="en-US" dirty="0"/>
              <a:t>GMT</a:t>
            </a:r>
          </a:p>
          <a:p>
            <a:r>
              <a:rPr lang="en-US" dirty="0"/>
              <a:t>CET</a:t>
            </a:r>
          </a:p>
          <a:p>
            <a:r>
              <a:rPr lang="en-US" dirty="0"/>
              <a:t>IST</a:t>
            </a:r>
          </a:p>
          <a:p>
            <a:r>
              <a:rPr lang="en-US" dirty="0"/>
              <a:t>IST</a:t>
            </a:r>
          </a:p>
          <a:p>
            <a:r>
              <a:rPr lang="en-US" dirty="0"/>
              <a:t>CST</a:t>
            </a:r>
          </a:p>
          <a:p>
            <a:r>
              <a:rPr lang="en-US" dirty="0"/>
              <a:t>TST</a:t>
            </a:r>
          </a:p>
          <a:p>
            <a:r>
              <a:rPr lang="en-US" dirty="0"/>
              <a:t>JST</a:t>
            </a:r>
          </a:p>
          <a:p>
            <a:r>
              <a:rPr lang="en-US" dirty="0"/>
              <a:t>KST</a:t>
            </a:r>
          </a:p>
        </p:txBody>
      </p:sp>
      <p:sp>
        <p:nvSpPr>
          <p:cNvPr id="18" name="Zone">
            <a:extLst>
              <a:ext uri="{FF2B5EF4-FFF2-40B4-BE49-F238E27FC236}">
                <a16:creationId xmlns:a16="http://schemas.microsoft.com/office/drawing/2014/main" id="{18A3DAFC-DC66-A706-DDC5-1D0E8DF4B4CE}"/>
              </a:ext>
            </a:extLst>
          </p:cNvPr>
          <p:cNvSpPr txBox="1"/>
          <p:nvPr userDrawn="1"/>
        </p:nvSpPr>
        <p:spPr>
          <a:xfrm>
            <a:off x="29450825" y="4661205"/>
            <a:ext cx="3200400" cy="815608"/>
          </a:xfrm>
          <a:prstGeom prst="rect">
            <a:avLst/>
          </a:prstGeom>
          <a:noFill/>
        </p:spPr>
        <p:txBody>
          <a:bodyPr wrap="none" lIns="0" rIns="0" bIns="274320" rtlCol="0" anchor="b">
            <a:noAutofit/>
          </a:bodyPr>
          <a:lstStyle/>
          <a:p>
            <a:pPr algn="l"/>
            <a:r>
              <a:rPr lang="en-US" sz="3200" kern="100" baseline="0" dirty="0"/>
              <a:t>Zone</a:t>
            </a:r>
          </a:p>
        </p:txBody>
      </p:sp>
      <p:sp>
        <p:nvSpPr>
          <p:cNvPr id="26" name="Time Placeholder">
            <a:extLst>
              <a:ext uri="{FF2B5EF4-FFF2-40B4-BE49-F238E27FC236}">
                <a16:creationId xmlns:a16="http://schemas.microsoft.com/office/drawing/2014/main" id="{41A97F96-C8E8-4872-4734-05D60C1819A8}"/>
              </a:ext>
            </a:extLst>
          </p:cNvPr>
          <p:cNvSpPr>
            <a:spLocks noGrp="1"/>
          </p:cNvSpPr>
          <p:nvPr>
            <p:ph type="body" sz="quarter" idx="15" hasCustomPrompt="1"/>
          </p:nvPr>
        </p:nvSpPr>
        <p:spPr>
          <a:xfrm>
            <a:off x="24208741" y="5476814"/>
            <a:ext cx="4572000" cy="11197937"/>
          </a:xfrm>
        </p:spPr>
        <p:txBody>
          <a:bodyPr wrap="square"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XX:XX </a:t>
            </a:r>
            <a:r>
              <a:rPr lang="en-US" dirty="0" err="1"/>
              <a:t>x.m.</a:t>
            </a:r>
            <a:endParaRPr lang="en-US" dirty="0"/>
          </a:p>
        </p:txBody>
      </p:sp>
      <p:sp>
        <p:nvSpPr>
          <p:cNvPr id="17" name="Time">
            <a:extLst>
              <a:ext uri="{FF2B5EF4-FFF2-40B4-BE49-F238E27FC236}">
                <a16:creationId xmlns:a16="http://schemas.microsoft.com/office/drawing/2014/main" id="{804F5858-E9C3-CFB5-42CB-5027BBDA563C}"/>
              </a:ext>
            </a:extLst>
          </p:cNvPr>
          <p:cNvSpPr txBox="1"/>
          <p:nvPr userDrawn="1"/>
        </p:nvSpPr>
        <p:spPr>
          <a:xfrm>
            <a:off x="24208740" y="4661205"/>
            <a:ext cx="4572000" cy="815608"/>
          </a:xfrm>
          <a:prstGeom prst="rect">
            <a:avLst/>
          </a:prstGeom>
          <a:noFill/>
        </p:spPr>
        <p:txBody>
          <a:bodyPr wrap="none" lIns="0" rIns="0" bIns="274320" rtlCol="0" anchor="b">
            <a:noAutofit/>
          </a:bodyPr>
          <a:lstStyle/>
          <a:p>
            <a:pPr algn="l"/>
            <a:r>
              <a:rPr lang="en-US" sz="3200" kern="100" baseline="0" dirty="0"/>
              <a:t>Time</a:t>
            </a:r>
          </a:p>
        </p:txBody>
      </p:sp>
      <p:sp>
        <p:nvSpPr>
          <p:cNvPr id="25" name="Country Placeholder">
            <a:extLst>
              <a:ext uri="{FF2B5EF4-FFF2-40B4-BE49-F238E27FC236}">
                <a16:creationId xmlns:a16="http://schemas.microsoft.com/office/drawing/2014/main" id="{C90BA070-345E-CFCC-E29A-AC447F4F80B7}"/>
              </a:ext>
            </a:extLst>
          </p:cNvPr>
          <p:cNvSpPr>
            <a:spLocks noGrp="1"/>
          </p:cNvSpPr>
          <p:nvPr>
            <p:ph type="body" sz="quarter" idx="14" hasCustomPrompt="1"/>
          </p:nvPr>
        </p:nvSpPr>
        <p:spPr>
          <a:xfrm>
            <a:off x="19423856" y="5476815"/>
            <a:ext cx="4114800" cy="11197937"/>
          </a:xfrm>
        </p:spPr>
        <p:txBody>
          <a:bodyPr tIns="274320" bIns="45720">
            <a:noAutofit/>
          </a:bodyPr>
          <a:lstStyle>
            <a:lvl1pPr marL="0" marR="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sz="4000">
                <a:latin typeface="+mn-lt"/>
              </a:defRPr>
            </a:lvl1pPr>
          </a:lstStyle>
          <a:p>
            <a:pPr lvl="0"/>
            <a:r>
              <a:rPr lang="en-US" dirty="0"/>
              <a:t>U.S.</a:t>
            </a:r>
          </a:p>
          <a:p>
            <a:pPr lvl="0"/>
            <a:r>
              <a:rPr lang="en-US" dirty="0"/>
              <a:t>Mexico</a:t>
            </a:r>
          </a:p>
          <a:p>
            <a:pPr lvl="0"/>
            <a:r>
              <a:rPr lang="en-US" dirty="0"/>
              <a:t>Brazil</a:t>
            </a:r>
          </a:p>
          <a:p>
            <a:pPr marL="0" marR="0" lvl="0" indent="0" algn="l" defTabSz="2743200" rtl="0" eaLnBrk="1" fontAlgn="auto" latinLnBrk="0" hangingPunct="1">
              <a:lnSpc>
                <a:spcPct val="100000"/>
              </a:lnSpc>
              <a:spcBef>
                <a:spcPts val="0"/>
              </a:spcBef>
              <a:spcAft>
                <a:spcPts val="3200"/>
              </a:spcAft>
              <a:buClr>
                <a:schemeClr val="accent1"/>
              </a:buClr>
              <a:buSzTx/>
              <a:buFont typeface="NVIDIA Sans" panose="020B0503020203020204" pitchFamily="34" charset="0"/>
              <a:buNone/>
              <a:tabLst/>
              <a:defRPr/>
            </a:pPr>
            <a:r>
              <a:rPr lang="en-US" dirty="0"/>
              <a:t>U.K.</a:t>
            </a:r>
          </a:p>
          <a:p>
            <a:pPr lvl="0"/>
            <a:r>
              <a:rPr lang="en-US" dirty="0"/>
              <a:t>France</a:t>
            </a:r>
          </a:p>
          <a:p>
            <a:pPr lvl="0"/>
            <a:r>
              <a:rPr lang="en-US" dirty="0"/>
              <a:t>Israel</a:t>
            </a:r>
          </a:p>
          <a:p>
            <a:pPr lvl="0"/>
            <a:r>
              <a:rPr lang="en-US" dirty="0"/>
              <a:t>India</a:t>
            </a:r>
          </a:p>
          <a:p>
            <a:pPr lvl="0"/>
            <a:r>
              <a:rPr lang="en-US" dirty="0"/>
              <a:t>China</a:t>
            </a:r>
          </a:p>
          <a:p>
            <a:pPr lvl="0"/>
            <a:r>
              <a:rPr lang="en-US" dirty="0"/>
              <a:t>Taiwan</a:t>
            </a:r>
          </a:p>
          <a:p>
            <a:pPr lvl="0"/>
            <a:r>
              <a:rPr lang="en-US" dirty="0"/>
              <a:t>Japan</a:t>
            </a:r>
          </a:p>
          <a:p>
            <a:pPr lvl="0"/>
            <a:r>
              <a:rPr lang="en-US" dirty="0"/>
              <a:t>Korea</a:t>
            </a:r>
          </a:p>
        </p:txBody>
      </p:sp>
      <p:sp>
        <p:nvSpPr>
          <p:cNvPr id="16" name="Country">
            <a:extLst>
              <a:ext uri="{FF2B5EF4-FFF2-40B4-BE49-F238E27FC236}">
                <a16:creationId xmlns:a16="http://schemas.microsoft.com/office/drawing/2014/main" id="{DCCA50C4-A863-2072-4B0F-46D70AB18021}"/>
              </a:ext>
            </a:extLst>
          </p:cNvPr>
          <p:cNvSpPr txBox="1"/>
          <p:nvPr userDrawn="1"/>
        </p:nvSpPr>
        <p:spPr>
          <a:xfrm>
            <a:off x="19423855" y="4661205"/>
            <a:ext cx="4571999" cy="815608"/>
          </a:xfrm>
          <a:prstGeom prst="rect">
            <a:avLst/>
          </a:prstGeom>
          <a:noFill/>
        </p:spPr>
        <p:txBody>
          <a:bodyPr wrap="square" lIns="0" rIns="0" bIns="274320" rtlCol="0" anchor="b">
            <a:noAutofit/>
          </a:bodyPr>
          <a:lstStyle/>
          <a:p>
            <a:pPr algn="l"/>
            <a:r>
              <a:rPr lang="en-US" sz="3200" kern="100" baseline="0" dirty="0"/>
              <a:t>Region</a:t>
            </a:r>
          </a:p>
        </p:txBody>
      </p:sp>
      <p:cxnSp>
        <p:nvCxnSpPr>
          <p:cNvPr id="14" name="Divider">
            <a:extLst>
              <a:ext uri="{FF2B5EF4-FFF2-40B4-BE49-F238E27FC236}">
                <a16:creationId xmlns:a16="http://schemas.microsoft.com/office/drawing/2014/main" id="{6F6275F5-FE84-974B-9A2C-6D9492927BDB}"/>
              </a:ext>
            </a:extLst>
          </p:cNvPr>
          <p:cNvCxnSpPr>
            <a:cxnSpLocks/>
          </p:cNvCxnSpPr>
          <p:nvPr userDrawn="1"/>
        </p:nvCxnSpPr>
        <p:spPr>
          <a:xfrm>
            <a:off x="19423856" y="5476815"/>
            <a:ext cx="13716000" cy="0"/>
          </a:xfrm>
          <a:prstGeom prst="line">
            <a:avLst/>
          </a:prstGeom>
          <a:ln w="38100">
            <a:solidFill>
              <a:schemeClr val="accent6"/>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12" name="Date Place Holder">
            <a:extLst>
              <a:ext uri="{FF2B5EF4-FFF2-40B4-BE49-F238E27FC236}">
                <a16:creationId xmlns:a16="http://schemas.microsoft.com/office/drawing/2014/main" id="{9E22579E-7446-930A-8426-64D7BF1D6DE2}"/>
              </a:ext>
            </a:extLst>
          </p:cNvPr>
          <p:cNvSpPr>
            <a:spLocks noGrp="1"/>
          </p:cNvSpPr>
          <p:nvPr>
            <p:ph type="body" sz="quarter" idx="10" hasCustomPrompt="1"/>
          </p:nvPr>
        </p:nvSpPr>
        <p:spPr>
          <a:xfrm>
            <a:off x="19423856" y="3429003"/>
            <a:ext cx="13684569" cy="782637"/>
          </a:xfrm>
        </p:spPr>
        <p:txBody>
          <a:bodyPr anchor="ctr"/>
          <a:lstStyle>
            <a:lvl1pPr>
              <a:lnSpc>
                <a:spcPct val="100000"/>
              </a:lnSpc>
              <a:buNone/>
              <a:defRPr sz="4800">
                <a:solidFill>
                  <a:schemeClr val="tx1"/>
                </a:solidFill>
                <a:latin typeface="+mj-lt"/>
              </a:defRPr>
            </a:lvl1pPr>
            <a:lvl2pPr>
              <a:buNone/>
              <a:defRPr/>
            </a:lvl2pPr>
          </a:lstStyle>
          <a:p>
            <a:pPr lvl="0"/>
            <a:r>
              <a:rPr lang="en-US" dirty="0"/>
              <a:t>Month Date, Year</a:t>
            </a:r>
          </a:p>
        </p:txBody>
      </p:sp>
      <p:sp>
        <p:nvSpPr>
          <p:cNvPr id="9" name="Embargo Title">
            <a:extLst>
              <a:ext uri="{FF2B5EF4-FFF2-40B4-BE49-F238E27FC236}">
                <a16:creationId xmlns:a16="http://schemas.microsoft.com/office/drawing/2014/main" id="{89A97FCA-DE57-3016-B1E1-200846768D66}"/>
              </a:ext>
            </a:extLst>
          </p:cNvPr>
          <p:cNvSpPr txBox="1"/>
          <p:nvPr userDrawn="1"/>
        </p:nvSpPr>
        <p:spPr>
          <a:xfrm>
            <a:off x="1681161" y="8708544"/>
            <a:ext cx="8907888" cy="2169825"/>
          </a:xfrm>
          <a:prstGeom prst="rect">
            <a:avLst/>
          </a:prstGeom>
          <a:noFill/>
        </p:spPr>
        <p:txBody>
          <a:bodyPr wrap="none" lIns="0" tIns="45720" rIns="0" bIns="45720" rtlCol="0" anchor="ctr">
            <a:noAutofit/>
          </a:bodyPr>
          <a:lstStyle/>
          <a:p>
            <a:r>
              <a:rPr lang="en-US" sz="13500" kern="100" spc="0" baseline="0" dirty="0">
                <a:solidFill>
                  <a:srgbClr val="E52020"/>
                </a:solidFill>
                <a:latin typeface="+mj-lt"/>
              </a:rPr>
              <a:t>EMBARGO</a:t>
            </a:r>
          </a:p>
        </p:txBody>
      </p:sp>
      <p:sp>
        <p:nvSpPr>
          <p:cNvPr id="2" name="Slide Number Placeholder">
            <a:extLst>
              <a:ext uri="{FF2B5EF4-FFF2-40B4-BE49-F238E27FC236}">
                <a16:creationId xmlns:a16="http://schemas.microsoft.com/office/drawing/2014/main" id="{8EE1D5E4-E8E0-5B54-14BB-7082F4260ADB}"/>
              </a:ext>
            </a:extLst>
          </p:cNvPr>
          <p:cNvSpPr>
            <a:spLocks noGrp="1"/>
          </p:cNvSpPr>
          <p:nvPr>
            <p:ph type="sldNum" sz="quarter" idx="19"/>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200672221"/>
      </p:ext>
    </p:extLst>
  </p:cSld>
  <p:clrMapOvr>
    <a:masterClrMapping/>
  </p:clrMapOvr>
  <p:extLst>
    <p:ext uri="{DCECCB84-F9BA-43D5-87BE-67443E8EF086}">
      <p15:sldGuideLst xmlns:p15="http://schemas.microsoft.com/office/powerpoint/2012/main"/>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Font Test">
    <p:spTree>
      <p:nvGrpSpPr>
        <p:cNvPr id="1" name=""/>
        <p:cNvGrpSpPr/>
        <p:nvPr/>
      </p:nvGrpSpPr>
      <p:grpSpPr>
        <a:xfrm>
          <a:off x="0" y="0"/>
          <a:ext cx="0" cy="0"/>
          <a:chOff x="0" y="0"/>
          <a:chExt cx="0" cy="0"/>
        </a:xfrm>
      </p:grpSpPr>
      <p:pic>
        <p:nvPicPr>
          <p:cNvPr id="52" name="Font Picture">
            <a:extLst>
              <a:ext uri="{FF2B5EF4-FFF2-40B4-BE49-F238E27FC236}">
                <a16:creationId xmlns:a16="http://schemas.microsoft.com/office/drawing/2014/main" id="{D9701711-BA88-9042-4DDD-CA4C10E1600A}"/>
              </a:ext>
            </a:extLst>
          </p:cNvPr>
          <p:cNvPicPr>
            <a:picLocks noChangeAspect="1"/>
          </p:cNvPicPr>
          <p:nvPr userDrawn="1"/>
        </p:nvPicPr>
        <p:blipFill>
          <a:blip r:embed="rId2"/>
          <a:srcRect/>
          <a:stretch/>
        </p:blipFill>
        <p:spPr>
          <a:xfrm>
            <a:off x="26669145" y="10425922"/>
            <a:ext cx="8076057" cy="5608374"/>
          </a:xfrm>
          <a:prstGeom prst="rect">
            <a:avLst/>
          </a:prstGeom>
        </p:spPr>
      </p:pic>
      <p:sp>
        <p:nvSpPr>
          <p:cNvPr id="18" name="Green BG">
            <a:extLst>
              <a:ext uri="{FF2B5EF4-FFF2-40B4-BE49-F238E27FC236}">
                <a16:creationId xmlns:a16="http://schemas.microsoft.com/office/drawing/2014/main" id="{AC415708-C6CC-CDE5-C6D4-5A403B13D4BA}"/>
              </a:ext>
            </a:extLst>
          </p:cNvPr>
          <p:cNvSpPr/>
          <p:nvPr userDrawn="1"/>
        </p:nvSpPr>
        <p:spPr>
          <a:xfrm>
            <a:off x="18287997" y="10420755"/>
            <a:ext cx="8079105" cy="560771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lIns="0" rIns="0" rtlCol="0" anchor="ctr"/>
          <a:lstStyle/>
          <a:p>
            <a:pPr algn="ctr"/>
            <a:endParaRPr lang="en-US" sz="3200" dirty="0">
              <a:solidFill>
                <a:schemeClr val="bg1"/>
              </a:solidFill>
            </a:endParaRPr>
          </a:p>
        </p:txBody>
      </p:sp>
      <p:sp>
        <p:nvSpPr>
          <p:cNvPr id="12" name="Text Placeholder 2">
            <a:extLst>
              <a:ext uri="{FF2B5EF4-FFF2-40B4-BE49-F238E27FC236}">
                <a16:creationId xmlns:a16="http://schemas.microsoft.com/office/drawing/2014/main" id="{BDAECE55-6771-C733-9CFD-B279E6B29D97}"/>
              </a:ext>
            </a:extLst>
          </p:cNvPr>
          <p:cNvSpPr>
            <a:spLocks noGrp="1"/>
          </p:cNvSpPr>
          <p:nvPr>
            <p:ph type="body" sz="quarter" idx="18" hasCustomPrompt="1"/>
          </p:nvPr>
        </p:nvSpPr>
        <p:spPr>
          <a:xfrm>
            <a:off x="19137627" y="12382072"/>
            <a:ext cx="6616065" cy="3108960"/>
          </a:xfrm>
        </p:spPr>
        <p:txBody>
          <a:bodyPr tIns="0" bIns="0">
            <a:noAutofit/>
          </a:bodyPr>
          <a:lstStyle>
            <a:lvl1pPr>
              <a:lnSpc>
                <a:spcPct val="90000"/>
              </a:lnSpc>
              <a:spcBef>
                <a:spcPts val="0"/>
              </a:spcBef>
              <a:spcAft>
                <a:spcPts val="0"/>
              </a:spcAft>
              <a:buNone/>
              <a:defRPr sz="7200" b="0" kern="100" baseline="0">
                <a:solidFill>
                  <a:schemeClr val="tx1"/>
                </a:solidFill>
                <a:latin typeface="+mn-lt"/>
              </a:defRPr>
            </a:lvl1pPr>
          </a:lstStyle>
          <a:p>
            <a:pPr lvl="0"/>
            <a:r>
              <a:rPr lang="en-US" dirty="0"/>
              <a:t>Our font for everything NVIDIA</a:t>
            </a:r>
          </a:p>
        </p:txBody>
      </p:sp>
      <p:sp>
        <p:nvSpPr>
          <p:cNvPr id="10" name="Text Placeholder 1">
            <a:extLst>
              <a:ext uri="{FF2B5EF4-FFF2-40B4-BE49-F238E27FC236}">
                <a16:creationId xmlns:a16="http://schemas.microsoft.com/office/drawing/2014/main" id="{B63E418B-71D8-FC79-0AD9-C6D48912FBAF}"/>
              </a:ext>
            </a:extLst>
          </p:cNvPr>
          <p:cNvSpPr>
            <a:spLocks noGrp="1"/>
          </p:cNvSpPr>
          <p:nvPr>
            <p:ph type="body" sz="quarter" idx="17" hasCustomPrompt="1"/>
          </p:nvPr>
        </p:nvSpPr>
        <p:spPr>
          <a:xfrm>
            <a:off x="19137627" y="11089410"/>
            <a:ext cx="6616065" cy="1292662"/>
          </a:xfrm>
        </p:spPr>
        <p:txBody>
          <a:bodyPr tIns="0" bIns="0">
            <a:noAutofit/>
          </a:bodyPr>
          <a:lstStyle>
            <a:lvl1pPr>
              <a:lnSpc>
                <a:spcPct val="100000"/>
              </a:lnSpc>
              <a:spcBef>
                <a:spcPts val="0"/>
              </a:spcBef>
              <a:spcAft>
                <a:spcPts val="0"/>
              </a:spcAft>
              <a:buNone/>
              <a:defRPr sz="8400" b="0" kern="100" baseline="0">
                <a:solidFill>
                  <a:schemeClr val="tx1"/>
                </a:solidFill>
                <a:latin typeface="+mj-lt"/>
              </a:defRPr>
            </a:lvl1pPr>
          </a:lstStyle>
          <a:p>
            <a:pPr lvl="0"/>
            <a:r>
              <a:rPr lang="en-US" dirty="0"/>
              <a:t>NVIDIA Sans</a:t>
            </a:r>
          </a:p>
        </p:txBody>
      </p:sp>
      <p:sp>
        <p:nvSpPr>
          <p:cNvPr id="5" name="Title">
            <a:extLst>
              <a:ext uri="{FF2B5EF4-FFF2-40B4-BE49-F238E27FC236}">
                <a16:creationId xmlns:a16="http://schemas.microsoft.com/office/drawing/2014/main" id="{3554122E-9D0A-381B-D4D0-ED3BB16BFEBC}"/>
              </a:ext>
            </a:extLst>
          </p:cNvPr>
          <p:cNvSpPr txBox="1"/>
          <p:nvPr userDrawn="1"/>
        </p:nvSpPr>
        <p:spPr>
          <a:xfrm>
            <a:off x="1828801" y="9052560"/>
            <a:ext cx="13715999" cy="2468880"/>
          </a:xfrm>
          <a:prstGeom prst="rect">
            <a:avLst/>
          </a:prstGeom>
        </p:spPr>
        <p:txBody>
          <a:bodyPr vert="horz" lIns="0" tIns="45720" rIns="0" bIns="45720" rtlCol="0" anchor="ctr">
            <a:noAutofit/>
          </a:bodyPr>
          <a:lstStyle>
            <a:lvl1pPr indent="0" defTabSz="2743200">
              <a:lnSpc>
                <a:spcPct val="90000"/>
              </a:lnSpc>
              <a:spcBef>
                <a:spcPct val="0"/>
              </a:spcBef>
              <a:buNone/>
              <a:defRPr sz="8800" kern="100" baseline="0">
                <a:latin typeface="NVIDIA Sans Medium" panose="020B0603020203020204" pitchFamily="34" charset="0"/>
                <a:ea typeface="+mj-ea"/>
                <a:cs typeface="NVIDIA Sans Medium" panose="020B0603020203020204" pitchFamily="34" charset="0"/>
              </a:defRPr>
            </a:lvl1pPr>
          </a:lstStyle>
          <a:p>
            <a:pPr lvl="0"/>
            <a:r>
              <a:rPr lang="en-US" dirty="0">
                <a:latin typeface="+mj-lt"/>
              </a:rPr>
              <a:t>Verify Font Installation</a:t>
            </a:r>
          </a:p>
        </p:txBody>
      </p:sp>
    </p:spTree>
    <p:extLst>
      <p:ext uri="{BB962C8B-B14F-4D97-AF65-F5344CB8AC3E}">
        <p14:creationId xmlns:p14="http://schemas.microsoft.com/office/powerpoint/2010/main" val="3572167755"/>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itle, Subtitle">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1893490113"/>
      </p:ext>
    </p:extLst>
  </p:cSld>
  <p:clrMapOvr>
    <a:masterClrMapping/>
  </p:clrMapOvr>
  <p:extLst>
    <p:ext uri="{DCECCB84-F9BA-43D5-87BE-67443E8EF086}">
      <p15:sldGuideLst xmlns:p15="http://schemas.microsoft.com/office/powerpoint/2012/main"/>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ubtitle, Bullets">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8B06A4EB-9D74-56F2-6D42-35250B0A9A29}"/>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771695422"/>
      </p:ext>
    </p:extLst>
  </p:cSld>
  <p:clrMapOvr>
    <a:masterClrMapping/>
  </p:clrMapOvr>
  <p:extLst>
    <p:ext uri="{DCECCB84-F9BA-43D5-87BE-67443E8EF086}">
      <p15:sldGuideLst xmlns:p15="http://schemas.microsoft.com/office/powerpoint/2012/main"/>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wo Column">
    <p:spTree>
      <p:nvGrpSpPr>
        <p:cNvPr id="1" name=""/>
        <p:cNvGrpSpPr/>
        <p:nvPr/>
      </p:nvGrpSpPr>
      <p:grpSpPr>
        <a:xfrm>
          <a:off x="0" y="0"/>
          <a:ext cx="0" cy="0"/>
          <a:chOff x="0" y="0"/>
          <a:chExt cx="0" cy="0"/>
        </a:xfrm>
      </p:grpSpPr>
      <p:sp>
        <p:nvSpPr>
          <p:cNvPr id="6" name="Slide Number Placeholder">
            <a:extLst>
              <a:ext uri="{FF2B5EF4-FFF2-40B4-BE49-F238E27FC236}">
                <a16:creationId xmlns:a16="http://schemas.microsoft.com/office/drawing/2014/main" id="{663AA810-376A-2B32-E021-D6793220544D}"/>
              </a:ext>
            </a:extLst>
          </p:cNvPr>
          <p:cNvSpPr>
            <a:spLocks noGrp="1"/>
          </p:cNvSpPr>
          <p:nvPr>
            <p:ph type="sldNum" sz="quarter" idx="19"/>
          </p:nvPr>
        </p:nvSpPr>
        <p:spPr/>
        <p:txBody>
          <a:bodyPr/>
          <a:lstStyle/>
          <a:p>
            <a:pPr>
              <a:lnSpc>
                <a:spcPct val="90000"/>
              </a:lnSpc>
            </a:pPr>
            <a:fld id="{5D6728F8-03AC-4059-94FB-90617981AE50}" type="slidenum">
              <a:rPr lang="en-US" smtClean="0"/>
              <a:pPr/>
              <a:t>‹#›</a:t>
            </a:fld>
            <a:endParaRPr lang="en-US"/>
          </a:p>
        </p:txBody>
      </p:sp>
      <p:sp>
        <p:nvSpPr>
          <p:cNvPr id="22" name="Text Placeholder 2">
            <a:extLst>
              <a:ext uri="{FF2B5EF4-FFF2-40B4-BE49-F238E27FC236}">
                <a16:creationId xmlns:a16="http://schemas.microsoft.com/office/drawing/2014/main" id="{BA63C3F9-10F6-FB3C-63A1-FB218F33FC9E}"/>
              </a:ext>
            </a:extLst>
          </p:cNvPr>
          <p:cNvSpPr>
            <a:spLocks noGrp="1"/>
          </p:cNvSpPr>
          <p:nvPr>
            <p:ph type="body" sz="quarter" idx="16" hasCustomPrompt="1"/>
          </p:nvPr>
        </p:nvSpPr>
        <p:spPr>
          <a:xfrm>
            <a:off x="192024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1" name="Text Placeholder 1">
            <a:extLst>
              <a:ext uri="{FF2B5EF4-FFF2-40B4-BE49-F238E27FC236}">
                <a16:creationId xmlns:a16="http://schemas.microsoft.com/office/drawing/2014/main" id="{87D5860D-3075-A83E-2DFD-54EE7058E544}"/>
              </a:ext>
            </a:extLst>
          </p:cNvPr>
          <p:cNvSpPr>
            <a:spLocks noGrp="1"/>
          </p:cNvSpPr>
          <p:nvPr>
            <p:ph type="body" sz="quarter" idx="15" hasCustomPrompt="1"/>
          </p:nvPr>
        </p:nvSpPr>
        <p:spPr>
          <a:xfrm>
            <a:off x="1828800" y="5943600"/>
            <a:ext cx="155448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596741346"/>
      </p:ext>
    </p:extLst>
  </p:cSld>
  <p:clrMapOvr>
    <a:masterClrMapping/>
  </p:clrMapOvr>
  <p:extLst>
    <p:ext uri="{DCECCB84-F9BA-43D5-87BE-67443E8EF086}">
      <p15:sldGuideLst xmlns:p15="http://schemas.microsoft.com/office/powerpoint/2012/main"/>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CODING_Title, Subtitle, Bullets">
    <p:spTree>
      <p:nvGrpSpPr>
        <p:cNvPr id="1" name=""/>
        <p:cNvGrpSpPr/>
        <p:nvPr/>
      </p:nvGrpSpPr>
      <p:grpSpPr>
        <a:xfrm>
          <a:off x="0" y="0"/>
          <a:ext cx="0" cy="0"/>
          <a:chOff x="0" y="0"/>
          <a:chExt cx="0" cy="0"/>
        </a:xfrm>
      </p:grpSpPr>
      <p:sp>
        <p:nvSpPr>
          <p:cNvPr id="7" name="Slide Number Placeholder">
            <a:extLst>
              <a:ext uri="{FF2B5EF4-FFF2-40B4-BE49-F238E27FC236}">
                <a16:creationId xmlns:a16="http://schemas.microsoft.com/office/drawing/2014/main" id="{BA5C1DDE-90E4-324D-81E3-E1F31AD59F7E}"/>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3" name="Text Placeholder">
            <a:extLst>
              <a:ext uri="{FF2B5EF4-FFF2-40B4-BE49-F238E27FC236}">
                <a16:creationId xmlns:a16="http://schemas.microsoft.com/office/drawing/2014/main" id="{DA3A2352-21AA-F0B1-22A8-49DDF807B9CB}"/>
              </a:ext>
            </a:extLst>
          </p:cNvPr>
          <p:cNvSpPr>
            <a:spLocks noGrp="1"/>
          </p:cNvSpPr>
          <p:nvPr>
            <p:ph type="body" sz="quarter" idx="13" hasCustomPrompt="1"/>
          </p:nvPr>
        </p:nvSpPr>
        <p:spPr>
          <a:xfrm>
            <a:off x="1828800" y="5943600"/>
            <a:ext cx="32918399" cy="12801600"/>
          </a:xfrm>
        </p:spPr>
        <p:txBody>
          <a:bodyPr/>
          <a:lstStyle>
            <a:lvl1pPr>
              <a:spcBef>
                <a:spcPts val="0"/>
              </a:spcBef>
              <a:spcAft>
                <a:spcPts val="0"/>
              </a:spcAft>
              <a:buNone/>
              <a:defRPr sz="4000">
                <a:latin typeface="Roboto Mono" panose="00000009000000000000" pitchFamily="49" charset="0"/>
                <a:ea typeface="Roboto Mono" panose="00000009000000000000" pitchFamily="49" charset="0"/>
              </a:defRPr>
            </a:lvl1pPr>
            <a:lvl2pPr>
              <a:defRPr>
                <a:latin typeface="Roboto Mono" panose="00000009000000000000" pitchFamily="49" charset="0"/>
                <a:ea typeface="Roboto Mono" panose="00000009000000000000" pitchFamily="49" charset="0"/>
              </a:defRPr>
            </a:lvl2pPr>
            <a:lvl3pPr>
              <a:defRPr>
                <a:latin typeface="Roboto Mono" panose="00000009000000000000" pitchFamily="49" charset="0"/>
                <a:ea typeface="Roboto Mono" panose="00000009000000000000" pitchFamily="49" charset="0"/>
              </a:defRPr>
            </a:lvl3pPr>
            <a:lvl4pPr>
              <a:defRPr>
                <a:latin typeface="Roboto Mono" panose="00000009000000000000" pitchFamily="49" charset="0"/>
                <a:ea typeface="Roboto Mono" panose="00000009000000000000" pitchFamily="49" charset="0"/>
              </a:defRPr>
            </a:lvl4pPr>
            <a:lvl5pPr>
              <a:defRPr>
                <a:latin typeface="Roboto Mono" panose="00000009000000000000" pitchFamily="49" charset="0"/>
                <a:ea typeface="Roboto Mono" panose="00000009000000000000" pitchFamily="49" charset="0"/>
              </a:defRPr>
            </a:lvl5pPr>
          </a:lstStyle>
          <a:p>
            <a:pPr lvl="0"/>
            <a:r>
              <a:rPr lang="en-US" dirty="0"/>
              <a:t>Click to edit paragraph text</a:t>
            </a:r>
          </a:p>
        </p:txBody>
      </p:sp>
      <p:sp>
        <p:nvSpPr>
          <p:cNvPr id="4" name="Subtitle">
            <a:extLst>
              <a:ext uri="{FF2B5EF4-FFF2-40B4-BE49-F238E27FC236}">
                <a16:creationId xmlns:a16="http://schemas.microsoft.com/office/drawing/2014/main" id="{3B45C0D2-6FE6-F83E-3070-A6038340FD84}"/>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Roboto Mono" panose="00000009000000000000" pitchFamily="49" charset="0"/>
                <a:ea typeface="Roboto Mono" panose="00000009000000000000" pitchFamily="49" charset="0"/>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p:txBody>
          <a:bodyPr/>
          <a:lstStyle>
            <a:lvl1pPr>
              <a:defRPr>
                <a:latin typeface="Roboto Mono Medium" panose="00000009000000000000" pitchFamily="49" charset="0"/>
                <a:ea typeface="Roboto Mono Medium" panose="00000009000000000000" pitchFamily="49" charset="0"/>
              </a:defRPr>
            </a:lvl1pPr>
          </a:lstStyle>
          <a:p>
            <a:r>
              <a:rPr lang="en-US" dirty="0"/>
              <a:t>Click to Edit Title Here</a:t>
            </a:r>
          </a:p>
        </p:txBody>
      </p:sp>
    </p:spTree>
    <p:extLst>
      <p:ext uri="{BB962C8B-B14F-4D97-AF65-F5344CB8AC3E}">
        <p14:creationId xmlns:p14="http://schemas.microsoft.com/office/powerpoint/2010/main" val="1387195520"/>
      </p:ext>
    </p:extLst>
  </p:cSld>
  <p:clrMapOvr>
    <a:masterClrMapping/>
  </p:clrMapOvr>
  <p:extLst>
    <p:ext uri="{DCECCB84-F9BA-43D5-87BE-67443E8EF086}">
      <p15:sldGuideLst xmlns:p15="http://schemas.microsoft.com/office/powerpoint/2012/main"/>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itle, Content Right">
    <p:spTree>
      <p:nvGrpSpPr>
        <p:cNvPr id="1" name=""/>
        <p:cNvGrpSpPr/>
        <p:nvPr/>
      </p:nvGrpSpPr>
      <p:grpSpPr>
        <a:xfrm>
          <a:off x="0" y="0"/>
          <a:ext cx="0" cy="0"/>
          <a:chOff x="0" y="0"/>
          <a:chExt cx="0" cy="0"/>
        </a:xfrm>
      </p:grpSpPr>
      <p:sp>
        <p:nvSpPr>
          <p:cNvPr id="9" name="Slide Number Placeholder">
            <a:extLst>
              <a:ext uri="{FF2B5EF4-FFF2-40B4-BE49-F238E27FC236}">
                <a16:creationId xmlns:a16="http://schemas.microsoft.com/office/drawing/2014/main" id="{90B3C34B-D852-977A-37E2-E62EC4EB657D}"/>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9052560"/>
            <a:ext cx="13716000" cy="2468880"/>
          </a:xfrm>
        </p:spPr>
        <p:txBody>
          <a:bodyPr anchor="ct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1436833285"/>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itle, Subtitle, Content Right">
    <p:spTree>
      <p:nvGrpSpPr>
        <p:cNvPr id="1" name=""/>
        <p:cNvGrpSpPr/>
        <p:nvPr/>
      </p:nvGrpSpPr>
      <p:grpSpPr>
        <a:xfrm>
          <a:off x="0" y="0"/>
          <a:ext cx="0" cy="0"/>
          <a:chOff x="0" y="0"/>
          <a:chExt cx="0" cy="0"/>
        </a:xfrm>
      </p:grpSpPr>
      <p:sp>
        <p:nvSpPr>
          <p:cNvPr id="10" name="Slide Number Placeholder">
            <a:extLst>
              <a:ext uri="{FF2B5EF4-FFF2-40B4-BE49-F238E27FC236}">
                <a16:creationId xmlns:a16="http://schemas.microsoft.com/office/drawing/2014/main" id="{254672F0-4512-6FA1-6D35-6858289285E1}"/>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6" name="Text Placeholder">
            <a:extLst>
              <a:ext uri="{FF2B5EF4-FFF2-40B4-BE49-F238E27FC236}">
                <a16:creationId xmlns:a16="http://schemas.microsoft.com/office/drawing/2014/main" id="{6B8F3605-9756-DE2F-6DD3-5A49DF2C66F2}"/>
              </a:ext>
            </a:extLst>
          </p:cNvPr>
          <p:cNvSpPr>
            <a:spLocks noGrp="1"/>
          </p:cNvSpPr>
          <p:nvPr>
            <p:ph type="body" sz="quarter" idx="13" hasCustomPrompt="1"/>
          </p:nvPr>
        </p:nvSpPr>
        <p:spPr>
          <a:xfrm>
            <a:off x="18288000" y="2971800"/>
            <a:ext cx="16459199" cy="14630400"/>
          </a:xfrm>
        </p:spPr>
        <p:txBody>
          <a:bodyPr anchor="ct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marL="0" marR="0" indent="0" algn="l" defTabSz="2743200" rtl="0" eaLnBrk="1" fontAlgn="auto" latinLnBrk="0" hangingPunct="1">
              <a:lnSpc>
                <a:spcPct val="90000"/>
              </a:lnSpc>
              <a:spcBef>
                <a:spcPts val="0"/>
              </a:spcBef>
              <a:spcAft>
                <a:spcPts val="0"/>
              </a:spcAft>
              <a:buClr>
                <a:schemeClr val="accent1"/>
              </a:buClr>
              <a:buSzTx/>
              <a:buFontTx/>
              <a:buNone/>
              <a:tabLst/>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marL="0" marR="0" lvl="0" indent="0" algn="l" defTabSz="2743200" rtl="0" eaLnBrk="1" fontAlgn="auto" latinLnBrk="0" hangingPunct="1">
              <a:lnSpc>
                <a:spcPct val="90000"/>
              </a:lnSpc>
              <a:spcBef>
                <a:spcPts val="0"/>
              </a:spcBef>
              <a:spcAft>
                <a:spcPts val="0"/>
              </a:spcAft>
              <a:buClr>
                <a:schemeClr val="accent1"/>
              </a:buClr>
              <a:buSzTx/>
              <a:buFontTx/>
              <a:buNone/>
              <a:tabLst/>
              <a:defRPr/>
            </a:pPr>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07749946"/>
      </p:ext>
    </p:extLst>
  </p:cSld>
  <p:clrMapOvr>
    <a:masterClrMapping/>
  </p:clrMapOvr>
  <p:extLst>
    <p:ext uri="{DCECCB84-F9BA-43D5-87BE-67443E8EF086}">
      <p15:sldGuideLst xmlns:p15="http://schemas.microsoft.com/office/powerpoint/2012/main"/>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Use Case">
    <p:spTree>
      <p:nvGrpSpPr>
        <p:cNvPr id="1" name=""/>
        <p:cNvGrpSpPr/>
        <p:nvPr/>
      </p:nvGrpSpPr>
      <p:grpSpPr>
        <a:xfrm>
          <a:off x="0" y="0"/>
          <a:ext cx="0" cy="0"/>
          <a:chOff x="0" y="0"/>
          <a:chExt cx="0" cy="0"/>
        </a:xfrm>
      </p:grpSpPr>
      <p:sp>
        <p:nvSpPr>
          <p:cNvPr id="8" name="Slide Number Placeholder">
            <a:extLst>
              <a:ext uri="{FF2B5EF4-FFF2-40B4-BE49-F238E27FC236}">
                <a16:creationId xmlns:a16="http://schemas.microsoft.com/office/drawing/2014/main" id="{157ECE47-239F-9043-F44A-45C6E5E1E41F}"/>
              </a:ext>
            </a:extLst>
          </p:cNvPr>
          <p:cNvSpPr>
            <a:spLocks noGrp="1"/>
          </p:cNvSpPr>
          <p:nvPr>
            <p:ph type="sldNum" sz="quarter" idx="17"/>
          </p:nvPr>
        </p:nvSpPr>
        <p:spPr/>
        <p:txBody>
          <a:bodyPr/>
          <a:lstStyle/>
          <a:p>
            <a:pPr>
              <a:lnSpc>
                <a:spcPct val="90000"/>
              </a:lnSpc>
            </a:pPr>
            <a:fld id="{5D6728F8-03AC-4059-94FB-90617981AE50}" type="slidenum">
              <a:rPr lang="en-US" smtClean="0"/>
              <a:pPr/>
              <a:t>‹#›</a:t>
            </a:fld>
            <a:endParaRPr lang="en-US"/>
          </a:p>
        </p:txBody>
      </p:sp>
      <p:sp>
        <p:nvSpPr>
          <p:cNvPr id="45" name="Picture Placeholder">
            <a:extLst>
              <a:ext uri="{FF2B5EF4-FFF2-40B4-BE49-F238E27FC236}">
                <a16:creationId xmlns:a16="http://schemas.microsoft.com/office/drawing/2014/main" id="{6310BC71-DCA8-9CA8-DE44-1F98FCBE3423}"/>
              </a:ext>
            </a:extLst>
          </p:cNvPr>
          <p:cNvSpPr>
            <a:spLocks noGrp="1"/>
          </p:cNvSpPr>
          <p:nvPr userDrawn="1">
            <p:ph type="pic" sz="quarter" idx="13" hasCustomPrompt="1"/>
          </p:nvPr>
        </p:nvSpPr>
        <p:spPr>
          <a:xfrm>
            <a:off x="17145000" y="1828800"/>
            <a:ext cx="17602200" cy="16916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0" name="Text Placeholder">
            <a:extLst>
              <a:ext uri="{FF2B5EF4-FFF2-40B4-BE49-F238E27FC236}">
                <a16:creationId xmlns:a16="http://schemas.microsoft.com/office/drawing/2014/main" id="{6833AC61-E20E-97B9-03B7-59761B154FF3}"/>
              </a:ext>
            </a:extLst>
          </p:cNvPr>
          <p:cNvSpPr>
            <a:spLocks noGrp="1"/>
          </p:cNvSpPr>
          <p:nvPr>
            <p:ph type="body" sz="quarter" idx="14"/>
          </p:nvPr>
        </p:nvSpPr>
        <p:spPr>
          <a:xfrm>
            <a:off x="1828800" y="11109960"/>
            <a:ext cx="13716000" cy="7635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zh-CN" altLang="en-US"/>
              <a:t>单击此处编辑母版文本样式</a:t>
            </a:r>
          </a:p>
          <a:p>
            <a:pPr lvl="1"/>
            <a:r>
              <a:rPr lang="zh-CN" altLang="en-US"/>
              <a:t>二级</a:t>
            </a:r>
          </a:p>
          <a:p>
            <a:pPr lvl="2"/>
            <a:r>
              <a:rPr lang="zh-CN" altLang="en-US"/>
              <a:t>三级</a:t>
            </a:r>
          </a:p>
          <a:p>
            <a:pPr lvl="3"/>
            <a:r>
              <a:rPr lang="zh-CN" altLang="en-US"/>
              <a:t>四级</a:t>
            </a:r>
          </a:p>
          <a:p>
            <a:pPr lvl="4"/>
            <a:r>
              <a:rPr lang="zh-CN" altLang="en-US"/>
              <a:t>五级</a:t>
            </a:r>
            <a:endParaRPr lang="en-US" dirty="0"/>
          </a:p>
        </p:txBody>
      </p:sp>
      <p:sp>
        <p:nvSpPr>
          <p:cNvPr id="24" name="Title">
            <a:extLst>
              <a:ext uri="{FF2B5EF4-FFF2-40B4-BE49-F238E27FC236}">
                <a16:creationId xmlns:a16="http://schemas.microsoft.com/office/drawing/2014/main" id="{758F76B7-AB11-4A28-11A1-32B4E453D659}"/>
              </a:ext>
            </a:extLst>
          </p:cNvPr>
          <p:cNvSpPr>
            <a:spLocks noGrp="1"/>
          </p:cNvSpPr>
          <p:nvPr>
            <p:ph type="title" hasCustomPrompt="1"/>
          </p:nvPr>
        </p:nvSpPr>
        <p:spPr>
          <a:xfrm>
            <a:off x="1828800" y="5685246"/>
            <a:ext cx="13716000" cy="4967514"/>
          </a:xfrm>
        </p:spPr>
        <p:txBody>
          <a:bodyPr>
            <a:noAutofit/>
          </a:bodyPr>
          <a:lstStyle>
            <a:lvl1pPr>
              <a:defRPr>
                <a:latin typeface="+mj-lt"/>
              </a:defRPr>
            </a:lvl1pPr>
          </a:lstStyle>
          <a:p>
            <a:r>
              <a:rPr lang="en-US" dirty="0"/>
              <a:t>Click to Edit Title Here</a:t>
            </a:r>
          </a:p>
        </p:txBody>
      </p:sp>
      <p:sp>
        <p:nvSpPr>
          <p:cNvPr id="40" name="Logo Placeholder">
            <a:extLst>
              <a:ext uri="{FF2B5EF4-FFF2-40B4-BE49-F238E27FC236}">
                <a16:creationId xmlns:a16="http://schemas.microsoft.com/office/drawing/2014/main" id="{38FD308E-A1B1-F84B-1B5D-9DD25CF03911}"/>
              </a:ext>
            </a:extLst>
          </p:cNvPr>
          <p:cNvSpPr>
            <a:spLocks noGrp="1"/>
          </p:cNvSpPr>
          <p:nvPr userDrawn="1">
            <p:ph type="pic" sz="quarter" idx="12"/>
          </p:nvPr>
        </p:nvSpPr>
        <p:spPr>
          <a:xfrm>
            <a:off x="7182681" y="2933923"/>
            <a:ext cx="3840480" cy="731520"/>
          </a:xfrm>
        </p:spPr>
        <p:txBody>
          <a:bodyPr/>
          <a:lstStyle>
            <a:lvl1pPr algn="ctr">
              <a:defRPr sz="2400"/>
            </a:lvl1pPr>
          </a:lstStyle>
          <a:p>
            <a:r>
              <a:rPr lang="zh-CN" altLang="en-US"/>
              <a:t>单击图标添加图片</a:t>
            </a:r>
            <a:endParaRPr lang="en-US" dirty="0"/>
          </a:p>
        </p:txBody>
      </p:sp>
      <p:cxnSp>
        <p:nvCxnSpPr>
          <p:cNvPr id="35" name="Divider Line">
            <a:extLst>
              <a:ext uri="{FF2B5EF4-FFF2-40B4-BE49-F238E27FC236}">
                <a16:creationId xmlns:a16="http://schemas.microsoft.com/office/drawing/2014/main" id="{07A22438-1615-4D9D-035B-BD830FCDDDEE}"/>
              </a:ext>
            </a:extLst>
          </p:cNvPr>
          <p:cNvCxnSpPr>
            <a:cxnSpLocks/>
          </p:cNvCxnSpPr>
          <p:nvPr userDrawn="1"/>
        </p:nvCxnSpPr>
        <p:spPr>
          <a:xfrm>
            <a:off x="6424897" y="2453110"/>
            <a:ext cx="0" cy="1693145"/>
          </a:xfrm>
          <a:prstGeom prst="line">
            <a:avLst/>
          </a:prstGeom>
          <a:ln w="38100">
            <a:solidFill>
              <a:schemeClr val="tx2"/>
            </a:solidFill>
            <a:headEnd w="lg" len="lg"/>
            <a:tailEnd w="lg" len="lg"/>
          </a:ln>
        </p:spPr>
        <p:style>
          <a:lnRef idx="2">
            <a:schemeClr val="accent1"/>
          </a:lnRef>
          <a:fillRef idx="0">
            <a:schemeClr val="accent1"/>
          </a:fillRef>
          <a:effectRef idx="1">
            <a:schemeClr val="accent1"/>
          </a:effectRef>
          <a:fontRef idx="minor">
            <a:schemeClr val="tx1"/>
          </a:fontRef>
        </p:style>
      </p:cxnSp>
      <p:sp>
        <p:nvSpPr>
          <p:cNvPr id="26" name="Logo Text">
            <a:extLst>
              <a:ext uri="{FF2B5EF4-FFF2-40B4-BE49-F238E27FC236}">
                <a16:creationId xmlns:a16="http://schemas.microsoft.com/office/drawing/2014/main" id="{7181261B-26AC-4005-DDC1-BC3536B31448}"/>
              </a:ext>
            </a:extLst>
          </p:cNvPr>
          <p:cNvSpPr>
            <a:spLocks noGrp="1" noRot="1" noMove="1" noResize="1" noEditPoints="1" noAdjustHandles="1" noChangeArrowheads="1" noChangeShapeType="1"/>
          </p:cNvSpPr>
          <p:nvPr userDrawn="1"/>
        </p:nvSpPr>
        <p:spPr>
          <a:xfrm>
            <a:off x="3115929" y="3071500"/>
            <a:ext cx="2565187" cy="480812"/>
          </a:xfrm>
          <a:custGeom>
            <a:avLst/>
            <a:gdLst>
              <a:gd name="csX0" fmla="*/ 1516265 w 3646099"/>
              <a:gd name="csY0" fmla="*/ 925 h 683416"/>
              <a:gd name="csX1" fmla="*/ 1516333 w 3646099"/>
              <a:gd name="csY1" fmla="*/ 683417 h 683416"/>
              <a:gd name="csX2" fmla="*/ 1709085 w 3646099"/>
              <a:gd name="csY2" fmla="*/ 683417 h 683416"/>
              <a:gd name="csX3" fmla="*/ 1709085 w 3646099"/>
              <a:gd name="csY3" fmla="*/ 939 h 683416"/>
              <a:gd name="csX4" fmla="*/ 1516265 w 3646099"/>
              <a:gd name="csY4" fmla="*/ 925 h 683416"/>
              <a:gd name="csX5" fmla="*/ 0 w 3646099"/>
              <a:gd name="csY5" fmla="*/ 0 h 683416"/>
              <a:gd name="csX6" fmla="*/ 0 w 3646099"/>
              <a:gd name="csY6" fmla="*/ 683417 h 683416"/>
              <a:gd name="csX7" fmla="*/ 194448 w 3646099"/>
              <a:gd name="csY7" fmla="*/ 683417 h 683416"/>
              <a:gd name="csX8" fmla="*/ 194448 w 3646099"/>
              <a:gd name="csY8" fmla="*/ 164488 h 683416"/>
              <a:gd name="csX9" fmla="*/ 345097 w 3646099"/>
              <a:gd name="csY9" fmla="*/ 164540 h 683416"/>
              <a:gd name="csX10" fmla="*/ 454594 w 3646099"/>
              <a:gd name="csY10" fmla="*/ 202617 h 683416"/>
              <a:gd name="csX11" fmla="*/ 497534 w 3646099"/>
              <a:gd name="csY11" fmla="*/ 383324 h 683416"/>
              <a:gd name="csX12" fmla="*/ 497534 w 3646099"/>
              <a:gd name="csY12" fmla="*/ 683417 h 683416"/>
              <a:gd name="csX13" fmla="*/ 685919 w 3646099"/>
              <a:gd name="csY13" fmla="*/ 683383 h 683416"/>
              <a:gd name="csX14" fmla="*/ 685941 w 3646099"/>
              <a:gd name="csY14" fmla="*/ 305832 h 683416"/>
              <a:gd name="csX15" fmla="*/ 346115 w 3646099"/>
              <a:gd name="csY15" fmla="*/ 0 h 683416"/>
              <a:gd name="csX16" fmla="*/ 0 w 3646099"/>
              <a:gd name="csY16" fmla="*/ 0 h 683416"/>
              <a:gd name="csX17" fmla="*/ 1826613 w 3646099"/>
              <a:gd name="csY17" fmla="*/ 950 h 683416"/>
              <a:gd name="csX18" fmla="*/ 1826613 w 3646099"/>
              <a:gd name="csY18" fmla="*/ 683417 h 683416"/>
              <a:gd name="csX19" fmla="*/ 2139246 w 3646099"/>
              <a:gd name="csY19" fmla="*/ 683417 h 683416"/>
              <a:gd name="csX20" fmla="*/ 2418984 w 3646099"/>
              <a:gd name="csY20" fmla="*/ 593604 h 683416"/>
              <a:gd name="csX21" fmla="*/ 2487398 w 3646099"/>
              <a:gd name="csY21" fmla="*/ 349685 h 683416"/>
              <a:gd name="csX22" fmla="*/ 2425002 w 3646099"/>
              <a:gd name="csY22" fmla="*/ 114882 h 683416"/>
              <a:gd name="csX23" fmla="*/ 2097144 w 3646099"/>
              <a:gd name="csY23" fmla="*/ 950 h 683416"/>
              <a:gd name="csX24" fmla="*/ 1826613 w 3646099"/>
              <a:gd name="csY24" fmla="*/ 950 h 683416"/>
              <a:gd name="csX25" fmla="*/ 2017826 w 3646099"/>
              <a:gd name="csY25" fmla="*/ 149552 h 683416"/>
              <a:gd name="csX26" fmla="*/ 2100696 w 3646099"/>
              <a:gd name="csY26" fmla="*/ 149552 h 683416"/>
              <a:gd name="csX27" fmla="*/ 2298673 w 3646099"/>
              <a:gd name="csY27" fmla="*/ 343634 h 683416"/>
              <a:gd name="csX28" fmla="*/ 2100696 w 3646099"/>
              <a:gd name="csY28" fmla="*/ 537749 h 683416"/>
              <a:gd name="csX29" fmla="*/ 2017826 w 3646099"/>
              <a:gd name="csY29" fmla="*/ 537749 h 683416"/>
              <a:gd name="csX30" fmla="*/ 2017826 w 3646099"/>
              <a:gd name="csY30" fmla="*/ 149552 h 683416"/>
              <a:gd name="csX31" fmla="*/ 1238360 w 3646099"/>
              <a:gd name="csY31" fmla="*/ 950 h 683416"/>
              <a:gd name="csX32" fmla="*/ 1077507 w 3646099"/>
              <a:gd name="csY32" fmla="*/ 541844 h 683416"/>
              <a:gd name="csX33" fmla="*/ 923351 w 3646099"/>
              <a:gd name="csY33" fmla="*/ 984 h 683416"/>
              <a:gd name="csX34" fmla="*/ 715284 w 3646099"/>
              <a:gd name="csY34" fmla="*/ 950 h 683416"/>
              <a:gd name="csX35" fmla="*/ 935432 w 3646099"/>
              <a:gd name="csY35" fmla="*/ 683417 h 683416"/>
              <a:gd name="csX36" fmla="*/ 1213225 w 3646099"/>
              <a:gd name="csY36" fmla="*/ 683417 h 683416"/>
              <a:gd name="csX37" fmla="*/ 1435093 w 3646099"/>
              <a:gd name="csY37" fmla="*/ 950 h 683416"/>
              <a:gd name="csX38" fmla="*/ 1238360 w 3646099"/>
              <a:gd name="csY38" fmla="*/ 950 h 683416"/>
              <a:gd name="csX39" fmla="*/ 2577077 w 3646099"/>
              <a:gd name="csY39" fmla="*/ 683417 h 683416"/>
              <a:gd name="csX40" fmla="*/ 2769851 w 3646099"/>
              <a:gd name="csY40" fmla="*/ 683417 h 683416"/>
              <a:gd name="csX41" fmla="*/ 2769851 w 3646099"/>
              <a:gd name="csY41" fmla="*/ 984 h 683416"/>
              <a:gd name="csX42" fmla="*/ 2577031 w 3646099"/>
              <a:gd name="csY42" fmla="*/ 950 h 683416"/>
              <a:gd name="csX43" fmla="*/ 2577077 w 3646099"/>
              <a:gd name="csY43" fmla="*/ 683417 h 683416"/>
              <a:gd name="csX44" fmla="*/ 3117414 w 3646099"/>
              <a:gd name="csY44" fmla="*/ 1195 h 683416"/>
              <a:gd name="csX45" fmla="*/ 2848263 w 3646099"/>
              <a:gd name="csY45" fmla="*/ 683181 h 683416"/>
              <a:gd name="csX46" fmla="*/ 3038323 w 3646099"/>
              <a:gd name="csY46" fmla="*/ 683181 h 683416"/>
              <a:gd name="csX47" fmla="*/ 3080900 w 3646099"/>
              <a:gd name="csY47" fmla="*/ 562642 h 683416"/>
              <a:gd name="csX48" fmla="*/ 3399437 w 3646099"/>
              <a:gd name="csY48" fmla="*/ 562642 h 683416"/>
              <a:gd name="csX49" fmla="*/ 3439752 w 3646099"/>
              <a:gd name="csY49" fmla="*/ 683181 h 683416"/>
              <a:gd name="csX50" fmla="*/ 3646100 w 3646099"/>
              <a:gd name="csY50" fmla="*/ 683181 h 683416"/>
              <a:gd name="csX51" fmla="*/ 3374891 w 3646099"/>
              <a:gd name="csY51" fmla="*/ 1138 h 683416"/>
              <a:gd name="csX52" fmla="*/ 3117414 w 3646099"/>
              <a:gd name="csY52" fmla="*/ 1195 h 683416"/>
              <a:gd name="csX53" fmla="*/ 3242544 w 3646099"/>
              <a:gd name="csY53" fmla="*/ 125616 h 683416"/>
              <a:gd name="csX54" fmla="*/ 3359303 w 3646099"/>
              <a:gd name="csY54" fmla="*/ 445115 h 683416"/>
              <a:gd name="csX55" fmla="*/ 3122097 w 3646099"/>
              <a:gd name="csY55" fmla="*/ 445115 h 683416"/>
              <a:gd name="csX56" fmla="*/ 3242544 w 3646099"/>
              <a:gd name="csY56" fmla="*/ 125616 h 68341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3646099" h="683416">
                <a:moveTo>
                  <a:pt x="1516265" y="925"/>
                </a:moveTo>
                <a:lnTo>
                  <a:pt x="1516333" y="683417"/>
                </a:lnTo>
                <a:lnTo>
                  <a:pt x="1709085" y="683417"/>
                </a:lnTo>
                <a:lnTo>
                  <a:pt x="1709085" y="939"/>
                </a:lnTo>
                <a:lnTo>
                  <a:pt x="1516265" y="925"/>
                </a:lnTo>
                <a:close/>
                <a:moveTo>
                  <a:pt x="0" y="0"/>
                </a:moveTo>
                <a:lnTo>
                  <a:pt x="0" y="683417"/>
                </a:lnTo>
                <a:lnTo>
                  <a:pt x="194448" y="683417"/>
                </a:lnTo>
                <a:lnTo>
                  <a:pt x="194448" y="164488"/>
                </a:lnTo>
                <a:lnTo>
                  <a:pt x="345097" y="164540"/>
                </a:lnTo>
                <a:cubicBezTo>
                  <a:pt x="395005" y="164540"/>
                  <a:pt x="430546" y="176958"/>
                  <a:pt x="454594" y="202617"/>
                </a:cubicBezTo>
                <a:cubicBezTo>
                  <a:pt x="485091" y="235107"/>
                  <a:pt x="497534" y="287478"/>
                  <a:pt x="497534" y="383324"/>
                </a:cubicBezTo>
                <a:lnTo>
                  <a:pt x="497534" y="683417"/>
                </a:lnTo>
                <a:lnTo>
                  <a:pt x="685919" y="683383"/>
                </a:lnTo>
                <a:lnTo>
                  <a:pt x="685941" y="305832"/>
                </a:lnTo>
                <a:cubicBezTo>
                  <a:pt x="685941" y="36340"/>
                  <a:pt x="514162" y="0"/>
                  <a:pt x="346115" y="0"/>
                </a:cubicBezTo>
                <a:lnTo>
                  <a:pt x="0" y="0"/>
                </a:lnTo>
                <a:moveTo>
                  <a:pt x="1826613" y="950"/>
                </a:moveTo>
                <a:lnTo>
                  <a:pt x="1826613" y="683417"/>
                </a:lnTo>
                <a:lnTo>
                  <a:pt x="2139246" y="683417"/>
                </a:lnTo>
                <a:cubicBezTo>
                  <a:pt x="2305822" y="683417"/>
                  <a:pt x="2360186" y="655714"/>
                  <a:pt x="2418984" y="593604"/>
                </a:cubicBezTo>
                <a:cubicBezTo>
                  <a:pt x="2460543" y="550002"/>
                  <a:pt x="2487398" y="454287"/>
                  <a:pt x="2487398" y="349685"/>
                </a:cubicBezTo>
                <a:cubicBezTo>
                  <a:pt x="2487398" y="253758"/>
                  <a:pt x="2464661" y="168176"/>
                  <a:pt x="2425002" y="114882"/>
                </a:cubicBezTo>
                <a:cubicBezTo>
                  <a:pt x="2353603" y="19578"/>
                  <a:pt x="2250711" y="950"/>
                  <a:pt x="2097144" y="950"/>
                </a:cubicBezTo>
                <a:lnTo>
                  <a:pt x="1826613" y="950"/>
                </a:lnTo>
                <a:close/>
                <a:moveTo>
                  <a:pt x="2017826" y="149552"/>
                </a:moveTo>
                <a:lnTo>
                  <a:pt x="2100696" y="149552"/>
                </a:lnTo>
                <a:cubicBezTo>
                  <a:pt x="2220916" y="149552"/>
                  <a:pt x="2298673" y="203545"/>
                  <a:pt x="2298673" y="343634"/>
                </a:cubicBezTo>
                <a:cubicBezTo>
                  <a:pt x="2298673" y="483758"/>
                  <a:pt x="2220916" y="537749"/>
                  <a:pt x="2100696" y="537749"/>
                </a:cubicBezTo>
                <a:lnTo>
                  <a:pt x="2017826" y="537749"/>
                </a:lnTo>
                <a:lnTo>
                  <a:pt x="2017826" y="149552"/>
                </a:lnTo>
                <a:close/>
                <a:moveTo>
                  <a:pt x="1238360" y="950"/>
                </a:moveTo>
                <a:lnTo>
                  <a:pt x="1077507" y="541844"/>
                </a:lnTo>
                <a:lnTo>
                  <a:pt x="923351" y="984"/>
                </a:lnTo>
                <a:lnTo>
                  <a:pt x="715284" y="950"/>
                </a:lnTo>
                <a:lnTo>
                  <a:pt x="935432" y="683417"/>
                </a:lnTo>
                <a:lnTo>
                  <a:pt x="1213225" y="683417"/>
                </a:lnTo>
                <a:lnTo>
                  <a:pt x="1435093" y="950"/>
                </a:lnTo>
                <a:lnTo>
                  <a:pt x="1238360" y="950"/>
                </a:lnTo>
                <a:close/>
                <a:moveTo>
                  <a:pt x="2577077" y="683417"/>
                </a:moveTo>
                <a:lnTo>
                  <a:pt x="2769851" y="683417"/>
                </a:lnTo>
                <a:lnTo>
                  <a:pt x="2769851" y="984"/>
                </a:lnTo>
                <a:lnTo>
                  <a:pt x="2577031" y="950"/>
                </a:lnTo>
                <a:lnTo>
                  <a:pt x="2577077" y="683417"/>
                </a:lnTo>
                <a:close/>
                <a:moveTo>
                  <a:pt x="3117414" y="1195"/>
                </a:moveTo>
                <a:lnTo>
                  <a:pt x="2848263" y="683181"/>
                </a:lnTo>
                <a:lnTo>
                  <a:pt x="3038323" y="683181"/>
                </a:lnTo>
                <a:lnTo>
                  <a:pt x="3080900" y="562642"/>
                </a:lnTo>
                <a:lnTo>
                  <a:pt x="3399437" y="562642"/>
                </a:lnTo>
                <a:lnTo>
                  <a:pt x="3439752" y="683181"/>
                </a:lnTo>
                <a:lnTo>
                  <a:pt x="3646100" y="683181"/>
                </a:lnTo>
                <a:lnTo>
                  <a:pt x="3374891" y="1138"/>
                </a:lnTo>
                <a:lnTo>
                  <a:pt x="3117414" y="1195"/>
                </a:lnTo>
                <a:close/>
                <a:moveTo>
                  <a:pt x="3242544" y="125616"/>
                </a:moveTo>
                <a:lnTo>
                  <a:pt x="3359303" y="445115"/>
                </a:lnTo>
                <a:lnTo>
                  <a:pt x="3122097" y="445115"/>
                </a:lnTo>
                <a:lnTo>
                  <a:pt x="3242544" y="125616"/>
                </a:lnTo>
                <a:close/>
              </a:path>
            </a:pathLst>
          </a:custGeom>
          <a:solidFill>
            <a:schemeClr val="tx1"/>
          </a:solidFill>
          <a:ln w="2259" cap="flat">
            <a:noFill/>
            <a:prstDash val="solid"/>
            <a:miter/>
          </a:ln>
        </p:spPr>
        <p:txBody>
          <a:bodyPr/>
          <a:lstStyle/>
          <a:p>
            <a:endParaRPr lang="en-US" dirty="0"/>
          </a:p>
        </p:txBody>
      </p:sp>
      <p:sp>
        <p:nvSpPr>
          <p:cNvPr id="27" name="Logo Eye">
            <a:extLst>
              <a:ext uri="{FF2B5EF4-FFF2-40B4-BE49-F238E27FC236}">
                <a16:creationId xmlns:a16="http://schemas.microsoft.com/office/drawing/2014/main" id="{9BF956D7-DF9A-8474-03DC-1D535E1AF181}"/>
              </a:ext>
            </a:extLst>
          </p:cNvPr>
          <p:cNvSpPr>
            <a:spLocks noGrp="1" noRot="1" noMove="1" noResize="1" noEditPoints="1" noAdjustHandles="1" noChangeArrowheads="1" noChangeShapeType="1"/>
          </p:cNvSpPr>
          <p:nvPr userDrawn="1"/>
        </p:nvSpPr>
        <p:spPr>
          <a:xfrm>
            <a:off x="1828916" y="2933922"/>
            <a:ext cx="1105476" cy="731520"/>
          </a:xfrm>
          <a:custGeom>
            <a:avLst/>
            <a:gdLst>
              <a:gd name="csX0" fmla="*/ 586272 w 1571299"/>
              <a:gd name="csY0" fmla="*/ 310255 h 1039766"/>
              <a:gd name="csX1" fmla="*/ 586272 w 1571299"/>
              <a:gd name="csY1" fmla="*/ 216336 h 1039766"/>
              <a:gd name="csX2" fmla="*/ 613986 w 1571299"/>
              <a:gd name="csY2" fmla="*/ 214906 h 1039766"/>
              <a:gd name="csX3" fmla="*/ 1039387 w 1571299"/>
              <a:gd name="csY3" fmla="*/ 435625 h 1039766"/>
              <a:gd name="csX4" fmla="*/ 662214 w 1571299"/>
              <a:gd name="csY4" fmla="*/ 688437 h 1039766"/>
              <a:gd name="csX5" fmla="*/ 586272 w 1571299"/>
              <a:gd name="csY5" fmla="*/ 676295 h 1039766"/>
              <a:gd name="csX6" fmla="*/ 586272 w 1571299"/>
              <a:gd name="csY6" fmla="*/ 391493 h 1039766"/>
              <a:gd name="csX7" fmla="*/ 766519 w 1571299"/>
              <a:gd name="csY7" fmla="*/ 547959 h 1039766"/>
              <a:gd name="csX8" fmla="*/ 900233 w 1571299"/>
              <a:gd name="csY8" fmla="*/ 435218 h 1039766"/>
              <a:gd name="csX9" fmla="*/ 638088 w 1571299"/>
              <a:gd name="csY9" fmla="*/ 307199 h 1039766"/>
              <a:gd name="csX10" fmla="*/ 586272 w 1571299"/>
              <a:gd name="csY10" fmla="*/ 310255 h 1039766"/>
              <a:gd name="csX11" fmla="*/ 586272 w 1571299"/>
              <a:gd name="csY11" fmla="*/ 0 h 1039766"/>
              <a:gd name="csX12" fmla="*/ 586272 w 1571299"/>
              <a:gd name="csY12" fmla="*/ 140292 h 1039766"/>
              <a:gd name="csX13" fmla="*/ 613986 w 1571299"/>
              <a:gd name="csY13" fmla="*/ 138641 h 1039766"/>
              <a:gd name="csX14" fmla="*/ 1203938 w 1571299"/>
              <a:gd name="csY14" fmla="*/ 431607 h 1039766"/>
              <a:gd name="csX15" fmla="*/ 658135 w 1571299"/>
              <a:gd name="csY15" fmla="*/ 756667 h 1039766"/>
              <a:gd name="csX16" fmla="*/ 586272 w 1571299"/>
              <a:gd name="csY16" fmla="*/ 750337 h 1039766"/>
              <a:gd name="csX17" fmla="*/ 586272 w 1571299"/>
              <a:gd name="csY17" fmla="*/ 837054 h 1039766"/>
              <a:gd name="csX18" fmla="*/ 646115 w 1571299"/>
              <a:gd name="csY18" fmla="*/ 840930 h 1039766"/>
              <a:gd name="csX19" fmla="*/ 1274186 w 1571299"/>
              <a:gd name="csY19" fmla="*/ 551943 h 1039766"/>
              <a:gd name="csX20" fmla="*/ 1452784 w 1571299"/>
              <a:gd name="csY20" fmla="*/ 660332 h 1039766"/>
              <a:gd name="csX21" fmla="*/ 650099 w 1571299"/>
              <a:gd name="csY21" fmla="*/ 921211 h 1039766"/>
              <a:gd name="csX22" fmla="*/ 586272 w 1571299"/>
              <a:gd name="csY22" fmla="*/ 917897 h 1039766"/>
              <a:gd name="csX23" fmla="*/ 586272 w 1571299"/>
              <a:gd name="csY23" fmla="*/ 1039767 h 1039766"/>
              <a:gd name="csX24" fmla="*/ 1571299 w 1571299"/>
              <a:gd name="csY24" fmla="*/ 1039767 h 1039766"/>
              <a:gd name="csX25" fmla="*/ 1571299 w 1571299"/>
              <a:gd name="csY25" fmla="*/ 0 h 1039766"/>
              <a:gd name="csX26" fmla="*/ 586272 w 1571299"/>
              <a:gd name="csY26" fmla="*/ 0 h 1039766"/>
              <a:gd name="csX27" fmla="*/ 586272 w 1571299"/>
              <a:gd name="csY27" fmla="*/ 676295 h 1039766"/>
              <a:gd name="csX28" fmla="*/ 586272 w 1571299"/>
              <a:gd name="csY28" fmla="*/ 750337 h 1039766"/>
              <a:gd name="csX29" fmla="*/ 280044 w 1571299"/>
              <a:gd name="csY29" fmla="*/ 458434 h 1039766"/>
              <a:gd name="csX30" fmla="*/ 586272 w 1571299"/>
              <a:gd name="csY30" fmla="*/ 310255 h 1039766"/>
              <a:gd name="csX31" fmla="*/ 586272 w 1571299"/>
              <a:gd name="csY31" fmla="*/ 391493 h 1039766"/>
              <a:gd name="csX32" fmla="*/ 585899 w 1571299"/>
              <a:gd name="csY32" fmla="*/ 391453 h 1039766"/>
              <a:gd name="csX33" fmla="*/ 407228 w 1571299"/>
              <a:gd name="csY33" fmla="*/ 473125 h 1039766"/>
              <a:gd name="csX34" fmla="*/ 586272 w 1571299"/>
              <a:gd name="csY34" fmla="*/ 676295 h 1039766"/>
              <a:gd name="csX35" fmla="*/ 160540 w 1571299"/>
              <a:gd name="csY35" fmla="*/ 447638 h 1039766"/>
              <a:gd name="csX36" fmla="*/ 586272 w 1571299"/>
              <a:gd name="csY36" fmla="*/ 216336 h 1039766"/>
              <a:gd name="csX37" fmla="*/ 586272 w 1571299"/>
              <a:gd name="csY37" fmla="*/ 140292 h 1039766"/>
              <a:gd name="csX38" fmla="*/ 0 w 1571299"/>
              <a:gd name="csY38" fmla="*/ 431607 h 1039766"/>
              <a:gd name="csX39" fmla="*/ 586272 w 1571299"/>
              <a:gd name="csY39" fmla="*/ 917897 h 1039766"/>
              <a:gd name="csX40" fmla="*/ 586272 w 1571299"/>
              <a:gd name="csY40" fmla="*/ 837054 h 1039766"/>
              <a:gd name="csX41" fmla="*/ 160540 w 1571299"/>
              <a:gd name="csY41" fmla="*/ 447638 h 1039766"/>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1571299" h="1039766">
                <a:moveTo>
                  <a:pt x="586272" y="310255"/>
                </a:moveTo>
                <a:lnTo>
                  <a:pt x="586272" y="216336"/>
                </a:lnTo>
                <a:cubicBezTo>
                  <a:pt x="595389" y="215685"/>
                  <a:pt x="604599" y="215201"/>
                  <a:pt x="613986" y="214906"/>
                </a:cubicBezTo>
                <a:cubicBezTo>
                  <a:pt x="870863" y="206832"/>
                  <a:pt x="1039387" y="435625"/>
                  <a:pt x="1039387" y="435625"/>
                </a:cubicBezTo>
                <a:cubicBezTo>
                  <a:pt x="1039387" y="435625"/>
                  <a:pt x="857373" y="688437"/>
                  <a:pt x="662214" y="688437"/>
                </a:cubicBezTo>
                <a:cubicBezTo>
                  <a:pt x="634105" y="688437"/>
                  <a:pt x="608950" y="683905"/>
                  <a:pt x="586272" y="676295"/>
                </a:cubicBezTo>
                <a:lnTo>
                  <a:pt x="586272" y="391493"/>
                </a:lnTo>
                <a:cubicBezTo>
                  <a:pt x="686276" y="403572"/>
                  <a:pt x="706379" y="447744"/>
                  <a:pt x="766519" y="547959"/>
                </a:cubicBezTo>
                <a:lnTo>
                  <a:pt x="900233" y="435218"/>
                </a:lnTo>
                <a:cubicBezTo>
                  <a:pt x="900233" y="435218"/>
                  <a:pt x="802628" y="307199"/>
                  <a:pt x="638088" y="307199"/>
                </a:cubicBezTo>
                <a:cubicBezTo>
                  <a:pt x="620182" y="307199"/>
                  <a:pt x="603074" y="308466"/>
                  <a:pt x="586272" y="310255"/>
                </a:cubicBezTo>
                <a:moveTo>
                  <a:pt x="586272" y="0"/>
                </a:moveTo>
                <a:lnTo>
                  <a:pt x="586272" y="140292"/>
                </a:lnTo>
                <a:cubicBezTo>
                  <a:pt x="595491" y="139562"/>
                  <a:pt x="604724" y="138976"/>
                  <a:pt x="613986" y="138641"/>
                </a:cubicBezTo>
                <a:cubicBezTo>
                  <a:pt x="971213" y="126607"/>
                  <a:pt x="1203938" y="431607"/>
                  <a:pt x="1203938" y="431607"/>
                </a:cubicBezTo>
                <a:cubicBezTo>
                  <a:pt x="1203938" y="431607"/>
                  <a:pt x="936618" y="756667"/>
                  <a:pt x="658135" y="756667"/>
                </a:cubicBezTo>
                <a:cubicBezTo>
                  <a:pt x="632618" y="756667"/>
                  <a:pt x="608723" y="754309"/>
                  <a:pt x="586272" y="750337"/>
                </a:cubicBezTo>
                <a:lnTo>
                  <a:pt x="586272" y="837054"/>
                </a:lnTo>
                <a:cubicBezTo>
                  <a:pt x="605475" y="839496"/>
                  <a:pt x="625358" y="840930"/>
                  <a:pt x="646115" y="840930"/>
                </a:cubicBezTo>
                <a:cubicBezTo>
                  <a:pt x="905284" y="840930"/>
                  <a:pt x="1092697" y="708590"/>
                  <a:pt x="1274186" y="551943"/>
                </a:cubicBezTo>
                <a:cubicBezTo>
                  <a:pt x="1304255" y="576035"/>
                  <a:pt x="1427451" y="634643"/>
                  <a:pt x="1452784" y="660332"/>
                </a:cubicBezTo>
                <a:cubicBezTo>
                  <a:pt x="1280215" y="804782"/>
                  <a:pt x="878080" y="921211"/>
                  <a:pt x="650099" y="921211"/>
                </a:cubicBezTo>
                <a:cubicBezTo>
                  <a:pt x="628132" y="921211"/>
                  <a:pt x="607002" y="919883"/>
                  <a:pt x="586272" y="917897"/>
                </a:cubicBezTo>
                <a:lnTo>
                  <a:pt x="586272" y="1039767"/>
                </a:lnTo>
                <a:lnTo>
                  <a:pt x="1571299" y="1039767"/>
                </a:lnTo>
                <a:lnTo>
                  <a:pt x="1571299" y="0"/>
                </a:lnTo>
                <a:lnTo>
                  <a:pt x="586272" y="0"/>
                </a:lnTo>
                <a:close/>
                <a:moveTo>
                  <a:pt x="586272" y="676295"/>
                </a:moveTo>
                <a:lnTo>
                  <a:pt x="586272" y="750337"/>
                </a:lnTo>
                <a:cubicBezTo>
                  <a:pt x="346575" y="707601"/>
                  <a:pt x="280044" y="458434"/>
                  <a:pt x="280044" y="458434"/>
                </a:cubicBezTo>
                <a:cubicBezTo>
                  <a:pt x="280044" y="458434"/>
                  <a:pt x="395129" y="330919"/>
                  <a:pt x="586272" y="310255"/>
                </a:cubicBezTo>
                <a:lnTo>
                  <a:pt x="586272" y="391493"/>
                </a:lnTo>
                <a:cubicBezTo>
                  <a:pt x="586125" y="391493"/>
                  <a:pt x="586027" y="391453"/>
                  <a:pt x="585899" y="391453"/>
                </a:cubicBezTo>
                <a:cubicBezTo>
                  <a:pt x="485598" y="379406"/>
                  <a:pt x="407228" y="473125"/>
                  <a:pt x="407228" y="473125"/>
                </a:cubicBezTo>
                <a:cubicBezTo>
                  <a:pt x="407228" y="473125"/>
                  <a:pt x="451133" y="630890"/>
                  <a:pt x="586272" y="676295"/>
                </a:cubicBezTo>
                <a:moveTo>
                  <a:pt x="160540" y="447638"/>
                </a:moveTo>
                <a:cubicBezTo>
                  <a:pt x="160540" y="447638"/>
                  <a:pt x="302606" y="238009"/>
                  <a:pt x="586272" y="216336"/>
                </a:cubicBezTo>
                <a:lnTo>
                  <a:pt x="586272" y="140292"/>
                </a:lnTo>
                <a:cubicBezTo>
                  <a:pt x="272083" y="165508"/>
                  <a:pt x="0" y="431607"/>
                  <a:pt x="0" y="431607"/>
                </a:cubicBezTo>
                <a:cubicBezTo>
                  <a:pt x="0" y="431607"/>
                  <a:pt x="154093" y="877109"/>
                  <a:pt x="586272" y="917897"/>
                </a:cubicBezTo>
                <a:lnTo>
                  <a:pt x="586272" y="837054"/>
                </a:lnTo>
                <a:cubicBezTo>
                  <a:pt x="269128" y="797154"/>
                  <a:pt x="160540" y="447638"/>
                  <a:pt x="160540" y="447638"/>
                </a:cubicBezTo>
                <a:close/>
              </a:path>
            </a:pathLst>
          </a:custGeom>
          <a:solidFill>
            <a:schemeClr val="accent1"/>
          </a:solidFill>
          <a:ln w="2259" cap="flat">
            <a:noFill/>
            <a:prstDash val="solid"/>
            <a:miter/>
          </a:ln>
        </p:spPr>
        <p:txBody>
          <a:bodyPr/>
          <a:lstStyle/>
          <a:p>
            <a:endParaRPr lang="en-US" dirty="0"/>
          </a:p>
        </p:txBody>
      </p:sp>
    </p:spTree>
    <p:extLst>
      <p:ext uri="{BB962C8B-B14F-4D97-AF65-F5344CB8AC3E}">
        <p14:creationId xmlns:p14="http://schemas.microsoft.com/office/powerpoint/2010/main" val="1124950508"/>
      </p:ext>
    </p:extLst>
  </p:cSld>
  <p:clrMapOvr>
    <a:masterClrMapping/>
  </p:clrMapOvr>
  <p:extLst>
    <p:ext uri="{DCECCB84-F9BA-43D5-87BE-67443E8EF086}">
      <p15:sldGuideLst xmlns:p15="http://schemas.microsoft.com/office/powerpoint/2012/main"/>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Chart">
    <p:spTree>
      <p:nvGrpSpPr>
        <p:cNvPr id="1" name=""/>
        <p:cNvGrpSpPr/>
        <p:nvPr/>
      </p:nvGrpSpPr>
      <p:grpSpPr>
        <a:xfrm>
          <a:off x="0" y="0"/>
          <a:ext cx="0" cy="0"/>
          <a:chOff x="0" y="0"/>
          <a:chExt cx="0" cy="0"/>
        </a:xfrm>
      </p:grpSpPr>
      <p:sp>
        <p:nvSpPr>
          <p:cNvPr id="4" name="Footer Placeholder">
            <a:extLst>
              <a:ext uri="{FF2B5EF4-FFF2-40B4-BE49-F238E27FC236}">
                <a16:creationId xmlns:a16="http://schemas.microsoft.com/office/drawing/2014/main" id="{A94EB9A7-773A-461B-557E-0A579E6D3E1E}"/>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3" name="Chart Placeholder">
            <a:extLst>
              <a:ext uri="{FF2B5EF4-FFF2-40B4-BE49-F238E27FC236}">
                <a16:creationId xmlns:a16="http://schemas.microsoft.com/office/drawing/2014/main" id="{612780E9-97C1-3353-3B19-EC6E50C425E5}"/>
              </a:ext>
            </a:extLst>
          </p:cNvPr>
          <p:cNvSpPr>
            <a:spLocks noGrp="1"/>
          </p:cNvSpPr>
          <p:nvPr>
            <p:ph type="chart" sz="quarter" idx="17" hasCustomPrompt="1"/>
          </p:nvPr>
        </p:nvSpPr>
        <p:spPr>
          <a:xfrm>
            <a:off x="5120639" y="6812280"/>
            <a:ext cx="26334720" cy="9692640"/>
          </a:xfrm>
        </p:spPr>
        <p:txBody>
          <a:bodyPr tIns="0" bIns="2103120" anchor="ctr"/>
          <a:lstStyle>
            <a:lvl1pPr algn="ctr">
              <a:defRPr sz="2800">
                <a:solidFill>
                  <a:schemeClr val="accent6"/>
                </a:solidFill>
                <a:latin typeface="+mn-lt"/>
              </a:defRPr>
            </a:lvl1pPr>
          </a:lstStyle>
          <a:p>
            <a:r>
              <a:rPr lang="en-US" dirty="0"/>
              <a:t>Click icon to place chart</a:t>
            </a:r>
          </a:p>
        </p:txBody>
      </p:sp>
      <p:sp>
        <p:nvSpPr>
          <p:cNvPr id="11" name="Text Placeholder">
            <a:extLst>
              <a:ext uri="{FF2B5EF4-FFF2-40B4-BE49-F238E27FC236}">
                <a16:creationId xmlns:a16="http://schemas.microsoft.com/office/drawing/2014/main" id="{3D6C3D75-6FFF-9EB8-DBF8-913CC6C1EE09}"/>
              </a:ext>
            </a:extLst>
          </p:cNvPr>
          <p:cNvSpPr>
            <a:spLocks noGrp="1"/>
          </p:cNvSpPr>
          <p:nvPr>
            <p:ph type="body" sz="quarter" idx="12" hasCustomPrompt="1"/>
          </p:nvPr>
        </p:nvSpPr>
        <p:spPr>
          <a:xfrm>
            <a:off x="10058400" y="5552182"/>
            <a:ext cx="16459200" cy="1077218"/>
          </a:xfrm>
        </p:spPr>
        <p:txBody>
          <a:bodyPr anchor="b">
            <a:noAutofit/>
          </a:bodyPr>
          <a:lstStyle>
            <a:lvl1pPr algn="ctr">
              <a:lnSpc>
                <a:spcPct val="100000"/>
              </a:lnSpc>
              <a:spcBef>
                <a:spcPts val="0"/>
              </a:spcBef>
              <a:spcAft>
                <a:spcPts val="0"/>
              </a:spcAft>
              <a:defRPr sz="4400" b="0">
                <a:solidFill>
                  <a:schemeClr val="tx1"/>
                </a:solidFill>
                <a:latin typeface="+mj-lt"/>
              </a:defRPr>
            </a:lvl1pPr>
            <a:lvl2pPr algn="ctr">
              <a:lnSpc>
                <a:spcPct val="100000"/>
              </a:lnSpc>
              <a:spcBef>
                <a:spcPts val="0"/>
              </a:spcBef>
              <a:spcAft>
                <a:spcPts val="0"/>
              </a:spcAft>
              <a:buNone/>
              <a:defRPr sz="3600">
                <a:solidFill>
                  <a:schemeClr val="accent6"/>
                </a:solidFill>
              </a:defRPr>
            </a:lvl2pPr>
            <a:lvl3pPr algn="ctr">
              <a:buNone/>
              <a:defRPr/>
            </a:lvl3pPr>
            <a:lvl4pPr algn="ctr">
              <a:defRPr/>
            </a:lvl4pPr>
            <a:lvl5pPr algn="ctr">
              <a:defRPr/>
            </a:lvl5pPr>
          </a:lstStyle>
          <a:p>
            <a:pPr lvl="0"/>
            <a:r>
              <a:rPr lang="en-US" dirty="0"/>
              <a:t>Click to Edit Chart Title</a:t>
            </a:r>
          </a:p>
          <a:p>
            <a:pPr lvl="1"/>
            <a:r>
              <a:rPr lang="en-US" dirty="0"/>
              <a:t>Second level</a:t>
            </a:r>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l">
              <a:defRPr>
                <a:latin typeface="+mj-lt"/>
              </a:defRPr>
            </a:lvl1pPr>
          </a:lstStyle>
          <a:p>
            <a:r>
              <a:rPr lang="en-US" dirty="0"/>
              <a:t>Click to Edit Title Here</a:t>
            </a:r>
          </a:p>
        </p:txBody>
      </p:sp>
      <p:sp>
        <p:nvSpPr>
          <p:cNvPr id="2" name="Slide Number Placeholder">
            <a:extLst>
              <a:ext uri="{FF2B5EF4-FFF2-40B4-BE49-F238E27FC236}">
                <a16:creationId xmlns:a16="http://schemas.microsoft.com/office/drawing/2014/main" id="{261AB175-E8DE-A841-4B8F-E21ED9AEA401}"/>
              </a:ext>
            </a:extLst>
          </p:cNvPr>
          <p:cNvSpPr>
            <a:spLocks noGrp="1"/>
          </p:cNvSpPr>
          <p:nvPr>
            <p:ph type="sldNum" sz="quarter" idx="20"/>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4257249143"/>
      </p:ext>
    </p:extLst>
  </p:cSld>
  <p:clrMapOvr>
    <a:masterClrMapping/>
  </p:clrMapOvr>
  <p:extLst>
    <p:ext uri="{DCECCB84-F9BA-43D5-87BE-67443E8EF086}">
      <p15:sldGuideLst xmlns:p15="http://schemas.microsoft.com/office/powerpoint/2012/main"/>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Single Image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66CDA03-9F6B-B45E-4491-BEA246B29A91}"/>
              </a:ext>
            </a:extLst>
          </p:cNvPr>
          <p:cNvSpPr>
            <a:spLocks noGrp="1"/>
          </p:cNvSpPr>
          <p:nvPr>
            <p:ph type="body" sz="quarter" idx="52" hasCustomPrompt="1"/>
          </p:nvPr>
        </p:nvSpPr>
        <p:spPr>
          <a:xfrm>
            <a:off x="8331200" y="17866936"/>
            <a:ext cx="19913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5D3AFFC-2277-939B-5E7E-1C91C2E44E0C}"/>
              </a:ext>
            </a:extLst>
          </p:cNvPr>
          <p:cNvSpPr>
            <a:spLocks noGrp="1"/>
          </p:cNvSpPr>
          <p:nvPr>
            <p:ph type="body" sz="quarter" idx="51" hasCustomPrompt="1"/>
          </p:nvPr>
        </p:nvSpPr>
        <p:spPr>
          <a:xfrm>
            <a:off x="8331200" y="17241080"/>
            <a:ext cx="199136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F9432913-9912-7965-4991-AF53AA33AF98}"/>
              </a:ext>
            </a:extLst>
          </p:cNvPr>
          <p:cNvSpPr>
            <a:spLocks noGrp="1" noChangeAspect="1"/>
          </p:cNvSpPr>
          <p:nvPr>
            <p:ph type="pic" sz="quarter" idx="53" hasCustomPrompt="1"/>
          </p:nvPr>
        </p:nvSpPr>
        <p:spPr>
          <a:xfrm>
            <a:off x="8331200" y="5806441"/>
            <a:ext cx="199136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21419045"/>
      </p:ext>
    </p:extLst>
  </p:cSld>
  <p:clrMapOvr>
    <a:masterClrMapping/>
  </p:clrMapOvr>
  <p:extLst>
    <p:ext uri="{DCECCB84-F9BA-43D5-87BE-67443E8EF086}">
      <p15:sldGuideLst xmlns:p15="http://schemas.microsoft.com/office/powerpoint/2012/main"/>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Single Image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2AF26A46-42AB-DF4F-23C8-722587870AE6}"/>
              </a:ext>
            </a:extLst>
          </p:cNvPr>
          <p:cNvSpPr>
            <a:spLocks noGrp="1"/>
          </p:cNvSpPr>
          <p:nvPr>
            <p:ph type="ftr" sz="quarter" idx="21"/>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79F6F523-D18E-7B85-4402-5643E55B3A33}"/>
              </a:ext>
            </a:extLst>
          </p:cNvPr>
          <p:cNvSpPr>
            <a:spLocks noGrp="1"/>
          </p:cNvSpPr>
          <p:nvPr>
            <p:ph type="sldNum" sz="quarter" idx="22"/>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A489FF99-1831-0DF9-96D8-11325791CEA7}"/>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A3F58F9F-B870-3263-F3DA-BE2292FA36E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57BC260F-02B3-8D2B-42BC-6A5E50478042}"/>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322090011"/>
      </p:ext>
    </p:extLst>
  </p:cSld>
  <p:clrMapOvr>
    <a:masterClrMapping/>
  </p:clrMapOvr>
  <p:extLst>
    <p:ext uri="{DCECCB84-F9BA-43D5-87BE-67443E8EF086}">
      <p15:sldGuideLst xmlns:p15="http://schemas.microsoft.com/office/powerpoint/2012/main"/>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Single Image w/ text 1:1">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a:t>
            </a:r>
          </a:p>
        </p:txBody>
      </p:sp>
      <p:sp>
        <p:nvSpPr>
          <p:cNvPr id="6" name="Text Placeholder 1">
            <a:extLst>
              <a:ext uri="{FF2B5EF4-FFF2-40B4-BE49-F238E27FC236}">
                <a16:creationId xmlns:a16="http://schemas.microsoft.com/office/drawing/2014/main" id="{78A3DE93-2758-FED4-5A4D-0F3E593B509E}"/>
              </a:ext>
            </a:extLst>
          </p:cNvPr>
          <p:cNvSpPr>
            <a:spLocks noGrp="1"/>
          </p:cNvSpPr>
          <p:nvPr>
            <p:ph type="body" sz="quarter" idx="52" hasCustomPrompt="1"/>
          </p:nvPr>
        </p:nvSpPr>
        <p:spPr>
          <a:xfrm>
            <a:off x="19552660" y="17866936"/>
            <a:ext cx="15194539"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7" name="Image Text Placeholder 1">
            <a:extLst>
              <a:ext uri="{FF2B5EF4-FFF2-40B4-BE49-F238E27FC236}">
                <a16:creationId xmlns:a16="http://schemas.microsoft.com/office/drawing/2014/main" id="{B9398613-710D-4865-371A-946865EB5A7E}"/>
              </a:ext>
            </a:extLst>
          </p:cNvPr>
          <p:cNvSpPr>
            <a:spLocks noGrp="1"/>
          </p:cNvSpPr>
          <p:nvPr>
            <p:ph type="body" sz="quarter" idx="51" hasCustomPrompt="1"/>
          </p:nvPr>
        </p:nvSpPr>
        <p:spPr>
          <a:xfrm>
            <a:off x="19552660" y="17241080"/>
            <a:ext cx="15194539" cy="585216"/>
          </a:xfrm>
        </p:spPr>
        <p:txBody>
          <a:bodyPr/>
          <a:lstStyle>
            <a:lvl1pPr algn="ctr">
              <a:spcBef>
                <a:spcPts val="0"/>
              </a:spcBef>
              <a:defRPr sz="4000">
                <a:latin typeface="+mj-lt"/>
              </a:defRPr>
            </a:lvl1pPr>
          </a:lstStyle>
          <a:p>
            <a:pPr lvl="0"/>
            <a:r>
              <a:rPr lang="en-US" dirty="0"/>
              <a:t>Click to Edit Image Title</a:t>
            </a:r>
          </a:p>
        </p:txBody>
      </p:sp>
      <p:sp>
        <p:nvSpPr>
          <p:cNvPr id="10" name="Picture Placeholder 1">
            <a:extLst>
              <a:ext uri="{FF2B5EF4-FFF2-40B4-BE49-F238E27FC236}">
                <a16:creationId xmlns:a16="http://schemas.microsoft.com/office/drawing/2014/main" id="{49C45D48-BD52-B9A0-732B-FA64DCFE4D4D}"/>
              </a:ext>
            </a:extLst>
          </p:cNvPr>
          <p:cNvSpPr>
            <a:spLocks noGrp="1" noChangeAspect="1"/>
          </p:cNvSpPr>
          <p:nvPr>
            <p:ph type="pic" sz="quarter" idx="53" hasCustomPrompt="1"/>
          </p:nvPr>
        </p:nvSpPr>
        <p:spPr>
          <a:xfrm>
            <a:off x="19552659" y="1828799"/>
            <a:ext cx="15194539" cy="15179041"/>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55883036"/>
      </p:ext>
    </p:extLst>
  </p:cSld>
  <p:clrMapOvr>
    <a:masterClrMapping/>
  </p:clrMapOvr>
  <p:extLst>
    <p:ext uri="{DCECCB84-F9BA-43D5-87BE-67443E8EF086}">
      <p15:sldGuideLst xmlns:p15="http://schemas.microsoft.com/office/powerpoint/2012/main"/>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Single Image w/ heavy text 4:5">
    <p:spTree>
      <p:nvGrpSpPr>
        <p:cNvPr id="1" name=""/>
        <p:cNvGrpSpPr/>
        <p:nvPr/>
      </p:nvGrpSpPr>
      <p:grpSpPr>
        <a:xfrm>
          <a:off x="0" y="0"/>
          <a:ext cx="0" cy="0"/>
          <a:chOff x="0" y="0"/>
          <a:chExt cx="0" cy="0"/>
        </a:xfrm>
      </p:grpSpPr>
      <p:sp>
        <p:nvSpPr>
          <p:cNvPr id="8" name="Footer (Source)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a:t>Source information in NVIDIA Sans, medium gray; 20 pt</a:t>
            </a:r>
            <a:endParaRPr lang="en-US" dirty="0"/>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12801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3168145144"/>
      </p:ext>
    </p:extLst>
  </p:cSld>
  <p:clrMapOvr>
    <a:masterClrMapping/>
  </p:clrMapOvr>
  <p:extLst>
    <p:ext uri="{DCECCB84-F9BA-43D5-87BE-67443E8EF086}">
      <p15:sldGuideLst xmlns:p15="http://schemas.microsoft.com/office/powerpoint/2012/main"/>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terstitial Single Image w/ QR Code">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9D6F27D6-4614-ED9E-5693-91C78E06D593}"/>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4" name="Logo Eye">
            <a:extLst>
              <a:ext uri="{FF2B5EF4-FFF2-40B4-BE49-F238E27FC236}">
                <a16:creationId xmlns:a16="http://schemas.microsoft.com/office/drawing/2014/main" id="{985EF0C2-DA2E-AAEA-FFD4-BAAA50EFB8A6}"/>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11" name="Slide Number Placeholder 10">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a:t>
            </a:fld>
            <a:endParaRPr lang="en-US"/>
          </a:p>
        </p:txBody>
      </p:sp>
      <p:sp>
        <p:nvSpPr>
          <p:cNvPr id="15" name="Picture Placeholder">
            <a:extLst>
              <a:ext uri="{FF2B5EF4-FFF2-40B4-BE49-F238E27FC236}">
                <a16:creationId xmlns:a16="http://schemas.microsoft.com/office/drawing/2014/main" id="{DDD634F0-995B-6ADD-C541-C4E58AC01BA0}"/>
              </a:ext>
            </a:extLst>
          </p:cNvPr>
          <p:cNvSpPr>
            <a:spLocks noGrp="1" noChangeAspect="1"/>
          </p:cNvSpPr>
          <p:nvPr>
            <p:ph type="pic" sz="quarter" idx="16" hasCustomPrompt="1"/>
          </p:nvPr>
        </p:nvSpPr>
        <p:spPr>
          <a:xfrm>
            <a:off x="21202180" y="1828800"/>
            <a:ext cx="13545020" cy="16916399"/>
          </a:xfrm>
          <a:solidFill>
            <a:schemeClr val="bg2"/>
          </a:solidFill>
          <a:ln>
            <a:solidFill>
              <a:schemeClr val="accent6"/>
            </a:solid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URL Placeholder">
            <a:extLst>
              <a:ext uri="{FF2B5EF4-FFF2-40B4-BE49-F238E27FC236}">
                <a16:creationId xmlns:a16="http://schemas.microsoft.com/office/drawing/2014/main" id="{5226E1C4-07C1-2954-049D-77E09DA13428}"/>
              </a:ext>
            </a:extLst>
          </p:cNvPr>
          <p:cNvSpPr>
            <a:spLocks noGrp="1"/>
          </p:cNvSpPr>
          <p:nvPr>
            <p:ph type="body" sz="quarter" idx="25" hasCustomPrompt="1"/>
          </p:nvPr>
        </p:nvSpPr>
        <p:spPr>
          <a:xfrm>
            <a:off x="6316651" y="16323353"/>
            <a:ext cx="4572000" cy="701731"/>
          </a:xfrm>
        </p:spPr>
        <p:txBody>
          <a:bodyPr wrap="square" anchor="ctr">
            <a:noAutofit/>
          </a:bodyPr>
          <a:lstStyle>
            <a:lvl1pPr>
              <a:buNone/>
              <a:defRPr lang="en-US" sz="4400" b="1" u="sng" kern="100" baseline="0" dirty="0" smtClean="0">
                <a:solidFill>
                  <a:schemeClr val="tx1"/>
                </a:solidFill>
                <a:uFill>
                  <a:solidFill>
                    <a:schemeClr val="accent1"/>
                  </a:solidFill>
                </a:uFill>
                <a:latin typeface="NVIDIA Sans" panose="020B0503020203020204" pitchFamily="34" charset="0"/>
                <a:ea typeface="+mn-ea"/>
                <a:cs typeface="NVIDIA Sans" panose="020B0503020203020204" pitchFamily="34" charset="0"/>
              </a:defRPr>
            </a:lvl1pPr>
            <a:lvl2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2pPr>
            <a:lvl3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3pPr>
            <a:lvl4pPr>
              <a:defRPr lang="en-US" sz="4400" b="1" u="sng" kern="1200" dirty="0" smtClean="0">
                <a:solidFill>
                  <a:schemeClr val="tx1"/>
                </a:solidFill>
                <a:uFill>
                  <a:solidFill>
                    <a:schemeClr val="tx2"/>
                  </a:solidFill>
                </a:uFill>
                <a:latin typeface="NVIDIA Sans" panose="020B0503020203020204" pitchFamily="34" charset="0"/>
                <a:ea typeface="+mn-ea"/>
                <a:cs typeface="NVIDIA Sans" panose="020B0503020203020204" pitchFamily="34" charset="0"/>
              </a:defRPr>
            </a:lvl4pPr>
            <a:lvl5pPr>
              <a:defRPr lang="en-US" sz="4400" b="1" u="sng" kern="1200" dirty="0">
                <a:solidFill>
                  <a:schemeClr val="tx1"/>
                </a:solidFill>
                <a:uFill>
                  <a:solidFill>
                    <a:schemeClr val="tx2"/>
                  </a:solidFill>
                </a:uFill>
                <a:latin typeface="NVIDIA Sans" panose="020B0503020203020204" pitchFamily="34" charset="0"/>
                <a:ea typeface="+mn-ea"/>
                <a:cs typeface="NVIDIA Sans" panose="020B0503020203020204" pitchFamily="34" charset="0"/>
              </a:defRPr>
            </a:lvl5pPr>
          </a:lstStyle>
          <a:p>
            <a:pPr lvl="0"/>
            <a:r>
              <a:rPr lang="en-US" dirty="0"/>
              <a:t>URL text</a:t>
            </a:r>
          </a:p>
        </p:txBody>
      </p:sp>
      <p:sp>
        <p:nvSpPr>
          <p:cNvPr id="2" name="QR Placeholder">
            <a:extLst>
              <a:ext uri="{FF2B5EF4-FFF2-40B4-BE49-F238E27FC236}">
                <a16:creationId xmlns:a16="http://schemas.microsoft.com/office/drawing/2014/main" id="{047A5165-7513-5095-7248-ADE53DEB1B99}"/>
              </a:ext>
            </a:extLst>
          </p:cNvPr>
          <p:cNvSpPr>
            <a:spLocks noGrp="1" noChangeAspect="1"/>
          </p:cNvSpPr>
          <p:nvPr>
            <p:ph type="pic" sz="quarter" idx="24" hasCustomPrompt="1"/>
          </p:nvPr>
        </p:nvSpPr>
        <p:spPr>
          <a:xfrm>
            <a:off x="1426464" y="14392656"/>
            <a:ext cx="4572000" cy="4572000"/>
          </a:xfrm>
          <a:noFill/>
          <a:ln>
            <a:noFill/>
          </a:ln>
        </p:spPr>
        <p:txBody>
          <a:bodyPr vert="horz" lIns="0" tIns="0" rIns="0" bIns="210312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7" name="Text Placeholder">
            <a:extLst>
              <a:ext uri="{FF2B5EF4-FFF2-40B4-BE49-F238E27FC236}">
                <a16:creationId xmlns:a16="http://schemas.microsoft.com/office/drawing/2014/main" id="{0D6BCA0B-3199-C486-B37E-4B93FF7624D3}"/>
              </a:ext>
            </a:extLst>
          </p:cNvPr>
          <p:cNvSpPr>
            <a:spLocks noGrp="1"/>
          </p:cNvSpPr>
          <p:nvPr>
            <p:ph type="body" sz="quarter" idx="20" hasCustomPrompt="1"/>
          </p:nvPr>
        </p:nvSpPr>
        <p:spPr>
          <a:xfrm>
            <a:off x="1828800" y="5943600"/>
            <a:ext cx="16459200" cy="822960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Subtitle">
            <a:extLst>
              <a:ext uri="{FF2B5EF4-FFF2-40B4-BE49-F238E27FC236}">
                <a16:creationId xmlns:a16="http://schemas.microsoft.com/office/drawing/2014/main" id="{FA26421D-9787-61F2-FBDF-8D6244254A66}"/>
              </a:ext>
            </a:extLst>
          </p:cNvPr>
          <p:cNvSpPr>
            <a:spLocks noGrp="1"/>
          </p:cNvSpPr>
          <p:nvPr>
            <p:ph type="body" sz="quarter" idx="13" hasCustomPrompt="1"/>
          </p:nvPr>
        </p:nvSpPr>
        <p:spPr>
          <a:xfrm>
            <a:off x="1828800" y="3383280"/>
            <a:ext cx="16459200" cy="914400"/>
          </a:xfrm>
        </p:spPr>
        <p:txBody>
          <a:bodyPr tIns="91440">
            <a:noAutofit/>
          </a:bodyPr>
          <a:lstStyle>
            <a:lvl1pPr algn="l">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6" name="Title">
            <a:extLst>
              <a:ext uri="{FF2B5EF4-FFF2-40B4-BE49-F238E27FC236}">
                <a16:creationId xmlns:a16="http://schemas.microsoft.com/office/drawing/2014/main" id="{74582820-14A4-7D67-5C91-23BC79A32370}"/>
              </a:ext>
            </a:extLst>
          </p:cNvPr>
          <p:cNvSpPr>
            <a:spLocks noGrp="1"/>
          </p:cNvSpPr>
          <p:nvPr>
            <p:ph type="title" hasCustomPrompt="1"/>
          </p:nvPr>
        </p:nvSpPr>
        <p:spPr>
          <a:xfrm>
            <a:off x="1828800" y="914400"/>
            <a:ext cx="16459200" cy="2468880"/>
          </a:xfrm>
        </p:spPr>
        <p:txBody>
          <a:bodyPr/>
          <a:lstStyle>
            <a:lvl1pPr algn="l">
              <a:defRPr>
                <a:latin typeface="+mj-lt"/>
              </a:defRPr>
            </a:lvl1pPr>
          </a:lstStyle>
          <a:p>
            <a:r>
              <a:rPr lang="en-US" dirty="0"/>
              <a:t>Click to Edit Title Here</a:t>
            </a:r>
          </a:p>
        </p:txBody>
      </p:sp>
    </p:spTree>
    <p:extLst>
      <p:ext uri="{BB962C8B-B14F-4D97-AF65-F5344CB8AC3E}">
        <p14:creationId xmlns:p14="http://schemas.microsoft.com/office/powerpoint/2010/main" val="4266078456"/>
      </p:ext>
    </p:extLst>
  </p:cSld>
  <p:clrMapOvr>
    <a:masterClrMapping/>
  </p:clrMapOvr>
  <p:extLst>
    <p:ext uri="{DCECCB84-F9BA-43D5-87BE-67443E8EF086}">
      <p15:sldGuideLst xmlns:p15="http://schemas.microsoft.com/office/powerpoint/2012/main"/>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2-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D6BC34D6-8DA8-62F3-C4A5-0A0FEC0CDE9B}"/>
              </a:ext>
            </a:extLst>
          </p:cNvPr>
          <p:cNvSpPr>
            <a:spLocks noGrp="1"/>
          </p:cNvSpPr>
          <p:nvPr>
            <p:ph type="body" sz="quarter" idx="52" hasCustomPrompt="1"/>
          </p:nvPr>
        </p:nvSpPr>
        <p:spPr>
          <a:xfrm>
            <a:off x="1828799" y="16510766"/>
            <a:ext cx="16114094"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177DC77-7F2C-E8FC-2CDE-5AAC4F8253DD}"/>
              </a:ext>
            </a:extLst>
          </p:cNvPr>
          <p:cNvSpPr>
            <a:spLocks noGrp="1"/>
          </p:cNvSpPr>
          <p:nvPr>
            <p:ph type="body" sz="quarter" idx="51" hasCustomPrompt="1"/>
          </p:nvPr>
        </p:nvSpPr>
        <p:spPr>
          <a:xfrm>
            <a:off x="1828799" y="15884910"/>
            <a:ext cx="16114094"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753BC23-DCCB-C3D7-C895-2D393A014C60}"/>
              </a:ext>
            </a:extLst>
          </p:cNvPr>
          <p:cNvSpPr>
            <a:spLocks noGrp="1" noChangeAspect="1"/>
          </p:cNvSpPr>
          <p:nvPr>
            <p:ph type="pic" sz="quarter" idx="53" hasCustomPrompt="1"/>
          </p:nvPr>
        </p:nvSpPr>
        <p:spPr>
          <a:xfrm>
            <a:off x="1828799"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82435354-F5C5-05C1-E1C7-7E065BFD8E8A}"/>
              </a:ext>
            </a:extLst>
          </p:cNvPr>
          <p:cNvSpPr>
            <a:spLocks noGrp="1"/>
          </p:cNvSpPr>
          <p:nvPr>
            <p:ph type="body" sz="quarter" idx="54" hasCustomPrompt="1"/>
          </p:nvPr>
        </p:nvSpPr>
        <p:spPr>
          <a:xfrm>
            <a:off x="18633106" y="16510766"/>
            <a:ext cx="16114093"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0F8ACF7E-0030-50A0-D85A-4EE4E128618F}"/>
              </a:ext>
            </a:extLst>
          </p:cNvPr>
          <p:cNvSpPr>
            <a:spLocks noGrp="1"/>
          </p:cNvSpPr>
          <p:nvPr>
            <p:ph type="body" sz="quarter" idx="55" hasCustomPrompt="1"/>
          </p:nvPr>
        </p:nvSpPr>
        <p:spPr>
          <a:xfrm>
            <a:off x="18633106" y="15884910"/>
            <a:ext cx="16114093"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90F7F8E4-D9D6-AE31-E63B-120BB0545306}"/>
              </a:ext>
            </a:extLst>
          </p:cNvPr>
          <p:cNvSpPr>
            <a:spLocks noGrp="1" noChangeAspect="1"/>
          </p:cNvSpPr>
          <p:nvPr>
            <p:ph type="pic" sz="quarter" idx="56" hasCustomPrompt="1"/>
          </p:nvPr>
        </p:nvSpPr>
        <p:spPr>
          <a:xfrm>
            <a:off x="18633106" y="6583679"/>
            <a:ext cx="16114094" cy="9067992"/>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149391402"/>
      </p:ext>
    </p:extLst>
  </p:cSld>
  <p:clrMapOvr>
    <a:masterClrMapping/>
  </p:clrMapOvr>
  <p:extLst>
    <p:ext uri="{DCECCB84-F9BA-43D5-87BE-67443E8EF086}">
      <p15:sldGuideLst xmlns:p15="http://schemas.microsoft.com/office/powerpoint/2012/main"/>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2-up Image 1:1">
    <p:spTree>
      <p:nvGrpSpPr>
        <p:cNvPr id="1" name=""/>
        <p:cNvGrpSpPr/>
        <p:nvPr/>
      </p:nvGrpSpPr>
      <p:grpSpPr>
        <a:xfrm>
          <a:off x="0" y="0"/>
          <a:ext cx="0" cy="0"/>
          <a:chOff x="0" y="0"/>
          <a:chExt cx="0" cy="0"/>
        </a:xfrm>
      </p:grpSpPr>
      <p:sp>
        <p:nvSpPr>
          <p:cNvPr id="10" name="Footer Placeholder">
            <a:extLst>
              <a:ext uri="{FF2B5EF4-FFF2-40B4-BE49-F238E27FC236}">
                <a16:creationId xmlns:a16="http://schemas.microsoft.com/office/drawing/2014/main" id="{8310A183-293A-11AA-3184-B8D45B728B68}"/>
              </a:ext>
            </a:extLst>
          </p:cNvPr>
          <p:cNvSpPr>
            <a:spLocks noGrp="1"/>
          </p:cNvSpPr>
          <p:nvPr>
            <p:ph type="ftr" sz="quarter" idx="26"/>
          </p:nvPr>
        </p:nvSpPr>
        <p:spPr/>
        <p:txBody>
          <a:bodyPr/>
          <a:lstStyle/>
          <a:p>
            <a:pPr>
              <a:lnSpc>
                <a:spcPct val="90000"/>
              </a:lnSpc>
            </a:pPr>
            <a:r>
              <a:rPr lang="en-US"/>
              <a:t>Source information in NVIDIA Sans, medium gray; 20 pt</a:t>
            </a:r>
            <a:endParaRPr lang="en-US" dirty="0"/>
          </a:p>
        </p:txBody>
      </p:sp>
      <p:sp>
        <p:nvSpPr>
          <p:cNvPr id="11" name="Slide Number Placeholder">
            <a:extLst>
              <a:ext uri="{FF2B5EF4-FFF2-40B4-BE49-F238E27FC236}">
                <a16:creationId xmlns:a16="http://schemas.microsoft.com/office/drawing/2014/main" id="{0088ADE0-25BE-3E24-0D45-E13A54AA610E}"/>
              </a:ext>
            </a:extLst>
          </p:cNvPr>
          <p:cNvSpPr>
            <a:spLocks noGrp="1"/>
          </p:cNvSpPr>
          <p:nvPr>
            <p:ph type="sldNum" sz="quarter" idx="27"/>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64316FE9-EFB5-B502-D80B-58C700B9A377}"/>
              </a:ext>
            </a:extLst>
          </p:cNvPr>
          <p:cNvSpPr>
            <a:spLocks noGrp="1"/>
          </p:cNvSpPr>
          <p:nvPr>
            <p:ph type="body" sz="quarter" idx="52" hasCustomPrompt="1"/>
          </p:nvPr>
        </p:nvSpPr>
        <p:spPr>
          <a:xfrm>
            <a:off x="6741493"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648AF9-5D21-C55C-50D0-96E31ACF3A7B}"/>
              </a:ext>
            </a:extLst>
          </p:cNvPr>
          <p:cNvSpPr>
            <a:spLocks noGrp="1"/>
          </p:cNvSpPr>
          <p:nvPr>
            <p:ph type="body" sz="quarter" idx="51" hasCustomPrompt="1"/>
          </p:nvPr>
        </p:nvSpPr>
        <p:spPr>
          <a:xfrm>
            <a:off x="6741493"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76125F03-AC1F-128A-BA68-7071018BEC79}"/>
              </a:ext>
            </a:extLst>
          </p:cNvPr>
          <p:cNvSpPr>
            <a:spLocks noGrp="1" noChangeAspect="1"/>
          </p:cNvSpPr>
          <p:nvPr>
            <p:ph type="pic" sz="quarter" idx="53" hasCustomPrompt="1"/>
          </p:nvPr>
        </p:nvSpPr>
        <p:spPr>
          <a:xfrm>
            <a:off x="6741493"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9" name="Text Placeholder 2">
            <a:extLst>
              <a:ext uri="{FF2B5EF4-FFF2-40B4-BE49-F238E27FC236}">
                <a16:creationId xmlns:a16="http://schemas.microsoft.com/office/drawing/2014/main" id="{F69DD0CA-6122-E4E8-7442-680BF49033F7}"/>
              </a:ext>
            </a:extLst>
          </p:cNvPr>
          <p:cNvSpPr>
            <a:spLocks noGrp="1"/>
          </p:cNvSpPr>
          <p:nvPr>
            <p:ph type="body" sz="quarter" idx="54" hasCustomPrompt="1"/>
          </p:nvPr>
        </p:nvSpPr>
        <p:spPr>
          <a:xfrm>
            <a:off x="18633107" y="17866936"/>
            <a:ext cx="112014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2" name="Image Text Placeholder 2">
            <a:extLst>
              <a:ext uri="{FF2B5EF4-FFF2-40B4-BE49-F238E27FC236}">
                <a16:creationId xmlns:a16="http://schemas.microsoft.com/office/drawing/2014/main" id="{3A83E94B-F03A-A8F4-B0FE-74E5234C8B29}"/>
              </a:ext>
            </a:extLst>
          </p:cNvPr>
          <p:cNvSpPr>
            <a:spLocks noGrp="1"/>
          </p:cNvSpPr>
          <p:nvPr>
            <p:ph type="body" sz="quarter" idx="55" hasCustomPrompt="1"/>
          </p:nvPr>
        </p:nvSpPr>
        <p:spPr>
          <a:xfrm>
            <a:off x="18633107" y="17241080"/>
            <a:ext cx="11201400" cy="585216"/>
          </a:xfrm>
        </p:spPr>
        <p:txBody>
          <a:bodyPr/>
          <a:lstStyle>
            <a:lvl1pPr algn="ctr">
              <a:spcBef>
                <a:spcPts val="0"/>
              </a:spcBef>
              <a:defRPr sz="4000">
                <a:latin typeface="+mj-lt"/>
              </a:defRPr>
            </a:lvl1pPr>
          </a:lstStyle>
          <a:p>
            <a:pPr lvl="0"/>
            <a:r>
              <a:rPr lang="en-US" dirty="0"/>
              <a:t>Click to Edit Image Title</a:t>
            </a:r>
          </a:p>
        </p:txBody>
      </p:sp>
      <p:sp>
        <p:nvSpPr>
          <p:cNvPr id="13" name="Picture Placeholder 2">
            <a:extLst>
              <a:ext uri="{FF2B5EF4-FFF2-40B4-BE49-F238E27FC236}">
                <a16:creationId xmlns:a16="http://schemas.microsoft.com/office/drawing/2014/main" id="{6B6BA6D6-DE4B-9D43-AB0B-4FC40D8CC866}"/>
              </a:ext>
            </a:extLst>
          </p:cNvPr>
          <p:cNvSpPr>
            <a:spLocks noGrp="1" noChangeAspect="1"/>
          </p:cNvSpPr>
          <p:nvPr>
            <p:ph type="pic" sz="quarter" idx="56" hasCustomPrompt="1"/>
          </p:nvPr>
        </p:nvSpPr>
        <p:spPr>
          <a:xfrm>
            <a:off x="18633107" y="5806441"/>
            <a:ext cx="11201400" cy="112014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765220463"/>
      </p:ext>
    </p:extLst>
  </p:cSld>
  <p:clrMapOvr>
    <a:masterClrMapping/>
  </p:clrMapOvr>
  <p:extLst>
    <p:ext uri="{DCECCB84-F9BA-43D5-87BE-67443E8EF086}">
      <p15:sldGuideLst xmlns:p15="http://schemas.microsoft.com/office/powerpoint/2012/main"/>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3-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2D0C93E-4F1F-5DAD-D5EF-B0685542FDE8}"/>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02D0AFCD-8D50-99AE-D7F0-FCC4A5EBD23B}"/>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1B44D39-6100-C773-3F91-47C5994A926D}"/>
              </a:ext>
            </a:extLst>
          </p:cNvPr>
          <p:cNvSpPr>
            <a:spLocks noGrp="1"/>
          </p:cNvSpPr>
          <p:nvPr>
            <p:ph type="body" sz="quarter" idx="52" hasCustomPrompt="1"/>
          </p:nvPr>
        </p:nvSpPr>
        <p:spPr>
          <a:xfrm>
            <a:off x="1825680"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5EC83629-467F-BCD7-68B9-3BAC22BB0C41}"/>
              </a:ext>
            </a:extLst>
          </p:cNvPr>
          <p:cNvSpPr>
            <a:spLocks noGrp="1"/>
          </p:cNvSpPr>
          <p:nvPr>
            <p:ph type="body" sz="quarter" idx="51" hasCustomPrompt="1"/>
          </p:nvPr>
        </p:nvSpPr>
        <p:spPr>
          <a:xfrm>
            <a:off x="1825680"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19E092C-D874-79CA-ABAB-947657DFB00A}"/>
              </a:ext>
            </a:extLst>
          </p:cNvPr>
          <p:cNvSpPr>
            <a:spLocks noGrp="1" noChangeAspect="1"/>
          </p:cNvSpPr>
          <p:nvPr>
            <p:ph type="pic" sz="quarter" idx="53" hasCustomPrompt="1"/>
          </p:nvPr>
        </p:nvSpPr>
        <p:spPr>
          <a:xfrm>
            <a:off x="1824386"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D798EC41-5120-B538-7AC3-88E72857542C}"/>
              </a:ext>
            </a:extLst>
          </p:cNvPr>
          <p:cNvSpPr>
            <a:spLocks noGrp="1"/>
          </p:cNvSpPr>
          <p:nvPr>
            <p:ph type="body" sz="quarter" idx="54" hasCustomPrompt="1"/>
          </p:nvPr>
        </p:nvSpPr>
        <p:spPr>
          <a:xfrm>
            <a:off x="13030847" y="14455080"/>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C5A1394-8081-7AD2-5890-4DDDBE4D2A49}"/>
              </a:ext>
            </a:extLst>
          </p:cNvPr>
          <p:cNvSpPr>
            <a:spLocks noGrp="1"/>
          </p:cNvSpPr>
          <p:nvPr>
            <p:ph type="body" sz="quarter" idx="55" hasCustomPrompt="1"/>
          </p:nvPr>
        </p:nvSpPr>
        <p:spPr>
          <a:xfrm>
            <a:off x="13030847" y="13829224"/>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95F7F591-C716-E009-C823-90D5057809DE}"/>
              </a:ext>
            </a:extLst>
          </p:cNvPr>
          <p:cNvSpPr>
            <a:spLocks noGrp="1" noChangeAspect="1"/>
          </p:cNvSpPr>
          <p:nvPr>
            <p:ph type="pic" sz="quarter" idx="56" hasCustomPrompt="1"/>
          </p:nvPr>
        </p:nvSpPr>
        <p:spPr>
          <a:xfrm>
            <a:off x="130302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051DB240-39A0-04BE-1CDD-E6EEE91AC77B}"/>
              </a:ext>
            </a:extLst>
          </p:cNvPr>
          <p:cNvSpPr>
            <a:spLocks noGrp="1"/>
          </p:cNvSpPr>
          <p:nvPr>
            <p:ph type="body" sz="quarter" idx="57" hasCustomPrompt="1"/>
          </p:nvPr>
        </p:nvSpPr>
        <p:spPr>
          <a:xfrm>
            <a:off x="24231601" y="14455080"/>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0034F399-18E8-4520-3F5F-0B6DBB8B6799}"/>
              </a:ext>
            </a:extLst>
          </p:cNvPr>
          <p:cNvSpPr>
            <a:spLocks noGrp="1"/>
          </p:cNvSpPr>
          <p:nvPr>
            <p:ph type="body" sz="quarter" idx="58" hasCustomPrompt="1"/>
          </p:nvPr>
        </p:nvSpPr>
        <p:spPr>
          <a:xfrm>
            <a:off x="24231601" y="13829224"/>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48EC521D-B4C2-799A-C6A3-69D700BE76C1}"/>
              </a:ext>
            </a:extLst>
          </p:cNvPr>
          <p:cNvSpPr>
            <a:spLocks noGrp="1" noChangeAspect="1"/>
          </p:cNvSpPr>
          <p:nvPr>
            <p:ph type="pic" sz="quarter" idx="59" hasCustomPrompt="1"/>
          </p:nvPr>
        </p:nvSpPr>
        <p:spPr>
          <a:xfrm>
            <a:off x="24231600" y="7681205"/>
            <a:ext cx="10515600" cy="591478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625094328"/>
      </p:ext>
    </p:extLst>
  </p:cSld>
  <p:clrMapOvr>
    <a:masterClrMapping/>
  </p:clrMapOvr>
  <p:extLst>
    <p:ext uri="{DCECCB84-F9BA-43D5-87BE-67443E8EF086}">
      <p15:sldGuideLst xmlns:p15="http://schemas.microsoft.com/office/powerpoint/2012/main"/>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3-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85FB1E77-1D8B-DB8A-F0B4-5CF69DFA1FBF}"/>
              </a:ext>
            </a:extLst>
          </p:cNvPr>
          <p:cNvSpPr>
            <a:spLocks noGrp="1"/>
          </p:cNvSpPr>
          <p:nvPr>
            <p:ph type="ftr" sz="quarter" idx="28"/>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6FE65824-D718-233E-6C82-1A23D1968239}"/>
              </a:ext>
            </a:extLst>
          </p:cNvPr>
          <p:cNvSpPr>
            <a:spLocks noGrp="1"/>
          </p:cNvSpPr>
          <p:nvPr>
            <p:ph type="sldNum" sz="quarter" idx="29"/>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E989AB6-3F8A-A6ED-AEAA-3F4507FAE2A9}"/>
              </a:ext>
            </a:extLst>
          </p:cNvPr>
          <p:cNvSpPr>
            <a:spLocks noGrp="1"/>
          </p:cNvSpPr>
          <p:nvPr>
            <p:ph type="body" sz="quarter" idx="52" hasCustomPrompt="1"/>
          </p:nvPr>
        </p:nvSpPr>
        <p:spPr>
          <a:xfrm>
            <a:off x="1825679"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729B0D1C-E74A-6F76-763E-92270DC85217}"/>
              </a:ext>
            </a:extLst>
          </p:cNvPr>
          <p:cNvSpPr>
            <a:spLocks noGrp="1"/>
          </p:cNvSpPr>
          <p:nvPr>
            <p:ph type="body" sz="quarter" idx="51" hasCustomPrompt="1"/>
          </p:nvPr>
        </p:nvSpPr>
        <p:spPr>
          <a:xfrm>
            <a:off x="1825679"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3654486B-3E43-161E-6F9D-7970C825ED51}"/>
              </a:ext>
            </a:extLst>
          </p:cNvPr>
          <p:cNvSpPr>
            <a:spLocks noGrp="1" noChangeAspect="1"/>
          </p:cNvSpPr>
          <p:nvPr>
            <p:ph type="pic" sz="quarter" idx="53" hasCustomPrompt="1"/>
          </p:nvPr>
        </p:nvSpPr>
        <p:spPr>
          <a:xfrm>
            <a:off x="1824385"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3C0214F-858F-1E84-7ED0-A95E5B48C9ED}"/>
              </a:ext>
            </a:extLst>
          </p:cNvPr>
          <p:cNvSpPr>
            <a:spLocks noGrp="1"/>
          </p:cNvSpPr>
          <p:nvPr>
            <p:ph type="body" sz="quarter" idx="54" hasCustomPrompt="1"/>
          </p:nvPr>
        </p:nvSpPr>
        <p:spPr>
          <a:xfrm>
            <a:off x="13030846" y="17181135"/>
            <a:ext cx="1051430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74E97535-A80D-5E31-72B1-DEDF80DC12AC}"/>
              </a:ext>
            </a:extLst>
          </p:cNvPr>
          <p:cNvSpPr>
            <a:spLocks noGrp="1"/>
          </p:cNvSpPr>
          <p:nvPr>
            <p:ph type="body" sz="quarter" idx="55" hasCustomPrompt="1"/>
          </p:nvPr>
        </p:nvSpPr>
        <p:spPr>
          <a:xfrm>
            <a:off x="13030846" y="16555279"/>
            <a:ext cx="10514306"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2">
            <a:extLst>
              <a:ext uri="{FF2B5EF4-FFF2-40B4-BE49-F238E27FC236}">
                <a16:creationId xmlns:a16="http://schemas.microsoft.com/office/drawing/2014/main" id="{3676709D-CEED-E005-62E2-4CCF531B5FF4}"/>
              </a:ext>
            </a:extLst>
          </p:cNvPr>
          <p:cNvSpPr>
            <a:spLocks noGrp="1" noChangeAspect="1"/>
          </p:cNvSpPr>
          <p:nvPr>
            <p:ph type="pic" sz="quarter" idx="56" hasCustomPrompt="1"/>
          </p:nvPr>
        </p:nvSpPr>
        <p:spPr>
          <a:xfrm>
            <a:off x="130301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3">
            <a:extLst>
              <a:ext uri="{FF2B5EF4-FFF2-40B4-BE49-F238E27FC236}">
                <a16:creationId xmlns:a16="http://schemas.microsoft.com/office/drawing/2014/main" id="{F02BC77D-45BF-7FDA-7EE9-8D65EF1E8E2C}"/>
              </a:ext>
            </a:extLst>
          </p:cNvPr>
          <p:cNvSpPr>
            <a:spLocks noGrp="1"/>
          </p:cNvSpPr>
          <p:nvPr>
            <p:ph type="body" sz="quarter" idx="57" hasCustomPrompt="1"/>
          </p:nvPr>
        </p:nvSpPr>
        <p:spPr>
          <a:xfrm>
            <a:off x="24231600" y="17181135"/>
            <a:ext cx="1051560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3">
            <a:extLst>
              <a:ext uri="{FF2B5EF4-FFF2-40B4-BE49-F238E27FC236}">
                <a16:creationId xmlns:a16="http://schemas.microsoft.com/office/drawing/2014/main" id="{6C79E746-D7C4-814F-EBF8-ABC47AE2B43C}"/>
              </a:ext>
            </a:extLst>
          </p:cNvPr>
          <p:cNvSpPr>
            <a:spLocks noGrp="1"/>
          </p:cNvSpPr>
          <p:nvPr>
            <p:ph type="body" sz="quarter" idx="58" hasCustomPrompt="1"/>
          </p:nvPr>
        </p:nvSpPr>
        <p:spPr>
          <a:xfrm>
            <a:off x="24231600" y="16555279"/>
            <a:ext cx="1051560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3">
            <a:extLst>
              <a:ext uri="{FF2B5EF4-FFF2-40B4-BE49-F238E27FC236}">
                <a16:creationId xmlns:a16="http://schemas.microsoft.com/office/drawing/2014/main" id="{C065D92D-38E1-039A-DFD5-9DC9C8B2918B}"/>
              </a:ext>
            </a:extLst>
          </p:cNvPr>
          <p:cNvSpPr>
            <a:spLocks noGrp="1" noChangeAspect="1"/>
          </p:cNvSpPr>
          <p:nvPr>
            <p:ph type="pic" sz="quarter" idx="59" hasCustomPrompt="1"/>
          </p:nvPr>
        </p:nvSpPr>
        <p:spPr>
          <a:xfrm>
            <a:off x="24231599" y="5806440"/>
            <a:ext cx="10515600" cy="1051560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838601530"/>
      </p:ext>
    </p:extLst>
  </p:cSld>
  <p:clrMapOvr>
    <a:masterClrMapping/>
  </p:clrMapOvr>
  <p:extLst>
    <p:ext uri="{DCECCB84-F9BA-43D5-87BE-67443E8EF086}">
      <p15:sldGuideLst xmlns:p15="http://schemas.microsoft.com/office/powerpoint/2012/main"/>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4-up Image 16:9">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8CC0E6E6-0FA6-353D-0B63-3616975CAB4C}"/>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9D469060-A1A3-4959-883E-BB99F7B74C39}"/>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CEA58440-CE73-CF57-A5D3-F04B9BC8C4F1}"/>
              </a:ext>
            </a:extLst>
          </p:cNvPr>
          <p:cNvSpPr>
            <a:spLocks noGrp="1"/>
          </p:cNvSpPr>
          <p:nvPr>
            <p:ph type="body" sz="quarter" idx="52" hasCustomPrompt="1"/>
          </p:nvPr>
        </p:nvSpPr>
        <p:spPr>
          <a:xfrm>
            <a:off x="1825021"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65692E4-AE1D-AF93-35F5-37E53D0E10EB}"/>
              </a:ext>
            </a:extLst>
          </p:cNvPr>
          <p:cNvSpPr>
            <a:spLocks noGrp="1"/>
          </p:cNvSpPr>
          <p:nvPr>
            <p:ph type="body" sz="quarter" idx="51" hasCustomPrompt="1"/>
          </p:nvPr>
        </p:nvSpPr>
        <p:spPr>
          <a:xfrm>
            <a:off x="1825021"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482BED8-85E9-155E-CAB6-03B9511045E9}"/>
              </a:ext>
            </a:extLst>
          </p:cNvPr>
          <p:cNvSpPr>
            <a:spLocks noGrp="1" noChangeAspect="1"/>
          </p:cNvSpPr>
          <p:nvPr>
            <p:ph type="pic" sz="quarter" idx="53" hasCustomPrompt="1"/>
          </p:nvPr>
        </p:nvSpPr>
        <p:spPr>
          <a:xfrm>
            <a:off x="1824386"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30B187E3-3ED9-A3C3-676A-A55F0061F8A7}"/>
              </a:ext>
            </a:extLst>
          </p:cNvPr>
          <p:cNvSpPr>
            <a:spLocks noGrp="1"/>
          </p:cNvSpPr>
          <p:nvPr>
            <p:ph type="body" sz="quarter" idx="54" hasCustomPrompt="1"/>
          </p:nvPr>
        </p:nvSpPr>
        <p:spPr>
          <a:xfrm>
            <a:off x="10228359" y="13658409"/>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2B3E8CC9-E7D8-3011-48CE-2439EF0A4EB7}"/>
              </a:ext>
            </a:extLst>
          </p:cNvPr>
          <p:cNvSpPr>
            <a:spLocks noGrp="1"/>
          </p:cNvSpPr>
          <p:nvPr>
            <p:ph type="body" sz="quarter" idx="55" hasCustomPrompt="1"/>
          </p:nvPr>
        </p:nvSpPr>
        <p:spPr>
          <a:xfrm>
            <a:off x="10228359" y="13032553"/>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F431FA93-762C-283A-FBA5-617E6FBED603}"/>
              </a:ext>
            </a:extLst>
          </p:cNvPr>
          <p:cNvSpPr>
            <a:spLocks noGrp="1" noChangeAspect="1"/>
          </p:cNvSpPr>
          <p:nvPr>
            <p:ph type="pic" sz="quarter" idx="56" hasCustomPrompt="1"/>
          </p:nvPr>
        </p:nvSpPr>
        <p:spPr>
          <a:xfrm>
            <a:off x="10226090"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E88DE121-B036-8DB7-1405-0F594E0DE478}"/>
              </a:ext>
            </a:extLst>
          </p:cNvPr>
          <p:cNvSpPr>
            <a:spLocks noGrp="1"/>
          </p:cNvSpPr>
          <p:nvPr>
            <p:ph type="body" sz="quarter" idx="57" hasCustomPrompt="1"/>
          </p:nvPr>
        </p:nvSpPr>
        <p:spPr>
          <a:xfrm>
            <a:off x="18630426" y="13658409"/>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874E24E6-0D3F-F95F-BF6A-AF4A6AE3E83A}"/>
              </a:ext>
            </a:extLst>
          </p:cNvPr>
          <p:cNvSpPr>
            <a:spLocks noGrp="1"/>
          </p:cNvSpPr>
          <p:nvPr>
            <p:ph type="body" sz="quarter" idx="58" hasCustomPrompt="1"/>
          </p:nvPr>
        </p:nvSpPr>
        <p:spPr>
          <a:xfrm>
            <a:off x="18630426" y="13032553"/>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736223F6-ED4F-5EB7-24DB-8928CCD0CAB7}"/>
              </a:ext>
            </a:extLst>
          </p:cNvPr>
          <p:cNvSpPr>
            <a:spLocks noGrp="1" noChangeAspect="1"/>
          </p:cNvSpPr>
          <p:nvPr>
            <p:ph type="pic" sz="quarter" idx="59" hasCustomPrompt="1"/>
          </p:nvPr>
        </p:nvSpPr>
        <p:spPr>
          <a:xfrm>
            <a:off x="18627794"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131287F0-44BE-1A7C-7C97-7CB8156721DD}"/>
              </a:ext>
            </a:extLst>
          </p:cNvPr>
          <p:cNvSpPr>
            <a:spLocks noGrp="1"/>
          </p:cNvSpPr>
          <p:nvPr>
            <p:ph type="body" sz="quarter" idx="60" hasCustomPrompt="1"/>
          </p:nvPr>
        </p:nvSpPr>
        <p:spPr>
          <a:xfrm>
            <a:off x="27029184" y="13658409"/>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A3604A9E-3F18-C956-DBA1-BAF9223D669F}"/>
              </a:ext>
            </a:extLst>
          </p:cNvPr>
          <p:cNvSpPr>
            <a:spLocks noGrp="1"/>
          </p:cNvSpPr>
          <p:nvPr>
            <p:ph type="body" sz="quarter" idx="61" hasCustomPrompt="1"/>
          </p:nvPr>
        </p:nvSpPr>
        <p:spPr>
          <a:xfrm>
            <a:off x="27029184" y="13032553"/>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D49BD1B3-F0BB-0985-BCDE-55C4D1B7A116}"/>
              </a:ext>
            </a:extLst>
          </p:cNvPr>
          <p:cNvSpPr>
            <a:spLocks noGrp="1" noChangeAspect="1"/>
          </p:cNvSpPr>
          <p:nvPr>
            <p:ph type="pic" sz="quarter" idx="68" hasCustomPrompt="1"/>
          </p:nvPr>
        </p:nvSpPr>
        <p:spPr>
          <a:xfrm>
            <a:off x="27029498" y="8458200"/>
            <a:ext cx="7717856" cy="434111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62152403"/>
      </p:ext>
    </p:extLst>
  </p:cSld>
  <p:clrMapOvr>
    <a:masterClrMapping/>
  </p:clrMapOvr>
  <p:extLst>
    <p:ext uri="{DCECCB84-F9BA-43D5-87BE-67443E8EF086}">
      <p15:sldGuideLst xmlns:p15="http://schemas.microsoft.com/office/powerpoint/2012/main"/>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4-up Image 1:1">
    <p:spTree>
      <p:nvGrpSpPr>
        <p:cNvPr id="1" name=""/>
        <p:cNvGrpSpPr/>
        <p:nvPr/>
      </p:nvGrpSpPr>
      <p:grpSpPr>
        <a:xfrm>
          <a:off x="0" y="0"/>
          <a:ext cx="0" cy="0"/>
          <a:chOff x="0" y="0"/>
          <a:chExt cx="0" cy="0"/>
        </a:xfrm>
      </p:grpSpPr>
      <p:sp>
        <p:nvSpPr>
          <p:cNvPr id="11" name="Footer Placeholder">
            <a:extLst>
              <a:ext uri="{FF2B5EF4-FFF2-40B4-BE49-F238E27FC236}">
                <a16:creationId xmlns:a16="http://schemas.microsoft.com/office/drawing/2014/main" id="{E22162D2-27B1-6EF8-EC6D-3B5993A84E3B}"/>
              </a:ext>
            </a:extLst>
          </p:cNvPr>
          <p:cNvSpPr>
            <a:spLocks noGrp="1"/>
          </p:cNvSpPr>
          <p:nvPr>
            <p:ph type="ftr" sz="quarter" idx="31"/>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588EFE2A-60CE-8999-2B97-A707CAAB6F7C}"/>
              </a:ext>
            </a:extLst>
          </p:cNvPr>
          <p:cNvSpPr>
            <a:spLocks noGrp="1"/>
          </p:cNvSpPr>
          <p:nvPr>
            <p:ph type="sldNum" sz="quarter" idx="3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02EF665F-9D0A-0403-3D51-144BAE4168D8}"/>
              </a:ext>
            </a:extLst>
          </p:cNvPr>
          <p:cNvSpPr>
            <a:spLocks noGrp="1"/>
          </p:cNvSpPr>
          <p:nvPr>
            <p:ph type="body" sz="quarter" idx="52" hasCustomPrompt="1"/>
          </p:nvPr>
        </p:nvSpPr>
        <p:spPr>
          <a:xfrm>
            <a:off x="1825021"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443B728-38A9-6A14-7F65-ADDB3F8A36A8}"/>
              </a:ext>
            </a:extLst>
          </p:cNvPr>
          <p:cNvSpPr>
            <a:spLocks noGrp="1"/>
          </p:cNvSpPr>
          <p:nvPr>
            <p:ph type="body" sz="quarter" idx="51" hasCustomPrompt="1"/>
          </p:nvPr>
        </p:nvSpPr>
        <p:spPr>
          <a:xfrm>
            <a:off x="1825021"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F2D3DCE-C6B1-3A69-F3C0-56DC23888CF5}"/>
              </a:ext>
            </a:extLst>
          </p:cNvPr>
          <p:cNvSpPr>
            <a:spLocks noGrp="1" noChangeAspect="1"/>
          </p:cNvSpPr>
          <p:nvPr>
            <p:ph type="pic" sz="quarter" idx="53" hasCustomPrompt="1"/>
          </p:nvPr>
        </p:nvSpPr>
        <p:spPr>
          <a:xfrm>
            <a:off x="1824386"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65905AF9-2F65-7BF7-FC63-55E2A9CD41D6}"/>
              </a:ext>
            </a:extLst>
          </p:cNvPr>
          <p:cNvSpPr>
            <a:spLocks noGrp="1"/>
          </p:cNvSpPr>
          <p:nvPr>
            <p:ph type="body" sz="quarter" idx="54" hasCustomPrompt="1"/>
          </p:nvPr>
        </p:nvSpPr>
        <p:spPr>
          <a:xfrm>
            <a:off x="10228359" y="15754671"/>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4" name="Image Text Placeholder 2">
            <a:extLst>
              <a:ext uri="{FF2B5EF4-FFF2-40B4-BE49-F238E27FC236}">
                <a16:creationId xmlns:a16="http://schemas.microsoft.com/office/drawing/2014/main" id="{AE1C74E4-2132-AD47-ED08-2369DE447A5C}"/>
              </a:ext>
            </a:extLst>
          </p:cNvPr>
          <p:cNvSpPr>
            <a:spLocks noGrp="1"/>
          </p:cNvSpPr>
          <p:nvPr>
            <p:ph type="body" sz="quarter" idx="55" hasCustomPrompt="1"/>
          </p:nvPr>
        </p:nvSpPr>
        <p:spPr>
          <a:xfrm>
            <a:off x="10228359" y="15128815"/>
            <a:ext cx="7717221" cy="585216"/>
          </a:xfrm>
        </p:spPr>
        <p:txBody>
          <a:bodyPr/>
          <a:lstStyle>
            <a:lvl1pPr algn="ctr">
              <a:spcBef>
                <a:spcPts val="0"/>
              </a:spcBef>
              <a:defRPr sz="4000">
                <a:latin typeface="+mj-lt"/>
              </a:defRPr>
            </a:lvl1pPr>
          </a:lstStyle>
          <a:p>
            <a:pPr lvl="0"/>
            <a:r>
              <a:rPr lang="en-US" dirty="0"/>
              <a:t>Click to Edit Image Title</a:t>
            </a:r>
          </a:p>
        </p:txBody>
      </p:sp>
      <p:sp>
        <p:nvSpPr>
          <p:cNvPr id="15" name="Picture Placeholder 2">
            <a:extLst>
              <a:ext uri="{FF2B5EF4-FFF2-40B4-BE49-F238E27FC236}">
                <a16:creationId xmlns:a16="http://schemas.microsoft.com/office/drawing/2014/main" id="{D035698C-1109-8300-B0FB-A35C03D3D74E}"/>
              </a:ext>
            </a:extLst>
          </p:cNvPr>
          <p:cNvSpPr>
            <a:spLocks noGrp="1" noChangeAspect="1"/>
          </p:cNvSpPr>
          <p:nvPr>
            <p:ph type="pic" sz="quarter" idx="56" hasCustomPrompt="1"/>
          </p:nvPr>
        </p:nvSpPr>
        <p:spPr>
          <a:xfrm>
            <a:off x="10226090"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6" name="Text Placeholder 3">
            <a:extLst>
              <a:ext uri="{FF2B5EF4-FFF2-40B4-BE49-F238E27FC236}">
                <a16:creationId xmlns:a16="http://schemas.microsoft.com/office/drawing/2014/main" id="{95DFBE2B-369F-F09A-65BC-FF0DBB72C152}"/>
              </a:ext>
            </a:extLst>
          </p:cNvPr>
          <p:cNvSpPr>
            <a:spLocks noGrp="1"/>
          </p:cNvSpPr>
          <p:nvPr>
            <p:ph type="body" sz="quarter" idx="57" hasCustomPrompt="1"/>
          </p:nvPr>
        </p:nvSpPr>
        <p:spPr>
          <a:xfrm>
            <a:off x="18630426" y="15754671"/>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357DC4B3-E29C-793D-AEB4-BBA50DFB2BC0}"/>
              </a:ext>
            </a:extLst>
          </p:cNvPr>
          <p:cNvSpPr>
            <a:spLocks noGrp="1"/>
          </p:cNvSpPr>
          <p:nvPr>
            <p:ph type="body" sz="quarter" idx="58" hasCustomPrompt="1"/>
          </p:nvPr>
        </p:nvSpPr>
        <p:spPr>
          <a:xfrm>
            <a:off x="18630426" y="15128815"/>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F10DEB43-363E-B53B-77E4-9F82FC85D2AC}"/>
              </a:ext>
            </a:extLst>
          </p:cNvPr>
          <p:cNvSpPr>
            <a:spLocks noGrp="1" noChangeAspect="1"/>
          </p:cNvSpPr>
          <p:nvPr>
            <p:ph type="pic" sz="quarter" idx="59" hasCustomPrompt="1"/>
          </p:nvPr>
        </p:nvSpPr>
        <p:spPr>
          <a:xfrm>
            <a:off x="18627794"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FA9041DC-1795-EED4-DDFE-D3AD657A98FF}"/>
              </a:ext>
            </a:extLst>
          </p:cNvPr>
          <p:cNvSpPr>
            <a:spLocks noGrp="1"/>
          </p:cNvSpPr>
          <p:nvPr>
            <p:ph type="body" sz="quarter" idx="60" hasCustomPrompt="1"/>
          </p:nvPr>
        </p:nvSpPr>
        <p:spPr>
          <a:xfrm>
            <a:off x="27029184" y="15754671"/>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4">
            <a:extLst>
              <a:ext uri="{FF2B5EF4-FFF2-40B4-BE49-F238E27FC236}">
                <a16:creationId xmlns:a16="http://schemas.microsoft.com/office/drawing/2014/main" id="{5561A87B-4FBB-4FC4-8C9B-B8680657BFB8}"/>
              </a:ext>
            </a:extLst>
          </p:cNvPr>
          <p:cNvSpPr>
            <a:spLocks noGrp="1"/>
          </p:cNvSpPr>
          <p:nvPr>
            <p:ph type="body" sz="quarter" idx="61" hasCustomPrompt="1"/>
          </p:nvPr>
        </p:nvSpPr>
        <p:spPr>
          <a:xfrm>
            <a:off x="27029184" y="15128815"/>
            <a:ext cx="7718170"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4">
            <a:extLst>
              <a:ext uri="{FF2B5EF4-FFF2-40B4-BE49-F238E27FC236}">
                <a16:creationId xmlns:a16="http://schemas.microsoft.com/office/drawing/2014/main" id="{2C37A541-A293-8F4C-0BF2-0D815710DE2F}"/>
              </a:ext>
            </a:extLst>
          </p:cNvPr>
          <p:cNvSpPr>
            <a:spLocks noGrp="1" noChangeAspect="1"/>
          </p:cNvSpPr>
          <p:nvPr>
            <p:ph type="pic" sz="quarter" idx="62" hasCustomPrompt="1"/>
          </p:nvPr>
        </p:nvSpPr>
        <p:spPr>
          <a:xfrm>
            <a:off x="27029498" y="7178040"/>
            <a:ext cx="7717856" cy="7717536"/>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564818798"/>
      </p:ext>
    </p:extLst>
  </p:cSld>
  <p:clrMapOvr>
    <a:masterClrMapping/>
  </p:clrMapOvr>
  <p:extLst>
    <p:ext uri="{DCECCB84-F9BA-43D5-87BE-67443E8EF086}">
      <p15:sldGuideLst xmlns:p15="http://schemas.microsoft.com/office/powerpoint/2012/main"/>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4-up Image Alt. 16:9">
    <p:spTree>
      <p:nvGrpSpPr>
        <p:cNvPr id="1" name=""/>
        <p:cNvGrpSpPr/>
        <p:nvPr/>
      </p:nvGrpSpPr>
      <p:grpSpPr>
        <a:xfrm>
          <a:off x="0" y="0"/>
          <a:ext cx="0" cy="0"/>
          <a:chOff x="0" y="0"/>
          <a:chExt cx="0" cy="0"/>
        </a:xfrm>
      </p:grpSpPr>
      <p:sp>
        <p:nvSpPr>
          <p:cNvPr id="12" name="Footer Placeholder">
            <a:extLst>
              <a:ext uri="{FF2B5EF4-FFF2-40B4-BE49-F238E27FC236}">
                <a16:creationId xmlns:a16="http://schemas.microsoft.com/office/drawing/2014/main" id="{E5BC1D6A-70F5-168E-30D3-7A25C6F23B3B}"/>
              </a:ext>
            </a:extLst>
          </p:cNvPr>
          <p:cNvSpPr>
            <a:spLocks noGrp="1"/>
          </p:cNvSpPr>
          <p:nvPr>
            <p:ph type="ftr" sz="quarter" idx="32"/>
          </p:nvPr>
        </p:nvSpPr>
        <p:spPr/>
        <p:txBody>
          <a:bodyPr/>
          <a:lstStyle/>
          <a:p>
            <a:pPr>
              <a:lnSpc>
                <a:spcPct val="90000"/>
              </a:lnSpc>
            </a:pPr>
            <a:r>
              <a:rPr lang="en-US"/>
              <a:t>Source information in NVIDIA Sans, medium gray; 20 pt</a:t>
            </a:r>
            <a:endParaRPr lang="en-US" dirty="0"/>
          </a:p>
        </p:txBody>
      </p:sp>
      <p:sp>
        <p:nvSpPr>
          <p:cNvPr id="13" name="Slide Number Placeholder">
            <a:extLst>
              <a:ext uri="{FF2B5EF4-FFF2-40B4-BE49-F238E27FC236}">
                <a16:creationId xmlns:a16="http://schemas.microsoft.com/office/drawing/2014/main" id="{F6783655-2C3A-8997-8FD4-699FDCE78F2C}"/>
              </a:ext>
            </a:extLst>
          </p:cNvPr>
          <p:cNvSpPr>
            <a:spLocks noGrp="1"/>
          </p:cNvSpPr>
          <p:nvPr>
            <p:ph type="sldNum" sz="quarter" idx="33"/>
          </p:nvPr>
        </p:nvSpPr>
        <p:spPr/>
        <p:txBody>
          <a:bodyPr/>
          <a:lstStyle/>
          <a:p>
            <a:pPr>
              <a:lnSpc>
                <a:spcPct val="90000"/>
              </a:lnSpc>
            </a:pPr>
            <a:fld id="{5D6728F8-03AC-4059-94FB-90617981AE50}" type="slidenum">
              <a:rPr lang="en-US" smtClean="0"/>
              <a:pPr/>
              <a:t>‹#›</a:t>
            </a:fld>
            <a:endParaRPr lang="en-US"/>
          </a:p>
        </p:txBody>
      </p:sp>
      <p:sp>
        <p:nvSpPr>
          <p:cNvPr id="9" name="Subtitle">
            <a:extLst>
              <a:ext uri="{FF2B5EF4-FFF2-40B4-BE49-F238E27FC236}">
                <a16:creationId xmlns:a16="http://schemas.microsoft.com/office/drawing/2014/main" id="{E60537D8-7FD4-1602-41AB-02F2465E3423}"/>
              </a:ext>
            </a:extLst>
          </p:cNvPr>
          <p:cNvSpPr>
            <a:spLocks noGrp="1"/>
          </p:cNvSpPr>
          <p:nvPr>
            <p:ph type="body" sz="quarter" idx="14" hasCustomPrompt="1"/>
          </p:nvPr>
        </p:nvSpPr>
        <p:spPr>
          <a:xfrm>
            <a:off x="1828800" y="1065276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58374994-33E4-154B-0566-4E52822D0285}"/>
              </a:ext>
            </a:extLst>
          </p:cNvPr>
          <p:cNvSpPr>
            <a:spLocks noGrp="1"/>
          </p:cNvSpPr>
          <p:nvPr>
            <p:ph type="title" hasCustomPrompt="1"/>
          </p:nvPr>
        </p:nvSpPr>
        <p:spPr>
          <a:xfrm>
            <a:off x="1828800" y="8183880"/>
            <a:ext cx="13716000" cy="2468880"/>
          </a:xfrm>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1E79C4-9B0C-46C7-60B4-6967DE29993C}"/>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3E06B777-E79F-FFC8-EF9B-CDE4545CCE29}"/>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8C8B3A7F-5AE2-F8E5-87CC-20365DF66F42}"/>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0" name="Text Placeholder 2">
            <a:extLst>
              <a:ext uri="{FF2B5EF4-FFF2-40B4-BE49-F238E27FC236}">
                <a16:creationId xmlns:a16="http://schemas.microsoft.com/office/drawing/2014/main" id="{98DBBE60-4AF1-670D-E84D-BABD51D4E268}"/>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2">
            <a:extLst>
              <a:ext uri="{FF2B5EF4-FFF2-40B4-BE49-F238E27FC236}">
                <a16:creationId xmlns:a16="http://schemas.microsoft.com/office/drawing/2014/main" id="{E39037D6-9F9D-5080-0BAE-F8A253C9F890}"/>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2">
            <a:extLst>
              <a:ext uri="{FF2B5EF4-FFF2-40B4-BE49-F238E27FC236}">
                <a16:creationId xmlns:a16="http://schemas.microsoft.com/office/drawing/2014/main" id="{69F8812A-C8DB-AC9E-EBA1-083A2F95F6A8}"/>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3">
            <a:extLst>
              <a:ext uri="{FF2B5EF4-FFF2-40B4-BE49-F238E27FC236}">
                <a16:creationId xmlns:a16="http://schemas.microsoft.com/office/drawing/2014/main" id="{C5315ECD-854E-8EF0-38DF-8D5CCC50960C}"/>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5ECD1294-0328-1129-68E8-AAE34DBFC925}"/>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353AA046-BEA5-C6DF-0D01-1143CD367C23}"/>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DDB95454-AD37-062B-F77D-DF4B010799D3}"/>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F3412B85-B6C4-A7D9-058F-3589C209799E}"/>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065589F0-4249-3363-1606-46E3EB63CB68}"/>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5492312"/>
      </p:ext>
    </p:extLst>
  </p:cSld>
  <p:clrMapOvr>
    <a:masterClrMapping/>
  </p:clrMapOvr>
  <p:extLst>
    <p:ext uri="{DCECCB84-F9BA-43D5-87BE-67443E8EF086}">
      <p15:sldGuideLst xmlns:p15="http://schemas.microsoft.com/office/powerpoint/2012/main"/>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4-up Image Alt. w/ text 16:9">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A2A64D7E-BC82-4FB8-514C-DDFA40A50EF9}"/>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22" name="Slide Number Placeholder">
            <a:extLst>
              <a:ext uri="{FF2B5EF4-FFF2-40B4-BE49-F238E27FC236}">
                <a16:creationId xmlns:a16="http://schemas.microsoft.com/office/drawing/2014/main" id="{15F1B169-6F46-A072-DF80-3E0E2F54BE51}"/>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0" name="Text Placeholder">
            <a:extLst>
              <a:ext uri="{FF2B5EF4-FFF2-40B4-BE49-F238E27FC236}">
                <a16:creationId xmlns:a16="http://schemas.microsoft.com/office/drawing/2014/main" id="{6E5CC214-A7D0-91DF-4B31-5CB895D819EE}"/>
              </a:ext>
            </a:extLst>
          </p:cNvPr>
          <p:cNvSpPr>
            <a:spLocks noGrp="1"/>
          </p:cNvSpPr>
          <p:nvPr>
            <p:ph type="body" sz="quarter" idx="31" hasCustomPrompt="1"/>
          </p:nvPr>
        </p:nvSpPr>
        <p:spPr>
          <a:xfrm>
            <a:off x="1828800" y="9966960"/>
            <a:ext cx="13716000" cy="8778240"/>
          </a:xfrm>
        </p:spPr>
        <p:txBody>
          <a:bodyPr/>
          <a:lstStyle>
            <a:lvl1pPr>
              <a:defRPr>
                <a:latin typeface="+mn-lt"/>
              </a:defRPr>
            </a:lvl1pPr>
            <a:lvl2pPr>
              <a:defRPr>
                <a:latin typeface="+mn-lt"/>
              </a:defRPr>
            </a:lvl2pPr>
            <a:lvl3pPr>
              <a:defRPr>
                <a:latin typeface="+mn-lt"/>
              </a:defRPr>
            </a:lvl3pPr>
            <a:lvl4pPr>
              <a:defRPr>
                <a:latin typeface="+mn-lt"/>
              </a:defRPr>
            </a:lvl4pPr>
            <a:lvl5pPr>
              <a:defRPr>
                <a:latin typeface="+mn-lt"/>
              </a:defRPr>
            </a:lvl5p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2" name="Subtitle">
            <a:extLst>
              <a:ext uri="{FF2B5EF4-FFF2-40B4-BE49-F238E27FC236}">
                <a16:creationId xmlns:a16="http://schemas.microsoft.com/office/drawing/2014/main" id="{66D807F3-F817-1D7D-5A63-52E37E677E03}"/>
              </a:ext>
            </a:extLst>
          </p:cNvPr>
          <p:cNvSpPr>
            <a:spLocks noGrp="1"/>
          </p:cNvSpPr>
          <p:nvPr>
            <p:ph type="body" sz="quarter" idx="14" hasCustomPrompt="1"/>
          </p:nvPr>
        </p:nvSpPr>
        <p:spPr>
          <a:xfrm>
            <a:off x="1828800" y="7955280"/>
            <a:ext cx="13716000" cy="150876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3" name="Title">
            <a:extLst>
              <a:ext uri="{FF2B5EF4-FFF2-40B4-BE49-F238E27FC236}">
                <a16:creationId xmlns:a16="http://schemas.microsoft.com/office/drawing/2014/main" id="{CBFD7689-EE78-2757-7F54-D84D241EF06E}"/>
              </a:ext>
            </a:extLst>
          </p:cNvPr>
          <p:cNvSpPr>
            <a:spLocks noGrp="1"/>
          </p:cNvSpPr>
          <p:nvPr>
            <p:ph type="title" hasCustomPrompt="1"/>
          </p:nvPr>
        </p:nvSpPr>
        <p:spPr>
          <a:xfrm>
            <a:off x="1828800" y="4114800"/>
            <a:ext cx="13716000" cy="3840480"/>
          </a:xfrm>
        </p:spPr>
        <p:txBody>
          <a:bodyPr>
            <a:noAutofit/>
          </a:bodyPr>
          <a:lstStyle>
            <a:lvl1pPr>
              <a:defRPr>
                <a:latin typeface="+mj-lt"/>
              </a:defRPr>
            </a:lvl1pPr>
          </a:lstStyle>
          <a:p>
            <a:r>
              <a:rPr lang="en-US" dirty="0"/>
              <a:t>Click to Edit Title Here </a:t>
            </a:r>
          </a:p>
        </p:txBody>
      </p:sp>
      <p:sp>
        <p:nvSpPr>
          <p:cNvPr id="2" name="Text Placeholder 1">
            <a:extLst>
              <a:ext uri="{FF2B5EF4-FFF2-40B4-BE49-F238E27FC236}">
                <a16:creationId xmlns:a16="http://schemas.microsoft.com/office/drawing/2014/main" id="{984C779D-1289-7F23-4E19-51847B7A1583}"/>
              </a:ext>
            </a:extLst>
          </p:cNvPr>
          <p:cNvSpPr>
            <a:spLocks noGrp="1"/>
          </p:cNvSpPr>
          <p:nvPr>
            <p:ph type="body" sz="quarter" idx="52" hasCustomPrompt="1"/>
          </p:nvPr>
        </p:nvSpPr>
        <p:spPr>
          <a:xfrm>
            <a:off x="18626963"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 name="Image Text Placeholder 1">
            <a:extLst>
              <a:ext uri="{FF2B5EF4-FFF2-40B4-BE49-F238E27FC236}">
                <a16:creationId xmlns:a16="http://schemas.microsoft.com/office/drawing/2014/main" id="{F76961B5-F844-4038-F188-A49A39698E0A}"/>
              </a:ext>
            </a:extLst>
          </p:cNvPr>
          <p:cNvSpPr>
            <a:spLocks noGrp="1"/>
          </p:cNvSpPr>
          <p:nvPr>
            <p:ph type="body" sz="quarter" idx="51" hasCustomPrompt="1"/>
          </p:nvPr>
        </p:nvSpPr>
        <p:spPr>
          <a:xfrm>
            <a:off x="18626963"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4" name="Picture Placeholder 1">
            <a:extLst>
              <a:ext uri="{FF2B5EF4-FFF2-40B4-BE49-F238E27FC236}">
                <a16:creationId xmlns:a16="http://schemas.microsoft.com/office/drawing/2014/main" id="{36C120A5-07CB-24F7-DEC3-1A083DB8BBC3}"/>
              </a:ext>
            </a:extLst>
          </p:cNvPr>
          <p:cNvSpPr>
            <a:spLocks noGrp="1" noChangeAspect="1"/>
          </p:cNvSpPr>
          <p:nvPr>
            <p:ph type="pic" sz="quarter" idx="53" hasCustomPrompt="1"/>
          </p:nvPr>
        </p:nvSpPr>
        <p:spPr>
          <a:xfrm>
            <a:off x="18626328"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 name="Text Placeholder 2">
            <a:extLst>
              <a:ext uri="{FF2B5EF4-FFF2-40B4-BE49-F238E27FC236}">
                <a16:creationId xmlns:a16="http://schemas.microsoft.com/office/drawing/2014/main" id="{93797122-CD5F-BC47-54A7-CDDE8ED1FE9B}"/>
              </a:ext>
            </a:extLst>
          </p:cNvPr>
          <p:cNvSpPr>
            <a:spLocks noGrp="1"/>
          </p:cNvSpPr>
          <p:nvPr>
            <p:ph type="body" sz="quarter" idx="54" hasCustomPrompt="1"/>
          </p:nvPr>
        </p:nvSpPr>
        <p:spPr>
          <a:xfrm>
            <a:off x="27030301" y="10125477"/>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3" name="Image Text Placeholder 2">
            <a:extLst>
              <a:ext uri="{FF2B5EF4-FFF2-40B4-BE49-F238E27FC236}">
                <a16:creationId xmlns:a16="http://schemas.microsoft.com/office/drawing/2014/main" id="{DA1BC0F2-421E-35D2-6412-53FE2276AAEF}"/>
              </a:ext>
            </a:extLst>
          </p:cNvPr>
          <p:cNvSpPr>
            <a:spLocks noGrp="1"/>
          </p:cNvSpPr>
          <p:nvPr>
            <p:ph type="body" sz="quarter" idx="55" hasCustomPrompt="1"/>
          </p:nvPr>
        </p:nvSpPr>
        <p:spPr>
          <a:xfrm>
            <a:off x="27030301" y="9499621"/>
            <a:ext cx="7717221" cy="585216"/>
          </a:xfrm>
        </p:spPr>
        <p:txBody>
          <a:bodyPr/>
          <a:lstStyle>
            <a:lvl1pPr algn="ctr">
              <a:spcBef>
                <a:spcPts val="0"/>
              </a:spcBef>
              <a:defRPr sz="4000">
                <a:latin typeface="+mj-lt"/>
              </a:defRPr>
            </a:lvl1pPr>
          </a:lstStyle>
          <a:p>
            <a:pPr lvl="0"/>
            <a:r>
              <a:rPr lang="en-US" dirty="0"/>
              <a:t>Click to Edit Image Title</a:t>
            </a:r>
          </a:p>
        </p:txBody>
      </p:sp>
      <p:sp>
        <p:nvSpPr>
          <p:cNvPr id="24" name="Picture Placeholder 2">
            <a:extLst>
              <a:ext uri="{FF2B5EF4-FFF2-40B4-BE49-F238E27FC236}">
                <a16:creationId xmlns:a16="http://schemas.microsoft.com/office/drawing/2014/main" id="{DA93A493-6E6A-9DF1-33B6-08C4085805AB}"/>
              </a:ext>
            </a:extLst>
          </p:cNvPr>
          <p:cNvSpPr>
            <a:spLocks noGrp="1" noChangeAspect="1"/>
          </p:cNvSpPr>
          <p:nvPr>
            <p:ph type="pic" sz="quarter" idx="56" hasCustomPrompt="1"/>
          </p:nvPr>
        </p:nvSpPr>
        <p:spPr>
          <a:xfrm>
            <a:off x="27029506" y="4925269"/>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5" name="Text Placeholder 3">
            <a:extLst>
              <a:ext uri="{FF2B5EF4-FFF2-40B4-BE49-F238E27FC236}">
                <a16:creationId xmlns:a16="http://schemas.microsoft.com/office/drawing/2014/main" id="{2FC3CCE9-700E-9738-BC0E-BA6F91522355}"/>
              </a:ext>
            </a:extLst>
          </p:cNvPr>
          <p:cNvSpPr>
            <a:spLocks noGrp="1"/>
          </p:cNvSpPr>
          <p:nvPr>
            <p:ph type="body" sz="quarter" idx="57" hasCustomPrompt="1"/>
          </p:nvPr>
        </p:nvSpPr>
        <p:spPr>
          <a:xfrm>
            <a:off x="18626013" y="16468722"/>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6" name="Image Text Placeholder 3">
            <a:extLst>
              <a:ext uri="{FF2B5EF4-FFF2-40B4-BE49-F238E27FC236}">
                <a16:creationId xmlns:a16="http://schemas.microsoft.com/office/drawing/2014/main" id="{D8679204-EF4D-054E-A2BC-86DA76EA0E2A}"/>
              </a:ext>
            </a:extLst>
          </p:cNvPr>
          <p:cNvSpPr>
            <a:spLocks noGrp="1"/>
          </p:cNvSpPr>
          <p:nvPr>
            <p:ph type="body" sz="quarter" idx="58" hasCustomPrompt="1"/>
          </p:nvPr>
        </p:nvSpPr>
        <p:spPr>
          <a:xfrm>
            <a:off x="18626013" y="15842866"/>
            <a:ext cx="7718171" cy="585216"/>
          </a:xfrm>
        </p:spPr>
        <p:txBody>
          <a:bodyPr/>
          <a:lstStyle>
            <a:lvl1pPr algn="ctr">
              <a:spcBef>
                <a:spcPts val="0"/>
              </a:spcBef>
              <a:defRPr sz="4000">
                <a:latin typeface="+mj-lt"/>
              </a:defRPr>
            </a:lvl1pPr>
          </a:lstStyle>
          <a:p>
            <a:pPr lvl="0"/>
            <a:r>
              <a:rPr lang="en-US" dirty="0"/>
              <a:t>Click to Edit Image Title</a:t>
            </a:r>
          </a:p>
        </p:txBody>
      </p:sp>
      <p:sp>
        <p:nvSpPr>
          <p:cNvPr id="27" name="Picture Placeholder 3">
            <a:extLst>
              <a:ext uri="{FF2B5EF4-FFF2-40B4-BE49-F238E27FC236}">
                <a16:creationId xmlns:a16="http://schemas.microsoft.com/office/drawing/2014/main" id="{29E129EE-2038-7A83-2F5C-CBEB36A7D937}"/>
              </a:ext>
            </a:extLst>
          </p:cNvPr>
          <p:cNvSpPr>
            <a:spLocks noGrp="1" noChangeAspect="1"/>
          </p:cNvSpPr>
          <p:nvPr>
            <p:ph type="pic" sz="quarter" idx="59" hasCustomPrompt="1"/>
          </p:nvPr>
        </p:nvSpPr>
        <p:spPr>
          <a:xfrm>
            <a:off x="18626328"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8" name="Text Placeholder 4">
            <a:extLst>
              <a:ext uri="{FF2B5EF4-FFF2-40B4-BE49-F238E27FC236}">
                <a16:creationId xmlns:a16="http://schemas.microsoft.com/office/drawing/2014/main" id="{9BB27D65-9EE9-7CEE-0656-743DCE5A356B}"/>
              </a:ext>
            </a:extLst>
          </p:cNvPr>
          <p:cNvSpPr>
            <a:spLocks noGrp="1"/>
          </p:cNvSpPr>
          <p:nvPr>
            <p:ph type="body" sz="quarter" idx="60" hasCustomPrompt="1"/>
          </p:nvPr>
        </p:nvSpPr>
        <p:spPr>
          <a:xfrm>
            <a:off x="27029352" y="16468722"/>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9" name="Image Text Placeholder 4">
            <a:extLst>
              <a:ext uri="{FF2B5EF4-FFF2-40B4-BE49-F238E27FC236}">
                <a16:creationId xmlns:a16="http://schemas.microsoft.com/office/drawing/2014/main" id="{510D12E5-14C8-9A05-8C28-162A2A620925}"/>
              </a:ext>
            </a:extLst>
          </p:cNvPr>
          <p:cNvSpPr>
            <a:spLocks noGrp="1"/>
          </p:cNvSpPr>
          <p:nvPr>
            <p:ph type="body" sz="quarter" idx="61" hasCustomPrompt="1"/>
          </p:nvPr>
        </p:nvSpPr>
        <p:spPr>
          <a:xfrm>
            <a:off x="27029352" y="15842866"/>
            <a:ext cx="7718170" cy="585216"/>
          </a:xfrm>
        </p:spPr>
        <p:txBody>
          <a:bodyPr/>
          <a:lstStyle>
            <a:lvl1pPr algn="ctr">
              <a:spcBef>
                <a:spcPts val="0"/>
              </a:spcBef>
              <a:defRPr sz="4000">
                <a:latin typeface="+mj-lt"/>
              </a:defRPr>
            </a:lvl1pPr>
          </a:lstStyle>
          <a:p>
            <a:pPr lvl="0"/>
            <a:r>
              <a:rPr lang="en-US" dirty="0"/>
              <a:t>Click to Edit Image Title</a:t>
            </a:r>
          </a:p>
        </p:txBody>
      </p:sp>
      <p:sp>
        <p:nvSpPr>
          <p:cNvPr id="30" name="Picture Placeholder 4">
            <a:extLst>
              <a:ext uri="{FF2B5EF4-FFF2-40B4-BE49-F238E27FC236}">
                <a16:creationId xmlns:a16="http://schemas.microsoft.com/office/drawing/2014/main" id="{AE316532-0119-5CFD-ED05-9D2A2CFCB85B}"/>
              </a:ext>
            </a:extLst>
          </p:cNvPr>
          <p:cNvSpPr>
            <a:spLocks noGrp="1" noChangeAspect="1"/>
          </p:cNvSpPr>
          <p:nvPr>
            <p:ph type="pic" sz="quarter" idx="62" hasCustomPrompt="1"/>
          </p:nvPr>
        </p:nvSpPr>
        <p:spPr>
          <a:xfrm>
            <a:off x="27029666" y="11268514"/>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910055449"/>
      </p:ext>
    </p:extLst>
  </p:cSld>
  <p:clrMapOvr>
    <a:masterClrMapping/>
  </p:clrMapOvr>
  <p:extLst>
    <p:ext uri="{DCECCB84-F9BA-43D5-87BE-67443E8EF086}">
      <p15:sldGuideLst xmlns:p15="http://schemas.microsoft.com/office/powerpoint/2012/main"/>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5-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C019A8FC-131A-A19C-6416-BED69D99B546}"/>
              </a:ext>
            </a:extLst>
          </p:cNvPr>
          <p:cNvSpPr>
            <a:spLocks noGrp="1"/>
          </p:cNvSpPr>
          <p:nvPr>
            <p:ph type="ftr" sz="quarter" idx="34"/>
          </p:nvPr>
        </p:nvSpPr>
        <p:spPr/>
        <p:txBody>
          <a:bodyPr/>
          <a:lstStyle/>
          <a:p>
            <a:pPr>
              <a:lnSpc>
                <a:spcPct val="90000"/>
              </a:lnSpc>
            </a:pPr>
            <a:r>
              <a:rPr lang="en-US"/>
              <a:t>Source information in NVIDIA Sans, medium gray; 20 pt</a:t>
            </a:r>
            <a:endParaRPr lang="en-US" dirty="0"/>
          </a:p>
        </p:txBody>
      </p:sp>
      <p:sp>
        <p:nvSpPr>
          <p:cNvPr id="12" name="Slide Number Placeholder">
            <a:extLst>
              <a:ext uri="{FF2B5EF4-FFF2-40B4-BE49-F238E27FC236}">
                <a16:creationId xmlns:a16="http://schemas.microsoft.com/office/drawing/2014/main" id="{7F58BA19-A429-4685-28B0-D483FC5B599C}"/>
              </a:ext>
            </a:extLst>
          </p:cNvPr>
          <p:cNvSpPr>
            <a:spLocks noGrp="1"/>
          </p:cNvSpPr>
          <p:nvPr>
            <p:ph type="sldNum" sz="quarter" idx="3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AAB18B-9133-491C-1E1C-6BD5DB04A14B}"/>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DF593F3D-53E7-743F-A7AB-FD173EC6B9DF}"/>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ABA80F-3B27-63BC-0780-B8706E846457}"/>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B94612C4-2B22-1A13-9F38-A6071B76790B}"/>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2">
            <a:extLst>
              <a:ext uri="{FF2B5EF4-FFF2-40B4-BE49-F238E27FC236}">
                <a16:creationId xmlns:a16="http://schemas.microsoft.com/office/drawing/2014/main" id="{890A0AB1-58E8-9767-0FFD-53160155C9A0}"/>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2">
            <a:extLst>
              <a:ext uri="{FF2B5EF4-FFF2-40B4-BE49-F238E27FC236}">
                <a16:creationId xmlns:a16="http://schemas.microsoft.com/office/drawing/2014/main" id="{D03A865E-9B3C-F764-75DD-CA2578A664FA}"/>
              </a:ext>
            </a:extLst>
          </p:cNvPr>
          <p:cNvSpPr>
            <a:spLocks noGrp="1" noChangeAspect="1"/>
          </p:cNvSpPr>
          <p:nvPr>
            <p:ph type="pic" sz="quarter" idx="56" hasCustomPrompt="1"/>
          </p:nvPr>
        </p:nvSpPr>
        <p:spPr>
          <a:xfrm>
            <a:off x="1442907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3">
            <a:extLst>
              <a:ext uri="{FF2B5EF4-FFF2-40B4-BE49-F238E27FC236}">
                <a16:creationId xmlns:a16="http://schemas.microsoft.com/office/drawing/2014/main" id="{59D0EEA9-9F7A-BC6A-58B0-47F71162388A}"/>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3">
            <a:extLst>
              <a:ext uri="{FF2B5EF4-FFF2-40B4-BE49-F238E27FC236}">
                <a16:creationId xmlns:a16="http://schemas.microsoft.com/office/drawing/2014/main" id="{6358D607-A7E9-759C-60F6-E7FC907EC923}"/>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3">
            <a:extLst>
              <a:ext uri="{FF2B5EF4-FFF2-40B4-BE49-F238E27FC236}">
                <a16:creationId xmlns:a16="http://schemas.microsoft.com/office/drawing/2014/main" id="{335E8AE4-9A02-9810-1E15-BCA5A0C1536F}"/>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4">
            <a:extLst>
              <a:ext uri="{FF2B5EF4-FFF2-40B4-BE49-F238E27FC236}">
                <a16:creationId xmlns:a16="http://schemas.microsoft.com/office/drawing/2014/main" id="{A9D0247F-FA89-44E4-1CA1-1F5AEE787528}"/>
              </a:ext>
            </a:extLst>
          </p:cNvPr>
          <p:cNvSpPr>
            <a:spLocks noGrp="1"/>
          </p:cNvSpPr>
          <p:nvPr>
            <p:ph type="body" sz="quarter" idx="60" hasCustomPrompt="1"/>
          </p:nvPr>
        </p:nvSpPr>
        <p:spPr>
          <a:xfrm>
            <a:off x="10227169"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4">
            <a:extLst>
              <a:ext uri="{FF2B5EF4-FFF2-40B4-BE49-F238E27FC236}">
                <a16:creationId xmlns:a16="http://schemas.microsoft.com/office/drawing/2014/main" id="{448E8154-F1A2-E4A4-85EE-DCD89AFA2212}"/>
              </a:ext>
            </a:extLst>
          </p:cNvPr>
          <p:cNvSpPr>
            <a:spLocks noGrp="1"/>
          </p:cNvSpPr>
          <p:nvPr>
            <p:ph type="body" sz="quarter" idx="61" hasCustomPrompt="1"/>
          </p:nvPr>
        </p:nvSpPr>
        <p:spPr>
          <a:xfrm>
            <a:off x="10227169"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4">
            <a:extLst>
              <a:ext uri="{FF2B5EF4-FFF2-40B4-BE49-F238E27FC236}">
                <a16:creationId xmlns:a16="http://schemas.microsoft.com/office/drawing/2014/main" id="{8958483D-099B-4C62-19C9-2B85FC8AC7D2}"/>
              </a:ext>
            </a:extLst>
          </p:cNvPr>
          <p:cNvSpPr>
            <a:spLocks noGrp="1" noChangeAspect="1"/>
          </p:cNvSpPr>
          <p:nvPr>
            <p:ph type="pic" sz="quarter" idx="62" hasCustomPrompt="1"/>
          </p:nvPr>
        </p:nvSpPr>
        <p:spPr>
          <a:xfrm>
            <a:off x="10227483"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5">
            <a:extLst>
              <a:ext uri="{FF2B5EF4-FFF2-40B4-BE49-F238E27FC236}">
                <a16:creationId xmlns:a16="http://schemas.microsoft.com/office/drawing/2014/main" id="{EBD74182-8588-BED7-CB44-072C8348CA9B}"/>
              </a:ext>
            </a:extLst>
          </p:cNvPr>
          <p:cNvSpPr>
            <a:spLocks noGrp="1"/>
          </p:cNvSpPr>
          <p:nvPr>
            <p:ph type="body" sz="quarter" idx="63" hasCustomPrompt="1"/>
          </p:nvPr>
        </p:nvSpPr>
        <p:spPr>
          <a:xfrm>
            <a:off x="18630661"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5">
            <a:extLst>
              <a:ext uri="{FF2B5EF4-FFF2-40B4-BE49-F238E27FC236}">
                <a16:creationId xmlns:a16="http://schemas.microsoft.com/office/drawing/2014/main" id="{9944992B-DC18-0E0F-439B-CF5C3C53DFFB}"/>
              </a:ext>
            </a:extLst>
          </p:cNvPr>
          <p:cNvSpPr>
            <a:spLocks noGrp="1"/>
          </p:cNvSpPr>
          <p:nvPr>
            <p:ph type="body" sz="quarter" idx="64" hasCustomPrompt="1"/>
          </p:nvPr>
        </p:nvSpPr>
        <p:spPr>
          <a:xfrm>
            <a:off x="18630661"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5">
            <a:extLst>
              <a:ext uri="{FF2B5EF4-FFF2-40B4-BE49-F238E27FC236}">
                <a16:creationId xmlns:a16="http://schemas.microsoft.com/office/drawing/2014/main" id="{660631FB-B5DA-07AA-ABD5-3A8EC0F4C822}"/>
              </a:ext>
            </a:extLst>
          </p:cNvPr>
          <p:cNvSpPr>
            <a:spLocks noGrp="1" noChangeAspect="1"/>
          </p:cNvSpPr>
          <p:nvPr>
            <p:ph type="pic" sz="quarter" idx="65" hasCustomPrompt="1"/>
          </p:nvPr>
        </p:nvSpPr>
        <p:spPr>
          <a:xfrm>
            <a:off x="18630661"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589373815"/>
      </p:ext>
    </p:extLst>
  </p:cSld>
  <p:clrMapOvr>
    <a:masterClrMapping/>
  </p:clrMapOvr>
  <p:extLst>
    <p:ext uri="{DCECCB84-F9BA-43D5-87BE-67443E8EF086}">
      <p15:sldGuideLst xmlns:p15="http://schemas.microsoft.com/office/powerpoint/2012/main"/>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6-up Image">
    <p:spTree>
      <p:nvGrpSpPr>
        <p:cNvPr id="1" name=""/>
        <p:cNvGrpSpPr/>
        <p:nvPr/>
      </p:nvGrpSpPr>
      <p:grpSpPr>
        <a:xfrm>
          <a:off x="0" y="0"/>
          <a:ext cx="0" cy="0"/>
          <a:chOff x="0" y="0"/>
          <a:chExt cx="0" cy="0"/>
        </a:xfrm>
      </p:grpSpPr>
      <p:sp>
        <p:nvSpPr>
          <p:cNvPr id="17" name="Footer Placeholder">
            <a:extLst>
              <a:ext uri="{FF2B5EF4-FFF2-40B4-BE49-F238E27FC236}">
                <a16:creationId xmlns:a16="http://schemas.microsoft.com/office/drawing/2014/main" id="{4FF9D0C9-ABFF-CDF9-8A1A-45D588F3425A}"/>
              </a:ext>
            </a:extLst>
          </p:cNvPr>
          <p:cNvSpPr>
            <a:spLocks noGrp="1"/>
          </p:cNvSpPr>
          <p:nvPr>
            <p:ph type="ftr" sz="quarter" idx="37"/>
          </p:nvPr>
        </p:nvSpPr>
        <p:spPr/>
        <p:txBody>
          <a:bodyPr/>
          <a:lstStyle/>
          <a:p>
            <a:pPr>
              <a:lnSpc>
                <a:spcPct val="90000"/>
              </a:lnSpc>
            </a:pPr>
            <a:r>
              <a:rPr lang="en-US"/>
              <a:t>Source information in NVIDIA Sans, medium gray; 20 pt</a:t>
            </a:r>
            <a:endParaRPr lang="en-US" dirty="0"/>
          </a:p>
        </p:txBody>
      </p:sp>
      <p:sp>
        <p:nvSpPr>
          <p:cNvPr id="18" name="Slide Number Placeholder">
            <a:extLst>
              <a:ext uri="{FF2B5EF4-FFF2-40B4-BE49-F238E27FC236}">
                <a16:creationId xmlns:a16="http://schemas.microsoft.com/office/drawing/2014/main" id="{33ACBAC0-D6B3-5128-F31B-B91DBBE43558}"/>
              </a:ext>
            </a:extLst>
          </p:cNvPr>
          <p:cNvSpPr>
            <a:spLocks noGrp="1"/>
          </p:cNvSpPr>
          <p:nvPr>
            <p:ph type="sldNum" sz="quarter" idx="3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13D154E7-1249-288A-E918-3888EF51EA1F}"/>
              </a:ext>
            </a:extLst>
          </p:cNvPr>
          <p:cNvSpPr>
            <a:spLocks noGrp="1"/>
          </p:cNvSpPr>
          <p:nvPr>
            <p:ph type="body" sz="quarter" idx="52" hasCustomPrompt="1"/>
          </p:nvPr>
        </p:nvSpPr>
        <p:spPr>
          <a:xfrm>
            <a:off x="6026529"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A6414C37-B65D-7CFA-A936-13DD6985E4B0}"/>
              </a:ext>
            </a:extLst>
          </p:cNvPr>
          <p:cNvSpPr>
            <a:spLocks noGrp="1"/>
          </p:cNvSpPr>
          <p:nvPr>
            <p:ph type="body" sz="quarter" idx="51" hasCustomPrompt="1"/>
          </p:nvPr>
        </p:nvSpPr>
        <p:spPr>
          <a:xfrm>
            <a:off x="6026529"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A30AF97F-0DF5-2039-130A-AFA6905358C9}"/>
              </a:ext>
            </a:extLst>
          </p:cNvPr>
          <p:cNvSpPr>
            <a:spLocks noGrp="1" noChangeAspect="1"/>
          </p:cNvSpPr>
          <p:nvPr>
            <p:ph type="pic" sz="quarter" idx="53" hasCustomPrompt="1"/>
          </p:nvPr>
        </p:nvSpPr>
        <p:spPr>
          <a:xfrm>
            <a:off x="602589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3" name="Text Placeholder 2">
            <a:extLst>
              <a:ext uri="{FF2B5EF4-FFF2-40B4-BE49-F238E27FC236}">
                <a16:creationId xmlns:a16="http://schemas.microsoft.com/office/drawing/2014/main" id="{0D628B38-5048-7037-2221-587E87B736B2}"/>
              </a:ext>
            </a:extLst>
          </p:cNvPr>
          <p:cNvSpPr>
            <a:spLocks noGrp="1"/>
          </p:cNvSpPr>
          <p:nvPr>
            <p:ph type="body" sz="quarter" idx="54" hasCustomPrompt="1"/>
          </p:nvPr>
        </p:nvSpPr>
        <p:spPr>
          <a:xfrm>
            <a:off x="14429867"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2">
            <a:extLst>
              <a:ext uri="{FF2B5EF4-FFF2-40B4-BE49-F238E27FC236}">
                <a16:creationId xmlns:a16="http://schemas.microsoft.com/office/drawing/2014/main" id="{1559EC85-71F8-78BA-14E5-E387758E373B}"/>
              </a:ext>
            </a:extLst>
          </p:cNvPr>
          <p:cNvSpPr>
            <a:spLocks noGrp="1"/>
          </p:cNvSpPr>
          <p:nvPr>
            <p:ph type="body" sz="quarter" idx="55" hasCustomPrompt="1"/>
          </p:nvPr>
        </p:nvSpPr>
        <p:spPr>
          <a:xfrm>
            <a:off x="14429867"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2">
            <a:extLst>
              <a:ext uri="{FF2B5EF4-FFF2-40B4-BE49-F238E27FC236}">
                <a16:creationId xmlns:a16="http://schemas.microsoft.com/office/drawing/2014/main" id="{1B7CBA0B-C380-3AC2-AC3D-1A857EAD6A58}"/>
              </a:ext>
            </a:extLst>
          </p:cNvPr>
          <p:cNvSpPr>
            <a:spLocks noGrp="1" noChangeAspect="1"/>
          </p:cNvSpPr>
          <p:nvPr>
            <p:ph type="pic" sz="quarter" idx="56" hasCustomPrompt="1"/>
          </p:nvPr>
        </p:nvSpPr>
        <p:spPr>
          <a:xfrm>
            <a:off x="14429232"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3">
            <a:extLst>
              <a:ext uri="{FF2B5EF4-FFF2-40B4-BE49-F238E27FC236}">
                <a16:creationId xmlns:a16="http://schemas.microsoft.com/office/drawing/2014/main" id="{AE3AE4FC-B0E7-62F1-6FD6-0A1971A66E1E}"/>
              </a:ext>
            </a:extLst>
          </p:cNvPr>
          <p:cNvSpPr>
            <a:spLocks noGrp="1"/>
          </p:cNvSpPr>
          <p:nvPr>
            <p:ph type="body" sz="quarter" idx="57" hasCustomPrompt="1"/>
          </p:nvPr>
        </p:nvSpPr>
        <p:spPr>
          <a:xfrm>
            <a:off x="22831934"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3">
            <a:extLst>
              <a:ext uri="{FF2B5EF4-FFF2-40B4-BE49-F238E27FC236}">
                <a16:creationId xmlns:a16="http://schemas.microsoft.com/office/drawing/2014/main" id="{6D6580E3-F809-71DE-F83B-A584CBC85B92}"/>
              </a:ext>
            </a:extLst>
          </p:cNvPr>
          <p:cNvSpPr>
            <a:spLocks noGrp="1"/>
          </p:cNvSpPr>
          <p:nvPr>
            <p:ph type="body" sz="quarter" idx="58" hasCustomPrompt="1"/>
          </p:nvPr>
        </p:nvSpPr>
        <p:spPr>
          <a:xfrm>
            <a:off x="22831934"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3">
            <a:extLst>
              <a:ext uri="{FF2B5EF4-FFF2-40B4-BE49-F238E27FC236}">
                <a16:creationId xmlns:a16="http://schemas.microsoft.com/office/drawing/2014/main" id="{9A4FA4A2-4CAA-6FA7-31D5-D43DEBDB5A75}"/>
              </a:ext>
            </a:extLst>
          </p:cNvPr>
          <p:cNvSpPr>
            <a:spLocks noGrp="1" noChangeAspect="1"/>
          </p:cNvSpPr>
          <p:nvPr>
            <p:ph type="pic" sz="quarter" idx="59" hasCustomPrompt="1"/>
          </p:nvPr>
        </p:nvSpPr>
        <p:spPr>
          <a:xfrm>
            <a:off x="22832249"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4">
            <a:extLst>
              <a:ext uri="{FF2B5EF4-FFF2-40B4-BE49-F238E27FC236}">
                <a16:creationId xmlns:a16="http://schemas.microsoft.com/office/drawing/2014/main" id="{79AD7B08-053C-9190-0D12-F1BAB2E286B9}"/>
              </a:ext>
            </a:extLst>
          </p:cNvPr>
          <p:cNvSpPr>
            <a:spLocks noGrp="1"/>
          </p:cNvSpPr>
          <p:nvPr>
            <p:ph type="body" sz="quarter" idx="60" hasCustomPrompt="1"/>
          </p:nvPr>
        </p:nvSpPr>
        <p:spPr>
          <a:xfrm>
            <a:off x="6025581" y="17349893"/>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4">
            <a:extLst>
              <a:ext uri="{FF2B5EF4-FFF2-40B4-BE49-F238E27FC236}">
                <a16:creationId xmlns:a16="http://schemas.microsoft.com/office/drawing/2014/main" id="{4FA4ED94-57E4-AE6B-B890-F274DC4FC0DE}"/>
              </a:ext>
            </a:extLst>
          </p:cNvPr>
          <p:cNvSpPr>
            <a:spLocks noGrp="1"/>
          </p:cNvSpPr>
          <p:nvPr>
            <p:ph type="body" sz="quarter" idx="61" hasCustomPrompt="1"/>
          </p:nvPr>
        </p:nvSpPr>
        <p:spPr>
          <a:xfrm>
            <a:off x="6025581" y="16724037"/>
            <a:ext cx="7718170"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4">
            <a:extLst>
              <a:ext uri="{FF2B5EF4-FFF2-40B4-BE49-F238E27FC236}">
                <a16:creationId xmlns:a16="http://schemas.microsoft.com/office/drawing/2014/main" id="{9E19E24C-979D-3C9A-9C76-CB5B03D44096}"/>
              </a:ext>
            </a:extLst>
          </p:cNvPr>
          <p:cNvSpPr>
            <a:spLocks noGrp="1" noChangeAspect="1"/>
          </p:cNvSpPr>
          <p:nvPr>
            <p:ph type="pic" sz="quarter" idx="62" hasCustomPrompt="1"/>
          </p:nvPr>
        </p:nvSpPr>
        <p:spPr>
          <a:xfrm>
            <a:off x="602589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5">
            <a:extLst>
              <a:ext uri="{FF2B5EF4-FFF2-40B4-BE49-F238E27FC236}">
                <a16:creationId xmlns:a16="http://schemas.microsoft.com/office/drawing/2014/main" id="{06964C24-EB2D-973F-CAEE-52230749F92F}"/>
              </a:ext>
            </a:extLst>
          </p:cNvPr>
          <p:cNvSpPr>
            <a:spLocks noGrp="1"/>
          </p:cNvSpPr>
          <p:nvPr>
            <p:ph type="body" sz="quarter" idx="63" hasCustomPrompt="1"/>
          </p:nvPr>
        </p:nvSpPr>
        <p:spPr>
          <a:xfrm>
            <a:off x="1442907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5">
            <a:extLst>
              <a:ext uri="{FF2B5EF4-FFF2-40B4-BE49-F238E27FC236}">
                <a16:creationId xmlns:a16="http://schemas.microsoft.com/office/drawing/2014/main" id="{ED4E3AFB-8939-61FB-5FF0-F1534EC387E1}"/>
              </a:ext>
            </a:extLst>
          </p:cNvPr>
          <p:cNvSpPr>
            <a:spLocks noGrp="1"/>
          </p:cNvSpPr>
          <p:nvPr>
            <p:ph type="body" sz="quarter" idx="64" hasCustomPrompt="1"/>
          </p:nvPr>
        </p:nvSpPr>
        <p:spPr>
          <a:xfrm>
            <a:off x="1442907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5">
            <a:extLst>
              <a:ext uri="{FF2B5EF4-FFF2-40B4-BE49-F238E27FC236}">
                <a16:creationId xmlns:a16="http://schemas.microsoft.com/office/drawing/2014/main" id="{A1B13653-F43D-0A5E-38A6-CB5001465815}"/>
              </a:ext>
            </a:extLst>
          </p:cNvPr>
          <p:cNvSpPr>
            <a:spLocks noGrp="1" noChangeAspect="1"/>
          </p:cNvSpPr>
          <p:nvPr>
            <p:ph type="pic" sz="quarter" idx="65"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6">
            <a:extLst>
              <a:ext uri="{FF2B5EF4-FFF2-40B4-BE49-F238E27FC236}">
                <a16:creationId xmlns:a16="http://schemas.microsoft.com/office/drawing/2014/main" id="{E5FC1EDC-3D2A-65A9-871F-F197CDBEA69B}"/>
              </a:ext>
            </a:extLst>
          </p:cNvPr>
          <p:cNvSpPr>
            <a:spLocks noGrp="1"/>
          </p:cNvSpPr>
          <p:nvPr>
            <p:ph type="body" sz="quarter" idx="66" hasCustomPrompt="1"/>
          </p:nvPr>
        </p:nvSpPr>
        <p:spPr>
          <a:xfrm>
            <a:off x="22832249"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6">
            <a:extLst>
              <a:ext uri="{FF2B5EF4-FFF2-40B4-BE49-F238E27FC236}">
                <a16:creationId xmlns:a16="http://schemas.microsoft.com/office/drawing/2014/main" id="{44682B27-3A3D-0B94-5ECC-DDBB5EF455C7}"/>
              </a:ext>
            </a:extLst>
          </p:cNvPr>
          <p:cNvSpPr>
            <a:spLocks noGrp="1"/>
          </p:cNvSpPr>
          <p:nvPr>
            <p:ph type="body" sz="quarter" idx="67" hasCustomPrompt="1"/>
          </p:nvPr>
        </p:nvSpPr>
        <p:spPr>
          <a:xfrm>
            <a:off x="22832249"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6">
            <a:extLst>
              <a:ext uri="{FF2B5EF4-FFF2-40B4-BE49-F238E27FC236}">
                <a16:creationId xmlns:a16="http://schemas.microsoft.com/office/drawing/2014/main" id="{128F8CF0-9FA1-4567-B0F3-85953E786502}"/>
              </a:ext>
            </a:extLst>
          </p:cNvPr>
          <p:cNvSpPr>
            <a:spLocks noGrp="1" noChangeAspect="1"/>
          </p:cNvSpPr>
          <p:nvPr>
            <p:ph type="pic" sz="quarter" idx="68" hasCustomPrompt="1"/>
          </p:nvPr>
        </p:nvSpPr>
        <p:spPr>
          <a:xfrm>
            <a:off x="22832249"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089732011"/>
      </p:ext>
    </p:extLst>
  </p:cSld>
  <p:clrMapOvr>
    <a:masterClrMapping/>
  </p:clrMapOvr>
  <p:extLst>
    <p:ext uri="{DCECCB84-F9BA-43D5-87BE-67443E8EF086}">
      <p15:sldGuideLst xmlns:p15="http://schemas.microsoft.com/office/powerpoint/2012/main"/>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7-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0EDBB066-9949-0A07-6A34-D87EAC495DA4}"/>
              </a:ext>
            </a:extLst>
          </p:cNvPr>
          <p:cNvSpPr>
            <a:spLocks noGrp="1"/>
          </p:cNvSpPr>
          <p:nvPr>
            <p:ph type="ftr" sz="quarter" idx="41"/>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065D794E-40CD-F20A-D069-AEE573942939}"/>
              </a:ext>
            </a:extLst>
          </p:cNvPr>
          <p:cNvSpPr>
            <a:spLocks noGrp="1"/>
          </p:cNvSpPr>
          <p:nvPr>
            <p:ph type="sldNum" sz="quarter" idx="42"/>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F630764C-4CB7-CC58-55C7-3434EE0A9C55}"/>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4423268B-E454-8182-6279-77138725F4F5}"/>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DAC03B5C-BB34-99BA-EFE5-0FE346472297}"/>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471458BD-9DE8-FE1C-2920-68BCEC79588F}"/>
              </a:ext>
            </a:extLst>
          </p:cNvPr>
          <p:cNvSpPr>
            <a:spLocks noGrp="1"/>
          </p:cNvSpPr>
          <p:nvPr>
            <p:ph type="body" sz="quarter" idx="54" hasCustomPrompt="1"/>
          </p:nvPr>
        </p:nvSpPr>
        <p:spPr>
          <a:xfrm>
            <a:off x="10229723" y="11006648"/>
            <a:ext cx="7717221" cy="867930"/>
          </a:xfrm>
        </p:spPr>
        <p:txBody>
          <a:bodyPr/>
          <a:lstStyle>
            <a:lvl1pPr marL="0" marR="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None/>
              <a:tabLst/>
              <a:defRPr sz="2800"/>
            </a:lvl1pPr>
            <a:lvl2pPr algn="ctr">
              <a:defRPr sz="2800"/>
            </a:lvl2pPr>
            <a:lvl3pPr algn="ctr">
              <a:defRPr sz="2800"/>
            </a:lvl3pPr>
            <a:lvl4pPr algn="ctr">
              <a:defRPr sz="2800"/>
            </a:lvl4pPr>
            <a:lvl5pPr algn="ctr">
              <a:defRPr sz="2800"/>
            </a:lvl5pPr>
          </a:lstStyle>
          <a:p>
            <a:pPr marL="0" marR="0" lvl="0" indent="0" algn="ctr" defTabSz="2743200" rtl="0" eaLnBrk="1" fontAlgn="auto" latinLnBrk="0" hangingPunct="1">
              <a:lnSpc>
                <a:spcPct val="90000"/>
              </a:lnSpc>
              <a:spcBef>
                <a:spcPts val="0"/>
              </a:spcBef>
              <a:spcAft>
                <a:spcPts val="800"/>
              </a:spcAft>
              <a:buClr>
                <a:schemeClr val="accent1"/>
              </a:buClr>
              <a:buSzTx/>
              <a:buFont typeface="NVIDIA Sans" panose="020B0503020203020204" pitchFamily="34" charset="0"/>
              <a:buChar char="​"/>
              <a:tabLst/>
              <a:defRPr/>
            </a:pPr>
            <a:r>
              <a:rPr lang="en-US" dirty="0"/>
              <a:t>Click to edit description</a:t>
            </a:r>
          </a:p>
        </p:txBody>
      </p:sp>
      <p:sp>
        <p:nvSpPr>
          <p:cNvPr id="10" name="Image Text Placeholder 2">
            <a:extLst>
              <a:ext uri="{FF2B5EF4-FFF2-40B4-BE49-F238E27FC236}">
                <a16:creationId xmlns:a16="http://schemas.microsoft.com/office/drawing/2014/main" id="{04109424-82FD-CF0B-FFDE-7FAC1BA6DAC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BE5B7F7B-783A-A0EA-4897-EDF8C1F02592}"/>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16727525-F12D-CFFD-1ED0-4E2EC8BCCDC5}"/>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076934D6-602D-6CCF-6B31-35575C07928E}"/>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2E3916C6-FCD1-6F9A-445E-3D0915995F1A}"/>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1C58D469-AAB0-CB8B-CE5A-DF474F6D8C13}"/>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157879AC-2842-1C0D-BE88-A53BB7AC05CD}"/>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623824F2-BD7A-FF50-B0BD-D3C1B01D9489}"/>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BC68CEEF-5DD1-4DA6-978B-0EE9C83F2FD0}"/>
              </a:ext>
            </a:extLst>
          </p:cNvPr>
          <p:cNvSpPr>
            <a:spLocks noGrp="1"/>
          </p:cNvSpPr>
          <p:nvPr>
            <p:ph type="body" sz="quarter" idx="63" hasCustomPrompt="1"/>
          </p:nvPr>
        </p:nvSpPr>
        <p:spPr>
          <a:xfrm>
            <a:off x="602894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7851B54C-7488-089C-D52C-4A52B32CC48C}"/>
              </a:ext>
            </a:extLst>
          </p:cNvPr>
          <p:cNvSpPr>
            <a:spLocks noGrp="1"/>
          </p:cNvSpPr>
          <p:nvPr>
            <p:ph type="body" sz="quarter" idx="64" hasCustomPrompt="1"/>
          </p:nvPr>
        </p:nvSpPr>
        <p:spPr>
          <a:xfrm>
            <a:off x="602894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21ED7823-61D2-2FFA-CA90-BF25752944E3}"/>
              </a:ext>
            </a:extLst>
          </p:cNvPr>
          <p:cNvSpPr>
            <a:spLocks noGrp="1" noChangeAspect="1"/>
          </p:cNvSpPr>
          <p:nvPr>
            <p:ph type="pic" sz="quarter" idx="65" hasCustomPrompt="1"/>
          </p:nvPr>
        </p:nvSpPr>
        <p:spPr>
          <a:xfrm>
            <a:off x="602894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D513BBBB-DE5A-527D-46E8-1743A8031B88}"/>
              </a:ext>
            </a:extLst>
          </p:cNvPr>
          <p:cNvSpPr>
            <a:spLocks noGrp="1"/>
          </p:cNvSpPr>
          <p:nvPr>
            <p:ph type="body" sz="quarter" idx="66" hasCustomPrompt="1"/>
          </p:nvPr>
        </p:nvSpPr>
        <p:spPr>
          <a:xfrm>
            <a:off x="14429232"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7E60EE3D-5E59-F26C-8AD9-2188B7C96528}"/>
              </a:ext>
            </a:extLst>
          </p:cNvPr>
          <p:cNvSpPr>
            <a:spLocks noGrp="1"/>
          </p:cNvSpPr>
          <p:nvPr>
            <p:ph type="body" sz="quarter" idx="67" hasCustomPrompt="1"/>
          </p:nvPr>
        </p:nvSpPr>
        <p:spPr>
          <a:xfrm>
            <a:off x="14429232"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3EDD73EC-F926-8897-6059-C200AC5FE9EE}"/>
              </a:ext>
            </a:extLst>
          </p:cNvPr>
          <p:cNvSpPr>
            <a:spLocks noGrp="1" noChangeAspect="1"/>
          </p:cNvSpPr>
          <p:nvPr>
            <p:ph type="pic" sz="quarter" idx="68" hasCustomPrompt="1"/>
          </p:nvPr>
        </p:nvSpPr>
        <p:spPr>
          <a:xfrm>
            <a:off x="14429232"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4A6E0E99-4BE8-903E-B9C7-B082801EF3DE}"/>
              </a:ext>
            </a:extLst>
          </p:cNvPr>
          <p:cNvSpPr>
            <a:spLocks noGrp="1"/>
          </p:cNvSpPr>
          <p:nvPr>
            <p:ph type="body" sz="quarter" idx="69" hasCustomPrompt="1"/>
          </p:nvPr>
        </p:nvSpPr>
        <p:spPr>
          <a:xfrm>
            <a:off x="22829520"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ED6A66F4-9D18-8D19-BF9D-6CD753BA735A}"/>
              </a:ext>
            </a:extLst>
          </p:cNvPr>
          <p:cNvSpPr>
            <a:spLocks noGrp="1"/>
          </p:cNvSpPr>
          <p:nvPr>
            <p:ph type="body" sz="quarter" idx="70" hasCustomPrompt="1"/>
          </p:nvPr>
        </p:nvSpPr>
        <p:spPr>
          <a:xfrm>
            <a:off x="22829520"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6876670D-7D23-4CF6-8548-FE090C8A76B3}"/>
              </a:ext>
            </a:extLst>
          </p:cNvPr>
          <p:cNvSpPr>
            <a:spLocks noGrp="1" noChangeAspect="1"/>
          </p:cNvSpPr>
          <p:nvPr>
            <p:ph type="pic" sz="quarter" idx="71" hasCustomPrompt="1"/>
          </p:nvPr>
        </p:nvSpPr>
        <p:spPr>
          <a:xfrm>
            <a:off x="22829520"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2749407310"/>
      </p:ext>
    </p:extLst>
  </p:cSld>
  <p:clrMapOvr>
    <a:masterClrMapping/>
  </p:clrMapOvr>
  <p:extLst>
    <p:ext uri="{DCECCB84-F9BA-43D5-87BE-67443E8EF086}">
      <p15:sldGuideLst xmlns:p15="http://schemas.microsoft.com/office/powerpoint/2012/main"/>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8-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E20898E1-3C2D-56B3-EB64-8545413A1DC4}"/>
              </a:ext>
            </a:extLst>
          </p:cNvPr>
          <p:cNvSpPr>
            <a:spLocks noGrp="1"/>
          </p:cNvSpPr>
          <p:nvPr>
            <p:ph type="ftr" sz="quarter" idx="44"/>
          </p:nvPr>
        </p:nvSpPr>
        <p:spPr/>
        <p:txBody>
          <a:bodyPr/>
          <a:lstStyle/>
          <a:p>
            <a:pPr>
              <a:lnSpc>
                <a:spcPct val="90000"/>
              </a:lnSpc>
            </a:pPr>
            <a:r>
              <a:rPr lang="en-US"/>
              <a:t>Source information in NVIDIA Sans, medium gray; 20 pt</a:t>
            </a:r>
            <a:endParaRPr lang="en-US" dirty="0"/>
          </a:p>
        </p:txBody>
      </p:sp>
      <p:sp>
        <p:nvSpPr>
          <p:cNvPr id="21" name="Slide Number Placeholder">
            <a:extLst>
              <a:ext uri="{FF2B5EF4-FFF2-40B4-BE49-F238E27FC236}">
                <a16:creationId xmlns:a16="http://schemas.microsoft.com/office/drawing/2014/main" id="{D744ED2D-1CB0-DF46-4299-C65986BE384C}"/>
              </a:ext>
            </a:extLst>
          </p:cNvPr>
          <p:cNvSpPr>
            <a:spLocks noGrp="1"/>
          </p:cNvSpPr>
          <p:nvPr>
            <p:ph type="sldNum" sz="quarter" idx="45"/>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7978D673-0BDB-8A27-A8D7-CE578AEA3CBF}"/>
              </a:ext>
            </a:extLst>
          </p:cNvPr>
          <p:cNvSpPr>
            <a:spLocks noGrp="1"/>
          </p:cNvSpPr>
          <p:nvPr>
            <p:ph type="body" sz="quarter" idx="52" hasCustomPrompt="1"/>
          </p:nvPr>
        </p:nvSpPr>
        <p:spPr>
          <a:xfrm>
            <a:off x="1828800"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1532DC11-96E1-4F5D-35B2-D80108E71F62}"/>
              </a:ext>
            </a:extLst>
          </p:cNvPr>
          <p:cNvSpPr>
            <a:spLocks noGrp="1"/>
          </p:cNvSpPr>
          <p:nvPr>
            <p:ph type="body" sz="quarter" idx="51" hasCustomPrompt="1"/>
          </p:nvPr>
        </p:nvSpPr>
        <p:spPr>
          <a:xfrm>
            <a:off x="1828800"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9E6D5051-4FCC-CB02-0C06-B1F5332FD706}"/>
              </a:ext>
            </a:extLst>
          </p:cNvPr>
          <p:cNvSpPr>
            <a:spLocks noGrp="1" noChangeAspect="1"/>
          </p:cNvSpPr>
          <p:nvPr>
            <p:ph type="pic" sz="quarter" idx="53" hasCustomPrompt="1"/>
          </p:nvPr>
        </p:nvSpPr>
        <p:spPr>
          <a:xfrm>
            <a:off x="1828800"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E2CDFFA7-9E02-725D-0EDB-D93305C6A6E2}"/>
              </a:ext>
            </a:extLst>
          </p:cNvPr>
          <p:cNvSpPr>
            <a:spLocks noGrp="1"/>
          </p:cNvSpPr>
          <p:nvPr>
            <p:ph type="body" sz="quarter" idx="54" hasCustomPrompt="1"/>
          </p:nvPr>
        </p:nvSpPr>
        <p:spPr>
          <a:xfrm>
            <a:off x="10229723" y="11006648"/>
            <a:ext cx="771722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2">
            <a:extLst>
              <a:ext uri="{FF2B5EF4-FFF2-40B4-BE49-F238E27FC236}">
                <a16:creationId xmlns:a16="http://schemas.microsoft.com/office/drawing/2014/main" id="{B0CA0F5C-334B-B584-E06F-1E2F109F9AB6}"/>
              </a:ext>
            </a:extLst>
          </p:cNvPr>
          <p:cNvSpPr>
            <a:spLocks noGrp="1"/>
          </p:cNvSpPr>
          <p:nvPr>
            <p:ph type="body" sz="quarter" idx="55" hasCustomPrompt="1"/>
          </p:nvPr>
        </p:nvSpPr>
        <p:spPr>
          <a:xfrm>
            <a:off x="10229723" y="10381469"/>
            <a:ext cx="7717221"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2">
            <a:extLst>
              <a:ext uri="{FF2B5EF4-FFF2-40B4-BE49-F238E27FC236}">
                <a16:creationId xmlns:a16="http://schemas.microsoft.com/office/drawing/2014/main" id="{C536FB7D-F1F0-781E-34AB-3F1ABF5CE191}"/>
              </a:ext>
            </a:extLst>
          </p:cNvPr>
          <p:cNvSpPr>
            <a:spLocks noGrp="1" noChangeAspect="1"/>
          </p:cNvSpPr>
          <p:nvPr>
            <p:ph type="pic" sz="quarter" idx="56" hasCustomPrompt="1"/>
          </p:nvPr>
        </p:nvSpPr>
        <p:spPr>
          <a:xfrm>
            <a:off x="10229088"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3">
            <a:extLst>
              <a:ext uri="{FF2B5EF4-FFF2-40B4-BE49-F238E27FC236}">
                <a16:creationId xmlns:a16="http://schemas.microsoft.com/office/drawing/2014/main" id="{E1F4CC7B-C72C-4672-E74C-6D61EC928816}"/>
              </a:ext>
            </a:extLst>
          </p:cNvPr>
          <p:cNvSpPr>
            <a:spLocks noGrp="1"/>
          </p:cNvSpPr>
          <p:nvPr>
            <p:ph type="body" sz="quarter" idx="57" hasCustomPrompt="1"/>
          </p:nvPr>
        </p:nvSpPr>
        <p:spPr>
          <a:xfrm>
            <a:off x="18628848" y="11006648"/>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3">
            <a:extLst>
              <a:ext uri="{FF2B5EF4-FFF2-40B4-BE49-F238E27FC236}">
                <a16:creationId xmlns:a16="http://schemas.microsoft.com/office/drawing/2014/main" id="{641EC321-A433-3051-F6F8-BF4CB5E94084}"/>
              </a:ext>
            </a:extLst>
          </p:cNvPr>
          <p:cNvSpPr>
            <a:spLocks noGrp="1"/>
          </p:cNvSpPr>
          <p:nvPr>
            <p:ph type="body" sz="quarter" idx="58" hasCustomPrompt="1"/>
          </p:nvPr>
        </p:nvSpPr>
        <p:spPr>
          <a:xfrm>
            <a:off x="18628848" y="10381469"/>
            <a:ext cx="7718171"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3">
            <a:extLst>
              <a:ext uri="{FF2B5EF4-FFF2-40B4-BE49-F238E27FC236}">
                <a16:creationId xmlns:a16="http://schemas.microsoft.com/office/drawing/2014/main" id="{DED3346E-BCE7-4488-337D-3A6A02329800}"/>
              </a:ext>
            </a:extLst>
          </p:cNvPr>
          <p:cNvSpPr>
            <a:spLocks noGrp="1" noChangeAspect="1"/>
          </p:cNvSpPr>
          <p:nvPr>
            <p:ph type="pic" sz="quarter" idx="59" hasCustomPrompt="1"/>
          </p:nvPr>
        </p:nvSpPr>
        <p:spPr>
          <a:xfrm>
            <a:off x="18629376"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4">
            <a:extLst>
              <a:ext uri="{FF2B5EF4-FFF2-40B4-BE49-F238E27FC236}">
                <a16:creationId xmlns:a16="http://schemas.microsoft.com/office/drawing/2014/main" id="{9AF78149-262D-6518-1A2F-47D582DC9B5A}"/>
              </a:ext>
            </a:extLst>
          </p:cNvPr>
          <p:cNvSpPr>
            <a:spLocks noGrp="1"/>
          </p:cNvSpPr>
          <p:nvPr>
            <p:ph type="body" sz="quarter" idx="60" hasCustomPrompt="1"/>
          </p:nvPr>
        </p:nvSpPr>
        <p:spPr>
          <a:xfrm>
            <a:off x="27029351" y="11006648"/>
            <a:ext cx="7718170"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4">
            <a:extLst>
              <a:ext uri="{FF2B5EF4-FFF2-40B4-BE49-F238E27FC236}">
                <a16:creationId xmlns:a16="http://schemas.microsoft.com/office/drawing/2014/main" id="{1AD5F046-F946-28E3-7E59-15789CD85452}"/>
              </a:ext>
            </a:extLst>
          </p:cNvPr>
          <p:cNvSpPr>
            <a:spLocks noGrp="1"/>
          </p:cNvSpPr>
          <p:nvPr>
            <p:ph type="body" sz="quarter" idx="61" hasCustomPrompt="1"/>
          </p:nvPr>
        </p:nvSpPr>
        <p:spPr>
          <a:xfrm>
            <a:off x="27029351" y="10381469"/>
            <a:ext cx="7718170"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4">
            <a:extLst>
              <a:ext uri="{FF2B5EF4-FFF2-40B4-BE49-F238E27FC236}">
                <a16:creationId xmlns:a16="http://schemas.microsoft.com/office/drawing/2014/main" id="{148034F7-3860-40F0-3BFE-91AD4D05A0F8}"/>
              </a:ext>
            </a:extLst>
          </p:cNvPr>
          <p:cNvSpPr>
            <a:spLocks noGrp="1" noChangeAspect="1"/>
          </p:cNvSpPr>
          <p:nvPr>
            <p:ph type="pic" sz="quarter" idx="62" hasCustomPrompt="1"/>
          </p:nvPr>
        </p:nvSpPr>
        <p:spPr>
          <a:xfrm>
            <a:off x="27029664" y="5806440"/>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5">
            <a:extLst>
              <a:ext uri="{FF2B5EF4-FFF2-40B4-BE49-F238E27FC236}">
                <a16:creationId xmlns:a16="http://schemas.microsoft.com/office/drawing/2014/main" id="{F7E32F74-3796-25BA-BB04-53971CE7834A}"/>
              </a:ext>
            </a:extLst>
          </p:cNvPr>
          <p:cNvSpPr>
            <a:spLocks noGrp="1"/>
          </p:cNvSpPr>
          <p:nvPr>
            <p:ph type="body" sz="quarter" idx="63" hasCustomPrompt="1"/>
          </p:nvPr>
        </p:nvSpPr>
        <p:spPr>
          <a:xfrm>
            <a:off x="18281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5">
            <a:extLst>
              <a:ext uri="{FF2B5EF4-FFF2-40B4-BE49-F238E27FC236}">
                <a16:creationId xmlns:a16="http://schemas.microsoft.com/office/drawing/2014/main" id="{AC0EEF07-6B9F-F5FC-B330-CB47B5A55A5E}"/>
              </a:ext>
            </a:extLst>
          </p:cNvPr>
          <p:cNvSpPr>
            <a:spLocks noGrp="1"/>
          </p:cNvSpPr>
          <p:nvPr>
            <p:ph type="body" sz="quarter" idx="64" hasCustomPrompt="1"/>
          </p:nvPr>
        </p:nvSpPr>
        <p:spPr>
          <a:xfrm>
            <a:off x="18281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5">
            <a:extLst>
              <a:ext uri="{FF2B5EF4-FFF2-40B4-BE49-F238E27FC236}">
                <a16:creationId xmlns:a16="http://schemas.microsoft.com/office/drawing/2014/main" id="{AEF5DC33-5308-239C-B13F-2AA57684D6B9}"/>
              </a:ext>
            </a:extLst>
          </p:cNvPr>
          <p:cNvSpPr>
            <a:spLocks noGrp="1" noChangeAspect="1"/>
          </p:cNvSpPr>
          <p:nvPr>
            <p:ph type="pic" sz="quarter" idx="65" hasCustomPrompt="1"/>
          </p:nvPr>
        </p:nvSpPr>
        <p:spPr>
          <a:xfrm>
            <a:off x="1828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6">
            <a:extLst>
              <a:ext uri="{FF2B5EF4-FFF2-40B4-BE49-F238E27FC236}">
                <a16:creationId xmlns:a16="http://schemas.microsoft.com/office/drawing/2014/main" id="{8B41D1B9-66C7-13BB-2E1F-CD69E9131E1C}"/>
              </a:ext>
            </a:extLst>
          </p:cNvPr>
          <p:cNvSpPr>
            <a:spLocks noGrp="1"/>
          </p:cNvSpPr>
          <p:nvPr>
            <p:ph type="body" sz="quarter" idx="66" hasCustomPrompt="1"/>
          </p:nvPr>
        </p:nvSpPr>
        <p:spPr>
          <a:xfrm>
            <a:off x="10228665"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6">
            <a:extLst>
              <a:ext uri="{FF2B5EF4-FFF2-40B4-BE49-F238E27FC236}">
                <a16:creationId xmlns:a16="http://schemas.microsoft.com/office/drawing/2014/main" id="{C5498CBA-E497-16C1-742F-C3C26EC95DB1}"/>
              </a:ext>
            </a:extLst>
          </p:cNvPr>
          <p:cNvSpPr>
            <a:spLocks noGrp="1"/>
          </p:cNvSpPr>
          <p:nvPr>
            <p:ph type="body" sz="quarter" idx="67" hasCustomPrompt="1"/>
          </p:nvPr>
        </p:nvSpPr>
        <p:spPr>
          <a:xfrm>
            <a:off x="10228665"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6">
            <a:extLst>
              <a:ext uri="{FF2B5EF4-FFF2-40B4-BE49-F238E27FC236}">
                <a16:creationId xmlns:a16="http://schemas.microsoft.com/office/drawing/2014/main" id="{213EF361-63C9-84EA-0E58-4BC930EB7A36}"/>
              </a:ext>
            </a:extLst>
          </p:cNvPr>
          <p:cNvSpPr>
            <a:spLocks noGrp="1" noChangeAspect="1"/>
          </p:cNvSpPr>
          <p:nvPr>
            <p:ph type="pic" sz="quarter" idx="68" hasCustomPrompt="1"/>
          </p:nvPr>
        </p:nvSpPr>
        <p:spPr>
          <a:xfrm>
            <a:off x="102286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7">
            <a:extLst>
              <a:ext uri="{FF2B5EF4-FFF2-40B4-BE49-F238E27FC236}">
                <a16:creationId xmlns:a16="http://schemas.microsoft.com/office/drawing/2014/main" id="{3B075A3F-076B-6F14-D6D7-7BB067058D1B}"/>
              </a:ext>
            </a:extLst>
          </p:cNvPr>
          <p:cNvSpPr>
            <a:spLocks noGrp="1"/>
          </p:cNvSpPr>
          <p:nvPr>
            <p:ph type="body" sz="quarter" idx="69" hasCustomPrompt="1"/>
          </p:nvPr>
        </p:nvSpPr>
        <p:spPr>
          <a:xfrm>
            <a:off x="18629164" y="17350073"/>
            <a:ext cx="7717856"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7">
            <a:extLst>
              <a:ext uri="{FF2B5EF4-FFF2-40B4-BE49-F238E27FC236}">
                <a16:creationId xmlns:a16="http://schemas.microsoft.com/office/drawing/2014/main" id="{5AE371D2-9890-D27E-0C89-F23BED97E6B3}"/>
              </a:ext>
            </a:extLst>
          </p:cNvPr>
          <p:cNvSpPr>
            <a:spLocks noGrp="1"/>
          </p:cNvSpPr>
          <p:nvPr>
            <p:ph type="body" sz="quarter" idx="70" hasCustomPrompt="1"/>
          </p:nvPr>
        </p:nvSpPr>
        <p:spPr>
          <a:xfrm>
            <a:off x="18629164" y="16724037"/>
            <a:ext cx="7717856"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7">
            <a:extLst>
              <a:ext uri="{FF2B5EF4-FFF2-40B4-BE49-F238E27FC236}">
                <a16:creationId xmlns:a16="http://schemas.microsoft.com/office/drawing/2014/main" id="{F2777701-1439-D1A7-FE1A-91F9E6F53389}"/>
              </a:ext>
            </a:extLst>
          </p:cNvPr>
          <p:cNvSpPr>
            <a:spLocks noGrp="1" noChangeAspect="1"/>
          </p:cNvSpPr>
          <p:nvPr>
            <p:ph type="pic" sz="quarter" idx="71" hasCustomPrompt="1"/>
          </p:nvPr>
        </p:nvSpPr>
        <p:spPr>
          <a:xfrm>
            <a:off x="18629165"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8">
            <a:extLst>
              <a:ext uri="{FF2B5EF4-FFF2-40B4-BE49-F238E27FC236}">
                <a16:creationId xmlns:a16="http://schemas.microsoft.com/office/drawing/2014/main" id="{E3611A72-8635-0768-FE24-C8BE5A068040}"/>
              </a:ext>
            </a:extLst>
          </p:cNvPr>
          <p:cNvSpPr>
            <a:spLocks noGrp="1"/>
          </p:cNvSpPr>
          <p:nvPr>
            <p:ph type="body" sz="quarter" idx="72" hasCustomPrompt="1"/>
          </p:nvPr>
        </p:nvSpPr>
        <p:spPr>
          <a:xfrm>
            <a:off x="27029664" y="17350073"/>
            <a:ext cx="7718171"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8">
            <a:extLst>
              <a:ext uri="{FF2B5EF4-FFF2-40B4-BE49-F238E27FC236}">
                <a16:creationId xmlns:a16="http://schemas.microsoft.com/office/drawing/2014/main" id="{15F22903-F879-146C-D653-1C953D51F1D7}"/>
              </a:ext>
            </a:extLst>
          </p:cNvPr>
          <p:cNvSpPr>
            <a:spLocks noGrp="1"/>
          </p:cNvSpPr>
          <p:nvPr>
            <p:ph type="body" sz="quarter" idx="73" hasCustomPrompt="1"/>
          </p:nvPr>
        </p:nvSpPr>
        <p:spPr>
          <a:xfrm>
            <a:off x="27029664" y="16724037"/>
            <a:ext cx="7718171"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8">
            <a:extLst>
              <a:ext uri="{FF2B5EF4-FFF2-40B4-BE49-F238E27FC236}">
                <a16:creationId xmlns:a16="http://schemas.microsoft.com/office/drawing/2014/main" id="{C9A3B76A-47E4-4BBA-C00F-A605F3B99E75}"/>
              </a:ext>
            </a:extLst>
          </p:cNvPr>
          <p:cNvSpPr>
            <a:spLocks noGrp="1" noChangeAspect="1"/>
          </p:cNvSpPr>
          <p:nvPr>
            <p:ph type="pic" sz="quarter" idx="74" hasCustomPrompt="1"/>
          </p:nvPr>
        </p:nvSpPr>
        <p:spPr>
          <a:xfrm>
            <a:off x="27029664" y="12149685"/>
            <a:ext cx="7717856" cy="4341294"/>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595396480"/>
      </p:ext>
    </p:extLst>
  </p:cSld>
  <p:clrMapOvr>
    <a:masterClrMapping/>
  </p:clrMapOvr>
  <p:extLst>
    <p:ext uri="{DCECCB84-F9BA-43D5-87BE-67443E8EF086}">
      <p15:sldGuideLst xmlns:p15="http://schemas.microsoft.com/office/powerpoint/2012/main"/>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9-up Imag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D6F3B741-4BA7-CA11-FB9A-C2A65AC3C33F}"/>
              </a:ext>
            </a:extLst>
          </p:cNvPr>
          <p:cNvSpPr>
            <a:spLocks noGrp="1"/>
          </p:cNvSpPr>
          <p:nvPr>
            <p:ph type="ftr" sz="quarter" idx="47"/>
          </p:nvPr>
        </p:nvSpPr>
        <p:spPr/>
        <p:txBody>
          <a:bodyPr/>
          <a:lstStyle/>
          <a:p>
            <a:pPr>
              <a:lnSpc>
                <a:spcPct val="90000"/>
              </a:lnSpc>
            </a:pPr>
            <a:r>
              <a:rPr lang="en-US"/>
              <a:t>Source information in NVIDIA Sans, medium gray; 20 pt</a:t>
            </a:r>
            <a:endParaRPr lang="en-US" dirty="0"/>
          </a:p>
        </p:txBody>
      </p:sp>
      <p:sp>
        <p:nvSpPr>
          <p:cNvPr id="9" name="Slide Number">
            <a:extLst>
              <a:ext uri="{FF2B5EF4-FFF2-40B4-BE49-F238E27FC236}">
                <a16:creationId xmlns:a16="http://schemas.microsoft.com/office/drawing/2014/main" id="{9B6C075D-B159-7804-C8F7-7176810B5084}"/>
              </a:ext>
            </a:extLst>
          </p:cNvPr>
          <p:cNvSpPr>
            <a:spLocks noGrp="1"/>
          </p:cNvSpPr>
          <p:nvPr>
            <p:ph type="sldNum" sz="quarter" idx="48"/>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B0131B47-B5B7-F148-4002-DAA1E5650ED4}"/>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C28ABF7D-29F2-B0CE-ED9F-DA065CC298BA}"/>
              </a:ext>
            </a:extLst>
          </p:cNvPr>
          <p:cNvSpPr>
            <a:spLocks noGrp="1"/>
          </p:cNvSpPr>
          <p:nvPr>
            <p:ph type="body" sz="quarter" idx="51"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EF7AEB09-C474-CC1F-2F31-49DF258D068D}"/>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7" name="Text Placeholder 2">
            <a:extLst>
              <a:ext uri="{FF2B5EF4-FFF2-40B4-BE49-F238E27FC236}">
                <a16:creationId xmlns:a16="http://schemas.microsoft.com/office/drawing/2014/main" id="{CE648B61-48E8-01D9-A502-3E3367EC1737}"/>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0" name="Image Text Placeholder 2">
            <a:extLst>
              <a:ext uri="{FF2B5EF4-FFF2-40B4-BE49-F238E27FC236}">
                <a16:creationId xmlns:a16="http://schemas.microsoft.com/office/drawing/2014/main" id="{8F5F26B8-D130-D082-2689-D29B52860340}"/>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1" name="Picture Placeholder 2">
            <a:extLst>
              <a:ext uri="{FF2B5EF4-FFF2-40B4-BE49-F238E27FC236}">
                <a16:creationId xmlns:a16="http://schemas.microsoft.com/office/drawing/2014/main" id="{EE9B78BB-2018-F789-2158-46DB09119372}"/>
              </a:ext>
            </a:extLst>
          </p:cNvPr>
          <p:cNvSpPr>
            <a:spLocks noGrp="1" noChangeAspect="1"/>
          </p:cNvSpPr>
          <p:nvPr>
            <p:ph type="pic" sz="quarter" idx="53" hasCustomPrompt="1"/>
          </p:nvPr>
        </p:nvSpPr>
        <p:spPr>
          <a:xfrm>
            <a:off x="8549639"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2" name="Text Placeholder 3">
            <a:extLst>
              <a:ext uri="{FF2B5EF4-FFF2-40B4-BE49-F238E27FC236}">
                <a16:creationId xmlns:a16="http://schemas.microsoft.com/office/drawing/2014/main" id="{ED95C055-507D-5FF5-F328-389CA07DE9F4}"/>
              </a:ext>
            </a:extLst>
          </p:cNvPr>
          <p:cNvSpPr>
            <a:spLocks noGrp="1"/>
          </p:cNvSpPr>
          <p:nvPr>
            <p:ph type="body" sz="quarter" idx="56"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3" name="Image Text Placeholder 3">
            <a:extLst>
              <a:ext uri="{FF2B5EF4-FFF2-40B4-BE49-F238E27FC236}">
                <a16:creationId xmlns:a16="http://schemas.microsoft.com/office/drawing/2014/main" id="{41777126-549B-A339-2679-A2A046510D09}"/>
              </a:ext>
            </a:extLst>
          </p:cNvPr>
          <p:cNvSpPr>
            <a:spLocks noGrp="1"/>
          </p:cNvSpPr>
          <p:nvPr>
            <p:ph type="body" sz="quarter" idx="57"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4" name="Picture Placeholder 3">
            <a:extLst>
              <a:ext uri="{FF2B5EF4-FFF2-40B4-BE49-F238E27FC236}">
                <a16:creationId xmlns:a16="http://schemas.microsoft.com/office/drawing/2014/main" id="{76135777-EFA0-9BD8-210B-552D97D43DD2}"/>
              </a:ext>
            </a:extLst>
          </p:cNvPr>
          <p:cNvSpPr>
            <a:spLocks noGrp="1" noChangeAspect="1"/>
          </p:cNvSpPr>
          <p:nvPr>
            <p:ph type="pic" sz="quarter" idx="58" hasCustomPrompt="1"/>
          </p:nvPr>
        </p:nvSpPr>
        <p:spPr>
          <a:xfrm>
            <a:off x="15270478"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5" name="Text Placeholder 4">
            <a:extLst>
              <a:ext uri="{FF2B5EF4-FFF2-40B4-BE49-F238E27FC236}">
                <a16:creationId xmlns:a16="http://schemas.microsoft.com/office/drawing/2014/main" id="{95D2C89D-8974-CC88-56D5-D4BD01270335}"/>
              </a:ext>
            </a:extLst>
          </p:cNvPr>
          <p:cNvSpPr>
            <a:spLocks noGrp="1"/>
          </p:cNvSpPr>
          <p:nvPr>
            <p:ph type="body" sz="quarter" idx="59"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6" name="Image Text Placeholder 4">
            <a:extLst>
              <a:ext uri="{FF2B5EF4-FFF2-40B4-BE49-F238E27FC236}">
                <a16:creationId xmlns:a16="http://schemas.microsoft.com/office/drawing/2014/main" id="{635F3C2A-EFEC-FA7C-C6D2-B28E72D1C6CE}"/>
              </a:ext>
            </a:extLst>
          </p:cNvPr>
          <p:cNvSpPr>
            <a:spLocks noGrp="1"/>
          </p:cNvSpPr>
          <p:nvPr>
            <p:ph type="body" sz="quarter" idx="60"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17" name="Picture Placeholder 4">
            <a:extLst>
              <a:ext uri="{FF2B5EF4-FFF2-40B4-BE49-F238E27FC236}">
                <a16:creationId xmlns:a16="http://schemas.microsoft.com/office/drawing/2014/main" id="{BBF0B83C-1493-7A37-3CF6-731E6F6E6A62}"/>
              </a:ext>
            </a:extLst>
          </p:cNvPr>
          <p:cNvSpPr>
            <a:spLocks noGrp="1" noChangeAspect="1"/>
          </p:cNvSpPr>
          <p:nvPr>
            <p:ph type="pic" sz="quarter" idx="61" hasCustomPrompt="1"/>
          </p:nvPr>
        </p:nvSpPr>
        <p:spPr>
          <a:xfrm>
            <a:off x="21991317"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8" name="Text Placeholder 5">
            <a:extLst>
              <a:ext uri="{FF2B5EF4-FFF2-40B4-BE49-F238E27FC236}">
                <a16:creationId xmlns:a16="http://schemas.microsoft.com/office/drawing/2014/main" id="{D0BCB15C-5A68-FE62-7189-812C1AFDDAE2}"/>
              </a:ext>
            </a:extLst>
          </p:cNvPr>
          <p:cNvSpPr>
            <a:spLocks noGrp="1"/>
          </p:cNvSpPr>
          <p:nvPr>
            <p:ph type="body" sz="quarter" idx="62"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19" name="Image Text Placeholder 5">
            <a:extLst>
              <a:ext uri="{FF2B5EF4-FFF2-40B4-BE49-F238E27FC236}">
                <a16:creationId xmlns:a16="http://schemas.microsoft.com/office/drawing/2014/main" id="{BBAA1C0A-15A8-D7A5-8438-1586FF72B38B}"/>
              </a:ext>
            </a:extLst>
          </p:cNvPr>
          <p:cNvSpPr>
            <a:spLocks noGrp="1"/>
          </p:cNvSpPr>
          <p:nvPr>
            <p:ph type="body" sz="quarter" idx="63"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20" name="Picture Placeholder 5">
            <a:extLst>
              <a:ext uri="{FF2B5EF4-FFF2-40B4-BE49-F238E27FC236}">
                <a16:creationId xmlns:a16="http://schemas.microsoft.com/office/drawing/2014/main" id="{54DF6266-8BCE-586C-72A7-55A96425A734}"/>
              </a:ext>
            </a:extLst>
          </p:cNvPr>
          <p:cNvSpPr>
            <a:spLocks noGrp="1" noChangeAspect="1"/>
          </p:cNvSpPr>
          <p:nvPr>
            <p:ph type="pic" sz="quarter" idx="64"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1" name="Text Placeholder 6">
            <a:extLst>
              <a:ext uri="{FF2B5EF4-FFF2-40B4-BE49-F238E27FC236}">
                <a16:creationId xmlns:a16="http://schemas.microsoft.com/office/drawing/2014/main" id="{C66E5329-4388-E232-62F0-6321508ED4A3}"/>
              </a:ext>
            </a:extLst>
          </p:cNvPr>
          <p:cNvSpPr>
            <a:spLocks noGrp="1"/>
          </p:cNvSpPr>
          <p:nvPr>
            <p:ph type="body" sz="quarter" idx="65" hasCustomPrompt="1"/>
          </p:nvPr>
        </p:nvSpPr>
        <p:spPr>
          <a:xfrm>
            <a:off x="518890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2" name="Image Text Placeholder 6">
            <a:extLst>
              <a:ext uri="{FF2B5EF4-FFF2-40B4-BE49-F238E27FC236}">
                <a16:creationId xmlns:a16="http://schemas.microsoft.com/office/drawing/2014/main" id="{C8C7CD6C-8D24-F322-0F0C-F048846B1B0D}"/>
              </a:ext>
            </a:extLst>
          </p:cNvPr>
          <p:cNvSpPr>
            <a:spLocks noGrp="1"/>
          </p:cNvSpPr>
          <p:nvPr>
            <p:ph type="body" sz="quarter" idx="66" hasCustomPrompt="1"/>
          </p:nvPr>
        </p:nvSpPr>
        <p:spPr>
          <a:xfrm>
            <a:off x="518890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3" name="Picture Placeholder 6">
            <a:extLst>
              <a:ext uri="{FF2B5EF4-FFF2-40B4-BE49-F238E27FC236}">
                <a16:creationId xmlns:a16="http://schemas.microsoft.com/office/drawing/2014/main" id="{82987E90-FC5A-5018-2FE1-CA06551E8D25}"/>
              </a:ext>
            </a:extLst>
          </p:cNvPr>
          <p:cNvSpPr>
            <a:spLocks noGrp="1" noChangeAspect="1"/>
          </p:cNvSpPr>
          <p:nvPr>
            <p:ph type="pic" sz="quarter" idx="67" hasCustomPrompt="1"/>
          </p:nvPr>
        </p:nvSpPr>
        <p:spPr>
          <a:xfrm>
            <a:off x="518922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4" name="Text Placeholder 7">
            <a:extLst>
              <a:ext uri="{FF2B5EF4-FFF2-40B4-BE49-F238E27FC236}">
                <a16:creationId xmlns:a16="http://schemas.microsoft.com/office/drawing/2014/main" id="{EA58AAC9-BDA0-4352-363F-2C4B20AC270C}"/>
              </a:ext>
            </a:extLst>
          </p:cNvPr>
          <p:cNvSpPr>
            <a:spLocks noGrp="1"/>
          </p:cNvSpPr>
          <p:nvPr>
            <p:ph type="body" sz="quarter" idx="68" hasCustomPrompt="1"/>
          </p:nvPr>
        </p:nvSpPr>
        <p:spPr>
          <a:xfrm>
            <a:off x="11909741"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5" name="Image Text Placeholder 7">
            <a:extLst>
              <a:ext uri="{FF2B5EF4-FFF2-40B4-BE49-F238E27FC236}">
                <a16:creationId xmlns:a16="http://schemas.microsoft.com/office/drawing/2014/main" id="{416F6586-0240-36B8-9B04-583616DB2AFF}"/>
              </a:ext>
            </a:extLst>
          </p:cNvPr>
          <p:cNvSpPr>
            <a:spLocks noGrp="1"/>
          </p:cNvSpPr>
          <p:nvPr>
            <p:ph type="body" sz="quarter" idx="69" hasCustomPrompt="1"/>
          </p:nvPr>
        </p:nvSpPr>
        <p:spPr>
          <a:xfrm>
            <a:off x="11909741"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6" name="Picture Placeholder 7">
            <a:extLst>
              <a:ext uri="{FF2B5EF4-FFF2-40B4-BE49-F238E27FC236}">
                <a16:creationId xmlns:a16="http://schemas.microsoft.com/office/drawing/2014/main" id="{9C92ADFF-6064-8070-CF54-2062716EC50B}"/>
              </a:ext>
            </a:extLst>
          </p:cNvPr>
          <p:cNvSpPr>
            <a:spLocks noGrp="1" noChangeAspect="1"/>
          </p:cNvSpPr>
          <p:nvPr>
            <p:ph type="pic" sz="quarter" idx="70" hasCustomPrompt="1"/>
          </p:nvPr>
        </p:nvSpPr>
        <p:spPr>
          <a:xfrm>
            <a:off x="1191006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27" name="Text Placeholder 8">
            <a:extLst>
              <a:ext uri="{FF2B5EF4-FFF2-40B4-BE49-F238E27FC236}">
                <a16:creationId xmlns:a16="http://schemas.microsoft.com/office/drawing/2014/main" id="{BCDD1216-1AB2-3445-C1F2-C6212232509D}"/>
              </a:ext>
            </a:extLst>
          </p:cNvPr>
          <p:cNvSpPr>
            <a:spLocks noGrp="1"/>
          </p:cNvSpPr>
          <p:nvPr>
            <p:ph type="body" sz="quarter" idx="71" hasCustomPrompt="1"/>
          </p:nvPr>
        </p:nvSpPr>
        <p:spPr>
          <a:xfrm>
            <a:off x="186305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28" name="Image Text Placeholder 8">
            <a:extLst>
              <a:ext uri="{FF2B5EF4-FFF2-40B4-BE49-F238E27FC236}">
                <a16:creationId xmlns:a16="http://schemas.microsoft.com/office/drawing/2014/main" id="{7DDF0955-0E96-8C32-2EA7-67141F5F86CB}"/>
              </a:ext>
            </a:extLst>
          </p:cNvPr>
          <p:cNvSpPr>
            <a:spLocks noGrp="1"/>
          </p:cNvSpPr>
          <p:nvPr>
            <p:ph type="body" sz="quarter" idx="72" hasCustomPrompt="1"/>
          </p:nvPr>
        </p:nvSpPr>
        <p:spPr>
          <a:xfrm>
            <a:off x="186305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29" name="Picture Placeholder 8">
            <a:extLst>
              <a:ext uri="{FF2B5EF4-FFF2-40B4-BE49-F238E27FC236}">
                <a16:creationId xmlns:a16="http://schemas.microsoft.com/office/drawing/2014/main" id="{345C2C78-DA02-9F5C-15A6-E68CD36D0C74}"/>
              </a:ext>
            </a:extLst>
          </p:cNvPr>
          <p:cNvSpPr>
            <a:spLocks noGrp="1" noChangeAspect="1"/>
          </p:cNvSpPr>
          <p:nvPr>
            <p:ph type="pic" sz="quarter" idx="73" hasCustomPrompt="1"/>
          </p:nvPr>
        </p:nvSpPr>
        <p:spPr>
          <a:xfrm>
            <a:off x="186309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0" name="Text Placeholder 9">
            <a:extLst>
              <a:ext uri="{FF2B5EF4-FFF2-40B4-BE49-F238E27FC236}">
                <a16:creationId xmlns:a16="http://schemas.microsoft.com/office/drawing/2014/main" id="{7A1BDC1E-1B14-3737-389C-3D1609D760B9}"/>
              </a:ext>
            </a:extLst>
          </p:cNvPr>
          <p:cNvSpPr>
            <a:spLocks noGrp="1"/>
          </p:cNvSpPr>
          <p:nvPr>
            <p:ph type="body" sz="quarter" idx="74" hasCustomPrompt="1"/>
          </p:nvPr>
        </p:nvSpPr>
        <p:spPr>
          <a:xfrm>
            <a:off x="25351419"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9">
            <a:extLst>
              <a:ext uri="{FF2B5EF4-FFF2-40B4-BE49-F238E27FC236}">
                <a16:creationId xmlns:a16="http://schemas.microsoft.com/office/drawing/2014/main" id="{57FFD21B-106E-D0F6-6084-C07EBEE9CB81}"/>
              </a:ext>
            </a:extLst>
          </p:cNvPr>
          <p:cNvSpPr>
            <a:spLocks noGrp="1"/>
          </p:cNvSpPr>
          <p:nvPr>
            <p:ph type="body" sz="quarter" idx="75" hasCustomPrompt="1"/>
          </p:nvPr>
        </p:nvSpPr>
        <p:spPr>
          <a:xfrm>
            <a:off x="25351419"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9">
            <a:extLst>
              <a:ext uri="{FF2B5EF4-FFF2-40B4-BE49-F238E27FC236}">
                <a16:creationId xmlns:a16="http://schemas.microsoft.com/office/drawing/2014/main" id="{F4798C5A-7E62-4B47-5ACD-F9CF8E66C7EB}"/>
              </a:ext>
            </a:extLst>
          </p:cNvPr>
          <p:cNvSpPr>
            <a:spLocks noGrp="1" noChangeAspect="1"/>
          </p:cNvSpPr>
          <p:nvPr>
            <p:ph type="pic" sz="quarter" idx="76" hasCustomPrompt="1"/>
          </p:nvPr>
        </p:nvSpPr>
        <p:spPr>
          <a:xfrm>
            <a:off x="2535174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1306374153"/>
      </p:ext>
    </p:extLst>
  </p:cSld>
  <p:clrMapOvr>
    <a:masterClrMapping/>
  </p:clrMapOvr>
  <p:extLst>
    <p:ext uri="{DCECCB84-F9BA-43D5-87BE-67443E8EF086}">
      <p15:sldGuideLst xmlns:p15="http://schemas.microsoft.com/office/powerpoint/2012/main"/>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10-up Image">
    <p:spTree>
      <p:nvGrpSpPr>
        <p:cNvPr id="1" name=""/>
        <p:cNvGrpSpPr/>
        <p:nvPr/>
      </p:nvGrpSpPr>
      <p:grpSpPr>
        <a:xfrm>
          <a:off x="0" y="0"/>
          <a:ext cx="0" cy="0"/>
          <a:chOff x="0" y="0"/>
          <a:chExt cx="0" cy="0"/>
        </a:xfrm>
      </p:grpSpPr>
      <p:sp>
        <p:nvSpPr>
          <p:cNvPr id="20" name="Footer Placeholder">
            <a:extLst>
              <a:ext uri="{FF2B5EF4-FFF2-40B4-BE49-F238E27FC236}">
                <a16:creationId xmlns:a16="http://schemas.microsoft.com/office/drawing/2014/main" id="{C42F0877-E0D9-ACDF-6AC8-31F04A799FCA}"/>
              </a:ext>
            </a:extLst>
          </p:cNvPr>
          <p:cNvSpPr>
            <a:spLocks noGrp="1"/>
          </p:cNvSpPr>
          <p:nvPr>
            <p:ph type="ftr" sz="quarter" idx="50"/>
          </p:nvPr>
        </p:nvSpPr>
        <p:spPr/>
        <p:txBody>
          <a:bodyPr/>
          <a:lstStyle/>
          <a:p>
            <a:pPr>
              <a:lnSpc>
                <a:spcPct val="90000"/>
              </a:lnSpc>
            </a:pPr>
            <a:r>
              <a:rPr lang="en-US"/>
              <a:t>Source information in NVIDIA Sans, medium gray; 20 pt</a:t>
            </a:r>
            <a:endParaRPr lang="en-US" dirty="0"/>
          </a:p>
        </p:txBody>
      </p:sp>
      <p:sp>
        <p:nvSpPr>
          <p:cNvPr id="30" name="Slide Number Placeholder">
            <a:extLst>
              <a:ext uri="{FF2B5EF4-FFF2-40B4-BE49-F238E27FC236}">
                <a16:creationId xmlns:a16="http://schemas.microsoft.com/office/drawing/2014/main" id="{05F8B37A-9AE1-01F7-40F2-93080E37DBC2}"/>
              </a:ext>
            </a:extLst>
          </p:cNvPr>
          <p:cNvSpPr>
            <a:spLocks noGrp="1"/>
          </p:cNvSpPr>
          <p:nvPr>
            <p:ph type="sldNum" sz="quarter" idx="51"/>
          </p:nvPr>
        </p:nvSpPr>
        <p:spPr/>
        <p:txBody>
          <a:bodyPr/>
          <a:lstStyle/>
          <a:p>
            <a:pPr>
              <a:lnSpc>
                <a:spcPct val="90000"/>
              </a:lnSpc>
            </a:pPr>
            <a:fld id="{5D6728F8-03AC-4059-94FB-90617981AE50}" type="slidenum">
              <a:rPr lang="en-US" smtClean="0"/>
              <a:pPr/>
              <a:t>‹#›</a:t>
            </a:fld>
            <a:endParaRPr lang="en-US"/>
          </a:p>
        </p:txBody>
      </p:sp>
      <p:sp>
        <p:nvSpPr>
          <p:cNvPr id="6" name="Subtitle">
            <a:extLst>
              <a:ext uri="{FF2B5EF4-FFF2-40B4-BE49-F238E27FC236}">
                <a16:creationId xmlns:a16="http://schemas.microsoft.com/office/drawing/2014/main" id="{A575DDCC-41E9-0736-E879-D2C1C246239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2" name="Title">
            <a:extLst>
              <a:ext uri="{FF2B5EF4-FFF2-40B4-BE49-F238E27FC236}">
                <a16:creationId xmlns:a16="http://schemas.microsoft.com/office/drawing/2014/main" id="{8213AE71-E7B2-BD08-3B6A-5C408375780C}"/>
              </a:ext>
            </a:extLst>
          </p:cNvPr>
          <p:cNvSpPr>
            <a:spLocks noGrp="1"/>
          </p:cNvSpPr>
          <p:nvPr>
            <p:ph type="title" hasCustomPrompt="1"/>
          </p:nvPr>
        </p:nvSpPr>
        <p:spPr/>
        <p:txBody>
          <a:bodyPr/>
          <a:lstStyle>
            <a:lvl1pPr>
              <a:defRPr>
                <a:latin typeface="+mj-lt"/>
              </a:defRPr>
            </a:lvl1pPr>
          </a:lstStyle>
          <a:p>
            <a:r>
              <a:rPr lang="en-US" dirty="0"/>
              <a:t>Click to Edit Title Here</a:t>
            </a:r>
          </a:p>
        </p:txBody>
      </p:sp>
      <p:sp>
        <p:nvSpPr>
          <p:cNvPr id="3" name="Text Placeholder 1">
            <a:extLst>
              <a:ext uri="{FF2B5EF4-FFF2-40B4-BE49-F238E27FC236}">
                <a16:creationId xmlns:a16="http://schemas.microsoft.com/office/drawing/2014/main" id="{5541D50E-AD73-9B43-6942-5D3896418D19}"/>
              </a:ext>
            </a:extLst>
          </p:cNvPr>
          <p:cNvSpPr>
            <a:spLocks noGrp="1"/>
          </p:cNvSpPr>
          <p:nvPr>
            <p:ph type="body" sz="quarter" idx="52" hasCustomPrompt="1"/>
          </p:nvPr>
        </p:nvSpPr>
        <p:spPr>
          <a:xfrm>
            <a:off x="182880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 name="Image Text Placeholder 1">
            <a:extLst>
              <a:ext uri="{FF2B5EF4-FFF2-40B4-BE49-F238E27FC236}">
                <a16:creationId xmlns:a16="http://schemas.microsoft.com/office/drawing/2014/main" id="{0A8DB497-AE6A-0DF8-9C97-FC43C5D2770C}"/>
              </a:ext>
            </a:extLst>
          </p:cNvPr>
          <p:cNvSpPr>
            <a:spLocks noGrp="1"/>
          </p:cNvSpPr>
          <p:nvPr>
            <p:ph type="body" sz="quarter" idx="53" hasCustomPrompt="1"/>
          </p:nvPr>
        </p:nvSpPr>
        <p:spPr>
          <a:xfrm>
            <a:off x="182880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5" name="Picture Placeholder 1">
            <a:extLst>
              <a:ext uri="{FF2B5EF4-FFF2-40B4-BE49-F238E27FC236}">
                <a16:creationId xmlns:a16="http://schemas.microsoft.com/office/drawing/2014/main" id="{58D13341-F599-599A-5F0F-2EF6A1BED6F5}"/>
              </a:ext>
            </a:extLst>
          </p:cNvPr>
          <p:cNvSpPr>
            <a:spLocks noGrp="1" noChangeAspect="1"/>
          </p:cNvSpPr>
          <p:nvPr>
            <p:ph type="pic" sz="quarter" idx="18" hasCustomPrompt="1"/>
          </p:nvPr>
        </p:nvSpPr>
        <p:spPr>
          <a:xfrm>
            <a:off x="182880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19" name="Text Placeholder 2">
            <a:extLst>
              <a:ext uri="{FF2B5EF4-FFF2-40B4-BE49-F238E27FC236}">
                <a16:creationId xmlns:a16="http://schemas.microsoft.com/office/drawing/2014/main" id="{A6B8157A-B098-20EA-AFC9-9B4CC65D4D5F}"/>
              </a:ext>
            </a:extLst>
          </p:cNvPr>
          <p:cNvSpPr>
            <a:spLocks noGrp="1"/>
          </p:cNvSpPr>
          <p:nvPr>
            <p:ph type="body" sz="quarter" idx="54" hasCustomPrompt="1"/>
          </p:nvPr>
        </p:nvSpPr>
        <p:spPr>
          <a:xfrm>
            <a:off x="8549005"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1" name="Image Text Placeholder 2">
            <a:extLst>
              <a:ext uri="{FF2B5EF4-FFF2-40B4-BE49-F238E27FC236}">
                <a16:creationId xmlns:a16="http://schemas.microsoft.com/office/drawing/2014/main" id="{9F7772A2-141A-2C32-35BF-03721C006E4B}"/>
              </a:ext>
            </a:extLst>
          </p:cNvPr>
          <p:cNvSpPr>
            <a:spLocks noGrp="1"/>
          </p:cNvSpPr>
          <p:nvPr>
            <p:ph type="body" sz="quarter" idx="55" hasCustomPrompt="1"/>
          </p:nvPr>
        </p:nvSpPr>
        <p:spPr>
          <a:xfrm>
            <a:off x="8549005"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2" name="Picture Placeholder 2">
            <a:extLst>
              <a:ext uri="{FF2B5EF4-FFF2-40B4-BE49-F238E27FC236}">
                <a16:creationId xmlns:a16="http://schemas.microsoft.com/office/drawing/2014/main" id="{9D12C4FE-EA14-DC16-E035-07F6E2255DD5}"/>
              </a:ext>
            </a:extLst>
          </p:cNvPr>
          <p:cNvSpPr>
            <a:spLocks noGrp="1" noChangeAspect="1"/>
          </p:cNvSpPr>
          <p:nvPr>
            <p:ph type="pic" sz="quarter" idx="56" hasCustomPrompt="1"/>
          </p:nvPr>
        </p:nvSpPr>
        <p:spPr>
          <a:xfrm>
            <a:off x="8549005"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3" name="Text Placeholder 3">
            <a:extLst>
              <a:ext uri="{FF2B5EF4-FFF2-40B4-BE49-F238E27FC236}">
                <a16:creationId xmlns:a16="http://schemas.microsoft.com/office/drawing/2014/main" id="{0ECDEBEB-E52F-C256-D4BC-3CD8FBACF261}"/>
              </a:ext>
            </a:extLst>
          </p:cNvPr>
          <p:cNvSpPr>
            <a:spLocks noGrp="1"/>
          </p:cNvSpPr>
          <p:nvPr>
            <p:ph type="body" sz="quarter" idx="57" hasCustomPrompt="1"/>
          </p:nvPr>
        </p:nvSpPr>
        <p:spPr>
          <a:xfrm>
            <a:off x="1527048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34" name="Image Text Placeholder 3">
            <a:extLst>
              <a:ext uri="{FF2B5EF4-FFF2-40B4-BE49-F238E27FC236}">
                <a16:creationId xmlns:a16="http://schemas.microsoft.com/office/drawing/2014/main" id="{785D8308-6DC4-5070-FBE7-A99AC6478429}"/>
              </a:ext>
            </a:extLst>
          </p:cNvPr>
          <p:cNvSpPr>
            <a:spLocks noGrp="1"/>
          </p:cNvSpPr>
          <p:nvPr>
            <p:ph type="body" sz="quarter" idx="58" hasCustomPrompt="1"/>
          </p:nvPr>
        </p:nvSpPr>
        <p:spPr>
          <a:xfrm>
            <a:off x="1527048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35" name="Picture Placeholder 3">
            <a:extLst>
              <a:ext uri="{FF2B5EF4-FFF2-40B4-BE49-F238E27FC236}">
                <a16:creationId xmlns:a16="http://schemas.microsoft.com/office/drawing/2014/main" id="{DEC4416E-D910-82FA-849C-D1F0138FE8BF}"/>
              </a:ext>
            </a:extLst>
          </p:cNvPr>
          <p:cNvSpPr>
            <a:spLocks noGrp="1" noChangeAspect="1"/>
          </p:cNvSpPr>
          <p:nvPr>
            <p:ph type="pic" sz="quarter" idx="59" hasCustomPrompt="1"/>
          </p:nvPr>
        </p:nvSpPr>
        <p:spPr>
          <a:xfrm>
            <a:off x="1527048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36" name="Text Placeholder 4">
            <a:extLst>
              <a:ext uri="{FF2B5EF4-FFF2-40B4-BE49-F238E27FC236}">
                <a16:creationId xmlns:a16="http://schemas.microsoft.com/office/drawing/2014/main" id="{0EFC9957-6324-44FA-A937-12E8D28D27D5}"/>
              </a:ext>
            </a:extLst>
          </p:cNvPr>
          <p:cNvSpPr>
            <a:spLocks noGrp="1"/>
          </p:cNvSpPr>
          <p:nvPr>
            <p:ph type="body" sz="quarter" idx="60" hasCustomPrompt="1"/>
          </p:nvPr>
        </p:nvSpPr>
        <p:spPr>
          <a:xfrm>
            <a:off x="21990686"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3" name="Image Text Placeholder 4">
            <a:extLst>
              <a:ext uri="{FF2B5EF4-FFF2-40B4-BE49-F238E27FC236}">
                <a16:creationId xmlns:a16="http://schemas.microsoft.com/office/drawing/2014/main" id="{54145343-115A-7C6C-5025-8D78035AC08A}"/>
              </a:ext>
            </a:extLst>
          </p:cNvPr>
          <p:cNvSpPr>
            <a:spLocks noGrp="1"/>
          </p:cNvSpPr>
          <p:nvPr>
            <p:ph type="body" sz="quarter" idx="61" hasCustomPrompt="1"/>
          </p:nvPr>
        </p:nvSpPr>
        <p:spPr>
          <a:xfrm>
            <a:off x="21990686"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4" name="Picture Placeholder 4">
            <a:extLst>
              <a:ext uri="{FF2B5EF4-FFF2-40B4-BE49-F238E27FC236}">
                <a16:creationId xmlns:a16="http://schemas.microsoft.com/office/drawing/2014/main" id="{12E9E9CA-B252-105A-7EE9-3C32BD1E338C}"/>
              </a:ext>
            </a:extLst>
          </p:cNvPr>
          <p:cNvSpPr>
            <a:spLocks noGrp="1" noChangeAspect="1"/>
          </p:cNvSpPr>
          <p:nvPr>
            <p:ph type="pic" sz="quarter" idx="62" hasCustomPrompt="1"/>
          </p:nvPr>
        </p:nvSpPr>
        <p:spPr>
          <a:xfrm>
            <a:off x="21990686"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5" name="Text Placeholder 5">
            <a:extLst>
              <a:ext uri="{FF2B5EF4-FFF2-40B4-BE49-F238E27FC236}">
                <a16:creationId xmlns:a16="http://schemas.microsoft.com/office/drawing/2014/main" id="{75A65FBD-41FC-DAE1-70F8-6970F6A06507}"/>
              </a:ext>
            </a:extLst>
          </p:cNvPr>
          <p:cNvSpPr>
            <a:spLocks noGrp="1"/>
          </p:cNvSpPr>
          <p:nvPr>
            <p:ph type="body" sz="quarter" idx="63" hasCustomPrompt="1"/>
          </p:nvPr>
        </p:nvSpPr>
        <p:spPr>
          <a:xfrm>
            <a:off x="28712160" y="11006828"/>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6" name="Image Text Placeholder 5">
            <a:extLst>
              <a:ext uri="{FF2B5EF4-FFF2-40B4-BE49-F238E27FC236}">
                <a16:creationId xmlns:a16="http://schemas.microsoft.com/office/drawing/2014/main" id="{7E4F8B92-A608-0712-63DC-7D0B8D25C999}"/>
              </a:ext>
            </a:extLst>
          </p:cNvPr>
          <p:cNvSpPr>
            <a:spLocks noGrp="1"/>
          </p:cNvSpPr>
          <p:nvPr>
            <p:ph type="body" sz="quarter" idx="64" hasCustomPrompt="1"/>
          </p:nvPr>
        </p:nvSpPr>
        <p:spPr>
          <a:xfrm>
            <a:off x="28712160" y="10381469"/>
            <a:ext cx="6035675" cy="585216"/>
          </a:xfrm>
        </p:spPr>
        <p:txBody>
          <a:bodyPr/>
          <a:lstStyle>
            <a:lvl1pPr algn="ctr">
              <a:spcBef>
                <a:spcPts val="0"/>
              </a:spcBef>
              <a:defRPr sz="4000">
                <a:latin typeface="+mj-lt"/>
              </a:defRPr>
            </a:lvl1pPr>
          </a:lstStyle>
          <a:p>
            <a:pPr lvl="0"/>
            <a:r>
              <a:rPr lang="en-US" dirty="0"/>
              <a:t>Click to Edit Image Title</a:t>
            </a:r>
          </a:p>
        </p:txBody>
      </p:sp>
      <p:sp>
        <p:nvSpPr>
          <p:cNvPr id="47" name="Picture Placeholder 5">
            <a:extLst>
              <a:ext uri="{FF2B5EF4-FFF2-40B4-BE49-F238E27FC236}">
                <a16:creationId xmlns:a16="http://schemas.microsoft.com/office/drawing/2014/main" id="{3040C462-A8E3-CAE7-C8B2-CC88CC2BCB82}"/>
              </a:ext>
            </a:extLst>
          </p:cNvPr>
          <p:cNvSpPr>
            <a:spLocks noGrp="1" noChangeAspect="1"/>
          </p:cNvSpPr>
          <p:nvPr>
            <p:ph type="pic" sz="quarter" idx="65" hasCustomPrompt="1"/>
          </p:nvPr>
        </p:nvSpPr>
        <p:spPr>
          <a:xfrm>
            <a:off x="28712160" y="6753024"/>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48" name="Text Placeholder 6">
            <a:extLst>
              <a:ext uri="{FF2B5EF4-FFF2-40B4-BE49-F238E27FC236}">
                <a16:creationId xmlns:a16="http://schemas.microsoft.com/office/drawing/2014/main" id="{F3DBD58A-06EA-C55D-B36A-08E3CA5C6AF3}"/>
              </a:ext>
            </a:extLst>
          </p:cNvPr>
          <p:cNvSpPr>
            <a:spLocks noGrp="1"/>
          </p:cNvSpPr>
          <p:nvPr>
            <p:ph type="body" sz="quarter" idx="66" hasCustomPrompt="1"/>
          </p:nvPr>
        </p:nvSpPr>
        <p:spPr>
          <a:xfrm>
            <a:off x="182880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49" name="Image Text Placeholder 6">
            <a:extLst>
              <a:ext uri="{FF2B5EF4-FFF2-40B4-BE49-F238E27FC236}">
                <a16:creationId xmlns:a16="http://schemas.microsoft.com/office/drawing/2014/main" id="{DFF6D880-1D4D-A370-FD0B-8E2026432961}"/>
              </a:ext>
            </a:extLst>
          </p:cNvPr>
          <p:cNvSpPr>
            <a:spLocks noGrp="1"/>
          </p:cNvSpPr>
          <p:nvPr>
            <p:ph type="body" sz="quarter" idx="67" hasCustomPrompt="1"/>
          </p:nvPr>
        </p:nvSpPr>
        <p:spPr>
          <a:xfrm>
            <a:off x="182880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0" name="Picture Placeholder 6">
            <a:extLst>
              <a:ext uri="{FF2B5EF4-FFF2-40B4-BE49-F238E27FC236}">
                <a16:creationId xmlns:a16="http://schemas.microsoft.com/office/drawing/2014/main" id="{FE36365B-485F-9C95-7F33-A795DDA0A970}"/>
              </a:ext>
            </a:extLst>
          </p:cNvPr>
          <p:cNvSpPr>
            <a:spLocks noGrp="1" noChangeAspect="1"/>
          </p:cNvSpPr>
          <p:nvPr>
            <p:ph type="pic" sz="quarter" idx="68" hasCustomPrompt="1"/>
          </p:nvPr>
        </p:nvSpPr>
        <p:spPr>
          <a:xfrm>
            <a:off x="182880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1" name="Text Placeholder 7">
            <a:extLst>
              <a:ext uri="{FF2B5EF4-FFF2-40B4-BE49-F238E27FC236}">
                <a16:creationId xmlns:a16="http://schemas.microsoft.com/office/drawing/2014/main" id="{327C785F-6851-A93B-5694-C244F8852ED5}"/>
              </a:ext>
            </a:extLst>
          </p:cNvPr>
          <p:cNvSpPr>
            <a:spLocks noGrp="1"/>
          </p:cNvSpPr>
          <p:nvPr>
            <p:ph type="body" sz="quarter" idx="69" hasCustomPrompt="1"/>
          </p:nvPr>
        </p:nvSpPr>
        <p:spPr>
          <a:xfrm>
            <a:off x="8549005"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2" name="Image Text Placeholder 7">
            <a:extLst>
              <a:ext uri="{FF2B5EF4-FFF2-40B4-BE49-F238E27FC236}">
                <a16:creationId xmlns:a16="http://schemas.microsoft.com/office/drawing/2014/main" id="{BE2B5C28-9A8B-0D8E-F12E-37E98398B727}"/>
              </a:ext>
            </a:extLst>
          </p:cNvPr>
          <p:cNvSpPr>
            <a:spLocks noGrp="1"/>
          </p:cNvSpPr>
          <p:nvPr>
            <p:ph type="body" sz="quarter" idx="70" hasCustomPrompt="1"/>
          </p:nvPr>
        </p:nvSpPr>
        <p:spPr>
          <a:xfrm>
            <a:off x="8549005"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3" name="Picture Placeholder 7">
            <a:extLst>
              <a:ext uri="{FF2B5EF4-FFF2-40B4-BE49-F238E27FC236}">
                <a16:creationId xmlns:a16="http://schemas.microsoft.com/office/drawing/2014/main" id="{DEDF76AC-53F8-1E95-4B55-FA0C90102307}"/>
              </a:ext>
            </a:extLst>
          </p:cNvPr>
          <p:cNvSpPr>
            <a:spLocks noGrp="1" noChangeAspect="1"/>
          </p:cNvSpPr>
          <p:nvPr>
            <p:ph type="pic" sz="quarter" idx="71" hasCustomPrompt="1"/>
          </p:nvPr>
        </p:nvSpPr>
        <p:spPr>
          <a:xfrm>
            <a:off x="8549005"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4" name="Text Placeholder 8">
            <a:extLst>
              <a:ext uri="{FF2B5EF4-FFF2-40B4-BE49-F238E27FC236}">
                <a16:creationId xmlns:a16="http://schemas.microsoft.com/office/drawing/2014/main" id="{541B0966-B263-1076-F94D-E177A8FCCA7C}"/>
              </a:ext>
            </a:extLst>
          </p:cNvPr>
          <p:cNvSpPr>
            <a:spLocks noGrp="1"/>
          </p:cNvSpPr>
          <p:nvPr>
            <p:ph type="body" sz="quarter" idx="72" hasCustomPrompt="1"/>
          </p:nvPr>
        </p:nvSpPr>
        <p:spPr>
          <a:xfrm>
            <a:off x="15270480"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5" name="Image Text Placeholder 8">
            <a:extLst>
              <a:ext uri="{FF2B5EF4-FFF2-40B4-BE49-F238E27FC236}">
                <a16:creationId xmlns:a16="http://schemas.microsoft.com/office/drawing/2014/main" id="{64B1456B-F08A-3269-C378-571FD4FE263B}"/>
              </a:ext>
            </a:extLst>
          </p:cNvPr>
          <p:cNvSpPr>
            <a:spLocks noGrp="1"/>
          </p:cNvSpPr>
          <p:nvPr>
            <p:ph type="body" sz="quarter" idx="73" hasCustomPrompt="1"/>
          </p:nvPr>
        </p:nvSpPr>
        <p:spPr>
          <a:xfrm>
            <a:off x="15270480"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6" name="Picture Placeholder 8">
            <a:extLst>
              <a:ext uri="{FF2B5EF4-FFF2-40B4-BE49-F238E27FC236}">
                <a16:creationId xmlns:a16="http://schemas.microsoft.com/office/drawing/2014/main" id="{B29738B8-4871-A0AD-A2D9-79A88A3D4161}"/>
              </a:ext>
            </a:extLst>
          </p:cNvPr>
          <p:cNvSpPr>
            <a:spLocks noGrp="1" noChangeAspect="1"/>
          </p:cNvSpPr>
          <p:nvPr>
            <p:ph type="pic" sz="quarter" idx="74" hasCustomPrompt="1"/>
          </p:nvPr>
        </p:nvSpPr>
        <p:spPr>
          <a:xfrm>
            <a:off x="15270480"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57" name="Text Placeholder 9">
            <a:extLst>
              <a:ext uri="{FF2B5EF4-FFF2-40B4-BE49-F238E27FC236}">
                <a16:creationId xmlns:a16="http://schemas.microsoft.com/office/drawing/2014/main" id="{1A3A7327-F757-246B-FF7D-069AFC0F9CFD}"/>
              </a:ext>
            </a:extLst>
          </p:cNvPr>
          <p:cNvSpPr>
            <a:spLocks noGrp="1"/>
          </p:cNvSpPr>
          <p:nvPr>
            <p:ph type="body" sz="quarter" idx="75" hasCustomPrompt="1"/>
          </p:nvPr>
        </p:nvSpPr>
        <p:spPr>
          <a:xfrm>
            <a:off x="21990686"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58" name="Image Text Placeholder 9">
            <a:extLst>
              <a:ext uri="{FF2B5EF4-FFF2-40B4-BE49-F238E27FC236}">
                <a16:creationId xmlns:a16="http://schemas.microsoft.com/office/drawing/2014/main" id="{935A0663-9E19-FC04-89A2-4495D29EB098}"/>
              </a:ext>
            </a:extLst>
          </p:cNvPr>
          <p:cNvSpPr>
            <a:spLocks noGrp="1"/>
          </p:cNvSpPr>
          <p:nvPr>
            <p:ph type="body" sz="quarter" idx="76" hasCustomPrompt="1"/>
          </p:nvPr>
        </p:nvSpPr>
        <p:spPr>
          <a:xfrm>
            <a:off x="21990686"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59" name="Picture Placeholder 9">
            <a:extLst>
              <a:ext uri="{FF2B5EF4-FFF2-40B4-BE49-F238E27FC236}">
                <a16:creationId xmlns:a16="http://schemas.microsoft.com/office/drawing/2014/main" id="{A06CCEF2-4324-2A20-E13B-C9A34D87D13F}"/>
              </a:ext>
            </a:extLst>
          </p:cNvPr>
          <p:cNvSpPr>
            <a:spLocks noGrp="1" noChangeAspect="1"/>
          </p:cNvSpPr>
          <p:nvPr>
            <p:ph type="pic" sz="quarter" idx="77" hasCustomPrompt="1"/>
          </p:nvPr>
        </p:nvSpPr>
        <p:spPr>
          <a:xfrm>
            <a:off x="21990686"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
        <p:nvSpPr>
          <p:cNvPr id="63" name="Text Placeholder 10">
            <a:extLst>
              <a:ext uri="{FF2B5EF4-FFF2-40B4-BE49-F238E27FC236}">
                <a16:creationId xmlns:a16="http://schemas.microsoft.com/office/drawing/2014/main" id="{2424D5C6-2CED-3EF1-7441-B207A8A8C9B8}"/>
              </a:ext>
            </a:extLst>
          </p:cNvPr>
          <p:cNvSpPr>
            <a:spLocks noGrp="1"/>
          </p:cNvSpPr>
          <p:nvPr>
            <p:ph type="body" sz="quarter" idx="78" hasCustomPrompt="1"/>
          </p:nvPr>
        </p:nvSpPr>
        <p:spPr>
          <a:xfrm>
            <a:off x="28710892" y="16402883"/>
            <a:ext cx="6035675" cy="867930"/>
          </a:xfrm>
        </p:spPr>
        <p:txBody>
          <a:bodyPr/>
          <a:lstStyle>
            <a:lvl1pPr algn="ctr">
              <a:spcBef>
                <a:spcPts val="0"/>
              </a:spcBef>
              <a:spcAft>
                <a:spcPts val="800"/>
              </a:spcAft>
              <a:defRPr sz="2800"/>
            </a:lvl1pPr>
            <a:lvl2pPr algn="ctr">
              <a:defRPr sz="2800"/>
            </a:lvl2pPr>
            <a:lvl3pPr algn="ctr">
              <a:defRPr sz="2800"/>
            </a:lvl3pPr>
            <a:lvl4pPr algn="ctr">
              <a:defRPr sz="2800"/>
            </a:lvl4pPr>
            <a:lvl5pPr algn="ctr">
              <a:defRPr sz="2800"/>
            </a:lvl5pPr>
          </a:lstStyle>
          <a:p>
            <a:pPr lvl="0"/>
            <a:r>
              <a:rPr lang="en-US" dirty="0"/>
              <a:t>Click to edit description</a:t>
            </a:r>
          </a:p>
        </p:txBody>
      </p:sp>
      <p:sp>
        <p:nvSpPr>
          <p:cNvPr id="64" name="Image Text Placeholder 10">
            <a:extLst>
              <a:ext uri="{FF2B5EF4-FFF2-40B4-BE49-F238E27FC236}">
                <a16:creationId xmlns:a16="http://schemas.microsoft.com/office/drawing/2014/main" id="{FA33B5F6-D7B6-0FFB-553F-29C7E13AAB58}"/>
              </a:ext>
            </a:extLst>
          </p:cNvPr>
          <p:cNvSpPr>
            <a:spLocks noGrp="1"/>
          </p:cNvSpPr>
          <p:nvPr>
            <p:ph type="body" sz="quarter" idx="79" hasCustomPrompt="1"/>
          </p:nvPr>
        </p:nvSpPr>
        <p:spPr>
          <a:xfrm>
            <a:off x="28710892" y="15779883"/>
            <a:ext cx="6035675" cy="585216"/>
          </a:xfrm>
        </p:spPr>
        <p:txBody>
          <a:bodyPr/>
          <a:lstStyle>
            <a:lvl1pPr algn="ctr">
              <a:spcBef>
                <a:spcPts val="0"/>
              </a:spcBef>
              <a:defRPr sz="4000">
                <a:latin typeface="+mj-lt"/>
              </a:defRPr>
            </a:lvl1pPr>
          </a:lstStyle>
          <a:p>
            <a:pPr lvl="0"/>
            <a:r>
              <a:rPr lang="en-US" dirty="0"/>
              <a:t>Click to Edit Image Title</a:t>
            </a:r>
          </a:p>
        </p:txBody>
      </p:sp>
      <p:sp>
        <p:nvSpPr>
          <p:cNvPr id="65" name="Picture Placeholder 10">
            <a:extLst>
              <a:ext uri="{FF2B5EF4-FFF2-40B4-BE49-F238E27FC236}">
                <a16:creationId xmlns:a16="http://schemas.microsoft.com/office/drawing/2014/main" id="{B995E01A-8631-5C16-CF95-C2D61216BF22}"/>
              </a:ext>
            </a:extLst>
          </p:cNvPr>
          <p:cNvSpPr>
            <a:spLocks noGrp="1" noChangeAspect="1"/>
          </p:cNvSpPr>
          <p:nvPr>
            <p:ph type="pic" sz="quarter" idx="80" hasCustomPrompt="1"/>
          </p:nvPr>
        </p:nvSpPr>
        <p:spPr>
          <a:xfrm>
            <a:off x="28710892" y="12149079"/>
            <a:ext cx="6035040" cy="3394710"/>
          </a:xfrm>
          <a:solidFill>
            <a:schemeClr val="bg2"/>
          </a:solidFill>
          <a:ln>
            <a:solidFill>
              <a:schemeClr val="accent6"/>
            </a:solidFill>
          </a:ln>
        </p:spPr>
        <p:txBody>
          <a:bodyPr vert="horz" lIns="0" tIns="0" rIns="0" bIns="2103120" rtlCol="0" anchor="ctr">
            <a:normAutofit/>
          </a:bodyPr>
          <a:lstStyle>
            <a:lvl1pPr algn="ctr">
              <a:defRPr lang="en-US" sz="2800">
                <a:solidFill>
                  <a:schemeClr val="tx1">
                    <a:lumMod val="50000"/>
                    <a:lumOff val="50000"/>
                  </a:schemeClr>
                </a:solidFill>
              </a:defRPr>
            </a:lvl1pPr>
          </a:lstStyle>
          <a:p>
            <a:pPr lvl="0" algn="ctr">
              <a:buNone/>
            </a:pPr>
            <a:r>
              <a:rPr lang="en-US" dirty="0"/>
              <a:t>Click icon to place image</a:t>
            </a:r>
          </a:p>
        </p:txBody>
      </p:sp>
    </p:spTree>
    <p:extLst>
      <p:ext uri="{BB962C8B-B14F-4D97-AF65-F5344CB8AC3E}">
        <p14:creationId xmlns:p14="http://schemas.microsoft.com/office/powerpoint/2010/main" val="393957095"/>
      </p:ext>
    </p:extLst>
  </p:cSld>
  <p:clrMapOvr>
    <a:masterClrMapping/>
  </p:clrMapOvr>
  <p:extLst>
    <p:ext uri="{DCECCB84-F9BA-43D5-87BE-67443E8EF086}">
      <p15:sldGuideLst xmlns:p15="http://schemas.microsoft.com/office/powerpoint/2012/main"/>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mage Grid">
    <p:spTree>
      <p:nvGrpSpPr>
        <p:cNvPr id="1" name=""/>
        <p:cNvGrpSpPr/>
        <p:nvPr/>
      </p:nvGrpSpPr>
      <p:grpSpPr>
        <a:xfrm>
          <a:off x="0" y="0"/>
          <a:ext cx="0" cy="0"/>
          <a:chOff x="0" y="0"/>
          <a:chExt cx="0" cy="0"/>
        </a:xfrm>
      </p:grpSpPr>
      <p:sp>
        <p:nvSpPr>
          <p:cNvPr id="13" name="Footer Placeholder">
            <a:extLst>
              <a:ext uri="{FF2B5EF4-FFF2-40B4-BE49-F238E27FC236}">
                <a16:creationId xmlns:a16="http://schemas.microsoft.com/office/drawing/2014/main" id="{10603E2E-FCBB-9670-399F-4E1AA8DE52A1}"/>
              </a:ext>
            </a:extLst>
          </p:cNvPr>
          <p:cNvSpPr>
            <a:spLocks noGrp="1"/>
          </p:cNvSpPr>
          <p:nvPr>
            <p:ph type="ftr" sz="quarter" idx="23"/>
          </p:nvPr>
        </p:nvSpPr>
        <p:spPr/>
        <p:txBody>
          <a:bodyPr/>
          <a:lstStyle/>
          <a:p>
            <a:pPr>
              <a:lnSpc>
                <a:spcPct val="90000"/>
              </a:lnSpc>
            </a:pPr>
            <a:r>
              <a:rPr lang="en-US"/>
              <a:t>Source information in NVIDIA Sans, medium gray; 20 pt</a:t>
            </a:r>
            <a:endParaRPr lang="en-US" dirty="0"/>
          </a:p>
        </p:txBody>
      </p:sp>
      <p:sp>
        <p:nvSpPr>
          <p:cNvPr id="17" name="Slide Number Placeholder">
            <a:extLst>
              <a:ext uri="{FF2B5EF4-FFF2-40B4-BE49-F238E27FC236}">
                <a16:creationId xmlns:a16="http://schemas.microsoft.com/office/drawing/2014/main" id="{2845A55B-51B5-DA67-0B9D-B48DB2A149A1}"/>
              </a:ext>
            </a:extLst>
          </p:cNvPr>
          <p:cNvSpPr>
            <a:spLocks noGrp="1"/>
          </p:cNvSpPr>
          <p:nvPr>
            <p:ph type="sldNum" sz="quarter" idx="24"/>
          </p:nvPr>
        </p:nvSpPr>
        <p:spPr/>
        <p:txBody>
          <a:bodyPr/>
          <a:lstStyle/>
          <a:p>
            <a:pPr>
              <a:lnSpc>
                <a:spcPct val="90000"/>
              </a:lnSpc>
            </a:pPr>
            <a:fld id="{5D6728F8-03AC-4059-94FB-90617981AE50}" type="slidenum">
              <a:rPr lang="en-US" smtClean="0"/>
              <a:pPr/>
              <a:t>‹#›</a:t>
            </a:fld>
            <a:endParaRPr lang="en-US"/>
          </a:p>
        </p:txBody>
      </p:sp>
      <p:sp>
        <p:nvSpPr>
          <p:cNvPr id="16" name="Picture Placeholder 9">
            <a:extLst>
              <a:ext uri="{FF2B5EF4-FFF2-40B4-BE49-F238E27FC236}">
                <a16:creationId xmlns:a16="http://schemas.microsoft.com/office/drawing/2014/main" id="{BC038FD9-0AFF-00C8-0AA3-223BDB8DBBF0}"/>
              </a:ext>
            </a:extLst>
          </p:cNvPr>
          <p:cNvSpPr>
            <a:spLocks noGrp="1"/>
          </p:cNvSpPr>
          <p:nvPr>
            <p:ph type="pic" sz="quarter" idx="21" hasCustomPrompt="1"/>
          </p:nvPr>
        </p:nvSpPr>
        <p:spPr>
          <a:xfrm>
            <a:off x="18630900" y="12024360"/>
            <a:ext cx="17030700" cy="6720839"/>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5" name="Picture Placeholder 8">
            <a:extLst>
              <a:ext uri="{FF2B5EF4-FFF2-40B4-BE49-F238E27FC236}">
                <a16:creationId xmlns:a16="http://schemas.microsoft.com/office/drawing/2014/main" id="{FAAF3530-C3FF-2C2D-7DBE-DE264BE2B69D}"/>
              </a:ext>
            </a:extLst>
          </p:cNvPr>
          <p:cNvSpPr>
            <a:spLocks noGrp="1"/>
          </p:cNvSpPr>
          <p:nvPr>
            <p:ph type="pic" sz="quarter" idx="20" hasCustomPrompt="1"/>
          </p:nvPr>
        </p:nvSpPr>
        <p:spPr>
          <a:xfrm>
            <a:off x="11494844" y="13258800"/>
            <a:ext cx="645178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4" name="Picture Placeholder 7">
            <a:extLst>
              <a:ext uri="{FF2B5EF4-FFF2-40B4-BE49-F238E27FC236}">
                <a16:creationId xmlns:a16="http://schemas.microsoft.com/office/drawing/2014/main" id="{558BCBFD-EB59-D408-424E-9AC9033C56F9}"/>
              </a:ext>
            </a:extLst>
          </p:cNvPr>
          <p:cNvSpPr>
            <a:spLocks noGrp="1"/>
          </p:cNvSpPr>
          <p:nvPr>
            <p:ph type="pic" sz="quarter" idx="19" hasCustomPrompt="1"/>
          </p:nvPr>
        </p:nvSpPr>
        <p:spPr>
          <a:xfrm>
            <a:off x="914400" y="13258800"/>
            <a:ext cx="9896168"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2" name="Picture Placeholder 6">
            <a:extLst>
              <a:ext uri="{FF2B5EF4-FFF2-40B4-BE49-F238E27FC236}">
                <a16:creationId xmlns:a16="http://schemas.microsoft.com/office/drawing/2014/main" id="{0A174EF8-9FF4-51FA-A66C-17A876EABB33}"/>
              </a:ext>
            </a:extLst>
          </p:cNvPr>
          <p:cNvSpPr>
            <a:spLocks noGrp="1"/>
          </p:cNvSpPr>
          <p:nvPr>
            <p:ph type="pic" sz="quarter" idx="18" hasCustomPrompt="1"/>
          </p:nvPr>
        </p:nvSpPr>
        <p:spPr>
          <a:xfrm>
            <a:off x="6819900" y="7086600"/>
            <a:ext cx="11125200"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1" name="Picture Placeholder 5">
            <a:extLst>
              <a:ext uri="{FF2B5EF4-FFF2-40B4-BE49-F238E27FC236}">
                <a16:creationId xmlns:a16="http://schemas.microsoft.com/office/drawing/2014/main" id="{FD4D98DE-6896-9804-F8F6-36DBA25F64B2}"/>
              </a:ext>
            </a:extLst>
          </p:cNvPr>
          <p:cNvSpPr>
            <a:spLocks noGrp="1"/>
          </p:cNvSpPr>
          <p:nvPr>
            <p:ph type="pic" sz="quarter" idx="14" hasCustomPrompt="1"/>
          </p:nvPr>
        </p:nvSpPr>
        <p:spPr>
          <a:xfrm>
            <a:off x="914400" y="7086600"/>
            <a:ext cx="522122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10" name="Picture Placeholder 4">
            <a:extLst>
              <a:ext uri="{FF2B5EF4-FFF2-40B4-BE49-F238E27FC236}">
                <a16:creationId xmlns:a16="http://schemas.microsoft.com/office/drawing/2014/main" id="{7E1A4A1E-E7C9-F04E-34E1-36E29C527390}"/>
              </a:ext>
            </a:extLst>
          </p:cNvPr>
          <p:cNvSpPr>
            <a:spLocks noGrp="1"/>
          </p:cNvSpPr>
          <p:nvPr>
            <p:ph type="pic" sz="quarter" idx="17" hasCustomPrompt="1"/>
          </p:nvPr>
        </p:nvSpPr>
        <p:spPr>
          <a:xfrm>
            <a:off x="30403800" y="914400"/>
            <a:ext cx="5257800" cy="1042416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9" name="Picture Placeholder 3">
            <a:extLst>
              <a:ext uri="{FF2B5EF4-FFF2-40B4-BE49-F238E27FC236}">
                <a16:creationId xmlns:a16="http://schemas.microsoft.com/office/drawing/2014/main" id="{AF5AEEAC-F2C1-5A18-FE0A-094F2B9E4F80}"/>
              </a:ext>
            </a:extLst>
          </p:cNvPr>
          <p:cNvSpPr>
            <a:spLocks noGrp="1"/>
          </p:cNvSpPr>
          <p:nvPr>
            <p:ph type="pic" sz="quarter" idx="16" hasCustomPrompt="1"/>
          </p:nvPr>
        </p:nvSpPr>
        <p:spPr>
          <a:xfrm>
            <a:off x="16373168" y="914400"/>
            <a:ext cx="13382932"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8" name="Picture Placeholder 2">
            <a:extLst>
              <a:ext uri="{FF2B5EF4-FFF2-40B4-BE49-F238E27FC236}">
                <a16:creationId xmlns:a16="http://schemas.microsoft.com/office/drawing/2014/main" id="{DD0FC23F-D808-9291-07E6-D31D82FEAE17}"/>
              </a:ext>
            </a:extLst>
          </p:cNvPr>
          <p:cNvSpPr>
            <a:spLocks noGrp="1"/>
          </p:cNvSpPr>
          <p:nvPr>
            <p:ph type="pic" sz="quarter" idx="15" hasCustomPrompt="1"/>
          </p:nvPr>
        </p:nvSpPr>
        <p:spPr>
          <a:xfrm>
            <a:off x="9888794" y="914400"/>
            <a:ext cx="579857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7" name="Picture Placeholder 1">
            <a:extLst>
              <a:ext uri="{FF2B5EF4-FFF2-40B4-BE49-F238E27FC236}">
                <a16:creationId xmlns:a16="http://schemas.microsoft.com/office/drawing/2014/main" id="{9D9B9429-F845-30E8-36A1-DB2BB86ADC86}"/>
              </a:ext>
            </a:extLst>
          </p:cNvPr>
          <p:cNvSpPr>
            <a:spLocks noGrp="1"/>
          </p:cNvSpPr>
          <p:nvPr>
            <p:ph type="pic" sz="quarter" idx="13" hasCustomPrompt="1"/>
          </p:nvPr>
        </p:nvSpPr>
        <p:spPr>
          <a:xfrm>
            <a:off x="914400" y="914400"/>
            <a:ext cx="8288594" cy="5486400"/>
          </a:xfrm>
          <a:solidFill>
            <a:schemeClr val="bg2"/>
          </a:solidFill>
          <a:ln>
            <a:solidFill>
              <a:schemeClr val="accent6"/>
            </a:solidFill>
          </a:ln>
        </p:spPr>
        <p:txBody>
          <a:bodyPr vert="horz" lIns="0" tIns="0" rIns="0" bIns="2743200" rtlCol="0" anchor="ctr">
            <a:norm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icon to place image</a:t>
            </a:r>
          </a:p>
        </p:txBody>
      </p:sp>
      <p:sp>
        <p:nvSpPr>
          <p:cNvPr id="2" name="Title">
            <a:extLst>
              <a:ext uri="{FF2B5EF4-FFF2-40B4-BE49-F238E27FC236}">
                <a16:creationId xmlns:a16="http://schemas.microsoft.com/office/drawing/2014/main" id="{A1484569-FB15-3B4E-EF2D-43C609DE257D}"/>
              </a:ext>
            </a:extLst>
          </p:cNvPr>
          <p:cNvSpPr>
            <a:spLocks noGrp="1"/>
          </p:cNvSpPr>
          <p:nvPr>
            <p:ph type="title" hasCustomPrompt="1"/>
          </p:nvPr>
        </p:nvSpPr>
        <p:spPr>
          <a:xfrm>
            <a:off x="18629375" y="7086600"/>
            <a:ext cx="11125199" cy="4251960"/>
          </a:xfrm>
        </p:spPr>
        <p:txBody>
          <a:bodyPr anchor="ctr"/>
          <a:lstStyle>
            <a:lvl1pPr algn="ctr">
              <a:defRPr sz="5400">
                <a:latin typeface="+mj-lt"/>
              </a:defRPr>
            </a:lvl1pPr>
          </a:lstStyle>
          <a:p>
            <a:r>
              <a:rPr lang="en-US" dirty="0"/>
              <a:t>Click to Edit Title Here</a:t>
            </a:r>
          </a:p>
        </p:txBody>
      </p:sp>
    </p:spTree>
    <p:extLst>
      <p:ext uri="{BB962C8B-B14F-4D97-AF65-F5344CB8AC3E}">
        <p14:creationId xmlns:p14="http://schemas.microsoft.com/office/powerpoint/2010/main" val="4256676687"/>
      </p:ext>
    </p:extLst>
  </p:cSld>
  <p:clrMapOvr>
    <a:masterClrMapping/>
  </p:clrMapOvr>
  <p:extLst>
    <p:ext uri="{DCECCB84-F9BA-43D5-87BE-67443E8EF086}">
      <p15:sldGuideLst xmlns:p15="http://schemas.microsoft.com/office/powerpoint/2012/main"/>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emo - Image">
    <p:spTree>
      <p:nvGrpSpPr>
        <p:cNvPr id="1" name=""/>
        <p:cNvGrpSpPr/>
        <p:nvPr/>
      </p:nvGrpSpPr>
      <p:grpSpPr>
        <a:xfrm>
          <a:off x="0" y="0"/>
          <a:ext cx="0" cy="0"/>
          <a:chOff x="0" y="0"/>
          <a:chExt cx="0" cy="0"/>
        </a:xfrm>
      </p:grpSpPr>
      <p:sp>
        <p:nvSpPr>
          <p:cNvPr id="7" name="Picture Placeholder">
            <a:extLst>
              <a:ext uri="{FF2B5EF4-FFF2-40B4-BE49-F238E27FC236}">
                <a16:creationId xmlns:a16="http://schemas.microsoft.com/office/drawing/2014/main" id="{4E6B04E9-AFDA-A682-186B-6C9E617F31C3}"/>
              </a:ext>
            </a:extLst>
          </p:cNvPr>
          <p:cNvSpPr>
            <a:spLocks noGrp="1"/>
          </p:cNvSpPr>
          <p:nvPr>
            <p:ph type="pic" sz="quarter" idx="10" hasCustomPrompt="1"/>
          </p:nvPr>
        </p:nvSpPr>
        <p:spPr>
          <a:xfrm>
            <a:off x="1" y="0"/>
            <a:ext cx="36576000" cy="20574000"/>
          </a:xfrm>
          <a:solidFill>
            <a:schemeClr val="bg2"/>
          </a:solidFill>
        </p:spPr>
        <p:txBody>
          <a:bodyPr tIns="0" bIns="2103120" anchor="ctr"/>
          <a:lstStyle>
            <a:lvl1pPr algn="ctr">
              <a:defRPr sz="2800">
                <a:solidFill>
                  <a:schemeClr val="tx1">
                    <a:lumMod val="50000"/>
                    <a:lumOff val="50000"/>
                  </a:schemeClr>
                </a:solidFill>
                <a:latin typeface="+mn-lt"/>
              </a:defRPr>
            </a:lvl1pPr>
          </a:lstStyle>
          <a:p>
            <a:r>
              <a:rPr lang="en-US" dirty="0"/>
              <a:t>Click icon to place image</a:t>
            </a:r>
          </a:p>
        </p:txBody>
      </p:sp>
    </p:spTree>
    <p:extLst>
      <p:ext uri="{BB962C8B-B14F-4D97-AF65-F5344CB8AC3E}">
        <p14:creationId xmlns:p14="http://schemas.microsoft.com/office/powerpoint/2010/main" val="412032758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emo - Video">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6C2B65C0-8411-4E1E-BB2A-A35D3E68956B}"/>
              </a:ext>
            </a:extLst>
          </p:cNvPr>
          <p:cNvSpPr>
            <a:spLocks noGrp="1"/>
          </p:cNvSpPr>
          <p:nvPr>
            <p:ph type="media" sz="quarter" idx="10" hasCustomPrompt="1"/>
          </p:nvPr>
        </p:nvSpPr>
        <p:spPr>
          <a:xfrm>
            <a:off x="0" y="0"/>
            <a:ext cx="36576000" cy="20574000"/>
          </a:xfrm>
          <a:solidFill>
            <a:schemeClr val="bg2"/>
          </a:solidFill>
        </p:spPr>
        <p:txBody>
          <a:bodyPr vert="horz" lIns="0" tIns="0" rIns="0" bIns="2103120" rtlCol="0" anchor="ctr">
            <a:noAutofit/>
          </a:bodyPr>
          <a:lstStyle>
            <a:lvl1pPr marL="0" marR="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lang="en-US" sz="2800">
                <a:solidFill>
                  <a:schemeClr val="tx1">
                    <a:lumMod val="50000"/>
                    <a:lumOff val="50000"/>
                  </a:schemeClr>
                </a:solidFill>
              </a:defRPr>
            </a:lvl1pPr>
          </a:lstStyle>
          <a:p>
            <a:pPr marL="0" marR="0" lvl="0" indent="0" algn="ctr"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Char char="​"/>
              <a:tabLst/>
              <a:defRPr/>
            </a:pPr>
            <a:r>
              <a:rPr lang="en-US" dirty="0"/>
              <a:t>Click icon to place video</a:t>
            </a:r>
          </a:p>
        </p:txBody>
      </p:sp>
    </p:spTree>
    <p:extLst>
      <p:ext uri="{BB962C8B-B14F-4D97-AF65-F5344CB8AC3E}">
        <p14:creationId xmlns:p14="http://schemas.microsoft.com/office/powerpoint/2010/main" val="2225502035"/>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emo - Video, Title, Subtitle">
    <p:spTree>
      <p:nvGrpSpPr>
        <p:cNvPr id="1" name=""/>
        <p:cNvGrpSpPr/>
        <p:nvPr/>
      </p:nvGrpSpPr>
      <p:grpSpPr>
        <a:xfrm>
          <a:off x="0" y="0"/>
          <a:ext cx="0" cy="0"/>
          <a:chOff x="0" y="0"/>
          <a:chExt cx="0" cy="0"/>
        </a:xfrm>
      </p:grpSpPr>
      <p:sp>
        <p:nvSpPr>
          <p:cNvPr id="3" name="Media Placeholder">
            <a:extLst>
              <a:ext uri="{FF2B5EF4-FFF2-40B4-BE49-F238E27FC236}">
                <a16:creationId xmlns:a16="http://schemas.microsoft.com/office/drawing/2014/main" id="{54E04377-1EF8-BEB3-073F-B3A8DF9467DF}"/>
              </a:ext>
            </a:extLst>
          </p:cNvPr>
          <p:cNvSpPr>
            <a:spLocks noGrp="1" noChangeAspect="1"/>
          </p:cNvSpPr>
          <p:nvPr>
            <p:ph type="media" sz="quarter" idx="13" hasCustomPrompt="1"/>
          </p:nvPr>
        </p:nvSpPr>
        <p:spPr>
          <a:xfrm>
            <a:off x="5486400" y="3104193"/>
            <a:ext cx="25603200" cy="14401800"/>
          </a:xfrm>
          <a:solidFill>
            <a:schemeClr val="bg2"/>
          </a:solidFill>
          <a:ln>
            <a:solidFill>
              <a:schemeClr val="accent6"/>
            </a:solidFill>
          </a:ln>
        </p:spPr>
        <p:txBody>
          <a:bodyPr tIns="0" bIns="2103120" anchor="ctr"/>
          <a:lstStyle>
            <a:lvl1pPr algn="ctr">
              <a:buNone/>
              <a:defRPr sz="2800">
                <a:solidFill>
                  <a:schemeClr val="tx1">
                    <a:lumMod val="50000"/>
                    <a:lumOff val="50000"/>
                  </a:schemeClr>
                </a:solidFill>
                <a:latin typeface="+mn-lt"/>
              </a:defRPr>
            </a:lvl1pPr>
          </a:lstStyle>
          <a:p>
            <a:r>
              <a:rPr lang="en-US" dirty="0"/>
              <a:t>Click icon to place video</a:t>
            </a:r>
          </a:p>
        </p:txBody>
      </p:sp>
      <p:sp>
        <p:nvSpPr>
          <p:cNvPr id="4" name="Subtitle">
            <a:extLst>
              <a:ext uri="{FF2B5EF4-FFF2-40B4-BE49-F238E27FC236}">
                <a16:creationId xmlns:a16="http://schemas.microsoft.com/office/drawing/2014/main" id="{04389443-080A-7AA4-3085-E70BDC8F8F6A}"/>
              </a:ext>
            </a:extLst>
          </p:cNvPr>
          <p:cNvSpPr>
            <a:spLocks noGrp="1"/>
          </p:cNvSpPr>
          <p:nvPr>
            <p:ph type="body" sz="quarter" idx="11" hasCustomPrompt="1"/>
          </p:nvPr>
        </p:nvSpPr>
        <p:spPr>
          <a:xfrm>
            <a:off x="1828800" y="2454442"/>
            <a:ext cx="32918400" cy="625475"/>
          </a:xfrm>
        </p:spPr>
        <p:txBody>
          <a:bodyPr anchor="t"/>
          <a:lstStyle>
            <a:lvl1pPr algn="ctr">
              <a:spcBef>
                <a:spcPts val="0"/>
              </a:spcBef>
              <a:spcAft>
                <a:spcPts val="0"/>
              </a:spcAft>
              <a:defRPr sz="3200">
                <a:solidFill>
                  <a:schemeClr val="accent6"/>
                </a:solidFill>
                <a:latin typeface="+mn-lt"/>
              </a:defRPr>
            </a:lvl1pPr>
          </a:lstStyle>
          <a:p>
            <a:pPr lvl="0"/>
            <a:r>
              <a:rPr lang="en-US" dirty="0"/>
              <a:t>Optional subtitle description</a:t>
            </a:r>
          </a:p>
        </p:txBody>
      </p:sp>
      <p:sp>
        <p:nvSpPr>
          <p:cNvPr id="5" name="Title">
            <a:extLst>
              <a:ext uri="{FF2B5EF4-FFF2-40B4-BE49-F238E27FC236}">
                <a16:creationId xmlns:a16="http://schemas.microsoft.com/office/drawing/2014/main" id="{570F4D80-EF7D-3626-2F98-566AC0DAC0A2}"/>
              </a:ext>
            </a:extLst>
          </p:cNvPr>
          <p:cNvSpPr>
            <a:spLocks noGrp="1"/>
          </p:cNvSpPr>
          <p:nvPr>
            <p:ph type="title" hasCustomPrompt="1"/>
          </p:nvPr>
        </p:nvSpPr>
        <p:spPr>
          <a:xfrm>
            <a:off x="1828800" y="1776548"/>
            <a:ext cx="32918400" cy="625642"/>
          </a:xfrm>
        </p:spPr>
        <p:txBody>
          <a:bodyPr/>
          <a:lstStyle>
            <a:lvl1pPr algn="ctr">
              <a:spcAft>
                <a:spcPts val="0"/>
              </a:spcAft>
              <a:defRPr sz="4400">
                <a:latin typeface="+mj-lt"/>
              </a:defRPr>
            </a:lvl1pPr>
          </a:lstStyle>
          <a:p>
            <a:r>
              <a:rPr lang="en-US" dirty="0"/>
              <a:t>Demo Title Goes Here</a:t>
            </a:r>
          </a:p>
        </p:txBody>
      </p:sp>
      <p:sp>
        <p:nvSpPr>
          <p:cNvPr id="6" name="Footer Placeholder">
            <a:extLst>
              <a:ext uri="{FF2B5EF4-FFF2-40B4-BE49-F238E27FC236}">
                <a16:creationId xmlns:a16="http://schemas.microsoft.com/office/drawing/2014/main" id="{D60EBBCC-FBDE-8093-F4FD-0B4F364BCAB0}"/>
              </a:ext>
            </a:extLst>
          </p:cNvPr>
          <p:cNvSpPr>
            <a:spLocks noGrp="1"/>
          </p:cNvSpPr>
          <p:nvPr>
            <p:ph type="ftr" sz="quarter" idx="25"/>
          </p:nvPr>
        </p:nvSpPr>
        <p:spPr>
          <a:xfrm>
            <a:off x="7543800" y="19431000"/>
            <a:ext cx="21488400" cy="369332"/>
          </a:xfrm>
        </p:spPr>
        <p:txBody>
          <a:bodyPr/>
          <a:lstStyle/>
          <a:p>
            <a:pPr>
              <a:lnSpc>
                <a:spcPct val="90000"/>
              </a:lnSpc>
            </a:pPr>
            <a:r>
              <a:rPr lang="en-US"/>
              <a:t>Source information in NVIDIA Sans, medium gray; 20 pt</a:t>
            </a:r>
            <a:endParaRPr lang="en-US" dirty="0"/>
          </a:p>
        </p:txBody>
      </p:sp>
      <p:sp>
        <p:nvSpPr>
          <p:cNvPr id="7" name="Slide Number Placeholder">
            <a:extLst>
              <a:ext uri="{FF2B5EF4-FFF2-40B4-BE49-F238E27FC236}">
                <a16:creationId xmlns:a16="http://schemas.microsoft.com/office/drawing/2014/main" id="{EB50A31F-A2CF-8090-6E63-67B213D66BBA}"/>
              </a:ext>
            </a:extLst>
          </p:cNvPr>
          <p:cNvSpPr>
            <a:spLocks noGrp="1"/>
          </p:cNvSpPr>
          <p:nvPr>
            <p:ph type="sldNum" sz="quarter" idx="26"/>
          </p:nvPr>
        </p:nvSpPr>
        <p:spPr>
          <a:xfrm>
            <a:off x="914400" y="19431000"/>
            <a:ext cx="640080" cy="369332"/>
          </a:xfrm>
        </p:spPr>
        <p:txBody>
          <a:bodyPr/>
          <a:lstStyle/>
          <a:p>
            <a:pPr>
              <a:lnSpc>
                <a:spcPct val="90000"/>
              </a:lnSpc>
            </a:pPr>
            <a:fld id="{5D6728F8-03AC-4059-94FB-90617981AE50}" type="slidenum">
              <a:rPr lang="en-US" smtClean="0"/>
              <a:pPr/>
              <a:t>‹#›</a:t>
            </a:fld>
            <a:endParaRPr lang="en-US"/>
          </a:p>
        </p:txBody>
      </p:sp>
    </p:spTree>
    <p:extLst>
      <p:ext uri="{BB962C8B-B14F-4D97-AF65-F5344CB8AC3E}">
        <p14:creationId xmlns:p14="http://schemas.microsoft.com/office/powerpoint/2010/main" val="2807623475"/>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Progression">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64B3AED4-78D5-2F14-5B4B-21B821017D12}"/>
              </a:ext>
            </a:extLst>
          </p:cNvPr>
          <p:cNvSpPr>
            <a:spLocks noGrp="1"/>
          </p:cNvSpPr>
          <p:nvPr>
            <p:ph type="ftr" sz="quarter" idx="25"/>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71B3CD7F-5DB5-8DB6-34DE-A76A3CB04062}"/>
              </a:ext>
            </a:extLst>
          </p:cNvPr>
          <p:cNvSpPr>
            <a:spLocks noGrp="1"/>
          </p:cNvSpPr>
          <p:nvPr>
            <p:ph type="sldNum" sz="quarter" idx="26"/>
          </p:nvPr>
        </p:nvSpPr>
        <p:spPr/>
        <p:txBody>
          <a:bodyPr/>
          <a:lstStyle/>
          <a:p>
            <a:pPr>
              <a:lnSpc>
                <a:spcPct val="90000"/>
              </a:lnSpc>
            </a:pPr>
            <a:fld id="{5D6728F8-03AC-4059-94FB-90617981AE50}" type="slidenum">
              <a:rPr lang="en-US" smtClean="0"/>
              <a:pPr/>
              <a:t>‹#›</a:t>
            </a:fld>
            <a:endParaRPr lang="en-US"/>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70319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70319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86309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863090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1022985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10229850" y="8714232"/>
            <a:ext cx="771525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7715250" cy="7839075"/>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7715250" cy="1200329"/>
          </a:xfrm>
        </p:spPr>
        <p:txBody>
          <a:bodyPr lIns="320040" anchor="b">
            <a:noAutofit/>
          </a:bodyPr>
          <a:lstStyle>
            <a:lvl1pPr marL="0" marR="0" indent="0" algn="l" defTabSz="2743200" rtl="0" eaLnBrk="1" fontAlgn="auto" latinLnBrk="0" hangingPunct="1">
              <a:lnSpc>
                <a:spcPct val="10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4103730877"/>
      </p:ext>
    </p:extLst>
  </p:cSld>
  <p:clrMapOvr>
    <a:masterClrMapping/>
  </p:clrMapOvr>
  <p:extLst>
    <p:ext uri="{DCECCB84-F9BA-43D5-87BE-67443E8EF086}">
      <p15:sldGuideLst xmlns:p15="http://schemas.microsoft.com/office/powerpoint/2012/main"/>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Timeline">
    <p:spTree>
      <p:nvGrpSpPr>
        <p:cNvPr id="1" name=""/>
        <p:cNvGrpSpPr/>
        <p:nvPr/>
      </p:nvGrpSpPr>
      <p:grpSpPr>
        <a:xfrm>
          <a:off x="0" y="0"/>
          <a:ext cx="0" cy="0"/>
          <a:chOff x="0" y="0"/>
          <a:chExt cx="0" cy="0"/>
        </a:xfrm>
      </p:grpSpPr>
      <p:sp>
        <p:nvSpPr>
          <p:cNvPr id="8" name="Footer Placeholder">
            <a:extLst>
              <a:ext uri="{FF2B5EF4-FFF2-40B4-BE49-F238E27FC236}">
                <a16:creationId xmlns:a16="http://schemas.microsoft.com/office/drawing/2014/main" id="{A6CB6789-A0C4-095B-4F78-A1935A3E79AF}"/>
              </a:ext>
            </a:extLst>
          </p:cNvPr>
          <p:cNvSpPr>
            <a:spLocks noGrp="1"/>
          </p:cNvSpPr>
          <p:nvPr>
            <p:ph type="ftr" sz="quarter" idx="33"/>
          </p:nvPr>
        </p:nvSpPr>
        <p:spPr/>
        <p:txBody>
          <a:bodyPr/>
          <a:lstStyle/>
          <a:p>
            <a:pPr>
              <a:lnSpc>
                <a:spcPct val="90000"/>
              </a:lnSpc>
            </a:pPr>
            <a:r>
              <a:rPr lang="en-US"/>
              <a:t>Source information in NVIDIA Sans, medium gray; 20 pt</a:t>
            </a:r>
            <a:endParaRPr lang="en-US" dirty="0"/>
          </a:p>
        </p:txBody>
      </p:sp>
      <p:sp>
        <p:nvSpPr>
          <p:cNvPr id="9" name="Slide Number Placeholder">
            <a:extLst>
              <a:ext uri="{FF2B5EF4-FFF2-40B4-BE49-F238E27FC236}">
                <a16:creationId xmlns:a16="http://schemas.microsoft.com/office/drawing/2014/main" id="{E22358C3-92D5-2D07-2859-E0B77BBAAB97}"/>
              </a:ext>
            </a:extLst>
          </p:cNvPr>
          <p:cNvSpPr>
            <a:spLocks noGrp="1"/>
          </p:cNvSpPr>
          <p:nvPr>
            <p:ph type="sldNum" sz="quarter" idx="34"/>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0808208"/>
            <a:ext cx="6035040" cy="7836408"/>
          </a:xfrm>
        </p:spPr>
        <p:txBody>
          <a:bodyPr lIns="32004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74683345"/>
      </p:ext>
    </p:extLst>
  </p:cSld>
  <p:clrMapOvr>
    <a:masterClrMapping/>
  </p:clrMapOvr>
  <p:extLst>
    <p:ext uri="{DCECCB84-F9BA-43D5-87BE-67443E8EF086}">
      <p15:sldGuideLst xmlns:p15="http://schemas.microsoft.com/office/powerpoint/2012/main"/>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meline w/ Images">
    <p:spTree>
      <p:nvGrpSpPr>
        <p:cNvPr id="1" name=""/>
        <p:cNvGrpSpPr/>
        <p:nvPr/>
      </p:nvGrpSpPr>
      <p:grpSpPr>
        <a:xfrm>
          <a:off x="0" y="0"/>
          <a:ext cx="0" cy="0"/>
          <a:chOff x="0" y="0"/>
          <a:chExt cx="0" cy="0"/>
        </a:xfrm>
      </p:grpSpPr>
      <p:sp>
        <p:nvSpPr>
          <p:cNvPr id="9" name="Footer Placeholder">
            <a:extLst>
              <a:ext uri="{FF2B5EF4-FFF2-40B4-BE49-F238E27FC236}">
                <a16:creationId xmlns:a16="http://schemas.microsoft.com/office/drawing/2014/main" id="{4755AA01-CD1A-BA1A-6267-72402A650C10}"/>
              </a:ext>
            </a:extLst>
          </p:cNvPr>
          <p:cNvSpPr>
            <a:spLocks noGrp="1"/>
          </p:cNvSpPr>
          <p:nvPr>
            <p:ph type="ftr" sz="quarter" idx="38"/>
          </p:nvPr>
        </p:nvSpPr>
        <p:spPr/>
        <p:txBody>
          <a:bodyPr/>
          <a:lstStyle/>
          <a:p>
            <a:pPr>
              <a:lnSpc>
                <a:spcPct val="90000"/>
              </a:lnSpc>
            </a:pPr>
            <a:r>
              <a:rPr lang="en-US"/>
              <a:t>Source information in NVIDIA Sans, medium gray; 20 pt</a:t>
            </a:r>
            <a:endParaRPr lang="en-US" dirty="0"/>
          </a:p>
        </p:txBody>
      </p:sp>
      <p:sp>
        <p:nvSpPr>
          <p:cNvPr id="10" name="Slide Number Placeholder">
            <a:extLst>
              <a:ext uri="{FF2B5EF4-FFF2-40B4-BE49-F238E27FC236}">
                <a16:creationId xmlns:a16="http://schemas.microsoft.com/office/drawing/2014/main" id="{AEBDFF6D-5282-AD34-8B0E-F3B5DB237CA7}"/>
              </a:ext>
            </a:extLst>
          </p:cNvPr>
          <p:cNvSpPr>
            <a:spLocks noGrp="1"/>
          </p:cNvSpPr>
          <p:nvPr>
            <p:ph type="sldNum" sz="quarter" idx="39"/>
          </p:nvPr>
        </p:nvSpPr>
        <p:spPr/>
        <p:txBody>
          <a:bodyPr/>
          <a:lstStyle/>
          <a:p>
            <a:pPr>
              <a:lnSpc>
                <a:spcPct val="90000"/>
              </a:lnSpc>
            </a:pPr>
            <a:fld id="{5D6728F8-03AC-4059-94FB-90617981AE50}" type="slidenum">
              <a:rPr lang="en-US" smtClean="0"/>
              <a:pPr/>
              <a:t>‹#›</a:t>
            </a:fld>
            <a:endParaRPr lang="en-US"/>
          </a:p>
        </p:txBody>
      </p:sp>
      <p:sp>
        <p:nvSpPr>
          <p:cNvPr id="19" name="Subtext 5">
            <a:extLst>
              <a:ext uri="{FF2B5EF4-FFF2-40B4-BE49-F238E27FC236}">
                <a16:creationId xmlns:a16="http://schemas.microsoft.com/office/drawing/2014/main" id="{79595540-7D50-9C33-11AB-4737EDCA05B4}"/>
              </a:ext>
            </a:extLst>
          </p:cNvPr>
          <p:cNvSpPr>
            <a:spLocks noGrp="1"/>
          </p:cNvSpPr>
          <p:nvPr>
            <p:ph type="body" sz="quarter" idx="30" hasCustomPrompt="1"/>
          </p:nvPr>
        </p:nvSpPr>
        <p:spPr>
          <a:xfrm>
            <a:off x="2871216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5" name="Picture Placeholder 5">
            <a:extLst>
              <a:ext uri="{FF2B5EF4-FFF2-40B4-BE49-F238E27FC236}">
                <a16:creationId xmlns:a16="http://schemas.microsoft.com/office/drawing/2014/main" id="{B7F07BEA-9328-83D7-7A86-EF49E5AB367B}"/>
              </a:ext>
            </a:extLst>
          </p:cNvPr>
          <p:cNvSpPr>
            <a:spLocks noGrp="1" noChangeAspect="1"/>
          </p:cNvSpPr>
          <p:nvPr>
            <p:ph type="pic" sz="quarter" idx="36" hasCustomPrompt="1"/>
          </p:nvPr>
        </p:nvSpPr>
        <p:spPr>
          <a:xfrm>
            <a:off x="2903220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20" name="Header 5">
            <a:extLst>
              <a:ext uri="{FF2B5EF4-FFF2-40B4-BE49-F238E27FC236}">
                <a16:creationId xmlns:a16="http://schemas.microsoft.com/office/drawing/2014/main" id="{8469ED06-1608-84FC-0D7B-6FBF3420653E}"/>
              </a:ext>
            </a:extLst>
          </p:cNvPr>
          <p:cNvSpPr>
            <a:spLocks noGrp="1"/>
          </p:cNvSpPr>
          <p:nvPr>
            <p:ph type="body" sz="quarter" idx="31" hasCustomPrompt="1"/>
          </p:nvPr>
        </p:nvSpPr>
        <p:spPr>
          <a:xfrm>
            <a:off x="2871216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8" name="Date 5">
            <a:extLst>
              <a:ext uri="{FF2B5EF4-FFF2-40B4-BE49-F238E27FC236}">
                <a16:creationId xmlns:a16="http://schemas.microsoft.com/office/drawing/2014/main" id="{197DC0FF-E771-C7E5-1839-62718E5C287F}"/>
              </a:ext>
            </a:extLst>
          </p:cNvPr>
          <p:cNvSpPr>
            <a:spLocks noGrp="1"/>
          </p:cNvSpPr>
          <p:nvPr>
            <p:ph type="body" sz="quarter" idx="29" hasCustomPrompt="1"/>
          </p:nvPr>
        </p:nvSpPr>
        <p:spPr>
          <a:xfrm>
            <a:off x="2871216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1" name="Subtext 4">
            <a:extLst>
              <a:ext uri="{FF2B5EF4-FFF2-40B4-BE49-F238E27FC236}">
                <a16:creationId xmlns:a16="http://schemas.microsoft.com/office/drawing/2014/main" id="{1CF4EF74-1A73-D2BE-6AFA-08036C3794FA}"/>
              </a:ext>
            </a:extLst>
          </p:cNvPr>
          <p:cNvSpPr>
            <a:spLocks noGrp="1"/>
          </p:cNvSpPr>
          <p:nvPr>
            <p:ph type="body" sz="quarter" idx="23" hasCustomPrompt="1"/>
          </p:nvPr>
        </p:nvSpPr>
        <p:spPr>
          <a:xfrm>
            <a:off x="21991321"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4" name="Picture Placeholder 4">
            <a:extLst>
              <a:ext uri="{FF2B5EF4-FFF2-40B4-BE49-F238E27FC236}">
                <a16:creationId xmlns:a16="http://schemas.microsoft.com/office/drawing/2014/main" id="{272FF6CA-4EAC-CC1F-F26F-2BCDDEECA983}"/>
              </a:ext>
            </a:extLst>
          </p:cNvPr>
          <p:cNvSpPr>
            <a:spLocks noGrp="1" noChangeAspect="1"/>
          </p:cNvSpPr>
          <p:nvPr>
            <p:ph type="pic" sz="quarter" idx="35" hasCustomPrompt="1"/>
          </p:nvPr>
        </p:nvSpPr>
        <p:spPr>
          <a:xfrm>
            <a:off x="22311361"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7" name="Header 4">
            <a:extLst>
              <a:ext uri="{FF2B5EF4-FFF2-40B4-BE49-F238E27FC236}">
                <a16:creationId xmlns:a16="http://schemas.microsoft.com/office/drawing/2014/main" id="{40179978-CE3B-4EC0-B13C-69175A036E26}"/>
              </a:ext>
            </a:extLst>
          </p:cNvPr>
          <p:cNvSpPr>
            <a:spLocks noGrp="1"/>
          </p:cNvSpPr>
          <p:nvPr>
            <p:ph type="body" sz="quarter" idx="19" hasCustomPrompt="1"/>
          </p:nvPr>
        </p:nvSpPr>
        <p:spPr>
          <a:xfrm>
            <a:off x="21991321"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7" name="Date 4">
            <a:extLst>
              <a:ext uri="{FF2B5EF4-FFF2-40B4-BE49-F238E27FC236}">
                <a16:creationId xmlns:a16="http://schemas.microsoft.com/office/drawing/2014/main" id="{8A35295F-18C1-E7C2-4B76-FA98F00E0CEF}"/>
              </a:ext>
            </a:extLst>
          </p:cNvPr>
          <p:cNvSpPr>
            <a:spLocks noGrp="1"/>
          </p:cNvSpPr>
          <p:nvPr>
            <p:ph type="body" sz="quarter" idx="28" hasCustomPrompt="1"/>
          </p:nvPr>
        </p:nvSpPr>
        <p:spPr>
          <a:xfrm>
            <a:off x="21991321"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60" name="Subtext 3">
            <a:extLst>
              <a:ext uri="{FF2B5EF4-FFF2-40B4-BE49-F238E27FC236}">
                <a16:creationId xmlns:a16="http://schemas.microsoft.com/office/drawing/2014/main" id="{C2710CA7-F848-684D-D126-CC756376CF82}"/>
              </a:ext>
            </a:extLst>
          </p:cNvPr>
          <p:cNvSpPr>
            <a:spLocks noGrp="1"/>
          </p:cNvSpPr>
          <p:nvPr>
            <p:ph type="body" sz="quarter" idx="22" hasCustomPrompt="1"/>
          </p:nvPr>
        </p:nvSpPr>
        <p:spPr>
          <a:xfrm>
            <a:off x="1527048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3" name="Picture Placeholder 3">
            <a:extLst>
              <a:ext uri="{FF2B5EF4-FFF2-40B4-BE49-F238E27FC236}">
                <a16:creationId xmlns:a16="http://schemas.microsoft.com/office/drawing/2014/main" id="{F05EA37B-1E0F-5633-E2D2-0B1F3E9CBD61}"/>
              </a:ext>
            </a:extLst>
          </p:cNvPr>
          <p:cNvSpPr>
            <a:spLocks noGrp="1" noChangeAspect="1"/>
          </p:cNvSpPr>
          <p:nvPr>
            <p:ph type="pic" sz="quarter" idx="34" hasCustomPrompt="1"/>
          </p:nvPr>
        </p:nvSpPr>
        <p:spPr>
          <a:xfrm>
            <a:off x="1559052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6" name="Header 3">
            <a:extLst>
              <a:ext uri="{FF2B5EF4-FFF2-40B4-BE49-F238E27FC236}">
                <a16:creationId xmlns:a16="http://schemas.microsoft.com/office/drawing/2014/main" id="{098D07BE-FDC5-E01A-A0CE-33F2B9D14D53}"/>
              </a:ext>
            </a:extLst>
          </p:cNvPr>
          <p:cNvSpPr>
            <a:spLocks noGrp="1"/>
          </p:cNvSpPr>
          <p:nvPr>
            <p:ph type="body" sz="quarter" idx="18" hasCustomPrompt="1"/>
          </p:nvPr>
        </p:nvSpPr>
        <p:spPr>
          <a:xfrm>
            <a:off x="1527048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6" name="Date 3">
            <a:extLst>
              <a:ext uri="{FF2B5EF4-FFF2-40B4-BE49-F238E27FC236}">
                <a16:creationId xmlns:a16="http://schemas.microsoft.com/office/drawing/2014/main" id="{AA8E5F1F-D8CB-AF2C-6402-A88184D72178}"/>
              </a:ext>
            </a:extLst>
          </p:cNvPr>
          <p:cNvSpPr>
            <a:spLocks noGrp="1"/>
          </p:cNvSpPr>
          <p:nvPr>
            <p:ph type="body" sz="quarter" idx="27" hasCustomPrompt="1"/>
          </p:nvPr>
        </p:nvSpPr>
        <p:spPr>
          <a:xfrm>
            <a:off x="1527048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9" name="Subtext 2">
            <a:extLst>
              <a:ext uri="{FF2B5EF4-FFF2-40B4-BE49-F238E27FC236}">
                <a16:creationId xmlns:a16="http://schemas.microsoft.com/office/drawing/2014/main" id="{AB7D7708-A33D-D8FD-707A-00E9DD998A39}"/>
              </a:ext>
            </a:extLst>
          </p:cNvPr>
          <p:cNvSpPr>
            <a:spLocks noGrp="1"/>
          </p:cNvSpPr>
          <p:nvPr>
            <p:ph type="body" sz="quarter" idx="21" hasCustomPrompt="1"/>
          </p:nvPr>
        </p:nvSpPr>
        <p:spPr>
          <a:xfrm>
            <a:off x="854964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22" name="Picture Placeholder 2">
            <a:extLst>
              <a:ext uri="{FF2B5EF4-FFF2-40B4-BE49-F238E27FC236}">
                <a16:creationId xmlns:a16="http://schemas.microsoft.com/office/drawing/2014/main" id="{BD4D4623-91D4-3807-8FEA-A1445E516A8F}"/>
              </a:ext>
            </a:extLst>
          </p:cNvPr>
          <p:cNvSpPr>
            <a:spLocks noGrp="1" noChangeAspect="1"/>
          </p:cNvSpPr>
          <p:nvPr>
            <p:ph type="pic" sz="quarter" idx="33" hasCustomPrompt="1"/>
          </p:nvPr>
        </p:nvSpPr>
        <p:spPr>
          <a:xfrm>
            <a:off x="8869680" y="10736828"/>
            <a:ext cx="5715000"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5" name="Header 2">
            <a:extLst>
              <a:ext uri="{FF2B5EF4-FFF2-40B4-BE49-F238E27FC236}">
                <a16:creationId xmlns:a16="http://schemas.microsoft.com/office/drawing/2014/main" id="{679D8E00-D68F-65B4-566E-6CB8F6CC4914}"/>
              </a:ext>
            </a:extLst>
          </p:cNvPr>
          <p:cNvSpPr>
            <a:spLocks noGrp="1"/>
          </p:cNvSpPr>
          <p:nvPr>
            <p:ph type="body" sz="quarter" idx="17" hasCustomPrompt="1"/>
          </p:nvPr>
        </p:nvSpPr>
        <p:spPr>
          <a:xfrm>
            <a:off x="854964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5" name="Date 2">
            <a:extLst>
              <a:ext uri="{FF2B5EF4-FFF2-40B4-BE49-F238E27FC236}">
                <a16:creationId xmlns:a16="http://schemas.microsoft.com/office/drawing/2014/main" id="{2BA200AD-64DF-9EA9-931D-7CC351D191B5}"/>
              </a:ext>
            </a:extLst>
          </p:cNvPr>
          <p:cNvSpPr>
            <a:spLocks noGrp="1"/>
          </p:cNvSpPr>
          <p:nvPr>
            <p:ph type="body" sz="quarter" idx="26" hasCustomPrompt="1"/>
          </p:nvPr>
        </p:nvSpPr>
        <p:spPr>
          <a:xfrm>
            <a:off x="8549640" y="7480220"/>
            <a:ext cx="6035040" cy="646331"/>
          </a:xfrm>
        </p:spPr>
        <p:txBody>
          <a:bodyPr wrap="square"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sp>
        <p:nvSpPr>
          <p:cNvPr id="58" name="Subtext 1">
            <a:extLst>
              <a:ext uri="{FF2B5EF4-FFF2-40B4-BE49-F238E27FC236}">
                <a16:creationId xmlns:a16="http://schemas.microsoft.com/office/drawing/2014/main" id="{118D7624-D0D3-7878-E776-271102D2DDB7}"/>
              </a:ext>
            </a:extLst>
          </p:cNvPr>
          <p:cNvSpPr>
            <a:spLocks noGrp="1"/>
          </p:cNvSpPr>
          <p:nvPr>
            <p:ph type="body" sz="quarter" idx="20" hasCustomPrompt="1"/>
          </p:nvPr>
        </p:nvSpPr>
        <p:spPr>
          <a:xfrm>
            <a:off x="1828800" y="14225837"/>
            <a:ext cx="6035040" cy="4519364"/>
          </a:xfrm>
        </p:spPr>
        <p:txBody>
          <a:bodyPr lIns="320040" tIns="45720" anchor="t">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sz="3200">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3" name="Picture Placeholder 1">
            <a:extLst>
              <a:ext uri="{FF2B5EF4-FFF2-40B4-BE49-F238E27FC236}">
                <a16:creationId xmlns:a16="http://schemas.microsoft.com/office/drawing/2014/main" id="{56269049-A39A-59CE-F6F5-56614D1F130A}"/>
              </a:ext>
            </a:extLst>
          </p:cNvPr>
          <p:cNvSpPr>
            <a:spLocks noGrp="1" noChangeAspect="1"/>
          </p:cNvSpPr>
          <p:nvPr>
            <p:ph type="pic" sz="quarter" idx="32" hasCustomPrompt="1"/>
          </p:nvPr>
        </p:nvSpPr>
        <p:spPr>
          <a:xfrm>
            <a:off x="2148840" y="10736828"/>
            <a:ext cx="5714999" cy="3214687"/>
          </a:xfrm>
          <a:solidFill>
            <a:schemeClr val="bg2"/>
          </a:solidFill>
          <a:ln>
            <a:solidFill>
              <a:schemeClr val="accent6"/>
            </a:solidFill>
          </a:ln>
        </p:spPr>
        <p:txBody>
          <a:bodyPr tIns="0" bIns="2103120" anchor="ctr"/>
          <a:lstStyle>
            <a:lvl1pPr algn="ctr">
              <a:defRPr sz="2800">
                <a:solidFill>
                  <a:schemeClr val="tx1">
                    <a:lumMod val="50000"/>
                    <a:lumOff val="50000"/>
                  </a:schemeClr>
                </a:solidFill>
              </a:defRPr>
            </a:lvl1pPr>
          </a:lstStyle>
          <a:p>
            <a:r>
              <a:rPr lang="en-US" dirty="0"/>
              <a:t>Click icon to place image</a:t>
            </a:r>
          </a:p>
        </p:txBody>
      </p:sp>
      <p:sp>
        <p:nvSpPr>
          <p:cNvPr id="54" name="Header 1">
            <a:extLst>
              <a:ext uri="{FF2B5EF4-FFF2-40B4-BE49-F238E27FC236}">
                <a16:creationId xmlns:a16="http://schemas.microsoft.com/office/drawing/2014/main" id="{E4E03FC1-0A77-8043-A8D4-F9730332885D}"/>
              </a:ext>
            </a:extLst>
          </p:cNvPr>
          <p:cNvSpPr>
            <a:spLocks noGrp="1"/>
          </p:cNvSpPr>
          <p:nvPr>
            <p:ph type="body" sz="quarter" idx="16" hasCustomPrompt="1"/>
          </p:nvPr>
        </p:nvSpPr>
        <p:spPr>
          <a:xfrm>
            <a:off x="1828800" y="8714232"/>
            <a:ext cx="6035040" cy="1200329"/>
          </a:xfrm>
        </p:spPr>
        <p:txBody>
          <a:bodyPr lIns="320040" tIns="45720" anchor="b">
            <a:noAutofit/>
          </a:bodyPr>
          <a:lstStyle>
            <a:lvl1pPr marL="0" marR="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latin typeface="+mn-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Text</a:t>
            </a:r>
          </a:p>
        </p:txBody>
      </p:sp>
      <p:sp>
        <p:nvSpPr>
          <p:cNvPr id="14" name="Date 1">
            <a:extLst>
              <a:ext uri="{FF2B5EF4-FFF2-40B4-BE49-F238E27FC236}">
                <a16:creationId xmlns:a16="http://schemas.microsoft.com/office/drawing/2014/main" id="{AA7B335B-116C-4EAD-5E50-3BE7BD181DB6}"/>
              </a:ext>
            </a:extLst>
          </p:cNvPr>
          <p:cNvSpPr>
            <a:spLocks noGrp="1"/>
          </p:cNvSpPr>
          <p:nvPr>
            <p:ph type="body" sz="quarter" idx="25" hasCustomPrompt="1"/>
          </p:nvPr>
        </p:nvSpPr>
        <p:spPr>
          <a:xfrm>
            <a:off x="1828800" y="7480220"/>
            <a:ext cx="6035040" cy="646331"/>
          </a:xfrm>
        </p:spPr>
        <p:txBody>
          <a:bodyPr wrap="square" lIns="320040" tIns="45720" anchor="b">
            <a:noAutofit/>
          </a:bodyPr>
          <a:lstStyle>
            <a:lvl1pPr marL="0" marR="0" indent="0" algn="l" defTabSz="2743200" rtl="0" eaLnBrk="1" fontAlgn="auto" latinLnBrk="0" hangingPunct="1">
              <a:lnSpc>
                <a:spcPct val="100000"/>
              </a:lnSpc>
              <a:spcBef>
                <a:spcPts val="0"/>
              </a:spcBef>
              <a:spcAft>
                <a:spcPts val="0"/>
              </a:spcAft>
              <a:buClr>
                <a:schemeClr val="accent1"/>
              </a:buClr>
              <a:buSzTx/>
              <a:buFont typeface="NVIDIA Sans" panose="020B0503020203020204" pitchFamily="34" charset="0"/>
              <a:buNone/>
              <a:tabLst/>
              <a:defRPr>
                <a:solidFill>
                  <a:schemeClr val="accent1"/>
                </a:solidFill>
                <a:latin typeface="+mj-lt"/>
              </a:defRPr>
            </a:lvl1pPr>
          </a:lstStyle>
          <a:p>
            <a:pPr marL="0" marR="0" lvl="0" indent="0" algn="l" defTabSz="2743200" rtl="0" eaLnBrk="1" fontAlgn="auto" latinLnBrk="0" hangingPunct="1">
              <a:lnSpc>
                <a:spcPct val="90000"/>
              </a:lnSpc>
              <a:spcBef>
                <a:spcPts val="1600"/>
              </a:spcBef>
              <a:spcAft>
                <a:spcPts val="1600"/>
              </a:spcAft>
              <a:buClr>
                <a:schemeClr val="accent1"/>
              </a:buClr>
              <a:buSzTx/>
              <a:buFont typeface="NVIDIA Sans" panose="020B0503020203020204" pitchFamily="34" charset="0"/>
              <a:buNone/>
              <a:tabLst/>
              <a:defRPr/>
            </a:pPr>
            <a:r>
              <a:rPr lang="en-US" dirty="0"/>
              <a:t>Click to edit date</a:t>
            </a:r>
          </a:p>
        </p:txBody>
      </p:sp>
      <p:cxnSp>
        <p:nvCxnSpPr>
          <p:cNvPr id="12" name="Line">
            <a:extLst>
              <a:ext uri="{FF2B5EF4-FFF2-40B4-BE49-F238E27FC236}">
                <a16:creationId xmlns:a16="http://schemas.microsoft.com/office/drawing/2014/main" id="{4B15A384-8BF5-51E1-C323-F40491DFA9B5}"/>
              </a:ext>
            </a:extLst>
          </p:cNvPr>
          <p:cNvCxnSpPr/>
          <p:nvPr userDrawn="1"/>
        </p:nvCxnSpPr>
        <p:spPr>
          <a:xfrm>
            <a:off x="0" y="10287000"/>
            <a:ext cx="36576000" cy="0"/>
          </a:xfrm>
          <a:prstGeom prst="line">
            <a:avLst/>
          </a:prstGeom>
          <a:ln w="63500"/>
        </p:spPr>
        <p:style>
          <a:lnRef idx="2">
            <a:schemeClr val="accent1"/>
          </a:lnRef>
          <a:fillRef idx="0">
            <a:schemeClr val="accent1"/>
          </a:fillRef>
          <a:effectRef idx="1">
            <a:schemeClr val="accent1"/>
          </a:effectRef>
          <a:fontRef idx="minor">
            <a:schemeClr val="tx1"/>
          </a:fontRef>
        </p:style>
      </p:cxnSp>
      <p:sp>
        <p:nvSpPr>
          <p:cNvPr id="6" name="Subtitle">
            <a:extLst>
              <a:ext uri="{FF2B5EF4-FFF2-40B4-BE49-F238E27FC236}">
                <a16:creationId xmlns:a16="http://schemas.microsoft.com/office/drawing/2014/main" id="{86DE2755-DD30-C9A8-2B7E-5FCB9E5B46BA}"/>
              </a:ext>
            </a:extLst>
          </p:cNvPr>
          <p:cNvSpPr>
            <a:spLocks noGrp="1"/>
          </p:cNvSpPr>
          <p:nvPr>
            <p:ph type="body" sz="quarter" idx="14" hasCustomPrompt="1"/>
          </p:nvPr>
        </p:nvSpPr>
        <p:spPr>
          <a:xfrm>
            <a:off x="1828800" y="3383280"/>
            <a:ext cx="32918400" cy="914400"/>
          </a:xfrm>
        </p:spPr>
        <p:txBody>
          <a:bodyPr tIns="91440">
            <a:noAutofit/>
          </a:bodyPr>
          <a:lstStyle>
            <a:lvl1pP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7" name="Title">
            <a:extLst>
              <a:ext uri="{FF2B5EF4-FFF2-40B4-BE49-F238E27FC236}">
                <a16:creationId xmlns:a16="http://schemas.microsoft.com/office/drawing/2014/main" id="{B6F075E2-DF6D-2A9C-9C84-F99622305E1B}"/>
              </a:ext>
            </a:extLst>
          </p:cNvPr>
          <p:cNvSpPr>
            <a:spLocks noGrp="1"/>
          </p:cNvSpPr>
          <p:nvPr>
            <p:ph type="title" hasCustomPrompt="1"/>
          </p:nvPr>
        </p:nvSpPr>
        <p:spPr>
          <a:xfrm>
            <a:off x="1828800" y="914400"/>
            <a:ext cx="32918400" cy="2468880"/>
          </a:xfrm>
        </p:spPr>
        <p:txBody>
          <a:bodyPr/>
          <a:lstStyle>
            <a:lvl1pPr>
              <a:defRPr>
                <a:latin typeface="+mj-lt"/>
              </a:defRPr>
            </a:lvl1pPr>
          </a:lstStyle>
          <a:p>
            <a:r>
              <a:rPr lang="en-US" dirty="0"/>
              <a:t>Click to Edit Title Here</a:t>
            </a:r>
          </a:p>
        </p:txBody>
      </p:sp>
    </p:spTree>
    <p:extLst>
      <p:ext uri="{BB962C8B-B14F-4D97-AF65-F5344CB8AC3E}">
        <p14:creationId xmlns:p14="http://schemas.microsoft.com/office/powerpoint/2010/main" val="3558575897"/>
      </p:ext>
    </p:extLst>
  </p:cSld>
  <p:clrMapOvr>
    <a:masterClrMapping/>
  </p:clrMapOvr>
  <p:extLst>
    <p:ext uri="{DCECCB84-F9BA-43D5-87BE-67443E8EF086}">
      <p15:sldGuideLst xmlns:p15="http://schemas.microsoft.com/office/powerpoint/2012/main"/>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Title, Subtitle (Centered)">
    <p:spTree>
      <p:nvGrpSpPr>
        <p:cNvPr id="1" name=""/>
        <p:cNvGrpSpPr/>
        <p:nvPr/>
      </p:nvGrpSpPr>
      <p:grpSpPr>
        <a:xfrm>
          <a:off x="0" y="0"/>
          <a:ext cx="0" cy="0"/>
          <a:chOff x="0" y="0"/>
          <a:chExt cx="0" cy="0"/>
        </a:xfrm>
      </p:grpSpPr>
      <p:sp>
        <p:nvSpPr>
          <p:cNvPr id="4" name="Slide Number Placeholder">
            <a:extLst>
              <a:ext uri="{FF2B5EF4-FFF2-40B4-BE49-F238E27FC236}">
                <a16:creationId xmlns:a16="http://schemas.microsoft.com/office/drawing/2014/main" id="{148C0C1F-BDEF-41A8-0F04-DDA5A236CBDA}"/>
              </a:ext>
            </a:extLst>
          </p:cNvPr>
          <p:cNvSpPr>
            <a:spLocks noGrp="1"/>
          </p:cNvSpPr>
          <p:nvPr>
            <p:ph type="sldNum" sz="quarter" idx="16"/>
          </p:nvPr>
        </p:nvSpPr>
        <p:spPr/>
        <p:txBody>
          <a:bodyPr/>
          <a:lstStyle/>
          <a:p>
            <a:pPr>
              <a:lnSpc>
                <a:spcPct val="90000"/>
              </a:lnSpc>
            </a:pPr>
            <a:fld id="{5D6728F8-03AC-4059-94FB-90617981AE50}" type="slidenum">
              <a:rPr lang="en-US" smtClean="0"/>
              <a:pPr/>
              <a:t>‹#›</a:t>
            </a:fld>
            <a:endParaRPr lang="en-US"/>
          </a:p>
        </p:txBody>
      </p:sp>
      <p:sp>
        <p:nvSpPr>
          <p:cNvPr id="21" name="Subtitle">
            <a:extLst>
              <a:ext uri="{FF2B5EF4-FFF2-40B4-BE49-F238E27FC236}">
                <a16:creationId xmlns:a16="http://schemas.microsoft.com/office/drawing/2014/main" id="{38EBA30A-0D8A-3E20-4C9B-FD252C9B2FB4}"/>
              </a:ext>
            </a:extLst>
          </p:cNvPr>
          <p:cNvSpPr>
            <a:spLocks noGrp="1"/>
          </p:cNvSpPr>
          <p:nvPr>
            <p:ph type="body" sz="quarter" idx="13" hasCustomPrompt="1"/>
          </p:nvPr>
        </p:nvSpPr>
        <p:spPr>
          <a:xfrm>
            <a:off x="1828800" y="3383280"/>
            <a:ext cx="32918400" cy="914400"/>
          </a:xfrm>
        </p:spPr>
        <p:txBody>
          <a:bodyPr tIns="91440">
            <a:noAutofit/>
          </a:bodyPr>
          <a:lstStyle>
            <a:lvl1pPr algn="ctr">
              <a:spcBef>
                <a:spcPts val="0"/>
              </a:spcBef>
              <a:spcAft>
                <a:spcPts val="0"/>
              </a:spcAft>
              <a:buFontTx/>
              <a:buNone/>
              <a:defRPr sz="4800">
                <a:solidFill>
                  <a:schemeClr val="accent6"/>
                </a:solidFill>
                <a:latin typeface="+mn-lt"/>
              </a:defRPr>
            </a:lvl1pPr>
            <a:lvl2pPr>
              <a:defRPr sz="4800">
                <a:solidFill>
                  <a:schemeClr val="accent6"/>
                </a:solidFill>
              </a:defRPr>
            </a:lvl2pPr>
            <a:lvl3pPr>
              <a:defRPr sz="4800">
                <a:solidFill>
                  <a:schemeClr val="accent6"/>
                </a:solidFill>
              </a:defRPr>
            </a:lvl3pPr>
            <a:lvl4pPr>
              <a:defRPr sz="4800">
                <a:solidFill>
                  <a:schemeClr val="accent6"/>
                </a:solidFill>
              </a:defRPr>
            </a:lvl4pPr>
            <a:lvl5pPr>
              <a:defRPr sz="4800">
                <a:solidFill>
                  <a:schemeClr val="accent6"/>
                </a:solidFill>
              </a:defRPr>
            </a:lvl5pPr>
          </a:lstStyle>
          <a:p>
            <a:pPr lvl="0"/>
            <a:r>
              <a:rPr lang="en-US" dirty="0"/>
              <a:t>Click to edit subtitle here</a:t>
            </a:r>
          </a:p>
        </p:txBody>
      </p:sp>
      <p:sp>
        <p:nvSpPr>
          <p:cNvPr id="16" name="Title">
            <a:extLst>
              <a:ext uri="{FF2B5EF4-FFF2-40B4-BE49-F238E27FC236}">
                <a16:creationId xmlns:a16="http://schemas.microsoft.com/office/drawing/2014/main" id="{4E0AD47A-D8EB-F7A4-1A0C-9EBD23C77B60}"/>
              </a:ext>
            </a:extLst>
          </p:cNvPr>
          <p:cNvSpPr>
            <a:spLocks noGrp="1"/>
          </p:cNvSpPr>
          <p:nvPr>
            <p:ph type="title" hasCustomPrompt="1"/>
          </p:nvPr>
        </p:nvSpPr>
        <p:spPr>
          <a:xfrm>
            <a:off x="1828800" y="914400"/>
            <a:ext cx="32918400" cy="2468880"/>
          </a:xfrm>
        </p:spPr>
        <p:txBody>
          <a:bodyPr/>
          <a:lstStyle>
            <a:lvl1pPr algn="ctr">
              <a:defRPr>
                <a:latin typeface="+mj-lt"/>
              </a:defRPr>
            </a:lvl1pPr>
          </a:lstStyle>
          <a:p>
            <a:r>
              <a:rPr lang="en-US" dirty="0"/>
              <a:t>Click to Edit Title Here</a:t>
            </a:r>
          </a:p>
        </p:txBody>
      </p:sp>
    </p:spTree>
    <p:extLst>
      <p:ext uri="{BB962C8B-B14F-4D97-AF65-F5344CB8AC3E}">
        <p14:creationId xmlns:p14="http://schemas.microsoft.com/office/powerpoint/2010/main" val="1672345238"/>
      </p:ext>
    </p:extLst>
  </p:cSld>
  <p:clrMapOvr>
    <a:masterClrMapping/>
  </p:clrMapOvr>
  <p:extLst>
    <p:ext uri="{DCECCB84-F9BA-43D5-87BE-67443E8EF086}">
      <p15:sldGuideLst xmlns:p15="http://schemas.microsoft.com/office/powerpoint/2012/main"/>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21687493"/>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slideLayout" Target="../slideLayouts/slideLayout31.xml"/><Relationship Id="rId32" Type="http://schemas.openxmlformats.org/officeDocument/2006/relationships/slideLayout" Target="../slideLayouts/slideLayout32.xml"/><Relationship Id="rId33" Type="http://schemas.openxmlformats.org/officeDocument/2006/relationships/slideLayout" Target="../slideLayouts/slideLayout33.xml"/><Relationship Id="rId34" Type="http://schemas.openxmlformats.org/officeDocument/2006/relationships/slideLayout" Target="../slideLayouts/slideLayout34.xml"/><Relationship Id="rId35" Type="http://schemas.openxmlformats.org/officeDocument/2006/relationships/slideLayout" Target="../slideLayouts/slideLayout35.xml"/><Relationship Id="rId36" Type="http://schemas.openxmlformats.org/officeDocument/2006/relationships/slideLayout" Target="../slideLayouts/slideLayout36.xml"/><Relationship Id="rId37" Type="http://schemas.openxmlformats.org/officeDocument/2006/relationships/slideLayout" Target="../slideLayouts/slideLayout37.xml"/><Relationship Id="rId38" Type="http://schemas.openxmlformats.org/officeDocument/2006/relationships/slideLayout" Target="../slideLayouts/slideLayout38.xml"/><Relationship Id="rId39" Type="http://schemas.openxmlformats.org/officeDocument/2006/relationships/slideLayout" Target="../slideLayouts/slideLayout39.xml"/><Relationship Id="rId40" Type="http://schemas.openxmlformats.org/officeDocument/2006/relationships/slideLayout" Target="../slideLayouts/slideLayout40.xml"/><Relationship Id="rId41" Type="http://schemas.openxmlformats.org/officeDocument/2006/relationships/slideLayout" Target="../slideLayouts/slideLayout41.xml"/><Relationship Id="rId42" Type="http://schemas.openxmlformats.org/officeDocument/2006/relationships/slideLayout" Target="../slideLayouts/slideLayout42.xml"/><Relationship Id="rId43" Type="http://schemas.openxmlformats.org/officeDocument/2006/relationships/slideLayout" Target="../slideLayouts/slideLayout43.xml"/><Relationship Id="rId44" Type="http://schemas.openxmlformats.org/officeDocument/2006/relationships/slideLayout" Target="../slideLayouts/slideLayout44.xml"/><Relationship Id="rId4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Logo Text">
            <a:extLst>
              <a:ext uri="{FF2B5EF4-FFF2-40B4-BE49-F238E27FC236}">
                <a16:creationId xmlns:a16="http://schemas.microsoft.com/office/drawing/2014/main" id="{1BF75DB8-C4B4-5045-D3CD-0BB9D247A702}"/>
              </a:ext>
            </a:extLst>
          </p:cNvPr>
          <p:cNvSpPr>
            <a:spLocks noGrp="1" noRot="1" noMove="1" noResize="1" noEditPoints="1" noAdjustHandles="1" noChangeArrowheads="1" noChangeShapeType="1"/>
          </p:cNvSpPr>
          <p:nvPr userDrawn="1"/>
        </p:nvSpPr>
        <p:spPr>
          <a:xfrm>
            <a:off x="34543020" y="19448330"/>
            <a:ext cx="1119785" cy="209889"/>
          </a:xfrm>
          <a:custGeom>
            <a:avLst/>
            <a:gdLst>
              <a:gd name="csX0" fmla="*/ 465673 w 1119785"/>
              <a:gd name="csY0" fmla="*/ 284 h 209889"/>
              <a:gd name="csX1" fmla="*/ 465694 w 1119785"/>
              <a:gd name="csY1" fmla="*/ 209890 h 209889"/>
              <a:gd name="csX2" fmla="*/ 524892 w 1119785"/>
              <a:gd name="csY2" fmla="*/ 209890 h 209889"/>
              <a:gd name="csX3" fmla="*/ 524892 w 1119785"/>
              <a:gd name="csY3" fmla="*/ 288 h 209889"/>
              <a:gd name="csX4" fmla="*/ 465673 w 1119785"/>
              <a:gd name="csY4" fmla="*/ 284 h 209889"/>
              <a:gd name="csX5" fmla="*/ 0 w 1119785"/>
              <a:gd name="csY5" fmla="*/ 0 h 209889"/>
              <a:gd name="csX6" fmla="*/ 0 w 1119785"/>
              <a:gd name="csY6" fmla="*/ 209890 h 209889"/>
              <a:gd name="csX7" fmla="*/ 59719 w 1119785"/>
              <a:gd name="csY7" fmla="*/ 209890 h 209889"/>
              <a:gd name="csX8" fmla="*/ 59719 w 1119785"/>
              <a:gd name="csY8" fmla="*/ 50517 h 209889"/>
              <a:gd name="csX9" fmla="*/ 105986 w 1119785"/>
              <a:gd name="csY9" fmla="*/ 50533 h 209889"/>
              <a:gd name="csX10" fmla="*/ 139614 w 1119785"/>
              <a:gd name="csY10" fmla="*/ 62228 h 209889"/>
              <a:gd name="csX11" fmla="*/ 152802 w 1119785"/>
              <a:gd name="csY11" fmla="*/ 117726 h 209889"/>
              <a:gd name="csX12" fmla="*/ 152802 w 1119785"/>
              <a:gd name="csY12" fmla="*/ 209890 h 209889"/>
              <a:gd name="csX13" fmla="*/ 210658 w 1119785"/>
              <a:gd name="csY13" fmla="*/ 209880 h 209889"/>
              <a:gd name="csX14" fmla="*/ 210665 w 1119785"/>
              <a:gd name="csY14" fmla="*/ 93927 h 209889"/>
              <a:gd name="csX15" fmla="*/ 106298 w 1119785"/>
              <a:gd name="csY15" fmla="*/ 0 h 209889"/>
              <a:gd name="csX16" fmla="*/ 0 w 1119785"/>
              <a:gd name="csY16" fmla="*/ 0 h 209889"/>
              <a:gd name="csX17" fmla="*/ 560987 w 1119785"/>
              <a:gd name="csY17" fmla="*/ 292 h 209889"/>
              <a:gd name="csX18" fmla="*/ 560987 w 1119785"/>
              <a:gd name="csY18" fmla="*/ 209890 h 209889"/>
              <a:gd name="csX19" fmla="*/ 657002 w 1119785"/>
              <a:gd name="csY19" fmla="*/ 209890 h 209889"/>
              <a:gd name="csX20" fmla="*/ 742915 w 1119785"/>
              <a:gd name="csY20" fmla="*/ 182307 h 209889"/>
              <a:gd name="csX21" fmla="*/ 763926 w 1119785"/>
              <a:gd name="csY21" fmla="*/ 107395 h 209889"/>
              <a:gd name="csX22" fmla="*/ 744763 w 1119785"/>
              <a:gd name="csY22" fmla="*/ 35282 h 209889"/>
              <a:gd name="csX23" fmla="*/ 644072 w 1119785"/>
              <a:gd name="csY23" fmla="*/ 292 h 209889"/>
              <a:gd name="csX24" fmla="*/ 560987 w 1119785"/>
              <a:gd name="csY24" fmla="*/ 292 h 209889"/>
              <a:gd name="csX25" fmla="*/ 619712 w 1119785"/>
              <a:gd name="csY25" fmla="*/ 45930 h 209889"/>
              <a:gd name="csX26" fmla="*/ 645163 w 1119785"/>
              <a:gd name="csY26" fmla="*/ 45930 h 209889"/>
              <a:gd name="csX27" fmla="*/ 705965 w 1119785"/>
              <a:gd name="csY27" fmla="*/ 105536 h 209889"/>
              <a:gd name="csX28" fmla="*/ 645163 w 1119785"/>
              <a:gd name="csY28" fmla="*/ 165153 h 209889"/>
              <a:gd name="csX29" fmla="*/ 619712 w 1119785"/>
              <a:gd name="csY29" fmla="*/ 165153 h 209889"/>
              <a:gd name="csX30" fmla="*/ 619712 w 1119785"/>
              <a:gd name="csY30" fmla="*/ 45930 h 209889"/>
              <a:gd name="csX31" fmla="*/ 380323 w 1119785"/>
              <a:gd name="csY31" fmla="*/ 292 h 209889"/>
              <a:gd name="csX32" fmla="*/ 330923 w 1119785"/>
              <a:gd name="csY32" fmla="*/ 166410 h 209889"/>
              <a:gd name="csX33" fmla="*/ 283578 w 1119785"/>
              <a:gd name="csY33" fmla="*/ 302 h 209889"/>
              <a:gd name="csX34" fmla="*/ 219677 w 1119785"/>
              <a:gd name="csY34" fmla="*/ 292 h 209889"/>
              <a:gd name="csX35" fmla="*/ 287289 w 1119785"/>
              <a:gd name="csY35" fmla="*/ 209890 h 209889"/>
              <a:gd name="csX36" fmla="*/ 372604 w 1119785"/>
              <a:gd name="csY36" fmla="*/ 209890 h 209889"/>
              <a:gd name="csX37" fmla="*/ 440744 w 1119785"/>
              <a:gd name="csY37" fmla="*/ 292 h 209889"/>
              <a:gd name="csX38" fmla="*/ 380323 w 1119785"/>
              <a:gd name="csY38" fmla="*/ 292 h 209889"/>
              <a:gd name="csX39" fmla="*/ 791468 w 1119785"/>
              <a:gd name="csY39" fmla="*/ 209890 h 209889"/>
              <a:gd name="csX40" fmla="*/ 850673 w 1119785"/>
              <a:gd name="csY40" fmla="*/ 209890 h 209889"/>
              <a:gd name="csX41" fmla="*/ 850673 w 1119785"/>
              <a:gd name="csY41" fmla="*/ 302 h 209889"/>
              <a:gd name="csX42" fmla="*/ 791454 w 1119785"/>
              <a:gd name="csY42" fmla="*/ 292 h 209889"/>
              <a:gd name="csX43" fmla="*/ 791468 w 1119785"/>
              <a:gd name="csY43" fmla="*/ 209890 h 209889"/>
              <a:gd name="csX44" fmla="*/ 957416 w 1119785"/>
              <a:gd name="csY44" fmla="*/ 367 h 209889"/>
              <a:gd name="csX45" fmla="*/ 874755 w 1119785"/>
              <a:gd name="csY45" fmla="*/ 209818 h 209889"/>
              <a:gd name="csX46" fmla="*/ 933125 w 1119785"/>
              <a:gd name="csY46" fmla="*/ 209818 h 209889"/>
              <a:gd name="csX47" fmla="*/ 946202 w 1119785"/>
              <a:gd name="csY47" fmla="*/ 172798 h 209889"/>
              <a:gd name="csX48" fmla="*/ 1044030 w 1119785"/>
              <a:gd name="csY48" fmla="*/ 172798 h 209889"/>
              <a:gd name="csX49" fmla="*/ 1056412 w 1119785"/>
              <a:gd name="csY49" fmla="*/ 209818 h 209889"/>
              <a:gd name="csX50" fmla="*/ 1119785 w 1119785"/>
              <a:gd name="csY50" fmla="*/ 209818 h 209889"/>
              <a:gd name="csX51" fmla="*/ 1036492 w 1119785"/>
              <a:gd name="csY51" fmla="*/ 349 h 209889"/>
              <a:gd name="csX52" fmla="*/ 957416 w 1119785"/>
              <a:gd name="csY52" fmla="*/ 367 h 209889"/>
              <a:gd name="csX53" fmla="*/ 995846 w 1119785"/>
              <a:gd name="csY53" fmla="*/ 38579 h 209889"/>
              <a:gd name="csX54" fmla="*/ 1031705 w 1119785"/>
              <a:gd name="csY54" fmla="*/ 136703 h 209889"/>
              <a:gd name="csX55" fmla="*/ 958854 w 1119785"/>
              <a:gd name="csY55" fmla="*/ 136703 h 209889"/>
              <a:gd name="csX56" fmla="*/ 995846 w 1119785"/>
              <a:gd name="csY56" fmla="*/ 38579 h 209889"/>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Lst>
            <a:rect l="l" t="t" r="r" b="b"/>
            <a:pathLst>
              <a:path w="1119785" h="209889">
                <a:moveTo>
                  <a:pt x="465673" y="284"/>
                </a:moveTo>
                <a:lnTo>
                  <a:pt x="465694" y="209890"/>
                </a:lnTo>
                <a:lnTo>
                  <a:pt x="524892" y="209890"/>
                </a:lnTo>
                <a:lnTo>
                  <a:pt x="524892" y="288"/>
                </a:lnTo>
                <a:lnTo>
                  <a:pt x="465673" y="284"/>
                </a:lnTo>
                <a:close/>
                <a:moveTo>
                  <a:pt x="0" y="0"/>
                </a:moveTo>
                <a:lnTo>
                  <a:pt x="0" y="209890"/>
                </a:lnTo>
                <a:lnTo>
                  <a:pt x="59719" y="209890"/>
                </a:lnTo>
                <a:lnTo>
                  <a:pt x="59719" y="50517"/>
                </a:lnTo>
                <a:lnTo>
                  <a:pt x="105986" y="50533"/>
                </a:lnTo>
                <a:cubicBezTo>
                  <a:pt x="121313" y="50533"/>
                  <a:pt x="132229" y="54347"/>
                  <a:pt x="139614" y="62228"/>
                </a:cubicBezTo>
                <a:cubicBezTo>
                  <a:pt x="148980" y="72206"/>
                  <a:pt x="152802" y="88290"/>
                  <a:pt x="152802" y="117726"/>
                </a:cubicBezTo>
                <a:lnTo>
                  <a:pt x="152802" y="209890"/>
                </a:lnTo>
                <a:lnTo>
                  <a:pt x="210658" y="209880"/>
                </a:lnTo>
                <a:lnTo>
                  <a:pt x="210665" y="93927"/>
                </a:lnTo>
                <a:cubicBezTo>
                  <a:pt x="210665" y="11161"/>
                  <a:pt x="157909" y="0"/>
                  <a:pt x="106298" y="0"/>
                </a:cubicBezTo>
                <a:lnTo>
                  <a:pt x="0" y="0"/>
                </a:lnTo>
                <a:moveTo>
                  <a:pt x="560987" y="292"/>
                </a:moveTo>
                <a:lnTo>
                  <a:pt x="560987" y="209890"/>
                </a:lnTo>
                <a:lnTo>
                  <a:pt x="657002" y="209890"/>
                </a:lnTo>
                <a:cubicBezTo>
                  <a:pt x="708161" y="209890"/>
                  <a:pt x="724857" y="201382"/>
                  <a:pt x="742915" y="182307"/>
                </a:cubicBezTo>
                <a:cubicBezTo>
                  <a:pt x="755679" y="168916"/>
                  <a:pt x="763926" y="139520"/>
                  <a:pt x="763926" y="107395"/>
                </a:cubicBezTo>
                <a:cubicBezTo>
                  <a:pt x="763926" y="77934"/>
                  <a:pt x="756943" y="51650"/>
                  <a:pt x="744763" y="35282"/>
                </a:cubicBezTo>
                <a:cubicBezTo>
                  <a:pt x="722835" y="6013"/>
                  <a:pt x="691235" y="292"/>
                  <a:pt x="644072" y="292"/>
                </a:cubicBezTo>
                <a:lnTo>
                  <a:pt x="560987" y="292"/>
                </a:lnTo>
                <a:close/>
                <a:moveTo>
                  <a:pt x="619712" y="45930"/>
                </a:moveTo>
                <a:lnTo>
                  <a:pt x="645163" y="45930"/>
                </a:lnTo>
                <a:cubicBezTo>
                  <a:pt x="682085" y="45930"/>
                  <a:pt x="705965" y="62512"/>
                  <a:pt x="705965" y="105536"/>
                </a:cubicBezTo>
                <a:cubicBezTo>
                  <a:pt x="705965" y="148571"/>
                  <a:pt x="682085" y="165153"/>
                  <a:pt x="645163" y="165153"/>
                </a:cubicBezTo>
                <a:lnTo>
                  <a:pt x="619712" y="165153"/>
                </a:lnTo>
                <a:lnTo>
                  <a:pt x="619712" y="45930"/>
                </a:lnTo>
                <a:close/>
                <a:moveTo>
                  <a:pt x="380323" y="292"/>
                </a:moveTo>
                <a:lnTo>
                  <a:pt x="330923" y="166410"/>
                </a:lnTo>
                <a:lnTo>
                  <a:pt x="283578" y="302"/>
                </a:lnTo>
                <a:lnTo>
                  <a:pt x="219677" y="292"/>
                </a:lnTo>
                <a:lnTo>
                  <a:pt x="287289" y="209890"/>
                </a:lnTo>
                <a:lnTo>
                  <a:pt x="372604" y="209890"/>
                </a:lnTo>
                <a:lnTo>
                  <a:pt x="440744" y="292"/>
                </a:lnTo>
                <a:lnTo>
                  <a:pt x="380323" y="292"/>
                </a:lnTo>
                <a:close/>
                <a:moveTo>
                  <a:pt x="791468" y="209890"/>
                </a:moveTo>
                <a:lnTo>
                  <a:pt x="850673" y="209890"/>
                </a:lnTo>
                <a:lnTo>
                  <a:pt x="850673" y="302"/>
                </a:lnTo>
                <a:lnTo>
                  <a:pt x="791454" y="292"/>
                </a:lnTo>
                <a:lnTo>
                  <a:pt x="791468" y="209890"/>
                </a:lnTo>
                <a:close/>
                <a:moveTo>
                  <a:pt x="957416" y="367"/>
                </a:moveTo>
                <a:lnTo>
                  <a:pt x="874755" y="209818"/>
                </a:lnTo>
                <a:lnTo>
                  <a:pt x="933125" y="209818"/>
                </a:lnTo>
                <a:lnTo>
                  <a:pt x="946202" y="172798"/>
                </a:lnTo>
                <a:lnTo>
                  <a:pt x="1044030" y="172798"/>
                </a:lnTo>
                <a:lnTo>
                  <a:pt x="1056412" y="209818"/>
                </a:lnTo>
                <a:lnTo>
                  <a:pt x="1119785" y="209818"/>
                </a:lnTo>
                <a:lnTo>
                  <a:pt x="1036492" y="349"/>
                </a:lnTo>
                <a:lnTo>
                  <a:pt x="957416" y="367"/>
                </a:lnTo>
                <a:close/>
                <a:moveTo>
                  <a:pt x="995846" y="38579"/>
                </a:moveTo>
                <a:lnTo>
                  <a:pt x="1031705" y="136703"/>
                </a:lnTo>
                <a:lnTo>
                  <a:pt x="958854" y="136703"/>
                </a:lnTo>
                <a:lnTo>
                  <a:pt x="995846" y="38579"/>
                </a:lnTo>
                <a:close/>
              </a:path>
            </a:pathLst>
          </a:custGeom>
          <a:solidFill>
            <a:schemeClr val="tx1"/>
          </a:solidFill>
          <a:ln w="692" cap="flat">
            <a:noFill/>
            <a:prstDash val="solid"/>
            <a:miter/>
          </a:ln>
        </p:spPr>
        <p:txBody>
          <a:bodyPr/>
          <a:lstStyle/>
          <a:p>
            <a:endParaRPr lang="en-US"/>
          </a:p>
        </p:txBody>
      </p:sp>
      <p:sp>
        <p:nvSpPr>
          <p:cNvPr id="2" name="Logo Eye">
            <a:extLst>
              <a:ext uri="{FF2B5EF4-FFF2-40B4-BE49-F238E27FC236}">
                <a16:creationId xmlns:a16="http://schemas.microsoft.com/office/drawing/2014/main" id="{5530284D-5EA9-3120-4325-FD1BC8D4981C}"/>
              </a:ext>
            </a:extLst>
          </p:cNvPr>
          <p:cNvSpPr>
            <a:spLocks noGrp="1" noRot="1" noMove="1" noResize="1" noEditPoints="1" noAdjustHandles="1" noChangeArrowheads="1" noChangeShapeType="1"/>
          </p:cNvSpPr>
          <p:nvPr userDrawn="1"/>
        </p:nvSpPr>
        <p:spPr>
          <a:xfrm>
            <a:off x="33981198" y="19388273"/>
            <a:ext cx="482575" cy="319331"/>
          </a:xfrm>
          <a:custGeom>
            <a:avLst/>
            <a:gdLst>
              <a:gd name="csX0" fmla="*/ 180055 w 482575"/>
              <a:gd name="csY0" fmla="*/ 95285 h 319331"/>
              <a:gd name="csX1" fmla="*/ 180055 w 482575"/>
              <a:gd name="csY1" fmla="*/ 66441 h 319331"/>
              <a:gd name="csX2" fmla="*/ 188566 w 482575"/>
              <a:gd name="csY2" fmla="*/ 66002 h 319331"/>
              <a:gd name="csX3" fmla="*/ 319215 w 482575"/>
              <a:gd name="csY3" fmla="*/ 133789 h 319331"/>
              <a:gd name="csX4" fmla="*/ 203378 w 482575"/>
              <a:gd name="csY4" fmla="*/ 211432 h 319331"/>
              <a:gd name="csX5" fmla="*/ 180055 w 482575"/>
              <a:gd name="csY5" fmla="*/ 207703 h 319331"/>
              <a:gd name="csX6" fmla="*/ 180055 w 482575"/>
              <a:gd name="csY6" fmla="*/ 120235 h 319331"/>
              <a:gd name="csX7" fmla="*/ 235412 w 482575"/>
              <a:gd name="csY7" fmla="*/ 168288 h 319331"/>
              <a:gd name="csX8" fmla="*/ 276478 w 482575"/>
              <a:gd name="csY8" fmla="*/ 133663 h 319331"/>
              <a:gd name="csX9" fmla="*/ 195969 w 482575"/>
              <a:gd name="csY9" fmla="*/ 94346 h 319331"/>
              <a:gd name="csX10" fmla="*/ 180055 w 482575"/>
              <a:gd name="csY10" fmla="*/ 95285 h 319331"/>
              <a:gd name="csX11" fmla="*/ 180055 w 482575"/>
              <a:gd name="csY11" fmla="*/ 0 h 319331"/>
              <a:gd name="csX12" fmla="*/ 180055 w 482575"/>
              <a:gd name="csY12" fmla="*/ 43086 h 319331"/>
              <a:gd name="csX13" fmla="*/ 188566 w 482575"/>
              <a:gd name="csY13" fmla="*/ 42579 h 319331"/>
              <a:gd name="csX14" fmla="*/ 369752 w 482575"/>
              <a:gd name="csY14" fmla="*/ 132555 h 319331"/>
              <a:gd name="csX15" fmla="*/ 202126 w 482575"/>
              <a:gd name="csY15" fmla="*/ 232386 h 319331"/>
              <a:gd name="csX16" fmla="*/ 180055 w 482575"/>
              <a:gd name="csY16" fmla="*/ 230442 h 319331"/>
              <a:gd name="csX17" fmla="*/ 180055 w 482575"/>
              <a:gd name="csY17" fmla="*/ 257075 h 319331"/>
              <a:gd name="csX18" fmla="*/ 198434 w 482575"/>
              <a:gd name="csY18" fmla="*/ 258265 h 319331"/>
              <a:gd name="csX19" fmla="*/ 391326 w 482575"/>
              <a:gd name="csY19" fmla="*/ 169512 h 319331"/>
              <a:gd name="csX20" fmla="*/ 446177 w 482575"/>
              <a:gd name="csY20" fmla="*/ 202800 h 319331"/>
              <a:gd name="csX21" fmla="*/ 199658 w 482575"/>
              <a:gd name="csY21" fmla="*/ 282921 h 319331"/>
              <a:gd name="csX22" fmla="*/ 180055 w 482575"/>
              <a:gd name="csY22" fmla="*/ 281903 h 319331"/>
              <a:gd name="csX23" fmla="*/ 180055 w 482575"/>
              <a:gd name="csY23" fmla="*/ 319332 h 319331"/>
              <a:gd name="csX24" fmla="*/ 482575 w 482575"/>
              <a:gd name="csY24" fmla="*/ 319332 h 319331"/>
              <a:gd name="csX25" fmla="*/ 482575 w 482575"/>
              <a:gd name="csY25" fmla="*/ 0 h 319331"/>
              <a:gd name="csX26" fmla="*/ 180055 w 482575"/>
              <a:gd name="csY26" fmla="*/ 0 h 319331"/>
              <a:gd name="csX27" fmla="*/ 180055 w 482575"/>
              <a:gd name="csY27" fmla="*/ 207703 h 319331"/>
              <a:gd name="csX28" fmla="*/ 180055 w 482575"/>
              <a:gd name="csY28" fmla="*/ 230442 h 319331"/>
              <a:gd name="csX29" fmla="*/ 86007 w 482575"/>
              <a:gd name="csY29" fmla="*/ 140794 h 319331"/>
              <a:gd name="csX30" fmla="*/ 180055 w 482575"/>
              <a:gd name="csY30" fmla="*/ 95285 h 319331"/>
              <a:gd name="csX31" fmla="*/ 180055 w 482575"/>
              <a:gd name="csY31" fmla="*/ 120235 h 319331"/>
              <a:gd name="csX32" fmla="*/ 179940 w 482575"/>
              <a:gd name="csY32" fmla="*/ 120222 h 319331"/>
              <a:gd name="csX33" fmla="*/ 125067 w 482575"/>
              <a:gd name="csY33" fmla="*/ 145306 h 319331"/>
              <a:gd name="csX34" fmla="*/ 180055 w 482575"/>
              <a:gd name="csY34" fmla="*/ 207703 h 319331"/>
              <a:gd name="csX35" fmla="*/ 49305 w 482575"/>
              <a:gd name="csY35" fmla="*/ 137478 h 319331"/>
              <a:gd name="csX36" fmla="*/ 180055 w 482575"/>
              <a:gd name="csY36" fmla="*/ 66441 h 319331"/>
              <a:gd name="csX37" fmla="*/ 180055 w 482575"/>
              <a:gd name="csY37" fmla="*/ 43086 h 319331"/>
              <a:gd name="csX38" fmla="*/ 0 w 482575"/>
              <a:gd name="csY38" fmla="*/ 132555 h 319331"/>
              <a:gd name="csX39" fmla="*/ 180055 w 482575"/>
              <a:gd name="csY39" fmla="*/ 281903 h 319331"/>
              <a:gd name="csX40" fmla="*/ 180055 w 482575"/>
              <a:gd name="csY40" fmla="*/ 257075 h 319331"/>
              <a:gd name="csX41" fmla="*/ 49305 w 482575"/>
              <a:gd name="csY41" fmla="*/ 137478 h 319331"/>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Lst>
            <a:rect l="l" t="t" r="r" b="b"/>
            <a:pathLst>
              <a:path w="482575" h="319331">
                <a:moveTo>
                  <a:pt x="180055" y="95285"/>
                </a:moveTo>
                <a:lnTo>
                  <a:pt x="180055" y="66441"/>
                </a:lnTo>
                <a:cubicBezTo>
                  <a:pt x="182855" y="66241"/>
                  <a:pt x="185684" y="66092"/>
                  <a:pt x="188566" y="66002"/>
                </a:cubicBezTo>
                <a:cubicBezTo>
                  <a:pt x="267458" y="63522"/>
                  <a:pt x="319215" y="133789"/>
                  <a:pt x="319215" y="133789"/>
                </a:cubicBezTo>
                <a:cubicBezTo>
                  <a:pt x="319215" y="133789"/>
                  <a:pt x="263315" y="211432"/>
                  <a:pt x="203378" y="211432"/>
                </a:cubicBezTo>
                <a:cubicBezTo>
                  <a:pt x="194745" y="211432"/>
                  <a:pt x="187020" y="210040"/>
                  <a:pt x="180055" y="207703"/>
                </a:cubicBezTo>
                <a:lnTo>
                  <a:pt x="180055" y="120235"/>
                </a:lnTo>
                <a:cubicBezTo>
                  <a:pt x="210768" y="123945"/>
                  <a:pt x="216942" y="137511"/>
                  <a:pt x="235412" y="168288"/>
                </a:cubicBezTo>
                <a:lnTo>
                  <a:pt x="276478" y="133663"/>
                </a:lnTo>
                <a:cubicBezTo>
                  <a:pt x="276478" y="133663"/>
                  <a:pt x="246502" y="94346"/>
                  <a:pt x="195969" y="94346"/>
                </a:cubicBezTo>
                <a:cubicBezTo>
                  <a:pt x="190469" y="94346"/>
                  <a:pt x="185215" y="94736"/>
                  <a:pt x="180055" y="95285"/>
                </a:cubicBezTo>
                <a:moveTo>
                  <a:pt x="180055" y="0"/>
                </a:moveTo>
                <a:lnTo>
                  <a:pt x="180055" y="43086"/>
                </a:lnTo>
                <a:cubicBezTo>
                  <a:pt x="182886" y="42862"/>
                  <a:pt x="185722" y="42682"/>
                  <a:pt x="188566" y="42579"/>
                </a:cubicBezTo>
                <a:cubicBezTo>
                  <a:pt x="298278" y="38883"/>
                  <a:pt x="369752" y="132555"/>
                  <a:pt x="369752" y="132555"/>
                </a:cubicBezTo>
                <a:cubicBezTo>
                  <a:pt x="369752" y="132555"/>
                  <a:pt x="287653" y="232386"/>
                  <a:pt x="202126" y="232386"/>
                </a:cubicBezTo>
                <a:cubicBezTo>
                  <a:pt x="194289" y="232386"/>
                  <a:pt x="186950" y="231662"/>
                  <a:pt x="180055" y="230442"/>
                </a:cubicBezTo>
                <a:lnTo>
                  <a:pt x="180055" y="257075"/>
                </a:lnTo>
                <a:cubicBezTo>
                  <a:pt x="185953" y="257825"/>
                  <a:pt x="192059" y="258265"/>
                  <a:pt x="198434" y="258265"/>
                </a:cubicBezTo>
                <a:cubicBezTo>
                  <a:pt x="278030" y="258265"/>
                  <a:pt x="335587" y="217621"/>
                  <a:pt x="391326" y="169512"/>
                </a:cubicBezTo>
                <a:cubicBezTo>
                  <a:pt x="400561" y="176911"/>
                  <a:pt x="438397" y="194911"/>
                  <a:pt x="446177" y="202800"/>
                </a:cubicBezTo>
                <a:cubicBezTo>
                  <a:pt x="393178" y="247164"/>
                  <a:pt x="269675" y="282921"/>
                  <a:pt x="199658" y="282921"/>
                </a:cubicBezTo>
                <a:cubicBezTo>
                  <a:pt x="192911" y="282921"/>
                  <a:pt x="186422" y="282513"/>
                  <a:pt x="180055" y="281903"/>
                </a:cubicBezTo>
                <a:lnTo>
                  <a:pt x="180055" y="319332"/>
                </a:lnTo>
                <a:lnTo>
                  <a:pt x="482575" y="319332"/>
                </a:lnTo>
                <a:lnTo>
                  <a:pt x="482575" y="0"/>
                </a:lnTo>
                <a:lnTo>
                  <a:pt x="180055" y="0"/>
                </a:lnTo>
                <a:close/>
                <a:moveTo>
                  <a:pt x="180055" y="207703"/>
                </a:moveTo>
                <a:lnTo>
                  <a:pt x="180055" y="230442"/>
                </a:lnTo>
                <a:cubicBezTo>
                  <a:pt x="106440" y="217317"/>
                  <a:pt x="86007" y="140794"/>
                  <a:pt x="86007" y="140794"/>
                </a:cubicBezTo>
                <a:cubicBezTo>
                  <a:pt x="86007" y="140794"/>
                  <a:pt x="121351" y="101631"/>
                  <a:pt x="180055" y="95285"/>
                </a:cubicBezTo>
                <a:lnTo>
                  <a:pt x="180055" y="120235"/>
                </a:lnTo>
                <a:cubicBezTo>
                  <a:pt x="180010" y="120235"/>
                  <a:pt x="179980" y="120222"/>
                  <a:pt x="179940" y="120222"/>
                </a:cubicBezTo>
                <a:cubicBezTo>
                  <a:pt x="149136" y="116523"/>
                  <a:pt x="125067" y="145306"/>
                  <a:pt x="125067" y="145306"/>
                </a:cubicBezTo>
                <a:cubicBezTo>
                  <a:pt x="125067" y="145306"/>
                  <a:pt x="138551" y="193758"/>
                  <a:pt x="180055" y="207703"/>
                </a:cubicBezTo>
                <a:moveTo>
                  <a:pt x="49305" y="137478"/>
                </a:moveTo>
                <a:cubicBezTo>
                  <a:pt x="49305" y="137478"/>
                  <a:pt x="92936" y="73097"/>
                  <a:pt x="180055" y="66441"/>
                </a:cubicBezTo>
                <a:lnTo>
                  <a:pt x="180055" y="43086"/>
                </a:lnTo>
                <a:cubicBezTo>
                  <a:pt x="83562" y="50831"/>
                  <a:pt x="0" y="132555"/>
                  <a:pt x="0" y="132555"/>
                </a:cubicBezTo>
                <a:cubicBezTo>
                  <a:pt x="0" y="132555"/>
                  <a:pt x="47325" y="269377"/>
                  <a:pt x="180055" y="281903"/>
                </a:cubicBezTo>
                <a:lnTo>
                  <a:pt x="180055" y="257075"/>
                </a:lnTo>
                <a:cubicBezTo>
                  <a:pt x="82654" y="244821"/>
                  <a:pt x="49305" y="137478"/>
                  <a:pt x="49305" y="137478"/>
                </a:cubicBezTo>
                <a:close/>
              </a:path>
            </a:pathLst>
          </a:custGeom>
          <a:solidFill>
            <a:schemeClr val="accent1"/>
          </a:solidFill>
          <a:ln w="692" cap="flat">
            <a:noFill/>
            <a:prstDash val="solid"/>
            <a:miter/>
          </a:ln>
        </p:spPr>
        <p:txBody>
          <a:bodyPr/>
          <a:lstStyle/>
          <a:p>
            <a:endParaRPr lang="en-US"/>
          </a:p>
        </p:txBody>
      </p:sp>
      <p:sp>
        <p:nvSpPr>
          <p:cNvPr id="8" name="Footer (Source) Placeholder">
            <a:extLst>
              <a:ext uri="{FF2B5EF4-FFF2-40B4-BE49-F238E27FC236}">
                <a16:creationId xmlns:a16="http://schemas.microsoft.com/office/drawing/2014/main" id="{4FAE9B2E-10E6-DEBE-165A-2C6E8B9CDBE2}"/>
              </a:ext>
            </a:extLst>
          </p:cNvPr>
          <p:cNvSpPr>
            <a:spLocks noGrp="1"/>
          </p:cNvSpPr>
          <p:nvPr>
            <p:ph type="ftr" sz="quarter" idx="3"/>
          </p:nvPr>
        </p:nvSpPr>
        <p:spPr>
          <a:xfrm>
            <a:off x="7543800" y="19431000"/>
            <a:ext cx="21488400" cy="369332"/>
          </a:xfrm>
          <a:prstGeom prst="rect">
            <a:avLst/>
          </a:prstGeom>
        </p:spPr>
        <p:txBody>
          <a:bodyPr vert="horz" lIns="0" tIns="45720" rIns="0" bIns="45720" rtlCol="0" anchor="b">
            <a:noAutofit/>
          </a:bodyPr>
          <a:lstStyle>
            <a:lvl1pPr algn="ctr">
              <a:lnSpc>
                <a:spcPct val="90000"/>
              </a:lnSpc>
              <a:defRPr sz="2000" kern="100" baseline="0">
                <a:solidFill>
                  <a:schemeClr val="accent6"/>
                </a:solidFill>
                <a:latin typeface="+mn-lt"/>
              </a:defRPr>
            </a:lvl1pPr>
          </a:lstStyle>
          <a:p>
            <a:r>
              <a:rPr lang="en-US"/>
              <a:t>Source information in NVIDIA Sans, medium gray; 20 pt</a:t>
            </a:r>
            <a:endParaRPr lang="en-US" dirty="0"/>
          </a:p>
        </p:txBody>
      </p:sp>
      <p:sp>
        <p:nvSpPr>
          <p:cNvPr id="4" name="Slide Number Placeholder">
            <a:extLst>
              <a:ext uri="{FF2B5EF4-FFF2-40B4-BE49-F238E27FC236}">
                <a16:creationId xmlns:a16="http://schemas.microsoft.com/office/drawing/2014/main" id="{FCDFCB45-17BD-2C7E-0517-95E82587DB73}"/>
              </a:ext>
            </a:extLst>
          </p:cNvPr>
          <p:cNvSpPr>
            <a:spLocks noGrp="1"/>
          </p:cNvSpPr>
          <p:nvPr>
            <p:ph type="sldNum" sz="quarter" idx="4"/>
          </p:nvPr>
        </p:nvSpPr>
        <p:spPr>
          <a:xfrm>
            <a:off x="914400" y="19431000"/>
            <a:ext cx="6400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defRPr>
            </a:lvl1pPr>
          </a:lstStyle>
          <a:p>
            <a:pPr>
              <a:lnSpc>
                <a:spcPct val="90000"/>
              </a:lnSpc>
            </a:pPr>
            <a:fld id="{5D6728F8-03AC-4059-94FB-90617981AE50}" type="slidenum">
              <a:rPr lang="en-US" smtClean="0"/>
              <a:pPr/>
              <a:t>‹#›</a:t>
            </a:fld>
            <a:endParaRPr lang="en-US"/>
          </a:p>
        </p:txBody>
      </p:sp>
      <p:sp>
        <p:nvSpPr>
          <p:cNvPr id="17" name="Text Placeholder">
            <a:extLst>
              <a:ext uri="{FF2B5EF4-FFF2-40B4-BE49-F238E27FC236}">
                <a16:creationId xmlns:a16="http://schemas.microsoft.com/office/drawing/2014/main" id="{C331F8D2-7838-5A11-2D90-06BE8391CD64}"/>
              </a:ext>
            </a:extLst>
          </p:cNvPr>
          <p:cNvSpPr>
            <a:spLocks noGrp="1"/>
          </p:cNvSpPr>
          <p:nvPr>
            <p:ph type="body" idx="1"/>
          </p:nvPr>
        </p:nvSpPr>
        <p:spPr>
          <a:xfrm>
            <a:off x="1828800" y="5943600"/>
            <a:ext cx="32918400" cy="12801600"/>
          </a:xfrm>
          <a:prstGeom prst="rect">
            <a:avLst/>
          </a:prstGeom>
        </p:spPr>
        <p:txBody>
          <a:bodyPr vert="horz" lIns="0" tIns="45720" rIns="0" bIns="45720" rtlCol="0">
            <a:noAutofit/>
          </a:bodyPr>
          <a:lstStyle/>
          <a:p>
            <a:pPr lvl="0"/>
            <a:r>
              <a:rPr lang="en-US" dirty="0"/>
              <a:t>Click to edit paragraph text</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Title Placeholder">
            <a:extLst>
              <a:ext uri="{FF2B5EF4-FFF2-40B4-BE49-F238E27FC236}">
                <a16:creationId xmlns:a16="http://schemas.microsoft.com/office/drawing/2014/main" id="{1F6E4B95-41AA-56A9-319C-9DB7C4A76069}"/>
              </a:ext>
            </a:extLst>
          </p:cNvPr>
          <p:cNvSpPr>
            <a:spLocks noGrp="1"/>
          </p:cNvSpPr>
          <p:nvPr>
            <p:ph type="title"/>
          </p:nvPr>
        </p:nvSpPr>
        <p:spPr>
          <a:xfrm>
            <a:off x="1828800" y="914400"/>
            <a:ext cx="32918400" cy="2468880"/>
          </a:xfrm>
          <a:prstGeom prst="rect">
            <a:avLst/>
          </a:prstGeom>
        </p:spPr>
        <p:txBody>
          <a:bodyPr vert="horz" lIns="0" tIns="45720" rIns="0" bIns="45720" rtlCol="0" anchor="b">
            <a:noAutofit/>
          </a:bodyPr>
          <a:lstStyle/>
          <a:p>
            <a:pPr indent="0">
              <a:lnSpc>
                <a:spcPct val="90000"/>
              </a:lnSpc>
            </a:pPr>
            <a:r>
              <a:rPr lang="en-US" sz="8800" dirty="0"/>
              <a:t>Click to Edit Title Here</a:t>
            </a:r>
            <a:br>
              <a:rPr lang="en-US" sz="8800" dirty="0"/>
            </a:br>
            <a:r>
              <a:rPr lang="en-US" sz="8800" dirty="0"/>
              <a:t>2-lines Maximum Length</a:t>
            </a:r>
          </a:p>
        </p:txBody>
      </p:sp>
      <p:sp>
        <p:nvSpPr>
          <p:cNvPr id="5" name="Date (Confidential) Placeholder">
            <a:extLst>
              <a:ext uri="{FF2B5EF4-FFF2-40B4-BE49-F238E27FC236}">
                <a16:creationId xmlns:a16="http://schemas.microsoft.com/office/drawing/2014/main" id="{EE584683-E47B-15C6-C9DA-D716A01324CE}"/>
              </a:ext>
            </a:extLst>
          </p:cNvPr>
          <p:cNvSpPr>
            <a:spLocks noGrp="1"/>
          </p:cNvSpPr>
          <p:nvPr>
            <p:ph type="dt" sz="half" idx="2"/>
          </p:nvPr>
        </p:nvSpPr>
        <p:spPr>
          <a:xfrm>
            <a:off x="1828800" y="19431000"/>
            <a:ext cx="5669280" cy="369332"/>
          </a:xfrm>
          <a:prstGeom prst="rect">
            <a:avLst/>
          </a:prstGeom>
        </p:spPr>
        <p:txBody>
          <a:bodyPr vert="horz" lIns="0" tIns="45720" rIns="0" bIns="45720" rtlCol="0" anchor="ctr">
            <a:noAutofit/>
          </a:bodyPr>
          <a:lstStyle>
            <a:lvl1pPr algn="l">
              <a:lnSpc>
                <a:spcPct val="90000"/>
              </a:lnSpc>
              <a:defRPr sz="2000" kern="100" baseline="0">
                <a:solidFill>
                  <a:schemeClr val="tx1"/>
                </a:solidFill>
                <a:latin typeface="+mj-lt"/>
              </a:defRPr>
            </a:lvl1pPr>
          </a:lstStyle>
          <a:p>
            <a:r>
              <a:rPr lang="en-US" dirty="0">
                <a:cs typeface="NVIDIA Sans" panose="020B0503020203020204" pitchFamily="34" charset="0"/>
              </a:rPr>
              <a:t>NVIDIA CONFIDENTIAL. DO NOT DISTRIBUTE.</a:t>
            </a:r>
          </a:p>
        </p:txBody>
      </p:sp>
    </p:spTree>
    <p:extLst>
      <p:ext uri="{BB962C8B-B14F-4D97-AF65-F5344CB8AC3E}">
        <p14:creationId xmlns:p14="http://schemas.microsoft.com/office/powerpoint/2010/main" val="4116705580"/>
      </p:ext>
    </p:extLst>
  </p:cSld>
  <p:clrMap bg1="lt1" tx1="dk1" bg2="lt2" tx2="dk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23" r:id="rId7"/>
    <p:sldLayoutId id="2147483707" r:id="rId8"/>
    <p:sldLayoutId id="2147483662" r:id="rId9"/>
    <p:sldLayoutId id="2147483667" r:id="rId10"/>
    <p:sldLayoutId id="2147483674" r:id="rId11"/>
    <p:sldLayoutId id="2147483668" r:id="rId12"/>
    <p:sldLayoutId id="2147483673" r:id="rId13"/>
    <p:sldLayoutId id="2147483672" r:id="rId14"/>
    <p:sldLayoutId id="2147483694" r:id="rId15"/>
    <p:sldLayoutId id="2147483759" r:id="rId16"/>
    <p:sldLayoutId id="2147483682" r:id="rId17"/>
    <p:sldLayoutId id="2147483683" r:id="rId18"/>
    <p:sldLayoutId id="2147483684" r:id="rId19"/>
    <p:sldLayoutId id="2147483708" r:id="rId20"/>
    <p:sldLayoutId id="2147483709" r:id="rId21"/>
    <p:sldLayoutId id="2147483685" r:id="rId22"/>
    <p:sldLayoutId id="2147483688" r:id="rId23"/>
    <p:sldLayoutId id="2147483690" r:id="rId24"/>
    <p:sldLayoutId id="2147483689" r:id="rId25"/>
    <p:sldLayoutId id="2147483691" r:id="rId26"/>
    <p:sldLayoutId id="2147483692" r:id="rId27"/>
    <p:sldLayoutId id="2147483693" r:id="rId28"/>
    <p:sldLayoutId id="2147483703" r:id="rId29"/>
    <p:sldLayoutId id="2147483695" r:id="rId30"/>
    <p:sldLayoutId id="2147483696" r:id="rId31"/>
    <p:sldLayoutId id="2147483697" r:id="rId32"/>
    <p:sldLayoutId id="2147483698" r:id="rId33"/>
    <p:sldLayoutId id="2147483699" r:id="rId34"/>
    <p:sldLayoutId id="2147483700" r:id="rId35"/>
    <p:sldLayoutId id="2147483701" r:id="rId36"/>
    <p:sldLayoutId id="2147483705" r:id="rId37"/>
    <p:sldLayoutId id="2147483716" r:id="rId38"/>
    <p:sldLayoutId id="2147483704" r:id="rId39"/>
    <p:sldLayoutId id="2147483675" r:id="rId40"/>
    <p:sldLayoutId id="2147483676" r:id="rId41"/>
    <p:sldLayoutId id="2147483677" r:id="rId42"/>
    <p:sldLayoutId id="2147483681" r:id="rId43"/>
    <p:sldLayoutId id="2147483669" r:id="rId44"/>
  </p:sldLayoutIdLst>
  <p:hf hdr="0" dt="0"/>
  <p:txStyles>
    <p:titleStyle>
      <a:lvl1pPr indent="0" algn="l" defTabSz="2743200" rtl="0" eaLnBrk="1" latinLnBrk="0" hangingPunct="1">
        <a:lnSpc>
          <a:spcPct val="90000"/>
        </a:lnSpc>
        <a:spcBef>
          <a:spcPct val="0"/>
        </a:spcBef>
        <a:buNone/>
        <a:defRPr sz="8800" kern="100" baseline="0">
          <a:solidFill>
            <a:schemeClr val="tx1"/>
          </a:solidFill>
          <a:latin typeface="+mj-lt"/>
          <a:ea typeface="+mj-ea"/>
          <a:cs typeface="NVIDIA Sans Medium" panose="020B0603020203020204" pitchFamily="34" charset="0"/>
        </a:defRPr>
      </a:lvl1pPr>
    </p:titleStyle>
    <p:bodyStyle>
      <a:lvl1pPr marL="0" indent="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400" kern="100" baseline="0">
          <a:solidFill>
            <a:schemeClr val="tx1"/>
          </a:solidFill>
          <a:latin typeface="+mn-lt"/>
          <a:ea typeface="+mn-ea"/>
          <a:cs typeface="NVIDIA Sans" panose="020B0503020203020204" pitchFamily="34" charset="0"/>
        </a:defRPr>
      </a:lvl1pPr>
      <a:lvl2pPr marL="457200" indent="-457200" algn="l" defTabSz="2743200" rtl="0" eaLnBrk="1" latinLnBrk="0" hangingPunct="1">
        <a:lnSpc>
          <a:spcPct val="90000"/>
        </a:lnSpc>
        <a:spcBef>
          <a:spcPts val="1600"/>
        </a:spcBef>
        <a:spcAft>
          <a:spcPts val="1600"/>
        </a:spcAft>
        <a:buClr>
          <a:schemeClr val="accent1"/>
        </a:buClr>
        <a:buFont typeface="NVIDIA Sans" panose="020B0503020203020204" pitchFamily="34" charset="0"/>
        <a:buChar char="•"/>
        <a:defRPr sz="4000" kern="100" baseline="0">
          <a:solidFill>
            <a:schemeClr val="tx1"/>
          </a:solidFill>
          <a:latin typeface="+mn-lt"/>
          <a:ea typeface="+mn-ea"/>
          <a:cs typeface="NVIDIA Sans" panose="020B0503020203020204" pitchFamily="34" charset="0"/>
        </a:defRPr>
      </a:lvl2pPr>
      <a:lvl3pPr marL="9144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600" kern="100" baseline="0">
          <a:solidFill>
            <a:schemeClr val="tx1"/>
          </a:solidFill>
          <a:latin typeface="+mn-lt"/>
          <a:ea typeface="+mn-ea"/>
          <a:cs typeface="NVIDIA Sans" panose="020B0503020203020204" pitchFamily="34" charset="0"/>
        </a:defRPr>
      </a:lvl3pPr>
      <a:lvl4pPr marL="13716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3200" kern="100" baseline="0">
          <a:solidFill>
            <a:schemeClr val="tx1"/>
          </a:solidFill>
          <a:latin typeface="+mn-lt"/>
          <a:ea typeface="+mn-ea"/>
          <a:cs typeface="NVIDIA Sans" panose="020B0503020203020204" pitchFamily="34" charset="0"/>
        </a:defRPr>
      </a:lvl4pPr>
      <a:lvl5pPr marL="1828800" indent="-457200" algn="l" defTabSz="2743200" rtl="0" eaLnBrk="1" latinLnBrk="0" hangingPunct="1">
        <a:lnSpc>
          <a:spcPct val="90000"/>
        </a:lnSpc>
        <a:spcBef>
          <a:spcPts val="800"/>
        </a:spcBef>
        <a:spcAft>
          <a:spcPts val="800"/>
        </a:spcAft>
        <a:buClr>
          <a:schemeClr val="accent1"/>
        </a:buClr>
        <a:buFont typeface="NVIDIA Sans" panose="020B0503020203020204" pitchFamily="34" charset="0"/>
        <a:buChar char="•"/>
        <a:defRPr sz="2800" kern="100" baseline="0">
          <a:solidFill>
            <a:schemeClr val="tx1"/>
          </a:solidFill>
          <a:latin typeface="+mn-lt"/>
          <a:ea typeface="+mn-ea"/>
          <a:cs typeface="NVIDIA Sans" panose="020B0503020203020204" pitchFamily="34" charset="0"/>
        </a:defRPr>
      </a:lvl5pPr>
      <a:lvl6pPr marL="75438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6pPr>
      <a:lvl7pPr marL="89154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7pPr>
      <a:lvl8pPr marL="102870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8pPr>
      <a:lvl9pPr marL="11658600" indent="-685800" algn="l" defTabSz="2743200" rtl="0" eaLnBrk="1" latinLnBrk="0" hangingPunct="1">
        <a:lnSpc>
          <a:spcPct val="90000"/>
        </a:lnSpc>
        <a:spcBef>
          <a:spcPts val="1500"/>
        </a:spcBef>
        <a:buFont typeface="NVIDIA Sans" panose="020B0503020203020204" pitchFamily="34" charset="0"/>
        <a:buChar char="•"/>
        <a:defRPr sz="5400" kern="1200">
          <a:solidFill>
            <a:schemeClr val="tx1"/>
          </a:solidFill>
          <a:latin typeface="+mn-lt"/>
          <a:ea typeface="+mn-ea"/>
          <a:cs typeface="+mn-cs"/>
        </a:defRPr>
      </a:lvl9pPr>
    </p:bodyStyle>
    <p:otherStyle>
      <a:defPPr>
        <a:defRPr lang="en-US"/>
      </a:defPPr>
      <a:lvl1pPr marL="0" algn="l" defTabSz="2743200" rtl="0" eaLnBrk="1" latinLnBrk="0" hangingPunct="1">
        <a:defRPr sz="5400" kern="1200">
          <a:solidFill>
            <a:schemeClr val="tx1"/>
          </a:solidFill>
          <a:latin typeface="+mn-lt"/>
          <a:ea typeface="+mn-ea"/>
          <a:cs typeface="+mn-cs"/>
        </a:defRPr>
      </a:lvl1pPr>
      <a:lvl2pPr marL="1371600" algn="l" defTabSz="2743200" rtl="0" eaLnBrk="1" latinLnBrk="0" hangingPunct="1">
        <a:defRPr sz="5400" kern="1200">
          <a:solidFill>
            <a:schemeClr val="tx1"/>
          </a:solidFill>
          <a:latin typeface="+mn-lt"/>
          <a:ea typeface="+mn-ea"/>
          <a:cs typeface="+mn-cs"/>
        </a:defRPr>
      </a:lvl2pPr>
      <a:lvl3pPr marL="2743200" algn="l" defTabSz="2743200" rtl="0" eaLnBrk="1" latinLnBrk="0" hangingPunct="1">
        <a:defRPr sz="5400" kern="1200">
          <a:solidFill>
            <a:schemeClr val="tx1"/>
          </a:solidFill>
          <a:latin typeface="+mn-lt"/>
          <a:ea typeface="+mn-ea"/>
          <a:cs typeface="+mn-cs"/>
        </a:defRPr>
      </a:lvl3pPr>
      <a:lvl4pPr marL="4114800" algn="l" defTabSz="2743200" rtl="0" eaLnBrk="1" latinLnBrk="0" hangingPunct="1">
        <a:defRPr sz="5400" kern="1200">
          <a:solidFill>
            <a:schemeClr val="tx1"/>
          </a:solidFill>
          <a:latin typeface="+mn-lt"/>
          <a:ea typeface="+mn-ea"/>
          <a:cs typeface="+mn-cs"/>
        </a:defRPr>
      </a:lvl4pPr>
      <a:lvl5pPr marL="5486400" algn="l" defTabSz="2743200" rtl="0" eaLnBrk="1" latinLnBrk="0" hangingPunct="1">
        <a:defRPr sz="5400" kern="1200">
          <a:solidFill>
            <a:schemeClr val="tx1"/>
          </a:solidFill>
          <a:latin typeface="+mn-lt"/>
          <a:ea typeface="+mn-ea"/>
          <a:cs typeface="+mn-cs"/>
        </a:defRPr>
      </a:lvl5pPr>
      <a:lvl6pPr marL="6858000" algn="l" defTabSz="2743200" rtl="0" eaLnBrk="1" latinLnBrk="0" hangingPunct="1">
        <a:defRPr sz="5400" kern="1200">
          <a:solidFill>
            <a:schemeClr val="tx1"/>
          </a:solidFill>
          <a:latin typeface="+mn-lt"/>
          <a:ea typeface="+mn-ea"/>
          <a:cs typeface="+mn-cs"/>
        </a:defRPr>
      </a:lvl6pPr>
      <a:lvl7pPr marL="8229600" algn="l" defTabSz="2743200" rtl="0" eaLnBrk="1" latinLnBrk="0" hangingPunct="1">
        <a:defRPr sz="5400" kern="1200">
          <a:solidFill>
            <a:schemeClr val="tx1"/>
          </a:solidFill>
          <a:latin typeface="+mn-lt"/>
          <a:ea typeface="+mn-ea"/>
          <a:cs typeface="+mn-cs"/>
        </a:defRPr>
      </a:lvl7pPr>
      <a:lvl8pPr marL="9601200" algn="l" defTabSz="2743200" rtl="0" eaLnBrk="1" latinLnBrk="0" hangingPunct="1">
        <a:defRPr sz="5400" kern="1200">
          <a:solidFill>
            <a:schemeClr val="tx1"/>
          </a:solidFill>
          <a:latin typeface="+mn-lt"/>
          <a:ea typeface="+mn-ea"/>
          <a:cs typeface="+mn-cs"/>
        </a:defRPr>
      </a:lvl8pPr>
      <a:lvl9pPr marL="10972800" algn="l" defTabSz="2743200" rtl="0" eaLnBrk="1" latinLnBrk="0" hangingPunct="1">
        <a:defRPr sz="5400"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65151"/>
          </p15:clr>
        </p15:guide>
        <p15:guide id="2" pos="23040" userDrawn="1">
          <p15:clr>
            <a:srgbClr val="F65151"/>
          </p15:clr>
        </p15:guide>
        <p15:guide id="3" pos="1152" userDrawn="1">
          <p15:clr>
            <a:srgbClr val="F65151"/>
          </p15:clr>
        </p15:guide>
        <p15:guide id="4" pos="21888" userDrawn="1">
          <p15:clr>
            <a:srgbClr val="F65151"/>
          </p15:clr>
        </p15:guide>
        <p15:guide id="5" orient="horz" userDrawn="1">
          <p15:clr>
            <a:srgbClr val="F65151"/>
          </p15:clr>
        </p15:guide>
        <p15:guide id="6" orient="horz" pos="12960" userDrawn="1">
          <p15:clr>
            <a:srgbClr val="F65151"/>
          </p15:clr>
        </p15:guide>
        <p15:guide id="7" orient="horz" pos="1152" userDrawn="1">
          <p15:clr>
            <a:srgbClr val="F65151"/>
          </p15:clr>
        </p15:guide>
        <p15:guide id="8" orient="horz" pos="11808" userDrawn="1">
          <p15:clr>
            <a:srgbClr val="F65151"/>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6.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9.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3.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hyperlink" Target="https://lishunyang12.github.io/fasth3-omni-evaluation-20261018/slides/minimax-h3-real-time-inference-20261025/v1.42/demo-config.html" TargetMode="External"/><Relationship Id="rId3" Type="http://schemas.openxmlformats.org/officeDocument/2006/relationships/image" Target="../media/image27.jpg"/><Relationship Id="rId4" Type="http://schemas.openxmlformats.org/officeDocument/2006/relationships/image" Target="../media/image36.png"/><Relationship Id="rId5" Type="http://schemas.openxmlformats.org/officeDocument/2006/relationships/image" Target="../media/image16.png"/><Relationship Id="rId6" Type="http://schemas.openxmlformats.org/officeDocument/2006/relationships/notesSlide" Target="../notesSlides/notesSlide34.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3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35.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6.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46.png"/><Relationship Id="rId3" Type="http://schemas.openxmlformats.org/officeDocument/2006/relationships/image" Target="../media/image38.jpg"/><Relationship Id="rId4" Type="http://schemas.openxmlformats.org/officeDocument/2006/relationships/notesSlide" Target="../notesSlides/notesSlide4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8.jpg"/><Relationship Id="rId3" Type="http://schemas.openxmlformats.org/officeDocument/2006/relationships/notesSlide" Target="../notesSlides/notesSlide38.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image" Target="../media/image39.png"/><Relationship Id="rId3" Type="http://schemas.openxmlformats.org/officeDocument/2006/relationships/hyperlink" Target="https://github.com/vllm-project/vllm-omni" TargetMode="External"/><Relationship Id="rId4" Type="http://schemas.openxmlformats.org/officeDocument/2006/relationships/hyperlink" Target="https://blog.vllm.ai/2025/11/30/vllm-omni.html" TargetMode="External"/><Relationship Id="rId5" Type="http://schemas.openxmlformats.org/officeDocument/2006/relationships/hyperlink" Target="https://communityinviter.com/apps/vllm-dev/join-vllm-developers-slack" TargetMode="External"/><Relationship Id="rId6" Type="http://schemas.openxmlformats.org/officeDocument/2006/relationships/notesSlide" Target="../notesSlides/notesSlide40.xml"/><Relationship Id="rId7" Type="http://schemas.openxmlformats.org/officeDocument/2006/relationships/hyperlink" Target="https://docs.vllm.ai/projects/vllm-omni/en/latest/" TargetMode="External"/><Relationship Id="rId8" Type="http://schemas.openxmlformats.org/officeDocument/2006/relationships/hyperlink" Target="https://slack.vllm.ai/" TargetMode="External"/><Relationship Id="rId9" Type="http://schemas.openxmlformats.org/officeDocument/2006/relationships/image" Target="../media/image40.png"/><Relationship Id="rId10" Type="http://schemas.openxmlformats.org/officeDocument/2006/relationships/image" Target="../media/image41.jpg"/><Relationship Id="rId11" Type="http://schemas.openxmlformats.org/officeDocument/2006/relationships/hyperlink" Target="https://github.com/vllm-project/vllm-omni/blob/main/docs/assets/WeChat.jpg" TargetMode="External"/><Relationship Id="rId12" Type="http://schemas.openxmlformats.org/officeDocument/2006/relationships/image" Target="../media/image42.jpg"/><Relationship Id="rId13" Type="http://schemas.openxmlformats.org/officeDocument/2006/relationships/hyperlink" Target="https://weixin.qq.com/g/AwYAAHhx4gFuMGSL6NVw4SfvXKH3V9x-vCtiB65mXT4TuIanYYEYs0cf6xEoxGtT" TargetMode="External"/><Relationship Id="rId14" Type="http://schemas.openxmlformats.org/officeDocument/2006/relationships/image" Target="../media/image43.jpg"/><Relationship Id="rId15" Type="http://schemas.openxmlformats.org/officeDocument/2006/relationships/hyperlink" Target="https://weixin.qq.com/g/AwYAAB48ag0RuITp2dLABuJbom9x2kAW_M7cGkQGkAfpIW2PaXyyf_JBnPb_WJFF" TargetMode="External"/><Relationship Id="rId16" Type="http://schemas.openxmlformats.org/officeDocument/2006/relationships/image" Target="../media/image44.jpg"/><Relationship Id="rId17" Type="http://schemas.openxmlformats.org/officeDocument/2006/relationships/hyperlink" Target="https://weixin.qq.com/g/AwYAAEbKKniFtWy9HYbvMYz3vS7bnQO4rS4-cdeYxjYGIcgPFme-5WK4lrXja7E5" TargetMode="External"/><Relationship Id="rId18" Type="http://schemas.openxmlformats.org/officeDocument/2006/relationships/image" Target="../media/image45.png"/><Relationship Id="rId19" Type="http://schemas.openxmlformats.org/officeDocument/2006/relationships/hyperlink" Target="https://space.bilibili.com/189708420" TargetMode="Externa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2.xml"/><Relationship Id="rId2" Type="http://schemas.openxmlformats.org/officeDocument/2006/relationships/chart" Target="../charts/chart4.xml"/><Relationship Id="rId3" Type="http://schemas.openxmlformats.org/officeDocument/2006/relationships/image" Target="../media/image15.png"/><Relationship Id="rId4" Type="http://schemas.openxmlformats.org/officeDocument/2006/relationships/notesSlide" Target="../notesSlides/notesSlide1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Relationship Id="rId3" Type="http://schemas.openxmlformats.org/officeDocument/2006/relationships/hyperlink" Target="https://lishunyang12.github.io/fasth3-omni-evaluation-20261018/slides/minimax-h3-real-time-inference-20261025/v1.39/latency-breakdown.html" TargetMode="External"/><Relationship Id="rId4" Type="http://schemas.openxmlformats.org/officeDocument/2006/relationships/hyperlink" Target="https://lishunyang12.github.io/fasth3-omni-evaluation-20261018/slides/minimax-h3-real-time-inference-20261025/v1.40/baseline-breakdown.html" TargetMode="External"/><Relationship Id="rId5" Type="http://schemas.openxmlformats.org/officeDocument/2006/relationships/hyperlink" Target="https://lishunyang12.github.io/fasth3-omni-evaluation-20261018/slides/minimax-h3-real-time-inference-20261025/v1.42/baseline-breakdown.html" TargetMode="Externa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17.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8.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3.xml"/><Relationship Id="rId3" Type="http://schemas.openxmlformats.org/officeDocument/2006/relationships/image" Target="../media/image29.png"/><Relationship Id="rId4" Type="http://schemas.openxmlformats.org/officeDocument/2006/relationships/image" Target="../media/h3vector6.svg"/><Relationship Id="rId5" Type="http://schemas.openxmlformats.org/officeDocument/2006/relationships/image" Target="../media/image19.png"/><Relationship Id="rId6" Type="http://schemas.openxmlformats.org/officeDocument/2006/relationships/image" Target="../media/h3vector7.sv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xml"/><Relationship Id="rId3" Type="http://schemas.microsoft.com/office/2007/relationships/media" Target="../media/media1.mp4"/><Relationship Id="rId4" Type="http://schemas.openxmlformats.org/officeDocument/2006/relationships/video" Target="../media/media1.mp4"/><Relationship Id="rId5" Type="http://schemas.openxmlformats.org/officeDocument/2006/relationships/image" Target="../media/image13.png"/><Relationship Id="rId6" Type="http://schemas.microsoft.com/office/2007/relationships/media" Target="../media/media2.mp4"/><Relationship Id="rId7" Type="http://schemas.openxmlformats.org/officeDocument/2006/relationships/video" Target="../media/media2.mp4"/><Relationship Id="rId8" Type="http://schemas.openxmlformats.org/officeDocument/2006/relationships/image" Target="../media/image14.png"/><Relationship Id="rId9" Type="http://schemas.microsoft.com/office/2007/relationships/media" Target="../media/media3.mp4"/><Relationship Id="rId10" Type="http://schemas.openxmlformats.org/officeDocument/2006/relationships/video" Target="../media/media3.mp4"/><Relationship Id="rId11" Type="http://schemas.openxmlformats.org/officeDocument/2006/relationships/image" Target="../media/image28.png"/><Relationship Id="rId12" Type="http://schemas.microsoft.com/office/2007/relationships/media" Target="../media/media4.mp4"/><Relationship Id="rId13" Type="http://schemas.openxmlformats.org/officeDocument/2006/relationships/video" Target="../media/media4.mp4"/><Relationship Id="rId14" Type="http://schemas.openxmlformats.org/officeDocument/2006/relationships/image" Target="../media/image30.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3.png"/><Relationship Id="rId4" Type="http://schemas.openxmlformats.org/officeDocument/2006/relationships/image" Target="../media/image8.png"/><Relationship Id="rId5" Type="http://schemas.openxmlformats.org/officeDocument/2006/relationships/image" Target="../media/h3vector1.svg"/><Relationship Id="rId6" Type="http://schemas.openxmlformats.org/officeDocument/2006/relationships/hyperlink" Target="https://grateful-requirements-dictionaries-impacts.trycloudflare.com/scaling/ulysses.svg" TargetMode="External"/><Relationship Id="rId7" Type="http://schemas.openxmlformats.org/officeDocument/2006/relationships/image" Target="../media/image22.png"/><Relationship Id="rId8" Type="http://schemas.openxmlformats.org/officeDocument/2006/relationships/image" Target="../media/h3vector13.svg"/><Relationship Id="rId9" Type="http://schemas.openxmlformats.org/officeDocument/2006/relationships/hyperlink" Target="https://lishunyang12.github.io/fasth3-omni-evaluation-20261018/reports/h3-liveavatar-long-video-20261014/" TargetMode="Externa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21.xml"/><Relationship Id="rId3" Type="http://schemas.openxmlformats.org/officeDocument/2006/relationships/image" Target="../media/image24.png"/><Relationship Id="rId4" Type="http://schemas.openxmlformats.org/officeDocument/2006/relationships/image" Target="../media/image12.png"/><Relationship Id="rId5" Type="http://schemas.openxmlformats.org/officeDocument/2006/relationships/image" Target="../media/image9.png"/><Relationship Id="rId6" Type="http://schemas.openxmlformats.org/officeDocument/2006/relationships/image" Target="../media/h3vector2.svg"/><Relationship Id="rId7" Type="http://schemas.openxmlformats.org/officeDocument/2006/relationships/image" Target="../media/h3vector5.svg"/><Relationship Id="rId8" Type="http://schemas.openxmlformats.org/officeDocument/2006/relationships/image" Target="../media/image20.png"/><Relationship Id="rId9" Type="http://schemas.openxmlformats.org/officeDocument/2006/relationships/image" Target="../media/h3vector8.svg"/><Relationship Id="rId10" Type="http://schemas.openxmlformats.org/officeDocument/2006/relationships/image" Target="../media/image25.png"/><Relationship Id="rId11" Type="http://schemas.openxmlformats.org/officeDocument/2006/relationships/image" Target="../media/h3vector14.sv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2.xml"/><Relationship Id="rId3" Type="http://schemas.openxmlformats.org/officeDocument/2006/relationships/image" Target="../media/image10.png"/><Relationship Id="rId4" Type="http://schemas.openxmlformats.org/officeDocument/2006/relationships/image" Target="../media/h3vector3.svg"/><Relationship Id="rId5" Type="http://schemas.openxmlformats.org/officeDocument/2006/relationships/image" Target="../media/image11.png"/><Relationship Id="rId6" Type="http://schemas.openxmlformats.org/officeDocument/2006/relationships/image" Target="../media/h3vector4.sv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8.xml"/><Relationship Id="rId3" Type="http://schemas.openxmlformats.org/officeDocument/2006/relationships/image" Target="../media/image31.png"/><Relationship Id="rId4" Type="http://schemas.openxmlformats.org/officeDocument/2006/relationships/image" Target="../media/h3vector9.svg"/><Relationship Id="rId5" Type="http://schemas.openxmlformats.org/officeDocument/2006/relationships/image" Target="../media/image33.png"/><Relationship Id="rId6" Type="http://schemas.openxmlformats.org/officeDocument/2006/relationships/image" Target="../media/h3vector11.svg"/><Relationship Id="rId7" Type="http://schemas.openxmlformats.org/officeDocument/2006/relationships/image" Target="../media/image32.png"/><Relationship Id="rId8" Type="http://schemas.openxmlformats.org/officeDocument/2006/relationships/image" Target="../media/h3vector15.sv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7.xml"/><Relationship Id="rId3" Type="http://schemas.openxmlformats.org/officeDocument/2006/relationships/image" Target="../media/image34.png"/><Relationship Id="rId4" Type="http://schemas.openxmlformats.org/officeDocument/2006/relationships/image" Target="../media/h3vector12.svg"/><Relationship Id="rId5" Type="http://schemas.openxmlformats.org/officeDocument/2006/relationships/image" Target="../media/image21.png"/><Relationship Id="rId6" Type="http://schemas.openxmlformats.org/officeDocument/2006/relationships/image" Target="../media/h3vector10.svg"/><Relationship Id="rId7" Type="http://schemas.openxmlformats.org/officeDocument/2006/relationships/image" Target="../media/image35.png"/><Relationship Id="rId8" Type="http://schemas.openxmlformats.org/officeDocument/2006/relationships/image" Target="../media/h3vector16.sv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4.xml"/><Relationship Id="rId3" Type="http://schemas.openxmlformats.org/officeDocument/2006/relationships/hyperlink" Target="https://lishunyang12.github.io/fasth3-omni-evaluation-20261018/slides/minimax-h3-real-time-inference-20261025/v1.39/benchmarks.html" TargetMode="External"/><Relationship Id="rId4" Type="http://schemas.openxmlformats.org/officeDocument/2006/relationships/hyperlink" Target="https://lishunyang12.github.io/fasth3-omni-evaluation-20261018/slides/minimax-h3-real-time-inference-20261025/v1.42/benchmarks.html" TargetMode="Externa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9.xml"/><Relationship Id="rId3" Type="http://schemas.openxmlformats.org/officeDocument/2006/relationships/hyperlink" Target="https://lishunyang12.github.io/fasth3-omni-evaluation-20261018/slides/minimax-h3-real-time-inference-20261025/v1.42/demo-config.html" TargetMode="External"/><Relationship Id="rId4" Type="http://schemas.openxmlformats.org/officeDocument/2006/relationships/image" Target="../media/image27.jpg"/><Relationship Id="rId5" Type="http://schemas.openxmlformats.org/officeDocument/2006/relationships/image" Target="../media/image36.png"/><Relationship Id="rId6" Type="http://schemas.openxmlformats.org/officeDocument/2006/relationships/image" Target="../media/image16.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microsoft.com/office/2007/relationships/media" Target="../media/media5.mp4"/><Relationship Id="rId3" Type="http://schemas.openxmlformats.org/officeDocument/2006/relationships/video" Target="../media/media5.mp4"/><Relationship Id="rId4" Type="http://schemas.openxmlformats.org/officeDocument/2006/relationships/image" Target="../media/image26.jpg"/><Relationship Id="rId5" Type="http://schemas.openxmlformats.org/officeDocument/2006/relationships/notesSlide" Target="../notesSlides/notesSlide43.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6.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2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4.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2</a:t>
            </a:r>
          </a:p>
        </p:txBody>
      </p:sp>
      <p:sp>
        <p:nvSpPr>
          <p:cNvPr id="3" name="Text Placeholder 2"/>
          <p:cNvSpPr>
            <a:spLocks noGrp="1"/>
          </p:cNvSpPr>
          <p:nvPr>
            <p:ph type="body" idx="13" sz="quarter"/>
          </p:nvPr>
        </p:nvSpPr>
        <p:spPr/>
        <p:txBody>
          <a:bodyPr/>
          <a:lstStyle/>
          <a:p>
            <a:r>
              <a:t>A large dense backbone for joint audio–video generation.</a:t>
            </a:r>
          </a:p>
        </p:txBody>
      </p:sp>
      <p:sp>
        <p:nvSpPr>
          <p:cNvPr id="4" name="Title 3"/>
          <p:cNvSpPr>
            <a:spLocks noGrp="1"/>
          </p:cNvSpPr>
          <p:nvPr>
            <p:ph type="title"/>
          </p:nvPr>
        </p:nvSpPr>
        <p:spPr/>
        <p:txBody>
          <a:bodyPr/>
          <a:lstStyle/>
          <a:p>
            <a:r>
              <a:rPr sz="8800"/>
              <a:t>MiniMax H3 in Context</a:t>
            </a:r>
          </a:p>
        </p:txBody>
      </p:sp>
      <p:sp>
        <p:nvSpPr>
          <p:cNvPr id="5" name="Comparison heading"/>
          <p:cNvSpPr txBox="1"/>
          <p:nvPr/>
        </p:nvSpPr>
        <p:spPr>
          <a:xfrm>
            <a:off x="1828800" y="5486400"/>
            <a:ext cx="21031200" cy="914400"/>
          </a:xfrm>
          <a:prstGeom prst="rect">
            <a:avLst/>
          </a:prstGeom>
          <a:noFill/>
        </p:spPr>
        <p:txBody>
          <a:bodyPr wrap="square" lIns="0" rIns="0" tIns="0" bIns="0">
            <a:spAutoFit/>
          </a:bodyPr>
          <a:lstStyle/>
          <a:p>
            <a:pPr>
              <a:spcBef>
                <a:spcPts val="0"/>
              </a:spcBef>
              <a:spcAft>
                <a:spcPts val="0"/>
              </a:spcAft>
            </a:pPr>
            <a:r>
              <a:rPr sz="4500" b="0">
                <a:solidFill>
                  <a:srgbClr val="000000"/>
                </a:solidFill>
                <a:latin typeface="NVIDIA Sans Medium"/>
              </a:rPr>
              <a:t>Generative backbone parameters</a:t>
            </a:r>
          </a:p>
        </p:txBody>
      </p:sp>
      <p:sp>
        <p:nvSpPr>
          <p:cNvPr id="6" name="Model 0"/>
          <p:cNvSpPr txBox="1"/>
          <p:nvPr/>
        </p:nvSpPr>
        <p:spPr>
          <a:xfrm>
            <a:off x="1828800" y="736092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Medium"/>
              </a:rPr>
              <a:t>MiniMax H3</a:t>
            </a:r>
          </a:p>
        </p:txBody>
      </p:sp>
      <p:sp>
        <p:nvSpPr>
          <p:cNvPr id="7" name="Size 0"/>
          <p:cNvSpPr txBox="1"/>
          <p:nvPr/>
        </p:nvSpPr>
        <p:spPr>
          <a:xfrm>
            <a:off x="12801600" y="7360920"/>
            <a:ext cx="1005840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33B · dense</a:t>
            </a:r>
          </a:p>
        </p:txBody>
      </p:sp>
      <p:sp>
        <p:nvSpPr>
          <p:cNvPr id="8" name="Parameter bar 0"/>
          <p:cNvSpPr/>
          <p:nvPr/>
        </p:nvSpPr>
        <p:spPr>
          <a:xfrm>
            <a:off x="1828800" y="8385048"/>
            <a:ext cx="20116800" cy="4114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Model 1"/>
          <p:cNvSpPr txBox="1"/>
          <p:nvPr/>
        </p:nvSpPr>
        <p:spPr>
          <a:xfrm>
            <a:off x="1828800" y="973836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Wan2.2 A14B</a:t>
            </a:r>
          </a:p>
        </p:txBody>
      </p:sp>
      <p:sp>
        <p:nvSpPr>
          <p:cNvPr id="10" name="Size 1"/>
          <p:cNvSpPr txBox="1"/>
          <p:nvPr/>
        </p:nvSpPr>
        <p:spPr>
          <a:xfrm>
            <a:off x="12801600" y="973836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27B total · 14B active</a:t>
            </a:r>
          </a:p>
        </p:txBody>
      </p:sp>
      <p:sp>
        <p:nvSpPr>
          <p:cNvPr id="11" name="Parameter bar 1"/>
          <p:cNvSpPr/>
          <p:nvPr/>
        </p:nvSpPr>
        <p:spPr>
          <a:xfrm>
            <a:off x="1828800" y="10762488"/>
            <a:ext cx="16459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Model 2"/>
          <p:cNvSpPr txBox="1"/>
          <p:nvPr/>
        </p:nvSpPr>
        <p:spPr>
          <a:xfrm>
            <a:off x="1828800" y="1211580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LTX-2.5</a:t>
            </a:r>
          </a:p>
        </p:txBody>
      </p:sp>
      <p:sp>
        <p:nvSpPr>
          <p:cNvPr id="13" name="Size 2"/>
          <p:cNvSpPr txBox="1"/>
          <p:nvPr/>
        </p:nvSpPr>
        <p:spPr>
          <a:xfrm>
            <a:off x="12801600" y="1211580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22B</a:t>
            </a:r>
          </a:p>
        </p:txBody>
      </p:sp>
      <p:sp>
        <p:nvSpPr>
          <p:cNvPr id="14" name="Parameter bar 2"/>
          <p:cNvSpPr/>
          <p:nvPr/>
        </p:nvSpPr>
        <p:spPr>
          <a:xfrm>
            <a:off x="1828800" y="13139928"/>
            <a:ext cx="1341120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Model 3"/>
          <p:cNvSpPr txBox="1"/>
          <p:nvPr/>
        </p:nvSpPr>
        <p:spPr>
          <a:xfrm>
            <a:off x="1828800" y="14493240"/>
            <a:ext cx="10972800" cy="777240"/>
          </a:xfrm>
          <a:prstGeom prst="rect">
            <a:avLst/>
          </a:prstGeom>
          <a:noFill/>
        </p:spPr>
        <p:txBody>
          <a:bodyPr wrap="square" lIns="0" rIns="0" tIns="0" bIns="0">
            <a:spAutoFit/>
          </a:bodyPr>
          <a:lstStyle/>
          <a:p>
            <a:pPr>
              <a:spcBef>
                <a:spcPts val="0"/>
              </a:spcBef>
              <a:spcAft>
                <a:spcPts val="0"/>
              </a:spcAft>
            </a:pPr>
            <a:r>
              <a:rPr sz="3500" b="0">
                <a:solidFill>
                  <a:srgbClr val="000000"/>
                </a:solidFill>
                <a:latin typeface="NVIDIA Sans"/>
              </a:rPr>
              <a:t>HunyuanVideo-1.5</a:t>
            </a:r>
          </a:p>
        </p:txBody>
      </p:sp>
      <p:sp>
        <p:nvSpPr>
          <p:cNvPr id="16" name="Size 3"/>
          <p:cNvSpPr txBox="1"/>
          <p:nvPr/>
        </p:nvSpPr>
        <p:spPr>
          <a:xfrm>
            <a:off x="12801600" y="14493240"/>
            <a:ext cx="1005840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Medium"/>
              </a:rPr>
              <a:t>8.3B</a:t>
            </a:r>
          </a:p>
        </p:txBody>
      </p:sp>
      <p:sp>
        <p:nvSpPr>
          <p:cNvPr id="17" name="Parameter bar 3"/>
          <p:cNvSpPr/>
          <p:nvPr/>
        </p:nvSpPr>
        <p:spPr>
          <a:xfrm>
            <a:off x="1828800" y="15517368"/>
            <a:ext cx="5059680" cy="41148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mparison divider"/>
          <p:cNvCxnSpPr/>
          <p:nvPr/>
        </p:nvCxnSpPr>
        <p:spPr>
          <a:xfrm>
            <a:off x="23774400" y="5623560"/>
            <a:ext cx="0" cy="1101852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H3 capability 0"/>
          <p:cNvSpPr txBox="1"/>
          <p:nvPr/>
        </p:nvSpPr>
        <p:spPr>
          <a:xfrm>
            <a:off x="25603200" y="60350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Audio + video</a:t>
            </a:r>
          </a:p>
        </p:txBody>
      </p:sp>
      <p:sp>
        <p:nvSpPr>
          <p:cNvPr id="20" name="H3 explanation 0"/>
          <p:cNvSpPr txBox="1"/>
          <p:nvPr/>
        </p:nvSpPr>
        <p:spPr>
          <a:xfrm>
            <a:off x="25603200" y="74523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Generated together</a:t>
            </a:r>
          </a:p>
        </p:txBody>
      </p:sp>
      <p:sp>
        <p:nvSpPr>
          <p:cNvPr id="21" name="H3 capability 1"/>
          <p:cNvSpPr txBox="1"/>
          <p:nvPr/>
        </p:nvSpPr>
        <p:spPr>
          <a:xfrm>
            <a:off x="25603200" y="96926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Multimodal context</a:t>
            </a:r>
          </a:p>
        </p:txBody>
      </p:sp>
      <p:sp>
        <p:nvSpPr>
          <p:cNvPr id="22" name="H3 explanation 1"/>
          <p:cNvSpPr txBox="1"/>
          <p:nvPr/>
        </p:nvSpPr>
        <p:spPr>
          <a:xfrm>
            <a:off x="25603200" y="11109960"/>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Text, image, video and audio</a:t>
            </a:r>
          </a:p>
        </p:txBody>
      </p:sp>
      <p:sp>
        <p:nvSpPr>
          <p:cNvPr id="23" name="H3 capability 2"/>
          <p:cNvSpPr txBox="1"/>
          <p:nvPr/>
        </p:nvSpPr>
        <p:spPr>
          <a:xfrm>
            <a:off x="25603200" y="13350240"/>
            <a:ext cx="9144000" cy="100584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Native 768p</a:t>
            </a:r>
          </a:p>
        </p:txBody>
      </p:sp>
      <p:sp>
        <p:nvSpPr>
          <p:cNvPr id="24" name="H3 explanation 2"/>
          <p:cNvSpPr txBox="1"/>
          <p:nvPr/>
        </p:nvSpPr>
        <p:spPr>
          <a:xfrm>
            <a:off x="25603200" y="14767559"/>
            <a:ext cx="9144000" cy="1554480"/>
          </a:xfrm>
          <a:prstGeom prst="rect">
            <a:avLst/>
          </a:prstGeom>
          <a:noFill/>
        </p:spPr>
        <p:txBody>
          <a:bodyPr wrap="square" lIns="0" rIns="0" tIns="0" bIns="0">
            <a:spAutoFit/>
          </a:bodyPr>
          <a:lstStyle/>
          <a:p>
            <a:pPr>
              <a:spcBef>
                <a:spcPts val="0"/>
              </a:spcBef>
              <a:spcAft>
                <a:spcPts val="0"/>
              </a:spcAft>
            </a:pPr>
            <a:r>
              <a:rPr sz="3200" b="0">
                <a:solidFill>
                  <a:srgbClr val="313131"/>
                </a:solidFill>
                <a:latin typeface="NVIDIA Sans"/>
              </a:rPr>
              <a:t>Open H3-Base capability</a:t>
            </a:r>
          </a:p>
        </p:txBody>
      </p:sp>
      <p:sp>
        <p:nvSpPr>
          <p:cNvPr id="25" name="Model insight"/>
          <p:cNvSpPr txBox="1"/>
          <p:nvPr/>
        </p:nvSpPr>
        <p:spPr>
          <a:xfrm>
            <a:off x="1828800" y="17876520"/>
            <a:ext cx="32918400" cy="960120"/>
          </a:xfrm>
          <a:prstGeom prst="rect">
            <a:avLst/>
          </a:prstGeom>
          <a:noFill/>
        </p:spPr>
        <p:txBody>
          <a:bodyPr wrap="square" lIns="0" rIns="0" tIns="0" bIns="0">
            <a:spAutoFit/>
          </a:bodyPr>
          <a:lstStyle/>
          <a:p>
            <a:pPr>
              <a:spcBef>
                <a:spcPts val="0"/>
              </a:spcBef>
              <a:spcAft>
                <a:spcPts val="0"/>
              </a:spcAft>
            </a:pPr>
            <a:r>
              <a:rPr sz="4100" b="0">
                <a:solidFill>
                  <a:srgbClr val="000000"/>
                </a:solidFill>
                <a:latin typeface="NVIDIA Sans Medium"/>
              </a:rPr>
              <a:t>The challenge: fit the complete audio–video pipeline into a ~5 s budget.</a:t>
            </a:r>
          </a:p>
        </p:txBody>
      </p:sp>
      <p:sp>
        <p:nvSpPr>
          <p:cNvPr id="26" name="Comparison scope"/>
          <p:cNvSpPr txBox="1"/>
          <p:nvPr/>
        </p:nvSpPr>
        <p:spPr>
          <a:xfrm>
            <a:off x="1828800" y="19202400"/>
            <a:ext cx="32918400"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Published full backbone sizes; encoders excluded. Parameter count is not a latency or quality ranking.</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3</a:t>
            </a:r>
          </a:p>
        </p:txBody>
      </p:sp>
      <p:sp>
        <p:nvSpPr>
          <p:cNvPr id="3" name="Text Placeholder 2"/>
          <p:cNvSpPr>
            <a:spLocks noGrp="1"/>
          </p:cNvSpPr>
          <p:nvPr>
            <p:ph type="body" idx="13" sz="quarter"/>
          </p:nvPr>
        </p:nvSpPr>
        <p:spPr/>
        <p:txBody>
          <a:bodyPr/>
          <a:lstStyle/>
          <a:p>
            <a:r>
              <a:t>Compute-rich, bandwidth-modest</a:t>
            </a:r>
          </a:p>
        </p:txBody>
      </p:sp>
      <p:sp>
        <p:nvSpPr>
          <p:cNvPr id="4" name="Title 3"/>
          <p:cNvSpPr>
            <a:spLocks noGrp="1"/>
          </p:cNvSpPr>
          <p:nvPr>
            <p:ph type="title"/>
          </p:nvPr>
        </p:nvSpPr>
        <p:spPr/>
        <p:txBody>
          <a:bodyPr/>
          <a:lstStyle/>
          <a:p>
            <a:r>
              <a:rPr sz="8800"/>
              <a:t>SM120 Cards</a:t>
            </a:r>
          </a:p>
        </p:txBody>
      </p:sp>
      <p:sp>
        <p:nvSpPr>
          <p:cNvPr id="5" name="Reference GPU frame"/>
          <p:cNvSpPr/>
          <p:nvPr/>
        </p:nvSpPr>
        <p:spPr>
          <a:xfrm>
            <a:off x="1828800" y="5486400"/>
            <a:ext cx="24688800" cy="3931920"/>
          </a:xfrm>
          <a:prstGeom prst="rect">
            <a:avLst/>
          </a:prstGeom>
          <a:solidFill>
            <a:srgbClr val="FFFFFF"/>
          </a:solidFill>
          <a:ln w="508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GPU model"/>
          <p:cNvSpPr txBox="1"/>
          <p:nvPr/>
        </p:nvSpPr>
        <p:spPr>
          <a:xfrm>
            <a:off x="2834640" y="6492240"/>
            <a:ext cx="22860000" cy="2011680"/>
          </a:xfrm>
          <a:prstGeom prst="rect">
            <a:avLst/>
          </a:prstGeom>
          <a:noFill/>
        </p:spPr>
        <p:txBody>
          <a:bodyPr wrap="square" lIns="0" rIns="0" tIns="0" bIns="0">
            <a:spAutoFit/>
          </a:bodyPr>
          <a:lstStyle/>
          <a:p>
            <a:pPr>
              <a:spcBef>
                <a:spcPts val="0"/>
              </a:spcBef>
              <a:spcAft>
                <a:spcPts val="0"/>
              </a:spcAft>
            </a:pPr>
            <a:r>
              <a:rPr sz="10400" b="0">
                <a:solidFill>
                  <a:srgbClr val="000000"/>
                </a:solidFill>
                <a:latin typeface="NVIDIA Sans Medium"/>
              </a:rPr>
              <a:t>RTX PRO 5000</a:t>
            </a:r>
          </a:p>
        </p:txBody>
      </p:sp>
      <p:sp>
        <p:nvSpPr>
          <p:cNvPr id="7" name="GPU count"/>
          <p:cNvSpPr txBox="1"/>
          <p:nvPr/>
        </p:nvSpPr>
        <p:spPr>
          <a:xfrm>
            <a:off x="27889200" y="5760720"/>
            <a:ext cx="6858000" cy="3291840"/>
          </a:xfrm>
          <a:prstGeom prst="rect">
            <a:avLst/>
          </a:prstGeom>
          <a:noFill/>
        </p:spPr>
        <p:txBody>
          <a:bodyPr wrap="square" lIns="0" rIns="0" tIns="0" bIns="0">
            <a:spAutoFit/>
          </a:bodyPr>
          <a:lstStyle/>
          <a:p>
            <a:pPr>
              <a:spcBef>
                <a:spcPts val="0"/>
              </a:spcBef>
              <a:spcAft>
                <a:spcPts val="0"/>
              </a:spcAft>
            </a:pPr>
            <a:r>
              <a:rPr sz="17400" b="0">
                <a:solidFill>
                  <a:srgbClr val="76B900"/>
                </a:solidFill>
                <a:latin typeface="NVIDIA Sans Medium"/>
              </a:rPr>
              <a:t>×8</a:t>
            </a:r>
          </a:p>
        </p:txBody>
      </p:sp>
      <p:sp>
        <p:nvSpPr>
          <p:cNvPr id="8" name="Spec SMs"/>
          <p:cNvSpPr txBox="1"/>
          <p:nvPr/>
        </p:nvSpPr>
        <p:spPr>
          <a:xfrm>
            <a:off x="18288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SMs</a:t>
            </a:r>
          </a:p>
        </p:txBody>
      </p:sp>
      <p:sp>
        <p:nvSpPr>
          <p:cNvPr id="9" name="Value SMs"/>
          <p:cNvSpPr txBox="1"/>
          <p:nvPr/>
        </p:nvSpPr>
        <p:spPr>
          <a:xfrm>
            <a:off x="18288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110</a:t>
            </a:r>
          </a:p>
        </p:txBody>
      </p:sp>
      <p:sp>
        <p:nvSpPr>
          <p:cNvPr id="10" name="Spec Memory"/>
          <p:cNvSpPr txBox="1"/>
          <p:nvPr/>
        </p:nvSpPr>
        <p:spPr>
          <a:xfrm>
            <a:off x="102870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Memory</a:t>
            </a:r>
          </a:p>
        </p:txBody>
      </p:sp>
      <p:sp>
        <p:nvSpPr>
          <p:cNvPr id="11" name="Value Memory"/>
          <p:cNvSpPr txBox="1"/>
          <p:nvPr/>
        </p:nvSpPr>
        <p:spPr>
          <a:xfrm>
            <a:off x="102870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72 GB</a:t>
            </a:r>
          </a:p>
          <a:p>
            <a:pPr>
              <a:spcBef>
                <a:spcPts val="0"/>
              </a:spcBef>
              <a:spcAft>
                <a:spcPts val="0"/>
              </a:spcAft>
            </a:pPr>
            <a:r>
              <a:rPr sz="4700" b="0">
                <a:solidFill>
                  <a:srgbClr val="000000"/>
                </a:solidFill>
                <a:latin typeface="NVIDIA Sans Medium"/>
              </a:rPr>
              <a:t>GDDR7 ECC</a:t>
            </a:r>
          </a:p>
        </p:txBody>
      </p:sp>
      <p:sp>
        <p:nvSpPr>
          <p:cNvPr id="12" name="Spec Power"/>
          <p:cNvSpPr txBox="1"/>
          <p:nvPr/>
        </p:nvSpPr>
        <p:spPr>
          <a:xfrm>
            <a:off x="187452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Power</a:t>
            </a:r>
          </a:p>
        </p:txBody>
      </p:sp>
      <p:sp>
        <p:nvSpPr>
          <p:cNvPr id="13" name="Value Power"/>
          <p:cNvSpPr txBox="1"/>
          <p:nvPr/>
        </p:nvSpPr>
        <p:spPr>
          <a:xfrm>
            <a:off x="187452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300 W</a:t>
            </a:r>
          </a:p>
        </p:txBody>
      </p:sp>
      <p:sp>
        <p:nvSpPr>
          <p:cNvPr id="14" name="Spec Interconnect"/>
          <p:cNvSpPr txBox="1"/>
          <p:nvPr/>
        </p:nvSpPr>
        <p:spPr>
          <a:xfrm>
            <a:off x="27203400" y="10789920"/>
            <a:ext cx="7589520" cy="73152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Interconnect</a:t>
            </a:r>
          </a:p>
        </p:txBody>
      </p:sp>
      <p:sp>
        <p:nvSpPr>
          <p:cNvPr id="15" name="Value Interconnect"/>
          <p:cNvSpPr txBox="1"/>
          <p:nvPr/>
        </p:nvSpPr>
        <p:spPr>
          <a:xfrm>
            <a:off x="27203400" y="11978640"/>
            <a:ext cx="7955279" cy="2377440"/>
          </a:xfrm>
          <a:prstGeom prst="rect">
            <a:avLst/>
          </a:prstGeom>
          <a:noFill/>
        </p:spPr>
        <p:txBody>
          <a:bodyPr wrap="square" lIns="0" rIns="0" tIns="0" bIns="0">
            <a:spAutoFit/>
          </a:bodyPr>
          <a:lstStyle/>
          <a:p>
            <a:pPr>
              <a:spcBef>
                <a:spcPts val="0"/>
              </a:spcBef>
              <a:spcAft>
                <a:spcPts val="0"/>
              </a:spcAft>
            </a:pPr>
            <a:r>
              <a:rPr sz="4700" b="0">
                <a:solidFill>
                  <a:srgbClr val="000000"/>
                </a:solidFill>
                <a:latin typeface="NVIDIA Sans Medium"/>
              </a:rPr>
              <a:t>PCIe Gen5 ×16</a:t>
            </a:r>
          </a:p>
        </p:txBody>
      </p:sp>
      <p:cxnSp>
        <p:nvCxnSpPr>
          <p:cNvPr id="16" name="Hardware contrast divider"/>
          <p:cNvCxnSpPr/>
          <p:nvPr/>
        </p:nvCxnSpPr>
        <p:spPr>
          <a:xfrm>
            <a:off x="18288000" y="15544800"/>
            <a:ext cx="0" cy="274320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7" name="Compute advantage"/>
          <p:cNvSpPr txBox="1"/>
          <p:nvPr/>
        </p:nvSpPr>
        <p:spPr>
          <a:xfrm>
            <a:off x="1828800" y="15636240"/>
            <a:ext cx="16002000" cy="914400"/>
          </a:xfrm>
          <a:prstGeom prst="rect">
            <a:avLst/>
          </a:prstGeom>
          <a:noFill/>
        </p:spPr>
        <p:txBody>
          <a:bodyPr wrap="square" lIns="0" rIns="0" tIns="0" bIns="0">
            <a:spAutoFit/>
          </a:bodyPr>
          <a:lstStyle/>
          <a:p>
            <a:pPr>
              <a:spcBef>
                <a:spcPts val="0"/>
              </a:spcBef>
              <a:spcAft>
                <a:spcPts val="0"/>
              </a:spcAft>
            </a:pPr>
            <a:r>
              <a:rPr sz="4300" b="0">
                <a:solidFill>
                  <a:srgbClr val="76B900"/>
                </a:solidFill>
                <a:latin typeface="NVIDIA Sans Medium"/>
              </a:rPr>
              <a:t>Blackwell Tensor Cores</a:t>
            </a:r>
          </a:p>
        </p:txBody>
      </p:sp>
      <p:sp>
        <p:nvSpPr>
          <p:cNvPr id="18" name="Compute explanation"/>
          <p:cNvSpPr txBox="1"/>
          <p:nvPr/>
        </p:nvSpPr>
        <p:spPr>
          <a:xfrm>
            <a:off x="1828800" y="17053560"/>
            <a:ext cx="16002000" cy="91440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Native FP4 compute</a:t>
            </a:r>
          </a:p>
        </p:txBody>
      </p:sp>
      <p:sp>
        <p:nvSpPr>
          <p:cNvPr id="19" name="Communication constraint"/>
          <p:cNvSpPr txBox="1"/>
          <p:nvPr/>
        </p:nvSpPr>
        <p:spPr>
          <a:xfrm>
            <a:off x="20116800" y="15636240"/>
            <a:ext cx="14630400" cy="914400"/>
          </a:xfrm>
          <a:prstGeom prst="rect">
            <a:avLst/>
          </a:prstGeom>
          <a:noFill/>
        </p:spPr>
        <p:txBody>
          <a:bodyPr wrap="square" lIns="0" rIns="0" tIns="0" bIns="0">
            <a:spAutoFit/>
          </a:bodyPr>
          <a:lstStyle/>
          <a:p>
            <a:pPr>
              <a:spcBef>
                <a:spcPts val="0"/>
              </a:spcBef>
              <a:spcAft>
                <a:spcPts val="0"/>
              </a:spcAft>
            </a:pPr>
            <a:r>
              <a:rPr sz="4300" b="0">
                <a:solidFill>
                  <a:srgbClr val="000000"/>
                </a:solidFill>
                <a:latin typeface="NVIDIA Sans Medium"/>
              </a:rPr>
              <a:t>No GPU NVLink</a:t>
            </a:r>
          </a:p>
        </p:txBody>
      </p:sp>
      <p:sp>
        <p:nvSpPr>
          <p:cNvPr id="20" name="Communication rate"/>
          <p:cNvSpPr txBox="1"/>
          <p:nvPr/>
        </p:nvSpPr>
        <p:spPr>
          <a:xfrm>
            <a:off x="20116800" y="17053560"/>
            <a:ext cx="14630400" cy="9144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64 GB/s PCIe per GPU, one way*</a:t>
            </a:r>
          </a:p>
        </p:txBody>
      </p:sp>
      <p:sp>
        <p:nvSpPr>
          <p:cNvPr id="21" name="Hardwar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*Raw nominal Gen5 ×16 capacity. The constraint here is inter-GPU communication relative to on-card compute.</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4</a:t>
            </a:r>
          </a:p>
        </p:txBody>
      </p:sp>
      <p:sp>
        <p:nvSpPr>
          <p:cNvPr id="3" name="Text Placeholder 2"/>
          <p:cNvSpPr>
            <a:spLocks noGrp="1"/>
          </p:cNvSpPr>
          <p:nvPr>
            <p:ph type="body" idx="13" sz="quarter"/>
          </p:nvPr>
        </p:nvSpPr>
        <p:spPr/>
        <p:txBody>
          <a:bodyPr/>
          <a:lstStyle/>
          <a:p>
            <a:r>
              <a:t>960 × 544 · 5.167 s generated video</a:t>
            </a:r>
          </a:p>
        </p:txBody>
      </p:sp>
      <p:sp>
        <p:nvSpPr>
          <p:cNvPr id="4" name="Title 3"/>
          <p:cNvSpPr>
            <a:spLocks noGrp="1"/>
          </p:cNvSpPr>
          <p:nvPr>
            <p:ph type="title"/>
          </p:nvPr>
        </p:nvSpPr>
        <p:spPr/>
        <p:txBody>
          <a:bodyPr/>
          <a:lstStyle/>
          <a:p>
            <a:r>
              <a:rPr sz="8800"/>
              <a:t>Baseline: Latency Breakdown</a:t>
            </a:r>
          </a:p>
        </p:txBody>
      </p:sp>
      <p:sp>
        <p:nvSpPr>
          <p:cNvPr id="5" name="Config heading"/>
          <p:cNvSpPr txBox="1"/>
          <p:nvPr/>
        </p:nvSpPr>
        <p:spPr>
          <a:xfrm>
            <a:off x="1828800" y="5486400"/>
            <a:ext cx="141732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Reference configuration</a:t>
            </a:r>
          </a:p>
        </p:txBody>
      </p:sp>
      <p:sp>
        <p:nvSpPr>
          <p:cNvPr id="6" name="E2E number"/>
          <p:cNvSpPr txBox="1"/>
          <p:nvPr/>
        </p:nvSpPr>
        <p:spPr>
          <a:xfrm>
            <a:off x="1828800" y="7406640"/>
            <a:ext cx="13898880" cy="2468880"/>
          </a:xfrm>
          <a:prstGeom prst="rect">
            <a:avLst/>
          </a:prstGeom>
          <a:noFill/>
        </p:spPr>
        <p:txBody>
          <a:bodyPr wrap="square" lIns="0" rIns="0" tIns="0" bIns="0">
            <a:spAutoFit/>
          </a:bodyPr>
          <a:lstStyle/>
          <a:p>
            <a:pPr>
              <a:spcBef>
                <a:spcPts val="0"/>
              </a:spcBef>
              <a:spcAft>
                <a:spcPts val="0"/>
              </a:spcAft>
            </a:pPr>
            <a:r>
              <a:rPr sz="13800" b="0">
                <a:solidFill>
                  <a:srgbClr val="000000"/>
                </a:solidFill>
                <a:latin typeface="NVIDIA Sans Medium"/>
              </a:rPr>
              <a:t>213.4 s</a:t>
            </a:r>
          </a:p>
        </p:txBody>
      </p:sp>
      <p:sp>
        <p:nvSpPr>
          <p:cNvPr id="7" name="E2E label"/>
          <p:cNvSpPr txBox="1"/>
          <p:nvPr/>
        </p:nvSpPr>
        <p:spPr>
          <a:xfrm>
            <a:off x="1828800" y="10058400"/>
            <a:ext cx="141732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E2E latency</a:t>
            </a:r>
          </a:p>
        </p:txBody>
      </p:sp>
      <p:sp>
        <p:nvSpPr>
          <p:cNvPr id="8" name="Reference configuration bullets"/>
          <p:cNvSpPr txBox="1"/>
          <p:nvPr/>
        </p:nvSpPr>
        <p:spPr>
          <a:xfrm>
            <a:off x="1828800" y="12435840"/>
            <a:ext cx="14173200" cy="475488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200" b="0">
                <a:solidFill>
                  <a:srgbClr val="000000"/>
                </a:solidFill>
                <a:latin typeface="NVIDIA Sans"/>
              </a:rPr>
              <a:t>8 × RTX PRO 5000</a:t>
            </a:r>
          </a:p>
          <a:p>
            <a:pPr marL="384048" indent="-310896">
              <a:spcBef>
                <a:spcPts val="0"/>
              </a:spcBef>
              <a:spcAft>
                <a:spcPts val="2200"/>
              </a:spcAft>
              <a:buFont typeface="NVIDIA Sans"/>
              <a:buChar char="•"/>
            </a:pPr>
            <a:r>
              <a:rPr sz="3200" b="0">
                <a:solidFill>
                  <a:srgbClr val="000000"/>
                </a:solidFill>
                <a:latin typeface="NVIDIA Sans"/>
              </a:rPr>
              <a:t>50 steps · BF16 · dense attention</a:t>
            </a:r>
          </a:p>
          <a:p>
            <a:pPr marL="384048" indent="-310896">
              <a:spcBef>
                <a:spcPts val="0"/>
              </a:spcBef>
              <a:spcAft>
                <a:spcPts val="2200"/>
              </a:spcAft>
              <a:buFont typeface="NVIDIA Sans"/>
              <a:buChar char="•"/>
            </a:pPr>
            <a:r>
              <a:rPr sz="3200" b="0">
                <a:solidFill>
                  <a:srgbClr val="000000"/>
                </a:solidFill>
                <a:latin typeface="NVIDIA Sans"/>
              </a:rPr>
              <a:t>Ulysses8 · encoder TP8 · VAE tiles8</a:t>
            </a:r>
          </a:p>
        </p:txBody>
      </p:sp>
      <p:sp>
        <p:nvSpPr>
          <p:cNvPr id="9" name="GPU heading"/>
          <p:cNvSpPr txBox="1"/>
          <p:nvPr/>
        </p:nvSpPr>
        <p:spPr>
          <a:xfrm>
            <a:off x="17373600" y="5486400"/>
            <a:ext cx="17373600" cy="109728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GPU work by operator</a:t>
            </a:r>
          </a:p>
        </p:txBody>
      </p:sp>
      <p:sp>
        <p:nvSpPr>
          <p:cNvPr id="10" name="Operator 0"/>
          <p:cNvSpPr txBox="1"/>
          <p:nvPr/>
        </p:nvSpPr>
        <p:spPr>
          <a:xfrm>
            <a:off x="17373600" y="758952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NCCL · includes waiting</a:t>
            </a:r>
          </a:p>
        </p:txBody>
      </p:sp>
      <p:sp>
        <p:nvSpPr>
          <p:cNvPr id="11" name="Share 0"/>
          <p:cNvSpPr txBox="1"/>
          <p:nvPr/>
        </p:nvSpPr>
        <p:spPr>
          <a:xfrm>
            <a:off x="30175200" y="740664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76B900"/>
                </a:solidFill>
                <a:latin typeface="NVIDIA Sans Medium"/>
              </a:rPr>
              <a:t>57.21%</a:t>
            </a:r>
          </a:p>
        </p:txBody>
      </p:sp>
      <p:sp>
        <p:nvSpPr>
          <p:cNvPr id="12" name="Bar track 0"/>
          <p:cNvSpPr/>
          <p:nvPr/>
        </p:nvSpPr>
        <p:spPr>
          <a:xfrm>
            <a:off x="17373600" y="882396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r value 0"/>
          <p:cNvSpPr/>
          <p:nvPr/>
        </p:nvSpPr>
        <p:spPr>
          <a:xfrm>
            <a:off x="17373600" y="8823960"/>
            <a:ext cx="9940131" cy="146304"/>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Operator 1"/>
          <p:cNvSpPr txBox="1"/>
          <p:nvPr/>
        </p:nvSpPr>
        <p:spPr>
          <a:xfrm>
            <a:off x="17373600" y="992124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Attention</a:t>
            </a:r>
          </a:p>
        </p:txBody>
      </p:sp>
      <p:sp>
        <p:nvSpPr>
          <p:cNvPr id="15" name="Share 1"/>
          <p:cNvSpPr txBox="1"/>
          <p:nvPr/>
        </p:nvSpPr>
        <p:spPr>
          <a:xfrm>
            <a:off x="30175200" y="973836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22.06%</a:t>
            </a:r>
          </a:p>
        </p:txBody>
      </p:sp>
      <p:sp>
        <p:nvSpPr>
          <p:cNvPr id="16" name="Bar track 1"/>
          <p:cNvSpPr/>
          <p:nvPr/>
        </p:nvSpPr>
        <p:spPr>
          <a:xfrm>
            <a:off x="17373600" y="1115568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r value 1"/>
          <p:cNvSpPr/>
          <p:nvPr/>
        </p:nvSpPr>
        <p:spPr>
          <a:xfrm>
            <a:off x="17373600" y="11155680"/>
            <a:ext cx="383227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Operator 2"/>
          <p:cNvSpPr txBox="1"/>
          <p:nvPr/>
        </p:nvSpPr>
        <p:spPr>
          <a:xfrm>
            <a:off x="17373600" y="1225296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GEMM</a:t>
            </a:r>
          </a:p>
        </p:txBody>
      </p:sp>
      <p:sp>
        <p:nvSpPr>
          <p:cNvPr id="19" name="Share 2"/>
          <p:cNvSpPr txBox="1"/>
          <p:nvPr/>
        </p:nvSpPr>
        <p:spPr>
          <a:xfrm>
            <a:off x="30175200" y="1207008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18.57%</a:t>
            </a:r>
          </a:p>
        </p:txBody>
      </p:sp>
      <p:sp>
        <p:nvSpPr>
          <p:cNvPr id="20" name="Bar track 2"/>
          <p:cNvSpPr/>
          <p:nvPr/>
        </p:nvSpPr>
        <p:spPr>
          <a:xfrm>
            <a:off x="17373600" y="1348740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r value 2"/>
          <p:cNvSpPr/>
          <p:nvPr/>
        </p:nvSpPr>
        <p:spPr>
          <a:xfrm>
            <a:off x="17373600" y="13487400"/>
            <a:ext cx="3225708"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perator 3"/>
          <p:cNvSpPr txBox="1"/>
          <p:nvPr/>
        </p:nvSpPr>
        <p:spPr>
          <a:xfrm>
            <a:off x="17373600" y="14584680"/>
            <a:ext cx="12801600" cy="73152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Other</a:t>
            </a:r>
          </a:p>
        </p:txBody>
      </p:sp>
      <p:sp>
        <p:nvSpPr>
          <p:cNvPr id="23" name="Share 3"/>
          <p:cNvSpPr txBox="1"/>
          <p:nvPr/>
        </p:nvSpPr>
        <p:spPr>
          <a:xfrm>
            <a:off x="30175200" y="14401800"/>
            <a:ext cx="4572000" cy="1005840"/>
          </a:xfrm>
          <a:prstGeom prst="rect">
            <a:avLst/>
          </a:prstGeom>
          <a:noFill/>
        </p:spPr>
        <p:txBody>
          <a:bodyPr wrap="square" lIns="0" rIns="0" tIns="0" bIns="0">
            <a:spAutoFit/>
          </a:bodyPr>
          <a:lstStyle/>
          <a:p>
            <a:pPr algn="ctr">
              <a:spcBef>
                <a:spcPts val="0"/>
              </a:spcBef>
              <a:spcAft>
                <a:spcPts val="0"/>
              </a:spcAft>
            </a:pPr>
            <a:r>
              <a:rPr sz="4800" b="0">
                <a:solidFill>
                  <a:srgbClr val="313131"/>
                </a:solidFill>
                <a:latin typeface="NVIDIA Sans Medium"/>
              </a:rPr>
              <a:t>2.16%</a:t>
            </a:r>
          </a:p>
        </p:txBody>
      </p:sp>
      <p:sp>
        <p:nvSpPr>
          <p:cNvPr id="24" name="Bar track 3"/>
          <p:cNvSpPr/>
          <p:nvPr/>
        </p:nvSpPr>
        <p:spPr>
          <a:xfrm>
            <a:off x="17373600" y="15819120"/>
            <a:ext cx="17373600" cy="146304"/>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r value 3"/>
          <p:cNvSpPr/>
          <p:nvPr/>
        </p:nvSpPr>
        <p:spPr>
          <a:xfrm>
            <a:off x="17373600" y="15819120"/>
            <a:ext cx="375481" cy="146304"/>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ccounting note"/>
          <p:cNvSpPr txBox="1"/>
          <p:nvPr/>
        </p:nvSpPr>
        <p:spPr>
          <a:xfrm>
            <a:off x="1828800" y="18882360"/>
            <a:ext cx="32918400" cy="64008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GPU work includes overlap and waiting; these shares are not E2E wall-time components.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5</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r>
              <a:rPr sz="4000" b="0">
                <a:solidFill>
                  <a:srgbClr val="000000"/>
                </a:solidFill>
                <a:latin typeface="NVIDIA Sans Medium"/>
              </a:rPr>
              <a:t>Fewer evaluations reduce compute and communication together.</a:t>
            </a:r>
          </a:p>
        </p:txBody>
      </p:sp>
      <p:sp>
        <p:nvSpPr>
          <p:cNvPr id="70" name="PDD mechanism"/>
          <p:cNvSpPr txBox="1"/>
          <p:nvPr/>
        </p:nvSpPr>
        <p:spPr>
          <a:xfrm>
            <a:off x="1828800" y="16459200"/>
            <a:ext cx="32918400" cy="731520"/>
          </a:xfrm>
          <a:prstGeom prst="rect">
            <a:avLst/>
          </a:prstGeom>
          <a:noFill/>
        </p:spPr>
        <p:txBody>
          <a:bodyPr wrap="square" lIns="0" rIns="0" tIns="0" bIns="0">
            <a:spAutoFit/>
          </a:bodyPr>
          <a:lstStyle/>
          <a:p>
            <a:pPr>
              <a:spcBef>
                <a:spcPts val="0"/>
              </a:spcBef>
              <a:spcAft>
                <a:spcPts val="0"/>
              </a:spcAft>
            </a:pPr>
            <a:r>
              <a:rPr sz="3100" b="0">
                <a:solidFill>
                  <a:srgbClr val="000000"/>
                </a:solidFill>
                <a:latin typeface="NVIDIA Sans"/>
              </a:rPr>
              <a:t>A trained student predicts multiple diffusion intervals per call.</a:t>
            </a:r>
          </a:p>
        </p:txBody>
      </p:sp>
      <p:sp>
        <p:nvSpPr>
          <p:cNvPr id="71" name="PDD latency"/>
          <p:cNvSpPr txBox="1"/>
          <p:nvPr/>
        </p:nvSpPr>
        <p:spPr>
          <a:xfrm>
            <a:off x="22860000" y="13716000"/>
            <a:ext cx="118872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213.40 s → 44.33 s</a:t>
            </a:r>
          </a:p>
        </p:txBody>
      </p:sp>
      <p:sp>
        <p:nvSpPr>
          <p:cNvPr id="72" name="PDD speedup"/>
          <p:cNvSpPr txBox="1"/>
          <p:nvPr/>
        </p:nvSpPr>
        <p:spPr>
          <a:xfrm>
            <a:off x="22860000" y="14996159"/>
            <a:ext cx="11887200" cy="73152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Recorded E2E · 4.81×†</a:t>
            </a:r>
          </a:p>
        </p:txBody>
      </p:sp>
      <p:sp>
        <p:nvSpPr>
          <p:cNvPr id="73" name="PDD evidence scope"/>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 Baseline measured separately. This is a recorded median ratio, not an isolated step-count experiment.</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6</a:t>
            </a:r>
          </a:p>
        </p:txBody>
      </p:sp>
      <p:sp>
        <p:nvSpPr>
          <p:cNvPr id="3" name="Text Placeholder 2"/>
          <p:cNvSpPr>
            <a:spLocks noGrp="1"/>
          </p:cNvSpPr>
          <p:nvPr>
            <p:ph type="body" idx="13" sz="quarter"/>
          </p:nvPr>
        </p:nvSpPr>
        <p:spPr/>
        <p:txBody>
          <a:bodyPr/>
          <a:lstStyle/>
          <a:p>
            <a:r>
              <a:t>Do less attention work. Use lower precision where quality allows.</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r>
              <a:rPr sz="3800" b="0">
                <a:solidFill>
                  <a:srgbClr val="000000"/>
                </a:solidFill>
                <a:latin typeface="NVIDIA Sans"/>
              </a:rPr>
              <a:t>Coarse attention selects fine regions</a:t>
            </a:r>
          </a:p>
        </p:txBody>
      </p:sp>
      <p:sp>
        <p:nvSpPr>
          <p:cNvPr id="43" name="VSA diagram scope"/>
          <p:cNvSpPr txBox="1"/>
          <p:nvPr/>
        </p:nvSpPr>
        <p:spPr>
          <a:xfrm>
            <a:off x="1828800" y="1380744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r>
              <a:rPr sz="3400" b="0">
                <a:solidFill>
                  <a:srgbClr val="000000"/>
                </a:solidFill>
                <a:latin typeface="NVIDIA Sans"/>
              </a:rPr>
              <a:t>QAD DiT + native FP4 attention</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VSA measured effect"/>
          <p:cNvSpPr txBox="1"/>
          <p:nvPr/>
        </p:nvSpPr>
        <p:spPr>
          <a:xfrm>
            <a:off x="1828800" y="15910559"/>
            <a:ext cx="16002000" cy="914400"/>
          </a:xfrm>
          <a:prstGeom prst="rect">
            <a:avLst/>
          </a:prstGeom>
          <a:noFill/>
        </p:spPr>
        <p:txBody>
          <a:bodyPr wrap="square" lIns="0" rIns="0" tIns="0" bIns="0">
            <a:spAutoFit/>
          </a:bodyPr>
          <a:lstStyle/>
          <a:p>
            <a:pPr>
              <a:spcBef>
                <a:spcPts val="0"/>
              </a:spcBef>
              <a:spcAft>
                <a:spcPts val="0"/>
              </a:spcAft>
            </a:pPr>
            <a:r>
              <a:rPr sz="3600" b="0">
                <a:solidFill>
                  <a:srgbClr val="76B900"/>
                </a:solidFill>
                <a:latin typeface="NVIDIA Sans Medium"/>
              </a:rPr>
              <a:t>44.33 s → 25.92 s · 1.71×</a:t>
            </a:r>
          </a:p>
        </p:txBody>
      </p:sp>
      <p:sp>
        <p:nvSpPr>
          <p:cNvPr id="53" name="NVFP4 measured effect"/>
          <p:cNvSpPr txBox="1"/>
          <p:nvPr/>
        </p:nvSpPr>
        <p:spPr>
          <a:xfrm>
            <a:off x="20116800" y="15910559"/>
            <a:ext cx="14630400" cy="914400"/>
          </a:xfrm>
          <a:prstGeom prst="rect">
            <a:avLst/>
          </a:prstGeom>
          <a:noFill/>
        </p:spPr>
        <p:txBody>
          <a:bodyPr wrap="square" lIns="0" rIns="0" tIns="0" bIns="0">
            <a:spAutoFit/>
          </a:bodyPr>
          <a:lstStyle/>
          <a:p>
            <a:pPr>
              <a:spcBef>
                <a:spcPts val="0"/>
              </a:spcBef>
              <a:spcAft>
                <a:spcPts val="0"/>
              </a:spcAft>
            </a:pPr>
            <a:r>
              <a:rPr sz="3500" b="0">
                <a:solidFill>
                  <a:srgbClr val="76B900"/>
                </a:solidFill>
                <a:latin typeface="NVIDIA Sans Medium"/>
              </a:rPr>
              <a:t>25.92 s → 19.46 s · 1.33×</a:t>
            </a:r>
          </a:p>
        </p:txBody>
      </p:sp>
      <p:sp>
        <p:nvSpPr>
          <p:cNvPr id="54" name="VSA FP4 evidence scope"/>
          <p:cNvSpPr txBox="1"/>
          <p:nvPr/>
        </p:nvSpPr>
        <p:spPr>
          <a:xfrm>
            <a:off x="1828800" y="19202400"/>
            <a:ext cx="32918400" cy="59436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Recorded E2E medians · 8 evaluations · trained sparse / quantized model variants; quality must be validated.</a:t>
            </a:r>
          </a:p>
        </p:txBody>
      </p:sp>
      <p:sp>
        <p:nvSpPr>
          <p:cNvPr id="55" name="Attention block 0-0"/>
          <p:cNvSpPr/>
          <p:nvPr/>
        </p:nvSpPr>
        <p:spPr>
          <a:xfrm>
            <a:off x="42976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Attention block 0-1"/>
          <p:cNvSpPr/>
          <p:nvPr/>
        </p:nvSpPr>
        <p:spPr>
          <a:xfrm>
            <a:off x="5257800" y="8641080"/>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Attention block 0-2"/>
          <p:cNvSpPr/>
          <p:nvPr/>
        </p:nvSpPr>
        <p:spPr>
          <a:xfrm>
            <a:off x="62179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Attention block 0-3"/>
          <p:cNvSpPr/>
          <p:nvPr/>
        </p:nvSpPr>
        <p:spPr>
          <a:xfrm>
            <a:off x="71780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Attention block 0-4"/>
          <p:cNvSpPr/>
          <p:nvPr/>
        </p:nvSpPr>
        <p:spPr>
          <a:xfrm>
            <a:off x="81381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Attention block 0-5"/>
          <p:cNvSpPr/>
          <p:nvPr/>
        </p:nvSpPr>
        <p:spPr>
          <a:xfrm>
            <a:off x="909828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Attention block 0-6"/>
          <p:cNvSpPr/>
          <p:nvPr/>
        </p:nvSpPr>
        <p:spPr>
          <a:xfrm>
            <a:off x="1005840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Attention block 0-7"/>
          <p:cNvSpPr/>
          <p:nvPr/>
        </p:nvSpPr>
        <p:spPr>
          <a:xfrm>
            <a:off x="1101852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Attention block 0-8"/>
          <p:cNvSpPr/>
          <p:nvPr/>
        </p:nvSpPr>
        <p:spPr>
          <a:xfrm>
            <a:off x="1197864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Attention block 0-9"/>
          <p:cNvSpPr/>
          <p:nvPr/>
        </p:nvSpPr>
        <p:spPr>
          <a:xfrm>
            <a:off x="12938760" y="8641080"/>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Attention block 1-0"/>
          <p:cNvSpPr/>
          <p:nvPr/>
        </p:nvSpPr>
        <p:spPr>
          <a:xfrm>
            <a:off x="42976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Attention block 1-1"/>
          <p:cNvSpPr/>
          <p:nvPr/>
        </p:nvSpPr>
        <p:spPr>
          <a:xfrm>
            <a:off x="52578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Attention block 1-2"/>
          <p:cNvSpPr/>
          <p:nvPr/>
        </p:nvSpPr>
        <p:spPr>
          <a:xfrm>
            <a:off x="621792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Attention block 1-3"/>
          <p:cNvSpPr/>
          <p:nvPr/>
        </p:nvSpPr>
        <p:spPr>
          <a:xfrm>
            <a:off x="71780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Attention block 1-4"/>
          <p:cNvSpPr/>
          <p:nvPr/>
        </p:nvSpPr>
        <p:spPr>
          <a:xfrm>
            <a:off x="81381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Attention block 1-5"/>
          <p:cNvSpPr/>
          <p:nvPr/>
        </p:nvSpPr>
        <p:spPr>
          <a:xfrm>
            <a:off x="909828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Attention block 1-6"/>
          <p:cNvSpPr/>
          <p:nvPr/>
        </p:nvSpPr>
        <p:spPr>
          <a:xfrm>
            <a:off x="1005840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Attention block 1-7"/>
          <p:cNvSpPr/>
          <p:nvPr/>
        </p:nvSpPr>
        <p:spPr>
          <a:xfrm>
            <a:off x="11018520" y="9116567"/>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Attention block 1-8"/>
          <p:cNvSpPr/>
          <p:nvPr/>
        </p:nvSpPr>
        <p:spPr>
          <a:xfrm>
            <a:off x="1197864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4" name="Attention block 1-9"/>
          <p:cNvSpPr/>
          <p:nvPr/>
        </p:nvSpPr>
        <p:spPr>
          <a:xfrm>
            <a:off x="12938760" y="9116567"/>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Attention block 2-0"/>
          <p:cNvSpPr/>
          <p:nvPr/>
        </p:nvSpPr>
        <p:spPr>
          <a:xfrm>
            <a:off x="42976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Attention block 2-1"/>
          <p:cNvSpPr/>
          <p:nvPr/>
        </p:nvSpPr>
        <p:spPr>
          <a:xfrm>
            <a:off x="52578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7" name="Attention block 2-2"/>
          <p:cNvSpPr/>
          <p:nvPr/>
        </p:nvSpPr>
        <p:spPr>
          <a:xfrm>
            <a:off x="62179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Attention block 2-3"/>
          <p:cNvSpPr/>
          <p:nvPr/>
        </p:nvSpPr>
        <p:spPr>
          <a:xfrm>
            <a:off x="7178040" y="9592055"/>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Attention block 2-4"/>
          <p:cNvSpPr/>
          <p:nvPr/>
        </p:nvSpPr>
        <p:spPr>
          <a:xfrm>
            <a:off x="81381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Attention block 2-5"/>
          <p:cNvSpPr/>
          <p:nvPr/>
        </p:nvSpPr>
        <p:spPr>
          <a:xfrm>
            <a:off x="909828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1" name="Attention block 2-6"/>
          <p:cNvSpPr/>
          <p:nvPr/>
        </p:nvSpPr>
        <p:spPr>
          <a:xfrm>
            <a:off x="1005840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Attention block 2-7"/>
          <p:cNvSpPr/>
          <p:nvPr/>
        </p:nvSpPr>
        <p:spPr>
          <a:xfrm>
            <a:off x="1101852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3" name="Attention block 2-8"/>
          <p:cNvSpPr/>
          <p:nvPr/>
        </p:nvSpPr>
        <p:spPr>
          <a:xfrm>
            <a:off x="1197864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4" name="Attention block 2-9"/>
          <p:cNvSpPr/>
          <p:nvPr/>
        </p:nvSpPr>
        <p:spPr>
          <a:xfrm>
            <a:off x="12938760" y="9592055"/>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Attention block 3-0"/>
          <p:cNvSpPr/>
          <p:nvPr/>
        </p:nvSpPr>
        <p:spPr>
          <a:xfrm>
            <a:off x="42976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6" name="Attention block 3-1"/>
          <p:cNvSpPr/>
          <p:nvPr/>
        </p:nvSpPr>
        <p:spPr>
          <a:xfrm>
            <a:off x="52578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7" name="Attention block 3-2"/>
          <p:cNvSpPr/>
          <p:nvPr/>
        </p:nvSpPr>
        <p:spPr>
          <a:xfrm>
            <a:off x="62179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8" name="Attention block 3-3"/>
          <p:cNvSpPr/>
          <p:nvPr/>
        </p:nvSpPr>
        <p:spPr>
          <a:xfrm>
            <a:off x="71780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9" name="Attention block 3-4"/>
          <p:cNvSpPr/>
          <p:nvPr/>
        </p:nvSpPr>
        <p:spPr>
          <a:xfrm>
            <a:off x="813816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0" name="Attention block 3-5"/>
          <p:cNvSpPr/>
          <p:nvPr/>
        </p:nvSpPr>
        <p:spPr>
          <a:xfrm>
            <a:off x="909828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1" name="Attention block 3-6"/>
          <p:cNvSpPr/>
          <p:nvPr/>
        </p:nvSpPr>
        <p:spPr>
          <a:xfrm>
            <a:off x="1005840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2" name="Attention block 3-7"/>
          <p:cNvSpPr/>
          <p:nvPr/>
        </p:nvSpPr>
        <p:spPr>
          <a:xfrm>
            <a:off x="1101852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3" name="Attention block 3-8"/>
          <p:cNvSpPr/>
          <p:nvPr/>
        </p:nvSpPr>
        <p:spPr>
          <a:xfrm>
            <a:off x="11978640" y="1006754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4" name="Attention block 3-9"/>
          <p:cNvSpPr/>
          <p:nvPr/>
        </p:nvSpPr>
        <p:spPr>
          <a:xfrm>
            <a:off x="12938760" y="1006754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5" name="Attention block 4-0"/>
          <p:cNvSpPr/>
          <p:nvPr/>
        </p:nvSpPr>
        <p:spPr>
          <a:xfrm>
            <a:off x="4297680" y="1054303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6" name="Attention block 4-1"/>
          <p:cNvSpPr/>
          <p:nvPr/>
        </p:nvSpPr>
        <p:spPr>
          <a:xfrm>
            <a:off x="52578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7" name="Attention block 4-2"/>
          <p:cNvSpPr/>
          <p:nvPr/>
        </p:nvSpPr>
        <p:spPr>
          <a:xfrm>
            <a:off x="62179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8" name="Attention block 4-3"/>
          <p:cNvSpPr/>
          <p:nvPr/>
        </p:nvSpPr>
        <p:spPr>
          <a:xfrm>
            <a:off x="71780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9" name="Attention block 4-4"/>
          <p:cNvSpPr/>
          <p:nvPr/>
        </p:nvSpPr>
        <p:spPr>
          <a:xfrm>
            <a:off x="81381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0" name="Attention block 4-5"/>
          <p:cNvSpPr/>
          <p:nvPr/>
        </p:nvSpPr>
        <p:spPr>
          <a:xfrm>
            <a:off x="909828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1" name="Attention block 4-6"/>
          <p:cNvSpPr/>
          <p:nvPr/>
        </p:nvSpPr>
        <p:spPr>
          <a:xfrm>
            <a:off x="1005840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2" name="Attention block 4-7"/>
          <p:cNvSpPr/>
          <p:nvPr/>
        </p:nvSpPr>
        <p:spPr>
          <a:xfrm>
            <a:off x="1101852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3" name="Attention block 4-8"/>
          <p:cNvSpPr/>
          <p:nvPr/>
        </p:nvSpPr>
        <p:spPr>
          <a:xfrm>
            <a:off x="1197864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4" name="Attention block 4-9"/>
          <p:cNvSpPr/>
          <p:nvPr/>
        </p:nvSpPr>
        <p:spPr>
          <a:xfrm>
            <a:off x="12938760" y="1054303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5" name="Attention block 5-0"/>
          <p:cNvSpPr/>
          <p:nvPr/>
        </p:nvSpPr>
        <p:spPr>
          <a:xfrm>
            <a:off x="42976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6" name="Attention block 5-1"/>
          <p:cNvSpPr/>
          <p:nvPr/>
        </p:nvSpPr>
        <p:spPr>
          <a:xfrm>
            <a:off x="525780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7" name="Attention block 5-2"/>
          <p:cNvSpPr/>
          <p:nvPr/>
        </p:nvSpPr>
        <p:spPr>
          <a:xfrm>
            <a:off x="62179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8" name="Attention block 5-3"/>
          <p:cNvSpPr/>
          <p:nvPr/>
        </p:nvSpPr>
        <p:spPr>
          <a:xfrm>
            <a:off x="71780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Attention block 5-4"/>
          <p:cNvSpPr/>
          <p:nvPr/>
        </p:nvSpPr>
        <p:spPr>
          <a:xfrm>
            <a:off x="81381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0" name="Attention block 5-5"/>
          <p:cNvSpPr/>
          <p:nvPr/>
        </p:nvSpPr>
        <p:spPr>
          <a:xfrm>
            <a:off x="909828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1" name="Attention block 5-6"/>
          <p:cNvSpPr/>
          <p:nvPr/>
        </p:nvSpPr>
        <p:spPr>
          <a:xfrm>
            <a:off x="10058400" y="11018519"/>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2" name="Attention block 5-7"/>
          <p:cNvSpPr/>
          <p:nvPr/>
        </p:nvSpPr>
        <p:spPr>
          <a:xfrm>
            <a:off x="1101852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3" name="Attention block 5-8"/>
          <p:cNvSpPr/>
          <p:nvPr/>
        </p:nvSpPr>
        <p:spPr>
          <a:xfrm>
            <a:off x="1197864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Attention block 5-9"/>
          <p:cNvSpPr/>
          <p:nvPr/>
        </p:nvSpPr>
        <p:spPr>
          <a:xfrm>
            <a:off x="12938760" y="11018519"/>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Attention block 6-0"/>
          <p:cNvSpPr/>
          <p:nvPr/>
        </p:nvSpPr>
        <p:spPr>
          <a:xfrm>
            <a:off x="42976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6" name="Attention block 6-1"/>
          <p:cNvSpPr/>
          <p:nvPr/>
        </p:nvSpPr>
        <p:spPr>
          <a:xfrm>
            <a:off x="52578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7" name="Attention block 6-2"/>
          <p:cNvSpPr/>
          <p:nvPr/>
        </p:nvSpPr>
        <p:spPr>
          <a:xfrm>
            <a:off x="6217920" y="11494008"/>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Attention block 6-3"/>
          <p:cNvSpPr/>
          <p:nvPr/>
        </p:nvSpPr>
        <p:spPr>
          <a:xfrm>
            <a:off x="71780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9" name="Attention block 6-4"/>
          <p:cNvSpPr/>
          <p:nvPr/>
        </p:nvSpPr>
        <p:spPr>
          <a:xfrm>
            <a:off x="81381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0" name="Attention block 6-5"/>
          <p:cNvSpPr/>
          <p:nvPr/>
        </p:nvSpPr>
        <p:spPr>
          <a:xfrm>
            <a:off x="909828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Attention block 6-6"/>
          <p:cNvSpPr/>
          <p:nvPr/>
        </p:nvSpPr>
        <p:spPr>
          <a:xfrm>
            <a:off x="1005840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2" name="Attention block 6-7"/>
          <p:cNvSpPr/>
          <p:nvPr/>
        </p:nvSpPr>
        <p:spPr>
          <a:xfrm>
            <a:off x="1101852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3" name="Attention block 6-8"/>
          <p:cNvSpPr/>
          <p:nvPr/>
        </p:nvSpPr>
        <p:spPr>
          <a:xfrm>
            <a:off x="1197864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Attention block 6-9"/>
          <p:cNvSpPr/>
          <p:nvPr/>
        </p:nvSpPr>
        <p:spPr>
          <a:xfrm>
            <a:off x="12938760" y="11494008"/>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5" name="Attention block 7-0"/>
          <p:cNvSpPr/>
          <p:nvPr/>
        </p:nvSpPr>
        <p:spPr>
          <a:xfrm>
            <a:off x="42976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6" name="Attention block 7-1"/>
          <p:cNvSpPr/>
          <p:nvPr/>
        </p:nvSpPr>
        <p:spPr>
          <a:xfrm>
            <a:off x="52578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Attention block 7-2"/>
          <p:cNvSpPr/>
          <p:nvPr/>
        </p:nvSpPr>
        <p:spPr>
          <a:xfrm>
            <a:off x="62179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8" name="Attention block 7-3"/>
          <p:cNvSpPr/>
          <p:nvPr/>
        </p:nvSpPr>
        <p:spPr>
          <a:xfrm>
            <a:off x="717804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9" name="Attention block 7-4"/>
          <p:cNvSpPr/>
          <p:nvPr/>
        </p:nvSpPr>
        <p:spPr>
          <a:xfrm>
            <a:off x="81381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Attention block 7-5"/>
          <p:cNvSpPr/>
          <p:nvPr/>
        </p:nvSpPr>
        <p:spPr>
          <a:xfrm>
            <a:off x="909828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1" name="Attention block 7-6"/>
          <p:cNvSpPr/>
          <p:nvPr/>
        </p:nvSpPr>
        <p:spPr>
          <a:xfrm>
            <a:off x="1005840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2" name="Attention block 7-7"/>
          <p:cNvSpPr/>
          <p:nvPr/>
        </p:nvSpPr>
        <p:spPr>
          <a:xfrm>
            <a:off x="1101852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3" name="Attention block 7-8"/>
          <p:cNvSpPr/>
          <p:nvPr/>
        </p:nvSpPr>
        <p:spPr>
          <a:xfrm>
            <a:off x="11978640" y="11969496"/>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4" name="Attention block 7-9"/>
          <p:cNvSpPr/>
          <p:nvPr/>
        </p:nvSpPr>
        <p:spPr>
          <a:xfrm>
            <a:off x="12938760" y="11969496"/>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Attention block 8-0"/>
          <p:cNvSpPr/>
          <p:nvPr/>
        </p:nvSpPr>
        <p:spPr>
          <a:xfrm>
            <a:off x="42976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6" name="Attention block 8-1"/>
          <p:cNvSpPr/>
          <p:nvPr/>
        </p:nvSpPr>
        <p:spPr>
          <a:xfrm>
            <a:off x="52578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7" name="Attention block 8-2"/>
          <p:cNvSpPr/>
          <p:nvPr/>
        </p:nvSpPr>
        <p:spPr>
          <a:xfrm>
            <a:off x="62179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Attention block 8-3"/>
          <p:cNvSpPr/>
          <p:nvPr/>
        </p:nvSpPr>
        <p:spPr>
          <a:xfrm>
            <a:off x="71780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9" name="Attention block 8-4"/>
          <p:cNvSpPr/>
          <p:nvPr/>
        </p:nvSpPr>
        <p:spPr>
          <a:xfrm>
            <a:off x="8138160" y="12444984"/>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0" name="Attention block 8-5"/>
          <p:cNvSpPr/>
          <p:nvPr/>
        </p:nvSpPr>
        <p:spPr>
          <a:xfrm>
            <a:off x="909828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Attention block 8-6"/>
          <p:cNvSpPr/>
          <p:nvPr/>
        </p:nvSpPr>
        <p:spPr>
          <a:xfrm>
            <a:off x="1005840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2" name="Attention block 8-7"/>
          <p:cNvSpPr/>
          <p:nvPr/>
        </p:nvSpPr>
        <p:spPr>
          <a:xfrm>
            <a:off x="1101852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3" name="Attention block 8-8"/>
          <p:cNvSpPr/>
          <p:nvPr/>
        </p:nvSpPr>
        <p:spPr>
          <a:xfrm>
            <a:off x="1197864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Attention block 8-9"/>
          <p:cNvSpPr/>
          <p:nvPr/>
        </p:nvSpPr>
        <p:spPr>
          <a:xfrm>
            <a:off x="12938760" y="12444984"/>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5" name="Attention block 9-0"/>
          <p:cNvSpPr/>
          <p:nvPr/>
        </p:nvSpPr>
        <p:spPr>
          <a:xfrm>
            <a:off x="429768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6" name="Attention block 9-1"/>
          <p:cNvSpPr/>
          <p:nvPr/>
        </p:nvSpPr>
        <p:spPr>
          <a:xfrm>
            <a:off x="52578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7" name="Attention block 9-2"/>
          <p:cNvSpPr/>
          <p:nvPr/>
        </p:nvSpPr>
        <p:spPr>
          <a:xfrm>
            <a:off x="62179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8" name="Attention block 9-3"/>
          <p:cNvSpPr/>
          <p:nvPr/>
        </p:nvSpPr>
        <p:spPr>
          <a:xfrm>
            <a:off x="71780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9" name="Attention block 9-4"/>
          <p:cNvSpPr/>
          <p:nvPr/>
        </p:nvSpPr>
        <p:spPr>
          <a:xfrm>
            <a:off x="81381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0" name="Attention block 9-5"/>
          <p:cNvSpPr/>
          <p:nvPr/>
        </p:nvSpPr>
        <p:spPr>
          <a:xfrm>
            <a:off x="9098280" y="12920472"/>
            <a:ext cx="822960" cy="3657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1" name="Attention block 9-6"/>
          <p:cNvSpPr/>
          <p:nvPr/>
        </p:nvSpPr>
        <p:spPr>
          <a:xfrm>
            <a:off x="1005840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2" name="Attention block 9-7"/>
          <p:cNvSpPr/>
          <p:nvPr/>
        </p:nvSpPr>
        <p:spPr>
          <a:xfrm>
            <a:off x="1101852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3" name="Attention block 9-8"/>
          <p:cNvSpPr/>
          <p:nvPr/>
        </p:nvSpPr>
        <p:spPr>
          <a:xfrm>
            <a:off x="1197864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4" name="Attention block 9-9"/>
          <p:cNvSpPr/>
          <p:nvPr/>
        </p:nvSpPr>
        <p:spPr>
          <a:xfrm>
            <a:off x="12938760" y="12920472"/>
            <a:ext cx="822960" cy="36576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5" name="VSA configuration"/>
          <p:cNvSpPr txBox="1"/>
          <p:nvPr/>
        </p:nvSpPr>
        <p:spPr>
          <a:xfrm>
            <a:off x="1828800" y="14676120"/>
            <a:ext cx="16002000" cy="8229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90% sparsity · Block size: 128 tokens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7</a:t>
            </a:r>
          </a:p>
        </p:txBody>
      </p:sp>
      <p:sp>
        <p:nvSpPr>
          <p:cNvPr id="3" name="Text Placeholder 2"/>
          <p:cNvSpPr>
            <a:spLocks noGrp="1"/>
          </p:cNvSpPr>
          <p:nvPr>
            <p:ph type="body" idx="13" sz="quarter"/>
          </p:nvPr>
        </p:nvSpPr>
        <p:spPr/>
        <p:txBody>
          <a:bodyPr/>
          <a:lstStyle/>
          <a:p>
            <a:r>
              <a:t>Compute-rich, bandwidth-modest: choose the payload route.</a:t>
            </a:r>
          </a:p>
        </p:txBody>
      </p:sp>
      <p:sp>
        <p:nvSpPr>
          <p:cNvPr id="4" name="Title 3"/>
          <p:cNvSpPr>
            <a:spLocks noGrp="1"/>
          </p:cNvSpPr>
          <p:nvPr>
            <p:ph type="title"/>
          </p:nvPr>
        </p:nvSpPr>
        <p:spPr/>
        <p:txBody>
          <a:bodyPr/>
          <a:lstStyle/>
          <a:p>
            <a:r>
              <a:rPr sz="8800"/>
              <a:t>Optimization - Comms</a:t>
            </a:r>
          </a:p>
        </p:txBody>
      </p:sp>
      <p:sp>
        <p:nvSpPr>
          <p:cNvPr id="5" name="CPU 0"/>
          <p:cNvSpPr/>
          <p:nvPr/>
        </p:nvSpPr>
        <p:spPr>
          <a:xfrm>
            <a:off x="36576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0 label"/>
          <p:cNvSpPr txBox="1"/>
          <p:nvPr/>
        </p:nvSpPr>
        <p:spPr>
          <a:xfrm>
            <a:off x="37216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0 + host buffers</a:t>
            </a:r>
          </a:p>
        </p:txBody>
      </p:sp>
      <p:sp>
        <p:nvSpPr>
          <p:cNvPr id="7" name="CPU 1"/>
          <p:cNvSpPr/>
          <p:nvPr/>
        </p:nvSpPr>
        <p:spPr>
          <a:xfrm>
            <a:off x="21031200" y="5303520"/>
            <a:ext cx="118872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1 label"/>
          <p:cNvSpPr txBox="1"/>
          <p:nvPr/>
        </p:nvSpPr>
        <p:spPr>
          <a:xfrm>
            <a:off x="21095208" y="5468112"/>
            <a:ext cx="11759184" cy="82296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CPU 1 + host buffers</a:t>
            </a:r>
          </a:p>
        </p:txBody>
      </p:sp>
      <p:cxnSp>
        <p:nvCxnSpPr>
          <p:cNvPr id="9" name="CPU interconnect"/>
          <p:cNvCxnSpPr/>
          <p:nvPr/>
        </p:nvCxnSpPr>
        <p:spPr>
          <a:xfrm>
            <a:off x="15544800" y="5806440"/>
            <a:ext cx="5486400" cy="0"/>
          </a:xfrm>
          <a:prstGeom prst="line">
            <a:avLst/>
          </a:prstGeom>
          <a:ln w="81280">
            <a:solidFill>
              <a:srgbClr val="A7A7A7"/>
            </a:solidFill>
            <a:prstDash val="solid"/>
          </a:ln>
        </p:spPr>
        <p:style>
          <a:lnRef idx="2">
            <a:schemeClr val="accent1"/>
          </a:lnRef>
          <a:fillRef idx="0">
            <a:schemeClr val="accent1"/>
          </a:fillRef>
          <a:effectRef idx="1">
            <a:schemeClr val="accent1"/>
          </a:effectRef>
          <a:fontRef idx="minor">
            <a:schemeClr val="tx1"/>
          </a:fontRef>
        </p:style>
      </p:cxnSp>
      <p:sp>
        <p:nvSpPr>
          <p:cNvPr id="10" name="CPU interconnect bandwidth"/>
          <p:cNvSpPr txBox="1"/>
          <p:nvPr/>
        </p:nvSpPr>
        <p:spPr>
          <a:xfrm>
            <a:off x="15819120" y="5074920"/>
            <a:ext cx="4937760" cy="502920"/>
          </a:xfrm>
          <a:prstGeom prst="rect">
            <a:avLst/>
          </a:prstGeom>
          <a:noFill/>
        </p:spPr>
        <p:txBody>
          <a:bodyPr wrap="square" lIns="0" rIns="0" tIns="0" bIns="0">
            <a:spAutoFit/>
          </a:bodyPr>
          <a:lstStyle/>
          <a:p>
            <a:pPr algn="ctr"/>
            <a:r>
              <a:rPr sz="2800" b="0">
                <a:solidFill>
                  <a:srgbClr val="313131"/>
                </a:solidFill>
                <a:latin typeface="NVIDIA Sans"/>
              </a:rPr>
              <a:t>128 GB/s</a:t>
            </a:r>
          </a:p>
        </p:txBody>
      </p:sp>
      <p:cxnSp>
        <p:nvCxnSpPr>
          <p:cNvPr id="11" name="Host uplink 0"/>
          <p:cNvCxnSpPr/>
          <p:nvPr/>
        </p:nvCxnSpPr>
        <p:spPr>
          <a:xfrm flipH="1">
            <a:off x="52578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2" name="Switch 0"/>
          <p:cNvSpPr/>
          <p:nvPr/>
        </p:nvSpPr>
        <p:spPr>
          <a:xfrm>
            <a:off x="18288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witch 0 label"/>
          <p:cNvSpPr txBox="1"/>
          <p:nvPr/>
        </p:nvSpPr>
        <p:spPr>
          <a:xfrm>
            <a:off x="1892807"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14" name="GPU link 0-0"/>
          <p:cNvCxnSpPr/>
          <p:nvPr/>
        </p:nvCxnSpPr>
        <p:spPr>
          <a:xfrm>
            <a:off x="3429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5" name="GPU 0"/>
          <p:cNvSpPr/>
          <p:nvPr/>
        </p:nvSpPr>
        <p:spPr>
          <a:xfrm>
            <a:off x="19659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GPU 0 label"/>
          <p:cNvSpPr txBox="1"/>
          <p:nvPr/>
        </p:nvSpPr>
        <p:spPr>
          <a:xfrm>
            <a:off x="2029967"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0</a:t>
            </a:r>
          </a:p>
        </p:txBody>
      </p:sp>
      <p:cxnSp>
        <p:nvCxnSpPr>
          <p:cNvPr id="17" name="GPU link 0-1"/>
          <p:cNvCxnSpPr/>
          <p:nvPr/>
        </p:nvCxnSpPr>
        <p:spPr>
          <a:xfrm>
            <a:off x="7086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18" name="GPU 1"/>
          <p:cNvSpPr/>
          <p:nvPr/>
        </p:nvSpPr>
        <p:spPr>
          <a:xfrm>
            <a:off x="56235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1 label"/>
          <p:cNvSpPr txBox="1"/>
          <p:nvPr/>
        </p:nvSpPr>
        <p:spPr>
          <a:xfrm>
            <a:off x="5687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1</a:t>
            </a:r>
          </a:p>
        </p:txBody>
      </p:sp>
      <p:cxnSp>
        <p:nvCxnSpPr>
          <p:cNvPr id="20" name="NIC PCIe 0"/>
          <p:cNvCxnSpPr/>
          <p:nvPr/>
        </p:nvCxnSpPr>
        <p:spPr>
          <a:xfrm>
            <a:off x="86868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1" name="NIC PCIe 0"/>
          <p:cNvCxnSpPr/>
          <p:nvPr/>
        </p:nvCxnSpPr>
        <p:spPr>
          <a:xfrm>
            <a:off x="90982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2" name="NIC PCIe 0"/>
          <p:cNvCxnSpPr/>
          <p:nvPr/>
        </p:nvCxnSpPr>
        <p:spPr>
          <a:xfrm flipH="1">
            <a:off x="86868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NIC 0"/>
          <p:cNvSpPr/>
          <p:nvPr/>
        </p:nvSpPr>
        <p:spPr>
          <a:xfrm>
            <a:off x="18288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NIC 0 label"/>
          <p:cNvSpPr txBox="1"/>
          <p:nvPr/>
        </p:nvSpPr>
        <p:spPr>
          <a:xfrm>
            <a:off x="1892807"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25" name="400G port 0-0"/>
          <p:cNvCxnSpPr/>
          <p:nvPr/>
        </p:nvCxnSpPr>
        <p:spPr>
          <a:xfrm>
            <a:off x="49377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26" name="400G port 0-1"/>
          <p:cNvCxnSpPr/>
          <p:nvPr/>
        </p:nvCxnSpPr>
        <p:spPr>
          <a:xfrm>
            <a:off x="55778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Ports 0"/>
          <p:cNvSpPr txBox="1"/>
          <p:nvPr/>
        </p:nvSpPr>
        <p:spPr>
          <a:xfrm>
            <a:off x="58064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28" name="Host uplink 1"/>
          <p:cNvCxnSpPr/>
          <p:nvPr/>
        </p:nvCxnSpPr>
        <p:spPr>
          <a:xfrm>
            <a:off x="128016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Switch 1"/>
          <p:cNvSpPr/>
          <p:nvPr/>
        </p:nvSpPr>
        <p:spPr>
          <a:xfrm>
            <a:off x="105156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Switch 1 label"/>
          <p:cNvSpPr txBox="1"/>
          <p:nvPr/>
        </p:nvSpPr>
        <p:spPr>
          <a:xfrm>
            <a:off x="105796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31" name="GPU link 1-0"/>
          <p:cNvCxnSpPr/>
          <p:nvPr/>
        </p:nvCxnSpPr>
        <p:spPr>
          <a:xfrm>
            <a:off x="121158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2" name="GPU 2"/>
          <p:cNvSpPr/>
          <p:nvPr/>
        </p:nvSpPr>
        <p:spPr>
          <a:xfrm>
            <a:off x="106527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GPU 2 label"/>
          <p:cNvSpPr txBox="1"/>
          <p:nvPr/>
        </p:nvSpPr>
        <p:spPr>
          <a:xfrm>
            <a:off x="107167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2</a:t>
            </a:r>
          </a:p>
        </p:txBody>
      </p:sp>
      <p:cxnSp>
        <p:nvCxnSpPr>
          <p:cNvPr id="34" name="GPU link 1-1"/>
          <p:cNvCxnSpPr/>
          <p:nvPr/>
        </p:nvCxnSpPr>
        <p:spPr>
          <a:xfrm>
            <a:off x="15773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35" name="GPU 3"/>
          <p:cNvSpPr/>
          <p:nvPr/>
        </p:nvSpPr>
        <p:spPr>
          <a:xfrm>
            <a:off x="14310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GPU 3 label"/>
          <p:cNvSpPr txBox="1"/>
          <p:nvPr/>
        </p:nvSpPr>
        <p:spPr>
          <a:xfrm>
            <a:off x="14374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3</a:t>
            </a:r>
          </a:p>
        </p:txBody>
      </p:sp>
      <p:cxnSp>
        <p:nvCxnSpPr>
          <p:cNvPr id="37" name="NIC PCIe 1"/>
          <p:cNvCxnSpPr/>
          <p:nvPr/>
        </p:nvCxnSpPr>
        <p:spPr>
          <a:xfrm>
            <a:off x="173736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8" name="NIC PCIe 1"/>
          <p:cNvCxnSpPr/>
          <p:nvPr/>
        </p:nvCxnSpPr>
        <p:spPr>
          <a:xfrm>
            <a:off x="177850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39" name="NIC PCIe 1"/>
          <p:cNvCxnSpPr/>
          <p:nvPr/>
        </p:nvCxnSpPr>
        <p:spPr>
          <a:xfrm flipH="1">
            <a:off x="173736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40" name="NIC 1"/>
          <p:cNvSpPr/>
          <p:nvPr/>
        </p:nvSpPr>
        <p:spPr>
          <a:xfrm>
            <a:off x="105156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NIC 1 label"/>
          <p:cNvSpPr txBox="1"/>
          <p:nvPr/>
        </p:nvSpPr>
        <p:spPr>
          <a:xfrm>
            <a:off x="105796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42" name="400G port 1-0"/>
          <p:cNvCxnSpPr/>
          <p:nvPr/>
        </p:nvCxnSpPr>
        <p:spPr>
          <a:xfrm>
            <a:off x="136245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43" name="400G port 1-1"/>
          <p:cNvCxnSpPr/>
          <p:nvPr/>
        </p:nvCxnSpPr>
        <p:spPr>
          <a:xfrm>
            <a:off x="142646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44" name="Ports 1"/>
          <p:cNvSpPr txBox="1"/>
          <p:nvPr/>
        </p:nvSpPr>
        <p:spPr>
          <a:xfrm>
            <a:off x="144932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45" name="Host uplink 2"/>
          <p:cNvCxnSpPr/>
          <p:nvPr/>
        </p:nvCxnSpPr>
        <p:spPr>
          <a:xfrm flipH="1">
            <a:off x="226314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6" name="Switch 2"/>
          <p:cNvSpPr/>
          <p:nvPr/>
        </p:nvSpPr>
        <p:spPr>
          <a:xfrm>
            <a:off x="192024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witch 2 label"/>
          <p:cNvSpPr txBox="1"/>
          <p:nvPr/>
        </p:nvSpPr>
        <p:spPr>
          <a:xfrm>
            <a:off x="192664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48" name="GPU link 2-0"/>
          <p:cNvCxnSpPr/>
          <p:nvPr/>
        </p:nvCxnSpPr>
        <p:spPr>
          <a:xfrm>
            <a:off x="208026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49" name="GPU 4"/>
          <p:cNvSpPr/>
          <p:nvPr/>
        </p:nvSpPr>
        <p:spPr>
          <a:xfrm>
            <a:off x="19339560" y="9875520"/>
            <a:ext cx="2926080" cy="868680"/>
          </a:xfrm>
          <a:prstGeom prst="rect">
            <a:avLst/>
          </a:prstGeom>
          <a:solidFill>
            <a:srgbClr val="F7F7F7"/>
          </a:solidFill>
          <a:ln w="254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GPU 4 label"/>
          <p:cNvSpPr txBox="1"/>
          <p:nvPr/>
        </p:nvSpPr>
        <p:spPr>
          <a:xfrm>
            <a:off x="194035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4</a:t>
            </a:r>
          </a:p>
        </p:txBody>
      </p:sp>
      <p:cxnSp>
        <p:nvCxnSpPr>
          <p:cNvPr id="51" name="GPU link 2-1"/>
          <p:cNvCxnSpPr/>
          <p:nvPr/>
        </p:nvCxnSpPr>
        <p:spPr>
          <a:xfrm>
            <a:off x="244602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52" name="GPU 5"/>
          <p:cNvSpPr/>
          <p:nvPr/>
        </p:nvSpPr>
        <p:spPr>
          <a:xfrm>
            <a:off x="229971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GPU 5 label"/>
          <p:cNvSpPr txBox="1"/>
          <p:nvPr/>
        </p:nvSpPr>
        <p:spPr>
          <a:xfrm>
            <a:off x="230611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5</a:t>
            </a:r>
          </a:p>
        </p:txBody>
      </p:sp>
      <p:cxnSp>
        <p:nvCxnSpPr>
          <p:cNvPr id="54" name="NIC PCIe 2"/>
          <p:cNvCxnSpPr/>
          <p:nvPr/>
        </p:nvCxnSpPr>
        <p:spPr>
          <a:xfrm>
            <a:off x="260604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5" name="NIC PCIe 2"/>
          <p:cNvCxnSpPr/>
          <p:nvPr/>
        </p:nvCxnSpPr>
        <p:spPr>
          <a:xfrm>
            <a:off x="264718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56" name="NIC PCIe 2"/>
          <p:cNvCxnSpPr/>
          <p:nvPr/>
        </p:nvCxnSpPr>
        <p:spPr>
          <a:xfrm flipH="1">
            <a:off x="260604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57" name="NIC 2"/>
          <p:cNvSpPr/>
          <p:nvPr/>
        </p:nvSpPr>
        <p:spPr>
          <a:xfrm>
            <a:off x="192024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NIC 2 label"/>
          <p:cNvSpPr txBox="1"/>
          <p:nvPr/>
        </p:nvSpPr>
        <p:spPr>
          <a:xfrm>
            <a:off x="192664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59" name="400G port 2-0"/>
          <p:cNvCxnSpPr/>
          <p:nvPr/>
        </p:nvCxnSpPr>
        <p:spPr>
          <a:xfrm>
            <a:off x="223113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60" name="400G port 2-1"/>
          <p:cNvCxnSpPr/>
          <p:nvPr/>
        </p:nvCxnSpPr>
        <p:spPr>
          <a:xfrm>
            <a:off x="22951439"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61" name="Ports 2"/>
          <p:cNvSpPr txBox="1"/>
          <p:nvPr/>
        </p:nvSpPr>
        <p:spPr>
          <a:xfrm>
            <a:off x="231800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cxnSp>
        <p:nvCxnSpPr>
          <p:cNvPr id="62" name="Host uplink 3"/>
          <p:cNvCxnSpPr/>
          <p:nvPr/>
        </p:nvCxnSpPr>
        <p:spPr>
          <a:xfrm>
            <a:off x="30175200" y="6309360"/>
            <a:ext cx="1143000" cy="137160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3" name="Switch 3"/>
          <p:cNvSpPr/>
          <p:nvPr/>
        </p:nvSpPr>
        <p:spPr>
          <a:xfrm>
            <a:off x="27889200" y="768096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witch 3 label"/>
          <p:cNvSpPr txBox="1"/>
          <p:nvPr/>
        </p:nvSpPr>
        <p:spPr>
          <a:xfrm>
            <a:off x="27953208" y="784555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PCIe subtree</a:t>
            </a:r>
          </a:p>
        </p:txBody>
      </p:sp>
      <p:cxnSp>
        <p:nvCxnSpPr>
          <p:cNvPr id="65" name="GPU link 3-0"/>
          <p:cNvCxnSpPr/>
          <p:nvPr/>
        </p:nvCxnSpPr>
        <p:spPr>
          <a:xfrm>
            <a:off x="294894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6" name="GPU 6"/>
          <p:cNvSpPr/>
          <p:nvPr/>
        </p:nvSpPr>
        <p:spPr>
          <a:xfrm>
            <a:off x="280263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GPU 6 label"/>
          <p:cNvSpPr txBox="1"/>
          <p:nvPr/>
        </p:nvSpPr>
        <p:spPr>
          <a:xfrm>
            <a:off x="280903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6</a:t>
            </a:r>
          </a:p>
        </p:txBody>
      </p:sp>
      <p:cxnSp>
        <p:nvCxnSpPr>
          <p:cNvPr id="68" name="GPU link 3-1"/>
          <p:cNvCxnSpPr/>
          <p:nvPr/>
        </p:nvCxnSpPr>
        <p:spPr>
          <a:xfrm>
            <a:off x="33147000" y="8549640"/>
            <a:ext cx="0" cy="1325880"/>
          </a:xfrm>
          <a:prstGeom prst="line">
            <a:avLst/>
          </a:prstGeom>
          <a:ln w="40640">
            <a:solidFill>
              <a:srgbClr val="A7A7A7"/>
            </a:solidFill>
          </a:ln>
        </p:spPr>
        <p:style>
          <a:lnRef idx="2">
            <a:schemeClr val="accent1"/>
          </a:lnRef>
          <a:fillRef idx="0">
            <a:schemeClr val="accent1"/>
          </a:fillRef>
          <a:effectRef idx="1">
            <a:schemeClr val="accent1"/>
          </a:effectRef>
          <a:fontRef idx="minor">
            <a:schemeClr val="tx1"/>
          </a:fontRef>
        </p:style>
      </p:cxnSp>
      <p:sp>
        <p:nvSpPr>
          <p:cNvPr id="69" name="GPU 7"/>
          <p:cNvSpPr/>
          <p:nvPr/>
        </p:nvSpPr>
        <p:spPr>
          <a:xfrm>
            <a:off x="31683960" y="9875520"/>
            <a:ext cx="292608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GPU 7 label"/>
          <p:cNvSpPr txBox="1"/>
          <p:nvPr/>
        </p:nvSpPr>
        <p:spPr>
          <a:xfrm>
            <a:off x="31747968" y="10040112"/>
            <a:ext cx="279806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GPU 7</a:t>
            </a:r>
          </a:p>
        </p:txBody>
      </p:sp>
      <p:cxnSp>
        <p:nvCxnSpPr>
          <p:cNvPr id="71" name="NIC PCIe 3"/>
          <p:cNvCxnSpPr/>
          <p:nvPr/>
        </p:nvCxnSpPr>
        <p:spPr>
          <a:xfrm>
            <a:off x="34747200" y="811987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2" name="NIC PCIe 3"/>
          <p:cNvCxnSpPr/>
          <p:nvPr/>
        </p:nvCxnSpPr>
        <p:spPr>
          <a:xfrm>
            <a:off x="35158680" y="8119872"/>
            <a:ext cx="0" cy="420624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3" name="NIC PCIe 3"/>
          <p:cNvCxnSpPr/>
          <p:nvPr/>
        </p:nvCxnSpPr>
        <p:spPr>
          <a:xfrm flipH="1">
            <a:off x="34747200" y="12326112"/>
            <a:ext cx="411480" cy="0"/>
          </a:xfrm>
          <a:prstGeom prst="line">
            <a:avLst/>
          </a:prstGeom>
          <a:ln w="81280">
            <a:solidFill>
              <a:srgbClr val="A7A7A7"/>
            </a:solidFill>
          </a:ln>
        </p:spPr>
        <p:style>
          <a:lnRef idx="2">
            <a:schemeClr val="accent1"/>
          </a:lnRef>
          <a:fillRef idx="0">
            <a:schemeClr val="accent1"/>
          </a:fillRef>
          <a:effectRef idx="1">
            <a:schemeClr val="accent1"/>
          </a:effectRef>
          <a:fontRef idx="minor">
            <a:schemeClr val="tx1"/>
          </a:fontRef>
        </p:style>
      </p:cxnSp>
      <p:sp>
        <p:nvSpPr>
          <p:cNvPr id="74" name="NIC 3"/>
          <p:cNvSpPr/>
          <p:nvPr/>
        </p:nvSpPr>
        <p:spPr>
          <a:xfrm>
            <a:off x="27889200" y="11887200"/>
            <a:ext cx="6858000" cy="868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NIC 3 label"/>
          <p:cNvSpPr txBox="1"/>
          <p:nvPr/>
        </p:nvSpPr>
        <p:spPr>
          <a:xfrm>
            <a:off x="27953208" y="12051792"/>
            <a:ext cx="6729984"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ConnectX-8</a:t>
            </a:r>
          </a:p>
        </p:txBody>
      </p:sp>
      <p:cxnSp>
        <p:nvCxnSpPr>
          <p:cNvPr id="76" name="400G port 3-0"/>
          <p:cNvCxnSpPr/>
          <p:nvPr/>
        </p:nvCxnSpPr>
        <p:spPr>
          <a:xfrm>
            <a:off x="3099816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cxnSp>
        <p:nvCxnSpPr>
          <p:cNvPr id="77" name="400G port 3-1"/>
          <p:cNvCxnSpPr/>
          <p:nvPr/>
        </p:nvCxnSpPr>
        <p:spPr>
          <a:xfrm>
            <a:off x="31638240" y="12755880"/>
            <a:ext cx="0" cy="960120"/>
          </a:xfrm>
          <a:prstGeom prst="line">
            <a:avLst/>
          </a:prstGeom>
          <a:ln w="31750">
            <a:solidFill>
              <a:srgbClr val="A7A7A7"/>
            </a:solidFill>
          </a:ln>
        </p:spPr>
        <p:style>
          <a:lnRef idx="2">
            <a:schemeClr val="accent1"/>
          </a:lnRef>
          <a:fillRef idx="0">
            <a:schemeClr val="accent1"/>
          </a:fillRef>
          <a:effectRef idx="1">
            <a:schemeClr val="accent1"/>
          </a:effectRef>
          <a:fontRef idx="minor">
            <a:schemeClr val="tx1"/>
          </a:fontRef>
        </p:style>
      </p:cxnSp>
      <p:sp>
        <p:nvSpPr>
          <p:cNvPr id="78" name="Ports 3"/>
          <p:cNvSpPr txBox="1"/>
          <p:nvPr/>
        </p:nvSpPr>
        <p:spPr>
          <a:xfrm>
            <a:off x="31866840" y="12938760"/>
            <a:ext cx="2880360" cy="502920"/>
          </a:xfrm>
          <a:prstGeom prst="rect">
            <a:avLst/>
          </a:prstGeom>
          <a:noFill/>
        </p:spPr>
        <p:txBody>
          <a:bodyPr wrap="square" lIns="0" rIns="0" tIns="0" bIns="0">
            <a:spAutoFit/>
          </a:bodyPr>
          <a:lstStyle/>
          <a:p>
            <a:pPr algn="ctr">
              <a:spcBef>
                <a:spcPts val="0"/>
              </a:spcBef>
              <a:spcAft>
                <a:spcPts val="0"/>
              </a:spcAft>
            </a:pPr>
            <a:r>
              <a:rPr sz="2200" b="0">
                <a:solidFill>
                  <a:srgbClr val="313131"/>
                </a:solidFill>
                <a:latin typeface="NVIDIA Sans"/>
              </a:rPr>
              <a:t>2 × 400 Gb/s</a:t>
            </a:r>
          </a:p>
        </p:txBody>
      </p:sp>
      <p:sp>
        <p:nvSpPr>
          <p:cNvPr id="79" name="Fabric"/>
          <p:cNvSpPr/>
          <p:nvPr/>
        </p:nvSpPr>
        <p:spPr>
          <a:xfrm>
            <a:off x="1828800" y="13716000"/>
            <a:ext cx="32918400" cy="5486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Fabric text"/>
          <p:cNvSpPr txBox="1"/>
          <p:nvPr/>
        </p:nvSpPr>
        <p:spPr>
          <a:xfrm>
            <a:off x="27432000" y="13734288"/>
            <a:ext cx="7315200" cy="457200"/>
          </a:xfrm>
          <a:prstGeom prst="rect">
            <a:avLst/>
          </a:prstGeom>
          <a:noFill/>
        </p:spPr>
        <p:txBody>
          <a:bodyPr wrap="square" lIns="0" rIns="0" tIns="0" bIns="0">
            <a:spAutoFit/>
          </a:bodyPr>
          <a:lstStyle/>
          <a:p>
            <a:pPr algn="ctr">
              <a:spcBef>
                <a:spcPts val="0"/>
              </a:spcBef>
              <a:spcAft>
                <a:spcPts val="0"/>
              </a:spcAft>
            </a:pPr>
            <a:r>
              <a:rPr sz="2300" b="0">
                <a:solidFill>
                  <a:srgbClr val="313131"/>
                </a:solidFill>
                <a:latin typeface="NVIDIA Sans"/>
              </a:rPr>
              <a:t>RoCE fabric</a:t>
            </a:r>
          </a:p>
        </p:txBody>
      </p:sp>
      <p:cxnSp>
        <p:nvCxnSpPr>
          <p:cNvPr id="81" name="NCCL G0 up"/>
          <p:cNvCxnSpPr/>
          <p:nvPr/>
        </p:nvCxnSpPr>
        <p:spPr>
          <a:xfrm flipV="1">
            <a:off x="34290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2" name="NCCL Host0 up"/>
          <p:cNvCxnSpPr/>
          <p:nvPr/>
        </p:nvCxnSpPr>
        <p:spPr>
          <a:xfrm flipV="1">
            <a:off x="52578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3" name="NCCL Across sockets"/>
          <p:cNvCxnSpPr/>
          <p:nvPr/>
        </p:nvCxnSpPr>
        <p:spPr>
          <a:xfrm>
            <a:off x="15544800" y="5806440"/>
            <a:ext cx="5486400" cy="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4" name="NCCL Host1 down"/>
          <p:cNvCxnSpPr/>
          <p:nvPr/>
        </p:nvCxnSpPr>
        <p:spPr>
          <a:xfrm flipH="1">
            <a:off x="22631400" y="6309360"/>
            <a:ext cx="1143000" cy="137160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5" name="NCCL G4 down"/>
          <p:cNvCxnSpPr/>
          <p:nvPr/>
        </p:nvCxnSpPr>
        <p:spPr>
          <a:xfrm>
            <a:off x="20802600" y="8549640"/>
            <a:ext cx="0" cy="1325880"/>
          </a:xfrm>
          <a:prstGeom prst="line">
            <a:avLst/>
          </a:prstGeom>
          <a:ln w="50800">
            <a:solidFill>
              <a:srgbClr val="313131"/>
            </a:solidFill>
            <a:prstDash val="dash"/>
            <a:tailEnd type="triangle" w="med" len="med"/>
          </a:ln>
        </p:spPr>
        <p:style>
          <a:lnRef idx="2">
            <a:schemeClr val="accent1"/>
          </a:lnRef>
          <a:fillRef idx="0">
            <a:schemeClr val="accent1"/>
          </a:fillRef>
          <a:effectRef idx="1">
            <a:schemeClr val="accent1"/>
          </a:effectRef>
          <a:fontRef idx="minor">
            <a:schemeClr val="tx1"/>
          </a:fontRef>
        </p:style>
      </p:cxnSp>
      <p:cxnSp>
        <p:nvCxnSpPr>
          <p:cNvPr id="86" name="RDMA G0 up"/>
          <p:cNvCxnSpPr/>
          <p:nvPr/>
        </p:nvCxnSpPr>
        <p:spPr>
          <a:xfrm flipV="1">
            <a:off x="36118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7" name="RDMA NIC 0-0"/>
          <p:cNvCxnSpPr/>
          <p:nvPr/>
        </p:nvCxnSpPr>
        <p:spPr>
          <a:xfrm>
            <a:off x="86868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8" name="RDMA NIC 0-1"/>
          <p:cNvCxnSpPr/>
          <p:nvPr/>
        </p:nvCxnSpPr>
        <p:spPr>
          <a:xfrm>
            <a:off x="90982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89" name="RDMA NIC 0-2"/>
          <p:cNvCxnSpPr/>
          <p:nvPr/>
        </p:nvCxnSpPr>
        <p:spPr>
          <a:xfrm flipH="1">
            <a:off x="86868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0" name="RDMA NIC 2-0"/>
          <p:cNvCxnSpPr/>
          <p:nvPr/>
        </p:nvCxnSpPr>
        <p:spPr>
          <a:xfrm>
            <a:off x="26060400" y="1232611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1" name="RDMA NIC 2-1"/>
          <p:cNvCxnSpPr/>
          <p:nvPr/>
        </p:nvCxnSpPr>
        <p:spPr>
          <a:xfrm flipV="1">
            <a:off x="26471880" y="8119872"/>
            <a:ext cx="0" cy="4206240"/>
          </a:xfrm>
          <a:prstGeom prst="line">
            <a:avLst/>
          </a:prstGeom>
          <a:ln w="8128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2" name="RDMA NIC 2-2"/>
          <p:cNvCxnSpPr/>
          <p:nvPr/>
        </p:nvCxnSpPr>
        <p:spPr>
          <a:xfrm flipH="1">
            <a:off x="26060400" y="8119872"/>
            <a:ext cx="411480" cy="0"/>
          </a:xfrm>
          <a:prstGeom prst="line">
            <a:avLst/>
          </a:prstGeom>
          <a:ln w="8128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93" name="RDMA source port"/>
          <p:cNvCxnSpPr/>
          <p:nvPr/>
        </p:nvCxnSpPr>
        <p:spPr>
          <a:xfrm>
            <a:off x="49377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4" name="RDMA logical fabric"/>
          <p:cNvCxnSpPr/>
          <p:nvPr/>
        </p:nvCxnSpPr>
        <p:spPr>
          <a:xfrm>
            <a:off x="4937760" y="13990320"/>
            <a:ext cx="17373600" cy="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5" name="RDMA target port"/>
          <p:cNvCxnSpPr/>
          <p:nvPr/>
        </p:nvCxnSpPr>
        <p:spPr>
          <a:xfrm flipV="1">
            <a:off x="22311360" y="12755880"/>
            <a:ext cx="0" cy="1234440"/>
          </a:xfrm>
          <a:prstGeom prst="line">
            <a:avLst/>
          </a:prstGeom>
          <a:ln w="3175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96" name="RDMA G4 down"/>
          <p:cNvCxnSpPr/>
          <p:nvPr/>
        </p:nvCxnSpPr>
        <p:spPr>
          <a:xfrm>
            <a:off x="20985480" y="8549640"/>
            <a:ext cx="0" cy="1325880"/>
          </a:xfrm>
          <a:prstGeom prst="line">
            <a:avLst/>
          </a:prstGeom>
          <a:ln w="4064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97" name="Nominal bandwidth legend"/>
          <p:cNvSpPr txBox="1"/>
          <p:nvPr/>
        </p:nvSpPr>
        <p:spPr>
          <a:xfrm>
            <a:off x="1828800" y="14630400"/>
            <a:ext cx="3291840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Nominal one-way links: GPU / host 64 GB/s  ·  NIC PCIe 128 GB/s  ·  port 50 GB/s</a:t>
            </a:r>
          </a:p>
        </p:txBody>
      </p:sp>
      <p:sp>
        <p:nvSpPr>
          <p:cNvPr id="98" name="NCCL path heading"/>
          <p:cNvSpPr txBox="1"/>
          <p:nvPr/>
        </p:nvSpPr>
        <p:spPr>
          <a:xfrm>
            <a:off x="1828800" y="15681959"/>
            <a:ext cx="15544800" cy="73152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Medium"/>
              </a:rPr>
              <a:t>Original code · local-only NCCL replay</a:t>
            </a:r>
          </a:p>
        </p:txBody>
      </p:sp>
      <p:sp>
        <p:nvSpPr>
          <p:cNvPr id="99" name="NCCL measured rate"/>
          <p:cNvSpPr txBox="1"/>
          <p:nvPr/>
        </p:nvSpPr>
        <p:spPr>
          <a:xfrm>
            <a:off x="1828800" y="16733520"/>
            <a:ext cx="13716000" cy="109728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17.0 GB/s/GPU</a:t>
            </a:r>
          </a:p>
        </p:txBody>
      </p:sp>
      <p:sp>
        <p:nvSpPr>
          <p:cNvPr id="100" name="NCCL measured time"/>
          <p:cNvSpPr txBox="1"/>
          <p:nvPr/>
        </p:nvSpPr>
        <p:spPr>
          <a:xfrm>
            <a:off x="1828800" y="17967960"/>
            <a:ext cx="14904720" cy="59436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5.560 ms · shared uplinks + host buffers</a:t>
            </a:r>
          </a:p>
        </p:txBody>
      </p:sp>
      <p:sp>
        <p:nvSpPr>
          <p:cNvPr id="101" name="Communication speedup"/>
          <p:cNvSpPr txBox="1"/>
          <p:nvPr/>
        </p:nvSpPr>
        <p:spPr>
          <a:xfrm>
            <a:off x="15773400" y="16687800"/>
            <a:ext cx="5029200" cy="1371600"/>
          </a:xfrm>
          <a:prstGeom prst="rect">
            <a:avLst/>
          </a:prstGeom>
          <a:noFill/>
        </p:spPr>
        <p:txBody>
          <a:bodyPr wrap="square" lIns="0" rIns="0" tIns="0" bIns="0">
            <a:spAutoFit/>
          </a:bodyPr>
          <a:lstStyle/>
          <a:p>
            <a:pPr algn="ctr">
              <a:spcBef>
                <a:spcPts val="0"/>
              </a:spcBef>
              <a:spcAft>
                <a:spcPts val="0"/>
              </a:spcAft>
            </a:pPr>
            <a:r>
              <a:rPr sz="7500" b="0">
                <a:solidFill>
                  <a:srgbClr val="76B900"/>
                </a:solidFill>
                <a:latin typeface="NVIDIA Sans Medium"/>
              </a:rPr>
              <a:t>2.34×</a:t>
            </a:r>
          </a:p>
        </p:txBody>
      </p:sp>
      <p:sp>
        <p:nvSpPr>
          <p:cNvPr id="102" name="RDMA path heading"/>
          <p:cNvSpPr txBox="1"/>
          <p:nvPr/>
        </p:nvSpPr>
        <p:spPr>
          <a:xfrm>
            <a:off x="21945600" y="15681959"/>
            <a:ext cx="12801600" cy="731520"/>
          </a:xfrm>
          <a:prstGeom prst="rect">
            <a:avLst/>
          </a:prstGeom>
          <a:noFill/>
        </p:spPr>
        <p:txBody>
          <a:bodyPr wrap="square" lIns="0" rIns="0" tIns="0" bIns="0">
            <a:spAutoFit/>
          </a:bodyPr>
          <a:lstStyle/>
          <a:p>
            <a:pPr>
              <a:spcBef>
                <a:spcPts val="0"/>
              </a:spcBef>
              <a:spcAft>
                <a:spcPts val="0"/>
              </a:spcAft>
            </a:pPr>
            <a:r>
              <a:rPr sz="3200" b="0">
                <a:solidFill>
                  <a:srgbClr val="76B900"/>
                </a:solidFill>
                <a:latin typeface="NVIDIA Sans Medium"/>
              </a:rPr>
              <a:t>GPU-affine FI RDMA</a:t>
            </a:r>
          </a:p>
        </p:txBody>
      </p:sp>
      <p:sp>
        <p:nvSpPr>
          <p:cNvPr id="103" name="RDMA measured rate"/>
          <p:cNvSpPr txBox="1"/>
          <p:nvPr/>
        </p:nvSpPr>
        <p:spPr>
          <a:xfrm>
            <a:off x="21945600" y="16733520"/>
            <a:ext cx="12801600" cy="1097280"/>
          </a:xfrm>
          <a:prstGeom prst="rect">
            <a:avLst/>
          </a:prstGeom>
          <a:noFill/>
        </p:spPr>
        <p:txBody>
          <a:bodyPr wrap="square" lIns="0" rIns="0" tIns="0" bIns="0">
            <a:spAutoFit/>
          </a:bodyPr>
          <a:lstStyle/>
          <a:p>
            <a:pPr>
              <a:spcBef>
                <a:spcPts val="0"/>
              </a:spcBef>
              <a:spcAft>
                <a:spcPts val="0"/>
              </a:spcAft>
            </a:pPr>
            <a:r>
              <a:rPr sz="6000" b="0">
                <a:solidFill>
                  <a:srgbClr val="76B900"/>
                </a:solidFill>
                <a:latin typeface="NVIDIA Sans Medium"/>
              </a:rPr>
              <a:t>39.9 GB/s/GPU</a:t>
            </a:r>
          </a:p>
        </p:txBody>
      </p:sp>
      <p:sp>
        <p:nvSpPr>
          <p:cNvPr id="104" name="RDMA measured time"/>
          <p:cNvSpPr txBox="1"/>
          <p:nvPr/>
        </p:nvSpPr>
        <p:spPr>
          <a:xfrm>
            <a:off x="21945600" y="17967960"/>
            <a:ext cx="128016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rPr>
              <a:t>2.375 ms · bypasses host payload buffers</a:t>
            </a:r>
          </a:p>
        </p:txBody>
      </p:sp>
      <p:sp>
        <p:nvSpPr>
          <p:cNvPr id="105" name="Measurement scope"/>
          <p:cNvSpPr txBox="1"/>
          <p:nvPr/>
        </p:nvSpPr>
        <p:spPr>
          <a:xfrm>
            <a:off x="1828800" y="1897380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Measured 8-GPU Q/K/V/O replay · S=15,104 · BF16 · 90 samples/backend · includes layout and synchronization.</a:t>
            </a:r>
          </a:p>
        </p:txBody>
      </p:sp>
      <p:sp>
        <p:nvSpPr>
          <p:cNvPr id="106" name="Route scope"/>
          <p:cNvSpPr txBox="1"/>
          <p:nvPr/>
        </p:nvSpPr>
        <p:spPr>
          <a:xfrm>
            <a:off x="1828800" y="19568160"/>
            <a:ext cx="32918400" cy="502920"/>
          </a:xfrm>
          <a:prstGeom prst="rect">
            <a:avLst/>
          </a:prstGeom>
          <a:noFill/>
        </p:spPr>
        <p:txBody>
          <a:bodyPr wrap="square" lIns="0" rIns="0" tIns="0" bIns="0">
            <a:spAutoFit/>
          </a:bodyPr>
          <a:lstStyle/>
          <a:p>
            <a:pPr>
              <a:spcBef>
                <a:spcPts val="0"/>
              </a:spcBef>
              <a:spcAft>
                <a:spcPts val="0"/>
              </a:spcAft>
            </a:pPr>
            <a:r>
              <a:rPr sz="2200" b="0">
                <a:solidFill>
                  <a:srgbClr val="313131"/>
                </a:solidFill>
                <a:latin typeface="NVIDIA Sans"/>
              </a:rPr>
              <a:t>Arrows illustrate GPU 0 → GPU 4. Rates are effective collective TX per GPU; historical Base50 pair routes were not recorded.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8</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828800"/>
          </a:xfrm>
          <a:prstGeom prst="rect">
            <a:avLst/>
          </a:prstGeom>
          <a:noFill/>
        </p:spPr>
        <p:txBody>
          <a:bodyPr wrap="square" lIns="0" rIns="0" tIns="0" bIns="0">
            <a:spAutoFit/>
          </a:bodyPr>
          <a:lstStyle/>
          <a:p>
            <a:r>
              <a:rPr sz="3100" b="0">
                <a:solidFill>
                  <a:srgbClr val="000000"/>
                </a:solidFill>
                <a:latin typeface="NVIDIA Sans"/>
              </a:rPr>
              <a:t>GPU-affine NICs + BF16 RDMA.</a:t>
            </a:r>
          </a:p>
          <a:p>
            <a:r>
              <a:rPr sz="3100" b="0">
                <a:solidFill>
                  <a:srgbClr val="000000"/>
                </a:solidFill>
                <a:latin typeface="NVIDIA Sans"/>
              </a:rPr>
              <a:t>Bypass shared host payload paths.</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828800"/>
          </a:xfrm>
          <a:prstGeom prst="rect">
            <a:avLst/>
          </a:prstGeom>
          <a:noFill/>
        </p:spPr>
        <p:txBody>
          <a:bodyPr wrap="square" lIns="0" rIns="0" tIns="0" bIns="0">
            <a:spAutoFit/>
          </a:bodyPr>
          <a:lstStyle/>
          <a:p>
            <a:r>
              <a:rPr sz="3100" b="0">
                <a:solidFill>
                  <a:srgbClr val="000000"/>
                </a:solidFill>
                <a:latin typeface="NVIDIA Sans"/>
              </a:rPr>
              <a:t>2 / 3 / 2 head bands.</a:t>
            </a:r>
          </a:p>
          <a:p>
            <a:r>
              <a:rPr sz="3100" b="0">
                <a:solidFill>
                  <a:srgbClr val="000000"/>
                </a:solidFill>
                <a:latin typeface="NVIDIA Sans"/>
              </a:rPr>
              <a:t>Transfer one band while another computes.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828800"/>
          </a:xfrm>
          <a:prstGeom prst="rect">
            <a:avLst/>
          </a:prstGeom>
          <a:noFill/>
        </p:spPr>
        <p:txBody>
          <a:bodyPr wrap="square" lIns="0" rIns="0" tIns="0" bIns="0">
            <a:spAutoFit/>
          </a:bodyPr>
          <a:lstStyle/>
          <a:p>
            <a:r>
              <a:rPr sz="3100" b="0">
                <a:solidFill>
                  <a:srgbClr val="000000"/>
                </a:solidFill>
                <a:latin typeface="NVIDIA Sans"/>
              </a:rPr>
              <a:t>Direct layouts + compute CUDA graphs.</a:t>
            </a:r>
          </a:p>
          <a:p>
            <a:r>
              <a:rPr sz="3100" b="0">
                <a:solidFill>
                  <a:srgbClr val="000000"/>
                </a:solidFill>
                <a:latin typeface="NVIDIA Sans"/>
              </a:rPr>
              <a:t>Reduce copies and launch overhead.</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r>
              <a:rPr sz="2700" b="0">
                <a:solidFill>
                  <a:srgbClr val="313131"/>
                </a:solidFill>
                <a:latin typeface="NVIDIA Sans"/>
              </a:rPr>
              <a:t>Conceptual overlap · 2 / 3 / 2 head bands</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r>
              <a:rPr sz="3100" b="0">
                <a:solidFill>
                  <a:srgbClr val="313131"/>
                </a:solidFill>
                <a:latin typeface="NVIDIA Sans"/>
              </a:rPr>
              <a:t>19.46 → 6.83 → 6.41 → 6.19 s</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r>
              <a:rPr sz="4000" b="0">
                <a:solidFill>
                  <a:srgbClr val="000000"/>
                </a:solidFill>
                <a:latin typeface="NVIDIA Sans Medium"/>
              </a:rPr>
              <a:t>Route efficiently. Overlap work. Reduce movement.</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
        <p:nvSpPr>
          <p:cNvPr id="34" name="Comms stage labels"/>
          <p:cNvSpPr txBox="1"/>
          <p:nvPr/>
        </p:nvSpPr>
        <p:spPr>
          <a:xfrm>
            <a:off x="17373600" y="17007840"/>
            <a:ext cx="17373600" cy="594360"/>
          </a:xfrm>
          <a:prstGeom prst="rect">
            <a:avLst/>
          </a:prstGeom>
          <a:noFill/>
        </p:spPr>
        <p:txBody>
          <a:bodyPr wrap="square" lIns="0" rIns="0" tIns="0" bIns="0">
            <a:spAutoFit/>
          </a:bodyPr>
          <a:lstStyle/>
          <a:p>
            <a:pPr>
              <a:spcBef>
                <a:spcPts val="0"/>
              </a:spcBef>
              <a:spcAft>
                <a:spcPts val="0"/>
              </a:spcAft>
            </a:pPr>
            <a:r>
              <a:rPr sz="2600" b="0">
                <a:solidFill>
                  <a:srgbClr val="313131"/>
                </a:solidFill>
                <a:latin typeface="NVIDIA Sans"/>
              </a:rPr>
              <a:t>Route/layout → head bands → compute graphs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9</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Ladder header"/>
          <p:cNvSpPr/>
          <p:nvPr/>
        </p:nvSpPr>
        <p:spPr>
          <a:xfrm>
            <a:off x="1828800" y="5303520"/>
            <a:ext cx="32918400" cy="118872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2148840" y="5596128"/>
            <a:ext cx="21031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Stage</a:t>
            </a:r>
          </a:p>
        </p:txBody>
      </p:sp>
      <p:sp>
        <p:nvSpPr>
          <p:cNvPr id="7" name="Header Cumulative optimization"/>
          <p:cNvSpPr txBox="1"/>
          <p:nvPr/>
        </p:nvSpPr>
        <p:spPr>
          <a:xfrm>
            <a:off x="4572000" y="5596128"/>
            <a:ext cx="1856232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Cumulative optimization</a:t>
            </a:r>
          </a:p>
        </p:txBody>
      </p:sp>
      <p:sp>
        <p:nvSpPr>
          <p:cNvPr id="8" name="Header E2E latency"/>
          <p:cNvSpPr txBox="1"/>
          <p:nvPr/>
        </p:nvSpPr>
        <p:spPr>
          <a:xfrm>
            <a:off x="23774400" y="5596128"/>
            <a:ext cx="475488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E2E latency</a:t>
            </a:r>
          </a:p>
        </p:txBody>
      </p:sp>
      <p:sp>
        <p:nvSpPr>
          <p:cNvPr id="9" name="Header Speedup¹"/>
          <p:cNvSpPr txBox="1"/>
          <p:nvPr/>
        </p:nvSpPr>
        <p:spPr>
          <a:xfrm>
            <a:off x="29535119" y="5596128"/>
            <a:ext cx="4937760" cy="777240"/>
          </a:xfrm>
          <a:prstGeom prst="rect">
            <a:avLst/>
          </a:prstGeom>
          <a:noFill/>
        </p:spPr>
        <p:txBody>
          <a:bodyPr wrap="square" lIns="0" rIns="0" tIns="0" bIns="0">
            <a:spAutoFit/>
          </a:bodyPr>
          <a:lstStyle/>
          <a:p>
            <a:pPr>
              <a:spcBef>
                <a:spcPts val="0"/>
              </a:spcBef>
              <a:spcAft>
                <a:spcPts val="0"/>
              </a:spcAft>
            </a:pPr>
            <a:r>
              <a:rPr sz="3200" b="0">
                <a:solidFill>
                  <a:srgbClr val="FFFFFF"/>
                </a:solidFill>
                <a:latin typeface="NVIDIA Sans Medium"/>
              </a:rPr>
              <a:t>Speedup¹</a:t>
            </a:r>
          </a:p>
        </p:txBody>
      </p:sp>
      <p:sp>
        <p:nvSpPr>
          <p:cNvPr id="10" name="Row 00"/>
          <p:cNvSpPr/>
          <p:nvPr/>
        </p:nvSpPr>
        <p:spPr>
          <a:xfrm>
            <a:off x="1828800" y="6492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Stage 00 2.35"/>
          <p:cNvSpPr txBox="1"/>
          <p:nvPr/>
        </p:nvSpPr>
        <p:spPr>
          <a:xfrm>
            <a:off x="2148840" y="6766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00</a:t>
            </a:r>
          </a:p>
        </p:txBody>
      </p:sp>
      <p:sp>
        <p:nvSpPr>
          <p:cNvPr id="12" name="Stage 00 5"/>
          <p:cNvSpPr txBox="1"/>
          <p:nvPr/>
        </p:nvSpPr>
        <p:spPr>
          <a:xfrm>
            <a:off x="4572000" y="6766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Baseline · BF16 / dense / 50 evaluations</a:t>
            </a:r>
          </a:p>
        </p:txBody>
      </p:sp>
      <p:sp>
        <p:nvSpPr>
          <p:cNvPr id="13" name="Stage 00 26"/>
          <p:cNvSpPr txBox="1"/>
          <p:nvPr/>
        </p:nvSpPr>
        <p:spPr>
          <a:xfrm>
            <a:off x="23774400" y="6766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213.402 s</a:t>
            </a:r>
          </a:p>
        </p:txBody>
      </p:sp>
      <p:sp>
        <p:nvSpPr>
          <p:cNvPr id="14" name="Stage 00 32.3"/>
          <p:cNvSpPr txBox="1"/>
          <p:nvPr/>
        </p:nvSpPr>
        <p:spPr>
          <a:xfrm>
            <a:off x="29535119" y="6766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a:t>
            </a:r>
          </a:p>
        </p:txBody>
      </p:sp>
      <p:sp>
        <p:nvSpPr>
          <p:cNvPr id="15" name="Stage 01 2.35"/>
          <p:cNvSpPr txBox="1"/>
          <p:nvPr/>
        </p:nvSpPr>
        <p:spPr>
          <a:xfrm>
            <a:off x="2148840" y="7909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01</a:t>
            </a:r>
          </a:p>
        </p:txBody>
      </p:sp>
      <p:sp>
        <p:nvSpPr>
          <p:cNvPr id="16" name="Stage 01 5"/>
          <p:cNvSpPr txBox="1"/>
          <p:nvPr/>
        </p:nvSpPr>
        <p:spPr>
          <a:xfrm>
            <a:off x="4572000" y="7909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PDD · 50 → 8 evaluations</a:t>
            </a:r>
          </a:p>
        </p:txBody>
      </p:sp>
      <p:sp>
        <p:nvSpPr>
          <p:cNvPr id="17" name="Stage 01 26"/>
          <p:cNvSpPr txBox="1"/>
          <p:nvPr/>
        </p:nvSpPr>
        <p:spPr>
          <a:xfrm>
            <a:off x="23774400" y="7909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44.327 s</a:t>
            </a:r>
          </a:p>
        </p:txBody>
      </p:sp>
      <p:sp>
        <p:nvSpPr>
          <p:cNvPr id="18" name="Stage 01 32.3"/>
          <p:cNvSpPr txBox="1"/>
          <p:nvPr/>
        </p:nvSpPr>
        <p:spPr>
          <a:xfrm>
            <a:off x="29535119" y="7909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4.814×†</a:t>
            </a:r>
          </a:p>
        </p:txBody>
      </p:sp>
      <p:sp>
        <p:nvSpPr>
          <p:cNvPr id="19" name="Row 02"/>
          <p:cNvSpPr/>
          <p:nvPr/>
        </p:nvSpPr>
        <p:spPr>
          <a:xfrm>
            <a:off x="1828800" y="8778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Stage 02 2.35"/>
          <p:cNvSpPr txBox="1"/>
          <p:nvPr/>
        </p:nvSpPr>
        <p:spPr>
          <a:xfrm>
            <a:off x="2148840" y="9052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02</a:t>
            </a:r>
          </a:p>
        </p:txBody>
      </p:sp>
      <p:sp>
        <p:nvSpPr>
          <p:cNvPr id="21" name="Stage 02 5"/>
          <p:cNvSpPr txBox="1"/>
          <p:nvPr/>
        </p:nvSpPr>
        <p:spPr>
          <a:xfrm>
            <a:off x="4572000" y="9052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Trained video sparse attention</a:t>
            </a:r>
          </a:p>
        </p:txBody>
      </p:sp>
      <p:sp>
        <p:nvSpPr>
          <p:cNvPr id="22" name="Stage 02 26"/>
          <p:cNvSpPr txBox="1"/>
          <p:nvPr/>
        </p:nvSpPr>
        <p:spPr>
          <a:xfrm>
            <a:off x="23774400" y="9052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25.915 s</a:t>
            </a:r>
          </a:p>
        </p:txBody>
      </p:sp>
      <p:sp>
        <p:nvSpPr>
          <p:cNvPr id="23" name="Stage 02 32.3"/>
          <p:cNvSpPr txBox="1"/>
          <p:nvPr/>
        </p:nvSpPr>
        <p:spPr>
          <a:xfrm>
            <a:off x="29535119" y="9052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1.710×</a:t>
            </a:r>
          </a:p>
        </p:txBody>
      </p:sp>
      <p:sp>
        <p:nvSpPr>
          <p:cNvPr id="24" name="Stage 03 2.35"/>
          <p:cNvSpPr txBox="1"/>
          <p:nvPr/>
        </p:nvSpPr>
        <p:spPr>
          <a:xfrm>
            <a:off x="2148840" y="10195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03</a:t>
            </a:r>
          </a:p>
        </p:txBody>
      </p:sp>
      <p:sp>
        <p:nvSpPr>
          <p:cNvPr id="25" name="Stage 03 5"/>
          <p:cNvSpPr txBox="1"/>
          <p:nvPr/>
        </p:nvSpPr>
        <p:spPr>
          <a:xfrm>
            <a:off x="4572000" y="10195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QAD NVFP4 DiT / native FP4 attention</a:t>
            </a:r>
          </a:p>
        </p:txBody>
      </p:sp>
      <p:sp>
        <p:nvSpPr>
          <p:cNvPr id="26" name="Stage 03 26"/>
          <p:cNvSpPr txBox="1"/>
          <p:nvPr/>
        </p:nvSpPr>
        <p:spPr>
          <a:xfrm>
            <a:off x="23774400" y="10195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19.460 s</a:t>
            </a:r>
          </a:p>
        </p:txBody>
      </p:sp>
      <p:sp>
        <p:nvSpPr>
          <p:cNvPr id="27" name="Stage 03 32.3"/>
          <p:cNvSpPr txBox="1"/>
          <p:nvPr/>
        </p:nvSpPr>
        <p:spPr>
          <a:xfrm>
            <a:off x="29535119" y="10195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1.332×</a:t>
            </a:r>
          </a:p>
        </p:txBody>
      </p:sp>
      <p:sp>
        <p:nvSpPr>
          <p:cNvPr id="28" name="Row 04"/>
          <p:cNvSpPr/>
          <p:nvPr/>
        </p:nvSpPr>
        <p:spPr>
          <a:xfrm>
            <a:off x="1828800" y="11064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Stage 04 2.35"/>
          <p:cNvSpPr txBox="1"/>
          <p:nvPr/>
        </p:nvSpPr>
        <p:spPr>
          <a:xfrm>
            <a:off x="2148840" y="11338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04</a:t>
            </a:r>
          </a:p>
        </p:txBody>
      </p:sp>
      <p:sp>
        <p:nvSpPr>
          <p:cNvPr id="30" name="Stage 04 5"/>
          <p:cNvSpPr txBox="1"/>
          <p:nvPr/>
        </p:nvSpPr>
        <p:spPr>
          <a:xfrm>
            <a:off x="4572000" y="11338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RDMA / direct layout / V-gate overlap</a:t>
            </a:r>
          </a:p>
        </p:txBody>
      </p:sp>
      <p:sp>
        <p:nvSpPr>
          <p:cNvPr id="31" name="Stage 04 26"/>
          <p:cNvSpPr txBox="1"/>
          <p:nvPr/>
        </p:nvSpPr>
        <p:spPr>
          <a:xfrm>
            <a:off x="23774400" y="11338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6.832 s</a:t>
            </a:r>
          </a:p>
        </p:txBody>
      </p:sp>
      <p:sp>
        <p:nvSpPr>
          <p:cNvPr id="32" name="Stage 04 32.3"/>
          <p:cNvSpPr txBox="1"/>
          <p:nvPr/>
        </p:nvSpPr>
        <p:spPr>
          <a:xfrm>
            <a:off x="29535119" y="11338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2.848×</a:t>
            </a:r>
          </a:p>
        </p:txBody>
      </p:sp>
      <p:sp>
        <p:nvSpPr>
          <p:cNvPr id="33" name="Stage 05 2.35"/>
          <p:cNvSpPr txBox="1"/>
          <p:nvPr/>
        </p:nvSpPr>
        <p:spPr>
          <a:xfrm>
            <a:off x="2148840" y="12481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05</a:t>
            </a:r>
          </a:p>
        </p:txBody>
      </p:sp>
      <p:sp>
        <p:nvSpPr>
          <p:cNvPr id="34" name="Stage 05 5"/>
          <p:cNvSpPr txBox="1"/>
          <p:nvPr/>
        </p:nvSpPr>
        <p:spPr>
          <a:xfrm>
            <a:off x="4572000" y="12481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+ 2 / 3 / 2 head pipeline</a:t>
            </a:r>
          </a:p>
        </p:txBody>
      </p:sp>
      <p:sp>
        <p:nvSpPr>
          <p:cNvPr id="35" name="Stage 05 26"/>
          <p:cNvSpPr txBox="1"/>
          <p:nvPr/>
        </p:nvSpPr>
        <p:spPr>
          <a:xfrm>
            <a:off x="23774400" y="12481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6.407 s</a:t>
            </a:r>
          </a:p>
        </p:txBody>
      </p:sp>
      <p:sp>
        <p:nvSpPr>
          <p:cNvPr id="36" name="Stage 05 32.3"/>
          <p:cNvSpPr txBox="1"/>
          <p:nvPr/>
        </p:nvSpPr>
        <p:spPr>
          <a:xfrm>
            <a:off x="29535119" y="12481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1.066×</a:t>
            </a:r>
          </a:p>
        </p:txBody>
      </p:sp>
      <p:sp>
        <p:nvSpPr>
          <p:cNvPr id="37" name="Row 06"/>
          <p:cNvSpPr/>
          <p:nvPr/>
        </p:nvSpPr>
        <p:spPr>
          <a:xfrm>
            <a:off x="1828800" y="13350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Stage 06 2.35"/>
          <p:cNvSpPr txBox="1"/>
          <p:nvPr/>
        </p:nvSpPr>
        <p:spPr>
          <a:xfrm>
            <a:off x="2148840" y="13624560"/>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06</a:t>
            </a:r>
          </a:p>
        </p:txBody>
      </p:sp>
      <p:sp>
        <p:nvSpPr>
          <p:cNvPr id="39" name="Stage 06 5"/>
          <p:cNvSpPr txBox="1"/>
          <p:nvPr/>
        </p:nvSpPr>
        <p:spPr>
          <a:xfrm>
            <a:off x="4572000" y="13624560"/>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Compute CUDA graphs</a:t>
            </a:r>
          </a:p>
        </p:txBody>
      </p:sp>
      <p:sp>
        <p:nvSpPr>
          <p:cNvPr id="40" name="Stage 06 26"/>
          <p:cNvSpPr txBox="1"/>
          <p:nvPr/>
        </p:nvSpPr>
        <p:spPr>
          <a:xfrm>
            <a:off x="23774400" y="13624560"/>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6.193 s</a:t>
            </a:r>
          </a:p>
        </p:txBody>
      </p:sp>
      <p:sp>
        <p:nvSpPr>
          <p:cNvPr id="41" name="Stage 06 32.3"/>
          <p:cNvSpPr txBox="1"/>
          <p:nvPr/>
        </p:nvSpPr>
        <p:spPr>
          <a:xfrm>
            <a:off x="29535119" y="13624560"/>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1.035×</a:t>
            </a:r>
          </a:p>
        </p:txBody>
      </p:sp>
      <p:sp>
        <p:nvSpPr>
          <p:cNvPr id="42" name="Stage 07 2.35"/>
          <p:cNvSpPr txBox="1"/>
          <p:nvPr/>
        </p:nvSpPr>
        <p:spPr>
          <a:xfrm>
            <a:off x="2148840" y="14767559"/>
            <a:ext cx="2103120" cy="77724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07</a:t>
            </a:r>
          </a:p>
        </p:txBody>
      </p:sp>
      <p:sp>
        <p:nvSpPr>
          <p:cNvPr id="43" name="Stage 07 5"/>
          <p:cNvSpPr txBox="1"/>
          <p:nvPr/>
        </p:nvSpPr>
        <p:spPr>
          <a:xfrm>
            <a:off x="4572000" y="14767559"/>
            <a:ext cx="18562320" cy="777240"/>
          </a:xfrm>
          <a:prstGeom prst="rect">
            <a:avLst/>
          </a:prstGeom>
          <a:noFill/>
        </p:spPr>
        <p:txBody>
          <a:bodyPr wrap="square" lIns="0" rIns="0" tIns="0" bIns="0">
            <a:spAutoFit/>
          </a:bodyPr>
          <a:lstStyle/>
          <a:p>
            <a:pPr>
              <a:spcBef>
                <a:spcPts val="0"/>
              </a:spcBef>
              <a:spcAft>
                <a:spcPts val="0"/>
              </a:spcAft>
            </a:pPr>
            <a:r>
              <a:rPr sz="3300" b="0">
                <a:solidFill>
                  <a:srgbClr val="313131"/>
                </a:solidFill>
                <a:latin typeface="NVIDIA Sans"/>
              </a:rPr>
              <a:t>+ 36-layer NVFP4 VAE / MP4 pre-encoding</a:t>
            </a:r>
          </a:p>
        </p:txBody>
      </p:sp>
      <p:sp>
        <p:nvSpPr>
          <p:cNvPr id="44" name="Stage 07 26"/>
          <p:cNvSpPr txBox="1"/>
          <p:nvPr/>
        </p:nvSpPr>
        <p:spPr>
          <a:xfrm>
            <a:off x="23774400" y="14767559"/>
            <a:ext cx="502920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5.420 s</a:t>
            </a:r>
          </a:p>
        </p:txBody>
      </p:sp>
      <p:sp>
        <p:nvSpPr>
          <p:cNvPr id="45" name="Stage 07 32.3"/>
          <p:cNvSpPr txBox="1"/>
          <p:nvPr/>
        </p:nvSpPr>
        <p:spPr>
          <a:xfrm>
            <a:off x="29535119" y="14767559"/>
            <a:ext cx="4937760" cy="77724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a:rPr>
              <a:t>1.143×</a:t>
            </a:r>
          </a:p>
        </p:txBody>
      </p:sp>
      <p:sp>
        <p:nvSpPr>
          <p:cNvPr id="46" name="Row 08–12"/>
          <p:cNvSpPr/>
          <p:nvPr/>
        </p:nvSpPr>
        <p:spPr>
          <a:xfrm>
            <a:off x="1828800" y="15636240"/>
            <a:ext cx="329184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Stage 08–12 2.35"/>
          <p:cNvSpPr txBox="1"/>
          <p:nvPr/>
        </p:nvSpPr>
        <p:spPr>
          <a:xfrm>
            <a:off x="2148840" y="15910560"/>
            <a:ext cx="2103120" cy="777240"/>
          </a:xfrm>
          <a:prstGeom prst="rect">
            <a:avLst/>
          </a:prstGeom>
          <a:noFill/>
        </p:spPr>
        <p:txBody>
          <a:bodyPr wrap="square" lIns="0" rIns="0" tIns="0" bIns="0">
            <a:spAutoFit/>
          </a:bodyPr>
          <a:lstStyle/>
          <a:p>
            <a:pPr>
              <a:spcBef>
                <a:spcPts val="0"/>
              </a:spcBef>
              <a:spcAft>
                <a:spcPts val="0"/>
              </a:spcAft>
            </a:pPr>
            <a:r>
              <a:rPr sz="3100" b="0">
                <a:solidFill>
                  <a:srgbClr val="76B900"/>
                </a:solidFill>
                <a:latin typeface="NVIDIA Sans Medium"/>
              </a:rPr>
              <a:t>08–12</a:t>
            </a:r>
          </a:p>
        </p:txBody>
      </p:sp>
      <p:sp>
        <p:nvSpPr>
          <p:cNvPr id="48" name="Stage 08–12 5"/>
          <p:cNvSpPr txBox="1"/>
          <p:nvPr/>
        </p:nvSpPr>
        <p:spPr>
          <a:xfrm>
            <a:off x="4572000" y="15910560"/>
            <a:ext cx="18562320" cy="777240"/>
          </a:xfrm>
          <a:prstGeom prst="rect">
            <a:avLst/>
          </a:prstGeom>
          <a:noFill/>
        </p:spPr>
        <p:txBody>
          <a:bodyPr wrap="square" lIns="0" rIns="0" tIns="0" bIns="0">
            <a:spAutoFit/>
          </a:bodyPr>
          <a:lstStyle/>
          <a:p>
            <a:pPr>
              <a:spcBef>
                <a:spcPts val="0"/>
              </a:spcBef>
              <a:spcAft>
                <a:spcPts val="0"/>
              </a:spcAft>
            </a:pPr>
            <a:r>
              <a:rPr sz="3300" b="0">
                <a:solidFill>
                  <a:srgbClr val="76B900"/>
                </a:solidFill>
                <a:latin typeface="NVIDIA Sans Medium"/>
              </a:rPr>
              <a:t>+ Output fusion / routing / copy removal</a:t>
            </a:r>
          </a:p>
        </p:txBody>
      </p:sp>
      <p:sp>
        <p:nvSpPr>
          <p:cNvPr id="49" name="Stage 08–12 26"/>
          <p:cNvSpPr txBox="1"/>
          <p:nvPr/>
        </p:nvSpPr>
        <p:spPr>
          <a:xfrm>
            <a:off x="23774400" y="15910560"/>
            <a:ext cx="502920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4.922 s</a:t>
            </a:r>
          </a:p>
        </p:txBody>
      </p:sp>
      <p:sp>
        <p:nvSpPr>
          <p:cNvPr id="50" name="Stage 08–12 32.3"/>
          <p:cNvSpPr txBox="1"/>
          <p:nvPr/>
        </p:nvSpPr>
        <p:spPr>
          <a:xfrm>
            <a:off x="29535119" y="15910560"/>
            <a:ext cx="4937760" cy="777240"/>
          </a:xfrm>
          <a:prstGeom prst="rect">
            <a:avLst/>
          </a:prstGeom>
          <a:noFill/>
        </p:spPr>
        <p:txBody>
          <a:bodyPr wrap="square" lIns="0" rIns="0" tIns="0" bIns="0">
            <a:spAutoFit/>
          </a:bodyPr>
          <a:lstStyle/>
          <a:p>
            <a:pPr>
              <a:spcBef>
                <a:spcPts val="0"/>
              </a:spcBef>
              <a:spcAft>
                <a:spcPts val="0"/>
              </a:spcAft>
            </a:pPr>
            <a:r>
              <a:rPr sz="3400" b="0">
                <a:solidFill>
                  <a:srgbClr val="76B900"/>
                </a:solidFill>
                <a:latin typeface="NVIDIA Sans Medium"/>
              </a:rPr>
              <a:t>1.101×</a:t>
            </a:r>
          </a:p>
        </p:txBody>
      </p:sp>
      <p:sp>
        <p:nvSpPr>
          <p:cNvPr id="51" name="Overall measured result"/>
          <p:cNvSpPr txBox="1"/>
          <p:nvPr/>
        </p:nvSpPr>
        <p:spPr>
          <a:xfrm>
            <a:off x="1828800" y="17419320"/>
            <a:ext cx="32918400" cy="1097280"/>
          </a:xfrm>
          <a:prstGeom prst="rect">
            <a:avLst/>
          </a:prstGeom>
          <a:noFill/>
        </p:spPr>
        <p:txBody>
          <a:bodyPr wrap="square" lIns="0" rIns="0" tIns="0" bIns="0">
            <a:spAutoFit/>
          </a:bodyPr>
          <a:lstStyle/>
          <a:p>
            <a:pPr algn="ctr">
              <a:spcBef>
                <a:spcPts val="0"/>
              </a:spcBef>
              <a:spcAft>
                <a:spcPts val="0"/>
              </a:spcAft>
            </a:pPr>
            <a:r>
              <a:rPr sz="5800" b="0">
                <a:solidFill>
                  <a:srgbClr val="76B900"/>
                </a:solidFill>
                <a:latin typeface="NVIDIA Sans Medium"/>
              </a:rPr>
              <a:t>43.4× faster  ·  4.92 s  ·  RTF 0.95</a:t>
            </a:r>
          </a:p>
        </p:txBody>
      </p:sp>
      <p:sp>
        <p:nvSpPr>
          <p:cNvPr id="52" name="Ladder ratio note"/>
          <p:cNvSpPr txBox="1"/>
          <p:nvPr/>
        </p:nvSpPr>
        <p:spPr>
          <a:xfrm>
            <a:off x="1828800" y="189280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¹ Previous displayed row ÷ current row. 08–12 is grouped. † Baseline refreshed separately (n=2); later stages n=3.</a:t>
            </a:r>
          </a:p>
        </p:txBody>
      </p:sp>
      <p:sp>
        <p:nvSpPr>
          <p:cNvPr id="53" name="Ladder scope"/>
          <p:cNvSpPr txBox="1"/>
          <p:nvPr/>
        </p:nvSpPr>
        <p:spPr>
          <a:xfrm>
            <a:off x="1828800" y="1952244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Standalone H3; ASR / LLM excluded. Includes model, schedule and precision changes. No new measurements.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10</a:t>
            </a:r>
          </a:p>
        </p:txBody>
      </p:sp>
      <p:sp>
        <p:nvSpPr>
          <p:cNvPr id="3" name="Text Placeholder 2"/>
          <p:cNvSpPr>
            <a:spLocks noGrp="1"/>
          </p:cNvSpPr>
          <p:nvPr>
            <p:ph type="body" idx="13" sz="quarter"/>
          </p:nvPr>
        </p:nvSpPr>
        <p:spPr/>
        <p:txBody>
          <a:bodyPr/>
          <a:lstStyle/>
          <a:p>
            <a:r>
              <a:t>Voice → text → prompt → audio + video</a:t>
            </a:r>
          </a:p>
        </p:txBody>
      </p:sp>
      <p:sp>
        <p:nvSpPr>
          <p:cNvPr id="4" name="Title 3"/>
          <p:cNvSpPr>
            <a:spLocks noGrp="1"/>
          </p:cNvSpPr>
          <p:nvPr>
            <p:ph type="title"/>
          </p:nvPr>
        </p:nvSpPr>
        <p:spPr/>
        <p:txBody>
          <a:bodyPr/>
          <a:lstStyle/>
          <a:p>
            <a:r>
              <a:t>From a Question to a Reply</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4"/>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5"/>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r>
              <a:rPr sz="2400" b="0">
                <a:solidFill>
                  <a:srgbClr val="76B900"/>
                </a:solidFill>
                <a:latin typeface="NVIDIA Sans Medium"/>
              </a:rPr>
              <a:t>PROMPT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r>
              <a:rPr sz="3000" b="0">
                <a:solidFill>
                  <a:srgbClr val="313131"/>
                </a:solidFill>
                <a:latin typeface="NVIDIA Sans"/>
              </a:rPr>
              <a:t>960 × 544 · ~5 s windows · 8 steps · 8 × RTX PRO 5000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11</a:t>
            </a:r>
          </a:p>
        </p:txBody>
      </p:sp>
      <p:sp>
        <p:nvSpPr>
          <p:cNvPr id="3" name="Text Placeholder 2"/>
          <p:cNvSpPr>
            <a:spLocks noGrp="1"/>
          </p:cNvSpPr>
          <p:nvPr>
            <p:ph type="body" idx="13" sz="quarter"/>
          </p:nvPr>
        </p:nvSpPr>
        <p:spPr/>
        <p:txBody>
          <a:bodyPr/>
          <a:lstStyle/>
          <a:p>
            <a:r>
              <a:t>Carry a short audio–video latent tail into each new ~5 s window.</a:t>
            </a:r>
          </a:p>
        </p:txBody>
      </p:sp>
      <p:sp>
        <p:nvSpPr>
          <p:cNvPr id="4" name="Title 3"/>
          <p:cNvSpPr>
            <a:spLocks noGrp="1"/>
          </p:cNvSpPr>
          <p:nvPr>
            <p:ph type="title"/>
          </p:nvPr>
        </p:nvSpPr>
        <p:spPr/>
        <p:txBody>
          <a:bodyPr/>
          <a:lstStyle/>
          <a:p>
            <a:r>
              <a:rPr sz="8800"/>
              <a:t>Continuation: From One Clip to the Next</a:t>
            </a:r>
          </a:p>
        </p:txBody>
      </p:sp>
      <p:sp>
        <p:nvSpPr>
          <p:cNvPr id="5" name="Previous chunk heading"/>
          <p:cNvSpPr txBox="1"/>
          <p:nvPr/>
        </p:nvSpPr>
        <p:spPr>
          <a:xfrm>
            <a:off x="1828800" y="5760720"/>
            <a:ext cx="758952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PREVIOUS CHUNK</a:t>
            </a:r>
          </a:p>
        </p:txBody>
      </p:sp>
      <p:pic>
        <p:nvPicPr>
          <p:cNvPr id="6" name="Actual ending of chunk A" descr="image.png"/>
          <p:cNvPicPr>
            <a:picLocks noChangeAspect="1"/>
          </p:cNvPicPr>
          <p:nvPr/>
        </p:nvPicPr>
        <p:blipFill>
          <a:blip r:embed="rId3"/>
          <a:stretch>
            <a:fillRect/>
          </a:stretch>
        </p:blipFill>
        <p:spPr>
          <a:xfrm>
            <a:off x="1828800" y="6949440"/>
            <a:ext cx="7406640" cy="4197096"/>
          </a:xfrm>
          <a:prstGeom prst="rect">
            <a:avLst/>
          </a:prstGeom>
        </p:spPr>
      </p:pic>
      <p:sp>
        <p:nvSpPr>
          <p:cNvPr id="7" name="Previous chunk caption"/>
          <p:cNvSpPr txBox="1"/>
          <p:nvPr/>
        </p:nvSpPr>
        <p:spPr>
          <a:xfrm>
            <a:off x="1828800" y="11475720"/>
            <a:ext cx="740664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Keep only the ending</a:t>
            </a:r>
          </a:p>
        </p:txBody>
      </p:sp>
      <p:sp>
        <p:nvSpPr>
          <p:cNvPr id="8" name="History heading"/>
          <p:cNvSpPr txBox="1"/>
          <p:nvPr/>
        </p:nvSpPr>
        <p:spPr>
          <a:xfrm>
            <a:off x="10789920" y="5303520"/>
            <a:ext cx="10332720" cy="731520"/>
          </a:xfrm>
          <a:prstGeom prst="rect">
            <a:avLst/>
          </a:prstGeom>
          <a:noFill/>
        </p:spPr>
        <p:txBody>
          <a:bodyPr wrap="square" lIns="0" rIns="0" tIns="0" bIns="0">
            <a:spAutoFit/>
          </a:bodyPr>
          <a:lstStyle/>
          <a:p>
            <a:pPr>
              <a:spcBef>
                <a:spcPts val="0"/>
              </a:spcBef>
              <a:spcAft>
                <a:spcPts val="0"/>
              </a:spcAft>
            </a:pPr>
            <a:r>
              <a:rPr sz="3000" b="0">
                <a:solidFill>
                  <a:srgbClr val="76B900"/>
                </a:solidFill>
                <a:latin typeface="NVIDIA Sans Medium"/>
              </a:rPr>
              <a:t>HISTORY CONDITION</a:t>
            </a:r>
          </a:p>
        </p:txBody>
      </p:sp>
      <p:sp>
        <p:nvSpPr>
          <p:cNvPr id="9" name="2 video latent slices box"/>
          <p:cNvSpPr/>
          <p:nvPr/>
        </p:nvSpPr>
        <p:spPr>
          <a:xfrm>
            <a:off x="10789920" y="667512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2 video latent slices"/>
          <p:cNvSpPr txBox="1"/>
          <p:nvPr/>
        </p:nvSpPr>
        <p:spPr>
          <a:xfrm>
            <a:off x="11109960" y="690372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2 video latent slices</a:t>
            </a:r>
          </a:p>
        </p:txBody>
      </p:sp>
      <p:sp>
        <p:nvSpPr>
          <p:cNvPr id="11" name="2 video latent slices detail"/>
          <p:cNvSpPr txBox="1"/>
          <p:nvPr/>
        </p:nvSpPr>
        <p:spPr>
          <a:xfrm>
            <a:off x="11109960" y="7909560"/>
            <a:ext cx="9692640" cy="685800"/>
          </a:xfrm>
          <a:prstGeom prst="rect">
            <a:avLst/>
          </a:prstGeom>
          <a:noFill/>
        </p:spPr>
        <p:txBody>
          <a:bodyPr wrap="square" lIns="0" rIns="0" tIns="0" bIns="0">
            <a:spAutoFit/>
          </a:bodyPr>
          <a:lstStyle/>
          <a:p>
            <a:pPr>
              <a:spcBef>
                <a:spcPts val="0"/>
              </a:spcBef>
              <a:spcAft>
                <a:spcPts val="0"/>
              </a:spcAft>
            </a:pPr>
            <a:r>
              <a:rPr sz="2800" b="0">
                <a:solidFill>
                  <a:srgbClr val="76B900"/>
                </a:solidFill>
                <a:latin typeface="NVIDIA Sans"/>
              </a:rPr>
              <a:t>80% history + 20% noise</a:t>
            </a:r>
          </a:p>
        </p:txBody>
      </p:sp>
      <p:sp>
        <p:nvSpPr>
          <p:cNvPr id="12" name="8–9 audio latent tokens box"/>
          <p:cNvSpPr/>
          <p:nvPr/>
        </p:nvSpPr>
        <p:spPr>
          <a:xfrm>
            <a:off x="10789920" y="9601200"/>
            <a:ext cx="10332720" cy="2286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8–9 audio latent tokens"/>
          <p:cNvSpPr txBox="1"/>
          <p:nvPr/>
        </p:nvSpPr>
        <p:spPr>
          <a:xfrm>
            <a:off x="11109960" y="9829800"/>
            <a:ext cx="9692640" cy="77724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Medium"/>
              </a:rPr>
              <a:t>8–9 audio latent tokens</a:t>
            </a:r>
          </a:p>
        </p:txBody>
      </p:sp>
      <p:sp>
        <p:nvSpPr>
          <p:cNvPr id="14" name="8–9 audio latent tokens detail"/>
          <p:cNvSpPr txBox="1"/>
          <p:nvPr/>
        </p:nvSpPr>
        <p:spPr>
          <a:xfrm>
            <a:off x="11109960" y="10835640"/>
            <a:ext cx="9692640" cy="685800"/>
          </a:xfrm>
          <a:prstGeom prst="rect">
            <a:avLst/>
          </a:prstGeom>
          <a:noFill/>
        </p:spPr>
        <p:txBody>
          <a:bodyPr wrap="square" lIns="0" rIns="0" tIns="0" bIns="0">
            <a:spAutoFit/>
          </a:bodyPr>
          <a:lstStyle/>
          <a:p>
            <a:pPr>
              <a:spcBef>
                <a:spcPts val="0"/>
              </a:spcBef>
              <a:spcAft>
                <a:spcPts val="0"/>
              </a:spcAft>
            </a:pPr>
            <a:r>
              <a:rPr sz="2800" b="0">
                <a:solidFill>
                  <a:srgbClr val="313131"/>
                </a:solidFill>
                <a:latin typeface="NVIDIA Sans"/>
              </a:rPr>
              <a:t>Clean history · no added noise</a:t>
            </a:r>
          </a:p>
        </p:txBody>
      </p:sp>
      <p:cxnSp>
        <p:nvCxnSpPr>
          <p:cNvPr id="15" name="Tail split input"/>
          <p:cNvCxnSpPr/>
          <p:nvPr/>
        </p:nvCxnSpPr>
        <p:spPr>
          <a:xfrm>
            <a:off x="9235440" y="9052560"/>
            <a:ext cx="731520" cy="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Tail split stem"/>
          <p:cNvCxnSpPr/>
          <p:nvPr/>
        </p:nvCxnSpPr>
        <p:spPr>
          <a:xfrm>
            <a:off x="9966960" y="7818120"/>
            <a:ext cx="0" cy="292608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Tail branch 8.55"/>
          <p:cNvCxnSpPr/>
          <p:nvPr/>
        </p:nvCxnSpPr>
        <p:spPr>
          <a:xfrm>
            <a:off x="9966960" y="781812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8" name="Tail branch 11.75"/>
          <p:cNvCxnSpPr/>
          <p:nvPr/>
        </p:nvCxnSpPr>
        <p:spPr>
          <a:xfrm>
            <a:off x="9966960" y="10744200"/>
            <a:ext cx="8229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9" name="Other conditioning"/>
          <p:cNvSpPr/>
          <p:nvPr/>
        </p:nvSpPr>
        <p:spPr>
          <a:xfrm>
            <a:off x="22494240" y="4937760"/>
            <a:ext cx="12252960" cy="1645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ther conditioning label"/>
          <p:cNvSpPr txBox="1"/>
          <p:nvPr/>
        </p:nvSpPr>
        <p:spPr>
          <a:xfrm>
            <a:off x="22677120" y="5120640"/>
            <a:ext cx="11887200" cy="128016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Reference image + voice</a:t>
            </a:r>
          </a:p>
          <a:p>
            <a:pPr algn="ctr">
              <a:spcBef>
                <a:spcPts val="0"/>
              </a:spcBef>
              <a:spcAft>
                <a:spcPts val="0"/>
              </a:spcAft>
            </a:pPr>
            <a:r>
              <a:rPr sz="2700" b="0">
                <a:solidFill>
                  <a:srgbClr val="000000"/>
                </a:solidFill>
                <a:latin typeface="NVIDIA Sans"/>
              </a:rPr>
              <a:t>Next reply / listening prompt</a:t>
            </a:r>
          </a:p>
        </p:txBody>
      </p:sp>
      <p:sp>
        <p:nvSpPr>
          <p:cNvPr id="21" name="H3 box"/>
          <p:cNvSpPr/>
          <p:nvPr/>
        </p:nvSpPr>
        <p:spPr>
          <a:xfrm>
            <a:off x="22860000" y="7680960"/>
            <a:ext cx="4389120" cy="32004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H3 label"/>
          <p:cNvSpPr txBox="1"/>
          <p:nvPr/>
        </p:nvSpPr>
        <p:spPr>
          <a:xfrm>
            <a:off x="22951440" y="8138160"/>
            <a:ext cx="4206240" cy="1097280"/>
          </a:xfrm>
          <a:prstGeom prst="rect">
            <a:avLst/>
          </a:prstGeom>
          <a:noFill/>
        </p:spPr>
        <p:txBody>
          <a:bodyPr wrap="square" lIns="0" rIns="0" tIns="0" bIns="0">
            <a:spAutoFit/>
          </a:bodyPr>
          <a:lstStyle/>
          <a:p>
            <a:pPr algn="ctr">
              <a:spcBef>
                <a:spcPts val="0"/>
              </a:spcBef>
              <a:spcAft>
                <a:spcPts val="0"/>
              </a:spcAft>
            </a:pPr>
            <a:r>
              <a:rPr sz="6000" b="0">
                <a:solidFill>
                  <a:srgbClr val="000000"/>
                </a:solidFill>
                <a:latin typeface="NVIDIA Sans Medium"/>
              </a:rPr>
              <a:t>H3</a:t>
            </a:r>
          </a:p>
        </p:txBody>
      </p:sp>
      <p:sp>
        <p:nvSpPr>
          <p:cNvPr id="23" name="H3 steps"/>
          <p:cNvSpPr txBox="1"/>
          <p:nvPr/>
        </p:nvSpPr>
        <p:spPr>
          <a:xfrm>
            <a:off x="22951440" y="9738360"/>
            <a:ext cx="4206240" cy="640080"/>
          </a:xfrm>
          <a:prstGeom prst="rect">
            <a:avLst/>
          </a:prstGeom>
          <a:noFill/>
        </p:spPr>
        <p:txBody>
          <a:bodyPr wrap="square" lIns="0" rIns="0" tIns="0" bIns="0">
            <a:spAutoFit/>
          </a:bodyPr>
          <a:lstStyle/>
          <a:p>
            <a:pPr algn="ctr">
              <a:spcBef>
                <a:spcPts val="0"/>
              </a:spcBef>
              <a:spcAft>
                <a:spcPts val="0"/>
              </a:spcAft>
            </a:pPr>
            <a:r>
              <a:rPr sz="2900" b="0">
                <a:solidFill>
                  <a:srgbClr val="000000"/>
                </a:solidFill>
                <a:latin typeface="NVIDIA Sans"/>
              </a:rPr>
              <a:t>8 steps</a:t>
            </a:r>
          </a:p>
        </p:txBody>
      </p:sp>
      <p:cxnSp>
        <p:nvCxnSpPr>
          <p:cNvPr id="24" name="Prompt into H3"/>
          <p:cNvCxnSpPr/>
          <p:nvPr/>
        </p:nvCxnSpPr>
        <p:spPr>
          <a:xfrm>
            <a:off x="25054560" y="6583680"/>
            <a:ext cx="0" cy="109728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5" name="Guide input 8.55"/>
          <p:cNvCxnSpPr/>
          <p:nvPr/>
        </p:nvCxnSpPr>
        <p:spPr>
          <a:xfrm>
            <a:off x="21122640" y="781812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6" name="Guide input 11.75"/>
          <p:cNvCxnSpPr/>
          <p:nvPr/>
        </p:nvCxnSpPr>
        <p:spPr>
          <a:xfrm>
            <a:off x="21122640" y="10744200"/>
            <a:ext cx="173736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27" name="Next chunk heading"/>
          <p:cNvSpPr txBox="1"/>
          <p:nvPr/>
        </p:nvSpPr>
        <p:spPr>
          <a:xfrm>
            <a:off x="28620720" y="6400800"/>
            <a:ext cx="6126480" cy="64008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Medium"/>
              </a:rPr>
              <a:t>CHUNK B · AFTER TRIM</a:t>
            </a:r>
          </a:p>
        </p:txBody>
      </p:sp>
      <p:pic>
        <p:nvPicPr>
          <p:cNvPr id="28" name="Actual first retained frame of chunk B" descr="image.png"/>
          <p:cNvPicPr>
            <a:picLocks noChangeAspect="1"/>
          </p:cNvPicPr>
          <p:nvPr/>
        </p:nvPicPr>
        <p:blipFill>
          <a:blip r:embed="rId4"/>
          <a:stretch>
            <a:fillRect/>
          </a:stretch>
        </p:blipFill>
        <p:spPr>
          <a:xfrm>
            <a:off x="28620720" y="7452360"/>
            <a:ext cx="6126480" cy="3471672"/>
          </a:xfrm>
          <a:prstGeom prst="rect">
            <a:avLst/>
          </a:prstGeom>
        </p:spPr>
      </p:pic>
      <p:cxnSp>
        <p:nvCxnSpPr>
          <p:cNvPr id="29" name="H3 to next playback"/>
          <p:cNvCxnSpPr/>
          <p:nvPr/>
        </p:nvCxnSpPr>
        <p:spPr>
          <a:xfrm>
            <a:off x="27249120" y="9281160"/>
            <a:ext cx="1371600" cy="0"/>
          </a:xfrm>
          <a:prstGeom prst="line">
            <a:avLst/>
          </a:prstGeom>
          <a:ln w="254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Next chunk caption"/>
          <p:cNvSpPr txBox="1"/>
          <p:nvPr/>
        </p:nvSpPr>
        <p:spPr>
          <a:xfrm>
            <a:off x="28620720" y="11475720"/>
            <a:ext cx="6126480" cy="73152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New video + audio</a:t>
            </a:r>
          </a:p>
        </p:txBody>
      </p:sp>
      <p:sp>
        <p:nvSpPr>
          <p:cNvPr id="31" name="Cache scope"/>
          <p:cNvSpPr txBox="1"/>
          <p:nvPr/>
        </p:nvSpPr>
        <p:spPr>
          <a:xfrm>
            <a:off x="1828800" y="12938760"/>
            <a:ext cx="32918400" cy="777240"/>
          </a:xfrm>
          <a:prstGeom prst="rect">
            <a:avLst/>
          </a:prstGeom>
          <a:noFill/>
        </p:spPr>
        <p:txBody>
          <a:bodyPr wrap="square" lIns="0" rIns="0" tIns="0" bIns="0">
            <a:spAutoFit/>
          </a:bodyPr>
          <a:lstStyle/>
          <a:p>
            <a:pPr>
              <a:spcBef>
                <a:spcPts val="0"/>
              </a:spcBef>
              <a:spcAft>
                <a:spcPts val="0"/>
              </a:spcAft>
            </a:pPr>
            <a:r>
              <a:rPr sz="3300" b="0">
                <a:solidFill>
                  <a:srgbClr val="000000"/>
                </a:solidFill>
                <a:latin typeface="NVIDIA Sans Medium"/>
              </a:rPr>
              <a:t>AV latents carry the history; attention K/V is recomputed for the new request.</a:t>
            </a:r>
          </a:p>
        </p:txBody>
      </p:sp>
      <p:sp>
        <p:nvSpPr>
          <p:cNvPr id="32" name="Continuation controls"/>
          <p:cNvSpPr txBox="1"/>
          <p:nvPr/>
        </p:nvSpPr>
        <p:spPr>
          <a:xfrm>
            <a:off x="1828800" y="13990320"/>
            <a:ext cx="329184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Target prefix clamping: off  ·  Cumulative AV positions  ·  Fixed-size history</a:t>
            </a:r>
          </a:p>
        </p:txBody>
      </p:sp>
      <p:sp>
        <p:nvSpPr>
          <p:cNvPr id="33" name="Playback heading"/>
          <p:cNvSpPr txBox="1"/>
          <p:nvPr/>
        </p:nvSpPr>
        <p:spPr>
          <a:xfrm>
            <a:off x="1828800" y="15544800"/>
            <a:ext cx="15270480" cy="64008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Medium"/>
              </a:rPr>
              <a:t>APPEND ONLY NEW CONTENT</a:t>
            </a:r>
          </a:p>
        </p:txBody>
      </p:sp>
      <p:sp>
        <p:nvSpPr>
          <p:cNvPr id="34" name="Trim heading"/>
          <p:cNvSpPr txBox="1"/>
          <p:nvPr/>
        </p:nvSpPr>
        <p:spPr>
          <a:xfrm>
            <a:off x="18745200" y="15544800"/>
            <a:ext cx="16002000" cy="64008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Trim 5 overlapping frames + aligned audio</a:t>
            </a:r>
          </a:p>
        </p:txBody>
      </p:sp>
      <p:sp>
        <p:nvSpPr>
          <p:cNvPr id="35" name="Playback A"/>
          <p:cNvSpPr/>
          <p:nvPr/>
        </p:nvSpPr>
        <p:spPr>
          <a:xfrm>
            <a:off x="1828800" y="16642080"/>
            <a:ext cx="16002000" cy="12801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rimmed overlap"/>
          <p:cNvSpPr/>
          <p:nvPr/>
        </p:nvSpPr>
        <p:spPr>
          <a:xfrm>
            <a:off x="17967960" y="16642080"/>
            <a:ext cx="685800" cy="12801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37" name="Trim mark 1"/>
          <p:cNvCxnSpPr/>
          <p:nvPr/>
        </p:nvCxnSpPr>
        <p:spPr>
          <a:xfrm>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Trim mark 2"/>
          <p:cNvCxnSpPr/>
          <p:nvPr/>
        </p:nvCxnSpPr>
        <p:spPr>
          <a:xfrm flipH="1">
            <a:off x="17967960" y="16642080"/>
            <a:ext cx="685800" cy="1280160"/>
          </a:xfrm>
          <a:prstGeom prst="line">
            <a:avLst/>
          </a:prstGeom>
          <a:ln w="254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Playback B"/>
          <p:cNvSpPr/>
          <p:nvPr/>
        </p:nvSpPr>
        <p:spPr>
          <a:xfrm>
            <a:off x="18790920" y="16642080"/>
            <a:ext cx="15956280" cy="12801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Playback A label"/>
          <p:cNvSpPr txBox="1"/>
          <p:nvPr/>
        </p:nvSpPr>
        <p:spPr>
          <a:xfrm>
            <a:off x="2194560" y="16962120"/>
            <a:ext cx="15270480" cy="73152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Medium"/>
              </a:rPr>
              <a:t>Chunk A · 5.167 s</a:t>
            </a:r>
          </a:p>
        </p:txBody>
      </p:sp>
      <p:sp>
        <p:nvSpPr>
          <p:cNvPr id="41" name="Playback B label"/>
          <p:cNvSpPr txBox="1"/>
          <p:nvPr/>
        </p:nvSpPr>
        <p:spPr>
          <a:xfrm>
            <a:off x="19156680" y="16962120"/>
            <a:ext cx="15179040" cy="731520"/>
          </a:xfrm>
          <a:prstGeom prst="rect">
            <a:avLst/>
          </a:prstGeom>
          <a:noFill/>
        </p:spPr>
        <p:txBody>
          <a:bodyPr wrap="square" lIns="0" rIns="0" tIns="0" bIns="0">
            <a:spAutoFit/>
          </a:bodyPr>
          <a:lstStyle/>
          <a:p>
            <a:pPr>
              <a:spcBef>
                <a:spcPts val="0"/>
              </a:spcBef>
              <a:spcAft>
                <a:spcPts val="0"/>
              </a:spcAft>
            </a:pPr>
            <a:r>
              <a:rPr sz="3600" b="0">
                <a:solidFill>
                  <a:srgbClr val="FFFFFF"/>
                </a:solidFill>
                <a:latin typeface="NVIDIA Sans Medium"/>
              </a:rPr>
              <a:t>Chunk B · +4.958 s</a:t>
            </a:r>
          </a:p>
        </p:txBody>
      </p:sp>
      <p:sp>
        <p:nvSpPr>
          <p:cNvPr id="42" name="Continuation result"/>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Generate 124 frames; append 119 new frames at 24 FPS. Repeat with the new tail.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r>
              <a:rPr sz="7000" b="1">
                <a:solidFill>
                  <a:srgbClr val="000000"/>
                </a:solidFill>
                <a:latin typeface="NVIDIA Sans"/>
              </a:rPr>
              <a:t>Live Demo</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A continuous conversation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12</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1828800" y="5120640"/>
            <a:ext cx="22677120" cy="13042207"/>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r>
              <a:rPr sz="3000" b="0">
                <a:solidFill>
                  <a:srgbClr val="000000"/>
                </a:solidFill>
                <a:latin typeface="NVIDIA Sans"/>
              </a:rPr>
              <a:t>960 × 544 · ~5 s windows · 8 steps · 8 × RTX PRO 5000</a:t>
            </a:r>
          </a:p>
        </p:txBody>
      </p:sp>
      <p:sp>
        <p:nvSpPr>
          <p:cNvPr id="7" name="History value 0"/>
          <p:cNvSpPr txBox="1"/>
          <p:nvPr/>
        </p:nvSpPr>
        <p:spPr>
          <a:xfrm>
            <a:off x="25877520" y="5715000"/>
            <a:ext cx="8869680" cy="1280160"/>
          </a:xfrm>
          <a:prstGeom prst="rect">
            <a:avLst/>
          </a:prstGeom>
          <a:noFill/>
        </p:spPr>
        <p:txBody>
          <a:bodyPr wrap="square" lIns="0" rIns="0" tIns="0" bIns="0">
            <a:spAutoFit/>
          </a:bodyPr>
          <a:lstStyle/>
          <a:p>
            <a:pPr>
              <a:spcBef>
                <a:spcPts val="0"/>
              </a:spcBef>
              <a:spcAft>
                <a:spcPts val="0"/>
              </a:spcAft>
            </a:pPr>
            <a:r>
              <a:rPr sz="6200" b="0">
                <a:solidFill>
                  <a:srgbClr val="76B900"/>
                </a:solidFill>
                <a:latin typeface="NVIDIA Sans Medium"/>
              </a:rPr>
              <a:t>20%</a:t>
            </a:r>
          </a:p>
        </p:txBody>
      </p:sp>
      <p:sp>
        <p:nvSpPr>
          <p:cNvPr id="8" name="History detail 0"/>
          <p:cNvSpPr txBox="1"/>
          <p:nvPr/>
        </p:nvSpPr>
        <p:spPr>
          <a:xfrm>
            <a:off x="25877520" y="722376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video history noise</a:t>
            </a:r>
          </a:p>
        </p:txBody>
      </p:sp>
      <p:sp>
        <p:nvSpPr>
          <p:cNvPr id="9" name="History value 1"/>
          <p:cNvSpPr txBox="1"/>
          <p:nvPr/>
        </p:nvSpPr>
        <p:spPr>
          <a:xfrm>
            <a:off x="25877520" y="896112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2 video</a:t>
            </a:r>
          </a:p>
        </p:txBody>
      </p:sp>
      <p:sp>
        <p:nvSpPr>
          <p:cNvPr id="10" name="History detail 1"/>
          <p:cNvSpPr txBox="1"/>
          <p:nvPr/>
        </p:nvSpPr>
        <p:spPr>
          <a:xfrm>
            <a:off x="25877520" y="1046988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time slices</a:t>
            </a:r>
          </a:p>
        </p:txBody>
      </p:sp>
      <p:sp>
        <p:nvSpPr>
          <p:cNvPr id="11" name="History value 2"/>
          <p:cNvSpPr txBox="1"/>
          <p:nvPr/>
        </p:nvSpPr>
        <p:spPr>
          <a:xfrm>
            <a:off x="25877520" y="12207240"/>
            <a:ext cx="8869680" cy="1280160"/>
          </a:xfrm>
          <a:prstGeom prst="rect">
            <a:avLst/>
          </a:prstGeom>
          <a:noFill/>
        </p:spPr>
        <p:txBody>
          <a:bodyPr wrap="square" lIns="0" rIns="0" tIns="0" bIns="0">
            <a:spAutoFit/>
          </a:bodyPr>
          <a:lstStyle/>
          <a:p>
            <a:pPr>
              <a:spcBef>
                <a:spcPts val="0"/>
              </a:spcBef>
              <a:spcAft>
                <a:spcPts val="0"/>
              </a:spcAft>
            </a:pPr>
            <a:r>
              <a:rPr sz="6200" b="0">
                <a:solidFill>
                  <a:srgbClr val="313131"/>
                </a:solidFill>
                <a:latin typeface="NVIDIA Sans Medium"/>
              </a:rPr>
              <a:t>8–9 audio</a:t>
            </a:r>
          </a:p>
        </p:txBody>
      </p:sp>
      <p:sp>
        <p:nvSpPr>
          <p:cNvPr id="12" name="History detail 2"/>
          <p:cNvSpPr txBox="1"/>
          <p:nvPr/>
        </p:nvSpPr>
        <p:spPr>
          <a:xfrm>
            <a:off x="25877520" y="13716000"/>
            <a:ext cx="8869680" cy="731520"/>
          </a:xfrm>
          <a:prstGeom prst="rect">
            <a:avLst/>
          </a:prstGeom>
          <a:noFill/>
        </p:spPr>
        <p:txBody>
          <a:bodyPr wrap="square" lIns="0" rIns="0" tIns="0" bIns="0">
            <a:spAutoFit/>
          </a:bodyPr>
          <a:lstStyle/>
          <a:p>
            <a:pPr>
              <a:spcBef>
                <a:spcPts val="0"/>
              </a:spcBef>
              <a:spcAft>
                <a:spcPts val="0"/>
              </a:spcAft>
            </a:pPr>
            <a:r>
              <a:rPr sz="2900" b="0">
                <a:solidFill>
                  <a:srgbClr val="000000"/>
                </a:solidFill>
                <a:latin typeface="NVIDIA Sans"/>
              </a:rPr>
              <a:t>latent tokens</a:t>
            </a:r>
          </a:p>
        </p:txBody>
      </p:sp>
      <p:sp>
        <p:nvSpPr>
          <p:cNvPr id="13" name="History cache scope"/>
          <p:cNvSpPr txBox="1"/>
          <p:nvPr/>
        </p:nvSpPr>
        <p:spPr>
          <a:xfrm>
            <a:off x="25877520" y="16093440"/>
            <a:ext cx="8869680" cy="15544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AV latent conditioning</a:t>
            </a:r>
          </a:p>
          <a:p>
            <a:pPr>
              <a:spcBef>
                <a:spcPts val="0"/>
              </a:spcBef>
              <a:spcAft>
                <a:spcPts val="0"/>
              </a:spcAft>
            </a:pPr>
            <a:r>
              <a:rPr sz="2700" b="0">
                <a:solidFill>
                  <a:srgbClr val="000000"/>
                </a:solidFill>
                <a:latin typeface="NVIDIA Sans"/>
              </a:rPr>
              <a:t>K/V recomputed per request</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13</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rPr sz="8800"/>
              <a:t>Takeaways</a:t>
            </a:r>
          </a:p>
        </p:txBody>
      </p:sp>
      <p:sp>
        <p:nvSpPr>
          <p:cNvPr id="5" name="Takeaway number 1"/>
          <p:cNvSpPr txBox="1"/>
          <p:nvPr/>
        </p:nvSpPr>
        <p:spPr>
          <a:xfrm>
            <a:off x="1828800" y="548640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01</a:t>
            </a:r>
          </a:p>
        </p:txBody>
      </p:sp>
      <p:sp>
        <p:nvSpPr>
          <p:cNvPr id="6" name="Takeaway title 1"/>
          <p:cNvSpPr txBox="1"/>
          <p:nvPr/>
        </p:nvSpPr>
        <p:spPr>
          <a:xfrm>
            <a:off x="4572000" y="548640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Optimize the communication path.</a:t>
            </a:r>
          </a:p>
        </p:txBody>
      </p:sp>
      <p:sp>
        <p:nvSpPr>
          <p:cNvPr id="7" name="Takeaway body 1"/>
          <p:cNvSpPr txBox="1"/>
          <p:nvPr/>
        </p:nvSpPr>
        <p:spPr>
          <a:xfrm>
            <a:off x="4572000" y="6995160"/>
            <a:ext cx="30175200" cy="1005840"/>
          </a:xfrm>
          <a:prstGeom prst="rect">
            <a:avLst/>
          </a:prstGeom>
          <a:noFill/>
        </p:spPr>
        <p:txBody>
          <a:bodyPr wrap="square" lIns="0" rIns="0" tIns="0" bIns="0">
            <a:spAutoFit/>
          </a:bodyPr>
          <a:lstStyle/>
          <a:p>
            <a:r>
              <a:rPr sz="3800" b="0">
                <a:solidFill>
                  <a:srgbClr val="313131"/>
                </a:solidFill>
                <a:latin typeface="NVIDIA Sans"/>
              </a:rPr>
              <a:t>Compute-rich GPUs need topology-aware communication.</a:t>
            </a:r>
          </a:p>
        </p:txBody>
      </p:sp>
      <p:sp>
        <p:nvSpPr>
          <p:cNvPr id="8" name="Takeaway number 2"/>
          <p:cNvSpPr txBox="1"/>
          <p:nvPr/>
        </p:nvSpPr>
        <p:spPr>
          <a:xfrm>
            <a:off x="1828800" y="978408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02</a:t>
            </a:r>
          </a:p>
        </p:txBody>
      </p:sp>
      <p:sp>
        <p:nvSpPr>
          <p:cNvPr id="9" name="Takeaway title 2"/>
          <p:cNvSpPr txBox="1"/>
          <p:nvPr/>
        </p:nvSpPr>
        <p:spPr>
          <a:xfrm>
            <a:off x="4572000" y="978408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Validate quantization case by case.</a:t>
            </a:r>
          </a:p>
        </p:txBody>
      </p:sp>
      <p:sp>
        <p:nvSpPr>
          <p:cNvPr id="10" name="Takeaway body 2"/>
          <p:cNvSpPr txBox="1"/>
          <p:nvPr/>
        </p:nvSpPr>
        <p:spPr>
          <a:xfrm>
            <a:off x="4572000" y="1129284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Measure quality and latency together.</a:t>
            </a:r>
          </a:p>
        </p:txBody>
      </p:sp>
      <p:sp>
        <p:nvSpPr>
          <p:cNvPr id="11" name="Takeaway number 3"/>
          <p:cNvSpPr txBox="1"/>
          <p:nvPr/>
        </p:nvSpPr>
        <p:spPr>
          <a:xfrm>
            <a:off x="1828800" y="14081760"/>
            <a:ext cx="1828800" cy="100584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03</a:t>
            </a:r>
          </a:p>
        </p:txBody>
      </p:sp>
      <p:sp>
        <p:nvSpPr>
          <p:cNvPr id="12" name="Takeaway title 3"/>
          <p:cNvSpPr txBox="1"/>
          <p:nvPr/>
        </p:nvSpPr>
        <p:spPr>
          <a:xfrm>
            <a:off x="4572000" y="14081760"/>
            <a:ext cx="30175200" cy="1097280"/>
          </a:xfrm>
          <a:prstGeom prst="rect">
            <a:avLst/>
          </a:prstGeom>
          <a:noFill/>
        </p:spPr>
        <p:txBody>
          <a:bodyPr wrap="square" lIns="0" rIns="0" tIns="0" bIns="0">
            <a:spAutoFit/>
          </a:bodyPr>
          <a:lstStyle/>
          <a:p>
            <a:pPr>
              <a:spcBef>
                <a:spcPts val="0"/>
              </a:spcBef>
              <a:spcAft>
                <a:spcPts val="0"/>
              </a:spcAft>
            </a:pPr>
            <a:r>
              <a:rPr sz="5800" b="0">
                <a:solidFill>
                  <a:srgbClr val="000000"/>
                </a:solidFill>
                <a:latin typeface="NVIDIA Sans Medium"/>
              </a:rPr>
              <a:t>Next: responsive, richer interaction.</a:t>
            </a:r>
          </a:p>
        </p:txBody>
      </p:sp>
      <p:sp>
        <p:nvSpPr>
          <p:cNvPr id="13" name="Takeaway body 3"/>
          <p:cNvSpPr txBox="1"/>
          <p:nvPr/>
        </p:nvSpPr>
        <p:spPr>
          <a:xfrm>
            <a:off x="4572000" y="15590520"/>
            <a:ext cx="30175200" cy="1005840"/>
          </a:xfrm>
          <a:prstGeom prst="rect">
            <a:avLst/>
          </a:prstGeom>
          <a:noFill/>
        </p:spPr>
        <p:txBody>
          <a:bodyPr wrap="square" lIns="0" rIns="0" tIns="0" bIns="0">
            <a:spAutoFit/>
          </a:bodyPr>
          <a:lstStyle/>
          <a:p>
            <a:pPr>
              <a:spcBef>
                <a:spcPts val="0"/>
              </a:spcBef>
              <a:spcAft>
                <a:spcPts val="0"/>
              </a:spcAft>
            </a:pPr>
            <a:r>
              <a:rPr sz="3800" b="0">
                <a:solidFill>
                  <a:srgbClr val="313131"/>
                </a:solidFill>
                <a:latin typeface="NVIDIA Sans"/>
              </a:rPr>
              <a:t>Autoregressive diffusion + prompt enhancement.</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14</a:t>
            </a:r>
          </a:p>
        </p:txBody>
      </p:sp>
      <p:sp>
        <p:nvSpPr>
          <p:cNvPr id="3" name="Text Placeholder 2"/>
          <p:cNvSpPr>
            <a:spLocks noGrp="1"/>
          </p:cNvSpPr>
          <p:nvPr>
            <p:ph type="body" idx="13" sz="quarter"/>
          </p:nvPr>
        </p:nvSpPr>
        <p:spPr/>
        <p:txBody>
          <a:bodyPr/>
          <a:lstStyle/>
          <a:p>
            <a:r>
              <a:t>Model serving meets visual workflows.</a:t>
            </a:r>
          </a:p>
        </p:txBody>
      </p:sp>
      <p:sp>
        <p:nvSpPr>
          <p:cNvPr id="4" name="Title 3"/>
          <p:cNvSpPr>
            <a:spLocks noGrp="1"/>
          </p:cNvSpPr>
          <p:nvPr>
            <p:ph type="title"/>
          </p:nvPr>
        </p:nvSpPr>
        <p:spPr/>
        <p:txBody>
          <a:bodyPr/>
          <a:lstStyle/>
          <a:p>
            <a:r>
              <a:rPr sz="8800"/>
              <a:t>vLLM-Omni × ComfyUI</a:t>
            </a:r>
          </a:p>
        </p:txBody>
      </p:sp>
      <p:sp>
        <p:nvSpPr>
          <p:cNvPr id="5" name="vLLM-Omni heading"/>
          <p:cNvSpPr txBox="1"/>
          <p:nvPr/>
        </p:nvSpPr>
        <p:spPr>
          <a:xfrm>
            <a:off x="18288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vLLM-Omni</a:t>
            </a:r>
          </a:p>
        </p:txBody>
      </p:sp>
      <p:sp>
        <p:nvSpPr>
          <p:cNvPr id="6" name="vLLM-Omni role"/>
          <p:cNvSpPr txBox="1"/>
          <p:nvPr/>
        </p:nvSpPr>
        <p:spPr>
          <a:xfrm>
            <a:off x="18288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SERVE MODELS</a:t>
            </a:r>
          </a:p>
        </p:txBody>
      </p:sp>
      <p:sp>
        <p:nvSpPr>
          <p:cNvPr id="7" name="ComfyUI heading"/>
          <p:cNvSpPr txBox="1"/>
          <p:nvPr/>
        </p:nvSpPr>
        <p:spPr>
          <a:xfrm>
            <a:off x="21031200" y="4937760"/>
            <a:ext cx="13716000" cy="82296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ComfyUI</a:t>
            </a:r>
          </a:p>
        </p:txBody>
      </p:sp>
      <p:sp>
        <p:nvSpPr>
          <p:cNvPr id="8" name="ComfyUI role"/>
          <p:cNvSpPr txBox="1"/>
          <p:nvPr/>
        </p:nvSpPr>
        <p:spPr>
          <a:xfrm>
            <a:off x="21031200" y="6035040"/>
            <a:ext cx="137160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COMPOSE WORKFLOWS</a:t>
            </a:r>
          </a:p>
        </p:txBody>
      </p:sp>
      <p:pic>
        <p:nvPicPr>
          <p:cNvPr id="9" name="Official vLLM-Omni architecture" descr="vllm-omni-main-architecture.png"/>
          <p:cNvPicPr>
            <a:picLocks noChangeAspect="1"/>
          </p:cNvPicPr>
          <p:nvPr/>
        </p:nvPicPr>
        <p:blipFill>
          <a:blip r:embed="rId2"/>
          <a:stretch>
            <a:fillRect/>
          </a:stretch>
        </p:blipFill>
        <p:spPr>
          <a:xfrm>
            <a:off x="2415232" y="7223760"/>
            <a:ext cx="12543134" cy="10789920"/>
          </a:xfrm>
          <a:prstGeom prst="rect">
            <a:avLst/>
          </a:prstGeom>
        </p:spPr>
      </p:pic>
      <p:pic>
        <p:nvPicPr>
          <p:cNvPr id="10" name="Official ComfyUI H3 workflow" descr="image.jpg"/>
          <p:cNvPicPr>
            <a:picLocks noChangeAspect="1"/>
          </p:cNvPicPr>
          <p:nvPr/>
        </p:nvPicPr>
        <p:blipFill>
          <a:blip r:embed="rId3"/>
          <a:stretch>
            <a:fillRect/>
          </a:stretch>
        </p:blipFill>
        <p:spPr>
          <a:xfrm>
            <a:off x="21031200" y="7518082"/>
            <a:ext cx="13716000" cy="10201275"/>
          </a:xfrm>
          <a:prstGeom prst="rect">
            <a:avLst/>
          </a:prstGeom>
        </p:spPr>
      </p:pic>
      <p:sp>
        <p:nvSpPr>
          <p:cNvPr id="11" name="Request label"/>
          <p:cNvSpPr txBox="1"/>
          <p:nvPr/>
        </p:nvSpPr>
        <p:spPr>
          <a:xfrm>
            <a:off x="15956280" y="9509760"/>
            <a:ext cx="4663440" cy="64008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Medium"/>
              </a:rPr>
              <a:t>Requests</a:t>
            </a:r>
          </a:p>
        </p:txBody>
      </p:sp>
      <p:cxnSp>
        <p:nvCxnSpPr>
          <p:cNvPr id="12" name="ComfyUI requests inference"/>
          <p:cNvCxnSpPr/>
          <p:nvPr/>
        </p:nvCxnSpPr>
        <p:spPr>
          <a:xfrm flipH="1">
            <a:off x="16184880" y="10607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3" name="vLLM Omni returns media"/>
          <p:cNvCxnSpPr/>
          <p:nvPr/>
        </p:nvCxnSpPr>
        <p:spPr>
          <a:xfrm>
            <a:off x="16184880" y="12893040"/>
            <a:ext cx="4206240" cy="0"/>
          </a:xfrm>
          <a:prstGeom prst="line">
            <a:avLst/>
          </a:prstGeom>
          <a:ln w="38100">
            <a:solidFill>
              <a:srgbClr val="76B900"/>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Media label"/>
          <p:cNvSpPr txBox="1"/>
          <p:nvPr/>
        </p:nvSpPr>
        <p:spPr>
          <a:xfrm>
            <a:off x="15636240" y="13258800"/>
            <a:ext cx="5303520" cy="68580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Medium"/>
              </a:rPr>
              <a:t>Video + audio</a:t>
            </a:r>
          </a:p>
        </p:txBody>
      </p:sp>
      <p:sp>
        <p:nvSpPr>
          <p:cNvPr id="15" name="Serving caption"/>
          <p:cNvSpPr txBox="1"/>
          <p:nvPr/>
        </p:nvSpPr>
        <p:spPr>
          <a:xfrm>
            <a:off x="1828800" y="18288000"/>
            <a:ext cx="13716000" cy="73152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Local or remote inference services</a:t>
            </a:r>
          </a:p>
        </p:txBody>
      </p:sp>
      <p:sp>
        <p:nvSpPr>
          <p:cNvPr id="16" name="Workflow caption"/>
          <p:cNvSpPr txBox="1"/>
          <p:nvPr/>
        </p:nvSpPr>
        <p:spPr>
          <a:xfrm>
            <a:off x="21031200" y="18288000"/>
            <a:ext cx="13716000" cy="731520"/>
          </a:xfrm>
          <a:prstGeom prst="rect">
            <a:avLst/>
          </a:prstGeom>
          <a:noFill/>
        </p:spPr>
        <p:txBody>
          <a:bodyPr wrap="square" lIns="0" rIns="0" tIns="0" bIns="0">
            <a:spAutoFit/>
          </a:bodyPr>
          <a:lstStyle/>
          <a:p>
            <a:pPr algn="ctr">
              <a:spcBef>
                <a:spcPts val="0"/>
              </a:spcBef>
              <a:spcAft>
                <a:spcPts val="0"/>
              </a:spcAft>
            </a:pPr>
            <a:r>
              <a:rPr sz="2700" b="0">
                <a:solidFill>
                  <a:srgbClr val="000000"/>
                </a:solidFill>
                <a:latin typeface="NVIDIA Sans"/>
              </a:rPr>
              <a:t>Connect inputs, generate, edit and save</a:t>
            </a:r>
          </a:p>
        </p:txBody>
      </p:sp>
      <p:sp>
        <p:nvSpPr>
          <p:cNvPr id="17" name="Official source credit"/>
          <p:cNvSpPr txBox="1"/>
          <p:nvPr/>
        </p:nvSpPr>
        <p:spPr>
          <a:xfrm>
            <a:off x="1828800" y="19339560"/>
            <a:ext cx="32918400" cy="502920"/>
          </a:xfrm>
          <a:prstGeom prst="rect">
            <a:avLst/>
          </a:prstGeom>
          <a:noFill/>
        </p:spPr>
        <p:txBody>
          <a:bodyPr wrap="square" lIns="0" rIns="0" tIns="0" bIns="0">
            <a:spAutoFit/>
          </a:bodyPr>
          <a:lstStyle/>
          <a:p>
            <a:pPr>
              <a:spcBef>
                <a:spcPts val="0"/>
              </a:spcBef>
              <a:spcAft>
                <a:spcPts val="0"/>
              </a:spcAft>
            </a:pPr>
            <a:r>
              <a:rPr sz="2000" b="0">
                <a:solidFill>
                  <a:srgbClr val="313131"/>
                </a:solidFill>
                <a:latin typeface="NVIDIA Sans"/>
              </a:rPr>
              <a:t>Official vLLM-Omni architecture and ComfyUI H3 workflow images · upstream 08177216</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15</a:t>
            </a:r>
          </a:p>
        </p:txBody>
      </p:sp>
      <p:sp>
        <p:nvSpPr>
          <p:cNvPr id="3" name="Text Placeholder 2"/>
          <p:cNvSpPr>
            <a:spLocks noGrp="1"/>
          </p:cNvSpPr>
          <p:nvPr>
            <p:ph type="body" idx="13" sz="quarter"/>
          </p:nvPr>
        </p:nvSpPr>
        <p:spPr/>
        <p:txBody>
          <a:bodyPr/>
          <a:lstStyle/>
          <a:p>
            <a:r>
              <a:t>Compose in ComfyUI. Run models in vLLM-Omni.</a:t>
            </a:r>
          </a:p>
        </p:txBody>
      </p:sp>
      <p:sp>
        <p:nvSpPr>
          <p:cNvPr id="4" name="Title 3"/>
          <p:cNvSpPr>
            <a:spLocks noGrp="1"/>
          </p:cNvSpPr>
          <p:nvPr>
            <p:ph type="title"/>
          </p:nvPr>
        </p:nvSpPr>
        <p:spPr/>
        <p:txBody>
          <a:bodyPr/>
          <a:lstStyle/>
          <a:p>
            <a:r>
              <a:rPr sz="8800"/>
              <a:t>vLLM-Omni for Creators — ComfyUI</a:t>
            </a:r>
          </a:p>
        </p:txBody>
      </p:sp>
      <p:cxnSp>
        <p:nvCxnSpPr>
          <p:cNvPr id="5" name="Support divider"/>
          <p:cNvCxnSpPr/>
          <p:nvPr/>
        </p:nvCxnSpPr>
        <p:spPr>
          <a:xfrm>
            <a:off x="18288000" y="5212080"/>
            <a:ext cx="0" cy="1225296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6" name="Supported heading"/>
          <p:cNvSpPr txBox="1"/>
          <p:nvPr/>
        </p:nvSpPr>
        <p:spPr>
          <a:xfrm>
            <a:off x="1828800" y="5120640"/>
            <a:ext cx="15544800" cy="822960"/>
          </a:xfrm>
          <a:prstGeom prst="rect">
            <a:avLst/>
          </a:prstGeom>
          <a:noFill/>
        </p:spPr>
        <p:txBody>
          <a:bodyPr wrap="square" lIns="0" rIns="0" tIns="0" bIns="0">
            <a:spAutoFit/>
          </a:bodyPr>
          <a:lstStyle/>
          <a:p>
            <a:pPr>
              <a:spcBef>
                <a:spcPts val="0"/>
              </a:spcBef>
              <a:spcAft>
                <a:spcPts val="0"/>
              </a:spcAft>
            </a:pPr>
            <a:r>
              <a:rPr sz="4600" b="0">
                <a:solidFill>
                  <a:srgbClr val="76B900"/>
                </a:solidFill>
                <a:latin typeface="NVIDIA Sans Medium"/>
              </a:rPr>
              <a:t>Supported today</a:t>
            </a:r>
          </a:p>
        </p:txBody>
      </p:sp>
      <p:sp>
        <p:nvSpPr>
          <p:cNvPr id="7" name="Supported scope"/>
          <p:cNvSpPr txBox="1"/>
          <p:nvPr/>
        </p:nvSpPr>
        <p:spPr>
          <a:xfrm>
            <a:off x="1828800" y="6217920"/>
            <a:ext cx="15544800" cy="594360"/>
          </a:xfrm>
          <a:prstGeom prst="rect">
            <a:avLst/>
          </a:prstGeom>
          <a:noFill/>
        </p:spPr>
        <p:txBody>
          <a:bodyPr wrap="square" lIns="0" rIns="0" tIns="0" bIns="0">
            <a:spAutoFit/>
          </a:bodyPr>
          <a:lstStyle/>
          <a:p>
            <a:pPr>
              <a:spcBef>
                <a:spcPts val="0"/>
              </a:spcBef>
              <a:spcAft>
                <a:spcPts val="0"/>
              </a:spcAft>
            </a:pPr>
            <a:r>
              <a:rPr sz="2500" b="0">
                <a:solidFill>
                  <a:srgbClr val="000000"/>
                </a:solidFill>
                <a:latin typeface="NVIDIA Sans"/>
              </a:rPr>
              <a:t>Available in the checked upstream source</a:t>
            </a:r>
          </a:p>
        </p:txBody>
      </p:sp>
      <p:sp>
        <p:nvSpPr>
          <p:cNvPr id="8" name="Planned heading"/>
          <p:cNvSpPr txBox="1"/>
          <p:nvPr/>
        </p:nvSpPr>
        <p:spPr>
          <a:xfrm>
            <a:off x="20116800" y="5120640"/>
            <a:ext cx="14630400" cy="82296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Planned support</a:t>
            </a:r>
          </a:p>
        </p:txBody>
      </p:sp>
      <p:sp>
        <p:nvSpPr>
          <p:cNvPr id="9" name="Planned scope"/>
          <p:cNvSpPr txBox="1"/>
          <p:nvPr/>
        </p:nvSpPr>
        <p:spPr>
          <a:xfrm>
            <a:off x="20116800" y="6217920"/>
            <a:ext cx="14630400" cy="594360"/>
          </a:xfrm>
          <a:prstGeom prst="rect">
            <a:avLst/>
          </a:prstGeom>
          <a:noFill/>
        </p:spPr>
        <p:txBody>
          <a:bodyPr wrap="square" lIns="0" rIns="0" tIns="0" bIns="0">
            <a:spAutoFit/>
          </a:bodyPr>
          <a:lstStyle/>
          <a:p>
            <a:pPr>
              <a:spcBef>
                <a:spcPts val="0"/>
              </a:spcBef>
              <a:spcAft>
                <a:spcPts val="0"/>
              </a:spcAft>
            </a:pPr>
            <a:r>
              <a:rPr sz="2400" b="0">
                <a:solidFill>
                  <a:srgbClr val="000000"/>
                </a:solidFill>
                <a:latin typeface="NVIDIA Sans"/>
              </a:rPr>
              <a:t>Open PRs / RFC proposals · no announced ETA</a:t>
            </a:r>
          </a:p>
        </p:txBody>
      </p:sp>
      <p:sp>
        <p:nvSpPr>
          <p:cNvPr id="10" name="Supported title 0"/>
          <p:cNvSpPr txBox="1"/>
          <p:nvPr/>
        </p:nvSpPr>
        <p:spPr>
          <a:xfrm>
            <a:off x="1828800" y="745236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Generate &amp; guide</a:t>
            </a:r>
          </a:p>
        </p:txBody>
      </p:sp>
      <p:sp>
        <p:nvSpPr>
          <p:cNvPr id="11" name="Supported detail 0"/>
          <p:cNvSpPr txBox="1"/>
          <p:nvPr/>
        </p:nvSpPr>
        <p:spPr>
          <a:xfrm>
            <a:off x="1828800" y="836676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Text, first/last frames, mixed references</a:t>
            </a:r>
          </a:p>
          <a:p>
            <a:pPr>
              <a:spcBef>
                <a:spcPts val="0"/>
              </a:spcBef>
              <a:spcAft>
                <a:spcPts val="0"/>
              </a:spcAft>
            </a:pPr>
            <a:r>
              <a:rPr sz="2800" b="0">
                <a:solidFill>
                  <a:srgbClr val="000000"/>
                </a:solidFill>
                <a:latin typeface="NVIDIA Sans"/>
              </a:rPr>
              <a:t>and timeline guides.</a:t>
            </a:r>
          </a:p>
        </p:txBody>
      </p:sp>
      <p:sp>
        <p:nvSpPr>
          <p:cNvPr id="12" name="Supported title 1"/>
          <p:cNvSpPr txBox="1"/>
          <p:nvPr/>
        </p:nvSpPr>
        <p:spPr>
          <a:xfrm>
            <a:off x="1828800" y="987552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Edit &amp; continue</a:t>
            </a:r>
          </a:p>
        </p:txBody>
      </p:sp>
      <p:sp>
        <p:nvSpPr>
          <p:cNvPr id="13" name="Supported detail 1"/>
          <p:cNvSpPr txBox="1"/>
          <p:nvPr/>
        </p:nvSpPr>
        <p:spPr>
          <a:xfrm>
            <a:off x="1828800" y="1078992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Inpainting, object removal</a:t>
            </a:r>
          </a:p>
          <a:p>
            <a:pPr>
              <a:spcBef>
                <a:spcPts val="0"/>
              </a:spcBef>
              <a:spcAft>
                <a:spcPts val="0"/>
              </a:spcAft>
            </a:pPr>
            <a:r>
              <a:rPr sz="2800" b="0">
                <a:solidFill>
                  <a:srgbClr val="000000"/>
                </a:solidFill>
                <a:latin typeface="NVIDIA Sans"/>
              </a:rPr>
              <a:t>and clip continuation.</a:t>
            </a:r>
          </a:p>
        </p:txBody>
      </p:sp>
      <p:sp>
        <p:nvSpPr>
          <p:cNvPr id="14" name="Supported title 2"/>
          <p:cNvSpPr txBox="1"/>
          <p:nvPr/>
        </p:nvSpPr>
        <p:spPr>
          <a:xfrm>
            <a:off x="1828800" y="1229868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Upscale &amp; second pass*</a:t>
            </a:r>
          </a:p>
        </p:txBody>
      </p:sp>
      <p:sp>
        <p:nvSpPr>
          <p:cNvPr id="15" name="Supported detail 2"/>
          <p:cNvSpPr txBox="1"/>
          <p:nvPr/>
        </p:nvSpPr>
        <p:spPr>
          <a:xfrm>
            <a:off x="1828800" y="1321308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SeedVR2 restoration;</a:t>
            </a:r>
          </a:p>
          <a:p>
            <a:pPr>
              <a:spcBef>
                <a:spcPts val="0"/>
              </a:spcBef>
              <a:spcAft>
                <a:spcPts val="0"/>
              </a:spcAft>
            </a:pPr>
            <a:r>
              <a:rPr sz="2800" b="0">
                <a:solidFill>
                  <a:srgbClr val="000000"/>
                </a:solidFill>
                <a:latin typeface="NVIDIA Sans"/>
              </a:rPr>
              <a:t>H3 server-side latent refinement.</a:t>
            </a:r>
          </a:p>
        </p:txBody>
      </p:sp>
      <p:sp>
        <p:nvSpPr>
          <p:cNvPr id="16" name="Supported title 3"/>
          <p:cNvSpPr txBox="1"/>
          <p:nvPr/>
        </p:nvSpPr>
        <p:spPr>
          <a:xfrm>
            <a:off x="1828800" y="14721840"/>
            <a:ext cx="155448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Music-driven video</a:t>
            </a:r>
          </a:p>
        </p:txBody>
      </p:sp>
      <p:sp>
        <p:nvSpPr>
          <p:cNvPr id="17" name="Supported detail 3"/>
          <p:cNvSpPr txBox="1"/>
          <p:nvPr/>
        </p:nvSpPr>
        <p:spPr>
          <a:xfrm>
            <a:off x="1828800" y="15636240"/>
            <a:ext cx="155448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Audio-driven shots, assembled</a:t>
            </a:r>
          </a:p>
          <a:p>
            <a:pPr>
              <a:spcBef>
                <a:spcPts val="0"/>
              </a:spcBef>
              <a:spcAft>
                <a:spcPts val="0"/>
              </a:spcAft>
            </a:pPr>
            <a:r>
              <a:rPr sz="2800" b="0">
                <a:solidFill>
                  <a:srgbClr val="000000"/>
                </a:solidFill>
                <a:latin typeface="NVIDIA Sans"/>
              </a:rPr>
              <a:t>with the supplied soundtrack.</a:t>
            </a:r>
          </a:p>
        </p:txBody>
      </p:sp>
      <p:sp>
        <p:nvSpPr>
          <p:cNvPr id="18" name="Planned title 0"/>
          <p:cNvSpPr txBox="1"/>
          <p:nvPr/>
        </p:nvSpPr>
        <p:spPr>
          <a:xfrm>
            <a:off x="20116800" y="745236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ControlNet workflows</a:t>
            </a:r>
          </a:p>
        </p:txBody>
      </p:sp>
      <p:sp>
        <p:nvSpPr>
          <p:cNvPr id="19" name="Planned detail 0"/>
          <p:cNvSpPr txBox="1"/>
          <p:nvPr/>
        </p:nvSpPr>
        <p:spPr>
          <a:xfrm>
            <a:off x="20116800" y="836676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Pose, depth and edges · Draft PRs</a:t>
            </a:r>
          </a:p>
        </p:txBody>
      </p:sp>
      <p:sp>
        <p:nvSpPr>
          <p:cNvPr id="20" name="Planned title 1"/>
          <p:cNvSpPr txBox="1"/>
          <p:nvPr/>
        </p:nvSpPr>
        <p:spPr>
          <a:xfrm>
            <a:off x="20116800" y="987552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Character replacement</a:t>
            </a:r>
          </a:p>
        </p:txBody>
      </p:sp>
      <p:sp>
        <p:nvSpPr>
          <p:cNvPr id="21" name="Planned detail 1"/>
          <p:cNvSpPr txBox="1"/>
          <p:nvPr/>
        </p:nvSpPr>
        <p:spPr>
          <a:xfrm>
            <a:off x="20116800" y="1078992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Source video + new identity · Open PR</a:t>
            </a:r>
          </a:p>
        </p:txBody>
      </p:sp>
      <p:sp>
        <p:nvSpPr>
          <p:cNvPr id="22" name="Planned title 2"/>
          <p:cNvSpPr txBox="1"/>
          <p:nvPr/>
        </p:nvSpPr>
        <p:spPr>
          <a:xfrm>
            <a:off x="20116800" y="1229868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Multi-anchor workflow</a:t>
            </a:r>
          </a:p>
        </p:txBody>
      </p:sp>
      <p:sp>
        <p:nvSpPr>
          <p:cNvPr id="23" name="Planned detail 2"/>
          <p:cNvSpPr txBox="1"/>
          <p:nvPr/>
        </p:nvSpPr>
        <p:spPr>
          <a:xfrm>
            <a:off x="20116800" y="1321308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Identity + timed keyframes · Open PR</a:t>
            </a:r>
          </a:p>
        </p:txBody>
      </p:sp>
      <p:sp>
        <p:nvSpPr>
          <p:cNvPr id="24" name="Planned title 3"/>
          <p:cNvSpPr txBox="1"/>
          <p:nvPr/>
        </p:nvSpPr>
        <p:spPr>
          <a:xfrm>
            <a:off x="20116800" y="14721840"/>
            <a:ext cx="14630400" cy="77724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Long-form stories &amp; avatars</a:t>
            </a:r>
          </a:p>
        </p:txBody>
      </p:sp>
      <p:sp>
        <p:nvSpPr>
          <p:cNvPr id="25" name="Planned detail 3"/>
          <p:cNvSpPr txBox="1"/>
          <p:nvPr/>
        </p:nvSpPr>
        <p:spPr>
          <a:xfrm>
            <a:off x="20116800" y="15636240"/>
            <a:ext cx="14630400" cy="137160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Segmented production templates · RFC</a:t>
            </a:r>
          </a:p>
        </p:txBody>
      </p:sp>
      <p:cxnSp>
        <p:nvCxnSpPr>
          <p:cNvPr id="26" name="Support footer divider"/>
          <p:cNvCxnSpPr/>
          <p:nvPr/>
        </p:nvCxnSpPr>
        <p:spPr>
          <a:xfrm>
            <a:off x="1828800" y="17739360"/>
            <a:ext cx="32918400" cy="0"/>
          </a:xfrm>
          <a:prstGeom prst="line">
            <a:avLst/>
          </a:prstGeom>
          <a:ln w="12700">
            <a:solidFill>
              <a:srgbClr val="A7A7A7"/>
            </a:solidFill>
          </a:ln>
        </p:spPr>
        <p:style>
          <a:lnRef idx="2">
            <a:schemeClr val="accent1"/>
          </a:lnRef>
          <a:fillRef idx="0">
            <a:schemeClr val="accent1"/>
          </a:fillRef>
          <a:effectRef idx="1">
            <a:schemeClr val="accent1"/>
          </a:effectRef>
          <a:fontRef idx="minor">
            <a:schemeClr val="tx1"/>
          </a:fontRef>
        </p:style>
      </p:cxnSp>
      <p:sp>
        <p:nvSpPr>
          <p:cNvPr id="27" name="Second pass scope"/>
          <p:cNvSpPr txBox="1"/>
          <p:nvPr/>
        </p:nvSpPr>
        <p:spPr>
          <a:xfrm>
            <a:off x="1828800" y="18333720"/>
            <a:ext cx="32918400" cy="640080"/>
          </a:xfrm>
          <a:prstGeom prst="rect">
            <a:avLst/>
          </a:prstGeom>
          <a:noFill/>
        </p:spPr>
        <p:txBody>
          <a:bodyPr wrap="square" lIns="0" rIns="0" tIns="0" bIns="0">
            <a:spAutoFit/>
          </a:bodyPr>
          <a:lstStyle/>
          <a:p>
            <a:pPr>
              <a:spcBef>
                <a:spcPts val="0"/>
              </a:spcBef>
              <a:spcAft>
                <a:spcPts val="0"/>
              </a:spcAft>
            </a:pPr>
            <a:r>
              <a:rPr sz="2700" b="0">
                <a:solidFill>
                  <a:srgbClr val="000000"/>
                </a:solidFill>
                <a:latin typeface="NVIDIA Sans"/>
              </a:rPr>
              <a:t>*H3 second pass is server-configured; no dedicated ComfyUI node or template.</a:t>
            </a:r>
          </a:p>
        </p:txBody>
      </p:sp>
      <p:sp>
        <p:nvSpPr>
          <p:cNvPr id="28" name="Roadmap sources"/>
          <p:cNvSpPr txBox="1"/>
          <p:nvPr/>
        </p:nvSpPr>
        <p:spPr>
          <a:xfrm>
            <a:off x="1828800" y="19293840"/>
            <a:ext cx="32918400" cy="594360"/>
          </a:xfrm>
          <a:prstGeom prst="rect">
            <a:avLst/>
          </a:prstGeom>
          <a:noFill/>
        </p:spPr>
        <p:txBody>
          <a:bodyPr wrap="square" lIns="0" rIns="0" tIns="0" bIns="0">
            <a:spAutoFit/>
          </a:bodyPr>
          <a:lstStyle/>
          <a:p>
            <a:pPr>
              <a:spcBef>
                <a:spcPts val="0"/>
              </a:spcBef>
              <a:spcAft>
                <a:spcPts val="0"/>
              </a:spcAft>
            </a:pPr>
            <a:r>
              <a:rPr sz="2300" b="0">
                <a:solidFill>
                  <a:srgbClr val="000000"/>
                </a:solidFill>
                <a:latin typeface="NVIDIA Sans"/>
              </a:rPr>
              <a:t>Public roadmap #8264 · H3 #7380 · Production workflows #8251 · Status checked 31 Oct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16</a:t>
            </a:r>
          </a:p>
        </p:txBody>
      </p:sp>
      <p:sp>
        <p:nvSpPr>
          <p:cNvPr id="3" name="Text Placeholder 2"/>
          <p:cNvSpPr>
            <a:spLocks noGrp="1"/>
          </p:cNvSpPr>
          <p:nvPr>
            <p:ph type="body" idx="13" sz="quarter"/>
          </p:nvPr>
        </p:nvSpPr>
        <p:spPr/>
        <p:txBody>
          <a:bodyPr/>
          <a:lstStyle/>
          <a:p>
            <a:r>
              <a:t>Expected open-source release: early November 2026.</a:t>
            </a:r>
          </a:p>
        </p:txBody>
      </p:sp>
      <p:sp>
        <p:nvSpPr>
          <p:cNvPr id="4" name="Title 3"/>
          <p:cNvSpPr>
            <a:spLocks noGrp="1"/>
          </p:cNvSpPr>
          <p:nvPr>
            <p:ph type="title"/>
          </p:nvPr>
        </p:nvSpPr>
        <p:spPr/>
        <p:txBody>
          <a:bodyPr/>
          <a:lstStyle/>
          <a:p>
            <a:r>
              <a:rPr sz="8800"/>
              <a:t>vLLM-Omni for Creators — Video Studio</a:t>
            </a:r>
          </a:p>
        </p:txBody>
      </p:sp>
      <p:sp>
        <p:nvSpPr>
          <p:cNvPr id="5" name="Studio purpose"/>
          <p:cNvSpPr txBox="1"/>
          <p:nvPr/>
        </p:nvSpPr>
        <p:spPr>
          <a:xfrm>
            <a:off x="1828800" y="5486400"/>
            <a:ext cx="32918400" cy="1280160"/>
          </a:xfrm>
          <a:prstGeom prst="rect">
            <a:avLst/>
          </a:prstGeom>
          <a:noFill/>
        </p:spPr>
        <p:txBody>
          <a:bodyPr wrap="square" lIns="0" rIns="0" tIns="0" bIns="0">
            <a:spAutoFit/>
          </a:bodyPr>
          <a:lstStyle/>
          <a:p>
            <a:pPr>
              <a:spcBef>
                <a:spcPts val="0"/>
              </a:spcBef>
              <a:spcAft>
                <a:spcPts val="0"/>
              </a:spcAft>
            </a:pPr>
            <a:r>
              <a:rPr sz="6000" b="0">
                <a:solidFill>
                  <a:srgbClr val="000000"/>
                </a:solidFill>
                <a:latin typeface="NVIDIA Sans Medium"/>
              </a:rPr>
              <a:t>A developer tool for video generation and editing.</a:t>
            </a:r>
          </a:p>
        </p:txBody>
      </p:sp>
      <p:sp>
        <p:nvSpPr>
          <p:cNvPr id="6" name="Studio stage 0"/>
          <p:cNvSpPr/>
          <p:nvPr/>
        </p:nvSpPr>
        <p:spPr>
          <a:xfrm>
            <a:off x="18288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tudio stage label 0"/>
          <p:cNvSpPr txBox="1"/>
          <p:nvPr/>
        </p:nvSpPr>
        <p:spPr>
          <a:xfrm>
            <a:off x="20116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Prompt + assets</a:t>
            </a:r>
          </a:p>
        </p:txBody>
      </p:sp>
      <p:sp>
        <p:nvSpPr>
          <p:cNvPr id="8" name="Studio flow 0"/>
          <p:cNvSpPr/>
          <p:nvPr/>
        </p:nvSpPr>
        <p:spPr>
          <a:xfrm>
            <a:off x="90068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Studio stage 1"/>
          <p:cNvSpPr/>
          <p:nvPr/>
        </p:nvSpPr>
        <p:spPr>
          <a:xfrm>
            <a:off x="105156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Studio stage label 1"/>
          <p:cNvSpPr txBox="1"/>
          <p:nvPr/>
        </p:nvSpPr>
        <p:spPr>
          <a:xfrm>
            <a:off x="106984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Generate clips</a:t>
            </a:r>
          </a:p>
        </p:txBody>
      </p:sp>
      <p:sp>
        <p:nvSpPr>
          <p:cNvPr id="11" name="Studio flow 1"/>
          <p:cNvSpPr/>
          <p:nvPr/>
        </p:nvSpPr>
        <p:spPr>
          <a:xfrm>
            <a:off x="176936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udio stage 2"/>
          <p:cNvSpPr/>
          <p:nvPr/>
        </p:nvSpPr>
        <p:spPr>
          <a:xfrm>
            <a:off x="192024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Studio stage label 2"/>
          <p:cNvSpPr txBox="1"/>
          <p:nvPr/>
        </p:nvSpPr>
        <p:spPr>
          <a:xfrm>
            <a:off x="193852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Edit + assemble</a:t>
            </a:r>
          </a:p>
        </p:txBody>
      </p:sp>
      <p:sp>
        <p:nvSpPr>
          <p:cNvPr id="14" name="Studio flow 2"/>
          <p:cNvSpPr/>
          <p:nvPr/>
        </p:nvSpPr>
        <p:spPr>
          <a:xfrm>
            <a:off x="26380440" y="9281160"/>
            <a:ext cx="1188720" cy="64008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Studio stage 3"/>
          <p:cNvSpPr/>
          <p:nvPr/>
        </p:nvSpPr>
        <p:spPr>
          <a:xfrm>
            <a:off x="27889200" y="8595360"/>
            <a:ext cx="6858000" cy="201168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Studio stage label 3"/>
          <p:cNvSpPr txBox="1"/>
          <p:nvPr/>
        </p:nvSpPr>
        <p:spPr>
          <a:xfrm>
            <a:off x="28072080" y="9144000"/>
            <a:ext cx="6492240" cy="1005840"/>
          </a:xfrm>
          <a:prstGeom prst="rect">
            <a:avLst/>
          </a:prstGeom>
          <a:noFill/>
        </p:spPr>
        <p:txBody>
          <a:bodyPr wrap="square" lIns="0" rIns="0" tIns="0" bIns="0">
            <a:spAutoFit/>
          </a:bodyPr>
          <a:lstStyle/>
          <a:p>
            <a:pPr algn="ctr">
              <a:spcBef>
                <a:spcPts val="0"/>
              </a:spcBef>
              <a:spcAft>
                <a:spcPts val="0"/>
              </a:spcAft>
            </a:pPr>
            <a:r>
              <a:rPr sz="3700" b="0">
                <a:solidFill>
                  <a:srgbClr val="000000"/>
                </a:solidFill>
                <a:latin typeface="NVIDIA Sans Medium"/>
              </a:rPr>
              <a:t>Export video</a:t>
            </a:r>
          </a:p>
        </p:txBody>
      </p:sp>
      <p:cxnSp>
        <p:nvCxnSpPr>
          <p:cNvPr id="17" name="Planned backend connector"/>
          <p:cNvCxnSpPr/>
          <p:nvPr/>
        </p:nvCxnSpPr>
        <p:spPr>
          <a:xfrm>
            <a:off x="13944600" y="10607040"/>
            <a:ext cx="0" cy="26060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18" name="Backend interface"/>
          <p:cNvSpPr txBox="1"/>
          <p:nvPr/>
        </p:nvSpPr>
        <p:spPr>
          <a:xfrm>
            <a:off x="14630400" y="11612880"/>
            <a:ext cx="11887200" cy="822960"/>
          </a:xfrm>
          <a:prstGeom prst="rect">
            <a:avLst/>
          </a:prstGeom>
          <a:noFill/>
        </p:spPr>
        <p:txBody>
          <a:bodyPr wrap="square" lIns="0" rIns="0" tIns="0" bIns="0">
            <a:spAutoFit/>
          </a:bodyPr>
          <a:lstStyle/>
          <a:p>
            <a:pPr>
              <a:spcBef>
                <a:spcPts val="0"/>
              </a:spcBef>
              <a:spcAft>
                <a:spcPts val="0"/>
              </a:spcAft>
            </a:pPr>
            <a:r>
              <a:rPr sz="3100" b="0">
                <a:solidFill>
                  <a:srgbClr val="313131"/>
                </a:solidFill>
                <a:latin typeface="NVIDIA Sans"/>
              </a:rPr>
              <a:t>Model-serving API</a:t>
            </a:r>
          </a:p>
        </p:txBody>
      </p:sp>
      <p:sp>
        <p:nvSpPr>
          <p:cNvPr id="19" name="Omni backend"/>
          <p:cNvSpPr/>
          <p:nvPr/>
        </p:nvSpPr>
        <p:spPr>
          <a:xfrm>
            <a:off x="8229600" y="13213080"/>
            <a:ext cx="18288000" cy="27889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Omni backend label"/>
          <p:cNvSpPr txBox="1"/>
          <p:nvPr/>
        </p:nvSpPr>
        <p:spPr>
          <a:xfrm>
            <a:off x="8503920" y="13670280"/>
            <a:ext cx="17739360" cy="1005840"/>
          </a:xfrm>
          <a:prstGeom prst="rect">
            <a:avLst/>
          </a:prstGeom>
          <a:noFill/>
        </p:spPr>
        <p:txBody>
          <a:bodyPr wrap="square" lIns="0" rIns="0" tIns="0" bIns="0">
            <a:spAutoFit/>
          </a:bodyPr>
          <a:lstStyle/>
          <a:p>
            <a:pPr algn="ctr">
              <a:spcBef>
                <a:spcPts val="0"/>
              </a:spcBef>
              <a:spcAft>
                <a:spcPts val="0"/>
              </a:spcAft>
            </a:pPr>
            <a:r>
              <a:rPr sz="5200" b="0">
                <a:solidFill>
                  <a:srgbClr val="76B900"/>
                </a:solidFill>
                <a:latin typeface="NVIDIA Sans Medium"/>
              </a:rPr>
              <a:t>vLLM-Omni</a:t>
            </a:r>
          </a:p>
        </p:txBody>
      </p:sp>
      <p:sp>
        <p:nvSpPr>
          <p:cNvPr id="21" name="Omni backend scope"/>
          <p:cNvSpPr txBox="1"/>
          <p:nvPr/>
        </p:nvSpPr>
        <p:spPr>
          <a:xfrm>
            <a:off x="8503920" y="14950440"/>
            <a:ext cx="17739360" cy="640080"/>
          </a:xfrm>
          <a:prstGeom prst="rect">
            <a:avLst/>
          </a:prstGeom>
          <a:noFill/>
        </p:spPr>
        <p:txBody>
          <a:bodyPr wrap="square" lIns="0" rIns="0" tIns="0" bIns="0">
            <a:spAutoFit/>
          </a:bodyPr>
          <a:lstStyle/>
          <a:p>
            <a:pPr algn="ctr">
              <a:spcBef>
                <a:spcPts val="0"/>
              </a:spcBef>
              <a:spcAft>
                <a:spcPts val="0"/>
              </a:spcAft>
            </a:pPr>
            <a:r>
              <a:rPr sz="2900" b="0">
                <a:solidFill>
                  <a:srgbClr val="313131"/>
                </a:solidFill>
                <a:latin typeface="NVIDIA Sans"/>
              </a:rPr>
              <a:t>Compatible models served by vLLM-Omni</a:t>
            </a:r>
          </a:p>
        </p:txBody>
      </p:sp>
      <p:sp>
        <p:nvSpPr>
          <p:cNvPr id="22" name="Studio takeaway"/>
          <p:cNvSpPr txBox="1"/>
          <p:nvPr/>
        </p:nvSpPr>
        <p:spPr>
          <a:xfrm>
            <a:off x="1828800" y="17830800"/>
            <a:ext cx="32918400" cy="109728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One workflow, from generated clips to an edited video.</a:t>
            </a:r>
          </a:p>
        </p:txBody>
      </p:sp>
      <p:sp>
        <p:nvSpPr>
          <p:cNvPr id="23" name="Studio status"/>
          <p:cNvSpPr txBox="1"/>
          <p:nvPr/>
        </p:nvSpPr>
        <p:spPr>
          <a:xfrm>
            <a:off x="1828800" y="19202400"/>
            <a:ext cx="32918400" cy="54864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Video Studio is a working title. Diagram shows the planned workflow and backend integration.</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Slide Number Placeholder 1"/>
          <p:cNvSpPr>
            <a:spLocks noGrp="1"/>
          </p:cNvSpPr>
          <p:nvPr>
            <p:ph type="sldNum" idx="16" sz="quarter"/>
          </p:nvPr>
        </p:nvSpPr>
        <p:spPr/>
        <p:txBody>
          <a:bodyPr/>
          <a:p>
            <a:r>
              <a:t>17</a:t>
            </a:r>
          </a:p>
        </p:txBody>
      </p:sp>
      <p:sp>
        <p:nvSpPr>
          <p:cNvPr id="3" name="Text Placeholder 2"/>
          <p:cNvSpPr>
            <a:spLocks noGrp="1"/>
          </p:cNvSpPr>
          <p:nvPr>
            <p:ph type="body" idx="13" sz="quarter"/>
          </p:nvPr>
        </p:nvSpPr>
        <p:spPr/>
        <p:txBody>
          <a:bodyPr/>
          <a:lstStyle/>
          <a:p>
            <a:r>
              <a:t>Connect with the community. Build what comes next.</a:t>
            </a:r>
          </a:p>
        </p:txBody>
      </p:sp>
      <p:sp>
        <p:nvSpPr>
          <p:cNvPr id="4" name="Title 3"/>
          <p:cNvSpPr>
            <a:spLocks noGrp="1"/>
          </p:cNvSpPr>
          <p:nvPr>
            <p:ph type="title"/>
          </p:nvPr>
        </p:nvSpPr>
        <p:spPr/>
        <p:txBody>
          <a:bodyPr/>
          <a:lstStyle/>
          <a:p>
            <a:r>
              <a:rPr sz="8800"/>
              <a:t>Build with vLLM-Omni</a:t>
            </a:r>
          </a:p>
        </p:txBody>
      </p:sp>
      <p:sp>
        <p:nvSpPr>
          <p:cNvPr id="5" name="Entry title 0"/>
          <p:cNvSpPr txBox="1"/>
          <p:nvPr/>
        </p:nvSpPr>
        <p:spPr>
          <a:xfrm>
            <a:off x="16002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vLLM-Omni</a:t>
            </a:r>
          </a:p>
          <a:p>
            <a:pPr algn="ctr">
              <a:spcBef>
                <a:spcPts val="0"/>
              </a:spcBef>
              <a:spcAft>
                <a:spcPts val="0"/>
              </a:spcAft>
            </a:pPr>
            <a:r>
              <a:rPr sz="3800" b="0">
                <a:solidFill>
                  <a:srgbClr val="000000"/>
                </a:solidFill>
                <a:latin typeface="NVIDIA Sans Medium"/>
              </a:rPr>
              <a:t>ComfyUI</a:t>
            </a:r>
          </a:p>
        </p:txBody>
      </p:sp>
      <p:sp>
        <p:nvSpPr>
          <p:cNvPr id="6" name="Entry subtitle 0"/>
          <p:cNvSpPr txBox="1"/>
          <p:nvPr/>
        </p:nvSpPr>
        <p:spPr>
          <a:xfrm>
            <a:off x="15087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Developer community</a:t>
            </a:r>
          </a:p>
        </p:txBody>
      </p:sp>
      <p:pic>
        <p:nvPicPr>
          <p:cNvPr id="7" name="Community QR 0" descr="image.jpg">
            <a:hlinkClick r:id="rId13"/>
          </p:cNvPr>
          <p:cNvPicPr>
            <a:picLocks noChangeAspect="1"/>
          </p:cNvPicPr>
          <p:nvPr/>
        </p:nvPicPr>
        <p:blipFill>
          <a:blip r:embed="rId12"/>
          <a:srcRect l="11750" r="11750" t="33116" b="14134"/>
          <a:stretch>
            <a:fillRect/>
          </a:stretch>
        </p:blipFill>
        <p:spPr>
          <a:xfrm>
            <a:off x="2057400" y="8321040"/>
            <a:ext cx="6675120" cy="6675120"/>
          </a:xfrm>
          <a:prstGeom prst="rect">
            <a:avLst/>
          </a:prstGeom>
        </p:spPr>
      </p:pic>
      <p:sp>
        <p:nvSpPr>
          <p:cNvPr id="8" name="Entry action 0"/>
          <p:cNvSpPr txBox="1"/>
          <p:nvPr/>
        </p:nvSpPr>
        <p:spPr>
          <a:xfrm>
            <a:off x="16002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9" name="Entry title 1"/>
          <p:cNvSpPr txBox="1"/>
          <p:nvPr/>
        </p:nvSpPr>
        <p:spPr>
          <a:xfrm>
            <a:off x="105156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Agentic Video</a:t>
            </a:r>
          </a:p>
          <a:p>
            <a:pPr algn="ctr">
              <a:spcBef>
                <a:spcPts val="0"/>
              </a:spcBef>
              <a:spcAft>
                <a:spcPts val="0"/>
              </a:spcAft>
            </a:pPr>
            <a:r>
              <a:rPr sz="3800" b="0">
                <a:solidFill>
                  <a:srgbClr val="000000"/>
                </a:solidFill>
                <a:latin typeface="NVIDIA Sans Medium"/>
              </a:rPr>
              <a:t>Generation</a:t>
            </a:r>
          </a:p>
        </p:txBody>
      </p:sp>
      <p:sp>
        <p:nvSpPr>
          <p:cNvPr id="10" name="Entry subtitle 1"/>
          <p:cNvSpPr txBox="1"/>
          <p:nvPr/>
        </p:nvSpPr>
        <p:spPr>
          <a:xfrm>
            <a:off x="104241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with MiniMax H3</a:t>
            </a:r>
          </a:p>
        </p:txBody>
      </p:sp>
      <p:pic>
        <p:nvPicPr>
          <p:cNvPr id="11" name="Community QR 1" descr="image.jpg">
            <a:hlinkClick r:id="rId15"/>
          </p:cNvPr>
          <p:cNvPicPr>
            <a:picLocks noChangeAspect="1"/>
          </p:cNvPicPr>
          <p:nvPr/>
        </p:nvPicPr>
        <p:blipFill>
          <a:blip r:embed="rId14"/>
          <a:srcRect l="11750" r="11750" t="33116" b="14134"/>
          <a:stretch>
            <a:fillRect/>
          </a:stretch>
        </p:blipFill>
        <p:spPr>
          <a:xfrm>
            <a:off x="10972800" y="8321040"/>
            <a:ext cx="6675120" cy="6675120"/>
          </a:xfrm>
          <a:prstGeom prst="rect">
            <a:avLst/>
          </a:prstGeom>
        </p:spPr>
      </p:pic>
      <p:sp>
        <p:nvSpPr>
          <p:cNvPr id="12" name="Entry action 1"/>
          <p:cNvSpPr txBox="1"/>
          <p:nvPr/>
        </p:nvSpPr>
        <p:spPr>
          <a:xfrm>
            <a:off x="105156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3" name="Entry title 2"/>
          <p:cNvSpPr txBox="1"/>
          <p:nvPr/>
        </p:nvSpPr>
        <p:spPr>
          <a:xfrm>
            <a:off x="194310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Study</a:t>
            </a:r>
          </a:p>
          <a:p>
            <a:pPr algn="ctr">
              <a:spcBef>
                <a:spcPts val="0"/>
              </a:spcBef>
              <a:spcAft>
                <a:spcPts val="0"/>
              </a:spcAft>
            </a:pPr>
            <a:r>
              <a:rPr sz="3800" b="0">
                <a:solidFill>
                  <a:srgbClr val="000000"/>
                </a:solidFill>
                <a:latin typeface="NVIDIA Sans Medium"/>
              </a:rPr>
              <a:t>Group</a:t>
            </a:r>
          </a:p>
        </p:txBody>
      </p:sp>
      <p:sp>
        <p:nvSpPr>
          <p:cNvPr id="14" name="Entry subtitle 2"/>
          <p:cNvSpPr txBox="1"/>
          <p:nvPr/>
        </p:nvSpPr>
        <p:spPr>
          <a:xfrm>
            <a:off x="193395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Shenzhen</a:t>
            </a:r>
          </a:p>
        </p:txBody>
      </p:sp>
      <p:pic>
        <p:nvPicPr>
          <p:cNvPr id="15" name="Community QR 2" descr="image.jpg">
            <a:hlinkClick r:id="rId17"/>
          </p:cNvPr>
          <p:cNvPicPr>
            <a:picLocks noChangeAspect="1"/>
          </p:cNvPicPr>
          <p:nvPr/>
        </p:nvPicPr>
        <p:blipFill>
          <a:blip r:embed="rId16"/>
          <a:srcRect l="11750" r="11750" t="31037" b="14573"/>
          <a:stretch>
            <a:fillRect/>
          </a:stretch>
        </p:blipFill>
        <p:spPr>
          <a:xfrm>
            <a:off x="19888200" y="8321040"/>
            <a:ext cx="6675120" cy="6675120"/>
          </a:xfrm>
          <a:prstGeom prst="rect">
            <a:avLst/>
          </a:prstGeom>
        </p:spPr>
      </p:pic>
      <p:sp>
        <p:nvSpPr>
          <p:cNvPr id="16" name="Entry action 2"/>
          <p:cNvSpPr txBox="1"/>
          <p:nvPr/>
        </p:nvSpPr>
        <p:spPr>
          <a:xfrm>
            <a:off x="194310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Scan with WeChat</a:t>
            </a:r>
          </a:p>
        </p:txBody>
      </p:sp>
      <p:sp>
        <p:nvSpPr>
          <p:cNvPr id="17" name="Entry title 3"/>
          <p:cNvSpPr txBox="1"/>
          <p:nvPr/>
        </p:nvSpPr>
        <p:spPr>
          <a:xfrm>
            <a:off x="28346400" y="5120640"/>
            <a:ext cx="7589520" cy="16459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vLLM on</a:t>
            </a:r>
          </a:p>
          <a:p>
            <a:pPr algn="ctr">
              <a:spcBef>
                <a:spcPts val="0"/>
              </a:spcBef>
              <a:spcAft>
                <a:spcPts val="0"/>
              </a:spcAft>
            </a:pPr>
            <a:r>
              <a:rPr sz="3800" b="0">
                <a:solidFill>
                  <a:srgbClr val="000000"/>
                </a:solidFill>
                <a:latin typeface="NVIDIA Sans Medium"/>
              </a:rPr>
              <a:t>Bilibili</a:t>
            </a:r>
          </a:p>
        </p:txBody>
      </p:sp>
      <p:sp>
        <p:nvSpPr>
          <p:cNvPr id="18" name="Entry subtitle 3"/>
          <p:cNvSpPr txBox="1"/>
          <p:nvPr/>
        </p:nvSpPr>
        <p:spPr>
          <a:xfrm>
            <a:off x="28254960" y="7086600"/>
            <a:ext cx="7772400" cy="731520"/>
          </a:xfrm>
          <a:prstGeom prst="rect">
            <a:avLst/>
          </a:prstGeom>
          <a:noFill/>
        </p:spPr>
        <p:txBody>
          <a:bodyPr wrap="square" lIns="0" rIns="0" tIns="0" bIns="0">
            <a:spAutoFit/>
          </a:bodyPr>
          <a:lstStyle/>
          <a:p>
            <a:pPr algn="ctr">
              <a:spcBef>
                <a:spcPts val="0"/>
              </a:spcBef>
              <a:spcAft>
                <a:spcPts val="0"/>
              </a:spcAft>
            </a:pPr>
            <a:r>
              <a:rPr sz="2500" b="0">
                <a:solidFill>
                  <a:srgbClr val="000000"/>
                </a:solidFill>
                <a:latin typeface="NVIDIA Sans"/>
              </a:rPr>
              <a:t>Official channel · vllm_project</a:t>
            </a:r>
          </a:p>
        </p:txBody>
      </p:sp>
      <p:pic>
        <p:nvPicPr>
          <p:cNvPr id="19" name="Community QR 3" descr="vllm-bilibili-qr.png">
            <a:hlinkClick r:id="rId19"/>
          </p:cNvPr>
          <p:cNvPicPr>
            <a:picLocks noChangeAspect="1"/>
          </p:cNvPicPr>
          <p:nvPr/>
        </p:nvPicPr>
        <p:blipFill>
          <a:blip r:embed="rId18"/>
          <a:stretch>
            <a:fillRect/>
          </a:stretch>
        </p:blipFill>
        <p:spPr>
          <a:xfrm>
            <a:off x="28803600" y="8321040"/>
            <a:ext cx="6675120" cy="6675120"/>
          </a:xfrm>
          <a:prstGeom prst="rect">
            <a:avLst/>
          </a:prstGeom>
        </p:spPr>
      </p:pic>
      <p:sp>
        <p:nvSpPr>
          <p:cNvPr id="20" name="Entry action 3"/>
          <p:cNvSpPr txBox="1"/>
          <p:nvPr/>
        </p:nvSpPr>
        <p:spPr>
          <a:xfrm>
            <a:off x="28346400" y="15316200"/>
            <a:ext cx="7589520" cy="594360"/>
          </a:xfrm>
          <a:prstGeom prst="rect">
            <a:avLst/>
          </a:prstGeom>
          <a:noFill/>
        </p:spPr>
        <p:txBody>
          <a:bodyPr wrap="square" lIns="0" rIns="0" tIns="0" bIns="0">
            <a:spAutoFit/>
          </a:bodyPr>
          <a:lstStyle/>
          <a:p>
            <a:pPr algn="ctr">
              <a:spcBef>
                <a:spcPts val="0"/>
              </a:spcBef>
              <a:spcAft>
                <a:spcPts val="0"/>
              </a:spcAft>
            </a:pPr>
            <a:r>
              <a:rPr sz="2400" b="0">
                <a:solidFill>
                  <a:srgbClr val="000000"/>
                </a:solidFill>
                <a:latin typeface="NVIDIA Sans"/>
              </a:rPr>
              <a:t>Talks &amp; tutorials</a:t>
            </a:r>
          </a:p>
        </p:txBody>
      </p:sp>
      <p:sp>
        <p:nvSpPr>
          <p:cNvPr id="21" name="WeChat expiry"/>
          <p:cNvSpPr txBox="1"/>
          <p:nvPr/>
        </p:nvSpPr>
        <p:spPr>
          <a:xfrm>
            <a:off x="1828800" y="16459200"/>
            <a:ext cx="32918400" cy="68580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a:rPr>
              <a:t>WeChat invitations valid before 7 Nov 2026</a:t>
            </a:r>
          </a:p>
        </p:txBody>
      </p:sp>
      <p:cxnSp>
        <p:nvCxnSpPr>
          <p:cNvPr id="22" name="Community divider"/>
          <p:cNvCxnSpPr/>
          <p:nvPr/>
        </p:nvCxnSpPr>
        <p:spPr>
          <a:xfrm>
            <a:off x="1828800" y="17510760"/>
            <a:ext cx="32918400" cy="0"/>
          </a:xfrm>
          <a:prstGeom prst="line">
            <a:avLst/>
          </a:prstGeom>
          <a:ln w="19050">
            <a:solidFill>
              <a:srgbClr val="A7A7A7"/>
            </a:solidFill>
          </a:ln>
        </p:spPr>
        <p:style>
          <a:lnRef idx="2">
            <a:schemeClr val="accent1"/>
          </a:lnRef>
          <a:fillRef idx="0">
            <a:schemeClr val="accent1"/>
          </a:fillRef>
          <a:effectRef idx="1">
            <a:schemeClr val="accent1"/>
          </a:effectRef>
          <a:fontRef idx="minor">
            <a:schemeClr val="tx1"/>
          </a:fontRef>
        </p:style>
      </p:cxnSp>
      <p:sp>
        <p:nvSpPr>
          <p:cNvPr id="23" name="Contribution invitation"/>
          <p:cNvSpPr txBox="1"/>
          <p:nvPr/>
        </p:nvSpPr>
        <p:spPr>
          <a:xfrm>
            <a:off x="1828800" y="17967960"/>
            <a:ext cx="32918400" cy="822960"/>
          </a:xfrm>
          <a:prstGeom prst="rect">
            <a:avLst/>
          </a:prstGeom>
          <a:noFill/>
        </p:spPr>
        <p:txBody>
          <a:bodyPr wrap="square" lIns="0" rIns="0" tIns="0" bIns="0">
            <a:spAutoFit/>
          </a:bodyPr>
          <a:lstStyle/>
          <a:p>
            <a:pPr algn="ctr">
              <a:spcBef>
                <a:spcPts val="0"/>
              </a:spcBef>
              <a:spcAft>
                <a:spcPts val="0"/>
              </a:spcAft>
            </a:pPr>
            <a:r>
              <a:rPr sz="3700" b="0">
                <a:solidFill>
                  <a:srgbClr val="76B900"/>
                </a:solidFill>
                <a:latin typeface="NVIDIA Sans Medium"/>
              </a:rPr>
              <a:t>Contribute models · Optimize serving · Share creator workflows</a:t>
            </a:r>
          </a:p>
        </p:txBody>
      </p:sp>
      <p:sp>
        <p:nvSpPr>
          <p:cNvPr id="24" name="Project URL"/>
          <p:cNvSpPr txBox="1"/>
          <p:nvPr/>
        </p:nvSpPr>
        <p:spPr>
          <a:xfrm>
            <a:off x="1828800" y="19202400"/>
            <a:ext cx="192024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3"/>
              </a:rPr>
              <a:t>github.com/vllm-project/vllm-omni</a:t>
            </a:r>
          </a:p>
        </p:txBody>
      </p:sp>
      <p:sp>
        <p:nvSpPr>
          <p:cNvPr id="25" name="Slack URL"/>
          <p:cNvSpPr txBox="1"/>
          <p:nvPr/>
        </p:nvSpPr>
        <p:spPr>
          <a:xfrm>
            <a:off x="22860000" y="19202400"/>
            <a:ext cx="11887200" cy="594360"/>
          </a:xfrm>
          <a:prstGeom prst="rect">
            <a:avLst/>
          </a:prstGeom>
          <a:noFill/>
        </p:spPr>
        <p:txBody>
          <a:bodyPr wrap="square" lIns="0" rIns="0" tIns="0" bIns="0">
            <a:spAutoFit/>
          </a:bodyPr>
          <a:lstStyle/>
          <a:p>
            <a:pPr>
              <a:spcBef>
                <a:spcPts val="0"/>
              </a:spcBef>
              <a:spcAft>
                <a:spcPts val="0"/>
              </a:spcAft>
            </a:pPr>
            <a:r>
              <a:rPr sz="2600" b="0">
                <a:solidFill>
                  <a:srgbClr val="000000"/>
                </a:solidFill>
                <a:latin typeface="NVIDIA Sans"/>
                <a:hlinkClick r:id="rId8"/>
              </a:rPr>
              <a:t>slack.vllm.ai · #sig-omni</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2" sz="quarter"/>
          </p:nvPr>
        </p:nvSpPr>
        <p:spPr>
          <a:xfrm>
            <a:off x="1828800" y="17190720"/>
            <a:ext cx="16459200" cy="1051560"/>
          </a:xfrm>
        </p:spPr>
        <p:txBody>
          <a:bodyPr/>
          <a:lstStyle/>
          <a:p>
            <a:r>
              <a:rPr>
                <a:solidFill>
                  <a:srgbClr val="313131"/>
                </a:solidFill>
              </a:rPr>
              <a:t>2026-08-23</a:t>
            </a:r>
          </a:p>
        </p:txBody>
      </p:sp>
      <p:sp>
        <p:nvSpPr>
          <p:cNvPr id="3" name="Text Placeholder 2"/>
          <p:cNvSpPr>
            <a:spLocks noGrp="1"/>
          </p:cNvSpPr>
          <p:nvPr>
            <p:ph type="body" idx="11" sz="quarter"/>
          </p:nvPr>
        </p:nvSpPr>
        <p:spPr>
          <a:xfrm>
            <a:off x="1828800" y="15956280"/>
            <a:ext cx="16459200" cy="1005840"/>
          </a:xfrm>
        </p:spPr>
        <p:txBody>
          <a:bodyPr/>
          <a:lstStyle/>
          <a:p>
            <a:r>
              <a:rPr sz="4000">
                <a:latin typeface="NVIDIA Sans"/>
              </a:rPr>
              <a:t>Li Shunyang Devtech Compute NVIDIA</a:t>
            </a:r>
          </a:p>
        </p:txBody>
      </p:sp>
      <p:sp>
        <p:nvSpPr>
          <p:cNvPr id="4" name="Text Placeholder 3"/>
          <p:cNvSpPr>
            <a:spLocks noGrp="1"/>
          </p:cNvSpPr>
          <p:nvPr>
            <p:ph type="body" idx="10" sz="quarter"/>
          </p:nvPr>
        </p:nvSpPr>
        <p:spPr/>
        <p:txBody>
          <a:bodyPr/>
          <a:lstStyle/>
          <a:p>
            <a:r>
              <a:t>Toward Real-time</a:t>
            </a:r>
            <a:br/>
            <a:r>
              <a:t>Generation with</a:t>
            </a:r>
            <a:br/>
            <a:r>
              <a:t>MiniMax H3</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Generate about five seconds of audio and video within the same time budget.</a:t>
            </a:r>
          </a:p>
        </p:txBody>
      </p:sp>
      <p:sp>
        <p:nvSpPr>
          <p:cNvPr id="3" name="Title 2"/>
          <p:cNvSpPr>
            <a:spLocks noGrp="1"/>
          </p:cNvSpPr>
          <p:nvPr>
            <p:ph type="title"/>
          </p:nvPr>
        </p:nvSpPr>
        <p:spPr/>
        <p:txBody>
          <a:bodyPr/>
          <a:lstStyle/>
          <a:p>
            <a:r>
              <a:t>Real Time Is an End-to-End Budget</a:t>
            </a:r>
          </a:p>
        </p:txBody>
      </p:sp>
      <p:sp>
        <p:nvSpPr>
          <p:cNvPr id="4" name="Text Placeholder 3"/>
          <p:cNvSpPr>
            <a:spLocks noGrp="1"/>
          </p:cNvSpPr>
          <p:nvPr>
            <p:ph type="body" idx="52" sz="quarter"/>
          </p:nvPr>
        </p:nvSpPr>
        <p:spPr>
          <a:xfrm>
            <a:off x="1828799" y="16510765"/>
            <a:ext cx="16114094" cy="1142250"/>
          </a:xfrm>
        </p:spPr>
        <p:txBody>
          <a:bodyPr/>
          <a:lstStyle/>
          <a:p>
            <a:r>
              <a:t>RTF = latency ÷ media duration; the 124-frame deadline is 5.167 s. H3 has the largest dense backbone in this peer set; Wan2.2 has 27B total and 14B active parameters</a:t>
            </a:r>
          </a:p>
        </p:txBody>
      </p:sp>
      <p:sp>
        <p:nvSpPr>
          <p:cNvPr id="5" name="Text Placeholder 4"/>
          <p:cNvSpPr>
            <a:spLocks noGrp="1"/>
          </p:cNvSpPr>
          <p:nvPr>
            <p:ph type="body" idx="51" sz="quarter"/>
          </p:nvPr>
        </p:nvSpPr>
        <p:spPr/>
        <p:txBody>
          <a:bodyPr/>
          <a:lstStyle/>
          <a:p>
            <a:r>
              <a:t>Generative Backbone · Full Parameters (B)</a:t>
            </a:r>
          </a:p>
        </p:txBody>
      </p:sp>
      <p:sp>
        <p:nvSpPr>
          <p:cNvPr id="7" name="Text Placeholder 6"/>
          <p:cNvSpPr>
            <a:spLocks noGrp="1"/>
          </p:cNvSpPr>
          <p:nvPr>
            <p:ph type="body" idx="54" sz="quarter"/>
          </p:nvPr>
        </p:nvSpPr>
        <p:spPr>
          <a:xfrm>
            <a:off x="18633106" y="16510765"/>
            <a:ext cx="16114093" cy="1142250"/>
          </a:xfrm>
        </p:spPr>
        <p:txBody>
          <a:bodyPr/>
          <a:lstStyle/>
          <a:p>
            <a:r>
              <a:t>The backbone is only part of the budget. Encoding, communication and audio–video output all contribute to latency.</a:t>
            </a:r>
          </a:p>
        </p:txBody>
      </p:sp>
      <p:sp>
        <p:nvSpPr>
          <p:cNvPr id="8" name="Text Placeholder 7"/>
          <p:cNvSpPr>
            <a:spLocks noGrp="1"/>
          </p:cNvSpPr>
          <p:nvPr>
            <p:ph type="body" idx="55" sz="quarter"/>
          </p:nvPr>
        </p:nvSpPr>
        <p:spPr>
          <a:xfrm>
            <a:off x="18633106" y="15884910"/>
            <a:ext cx="16114093" cy="859536"/>
          </a:xfrm>
        </p:spPr>
        <p:txBody>
          <a:bodyPr/>
          <a:lstStyle/>
          <a:p>
            <a:r>
              <a:t>Model Capability · Native 768P · 33B Dense</a:t>
            </a:r>
          </a:p>
        </p:txBody>
      </p:sp>
      <p:pic>
        <p:nvPicPr>
          <p:cNvPr id="9" name="Picture Placeholder 8" descr="minimax-h3-full-arch-official.png"/>
          <p:cNvPicPr>
            <a:picLocks noGrp="1" noChangeAspect="1"/>
          </p:cNvPicPr>
          <p:nvPr>
            <p:ph type="pic" idx="56" sz="quarter"/>
          </p:nvPr>
        </p:nvPicPr>
        <p:blipFill>
          <a:blip r:embed="rId3"/>
          <a:srcRect l="653" r="653"/>
          <a:stretch>
            <a:fillRect/>
          </a:stretch>
        </p:blipFill>
        <p:spPr>
          <a:ln w="9525">
            <a:solidFill>
              <a:srgbClr val="A7A7A7"/>
            </a:solidFill>
          </a:ln>
        </p:spPr>
      </p:pic>
      <p:graphicFrame>
        <p:nvGraphicFramePr>
          <p:cNvPr id="10" name="Official Peer Model Comparison">
            <a:extLst>
              <a:ext uri="{FF2B5EF4-FFF2-40B4-BE49-F238E27FC236}">
                <a16:creationId xmlns:a16="http://schemas.microsoft.com/office/drawing/2014/main" id="{F2889B58-350F-0276-FAA0-10762D276A99}"/>
              </a:ext>
            </a:extLst>
          </p:cNvPr>
          <p:cNvGraphicFramePr>
            <a:graphicFrameLocks noGrp="1"/>
          </p:cNvGraphicFramePr>
          <p:nvPr>
            <p:ph type="chart" sz="quarter" idx="17"/>
          </p:nvPr>
        </p:nvGraphicFramePr>
        <p:xfrm>
          <a:off x="1828799" y="6583679"/>
          <a:ext cx="16114094" cy="9067992"/>
        </p:xfrm>
        <a:graphic>
          <a:graphicData uri="http://schemas.openxmlformats.org/drawingml/2006/chart">
            <c:chart xmlns:c="http://schemas.openxmlformats.org/drawingml/2006/chart" r:id="rId2"/>
          </a:graphicData>
        </a:graphic>
      </p:graphicFrame>
      <p:sp>
        <p:nvSpPr>
          <p:cNvPr id="11" name="Footer Placeholder">
            <a:extLst>
              <a:ext uri="{FF2B5EF4-FFF2-40B4-BE49-F238E27FC236}">
                <a16:creationId xmlns:a16="http://schemas.microsoft.com/office/drawing/2014/main" id="{76A1F60C-3CCE-DF11-DC3E-EF0687B9E5D5}"/>
              </a:ext>
            </a:extLst>
          </p:cNvPr>
          <p:cNvSpPr>
            <a:spLocks noGrp="1"/>
          </p:cNvSpPr>
          <p:nvPr>
            <p:ph type="ftr" sz="quarter" idx="25"/>
          </p:nvPr>
        </p:nvSpPr>
        <p:spPr/>
        <p:txBody>
          <a:bodyPr/>
          <a:lstStyle/>
          <a:p>
            <a:pPr>
              <a:lnSpc>
                <a:spcPct val="90000"/>
              </a:lnSpc>
            </a:pPr>
            <a:r>
              <a:rPr lang="en-US" sz="2000" b="0">
                <a:solidFill>
                  <a:srgbClr val="A7A7A7"/>
                </a:solidFill>
                <a:latin typeface="NVIDIA Sans"/>
              </a:rPr>
              <a:t>Sources: MiniMax H3, Wan2.2, LTX-2.5 and HunyuanVideo-1.5 official releases · author 960×544 Ref2VA workload</a:t>
            </a:r>
            <a:endParaRPr lang="en-US" dirty="0"/>
          </a:p>
        </p:txBody>
      </p:sp>
      <p:sp>
        <p:nvSpPr>
          <p:cNvPr id="12" name="Slide Number Placeholder">
            <a:extLst>
              <a:ext uri="{FF2B5EF4-FFF2-40B4-BE49-F238E27FC236}">
                <a16:creationId xmlns:a16="http://schemas.microsoft.com/office/drawing/2014/main" id="{49004407-D31C-D373-A3F5-01540EF7DD23}"/>
              </a:ext>
            </a:extLst>
          </p:cNvPr>
          <p:cNvSpPr>
            <a:spLocks noGrp="1"/>
          </p:cNvSpPr>
          <p:nvPr>
            <p:ph type="sldNum" sz="quarter" idx="26"/>
          </p:nvPr>
        </p:nvSpPr>
        <p:spPr/>
        <p:txBody>
          <a:bodyPr/>
          <a:lstStyle/>
          <a:p>
            <a:pPr>
              <a:lnSpc>
                <a:spcPct val="90000"/>
              </a:lnSpc>
            </a:pPr>
            <a:fld id="{5D6728F8-03AC-4059-94FB-90617981AE50}" type="slidenum">
              <a:rPr lang="en-US" smtClean="0"/>
              <a:pPr/>
              <a:t>20</a:t>
            </a:fld>
            <a:endParaRPr lang="en-US"/>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32918400" cy="11338560"/>
        </p:xfrm>
        <a:graphic>
          <a:graphicData uri="http://schemas.openxmlformats.org/drawingml/2006/table">
            <a:tbl>
              <a:tblPr firstRow="1" bandRow="1">
                <a:tableStyleId>{5C22544A-7EE6-4342-B048-85BDC9FD1C3A}</a:tableStyleId>
              </a:tblPr>
              <a:tblGrid>
                <a:gridCol w="9144000"/>
                <a:gridCol w="2926080"/>
                <a:gridCol w="6400800"/>
                <a:gridCol w="4023360"/>
                <a:gridCol w="10424160"/>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3291840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22</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SM120 Cards</a:t>
            </a:r>
          </a:p>
        </p:txBody>
      </p:sp>
      <p:graphicFrame>
        <p:nvGraphicFramePr>
          <p:cNvPr id="5" name="SM120 specifications"/>
          <p:cNvGraphicFramePr>
            <a:graphicFrameLocks noGrp="1"/>
          </p:cNvGraphicFramePr>
          <p:nvPr/>
        </p:nvGraphicFramePr>
        <p:xfrm>
          <a:off x="1828800" y="5852160"/>
          <a:ext cx="28620720" cy="11338560"/>
        </p:xfrm>
        <a:graphic>
          <a:graphicData uri="http://schemas.openxmlformats.org/drawingml/2006/table">
            <a:tbl>
              <a:tblPr firstRow="1" bandRow="1">
                <a:tableStyleId>{5C22544A-7EE6-4342-B048-85BDC9FD1C3A}</a:tableStyleId>
              </a:tblPr>
              <a:tblGrid>
                <a:gridCol w="7950200"/>
                <a:gridCol w="2544064"/>
                <a:gridCol w="5565140"/>
                <a:gridCol w="3498088"/>
                <a:gridCol w="9063228"/>
              </a:tblGrid>
              <a:tr h="1097280">
                <a:tc>
                  <a:txBody>
                    <a:bodyPr/>
                    <a:lstStyle/>
                    <a:p>
                      <a:pPr>
                        <a:spcBef>
                          <a:spcPts val="0"/>
                        </a:spcBef>
                        <a:spcAft>
                          <a:spcPts val="0"/>
                        </a:spcAft>
                      </a:pPr>
                      <a:r>
                        <a:rPr sz="3600" b="0">
                          <a:solidFill>
                            <a:srgbClr val="76B900"/>
                          </a:solidFill>
                          <a:latin typeface="NVIDIA Sans Medium"/>
                        </a:rPr>
                        <a:t>GPU</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SMs</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Memory</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Power</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600" b="0">
                          <a:solidFill>
                            <a:srgbClr val="76B900"/>
                          </a:solidFill>
                          <a:latin typeface="NVIDIA Sans Medium"/>
                        </a:rPr>
                        <a:t>Interconnect</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5000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110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72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300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RTX PRO 6000</a:t>
                      </a:r>
                    </a:p>
                    <a:p>
                      <a:pPr>
                        <a:spcBef>
                          <a:spcPts val="0"/>
                        </a:spcBef>
                        <a:spcAft>
                          <a:spcPts val="0"/>
                        </a:spcAft>
                      </a:pPr>
                      <a:r>
                        <a:rPr sz="3400" b="0">
                          <a:solidFill>
                            <a:srgbClr val="000000"/>
                          </a:solidFill>
                          <a:latin typeface="NVIDIA Sans Medium"/>
                        </a:rPr>
                        <a:t>Workstation / Server</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188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96 GB</a:t>
                      </a:r>
                    </a:p>
                    <a:p>
                      <a:pPr>
                        <a:spcBef>
                          <a:spcPts val="0"/>
                        </a:spcBef>
                        <a:spcAft>
                          <a:spcPts val="0"/>
                        </a:spcAft>
                      </a:pPr>
                      <a:r>
                        <a:rPr sz="3400" b="0">
                          <a:solidFill>
                            <a:srgbClr val="000000"/>
                          </a:solidFill>
                          <a:latin typeface="NVIDIA Sans"/>
                        </a:rPr>
                        <a:t>GDDR7 ECC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600 W</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GPU NVLink</a:t>
                      </a:r>
                    </a:p>
                  </a:txBody>
                  <a:tcPr anchor="ctr" marL="320040" marR="164592" marT="109728" marB="109728">
                    <a:solidFill>
                      <a:srgbClr val="F7F7F7"/>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GeForce RTX 5090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170</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32 GB</a:t>
                      </a:r>
                    </a:p>
                    <a:p>
                      <a:pPr>
                        <a:spcBef>
                          <a:spcPts val="0"/>
                        </a:spcBef>
                        <a:spcAft>
                          <a:spcPts val="0"/>
                        </a:spcAft>
                      </a:pPr>
                      <a:r>
                        <a:rPr sz="3400" b="0">
                          <a:solidFill>
                            <a:srgbClr val="000000"/>
                          </a:solidFill>
                          <a:latin typeface="NVIDIA Sans"/>
                        </a:rPr>
                        <a:t>GDDR7</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575 W</a:t>
                      </a:r>
                    </a:p>
                  </a:txBody>
                  <a:tcPr anchor="ctr" marL="320040" marR="164592" marT="109728" marB="109728">
                    <a:solidFill>
                      <a:srgbClr val="FFFFFF"/>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PCIe Gen5 ×16</a:t>
                      </a:r>
                    </a:p>
                    <a:p>
                      <a:pPr>
                        <a:spcBef>
                          <a:spcPts val="0"/>
                        </a:spcBef>
                        <a:spcAft>
                          <a:spcPts val="0"/>
                        </a:spcAft>
                      </a:pPr>
                      <a:r>
                        <a:rPr sz="3400" b="0">
                          <a:solidFill>
                            <a:srgbClr val="000000"/>
                          </a:solidFill>
                          <a:latin typeface="NVIDIA Sans"/>
                        </a:rPr>
                        <a:t>No NVLink</a:t>
                      </a:r>
                    </a:p>
                  </a:txBody>
                  <a:tcPr anchor="ctr" marL="320040" marR="164592" marT="109728" marB="109728">
                    <a:solidFill>
                      <a:srgbClr val="FFFFFF"/>
                    </a:solidFill>
                    <a:lnL w="0">
                      <a:noFill/>
                    </a:lnL>
                    <a:lnR w="0">
                      <a:noFill/>
                    </a:lnR>
                    <a:lnT w="0">
                      <a:noFill/>
                    </a:lnT>
                    <a:lnB w="0">
                      <a:noFill/>
                    </a:lnB>
                  </a:tcPr>
                </a:tc>
              </a:tr>
              <a:tr h="2560320">
                <a:tc>
                  <a:txBody>
                    <a:bodyPr/>
                    <a:lstStyle/>
                    <a:p>
                      <a:pPr>
                        <a:spcBef>
                          <a:spcPts val="0"/>
                        </a:spcBef>
                        <a:spcAft>
                          <a:spcPts val="0"/>
                        </a:spcAft>
                      </a:pPr>
                      <a:r>
                        <a:rPr sz="3400" b="0">
                          <a:solidFill>
                            <a:srgbClr val="000000"/>
                          </a:solidFill>
                          <a:latin typeface="NVIDIA Sans Medium"/>
                        </a:rPr>
                        <a:t>DGX Spark</a:t>
                      </a:r>
                    </a:p>
                    <a:p>
                      <a:pPr>
                        <a:spcBef>
                          <a:spcPts val="0"/>
                        </a:spcBef>
                        <a:spcAft>
                          <a:spcPts val="0"/>
                        </a:spcAft>
                      </a:pPr>
                      <a:r>
                        <a:rPr sz="3400" b="0">
                          <a:solidFill>
                            <a:srgbClr val="000000"/>
                          </a:solidFill>
                          <a:latin typeface="NVIDIA Sans Medium"/>
                        </a:rPr>
                        <a:t>GB10 · SM121</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48</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128 GB</a:t>
                      </a:r>
                    </a:p>
                    <a:p>
                      <a:pPr>
                        <a:spcBef>
                          <a:spcPts val="0"/>
                        </a:spcBef>
                        <a:spcAft>
                          <a:spcPts val="0"/>
                        </a:spcAft>
                      </a:pPr>
                      <a:r>
                        <a:rPr sz="3400" b="0">
                          <a:solidFill>
                            <a:srgbClr val="000000"/>
                          </a:solidFill>
                          <a:latin typeface="NVIDIA Sans"/>
                        </a:rPr>
                        <a:t>Unified LPDDR5X</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140 W</a:t>
                      </a:r>
                    </a:p>
                    <a:p>
                      <a:pPr>
                        <a:spcBef>
                          <a:spcPts val="0"/>
                        </a:spcBef>
                        <a:spcAft>
                          <a:spcPts val="0"/>
                        </a:spcAft>
                      </a:pPr>
                      <a:r>
                        <a:rPr sz="3400" b="0">
                          <a:solidFill>
                            <a:srgbClr val="000000"/>
                          </a:solidFill>
                          <a:latin typeface="NVIDIA Sans"/>
                        </a:rPr>
                        <a:t>SoC</a:t>
                      </a:r>
                    </a:p>
                  </a:txBody>
                  <a:tcPr anchor="ctr" marL="320040" marR="164592" marT="109728" marB="109728">
                    <a:solidFill>
                      <a:srgbClr val="F7F7F7"/>
                    </a:solidFill>
                    <a:lnL w="0">
                      <a:noFill/>
                    </a:lnL>
                    <a:lnR w="0">
                      <a:noFill/>
                    </a:lnR>
                    <a:lnT w="0">
                      <a:noFill/>
                    </a:lnT>
                    <a:lnB w="0">
                      <a:noFill/>
                    </a:lnB>
                  </a:tcPr>
                </a:tc>
                <a:tc>
                  <a:txBody>
                    <a:bodyPr/>
                    <a:lstStyle/>
                    <a:p>
                      <a:pPr>
                        <a:spcBef>
                          <a:spcPts val="0"/>
                        </a:spcBef>
                        <a:spcAft>
                          <a:spcPts val="0"/>
                        </a:spcAft>
                      </a:pPr>
                      <a:r>
                        <a:rPr sz="3400" b="0">
                          <a:solidFill>
                            <a:srgbClr val="000000"/>
                          </a:solidFill>
                          <a:latin typeface="NVIDIA Sans"/>
                        </a:rPr>
                        <a:t>CPU–GPU NVLink-C2C</a:t>
                      </a:r>
                    </a:p>
                    <a:p>
                      <a:pPr>
                        <a:spcBef>
                          <a:spcPts val="0"/>
                        </a:spcBef>
                        <a:spcAft>
                          <a:spcPts val="0"/>
                        </a:spcAft>
                      </a:pPr>
                      <a:r>
                        <a:rPr sz="3400" b="0">
                          <a:solidFill>
                            <a:srgbClr val="000000"/>
                          </a:solidFill>
                          <a:latin typeface="NVIDIA Sans"/>
                        </a:rPr>
                        <a:t>200 Gb/s ConnectX-7</a:t>
                      </a:r>
                    </a:p>
                  </a:txBody>
                  <a:tcPr anchor="ctr" marL="320040" marR="164592" marT="109728" marB="109728">
                    <a:solidFill>
                      <a:srgbClr val="F7F7F7"/>
                    </a:solidFill>
                    <a:lnL w="0">
                      <a:noFill/>
                    </a:lnL>
                    <a:lnR w="0">
                      <a:noFill/>
                    </a:lnR>
                    <a:lnT w="0">
                      <a:noFill/>
                    </a:lnT>
                    <a:lnB w="0">
                      <a:noFill/>
                    </a:lnB>
                  </a:tcPr>
                </a:tc>
              </a:tr>
            </a:tbl>
          </a:graphicData>
        </a:graphic>
      </p:graphicFrame>
      <p:sp>
        <p:nvSpPr>
          <p:cNvPr id="6" name="Table heading rule"/>
          <p:cNvSpPr/>
          <p:nvPr/>
        </p:nvSpPr>
        <p:spPr>
          <a:xfrm>
            <a:off x="1828800" y="6931152"/>
            <a:ext cx="28620720" cy="22860"/>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PRO 5000 selection frame"/>
          <p:cNvSpPr/>
          <p:nvPr/>
        </p:nvSpPr>
        <p:spPr>
          <a:xfrm>
            <a:off x="1737360" y="6958584"/>
            <a:ext cx="28803600" cy="2551176"/>
          </a:xfrm>
          <a:prstGeom prst="rect">
            <a:avLst/>
          </a:prstGeom>
          <a:noFill/>
          <a:ln w="63500">
            <a:solidFill>
              <a:srgbClr val="76B9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Eight GPU emphasis"/>
          <p:cNvSpPr txBox="1"/>
          <p:nvPr/>
        </p:nvSpPr>
        <p:spPr>
          <a:xfrm>
            <a:off x="30952440" y="7360920"/>
            <a:ext cx="3749039" cy="1965960"/>
          </a:xfrm>
          <a:prstGeom prst="rect">
            <a:avLst/>
          </a:prstGeom>
          <a:noFill/>
        </p:spPr>
        <p:txBody>
          <a:bodyPr wrap="square" lIns="0" rIns="0" tIns="0" bIns="0">
            <a:spAutoFit/>
          </a:bodyPr>
          <a:lstStyle/>
          <a:p>
            <a:pPr>
              <a:spcBef>
                <a:spcPts val="0"/>
              </a:spcBef>
              <a:spcAft>
                <a:spcPts val="0"/>
              </a:spcAft>
            </a:pPr>
            <a:r>
              <a:rPr sz="13200" b="0">
                <a:solidFill>
                  <a:srgbClr val="76B900"/>
                </a:solidFill>
                <a:latin typeface="NVIDIA Sans Medium"/>
              </a:rPr>
              <a:t>×8</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23</a:t>
            </a:r>
          </a:p>
        </p:txBody>
      </p:sp>
      <p:sp>
        <p:nvSpPr>
          <p:cNvPr id="3" name="Text Placeholder 2"/>
          <p:cNvSpPr>
            <a:spLocks noGrp="1"/>
          </p:cNvSpPr>
          <p:nvPr>
            <p:ph type="body" idx="13" sz="quarter"/>
          </p:nvPr>
        </p:nvSpPr>
        <p:spPr/>
        <p:txBody>
          <a:bodyPr/>
          <a:lstStyle/>
          <a:p>
            <a:r>
              <a:t>E2E: 213.402 s  ·  Generated video: 960 × 544, 5.167 s</a:t>
            </a:r>
          </a:p>
        </p:txBody>
      </p:sp>
      <p:sp>
        <p:nvSpPr>
          <p:cNvPr id="4" name="Title 3"/>
          <p:cNvSpPr>
            <a:spLocks noGrp="1"/>
          </p:cNvSpPr>
          <p:nvPr>
            <p:ph type="title"/>
          </p:nvPr>
        </p:nvSpPr>
        <p:spPr/>
        <p:txBody>
          <a:bodyPr/>
          <a:lstStyle/>
          <a:p>
            <a:r>
              <a:t>Baseline: Latency Breakdown</a:t>
            </a:r>
          </a:p>
        </p:txBody>
      </p:sp>
      <p:sp>
        <p:nvSpPr>
          <p:cNvPr id="5" name="Config heading"/>
          <p:cNvSpPr txBox="1"/>
          <p:nvPr/>
        </p:nvSpPr>
        <p:spPr>
          <a:xfrm>
            <a:off x="1828800" y="5349240"/>
            <a:ext cx="123444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Reference configuration</a:t>
            </a:r>
          </a:p>
        </p:txBody>
      </p:sp>
      <p:sp>
        <p:nvSpPr>
          <p:cNvPr id="6" name="Reference configuration bullets"/>
          <p:cNvSpPr txBox="1"/>
          <p:nvPr/>
        </p:nvSpPr>
        <p:spPr>
          <a:xfrm>
            <a:off x="1828800" y="7315200"/>
            <a:ext cx="12344400" cy="10607040"/>
          </a:xfrm>
          <a:prstGeom prst="rect">
            <a:avLst/>
          </a:prstGeom>
          <a:noFill/>
        </p:spPr>
        <p:txBody>
          <a:bodyPr wrap="square" lIns="0" rIns="0" tIns="0" bIns="0">
            <a:spAutoFit/>
          </a:bodyPr>
          <a:lstStyle/>
          <a:p>
            <a:pPr marL="384048" indent="-310896">
              <a:spcBef>
                <a:spcPts val="0"/>
              </a:spcBef>
              <a:spcAft>
                <a:spcPts val="2200"/>
              </a:spcAft>
              <a:buFont typeface="NVIDIA Sans"/>
              <a:buChar char="•"/>
            </a:pPr>
            <a:r>
              <a:rPr sz="3800" b="0">
                <a:solidFill>
                  <a:srgbClr val="000000"/>
                </a:solidFill>
                <a:latin typeface="NVIDIA Sans"/>
              </a:rPr>
              <a:t>8 × PRO 5000 GPUs (SM120)</a:t>
            </a:r>
          </a:p>
          <a:p>
            <a:pPr marL="384048" indent="-310896">
              <a:spcBef>
                <a:spcPts val="0"/>
              </a:spcBef>
              <a:spcAft>
                <a:spcPts val="2200"/>
              </a:spcAft>
              <a:buFont typeface="NVIDIA Sans"/>
              <a:buChar char="•"/>
            </a:pPr>
            <a:r>
              <a:rPr sz="3800" b="0">
                <a:solidFill>
                  <a:srgbClr val="000000"/>
                </a:solidFill>
                <a:latin typeface="NVIDIA Sans"/>
              </a:rPr>
              <a:t>Original Ref2VA</a:t>
            </a:r>
          </a:p>
          <a:p>
            <a:pPr marL="384048" indent="-310896">
              <a:spcBef>
                <a:spcPts val="0"/>
              </a:spcBef>
              <a:spcAft>
                <a:spcPts val="2200"/>
              </a:spcAft>
              <a:buFont typeface="NVIDIA Sans"/>
              <a:buChar char="•"/>
            </a:pPr>
            <a:r>
              <a:rPr sz="3800" b="0">
                <a:solidFill>
                  <a:srgbClr val="000000"/>
                </a:solidFill>
                <a:latin typeface="NVIDIA Sans"/>
              </a:rPr>
              <a:t>50 steps · BF16 · dense attention</a:t>
            </a:r>
          </a:p>
          <a:p>
            <a:pPr marL="384048" indent="-310896">
              <a:spcBef>
                <a:spcPts val="0"/>
              </a:spcBef>
              <a:spcAft>
                <a:spcPts val="2200"/>
              </a:spcAft>
              <a:buFont typeface="NVIDIA Sans"/>
              <a:buChar char="•"/>
            </a:pPr>
            <a:r>
              <a:rPr sz="3800" b="0">
                <a:solidFill>
                  <a:srgbClr val="000000"/>
                </a:solidFill>
                <a:latin typeface="NVIDIA Sans"/>
              </a:rPr>
              <a:t>DiT TP1 / Ulysses8</a:t>
            </a:r>
          </a:p>
          <a:p>
            <a:pPr marL="384048" indent="-310896">
              <a:spcBef>
                <a:spcPts val="0"/>
              </a:spcBef>
              <a:spcAft>
                <a:spcPts val="2200"/>
              </a:spcAft>
              <a:buFont typeface="NVIDIA Sans"/>
              <a:buChar char="•"/>
            </a:pPr>
            <a:r>
              <a:rPr sz="3800" b="0">
                <a:solidFill>
                  <a:srgbClr val="000000"/>
                </a:solidFill>
                <a:latin typeface="NVIDIA Sans"/>
              </a:rPr>
              <a:t>Text encoder TP8 · VAE tiles8</a:t>
            </a:r>
          </a:p>
          <a:p>
            <a:pPr marL="384048" indent="-310896">
              <a:spcBef>
                <a:spcPts val="0"/>
              </a:spcBef>
              <a:spcAft>
                <a:spcPts val="2200"/>
              </a:spcAft>
              <a:buFont typeface="NVIDIA Sans"/>
              <a:buChar char="•"/>
            </a:pPr>
            <a:r>
              <a:rPr sz="3800" b="0">
                <a:solidFill>
                  <a:srgbClr val="000000"/>
                </a:solidFill>
                <a:latin typeface="NVIDIA Sans"/>
              </a:rPr>
              <a:t>Native VAE · FP16 decode</a:t>
            </a:r>
          </a:p>
        </p:txBody>
      </p:sp>
      <p:sp>
        <p:nvSpPr>
          <p:cNvPr id="7" name="GPU heading"/>
          <p:cNvSpPr txBox="1"/>
          <p:nvPr/>
        </p:nvSpPr>
        <p:spPr>
          <a:xfrm>
            <a:off x="15087600" y="5349240"/>
            <a:ext cx="196596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GPU work by operator</a:t>
            </a:r>
          </a:p>
        </p:txBody>
      </p:sp>
      <p:sp>
        <p:nvSpPr>
          <p:cNvPr id="8" name="GPU time column"/>
          <p:cNvSpPr txBox="1"/>
          <p:nvPr/>
        </p:nvSpPr>
        <p:spPr>
          <a:xfrm>
            <a:off x="26791920" y="6537960"/>
            <a:ext cx="493776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Mean s / GPU</a:t>
            </a:r>
          </a:p>
        </p:txBody>
      </p:sp>
      <p:sp>
        <p:nvSpPr>
          <p:cNvPr id="9" name="GPU share column"/>
          <p:cNvSpPr txBox="1"/>
          <p:nvPr/>
        </p:nvSpPr>
        <p:spPr>
          <a:xfrm>
            <a:off x="31912560" y="6537960"/>
            <a:ext cx="2834640" cy="548640"/>
          </a:xfrm>
          <a:prstGeom prst="rect">
            <a:avLst/>
          </a:prstGeom>
          <a:noFill/>
        </p:spPr>
        <p:txBody>
          <a:bodyPr wrap="square" lIns="0" rIns="0" tIns="0" bIns="0">
            <a:spAutoFit/>
          </a:bodyPr>
          <a:lstStyle/>
          <a:p>
            <a:pPr algn="r">
              <a:spcBef>
                <a:spcPts val="0"/>
              </a:spcBef>
              <a:spcAft>
                <a:spcPts val="0"/>
              </a:spcAft>
            </a:pPr>
            <a:r>
              <a:rPr sz="2400" b="0">
                <a:solidFill>
                  <a:srgbClr val="313131"/>
                </a:solidFill>
                <a:latin typeface="NVIDIA Sans"/>
              </a:rPr>
              <a:t>Share</a:t>
            </a:r>
          </a:p>
        </p:txBody>
      </p:sp>
      <p:sp>
        <p:nvSpPr>
          <p:cNvPr id="10" name="GPU category 0"/>
          <p:cNvSpPr txBox="1"/>
          <p:nvPr/>
        </p:nvSpPr>
        <p:spPr>
          <a:xfrm>
            <a:off x="15087600" y="758952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NCCL · includes waiting</a:t>
            </a:r>
          </a:p>
        </p:txBody>
      </p:sp>
      <p:sp>
        <p:nvSpPr>
          <p:cNvPr id="11" name="GPU seconds 0"/>
          <p:cNvSpPr txBox="1"/>
          <p:nvPr/>
        </p:nvSpPr>
        <p:spPr>
          <a:xfrm>
            <a:off x="27157680" y="758952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122.182</a:t>
            </a:r>
          </a:p>
        </p:txBody>
      </p:sp>
      <p:sp>
        <p:nvSpPr>
          <p:cNvPr id="12" name="GPU share 0"/>
          <p:cNvSpPr txBox="1"/>
          <p:nvPr/>
        </p:nvSpPr>
        <p:spPr>
          <a:xfrm>
            <a:off x="31729680" y="758952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57.21%</a:t>
            </a:r>
          </a:p>
        </p:txBody>
      </p:sp>
      <p:sp>
        <p:nvSpPr>
          <p:cNvPr id="13" name="GPU bar track 0"/>
          <p:cNvSpPr/>
          <p:nvPr/>
        </p:nvSpPr>
        <p:spPr>
          <a:xfrm>
            <a:off x="15087600" y="848563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GPU bar 0"/>
          <p:cNvSpPr/>
          <p:nvPr/>
        </p:nvSpPr>
        <p:spPr>
          <a:xfrm>
            <a:off x="15087600" y="8485632"/>
            <a:ext cx="11248043" cy="9144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GPU category 1"/>
          <p:cNvSpPr txBox="1"/>
          <p:nvPr/>
        </p:nvSpPr>
        <p:spPr>
          <a:xfrm>
            <a:off x="15087600" y="897940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Attention</a:t>
            </a:r>
          </a:p>
        </p:txBody>
      </p:sp>
      <p:sp>
        <p:nvSpPr>
          <p:cNvPr id="16" name="GPU seconds 1"/>
          <p:cNvSpPr txBox="1"/>
          <p:nvPr/>
        </p:nvSpPr>
        <p:spPr>
          <a:xfrm>
            <a:off x="27157680" y="897940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47.105</a:t>
            </a:r>
          </a:p>
        </p:txBody>
      </p:sp>
      <p:sp>
        <p:nvSpPr>
          <p:cNvPr id="17" name="GPU share 1"/>
          <p:cNvSpPr txBox="1"/>
          <p:nvPr/>
        </p:nvSpPr>
        <p:spPr>
          <a:xfrm>
            <a:off x="31729680" y="897940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22.06%</a:t>
            </a:r>
          </a:p>
        </p:txBody>
      </p:sp>
      <p:sp>
        <p:nvSpPr>
          <p:cNvPr id="18" name="GPU bar track 1"/>
          <p:cNvSpPr/>
          <p:nvPr/>
        </p:nvSpPr>
        <p:spPr>
          <a:xfrm>
            <a:off x="15087600" y="987552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GPU bar 1"/>
          <p:cNvSpPr/>
          <p:nvPr/>
        </p:nvSpPr>
        <p:spPr>
          <a:xfrm>
            <a:off x="15087600" y="9875520"/>
            <a:ext cx="4336525"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GPU category 2"/>
          <p:cNvSpPr txBox="1"/>
          <p:nvPr/>
        </p:nvSpPr>
        <p:spPr>
          <a:xfrm>
            <a:off x="15087600" y="1036929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Medium"/>
              </a:rPr>
              <a:t>GEMM</a:t>
            </a:r>
          </a:p>
        </p:txBody>
      </p:sp>
      <p:sp>
        <p:nvSpPr>
          <p:cNvPr id="21" name="GPU seconds 2"/>
          <p:cNvSpPr txBox="1"/>
          <p:nvPr/>
        </p:nvSpPr>
        <p:spPr>
          <a:xfrm>
            <a:off x="27157680" y="1036929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39.650</a:t>
            </a:r>
          </a:p>
        </p:txBody>
      </p:sp>
      <p:sp>
        <p:nvSpPr>
          <p:cNvPr id="22" name="GPU share 2"/>
          <p:cNvSpPr txBox="1"/>
          <p:nvPr/>
        </p:nvSpPr>
        <p:spPr>
          <a:xfrm>
            <a:off x="31729680" y="1036929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Medium"/>
              </a:rPr>
              <a:t>18.57%</a:t>
            </a:r>
          </a:p>
        </p:txBody>
      </p:sp>
      <p:sp>
        <p:nvSpPr>
          <p:cNvPr id="23" name="GPU bar track 2"/>
          <p:cNvSpPr/>
          <p:nvPr/>
        </p:nvSpPr>
        <p:spPr>
          <a:xfrm>
            <a:off x="15087600" y="1126540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bar 2"/>
          <p:cNvSpPr/>
          <p:nvPr/>
        </p:nvSpPr>
        <p:spPr>
          <a:xfrm>
            <a:off x="15087600" y="11265408"/>
            <a:ext cx="3650143"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GPU category 3"/>
          <p:cNvSpPr txBox="1"/>
          <p:nvPr/>
        </p:nvSpPr>
        <p:spPr>
          <a:xfrm>
            <a:off x="15087600" y="11759184"/>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Norm / activation / elementwise</a:t>
            </a:r>
          </a:p>
        </p:txBody>
      </p:sp>
      <p:sp>
        <p:nvSpPr>
          <p:cNvPr id="26" name="GPU seconds 3"/>
          <p:cNvSpPr txBox="1"/>
          <p:nvPr/>
        </p:nvSpPr>
        <p:spPr>
          <a:xfrm>
            <a:off x="27157680" y="11759184"/>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2.288</a:t>
            </a:r>
          </a:p>
        </p:txBody>
      </p:sp>
      <p:sp>
        <p:nvSpPr>
          <p:cNvPr id="27" name="GPU share 3"/>
          <p:cNvSpPr txBox="1"/>
          <p:nvPr/>
        </p:nvSpPr>
        <p:spPr>
          <a:xfrm>
            <a:off x="31729680" y="11759184"/>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1.07%</a:t>
            </a:r>
          </a:p>
        </p:txBody>
      </p:sp>
      <p:sp>
        <p:nvSpPr>
          <p:cNvPr id="28" name="GPU bar track 3"/>
          <p:cNvSpPr/>
          <p:nvPr/>
        </p:nvSpPr>
        <p:spPr>
          <a:xfrm>
            <a:off x="15087600" y="12655296"/>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GPU bar 3"/>
          <p:cNvSpPr/>
          <p:nvPr/>
        </p:nvSpPr>
        <p:spPr>
          <a:xfrm>
            <a:off x="15087600" y="12655296"/>
            <a:ext cx="210601"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GPU category 4"/>
          <p:cNvSpPr txBox="1"/>
          <p:nvPr/>
        </p:nvSpPr>
        <p:spPr>
          <a:xfrm>
            <a:off x="15087600" y="13149072"/>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Layout / device copies</a:t>
            </a:r>
          </a:p>
        </p:txBody>
      </p:sp>
      <p:sp>
        <p:nvSpPr>
          <p:cNvPr id="31" name="GPU seconds 4"/>
          <p:cNvSpPr txBox="1"/>
          <p:nvPr/>
        </p:nvSpPr>
        <p:spPr>
          <a:xfrm>
            <a:off x="27157680" y="13149072"/>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1.929</a:t>
            </a:r>
          </a:p>
        </p:txBody>
      </p:sp>
      <p:sp>
        <p:nvSpPr>
          <p:cNvPr id="32" name="GPU share 4"/>
          <p:cNvSpPr txBox="1"/>
          <p:nvPr/>
        </p:nvSpPr>
        <p:spPr>
          <a:xfrm>
            <a:off x="31729680" y="13149072"/>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0.90%</a:t>
            </a:r>
          </a:p>
        </p:txBody>
      </p:sp>
      <p:sp>
        <p:nvSpPr>
          <p:cNvPr id="33" name="GPU bar track 4"/>
          <p:cNvSpPr/>
          <p:nvPr/>
        </p:nvSpPr>
        <p:spPr>
          <a:xfrm>
            <a:off x="15087600" y="14045184"/>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GPU bar 4"/>
          <p:cNvSpPr/>
          <p:nvPr/>
        </p:nvSpPr>
        <p:spPr>
          <a:xfrm>
            <a:off x="15087600" y="14045184"/>
            <a:ext cx="177549"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GPU category 5"/>
          <p:cNvSpPr txBox="1"/>
          <p:nvPr/>
        </p:nvSpPr>
        <p:spPr>
          <a:xfrm>
            <a:off x="15087600" y="14538960"/>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CUDA memcpy / memset</a:t>
            </a:r>
          </a:p>
        </p:txBody>
      </p:sp>
      <p:sp>
        <p:nvSpPr>
          <p:cNvPr id="36" name="GPU seconds 5"/>
          <p:cNvSpPr txBox="1"/>
          <p:nvPr/>
        </p:nvSpPr>
        <p:spPr>
          <a:xfrm>
            <a:off x="27157680" y="14538960"/>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0.064</a:t>
            </a:r>
          </a:p>
        </p:txBody>
      </p:sp>
      <p:sp>
        <p:nvSpPr>
          <p:cNvPr id="37" name="GPU share 5"/>
          <p:cNvSpPr txBox="1"/>
          <p:nvPr/>
        </p:nvSpPr>
        <p:spPr>
          <a:xfrm>
            <a:off x="31729680" y="14538960"/>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0.03%</a:t>
            </a:r>
          </a:p>
        </p:txBody>
      </p:sp>
      <p:sp>
        <p:nvSpPr>
          <p:cNvPr id="38" name="GPU bar track 5"/>
          <p:cNvSpPr/>
          <p:nvPr/>
        </p:nvSpPr>
        <p:spPr>
          <a:xfrm>
            <a:off x="15087600" y="15435072"/>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GPU bar 5"/>
          <p:cNvSpPr/>
          <p:nvPr/>
        </p:nvSpPr>
        <p:spPr>
          <a:xfrm>
            <a:off x="15087600" y="15435072"/>
            <a:ext cx="5872"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category 6"/>
          <p:cNvSpPr txBox="1"/>
          <p:nvPr/>
        </p:nvSpPr>
        <p:spPr>
          <a:xfrm>
            <a:off x="15087600" y="15928848"/>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Convolution</a:t>
            </a:r>
          </a:p>
        </p:txBody>
      </p:sp>
      <p:sp>
        <p:nvSpPr>
          <p:cNvPr id="41" name="GPU seconds 6"/>
          <p:cNvSpPr txBox="1"/>
          <p:nvPr/>
        </p:nvSpPr>
        <p:spPr>
          <a:xfrm>
            <a:off x="27157680" y="15928848"/>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0.192</a:t>
            </a:r>
          </a:p>
        </p:txBody>
      </p:sp>
      <p:sp>
        <p:nvSpPr>
          <p:cNvPr id="42" name="GPU share 6"/>
          <p:cNvSpPr txBox="1"/>
          <p:nvPr/>
        </p:nvSpPr>
        <p:spPr>
          <a:xfrm>
            <a:off x="31729680" y="15928848"/>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0.09%</a:t>
            </a:r>
          </a:p>
        </p:txBody>
      </p:sp>
      <p:sp>
        <p:nvSpPr>
          <p:cNvPr id="43" name="GPU bar track 6"/>
          <p:cNvSpPr/>
          <p:nvPr/>
        </p:nvSpPr>
        <p:spPr>
          <a:xfrm>
            <a:off x="15087600" y="16824960"/>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GPU bar 6"/>
          <p:cNvSpPr/>
          <p:nvPr/>
        </p:nvSpPr>
        <p:spPr>
          <a:xfrm>
            <a:off x="15087600" y="16824960"/>
            <a:ext cx="17657"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GPU category 7"/>
          <p:cNvSpPr txBox="1"/>
          <p:nvPr/>
        </p:nvSpPr>
        <p:spPr>
          <a:xfrm>
            <a:off x="15087600" y="17318736"/>
            <a:ext cx="11430000" cy="685800"/>
          </a:xfrm>
          <a:prstGeom prst="rect">
            <a:avLst/>
          </a:prstGeom>
          <a:noFill/>
        </p:spPr>
        <p:txBody>
          <a:bodyPr wrap="square" lIns="0" rIns="0" tIns="0" bIns="0">
            <a:spAutoFit/>
          </a:bodyPr>
          <a:lstStyle/>
          <a:p>
            <a:pPr>
              <a:spcBef>
                <a:spcPts val="0"/>
              </a:spcBef>
              <a:spcAft>
                <a:spcPts val="0"/>
              </a:spcAft>
            </a:pPr>
            <a:r>
              <a:rPr sz="3200" b="0">
                <a:solidFill>
                  <a:srgbClr val="000000"/>
                </a:solidFill>
                <a:latin typeface="NVIDIA Sans"/>
              </a:rPr>
              <a:t>Other kernels</a:t>
            </a:r>
          </a:p>
        </p:txBody>
      </p:sp>
      <p:sp>
        <p:nvSpPr>
          <p:cNvPr id="46" name="GPU seconds 7"/>
          <p:cNvSpPr txBox="1"/>
          <p:nvPr/>
        </p:nvSpPr>
        <p:spPr>
          <a:xfrm>
            <a:off x="27157680" y="17318736"/>
            <a:ext cx="4114800" cy="685800"/>
          </a:xfrm>
          <a:prstGeom prst="rect">
            <a:avLst/>
          </a:prstGeom>
          <a:noFill/>
        </p:spPr>
        <p:txBody>
          <a:bodyPr wrap="square" lIns="0" rIns="0" tIns="0" bIns="0">
            <a:spAutoFit/>
          </a:bodyPr>
          <a:lstStyle/>
          <a:p>
            <a:pPr algn="r">
              <a:spcBef>
                <a:spcPts val="0"/>
              </a:spcBef>
              <a:spcAft>
                <a:spcPts val="0"/>
              </a:spcAft>
            </a:pPr>
            <a:r>
              <a:rPr sz="3200" b="0">
                <a:solidFill>
                  <a:srgbClr val="000000"/>
                </a:solidFill>
                <a:latin typeface="NVIDIA Sans"/>
              </a:rPr>
              <a:t>0.143</a:t>
            </a:r>
          </a:p>
        </p:txBody>
      </p:sp>
      <p:sp>
        <p:nvSpPr>
          <p:cNvPr id="47" name="GPU share 7"/>
          <p:cNvSpPr txBox="1"/>
          <p:nvPr/>
        </p:nvSpPr>
        <p:spPr>
          <a:xfrm>
            <a:off x="31729680" y="17318736"/>
            <a:ext cx="3017520" cy="685800"/>
          </a:xfrm>
          <a:prstGeom prst="rect">
            <a:avLst/>
          </a:prstGeom>
          <a:noFill/>
        </p:spPr>
        <p:txBody>
          <a:bodyPr wrap="square" lIns="0" rIns="0" tIns="0" bIns="0">
            <a:spAutoFit/>
          </a:bodyPr>
          <a:lstStyle/>
          <a:p>
            <a:pPr algn="r">
              <a:spcBef>
                <a:spcPts val="0"/>
              </a:spcBef>
              <a:spcAft>
                <a:spcPts val="0"/>
              </a:spcAft>
            </a:pPr>
            <a:r>
              <a:rPr sz="3400" b="0">
                <a:solidFill>
                  <a:srgbClr val="000000"/>
                </a:solidFill>
                <a:latin typeface="NVIDIA Sans"/>
              </a:rPr>
              <a:t>0.07%</a:t>
            </a:r>
          </a:p>
        </p:txBody>
      </p:sp>
      <p:sp>
        <p:nvSpPr>
          <p:cNvPr id="48" name="GPU bar track 7"/>
          <p:cNvSpPr/>
          <p:nvPr/>
        </p:nvSpPr>
        <p:spPr>
          <a:xfrm>
            <a:off x="15087600" y="18214848"/>
            <a:ext cx="19659600" cy="91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GPU bar 7"/>
          <p:cNvSpPr/>
          <p:nvPr/>
        </p:nvSpPr>
        <p:spPr>
          <a:xfrm>
            <a:off x="15087600" y="18214848"/>
            <a:ext cx="13204" cy="9144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Accounting not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Nsight GPU work includes overlap and waiting; shares exclude CPU work and idle gaps.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452360"/>
            <a:ext cx="13716000" cy="11109960"/>
          </a:xfrm>
        </p:spPr>
        <p:txBody>
          <a:bodyPr wrap="square" lIns="0" rIns="0" tIns="0" bIns="0"/>
          <a:lstStyle/>
          <a:p>
            <a:pPr lvl="1" algn="l"/>
            <a:r>
              <a:rPr b="0">
                <a:solidFill>
                  <a:srgbClr val="313131"/>
                </a:solidFill>
                <a:latin typeface="NVIDIA Sans"/>
              </a:rPr>
              <a:t>Base H3 calls the full DiT 50 times. Each call predicts one short interval, updates the latent, and provides the starting point for the next call</a:t>
            </a:r>
          </a:p>
          <a:p>
            <a:pPr lvl="1" algn="l"/>
            <a:r>
              <a:rPr b="0">
                <a:solidFill>
                  <a:srgbClr val="313131"/>
                </a:solidFill>
                <a:latin typeface="NVIDIA Sans"/>
              </a:rPr>
              <a:t>PDD uses Base H3 as the teacher and trains a student on groups of four adjacent denoising intervals</a:t>
            </a:r>
          </a:p>
          <a:p>
            <a:pPr lvl="1" algn="l"/>
            <a:r>
              <a:rPr b="0">
                <a:solidFill>
                  <a:srgbClr val="313131"/>
                </a:solidFill>
                <a:latin typeface="NVIDIA Sans"/>
              </a:rPr>
              <a:t>One student call predicts four consecutive directions from the same noisy latent</a:t>
            </a:r>
          </a:p>
          <a:p>
            <a:pPr lvl="1" algn="l"/>
            <a:r>
              <a:rPr b="0">
                <a:solidFill>
                  <a:srgbClr val="313131"/>
                </a:solidFill>
                <a:latin typeface="NVIDIA Sans"/>
              </a:rPr>
              <a:t>The solver combines those directions, advances the latent, and invokes the student again</a:t>
            </a:r>
          </a:p>
          <a:p>
            <a:pPr lvl="1" algn="l"/>
            <a:r>
              <a:rPr b="0">
                <a:solidFill>
                  <a:srgbClr val="313131"/>
                </a:solidFill>
                <a:latin typeface="NVIDIA Sans"/>
              </a:rPr>
              <a:t>The released H3 schedule covers 32 fine intervals in eight student calls</a:t>
            </a:r>
          </a:p>
          <a:p>
            <a:pPr lvl="1" algn="l"/>
            <a:r>
              <a:rPr b="1">
                <a:solidFill>
                  <a:srgbClr val="76B900"/>
                </a:solidFill>
                <a:latin typeface="NVIDIA Sans Medium"/>
              </a:rPr>
              <a:t>DiT calls fall from 50 to 8; block passes fall from 2,500 to 400 (−84%)</a:t>
            </a:r>
          </a:p>
        </p:txBody>
      </p:sp>
      <p:sp>
        <p:nvSpPr>
          <p:cNvPr id="3" name="Text Placeholder 2"/>
          <p:cNvSpPr>
            <a:spLocks noGrp="1"/>
          </p:cNvSpPr>
          <p:nvPr>
            <p:ph type="body" idx="14" sz="quarter"/>
          </p:nvPr>
        </p:nvSpPr>
        <p:spPr>
          <a:xfrm>
            <a:off x="1828800" y="5806440"/>
            <a:ext cx="13716000" cy="1691640"/>
          </a:xfrm>
        </p:spPr>
        <p:txBody>
          <a:bodyPr/>
          <a:lstStyle/>
          <a:p>
            <a:r>
              <a:t>PDD predicts four intervals per call, reducing 50 calls to eight</a:t>
            </a:r>
          </a:p>
        </p:txBody>
      </p:sp>
      <p:sp>
        <p:nvSpPr>
          <p:cNvPr id="4" name="Title 3"/>
          <p:cNvSpPr>
            <a:spLocks noGrp="1"/>
          </p:cNvSpPr>
          <p:nvPr>
            <p:ph type="title"/>
          </p:nvPr>
        </p:nvSpPr>
        <p:spPr>
          <a:xfrm>
            <a:off x="1828800" y="1828800"/>
            <a:ext cx="13716000" cy="3840480"/>
          </a:xfrm>
        </p:spPr>
        <p:txBody>
          <a:bodyPr/>
          <a:lstStyle/>
          <a:p>
            <a:r>
              <a:t>Few-Step Distillation</a:t>
            </a:r>
          </a:p>
        </p:txBody>
      </p:sp>
      <p:sp>
        <p:nvSpPr>
          <p:cNvPr id="5" name="Text Placeholder 4"/>
          <p:cNvSpPr>
            <a:spLocks noGrp="1"/>
          </p:cNvSpPr>
          <p:nvPr>
            <p:ph type="body" idx="52" sz="quarter"/>
          </p:nvPr>
        </p:nvSpPr>
        <p:spPr/>
        <p:txBody>
          <a:bodyPr/>
          <a:lstStyle/>
          <a:p>
            <a:r>
              <a:t>Paper example: N = 12, L = 4 · H3 PDD8: N = 32, L = 4</a:t>
            </a:r>
          </a:p>
        </p:txBody>
      </p:sp>
      <p:sp>
        <p:nvSpPr>
          <p:cNvPr id="6" name="Text Placeholder 5"/>
          <p:cNvSpPr>
            <a:spLocks noGrp="1"/>
          </p:cNvSpPr>
          <p:nvPr>
            <p:ph type="body" idx="51" sz="quarter"/>
          </p:nvPr>
        </p:nvSpPr>
        <p:spPr>
          <a:xfrm>
            <a:off x="19552660" y="17241080"/>
            <a:ext cx="15194539" cy="859536"/>
          </a:xfrm>
        </p:spPr>
        <p:txBody>
          <a:bodyPr/>
          <a:lstStyle/>
          <a:p>
            <a:r>
              <a:t>N = fine intervals · L = intervals predicted in parallel</a:t>
            </a:r>
          </a:p>
        </p:txBody>
      </p:sp>
      <p:pic>
        <p:nvPicPr>
          <p:cNvPr id="7" name="Picture Placeholder 6" descr="pdd-nvidia-figure2-pd-sketch-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Sources: NVIDIA FastGen-PDD, Fig. 2 (arXiv:2607.26004) · Alibaba-PAI MiniMax-H3 Ref2VA Acc-8Step @ 335001f</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24</a:t>
            </a:fld>
            <a:endParaRPr lang="en-US"/>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20" sz="quarter"/>
          </p:nvPr>
        </p:nvSpPr>
        <p:spPr>
          <a:xfrm>
            <a:off x="1828800" y="7772400"/>
            <a:ext cx="13716000" cy="10789920"/>
          </a:xfrm>
        </p:spPr>
        <p:txBody>
          <a:bodyPr wrap="square" lIns="0" rIns="0" tIns="0" bIns="0"/>
          <a:lstStyle/>
          <a:p>
            <a:pPr algn="l"/>
            <a:r>
              <a:rPr b="1">
                <a:solidFill>
                  <a:srgbClr val="76B900"/>
                </a:solidFill>
                <a:latin typeface="NVIDIA Sans Medium"/>
              </a:rPr>
              <a:t>Predict important regions cheaply</a:t>
            </a:r>
          </a:p>
          <a:p>
            <a:pPr lvl="1" algn="l"/>
            <a:r>
              <a:rPr b="0">
                <a:solidFill>
                  <a:srgbClr val="313131"/>
                </a:solidFill>
                <a:latin typeface="NVIDIA Sans"/>
              </a:rPr>
              <a:t>Pool spatiotemporal cubes and run global attention on the shorter sequence</a:t>
            </a:r>
          </a:p>
          <a:p>
            <a:pPr algn="l"/>
            <a:r>
              <a:rPr b="1">
                <a:solidFill>
                  <a:srgbClr val="76B900"/>
                </a:solidFill>
                <a:latin typeface="NVIDIA Sans Medium"/>
              </a:rPr>
              <a:t>Select content-dependent blocks</a:t>
            </a:r>
          </a:p>
          <a:p>
            <a:pPr lvl="1" algn="l"/>
            <a:r>
              <a:rPr b="0">
                <a:solidFill>
                  <a:srgbClr val="313131"/>
                </a:solidFill>
                <a:latin typeface="NVIDIA Sans"/>
              </a:rPr>
              <a:t>Per-query Top-K cube scores choose which K/V regions to visit</a:t>
            </a:r>
          </a:p>
          <a:p>
            <a:pPr algn="l"/>
            <a:r>
              <a:rPr b="1">
                <a:solidFill>
                  <a:srgbClr val="76B900"/>
                </a:solidFill>
                <a:latin typeface="NVIDIA Sans Medium"/>
              </a:rPr>
              <a:t>Spend fine attention on selected detail</a:t>
            </a:r>
          </a:p>
          <a:p>
            <a:pPr lvl="1" algn="l"/>
            <a:r>
              <a:rPr b="0">
                <a:solidFill>
                  <a:srgbClr val="313131"/>
                </a:solidFill>
                <a:latin typeface="NVIDIA Sans"/>
              </a:rPr>
              <a:t>Compute token attention inside the chosen blocks; skip the rest</a:t>
            </a:r>
          </a:p>
          <a:p>
            <a:pPr algn="l"/>
            <a:r>
              <a:rPr b="1">
                <a:solidFill>
                  <a:srgbClr val="76B900"/>
                </a:solidFill>
                <a:latin typeface="NVIDIA Sans Medium"/>
              </a:rPr>
              <a:t>Keep global context and local detail</a:t>
            </a:r>
          </a:p>
          <a:p>
            <a:pPr lvl="1" algn="l"/>
            <a:r>
              <a:rPr b="0">
                <a:solidFill>
                  <a:srgbClr val="313131"/>
                </a:solidFill>
                <a:latin typeface="NVIDIA Sans"/>
              </a:rPr>
              <a:t>Learned gates combine coarse and fine outputs</a:t>
            </a:r>
          </a:p>
        </p:txBody>
      </p:sp>
      <p:sp>
        <p:nvSpPr>
          <p:cNvPr id="3" name="Text Placeholder 2"/>
          <p:cNvSpPr>
            <a:spLocks noGrp="1"/>
          </p:cNvSpPr>
          <p:nvPr>
            <p:ph type="body" idx="14" sz="quarter"/>
          </p:nvPr>
        </p:nvSpPr>
        <p:spPr>
          <a:xfrm>
            <a:off x="1828800" y="5806440"/>
            <a:ext cx="13716000" cy="1645920"/>
          </a:xfrm>
        </p:spPr>
        <p:txBody>
          <a:bodyPr/>
          <a:lstStyle/>
          <a:p>
            <a:r>
              <a:t>Coarse attention finds relevant cubes; fine attention resolves token-level detail</a:t>
            </a:r>
          </a:p>
        </p:txBody>
      </p:sp>
      <p:sp>
        <p:nvSpPr>
          <p:cNvPr id="4" name="Title 3"/>
          <p:cNvSpPr>
            <a:spLocks noGrp="1"/>
          </p:cNvSpPr>
          <p:nvPr>
            <p:ph type="title"/>
          </p:nvPr>
        </p:nvSpPr>
        <p:spPr>
          <a:xfrm>
            <a:off x="1828800" y="1828800"/>
            <a:ext cx="13716000" cy="3840480"/>
          </a:xfrm>
        </p:spPr>
        <p:txBody>
          <a:bodyPr/>
          <a:lstStyle/>
          <a:p>
            <a:r>
              <a:t>Sparse Attention</a:t>
            </a:r>
          </a:p>
        </p:txBody>
      </p:sp>
      <p:sp>
        <p:nvSpPr>
          <p:cNvPr id="5" name="Text Placeholder 4"/>
          <p:cNvSpPr>
            <a:spLocks noGrp="1"/>
          </p:cNvSpPr>
          <p:nvPr>
            <p:ph type="body" idx="52" sz="quarter"/>
          </p:nvPr>
        </p:nvSpPr>
        <p:spPr>
          <a:xfrm>
            <a:off x="19552660" y="18059400"/>
            <a:ext cx="15194539" cy="1051560"/>
          </a:xfrm>
        </p:spPr>
        <p:txBody>
          <a:bodyPr/>
          <a:lstStyle/>
          <a:p>
            <a:pPr algn="ctr"/>
            <a:r>
              <a:t>Elementwise products · global coarse + selected fine</a:t>
            </a:r>
            <a:br/>
            <a:r>
              <a:t>FastH3 sets G_f = 1</a:t>
            </a:r>
          </a:p>
        </p:txBody>
      </p:sp>
      <p:sp>
        <p:nvSpPr>
          <p:cNvPr id="6" name="Text Placeholder 5"/>
          <p:cNvSpPr>
            <a:spLocks noGrp="1"/>
          </p:cNvSpPr>
          <p:nvPr>
            <p:ph type="body" idx="51" sz="quarter"/>
          </p:nvPr>
        </p:nvSpPr>
        <p:spPr>
          <a:xfrm>
            <a:off x="19552660" y="17190720"/>
            <a:ext cx="15194539" cy="822960"/>
          </a:xfrm>
        </p:spPr>
        <p:txBody>
          <a:bodyPr/>
          <a:lstStyle/>
          <a:p>
            <a:r>
              <a:rPr sz="3600" b="1">
                <a:solidFill>
                  <a:srgbClr val="76B900"/>
                </a:solidFill>
                <a:latin typeface="NVIDIA Sans Medium"/>
              </a:rPr>
              <a:t>O = O_c * G_c + O_f * G_f</a:t>
            </a:r>
          </a:p>
        </p:txBody>
      </p:sp>
      <p:pic>
        <p:nvPicPr>
          <p:cNvPr id="7" name="Picture Placeholder 6" descr="vsa-figure1-architecture-square.png"/>
          <p:cNvPicPr>
            <a:picLocks noGrp="1" noChangeAspect="1"/>
          </p:cNvPicPr>
          <p:nvPr>
            <p:ph type="pic" idx="53" sz="quarter"/>
          </p:nvPr>
        </p:nvPicPr>
        <p:blipFill>
          <a:blip r:embed="rId3"/>
          <a:srcRect t="51" b="51"/>
          <a:stretch>
            <a:fillRect/>
          </a:stretch>
        </p:blipFill>
        <p:spPr>
          <a:ln w="9525">
            <a:solidFill>
              <a:srgbClr val="A7A7A7"/>
            </a:solidFill>
          </a:ln>
        </p:spPr>
      </p:pic>
      <p:sp>
        <p:nvSpPr>
          <p:cNvPr id="8" name="Footer Placeholder">
            <a:extLst>
              <a:ext uri="{FF2B5EF4-FFF2-40B4-BE49-F238E27FC236}">
                <a16:creationId xmlns:a16="http://schemas.microsoft.com/office/drawing/2014/main" id="{0E4A60D0-5397-ABC9-FE03-087E7A6EB45B}"/>
              </a:ext>
            </a:extLst>
          </p:cNvPr>
          <p:cNvSpPr>
            <a:spLocks noGrp="1"/>
          </p:cNvSpPr>
          <p:nvPr>
            <p:ph type="ftr" sz="quarter" idx="22"/>
          </p:nvPr>
        </p:nvSpPr>
        <p:spPr/>
        <p:txBody>
          <a:bodyPr/>
          <a:lstStyle/>
          <a:p>
            <a:pPr>
              <a:lnSpc>
                <a:spcPct val="90000"/>
              </a:lnSpc>
            </a:pPr>
            <a:r>
              <a:rPr lang="en-US" sz="2000" b="0">
                <a:solidFill>
                  <a:srgbClr val="A7A7A7"/>
                </a:solidFill>
                <a:latin typeface="NVIDIA Sans"/>
              </a:rPr>
              <a:t>Source: Video Sparse Attention, arXiv:2505.13389 · Figure 1 and Section 3 · H3 uses logical tiles of 128</a:t>
            </a:r>
            <a:endParaRPr lang="en-US" dirty="0"/>
          </a:p>
        </p:txBody>
      </p:sp>
      <p:sp>
        <p:nvSpPr>
          <p:cNvPr id="9" name="Slide Number Placeholder">
            <a:extLst>
              <a:ext uri="{FF2B5EF4-FFF2-40B4-BE49-F238E27FC236}">
                <a16:creationId xmlns:a16="http://schemas.microsoft.com/office/drawing/2014/main" id="{26B4341D-16B7-2959-D364-4D9AA46989A6}"/>
              </a:ext>
            </a:extLst>
          </p:cNvPr>
          <p:cNvSpPr>
            <a:spLocks noGrp="1"/>
          </p:cNvSpPr>
          <p:nvPr>
            <p:ph type="sldNum" sz="quarter" idx="23"/>
          </p:nvPr>
        </p:nvSpPr>
        <p:spPr/>
        <p:txBody>
          <a:bodyPr/>
          <a:lstStyle/>
          <a:p>
            <a:pPr>
              <a:lnSpc>
                <a:spcPct val="90000"/>
              </a:lnSpc>
            </a:pPr>
            <a:fld id="{5D6728F8-03AC-4059-94FB-90617981AE50}" type="slidenum">
              <a:rPr lang="en-US" smtClean="0"/>
              <a:pPr/>
              <a:t>25</a:t>
            </a:fld>
            <a:endParaRPr lang="en-US"/>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An eight-forward student learns to compensate for quantization error before deployment</a:t>
            </a:r>
          </a:p>
        </p:txBody>
      </p:sp>
      <p:sp>
        <p:nvSpPr>
          <p:cNvPr id="4" name="Title 3"/>
          <p:cNvSpPr>
            <a:spLocks noGrp="1"/>
          </p:cNvSpPr>
          <p:nvPr>
            <p:ph type="title"/>
          </p:nvPr>
        </p:nvSpPr>
        <p:spPr/>
        <p:txBody>
          <a:bodyPr/>
          <a:lstStyle/>
          <a:p>
            <a:r>
              <a:t>FastH3 Omni: Quantization-Aware Distillation</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FastVideo PR #1989 · public OmniRef recipe @ ea3275d · implementation analysis, not a reproduced training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26</a:t>
            </a:fld>
            <a:endParaRPr lang="en-US"/>
          </a:p>
        </p:txBody>
      </p:sp>
      <p:pic>
        <p:nvPicPr>
          <p:cNvPr id="7" name="QAD training and execution precision" descr="qad-training-and-precisi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2363056" y="5029200"/>
            <a:ext cx="31849887" cy="11338559"/>
          </a:xfrm>
          <a:prstGeom prst="rect">
            <a:avLst/>
          </a:prstGeom>
          <a:ln w="9525">
            <a:solidFill>
              <a:srgbClr val="A7A7A7"/>
            </a:solidFill>
          </a:ln>
        </p:spPr>
      </p:pic>
      <p:sp>
        <p:nvSpPr>
          <p:cNvPr id="8" name="Few-step + four-bit inference"/>
          <p:cNvSpPr txBox="1"/>
          <p:nvPr/>
        </p:nvSpPr>
        <p:spPr>
          <a:xfrm>
            <a:off x="182880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Few-step + four-bit inference</a:t>
            </a:r>
          </a:p>
        </p:txBody>
      </p:sp>
      <p:sp>
        <p:nvSpPr>
          <p:cNvPr id="9" name="Eight model evaluations reduce sampling work. NVFP4 linears reduce numerical precision."/>
          <p:cNvSpPr txBox="1"/>
          <p:nvPr/>
        </p:nvSpPr>
        <p:spPr>
          <a:xfrm>
            <a:off x="182880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Eight model evaluations reduce sampling work. NVFP4 linears reduce numerical precision.</a:t>
            </a:r>
          </a:p>
        </p:txBody>
      </p:sp>
      <p:sp>
        <p:nvSpPr>
          <p:cNvPr id="10" name="Train through quantization"/>
          <p:cNvSpPr txBox="1"/>
          <p:nvPr/>
        </p:nvSpPr>
        <p:spPr>
          <a:xfrm>
            <a:off x="1307592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Train through quantization</a:t>
            </a:r>
          </a:p>
        </p:txBody>
      </p:sp>
      <p:sp>
        <p:nvSpPr>
          <p:cNvPr id="11" name="FP32 master weights update through STE gradients while the forward executes NVFP4."/>
          <p:cNvSpPr txBox="1"/>
          <p:nvPr/>
        </p:nvSpPr>
        <p:spPr>
          <a:xfrm>
            <a:off x="1307592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FP32 master weights update through STE gradients while the forward executes NVFP4.</a:t>
            </a:r>
          </a:p>
        </p:txBody>
      </p:sp>
      <p:sp>
        <p:nvSpPr>
          <p:cNvPr id="12" name="Deploy the student only"/>
          <p:cNvSpPr txBox="1"/>
          <p:nvPr/>
        </p:nvSpPr>
        <p:spPr>
          <a:xfrm>
            <a:off x="24323040" y="164592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Deploy the student only</a:t>
            </a:r>
          </a:p>
        </p:txBody>
      </p:sp>
      <p:sp>
        <p:nvSpPr>
          <p:cNvPr id="13" name="Teacher supervision and reconstruction losses recover quality during training; inference omits them."/>
          <p:cNvSpPr txBox="1"/>
          <p:nvPr/>
        </p:nvSpPr>
        <p:spPr>
          <a:xfrm>
            <a:off x="24323040" y="17373600"/>
            <a:ext cx="10424160" cy="1645920"/>
          </a:xfrm>
          <a:prstGeom prst="rect">
            <a:avLst/>
          </a:prstGeom>
          <a:noFill/>
        </p:spPr>
        <p:txBody>
          <a:bodyPr wrap="square" lIns="0" rIns="0" tIns="0" bIns="0">
            <a:spAutoFit/>
          </a:bodyPr>
          <a:lstStyle/>
          <a:p>
            <a:pPr algn="l">
              <a:lnSpc>
                <a:spcPct val="108000"/>
              </a:lnSpc>
              <a:spcBef>
                <a:spcPts val="0"/>
              </a:spcBef>
              <a:spcAft>
                <a:spcPts val="1200"/>
              </a:spcAft>
            </a:pPr>
            <a:r>
              <a:rPr sz="2900" b="0">
                <a:solidFill>
                  <a:srgbClr val="313131"/>
                </a:solidFill>
                <a:latin typeface="NVIDIA Sans"/>
              </a:rPr>
              <a:t>Teacher supervision and reconstruction losses recover quality during training; inference omits them.</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Single-GPU comparison · speed relative to BF16</a:t>
            </a:r>
          </a:p>
        </p:txBody>
      </p:sp>
      <p:sp>
        <p:nvSpPr>
          <p:cNvPr id="4" name="Title 3"/>
          <p:cNvSpPr>
            <a:spLocks noGrp="1"/>
          </p:cNvSpPr>
          <p:nvPr>
            <p:ph type="title"/>
          </p:nvPr>
        </p:nvSpPr>
        <p:spPr/>
        <p:txBody>
          <a:bodyPr/>
          <a:lstStyle/>
          <a:p>
            <a:r>
              <a:t>Quantization: Speed Needs a Quality Check</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Photo: James Lo / Unsplash · one scene and seed</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27</a:t>
            </a:fld>
            <a:endParaRPr lang="en-US"/>
          </a:p>
        </p:txBody>
      </p:sp>
      <p:sp>
        <p:nvSpPr>
          <p:cNvPr id="7" name="BF16 Reference"/>
          <p:cNvSpPr txBox="1"/>
          <p:nvPr/>
        </p:nvSpPr>
        <p:spPr>
          <a:xfrm>
            <a:off x="164592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BF16 Reference</a:t>
            </a:r>
          </a:p>
        </p:txBody>
      </p:sp>
      <p:pic>
        <p:nvPicPr>
          <p:cNvPr id="8" name="BF16 Reference embedded video">
            <a:hlinkClick r:id="" action="ppaction://media"/>
          </p:cNvPr>
          <p:cNvPicPr>
            <a:picLocks noChangeAspect="1"/>
          </p:cNvPicPr>
          <p:nvPr>
            <a:videoFile r:link="rId4"/>
            <p:extLst>
              <p:ext uri="{DAA4B4D4-6D71-4841-9C94-3DE7FCFB9230}">
                <p14:media xmlns:p14="http://schemas.microsoft.com/office/powerpoint/2010/main" r:embed="rId3"/>
              </p:ext>
            </p:extLst>
          </p:nvPr>
        </p:nvPicPr>
        <p:blipFill>
          <a:blip r:embed="rId5"/>
          <a:stretch>
            <a:fillRect/>
          </a:stretch>
        </p:blipFill>
        <p:spPr>
          <a:xfrm>
            <a:off x="1645920" y="8229600"/>
            <a:ext cx="8046720" cy="4598125"/>
          </a:xfrm>
          <a:prstGeom prst="rect">
            <a:avLst/>
          </a:prstGeom>
          <a:ln w="9525">
            <a:solidFill>
              <a:srgbClr val="A7A7A7"/>
            </a:solidFill>
          </a:ln>
        </p:spPr>
      </p:pic>
      <p:sp>
        <p:nvSpPr>
          <p:cNvPr id="10" name="Request: 152.58 s*"/>
          <p:cNvSpPr txBox="1"/>
          <p:nvPr/>
        </p:nvSpPr>
        <p:spPr>
          <a:xfrm>
            <a:off x="164592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313131"/>
                </a:solidFill>
                <a:latin typeface="NVIDIA Sans Medium"/>
              </a:rPr>
              <a:t>Baseline</a:t>
            </a:r>
          </a:p>
        </p:txBody>
      </p:sp>
      <p:sp>
        <p:nvSpPr>
          <p:cNvPr id="12" name="Online NVFP4"/>
          <p:cNvSpPr txBox="1"/>
          <p:nvPr/>
        </p:nvSpPr>
        <p:spPr>
          <a:xfrm>
            <a:off x="1005840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000000"/>
                </a:solidFill>
                <a:latin typeface="NVIDIA Sans Medium"/>
              </a:rPr>
              <a:t>Online NVFP4</a:t>
            </a:r>
          </a:p>
        </p:txBody>
      </p:sp>
      <p:pic>
        <p:nvPicPr>
          <p:cNvPr id="13" name="Online NVFP4 embedded video">
            <a:hlinkClick r:id="" action="ppaction://media"/>
          </p:cNvPr>
          <p:cNvPicPr>
            <a:picLocks noChangeAspect="1"/>
          </p:cNvPicPr>
          <p:nvPr>
            <a:videoFile r:link="rId7"/>
            <p:extLst>
              <p:ext uri="{DAA4B4D4-6D71-4841-9C94-3DE7FCFB9230}">
                <p14:media xmlns:p14="http://schemas.microsoft.com/office/powerpoint/2010/main" r:embed="rId6"/>
              </p:ext>
            </p:extLst>
          </p:nvPr>
        </p:nvPicPr>
        <p:blipFill>
          <a:blip r:embed="rId8"/>
          <a:stretch>
            <a:fillRect/>
          </a:stretch>
        </p:blipFill>
        <p:spPr>
          <a:xfrm>
            <a:off x="10058400" y="8229600"/>
            <a:ext cx="8046720" cy="4598125"/>
          </a:xfrm>
          <a:prstGeom prst="rect">
            <a:avLst/>
          </a:prstGeom>
          <a:ln w="9525">
            <a:solidFill>
              <a:srgbClr val="A7A7A7"/>
            </a:solidFill>
          </a:ln>
        </p:spPr>
      </p:pic>
      <p:sp>
        <p:nvSpPr>
          <p:cNvPr id="15" name="Request: 89.12 s*"/>
          <p:cNvSpPr txBox="1"/>
          <p:nvPr/>
        </p:nvSpPr>
        <p:spPr>
          <a:xfrm>
            <a:off x="1005840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1.7× faster</a:t>
            </a:r>
          </a:p>
        </p:txBody>
      </p:sp>
      <p:sp>
        <p:nvSpPr>
          <p:cNvPr id="17" name="QAD NVFP4"/>
          <p:cNvSpPr txBox="1"/>
          <p:nvPr/>
        </p:nvSpPr>
        <p:spPr>
          <a:xfrm>
            <a:off x="1847088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NVFP4</a:t>
            </a:r>
          </a:p>
        </p:txBody>
      </p:sp>
      <p:pic>
        <p:nvPicPr>
          <p:cNvPr id="18" name="QAD NVFP4 embedded video">
            <a:hlinkClick r:id="" action="ppaction://media"/>
          </p:cNvPr>
          <p:cNvPicPr>
            <a:picLocks noChangeAspect="1"/>
          </p:cNvPicPr>
          <p:nvPr>
            <a:videoFile r:link="rId10"/>
            <p:extLst>
              <p:ext uri="{DAA4B4D4-6D71-4841-9C94-3DE7FCFB9230}">
                <p14:media xmlns:p14="http://schemas.microsoft.com/office/powerpoint/2010/main" r:embed="rId9"/>
              </p:ext>
            </p:extLst>
          </p:nvPr>
        </p:nvPicPr>
        <p:blipFill>
          <a:blip r:embed="rId11"/>
          <a:stretch>
            <a:fillRect/>
          </a:stretch>
        </p:blipFill>
        <p:spPr>
          <a:xfrm>
            <a:off x="18470880" y="8229600"/>
            <a:ext cx="8046720" cy="4598125"/>
          </a:xfrm>
          <a:prstGeom prst="rect">
            <a:avLst/>
          </a:prstGeom>
          <a:ln w="9525">
            <a:solidFill>
              <a:srgbClr val="A7A7A7"/>
            </a:solidFill>
          </a:ln>
        </p:spPr>
      </p:pic>
      <p:sp>
        <p:nvSpPr>
          <p:cNvPr id="20" name="Request: 84.47 s*"/>
          <p:cNvSpPr txBox="1"/>
          <p:nvPr/>
        </p:nvSpPr>
        <p:spPr>
          <a:xfrm>
            <a:off x="1847088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1.8× faster</a:t>
            </a:r>
          </a:p>
        </p:txBody>
      </p:sp>
      <p:sp>
        <p:nvSpPr>
          <p:cNvPr id="22" name="QAD + Optimized FP4"/>
          <p:cNvSpPr txBox="1"/>
          <p:nvPr/>
        </p:nvSpPr>
        <p:spPr>
          <a:xfrm>
            <a:off x="26883360" y="6949440"/>
            <a:ext cx="8046720" cy="868680"/>
          </a:xfrm>
          <a:prstGeom prst="rect">
            <a:avLst/>
          </a:prstGeom>
          <a:noFill/>
        </p:spPr>
        <p:txBody>
          <a:bodyPr wrap="square" lIns="0" rIns="0" tIns="0" bIns="0">
            <a:spAutoFit/>
          </a:bodyPr>
          <a:lstStyle/>
          <a:p>
            <a:pPr algn="ctr">
              <a:lnSpc>
                <a:spcPct val="108000"/>
              </a:lnSpc>
              <a:spcBef>
                <a:spcPts val="0"/>
              </a:spcBef>
              <a:spcAft>
                <a:spcPts val="1000"/>
              </a:spcAft>
            </a:pPr>
            <a:r>
              <a:rPr sz="3600" b="1">
                <a:solidFill>
                  <a:srgbClr val="76B900"/>
                </a:solidFill>
                <a:latin typeface="NVIDIA Sans Medium"/>
              </a:rPr>
              <a:t>QAD + Native FP4</a:t>
            </a:r>
          </a:p>
        </p:txBody>
      </p:sp>
      <p:pic>
        <p:nvPicPr>
          <p:cNvPr id="23" name="QAD + Optimized FP4 embedded video">
            <a:hlinkClick r:id="" action="ppaction://media"/>
          </p:cNvPr>
          <p:cNvPicPr>
            <a:picLocks noChangeAspect="1"/>
          </p:cNvPicPr>
          <p:nvPr>
            <a:videoFile r:link="rId13"/>
            <p:extLst>
              <p:ext uri="{DAA4B4D4-6D71-4841-9C94-3DE7FCFB9230}">
                <p14:media xmlns:p14="http://schemas.microsoft.com/office/powerpoint/2010/main" r:embed="rId12"/>
              </p:ext>
            </p:extLst>
          </p:nvPr>
        </p:nvPicPr>
        <p:blipFill>
          <a:blip r:embed="rId14"/>
          <a:stretch>
            <a:fillRect/>
          </a:stretch>
        </p:blipFill>
        <p:spPr>
          <a:xfrm>
            <a:off x="26883360" y="8229600"/>
            <a:ext cx="8046720" cy="4598125"/>
          </a:xfrm>
          <a:prstGeom prst="rect">
            <a:avLst/>
          </a:prstGeom>
          <a:ln w="9525">
            <a:solidFill>
              <a:srgbClr val="A7A7A7"/>
            </a:solidFill>
          </a:ln>
        </p:spPr>
      </p:pic>
      <p:sp>
        <p:nvSpPr>
          <p:cNvPr id="25" name="Request: 69.95 s*"/>
          <p:cNvSpPr txBox="1"/>
          <p:nvPr/>
        </p:nvSpPr>
        <p:spPr>
          <a:xfrm>
            <a:off x="26883360" y="14036040"/>
            <a:ext cx="8046720" cy="1051560"/>
          </a:xfrm>
          <a:prstGeom prst="rect">
            <a:avLst/>
          </a:prstGeom>
          <a:noFill/>
        </p:spPr>
        <p:txBody>
          <a:bodyPr wrap="square" lIns="0" rIns="0" tIns="0" bIns="0">
            <a:spAutoFit/>
          </a:bodyPr>
          <a:lstStyle/>
          <a:p>
            <a:pPr algn="ctr">
              <a:lnSpc>
                <a:spcPct val="108000"/>
              </a:lnSpc>
              <a:spcBef>
                <a:spcPts val="0"/>
              </a:spcBef>
              <a:spcAft>
                <a:spcPts val="1000"/>
              </a:spcAft>
            </a:pPr>
            <a:r>
              <a:rPr sz="5200" b="1">
                <a:solidFill>
                  <a:srgbClr val="76B900"/>
                </a:solidFill>
                <a:latin typeface="NVIDIA Sans Medium"/>
              </a:rPr>
              <a:t>2.2× faster</a:t>
            </a:r>
          </a:p>
        </p:txBody>
      </p:sp>
      <p:sp>
        <p:nvSpPr>
          <p:cNvPr id="29" name="*Single requests with CPU offload. GPUs: BF16 0; Online / QAD 3; optimized 1."/>
          <p:cNvSpPr txBox="1"/>
          <p:nvPr/>
        </p:nvSpPr>
        <p:spPr>
          <a:xfrm>
            <a:off x="1828800" y="18425160"/>
            <a:ext cx="32918400" cy="685800"/>
          </a:xfrm>
          <a:prstGeom prst="rect">
            <a:avLst/>
          </a:prstGeom>
          <a:noFill/>
        </p:spPr>
        <p:txBody>
          <a:bodyPr wrap="square" lIns="0" rIns="0" tIns="0" bIns="0">
            <a:spAutoFit/>
          </a:bodyPr>
          <a:lstStyle/>
          <a:p>
            <a:pPr algn="ctr">
              <a:lnSpc>
                <a:spcPct val="108000"/>
              </a:lnSpc>
              <a:spcBef>
                <a:spcPts val="0"/>
              </a:spcBef>
              <a:spcAft>
                <a:spcPts val="1000"/>
              </a:spcAft>
            </a:pPr>
            <a:r>
              <a:rPr sz="2600" b="0">
                <a:solidFill>
                  <a:srgbClr val="313131"/>
                </a:solidFill>
                <a:latin typeface="NVIDIA Sans"/>
              </a:rPr>
              <a:t>Retained single-request timings with CPU offload; first-use work varies.</a:t>
            </a:r>
          </a:p>
        </p:txBody>
      </p:sp>
    </p:spTree>
  </p:cSld>
  <p:clrMapOvr>
    <a:masterClrMapping/>
  </p:clrMapOvr>
  <p:timing>
    <p:tnLst>
      <p:par>
        <p:cTn id="1" dur="indefinite" restart="never" nodeType="tmRoot">
          <p:childTnLst>
            <p:video>
              <p:cMediaNode vol="0">
                <p:cTn id="2" fill="hold" display="0">
                  <p:stCondLst>
                    <p:cond delay="0"/>
                  </p:stCondLst>
                </p:cTn>
                <p:tgtEl>
                  <p:spTgt spid="8"/>
                </p:tgtEl>
              </p:cMediaNode>
            </p:video>
            <p:video>
              <p:cMediaNode vol="0">
                <p:cTn id="3" fill="hold" display="0">
                  <p:stCondLst>
                    <p:cond delay="0"/>
                  </p:stCondLst>
                </p:cTn>
                <p:tgtEl>
                  <p:spTgt spid="13"/>
                </p:tgtEl>
              </p:cMediaNode>
            </p:video>
            <p:video>
              <p:cMediaNode vol="0">
                <p:cTn id="4" fill="hold" display="0">
                  <p:stCondLst>
                    <p:cond delay="0"/>
                  </p:stCondLst>
                </p:cTn>
                <p:tgtEl>
                  <p:spTgt spid="18"/>
                </p:tgtEl>
              </p:cMediaNode>
            </p:video>
            <p:video>
              <p:cMediaNode vol="0">
                <p:cTn id="5" fill="hold" display="0">
                  <p:stCondLst>
                    <p:cond delay="0"/>
                  </p:stCondLst>
                </p:cTn>
                <p:tgtEl>
                  <p:spTgt spid="23"/>
                </p:tgtEl>
              </p:cMediaNode>
            </p:video>
          </p:childTnLst>
        </p:cTn>
      </p:par>
    </p:tnLst>
  </p:timing>
</p:sld>
</file>

<file path=ppt/slides/slide2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a:hlinkClick r:id="rId9"/>
          </p:cNvPr>
          <p:cNvSpPr txBox="1"/>
          <p:nvPr/>
        </p:nvSpPr>
        <p:spPr>
          <a:xfrm>
            <a:off x="1828800" y="914400"/>
            <a:ext cx="32918400" cy="2103120"/>
          </a:xfrm>
          <a:prstGeom prst="rect">
            <a:avLst/>
          </a:prstGeom>
          <a:noFill/>
        </p:spPr>
        <p:txBody>
          <a:bodyPr wrap="square" lIns="0" rIns="0" tIns="0" bIns="0">
            <a:spAutoFit/>
          </a:bodyPr>
          <a:lstStyle/>
          <a:p>
            <a:pPr>
              <a:spcAft>
                <a:spcPts val="800"/>
              </a:spcAft>
            </a:pPr>
            <a:r>
              <a:rPr sz="7600">
                <a:solidFill>
                  <a:srgbClr val="000000"/>
                </a:solidFill>
                <a:latin typeface="NVIDIA Sans Medium"/>
              </a:rPr>
              <a:t>Three Lessons for Real-Time Inference</a:t>
            </a:r>
          </a:p>
        </p:txBody>
      </p:sp>
      <p:sp>
        <p:nvSpPr>
          <p:cNvPr id="3" name="Subtitle"/>
          <p:cNvSpPr txBox="1"/>
          <p:nvPr/>
        </p:nvSpPr>
        <p:spPr>
          <a:xfrm>
            <a:off x="1828800" y="3200400"/>
            <a:ext cx="32918400" cy="914400"/>
          </a:xfrm>
          <a:prstGeom prst="rect">
            <a:avLst/>
          </a:prstGeom>
          <a:noFill/>
        </p:spPr>
        <p:txBody>
          <a:bodyPr wrap="square" lIns="0" rIns="0" tIns="0" bIns="0">
            <a:spAutoFit/>
          </a:bodyPr>
          <a:lstStyle/>
          <a:p>
            <a:pPr>
              <a:spcAft>
                <a:spcPts val="800"/>
              </a:spcAft>
            </a:pPr>
            <a:r>
              <a:rPr sz="3400">
                <a:solidFill>
                  <a:srgbClr val="313131"/>
                </a:solidFill>
                <a:latin typeface="NVIDIA Sans"/>
              </a:rPr>
              <a:t>Choose the optimization that changes the end-to-end bottleneck.</a:t>
            </a:r>
          </a:p>
        </p:txBody>
      </p:sp>
      <p:sp>
        <p:nvSpPr>
          <p:cNvPr id="4" name="Slide number"/>
          <p:cNvSpPr txBox="1"/>
          <p:nvPr/>
        </p:nvSpPr>
        <p:spPr>
          <a:xfrm>
            <a:off x="914400" y="19385280"/>
            <a:ext cx="914400" cy="640080"/>
          </a:xfrm>
          <a:prstGeom prst="rect">
            <a:avLst/>
          </a:prstGeom>
          <a:noFill/>
        </p:spPr>
        <p:txBody>
          <a:bodyPr wrap="square" lIns="0" rIns="0" tIns="0" bIns="0">
            <a:spAutoFit/>
          </a:bodyPr>
          <a:lstStyle/>
          <a:p>
            <a:pPr>
              <a:spcAft>
                <a:spcPts val="800"/>
              </a:spcAft>
            </a:pPr>
            <a:r>
              <a:rPr sz="2000">
                <a:solidFill>
                  <a:srgbClr val="000000"/>
                </a:solidFill>
                <a:latin typeface="NVIDIA Sans"/>
              </a:rPr>
              <a:t>28</a:t>
            </a:r>
          </a:p>
        </p:txBody>
      </p:sp>
      <p:sp>
        <p:nvSpPr>
          <p:cNvPr id="5" name="Overview panel 0"/>
          <p:cNvSpPr/>
          <p:nvPr/>
        </p:nvSpPr>
        <p:spPr>
          <a:xfrm>
            <a:off x="1828800" y="502920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Overview title 0"/>
          <p:cNvSpPr txBox="1"/>
          <p:nvPr/>
        </p:nvSpPr>
        <p:spPr>
          <a:xfrm>
            <a:off x="2468880" y="544068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Reduce work with a quality budget</a:t>
            </a:r>
          </a:p>
        </p:txBody>
      </p:sp>
      <p:sp>
        <p:nvSpPr>
          <p:cNvPr id="7" name="Overview body 0"/>
          <p:cNvSpPr txBox="1"/>
          <p:nvPr/>
        </p:nvSpPr>
        <p:spPr>
          <a:xfrm>
            <a:off x="2468880" y="644652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Fewer steps, sparse attention and lower precision reduce work.</a:t>
            </a:r>
            <a:br/>
            <a:r>
              <a:rPr sz="3500">
                <a:solidFill>
                  <a:srgbClr val="000000"/>
                </a:solidFill>
                <a:latin typeface="NVIDIA Sans"/>
              </a:rPr>
              <a:t>Evaluate the quality tradeoff on the workload people will use.</a:t>
            </a:r>
          </a:p>
        </p:txBody>
      </p:sp>
      <p:sp>
        <p:nvSpPr>
          <p:cNvPr id="8" name="Overview panel 1"/>
          <p:cNvSpPr/>
          <p:nvPr/>
        </p:nvSpPr>
        <p:spPr>
          <a:xfrm>
            <a:off x="1828800" y="928116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erview title 1"/>
          <p:cNvSpPr txBox="1"/>
          <p:nvPr/>
        </p:nvSpPr>
        <p:spPr>
          <a:xfrm>
            <a:off x="2468880" y="969264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Treat topology as part of the system</a:t>
            </a:r>
          </a:p>
        </p:txBody>
      </p:sp>
      <p:sp>
        <p:nvSpPr>
          <p:cNvPr id="10" name="Overview body 1"/>
          <p:cNvSpPr txBox="1"/>
          <p:nvPr/>
        </p:nvSpPr>
        <p:spPr>
          <a:xfrm>
            <a:off x="2468880" y="1069848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Communication can dominate GPU time.</a:t>
            </a:r>
            <a:br/>
            <a:r>
              <a:rPr sz="3500">
                <a:solidFill>
                  <a:srgbClr val="000000"/>
                </a:solidFill>
                <a:latin typeface="NVIDIA Sans"/>
              </a:rPr>
              <a:t>Match data movement to the physical links before tuning kernels.</a:t>
            </a:r>
          </a:p>
        </p:txBody>
      </p:sp>
      <p:sp>
        <p:nvSpPr>
          <p:cNvPr id="11" name="Overview panel 2"/>
          <p:cNvSpPr/>
          <p:nvPr/>
        </p:nvSpPr>
        <p:spPr>
          <a:xfrm>
            <a:off x="1828800" y="13533120"/>
            <a:ext cx="32918400" cy="37033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Overview title 2"/>
          <p:cNvSpPr txBox="1"/>
          <p:nvPr/>
        </p:nvSpPr>
        <p:spPr>
          <a:xfrm>
            <a:off x="2468880" y="13944600"/>
            <a:ext cx="31089600" cy="822960"/>
          </a:xfrm>
          <a:prstGeom prst="rect">
            <a:avLst/>
          </a:prstGeom>
          <a:noFill/>
        </p:spPr>
        <p:txBody>
          <a:bodyPr wrap="square" lIns="0" rIns="0" tIns="0" bIns="0">
            <a:spAutoFit/>
          </a:bodyPr>
          <a:lstStyle/>
          <a:p>
            <a:pPr>
              <a:spcAft>
                <a:spcPts val="800"/>
              </a:spcAft>
            </a:pPr>
            <a:r>
              <a:rPr sz="4700">
                <a:solidFill>
                  <a:srgbClr val="000000"/>
                </a:solidFill>
                <a:latin typeface="NVIDIA Sans Medium"/>
              </a:rPr>
              <a:t>Follow the bottleneck as it moves</a:t>
            </a:r>
          </a:p>
        </p:txBody>
      </p:sp>
      <p:sp>
        <p:nvSpPr>
          <p:cNvPr id="13" name="Overview body 2"/>
          <p:cNvSpPr txBox="1"/>
          <p:nvPr/>
        </p:nvSpPr>
        <p:spPr>
          <a:xfrm>
            <a:off x="2468880" y="14950440"/>
            <a:ext cx="31089600" cy="2011680"/>
          </a:xfrm>
          <a:prstGeom prst="rect">
            <a:avLst/>
          </a:prstGeom>
          <a:noFill/>
        </p:spPr>
        <p:txBody>
          <a:bodyPr wrap="square" lIns="0" rIns="0" tIns="0" bIns="0">
            <a:spAutoFit/>
          </a:bodyPr>
          <a:lstStyle/>
          <a:p>
            <a:pPr>
              <a:spcAft>
                <a:spcPts val="800"/>
              </a:spcAft>
            </a:pPr>
            <a:r>
              <a:rPr sz="3500">
                <a:solidFill>
                  <a:srgbClr val="000000"/>
                </a:solidFill>
                <a:latin typeface="NVIDIA Sans"/>
              </a:rPr>
              <a:t>Decode, copies and output become more important as the model accelerates.</a:t>
            </a:r>
            <a:br/>
            <a:r>
              <a:rPr sz="3500">
                <a:solidFill>
                  <a:srgbClr val="000000"/>
                </a:solidFill>
                <a:latin typeface="NVIDIA Sans"/>
              </a:rPr>
              <a:t>Re-profile after each major speedup; judge progress by end-to-end latency.</a:t>
            </a:r>
          </a:p>
        </p:txBody>
      </p:sp>
      <p:sp>
        <p:nvSpPr>
          <p:cNvPr id="14" name="Overview scope"/>
          <p:cNvSpPr txBox="1"/>
          <p:nvPr/>
        </p:nvSpPr>
        <p:spPr>
          <a:xfrm>
            <a:off x="1828800" y="18516600"/>
            <a:ext cx="32918400" cy="1051560"/>
          </a:xfrm>
          <a:prstGeom prst="rect">
            <a:avLst/>
          </a:prstGeom>
          <a:noFill/>
        </p:spPr>
        <p:txBody>
          <a:bodyPr wrap="square" lIns="0" rIns="0" tIns="0" bIns="0">
            <a:spAutoFit/>
          </a:bodyPr>
          <a:lstStyle/>
          <a:p>
            <a:pPr>
              <a:spcAft>
                <a:spcPts val="800"/>
              </a:spcAft>
            </a:pPr>
            <a:r>
              <a:rPr sz="2700">
                <a:solidFill>
                  <a:srgbClr val="313131"/>
                </a:solidFill>
                <a:latin typeface="NVIDIA Sans"/>
              </a:rPr>
              <a:t>Read every speedup with its workload and configuration.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4" sz="quarter"/>
          </p:nvPr>
        </p:nvSpPr>
        <p:spPr/>
        <p:txBody>
          <a:bodyPr/>
          <a:lstStyle/>
          <a:p>
            <a:r>
              <a:t>Two CPU sockets · four ConnectX-8 cards · two GPUs per PCIe subtree</a:t>
            </a:r>
          </a:p>
        </p:txBody>
      </p:sp>
      <p:sp>
        <p:nvSpPr>
          <p:cNvPr id="3" name="Title 2"/>
          <p:cNvSpPr>
            <a:spLocks noGrp="1"/>
          </p:cNvSpPr>
          <p:nvPr>
            <p:ph type="title"/>
          </p:nvPr>
        </p:nvSpPr>
        <p:spPr/>
        <p:txBody>
          <a:bodyPr/>
          <a:lstStyle/>
          <a:p>
            <a:r>
              <a:t>Eight-GPU Topology</a:t>
            </a:r>
          </a:p>
        </p:txBody>
      </p:sp>
      <p:sp>
        <p:nvSpPr>
          <p:cNvPr id="5" name="Text Placeholder 4"/>
          <p:cNvSpPr>
            <a:spLocks noGrp="1"/>
          </p:cNvSpPr>
          <p:nvPr>
            <p:ph type="body" idx="51" sz="quarter"/>
          </p:nvPr>
        </p:nvSpPr>
        <p:spPr>
          <a:xfrm>
            <a:off x="1828800" y="18425160"/>
            <a:ext cx="32918400" cy="822960"/>
          </a:xfrm>
        </p:spPr>
        <p:txBody>
          <a:bodyPr/>
          <a:lstStyle/>
          <a:p>
            <a:r>
              <a:t>One-way link capacities · network ports support simultaneous TX and RX</a:t>
            </a:r>
          </a:p>
        </p:txBody>
      </p:sp>
      <p:sp>
        <p:nvSpPr>
          <p:cNvPr id="7" name="Footer Placeholder">
            <a:extLst>
              <a:ext uri="{FF2B5EF4-FFF2-40B4-BE49-F238E27FC236}">
                <a16:creationId xmlns:a16="http://schemas.microsoft.com/office/drawing/2014/main" id="{62E9C3B1-E578-9546-78AF-A91BCF2187FB}"/>
              </a:ext>
            </a:extLst>
          </p:cNvPr>
          <p:cNvSpPr>
            <a:spLocks noGrp="1"/>
          </p:cNvSpPr>
          <p:nvPr>
            <p:ph type="ftr" sz="quarter" idx="19"/>
          </p:nvPr>
        </p:nvSpPr>
        <p:spPr/>
        <p:txBody>
          <a:bodyPr/>
          <a:lstStyle/>
          <a:p>
            <a:pPr>
              <a:lnSpc>
                <a:spcPct val="90000"/>
              </a:lnSpc>
            </a:pPr>
            <a:r>
              <a:rPr lang="en-US" sz="2000" b="0">
                <a:solidFill>
                  <a:srgbClr val="A7A7A7"/>
                </a:solidFill>
                <a:latin typeface="NVIDIA Sans"/>
              </a:rPr>
              <a:t>Sources: local PCIe / port audit · NVIDIA ConnectX-8 · AMD EPYC 9005 architecture · xGMI raw capacity assumption</a:t>
            </a:r>
            <a:endParaRPr lang="en-US" dirty="0"/>
          </a:p>
        </p:txBody>
      </p:sp>
      <p:sp>
        <p:nvSpPr>
          <p:cNvPr id="8" name="Slide Number Placeholder">
            <a:extLst>
              <a:ext uri="{FF2B5EF4-FFF2-40B4-BE49-F238E27FC236}">
                <a16:creationId xmlns:a16="http://schemas.microsoft.com/office/drawing/2014/main" id="{8CA48B7B-5A22-B5DB-CF09-43E03E4D8D98}"/>
              </a:ext>
            </a:extLst>
          </p:cNvPr>
          <p:cNvSpPr>
            <a:spLocks noGrp="1"/>
          </p:cNvSpPr>
          <p:nvPr>
            <p:ph type="sldNum" sz="quarter" idx="20"/>
          </p:nvPr>
        </p:nvSpPr>
        <p:spPr>
          <a:xfrm>
            <a:off x="914400" y="19431000"/>
            <a:ext cx="868680" cy="640080"/>
          </a:xfrm>
        </p:spPr>
        <p:txBody>
          <a:bodyPr/>
          <a:lstStyle/>
          <a:p>
            <a:pPr>
              <a:lnSpc>
                <a:spcPct val="90000"/>
              </a:lnSpc>
            </a:pPr>
            <a:fld id="{5D6728F8-03AC-4059-94FB-90617981AE50}" type="slidenum">
              <a:rPr lang="en-US" smtClean="0"/>
              <a:pPr/>
              <a:t>29</a:t>
            </a:fld>
            <a:endParaRPr lang="en-US"/>
          </a:p>
        </p:txBody>
      </p:sp>
      <p:pic>
        <p:nvPicPr>
          <p:cNvPr id="9" name="Topology with one-way capacity model" descr="slide-13-diagram.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828800" y="4800600"/>
            <a:ext cx="32918400" cy="13167359"/>
          </a:xfrm>
          <a:prstGeom prst="rect">
            <a:avLst/>
          </a:prstGeom>
          <a:ln w="9525">
            <a:solidFill>
              <a:srgbClr val="A7A7A7"/>
            </a:solidFill>
          </a:ln>
        </p:spPr>
      </p:pic>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ext Placeholder 1"/>
          <p:cNvSpPr>
            <a:spLocks noGrp="1"/>
          </p:cNvSpPr>
          <p:nvPr>
            <p:ph type="body" idx="13" sz="quarter"/>
          </p:nvPr>
        </p:nvSpPr>
        <p:spPr>
          <a:xfrm>
            <a:off x="1828800" y="3383280"/>
            <a:ext cx="32918400" cy="1005840"/>
          </a:xfrm>
        </p:spPr>
        <p:txBody>
          <a:bodyPr/>
          <a:lstStyle/>
          <a:p>
            <a:r>
              <a:t>Prior communication study · FI RDMA is 2.33–2.47× faster on matched Q/K/V/O exchanges</a:t>
            </a:r>
          </a:p>
        </p:txBody>
      </p:sp>
      <p:sp>
        <p:nvSpPr>
          <p:cNvPr id="3" name="Title 2"/>
          <p:cNvSpPr>
            <a:spLocks noGrp="1"/>
          </p:cNvSpPr>
          <p:nvPr>
            <p:ph type="title"/>
          </p:nvPr>
        </p:nvSpPr>
        <p:spPr>
          <a:xfrm>
            <a:off x="1828800" y="914400"/>
            <a:ext cx="32918400" cy="2468880"/>
          </a:xfrm>
        </p:spPr>
        <p:txBody>
          <a:bodyPr/>
          <a:lstStyle/>
          <a:p>
            <a:r>
              <a:t>Local NCCL to RDMA</a:t>
            </a:r>
          </a:p>
        </p:txBody>
      </p:sp>
      <p:sp>
        <p:nvSpPr>
          <p:cNvPr id="4"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p:txBody>
          <a:bodyPr/>
          <a:lstStyle/>
          <a:p>
            <a:pPr>
              <a:lnSpc>
                <a:spcPct val="90000"/>
              </a:lnSpc>
            </a:pPr>
            <a:fld id="{5D6728F8-03AC-4059-94FB-90617981AE50}" type="slidenum">
              <a:rPr lang="en-US" smtClean="0"/>
              <a:pPr/>
              <a:t>30</a:t>
            </a:fld>
            <a:endParaRPr lang="en-US"/>
          </a:p>
        </p:txBody>
      </p:sp>
      <p:sp>
        <p:nvSpPr>
          <p:cNvPr id="6" name="Footer (Source) Placeholder">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2026-10-26 · local-only NCCL control · 3 rounds × 30 samples · communication microbenchmark, not E2E</a:t>
            </a:r>
            <a:endParaRPr lang="en-US" dirty="0"/>
          </a:p>
        </p:txBody>
      </p:sp>
      <p:pic>
        <p:nvPicPr>
          <p:cNvPr id="11" name="Original Ulysses local NCCL versus FI RDMA — matched sequence microbenchmark" descr="sequence-comparison.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8653760" y="5257800"/>
            <a:ext cx="16093440" cy="10997184"/>
          </a:xfrm>
          <a:prstGeom prst="rect">
            <a:avLst/>
          </a:prstGeom>
          <a:ln w="9525">
            <a:solidFill>
              <a:srgbClr val="A7A7A7"/>
            </a:solidFill>
          </a:ln>
        </p:spPr>
      </p:pic>
      <p:sp>
        <p:nvSpPr>
          <p:cNvPr id="12" name="Local NCCL · shared PCIe uplink"/>
          <p:cNvSpPr txBox="1"/>
          <p:nvPr/>
        </p:nvSpPr>
        <p:spPr>
          <a:xfrm>
            <a:off x="1828800" y="530352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Local NCCL · shared PCIe uplink</a:t>
            </a:r>
          </a:p>
        </p:txBody>
      </p:sp>
      <p:sp>
        <p:nvSpPr>
          <p:cNvPr id="13" name="1 P2P peer + 6 SHM peers per rank"/>
          <p:cNvSpPr txBox="1"/>
          <p:nvPr/>
        </p:nvSpPr>
        <p:spPr>
          <a:xfrm>
            <a:off x="1828800" y="63093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1 P2P peer + 6 SHM peers per rank</a:t>
            </a:r>
          </a:p>
        </p:txBody>
      </p:sp>
      <p:sp>
        <p:nvSpPr>
          <p:cNvPr id="14" name="Cross-subtree payload uses host memory"/>
          <p:cNvSpPr txBox="1"/>
          <p:nvPr/>
        </p:nvSpPr>
        <p:spPr>
          <a:xfrm>
            <a:off x="1828800" y="69951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Cross-subtree payload uses host memory</a:t>
            </a:r>
          </a:p>
        </p:txBody>
      </p:sp>
      <p:sp>
        <p:nvSpPr>
          <p:cNvPr id="15" name="Two GPUs share one 63.0 GB/s uplink"/>
          <p:cNvSpPr txBox="1"/>
          <p:nvPr/>
        </p:nvSpPr>
        <p:spPr>
          <a:xfrm>
            <a:off x="1828800" y="76809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Two GPUs share one 63.0 GB/s uplink</a:t>
            </a:r>
          </a:p>
        </p:txBody>
      </p:sp>
      <p:sp>
        <p:nvSpPr>
          <p:cNvPr id="16" name="2 × B × 6/7 ≤ 63.0; B ≤ 36.8 GB/s"/>
          <p:cNvSpPr txBox="1"/>
          <p:nvPr/>
        </p:nvSpPr>
        <p:spPr>
          <a:xfrm>
            <a:off x="1828800" y="836676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2 × B × 6/7 &lt;= 63.0; B &lt;= 36.8 GB/s</a:t>
            </a:r>
          </a:p>
        </p:txBody>
      </p:sp>
      <p:sp>
        <p:nvSpPr>
          <p:cNvPr id="17" name="Cross-NUMA · raw xGMI model"/>
          <p:cNvSpPr txBox="1"/>
          <p:nvPr/>
        </p:nvSpPr>
        <p:spPr>
          <a:xfrm>
            <a:off x="1828800" y="94640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Cross-NUMA · raw xGMI model</a:t>
            </a:r>
          </a:p>
        </p:txBody>
      </p:sp>
      <p:sp>
        <p:nvSpPr>
          <p:cNvPr id="18" name="C = 256 GB/s; installed capacity is unverified"/>
          <p:cNvSpPr txBox="1"/>
          <p:nvPr/>
        </p:nvSpPr>
        <p:spPr>
          <a:xfrm>
            <a:off x="1828800" y="10469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000" b="0">
                <a:solidFill>
                  <a:srgbClr val="313131"/>
                </a:solidFill>
                <a:latin typeface="NVIDIA Sans"/>
              </a:rPr>
              <a:t>C = 256 GB/s; installed capacity is unverified</a:t>
            </a:r>
          </a:p>
        </p:txBody>
      </p:sp>
      <p:sp>
        <p:nvSpPr>
          <p:cNvPr id="19" name="4 × B × 4/7 ≤ 256; B ≤ 112 GB/s"/>
          <p:cNvSpPr txBox="1"/>
          <p:nvPr/>
        </p:nvSpPr>
        <p:spPr>
          <a:xfrm>
            <a:off x="1828800" y="11155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4 × B × 4/7 &lt;= 256; B &lt;= 112 GB/s</a:t>
            </a:r>
          </a:p>
        </p:txBody>
      </p:sp>
      <p:sp>
        <p:nvSpPr>
          <p:cNvPr id="20" name="FI RDMA · nearest GPU-affine port"/>
          <p:cNvSpPr txBox="1"/>
          <p:nvPr/>
        </p:nvSpPr>
        <p:spPr>
          <a:xfrm>
            <a:off x="1828800" y="122072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800" b="1">
                <a:solidFill>
                  <a:srgbClr val="76B900"/>
                </a:solidFill>
                <a:latin typeface="NVIDIA Sans Medium"/>
              </a:rPr>
              <a:t>FI RDMA · nearest GPU-affine port</a:t>
            </a:r>
          </a:p>
        </p:txBody>
      </p:sp>
      <p:sp>
        <p:nvSpPr>
          <p:cNvPr id="21" name="One nearest 400G port per GPU"/>
          <p:cNvSpPr txBox="1"/>
          <p:nvPr/>
        </p:nvSpPr>
        <p:spPr>
          <a:xfrm>
            <a:off x="1828800" y="132130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One nearest 400G port per GPU</a:t>
            </a:r>
          </a:p>
        </p:txBody>
      </p:sp>
      <p:sp>
        <p:nvSpPr>
          <p:cNvPr id="22" name="Bypasses host buffers and CPU uplinks"/>
          <p:cNvSpPr txBox="1"/>
          <p:nvPr/>
        </p:nvSpPr>
        <p:spPr>
          <a:xfrm>
            <a:off x="1828800" y="138988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Bypasses host buffers and CPU uplinks</a:t>
            </a:r>
          </a:p>
        </p:txBody>
      </p:sp>
      <p:sp>
        <p:nvSpPr>
          <p:cNvPr id="23" name="B ≤ min(63.0, 128/2, 50) = 50 GB/s"/>
          <p:cNvSpPr txBox="1"/>
          <p:nvPr/>
        </p:nvSpPr>
        <p:spPr>
          <a:xfrm>
            <a:off x="1828800" y="14584680"/>
            <a:ext cx="15544800" cy="658368"/>
          </a:xfrm>
          <a:prstGeom prst="rect">
            <a:avLst/>
          </a:prstGeom>
          <a:noFill/>
        </p:spPr>
        <p:txBody>
          <a:bodyPr wrap="square" lIns="0" rIns="0" tIns="0" bIns="0">
            <a:spAutoFit/>
          </a:bodyPr>
          <a:lstStyle/>
          <a:p>
            <a:pPr algn="l">
              <a:lnSpc>
                <a:spcPct val="112000"/>
              </a:lnSpc>
              <a:spcBef>
                <a:spcPts val="0"/>
              </a:spcBef>
              <a:spcAft>
                <a:spcPts val="0"/>
              </a:spcAft>
            </a:pPr>
            <a:r>
              <a:rPr sz="3200" b="0">
                <a:solidFill>
                  <a:srgbClr val="313131"/>
                </a:solidFill>
                <a:latin typeface="NVIDIA Sans"/>
              </a:rPr>
              <a:t>B &lt;= min(63.0, 128/2, 50) = 50 GB/s</a:t>
            </a:r>
          </a:p>
        </p:txBody>
      </p:sp>
      <p:sp>
        <p:nvSpPr>
          <p:cNvPr id="24" name="Shared uplink sets the tighter raw bound"/>
          <p:cNvSpPr txBox="1"/>
          <p:nvPr/>
        </p:nvSpPr>
        <p:spPr>
          <a:xfrm>
            <a:off x="1828800" y="15864840"/>
            <a:ext cx="15544800" cy="777240"/>
          </a:xfrm>
          <a:prstGeom prst="rect">
            <a:avLst/>
          </a:prstGeom>
          <a:noFill/>
        </p:spPr>
        <p:txBody>
          <a:bodyPr wrap="square" lIns="0" rIns="0" tIns="0" bIns="0">
            <a:spAutoFit/>
          </a:bodyPr>
          <a:lstStyle/>
          <a:p>
            <a:pPr algn="l">
              <a:lnSpc>
                <a:spcPct val="112000"/>
              </a:lnSpc>
              <a:spcBef>
                <a:spcPts val="0"/>
              </a:spcBef>
              <a:spcAft>
                <a:spcPts val="0"/>
              </a:spcAft>
            </a:pPr>
            <a:r>
              <a:rPr sz="3300" b="1">
                <a:solidFill>
                  <a:srgbClr val="76B900"/>
                </a:solidFill>
                <a:latin typeface="NVIDIA Sans Medium"/>
              </a:rPr>
              <a:t>Shared uplink sets the tighter raw bound</a:t>
            </a:r>
          </a:p>
        </p:txBody>
      </p:sp>
      <p:sp>
        <p:nvSpPr>
          <p:cNvPr id="25" name="Local bound: min(36.8, 112) = 36.8 GB/s"/>
          <p:cNvSpPr txBox="1"/>
          <p:nvPr/>
        </p:nvSpPr>
        <p:spPr>
          <a:xfrm>
            <a:off x="1828800" y="16779240"/>
            <a:ext cx="15544800" cy="155448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Local bound: min(36.8, 112) = 36.8 GB/s</a:t>
            </a:r>
          </a:p>
          <a:p>
            <a:pPr algn="l">
              <a:lnSpc>
                <a:spcPct val="112000"/>
              </a:lnSpc>
              <a:spcBef>
                <a:spcPts val="0"/>
              </a:spcBef>
              <a:spcAft>
                <a:spcPts val="0"/>
              </a:spcAft>
            </a:pPr>
            <a:r>
              <a:rPr sz="2900" b="0">
                <a:solidFill>
                  <a:srgbClr val="313131"/>
                </a:solidFill>
                <a:latin typeface="NVIDIA Sans"/>
              </a:rPr>
              <a:t>SHM, layout and scheduling add further cost</a:t>
            </a:r>
          </a:p>
          <a:p>
            <a:pPr algn="l">
              <a:lnSpc>
                <a:spcPct val="112000"/>
              </a:lnSpc>
              <a:spcBef>
                <a:spcPts val="0"/>
              </a:spcBef>
              <a:spcAft>
                <a:spcPts val="0"/>
              </a:spcAft>
            </a:pPr>
            <a:r>
              <a:rPr sz="2900" b="0">
                <a:solidFill>
                  <a:srgbClr val="313131"/>
                </a:solidFill>
                <a:latin typeface="NVIDIA Sans"/>
              </a:rPr>
              <a:t>Next: 2 / 3 / 2 head bands and graph replay</a:t>
            </a:r>
          </a:p>
        </p:txBody>
      </p:sp>
      <p:sp>
        <p:nvSpPr>
          <p:cNvPr id="26" name="Measured: communication + layout + scheduling"/>
          <p:cNvSpPr txBox="1"/>
          <p:nvPr/>
        </p:nvSpPr>
        <p:spPr>
          <a:xfrm>
            <a:off x="18653760" y="16596359"/>
            <a:ext cx="16093440" cy="685800"/>
          </a:xfrm>
          <a:prstGeom prst="rect">
            <a:avLst/>
          </a:prstGeom>
          <a:noFill/>
        </p:spPr>
        <p:txBody>
          <a:bodyPr wrap="square" lIns="0" rIns="0" tIns="0" bIns="0">
            <a:spAutoFit/>
          </a:bodyPr>
          <a:lstStyle/>
          <a:p>
            <a:pPr algn="l">
              <a:lnSpc>
                <a:spcPct val="112000"/>
              </a:lnSpc>
              <a:spcBef>
                <a:spcPts val="0"/>
              </a:spcBef>
              <a:spcAft>
                <a:spcPts val="0"/>
              </a:spcAft>
            </a:pPr>
            <a:r>
              <a:rPr sz="2900" b="0">
                <a:solidFill>
                  <a:srgbClr val="313131"/>
                </a:solidFill>
                <a:latin typeface="NVIDIA Sans"/>
              </a:rPr>
              <a:t>Measured: communication + layout + scheduling</a:t>
            </a:r>
          </a:p>
        </p:txBody>
      </p:sp>
      <p:sp>
        <p:nvSpPr>
          <p:cNvPr id="27" name="Separate Q/K-first candidate: 96/96 checks exact"/>
          <p:cNvSpPr txBox="1"/>
          <p:nvPr/>
        </p:nvSpPr>
        <p:spPr>
          <a:xfrm>
            <a:off x="18653760" y="17419320"/>
            <a:ext cx="16093440" cy="1097280"/>
          </a:xfrm>
          <a:prstGeom prst="rect">
            <a:avLst/>
          </a:prstGeom>
          <a:noFill/>
        </p:spPr>
        <p:txBody>
          <a:bodyPr wrap="square" lIns="0" rIns="0" tIns="0" bIns="0">
            <a:spAutoFit/>
          </a:bodyPr>
          <a:lstStyle/>
          <a:p>
            <a:pPr algn="l">
              <a:lnSpc>
                <a:spcPct val="112000"/>
              </a:lnSpc>
              <a:spcBef>
                <a:spcPts val="0"/>
              </a:spcBef>
              <a:spcAft>
                <a:spcPts val="0"/>
              </a:spcAft>
            </a:pPr>
            <a:r>
              <a:rPr sz="2800" b="0">
                <a:solidFill>
                  <a:srgbClr val="313131"/>
                </a:solidFill>
                <a:latin typeface="NVIDIA Sans"/>
              </a:rPr>
              <a:t>Separate Q/K-first candidate: 96/96 checks exact</a:t>
            </a:r>
          </a:p>
          <a:p>
            <a:pPr algn="l">
              <a:lnSpc>
                <a:spcPct val="112000"/>
              </a:lnSpc>
              <a:spcBef>
                <a:spcPts val="0"/>
              </a:spcBef>
              <a:spcAft>
                <a:spcPts val="0"/>
              </a:spcAft>
            </a:pPr>
            <a:r>
              <a:rPr sz="2800" b="0">
                <a:solidFill>
                  <a:srgbClr val="313131"/>
                </a:solidFill>
                <a:latin typeface="NVIDIA Sans"/>
              </a:rPr>
              <a:t>on four GPUs; full eight-GPU H3 remains pending</a:t>
            </a:r>
          </a:p>
        </p:txBody>
      </p:sp>
      <p:sp>
        <p:nvSpPr>
          <p:cNvPr id="28" name="B: off-rank TX per GPU · C: raw one-way xGMI capacity · necessary link bounds, not measured E2E"/>
          <p:cNvSpPr txBox="1"/>
          <p:nvPr/>
        </p:nvSpPr>
        <p:spPr>
          <a:xfrm>
            <a:off x="1828800" y="18653760"/>
            <a:ext cx="32918400" cy="594360"/>
          </a:xfrm>
          <a:prstGeom prst="rect">
            <a:avLst/>
          </a:prstGeom>
          <a:noFill/>
        </p:spPr>
        <p:txBody>
          <a:bodyPr wrap="square" lIns="0" rIns="0" tIns="0" bIns="0">
            <a:spAutoFit/>
          </a:bodyPr>
          <a:lstStyle/>
          <a:p>
            <a:pPr algn="ctr">
              <a:lnSpc>
                <a:spcPct val="112000"/>
              </a:lnSpc>
              <a:spcBef>
                <a:spcPts val="0"/>
              </a:spcBef>
              <a:spcAft>
                <a:spcPts val="0"/>
              </a:spcAft>
            </a:pPr>
            <a:r>
              <a:rPr sz="2500" b="0">
                <a:solidFill>
                  <a:srgbClr val="313131"/>
                </a:solidFill>
                <a:latin typeface="NVIDIA Sans"/>
              </a:rPr>
              <a:t>B: off-rank TX per GPU · C: raw one-way xGMI capacity · necessary link bounds, not measured E2E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914400"/>
          </a:xfrm>
        </p:spPr>
        <p:txBody>
          <a:bodyPr/>
          <a:lstStyle/>
          <a:p>
            <a:r>
              <a:rPr>
                <a:latin typeface="NVIDIA Sans"/>
              </a:rPr>
              <a:t>Original source: head-shard exchange before attention; inverse exchange before output projection</a:t>
            </a:r>
          </a:p>
        </p:txBody>
      </p:sp>
      <p:sp>
        <p:nvSpPr>
          <p:cNvPr id="4" name="Title 3"/>
          <p:cNvSpPr>
            <a:spLocks noGrp="1"/>
          </p:cNvSpPr>
          <p:nvPr>
            <p:ph type="title"/>
          </p:nvPr>
        </p:nvSpPr>
        <p:spPr>
          <a:xfrm>
            <a:off x="1828800" y="914400"/>
            <a:ext cx="32918400" cy="2468880"/>
          </a:xfrm>
        </p:spPr>
        <p:txBody>
          <a:bodyPr/>
          <a:lstStyle/>
          <a:p>
            <a:r>
              <a:rPr>
                <a:latin typeface="NVIDIA Sans Medium"/>
              </a:rPr>
              <a:t>vLLM-Omni Ulysses: NCCL Implementation</a:t>
            </a:r>
          </a:p>
        </p:txBody>
      </p:sp>
      <p:sp>
        <p:nvSpPr>
          <p:cNvPr id="7"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Source: vLLM-Omni 63487a7f22db · comm.py:44–60; ulysses.py:538–544, 721 · wrapped excerpt; guards omitted · Apache-2.0</a:t>
            </a:r>
            <a:endParaRPr lang="en-US" dirty="0"/>
          </a:p>
        </p:txBody>
      </p:sp>
      <p:sp>
        <p:nvSpPr>
          <p:cNvPr id="8"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31</a:t>
            </a:fld>
            <a:endParaRPr lang="en-US"/>
          </a:p>
        </p:txBody>
      </p:sp>
      <p:sp>
        <p:nvSpPr>
          <p:cNvPr id="9" name="Q / K / V branch · comm.py"/>
          <p:cNvSpPr txBox="1"/>
          <p:nvPr/>
        </p:nvSpPr>
        <p:spPr>
          <a:xfrm>
            <a:off x="1828800" y="5120640"/>
            <a:ext cx="20574000" cy="73152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Q / K / V branch · comm.py</a:t>
            </a:r>
          </a:p>
        </p:txBody>
      </p:sp>
      <p:sp>
        <p:nvSpPr>
          <p:cNvPr id="10" name="Original all_to_all_4D QKV branch"/>
          <p:cNvSpPr txBox="1"/>
          <p:nvPr/>
        </p:nvSpPr>
        <p:spPr>
          <a:xfrm>
            <a:off x="1828800" y="6126480"/>
            <a:ext cx="20574000" cy="8412480"/>
          </a:xfrm>
          <a:prstGeom prst="rect">
            <a:avLst/>
          </a:prstGeom>
          <a:noFill/>
        </p:spPr>
        <p:txBody>
          <a:bodyPr wrap="none" lIns="0" rIns="0" tIns="0" bIns="0">
            <a:spAutoFit/>
          </a:bodyPr>
          <a:lstStyle/>
          <a:p>
            <a:pPr algn="l">
              <a:lnSpc>
                <a:spcPct val="108000"/>
              </a:lnSpc>
              <a:spcBef>
                <a:spcPts val="0"/>
              </a:spcBef>
              <a:spcAft>
                <a:spcPts val="0"/>
              </a:spcAft>
            </a:pPr>
            <a:r>
              <a:rPr sz="3200" b="0">
                <a:solidFill>
                  <a:srgbClr val="313131"/>
                </a:solidFill>
                <a:latin typeface="Roboto Mono"/>
              </a:rPr>
              <a:t>input_t = (</a:t>
            </a:r>
          </a:p>
          <a:p>
            <a:pPr algn="l">
              <a:lnSpc>
                <a:spcPct val="108000"/>
              </a:lnSpc>
              <a:spcBef>
                <a:spcPts val="0"/>
              </a:spcBef>
              <a:spcAft>
                <a:spcPts val="0"/>
              </a:spcAft>
            </a:pPr>
            <a:r>
              <a:rPr sz="3200" b="0">
                <a:solidFill>
                  <a:srgbClr val="313131"/>
                </a:solidFill>
                <a:latin typeface="Roboto Mono"/>
              </a:rPr>
              <a:t>    input.reshape(bs, shard_seqlen,</a:t>
            </a:r>
          </a:p>
          <a:p>
            <a:pPr algn="l">
              <a:lnSpc>
                <a:spcPct val="108000"/>
              </a:lnSpc>
              <a:spcBef>
                <a:spcPts val="0"/>
              </a:spcBef>
              <a:spcAft>
                <a:spcPts val="0"/>
              </a:spcAft>
            </a:pPr>
            <a:r>
              <a:rPr sz="3200" b="0">
                <a:solidFill>
                  <a:srgbClr val="313131"/>
                </a:solidFill>
                <a:latin typeface="Roboto Mono"/>
              </a:rPr>
              <a:t>                  seq_world_size, shard_hc, hs)</a:t>
            </a:r>
          </a:p>
          <a:p>
            <a:pPr algn="l">
              <a:lnSpc>
                <a:spcPct val="108000"/>
              </a:lnSpc>
              <a:spcBef>
                <a:spcPts val="0"/>
              </a:spcBef>
              <a:spcAft>
                <a:spcPts val="0"/>
              </a:spcAft>
            </a:pPr>
            <a:r>
              <a:rPr sz="3200" b="0">
                <a:solidFill>
                  <a:srgbClr val="313131"/>
                </a:solidFill>
                <a:latin typeface="Roboto Mono"/>
              </a:rPr>
              <a:t>    .transpose(0, 2).contiguous()</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torch.empty_like(input_t)</a:t>
            </a:r>
          </a:p>
          <a:p>
            <a:pPr algn="l">
              <a:lnSpc>
                <a:spcPct val="108000"/>
              </a:lnSpc>
              <a:spcBef>
                <a:spcPts val="0"/>
              </a:spcBef>
              <a:spcAft>
                <a:spcPts val="0"/>
              </a:spcAft>
            </a:pPr>
            <a:r>
              <a:rPr sz="3200" b="0">
                <a:solidFill>
                  <a:srgbClr val="76B900"/>
                </a:solidFill>
                <a:latin typeface="Roboto Mono"/>
              </a:rPr>
              <a:t>dist.all_to_all_single(</a:t>
            </a:r>
          </a:p>
          <a:p>
            <a:pPr algn="l">
              <a:lnSpc>
                <a:spcPct val="108000"/>
              </a:lnSpc>
              <a:spcBef>
                <a:spcPts val="0"/>
              </a:spcBef>
              <a:spcAft>
                <a:spcPts val="0"/>
              </a:spcAft>
            </a:pPr>
            <a:r>
              <a:rPr sz="3200" b="0">
                <a:solidFill>
                  <a:srgbClr val="313131"/>
                </a:solidFill>
                <a:latin typeface="Roboto Mono"/>
              </a:rPr>
              <a:t>    output, input_t, group=group</a:t>
            </a:r>
          </a:p>
          <a:p>
            <a:pPr algn="l">
              <a:lnSpc>
                <a:spcPct val="108000"/>
              </a:lnSpc>
              <a:spcBef>
                <a:spcPts val="0"/>
              </a:spcBef>
              <a:spcAft>
                <a:spcPts val="0"/>
              </a:spcAft>
            </a:pPr>
            <a:r>
              <a:rPr sz="3200" b="0">
                <a:solidFill>
                  <a:srgbClr val="313131"/>
                </a:solidFill>
                <a:latin typeface="Roboto Mono"/>
              </a:rPr>
              <a:t>)</a:t>
            </a:r>
          </a:p>
          <a:p>
            <a:pPr algn="l">
              <a:lnSpc>
                <a:spcPct val="108000"/>
              </a:lnSpc>
              <a:spcBef>
                <a:spcPts val="0"/>
              </a:spcBef>
              <a:spcAft>
                <a:spcPts val="0"/>
              </a:spcAft>
            </a:pPr>
            <a:r>
              <a:rPr sz="3200" b="0">
                <a:solidFill>
                  <a:srgbClr val="313131"/>
                </a:solidFill>
                <a:latin typeface="Roboto Mono"/>
              </a:rPr>
              <a:t>output = output.reshape(seqlen, bs, shard_hc, hs)</a:t>
            </a:r>
          </a:p>
          <a:p>
            <a:pPr algn="l">
              <a:lnSpc>
                <a:spcPct val="108000"/>
              </a:lnSpc>
              <a:spcBef>
                <a:spcPts val="0"/>
              </a:spcBef>
              <a:spcAft>
                <a:spcPts val="0"/>
              </a:spcAft>
            </a:pPr>
            <a:r>
              <a:rPr sz="3200" b="0">
                <a:solidFill>
                  <a:srgbClr val="313131"/>
                </a:solidFill>
                <a:latin typeface="Roboto Mono"/>
              </a:rPr>
              <a:t>output = (</a:t>
            </a:r>
          </a:p>
          <a:p>
            <a:pPr algn="l">
              <a:lnSpc>
                <a:spcPct val="108000"/>
              </a:lnSpc>
              <a:spcBef>
                <a:spcPts val="0"/>
              </a:spcBef>
              <a:spcAft>
                <a:spcPts val="0"/>
              </a:spcAft>
            </a:pPr>
            <a:r>
              <a:rPr sz="3200" b="0">
                <a:solidFill>
                  <a:srgbClr val="313131"/>
                </a:solidFill>
                <a:latin typeface="Roboto Mono"/>
              </a:rPr>
              <a:t>    output.transpose(0, 1).contiguous()</a:t>
            </a:r>
          </a:p>
          <a:p>
            <a:pPr algn="l">
              <a:lnSpc>
                <a:spcPct val="108000"/>
              </a:lnSpc>
              <a:spcBef>
                <a:spcPts val="0"/>
              </a:spcBef>
              <a:spcAft>
                <a:spcPts val="0"/>
              </a:spcAft>
            </a:pPr>
            <a:r>
              <a:rPr sz="3200" b="0">
                <a:solidFill>
                  <a:srgbClr val="313131"/>
                </a:solidFill>
                <a:latin typeface="Roboto Mono"/>
              </a:rPr>
              <a:t>    .reshape(bs, seqlen, shard_hc, hs)</a:t>
            </a:r>
          </a:p>
          <a:p>
            <a:pPr algn="l">
              <a:lnSpc>
                <a:spcPct val="108000"/>
              </a:lnSpc>
              <a:spcBef>
                <a:spcPts val="0"/>
              </a:spcBef>
              <a:spcAft>
                <a:spcPts val="0"/>
              </a:spcAft>
            </a:pPr>
            <a:r>
              <a:rPr sz="3200" b="0">
                <a:solidFill>
                  <a:srgbClr val="313131"/>
                </a:solidFill>
                <a:latin typeface="Roboto Mono"/>
              </a:rPr>
              <a:t>)</a:t>
            </a:r>
          </a:p>
        </p:txBody>
      </p:sp>
      <p:sp>
        <p:nvSpPr>
          <p:cNvPr id="11" name="Ulysses entry · Q / K / V"/>
          <p:cNvSpPr txBox="1"/>
          <p:nvPr/>
        </p:nvSpPr>
        <p:spPr>
          <a:xfrm>
            <a:off x="23591520" y="512064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entry · Q / K / V</a:t>
            </a:r>
          </a:p>
        </p:txBody>
      </p:sp>
      <p:sp>
        <p:nvSpPr>
          <p:cNvPr id="12" name="Original query call site"/>
          <p:cNvSpPr txBox="1"/>
          <p:nvPr/>
        </p:nvSpPr>
        <p:spPr>
          <a:xfrm>
            <a:off x="23591520" y="6126480"/>
            <a:ext cx="11155680" cy="292608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query = SeqAllToAll4D.apply(</a:t>
            </a:r>
          </a:p>
          <a:p>
            <a:pPr algn="l">
              <a:lnSpc>
                <a:spcPct val="108000"/>
              </a:lnSpc>
              <a:spcBef>
                <a:spcPts val="0"/>
              </a:spcBef>
              <a:spcAft>
                <a:spcPts val="0"/>
              </a:spcAft>
            </a:pPr>
            <a:r>
              <a:rPr sz="2700" b="0">
                <a:solidFill>
                  <a:srgbClr val="313131"/>
                </a:solidFill>
                <a:latin typeface="Roboto Mono"/>
              </a:rPr>
              <a:t>    self._ulysses_pg, query,</a:t>
            </a:r>
          </a:p>
          <a:p>
            <a:pPr algn="l">
              <a:lnSpc>
                <a:spcPct val="108000"/>
              </a:lnSpc>
              <a:spcBef>
                <a:spcPts val="0"/>
              </a:spcBef>
              <a:spcAft>
                <a:spcPts val="0"/>
              </a:spcAft>
            </a:pPr>
            <a:r>
              <a:rPr sz="2700" b="0">
                <a:solidFill>
                  <a:srgbClr val="313131"/>
                </a:solidFill>
                <a:latin typeface="Roboto Mono"/>
              </a:rPr>
              <a:t>    self._scatter_idx,</a:t>
            </a:r>
          </a:p>
          <a:p>
            <a:pPr algn="l">
              <a:lnSpc>
                <a:spcPct val="108000"/>
              </a:lnSpc>
              <a:spcBef>
                <a:spcPts val="0"/>
              </a:spcBef>
              <a:spcAft>
                <a:spcPts val="0"/>
              </a:spcAft>
            </a:pPr>
            <a:r>
              <a:rPr sz="2700" b="0">
                <a:solidFill>
                  <a:srgbClr val="313131"/>
                </a:solidFill>
                <a:latin typeface="Roboto Mono"/>
              </a:rPr>
              <a:t>    self._gather_idx, self._use_sync</a:t>
            </a:r>
          </a:p>
          <a:p>
            <a:pPr algn="l">
              <a:lnSpc>
                <a:spcPct val="108000"/>
              </a:lnSpc>
              <a:spcBef>
                <a:spcPts val="0"/>
              </a:spcBef>
              <a:spcAft>
                <a:spcPts val="0"/>
              </a:spcAft>
            </a:pPr>
            <a:r>
              <a:rPr sz="2700" b="0">
                <a:solidFill>
                  <a:srgbClr val="313131"/>
                </a:solidFill>
                <a:latin typeface="Roboto Mono"/>
              </a:rPr>
              <a:t>)</a:t>
            </a:r>
          </a:p>
        </p:txBody>
      </p:sp>
      <p:sp>
        <p:nvSpPr>
          <p:cNvPr id="13" name="Key and value use the same call."/>
          <p:cNvSpPr txBox="1"/>
          <p:nvPr/>
        </p:nvSpPr>
        <p:spPr>
          <a:xfrm>
            <a:off x="23591520" y="9235440"/>
            <a:ext cx="11155680" cy="594360"/>
          </a:xfrm>
          <a:prstGeom prst="rect">
            <a:avLst/>
          </a:prstGeom>
          <a:noFill/>
        </p:spPr>
        <p:txBody>
          <a:bodyPr wrap="square" lIns="0" rIns="0" tIns="0" bIns="0">
            <a:spAutoFit/>
          </a:bodyPr>
          <a:lstStyle/>
          <a:p>
            <a:pPr algn="l">
              <a:lnSpc>
                <a:spcPct val="108000"/>
              </a:lnSpc>
              <a:spcBef>
                <a:spcPts val="0"/>
              </a:spcBef>
              <a:spcAft>
                <a:spcPts val="1200"/>
              </a:spcAft>
            </a:pPr>
            <a:r>
              <a:rPr sz="2700" b="0">
                <a:solidFill>
                  <a:srgbClr val="313131"/>
                </a:solidFill>
                <a:latin typeface="NVIDIA Sans"/>
              </a:rPr>
              <a:t>Key and value use the same call.</a:t>
            </a:r>
          </a:p>
        </p:txBody>
      </p:sp>
      <p:sp>
        <p:nvSpPr>
          <p:cNvPr id="14" name="Ulysses exit · reverse O"/>
          <p:cNvSpPr txBox="1"/>
          <p:nvPr/>
        </p:nvSpPr>
        <p:spPr>
          <a:xfrm>
            <a:off x="23591520" y="10287000"/>
            <a:ext cx="11155680" cy="731520"/>
          </a:xfrm>
          <a:prstGeom prst="rect">
            <a:avLst/>
          </a:prstGeom>
          <a:noFill/>
        </p:spPr>
        <p:txBody>
          <a:bodyPr wrap="square" lIns="0" rIns="0" tIns="0" bIns="0">
            <a:spAutoFit/>
          </a:bodyPr>
          <a:lstStyle/>
          <a:p>
            <a:pPr algn="l">
              <a:lnSpc>
                <a:spcPct val="108000"/>
              </a:lnSpc>
              <a:spcBef>
                <a:spcPts val="0"/>
              </a:spcBef>
              <a:spcAft>
                <a:spcPts val="1200"/>
              </a:spcAft>
            </a:pPr>
            <a:r>
              <a:rPr sz="3400" b="1">
                <a:solidFill>
                  <a:srgbClr val="76B900"/>
                </a:solidFill>
                <a:latin typeface="NVIDIA Sans Medium"/>
              </a:rPr>
              <a:t>Ulysses exit · reverse O</a:t>
            </a:r>
          </a:p>
        </p:txBody>
      </p:sp>
      <p:sp>
        <p:nvSpPr>
          <p:cNvPr id="15" name="Original output reverse call site"/>
          <p:cNvSpPr txBox="1"/>
          <p:nvPr/>
        </p:nvSpPr>
        <p:spPr>
          <a:xfrm>
            <a:off x="23591520" y="11292840"/>
            <a:ext cx="11155680" cy="3200400"/>
          </a:xfrm>
          <a:prstGeom prst="rect">
            <a:avLst/>
          </a:prstGeom>
          <a:noFill/>
        </p:spPr>
        <p:txBody>
          <a:bodyPr wrap="none" lIns="0" rIns="0" tIns="0" bIns="0">
            <a:spAutoFit/>
          </a:bodyPr>
          <a:lstStyle/>
          <a:p>
            <a:pPr algn="l">
              <a:lnSpc>
                <a:spcPct val="108000"/>
              </a:lnSpc>
              <a:spcBef>
                <a:spcPts val="0"/>
              </a:spcBef>
              <a:spcAft>
                <a:spcPts val="0"/>
              </a:spcAft>
            </a:pPr>
            <a:r>
              <a:rPr sz="2700" b="0">
                <a:solidFill>
                  <a:srgbClr val="313131"/>
                </a:solidFill>
                <a:latin typeface="Roboto Mono"/>
              </a:rPr>
              <a:t>return SeqAllToAll4D.apply(</a:t>
            </a:r>
          </a:p>
          <a:p>
            <a:pPr algn="l">
              <a:lnSpc>
                <a:spcPct val="108000"/>
              </a:lnSpc>
              <a:spcBef>
                <a:spcPts val="0"/>
              </a:spcBef>
              <a:spcAft>
                <a:spcPts val="0"/>
              </a:spcAft>
            </a:pPr>
            <a:r>
              <a:rPr sz="2700" b="0">
                <a:solidFill>
                  <a:srgbClr val="313131"/>
                </a:solidFill>
                <a:latin typeface="Roboto Mono"/>
              </a:rPr>
              <a:t>    ctx.ulysses_pg, attn_output,</a:t>
            </a:r>
          </a:p>
          <a:p>
            <a:pPr algn="l">
              <a:lnSpc>
                <a:spcPct val="108000"/>
              </a:lnSpc>
              <a:spcBef>
                <a:spcPts val="0"/>
              </a:spcBef>
              <a:spcAft>
                <a:spcPts val="0"/>
              </a:spcAft>
            </a:pPr>
            <a:r>
              <a:rPr sz="2700" b="0">
                <a:solidFill>
                  <a:srgbClr val="313131"/>
                </a:solidFill>
                <a:latin typeface="Roboto Mono"/>
              </a:rPr>
              <a:t>    ctx.gather_idx, ctx.scatter_idx,</a:t>
            </a:r>
          </a:p>
          <a:p>
            <a:pPr algn="l">
              <a:lnSpc>
                <a:spcPct val="108000"/>
              </a:lnSpc>
              <a:spcBef>
                <a:spcPts val="0"/>
              </a:spcBef>
              <a:spcAft>
                <a:spcPts val="0"/>
              </a:spcAft>
            </a:pPr>
            <a:r>
              <a:rPr sz="2700" b="0">
                <a:solidFill>
                  <a:srgbClr val="313131"/>
                </a:solidFill>
                <a:latin typeface="Roboto Mono"/>
              </a:rPr>
              <a:t>    ctx.use_sync</a:t>
            </a:r>
          </a:p>
          <a:p>
            <a:pPr algn="l">
              <a:lnSpc>
                <a:spcPct val="108000"/>
              </a:lnSpc>
              <a:spcBef>
                <a:spcPts val="0"/>
              </a:spcBef>
              <a:spcAft>
                <a:spcPts val="0"/>
              </a:spcAft>
            </a:pPr>
            <a:r>
              <a:rPr sz="2700" b="0">
                <a:solidFill>
                  <a:srgbClr val="313131"/>
                </a:solidFill>
                <a:latin typeface="Roboto Mono"/>
              </a:rPr>
              <a:t>)</a:t>
            </a:r>
          </a:p>
        </p:txBody>
      </p:sp>
      <p:sp>
        <p:nvSpPr>
          <p:cNvPr id="16" name="Dense Base50: four exchanges"/>
          <p:cNvSpPr txBox="1"/>
          <p:nvPr/>
        </p:nvSpPr>
        <p:spPr>
          <a:xfrm>
            <a:off x="182880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Dense Base50: four exchanges</a:t>
            </a:r>
          </a:p>
        </p:txBody>
      </p:sp>
      <p:sp>
        <p:nvSpPr>
          <p:cNvPr id="17" name="Q / K / V, then O. A VSA gate adds"/>
          <p:cNvSpPr txBox="1"/>
          <p:nvPr/>
        </p:nvSpPr>
        <p:spPr>
          <a:xfrm>
            <a:off x="182880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Q / K / V, then O. A VSA gate adds</a:t>
            </a:r>
          </a:p>
          <a:p>
            <a:pPr algn="l">
              <a:lnSpc>
                <a:spcPct val="108000"/>
              </a:lnSpc>
              <a:spcBef>
                <a:spcPts val="0"/>
              </a:spcBef>
              <a:spcAft>
                <a:spcPts val="1200"/>
              </a:spcAft>
            </a:pPr>
            <a:r>
              <a:rPr sz="2800" b="0">
                <a:solidFill>
                  <a:srgbClr val="313131"/>
                </a:solidFill>
                <a:latin typeface="NVIDIA Sans"/>
              </a:rPr>
              <a:t>another exchange when present.</a:t>
            </a:r>
          </a:p>
        </p:txBody>
      </p:sp>
      <p:sp>
        <p:nvSpPr>
          <p:cNvPr id="18" name="Layout work surrounds transport"/>
          <p:cNvSpPr txBox="1"/>
          <p:nvPr/>
        </p:nvSpPr>
        <p:spPr>
          <a:xfrm>
            <a:off x="1307592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Layout work surrounds transport</a:t>
            </a:r>
          </a:p>
        </p:txBody>
      </p:sp>
      <p:sp>
        <p:nvSpPr>
          <p:cNvPr id="19" name="Pack input, allocate output, restore layout."/>
          <p:cNvSpPr txBox="1"/>
          <p:nvPr/>
        </p:nvSpPr>
        <p:spPr>
          <a:xfrm>
            <a:off x="1307592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Pack input, allocate output, restore layout.</a:t>
            </a:r>
          </a:p>
          <a:p>
            <a:pPr algn="l">
              <a:lnSpc>
                <a:spcPct val="108000"/>
              </a:lnSpc>
              <a:spcBef>
                <a:spcPts val="0"/>
              </a:spcBef>
              <a:spcAft>
                <a:spcPts val="1200"/>
              </a:spcAft>
            </a:pPr>
            <a:r>
              <a:rPr sz="2800" b="0">
                <a:solidFill>
                  <a:srgbClr val="313131"/>
                </a:solidFill>
                <a:latin typeface="NVIDIA Sans"/>
              </a:rPr>
              <a:t>At B = 1, Q/K/V output can be a view.</a:t>
            </a:r>
          </a:p>
        </p:txBody>
      </p:sp>
      <p:sp>
        <p:nvSpPr>
          <p:cNvPr id="20" name="NCCL selects the physical route"/>
          <p:cNvSpPr txBox="1"/>
          <p:nvPr/>
        </p:nvSpPr>
        <p:spPr>
          <a:xfrm>
            <a:off x="24323040" y="15544800"/>
            <a:ext cx="10424160" cy="777240"/>
          </a:xfrm>
          <a:prstGeom prst="rect">
            <a:avLst/>
          </a:prstGeom>
          <a:noFill/>
        </p:spPr>
        <p:txBody>
          <a:bodyPr wrap="square" lIns="0" rIns="0" tIns="0" bIns="0">
            <a:spAutoFit/>
          </a:bodyPr>
          <a:lstStyle/>
          <a:p>
            <a:pPr algn="l">
              <a:lnSpc>
                <a:spcPct val="108000"/>
              </a:lnSpc>
              <a:spcBef>
                <a:spcPts val="0"/>
              </a:spcBef>
              <a:spcAft>
                <a:spcPts val="1200"/>
              </a:spcAft>
            </a:pPr>
            <a:r>
              <a:rPr sz="3200" b="1">
                <a:solidFill>
                  <a:srgbClr val="76B900"/>
                </a:solidFill>
                <a:latin typeface="NVIDIA Sans Medium"/>
              </a:rPr>
              <a:t>NCCL selects the physical route</a:t>
            </a:r>
          </a:p>
        </p:txBody>
      </p:sp>
      <p:sp>
        <p:nvSpPr>
          <p:cNvPr id="21" name="P2P / SHM / NET depend on"/>
          <p:cNvSpPr txBox="1"/>
          <p:nvPr/>
        </p:nvSpPr>
        <p:spPr>
          <a:xfrm>
            <a:off x="24323040" y="16642080"/>
            <a:ext cx="10424160" cy="18288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P2P / SHM / NET depend on</a:t>
            </a:r>
          </a:p>
          <a:p>
            <a:pPr algn="l">
              <a:lnSpc>
                <a:spcPct val="108000"/>
              </a:lnSpc>
              <a:spcBef>
                <a:spcPts val="0"/>
              </a:spcBef>
              <a:spcAft>
                <a:spcPts val="1200"/>
              </a:spcAft>
            </a:pPr>
            <a:r>
              <a:rPr sz="2800" b="0">
                <a:solidFill>
                  <a:srgbClr val="313131"/>
                </a:solidFill>
                <a:latin typeface="NVIDIA Sans"/>
              </a:rPr>
              <a:t>topology and runtime settings.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Use bands of 2, 3 and 2 heads per GPU to overlap communication with attention</a:t>
            </a:r>
          </a:p>
        </p:txBody>
      </p:sp>
      <p:sp>
        <p:nvSpPr>
          <p:cNvPr id="4" name="Title 3"/>
          <p:cNvSpPr>
            <a:spLocks noGrp="1"/>
          </p:cNvSpPr>
          <p:nvPr>
            <p:ph type="title"/>
          </p:nvPr>
        </p:nvSpPr>
        <p:spPr/>
        <p:txBody>
          <a:bodyPr/>
          <a:lstStyle/>
          <a:p>
            <a:r>
              <a:t>Pipeline Ulysses by Head Bands</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Selected schedule: 2 / 3 / 2 · dependency schematic, not a measured Nsight timeline</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32</a:t>
            </a:fld>
            <a:endParaRPr lang="en-US"/>
          </a:p>
        </p:txBody>
      </p:sp>
      <p:sp>
        <p:nvSpPr>
          <p:cNvPr id="8" name="Start earlier"/>
          <p:cNvSpPr txBox="1"/>
          <p:nvPr/>
        </p:nvSpPr>
        <p:spPr>
          <a:xfrm>
            <a:off x="182880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Start earlier</a:t>
            </a:r>
          </a:p>
        </p:txBody>
      </p:sp>
      <p:sp>
        <p:nvSpPr>
          <p:cNvPr id="9" name="Run the first two heads as soon as their full-sequence inputs arrive."/>
          <p:cNvSpPr txBox="1"/>
          <p:nvPr/>
        </p:nvSpPr>
        <p:spPr>
          <a:xfrm>
            <a:off x="182880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Run the first two heads as soon as their full-sequence inputs arrive.</a:t>
            </a:r>
          </a:p>
        </p:txBody>
      </p:sp>
      <p:sp>
        <p:nvSpPr>
          <p:cNvPr id="10" name="Overlap across bands"/>
          <p:cNvSpPr txBox="1"/>
          <p:nvPr/>
        </p:nvSpPr>
        <p:spPr>
          <a:xfrm>
            <a:off x="1307592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Overlap across bands</a:t>
            </a:r>
          </a:p>
        </p:txBody>
      </p:sp>
      <p:sp>
        <p:nvSpPr>
          <p:cNvPr id="11" name="Transfer the next band while current-band attention executes."/>
          <p:cNvSpPr txBox="1"/>
          <p:nvPr/>
        </p:nvSpPr>
        <p:spPr>
          <a:xfrm>
            <a:off x="1307592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Transfer the next band while current-band attention executes.</a:t>
            </a:r>
          </a:p>
        </p:txBody>
      </p:sp>
      <p:sp>
        <p:nvSpPr>
          <p:cNvPr id="12" name="Then reduce launch cost"/>
          <p:cNvSpPr txBox="1"/>
          <p:nvPr/>
        </p:nvSpPr>
        <p:spPr>
          <a:xfrm>
            <a:off x="24323040" y="16550640"/>
            <a:ext cx="10424160" cy="822960"/>
          </a:xfrm>
          <a:prstGeom prst="rect">
            <a:avLst/>
          </a:prstGeom>
          <a:noFill/>
        </p:spPr>
        <p:txBody>
          <a:bodyPr wrap="square" lIns="0" rIns="0" tIns="0" bIns="0">
            <a:spAutoFit/>
          </a:bodyPr>
          <a:lstStyle/>
          <a:p>
            <a:pPr algn="l">
              <a:lnSpc>
                <a:spcPct val="108000"/>
              </a:lnSpc>
              <a:spcBef>
                <a:spcPts val="0"/>
              </a:spcBef>
              <a:spcAft>
                <a:spcPts val="1200"/>
              </a:spcAft>
            </a:pPr>
            <a:r>
              <a:rPr sz="3600" b="1">
                <a:solidFill>
                  <a:srgbClr val="76B900"/>
                </a:solidFill>
                <a:latin typeface="NVIDIA Sans Medium"/>
              </a:rPr>
              <a:t>Pipeline adds repeated submissions</a:t>
            </a:r>
          </a:p>
        </p:txBody>
      </p:sp>
      <p:sp>
        <p:nvSpPr>
          <p:cNvPr id="13" name="Repeated small compute islands motivate CUDA Graph replay."/>
          <p:cNvSpPr txBox="1"/>
          <p:nvPr/>
        </p:nvSpPr>
        <p:spPr>
          <a:xfrm>
            <a:off x="24323040" y="17510760"/>
            <a:ext cx="10424160" cy="1463040"/>
          </a:xfrm>
          <a:prstGeom prst="rect">
            <a:avLst/>
          </a:prstGeom>
          <a:noFill/>
        </p:spPr>
        <p:txBody>
          <a:bodyPr wrap="square" lIns="0" rIns="0" tIns="0" bIns="0">
            <a:spAutoFit/>
          </a:bodyPr>
          <a:lstStyle/>
          <a:p>
            <a:pPr algn="l">
              <a:lnSpc>
                <a:spcPct val="108000"/>
              </a:lnSpc>
              <a:spcBef>
                <a:spcPts val="0"/>
              </a:spcBef>
              <a:spcAft>
                <a:spcPts val="1200"/>
              </a:spcAft>
            </a:pPr>
            <a:r>
              <a:rPr sz="3000" b="0">
                <a:solidFill>
                  <a:srgbClr val="313131"/>
                </a:solidFill>
                <a:latin typeface="NVIDIA Sans"/>
              </a:rPr>
              <a:t>Each band adds compute submissions.</a:t>
            </a:r>
            <a:br>
              <a:rPr sz="3000" b="0">
                <a:solidFill>
                  <a:srgbClr val="313131"/>
                </a:solidFill>
                <a:latin typeface="NVIDIA Sans"/>
              </a:rPr>
            </a:br>
            <a:r>
              <a:rPr sz="3000" b="0">
                <a:solidFill>
                  <a:srgbClr val="313131"/>
                </a:solidFill>
                <a:latin typeface="NVIDIA Sans"/>
              </a:rPr>
              <a:t>Graph replay becomes more valuable.</a:t>
            </a:r>
          </a:p>
        </p:txBody>
      </p:sp>
      <p:pic>
        <p:nvPicPr>
          <p:cNvPr id="14" name="Three-band Ulysses dependency schedule" descr="slide-17-diagram.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1" y="5326380"/>
            <a:ext cx="32918397" cy="11109958"/>
          </a:xfrm>
          <a:prstGeom prst="rect">
            <a:avLst/>
          </a:prstGeom>
          <a:ln w="9525">
            <a:solidFill>
              <a:srgbClr val="A7A7A7"/>
            </a:solidFill>
          </a:ln>
        </p:spPr>
      </p:pic>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3" name="Text Placeholder 2"/>
          <p:cNvSpPr>
            <a:spLocks noGrp="1"/>
          </p:cNvSpPr>
          <p:nvPr>
            <p:ph type="body" idx="14" sz="quarter"/>
          </p:nvPr>
        </p:nvSpPr>
        <p:spPr>
          <a:xfrm>
            <a:off x="1828800" y="3383280"/>
            <a:ext cx="32918400" cy="1463040"/>
          </a:xfrm>
        </p:spPr>
        <p:txBody>
          <a:bodyPr/>
          <a:lstStyle/>
          <a:p>
            <a:r>
              <a:t>Graph replay works before banding; smaller bands increase repeated compute submission work</a:t>
            </a:r>
          </a:p>
        </p:txBody>
      </p:sp>
      <p:sp>
        <p:nvSpPr>
          <p:cNvPr id="4" name="Title 3"/>
          <p:cNvSpPr>
            <a:spLocks noGrp="1"/>
          </p:cNvSpPr>
          <p:nvPr>
            <p:ph type="title"/>
          </p:nvPr>
        </p:nvSpPr>
        <p:spPr/>
        <p:txBody>
          <a:bodyPr/>
          <a:lstStyle/>
          <a:p>
            <a:r>
              <a:t>Head Bands Make CUDA Graph More Valuable</a:t>
            </a:r>
          </a:p>
        </p:txBody>
      </p:sp>
      <p:sp>
        <p:nvSpPr>
          <p:cNvPr id="5" name="Footer Source">
            <a:extLst>
              <a:ext uri="{FF2B5EF4-FFF2-40B4-BE49-F238E27FC236}">
                <a16:creationId xmlns:a16="http://schemas.microsoft.com/office/drawing/2014/main" id="{60965093-FCAD-1310-78F0-7CCDB828CD4F}"/>
              </a:ext>
            </a:extLst>
          </p:cNvPr>
          <p:cNvSpPr>
            <a:spLocks noGrp="1"/>
          </p:cNvSpPr>
          <p:nvPr>
            <p:ph type="ftr" sz="quarter" idx="4294967295"/>
          </p:nvPr>
        </p:nvSpPr>
        <p:spPr>
          <a:xfrm>
            <a:off x="7543800" y="19431000"/>
            <a:ext cx="21488400" cy="369332"/>
          </a:xfrm>
        </p:spPr>
        <p:txBody>
          <a:bodyPr/>
          <a:lstStyle/>
          <a:p>
            <a:pPr>
              <a:lnSpc>
                <a:spcPct val="90000"/>
              </a:lnSpc>
            </a:pPr>
            <a:r>
              <a:rPr lang="en-US" sz="2000" b="0">
                <a:solidFill>
                  <a:srgbClr val="A7A7A7"/>
                </a:solidFill>
                <a:latin typeface="NVIDIA Sans"/>
              </a:rPr>
              <a:t>Retained four-arm measurements · 12 counterbalanced rounds × 20 repeats · conceptual timeline · no matched 2 / 3 / 2 result</a:t>
            </a:r>
            <a:endParaRPr lang="en-US" dirty="0"/>
          </a:p>
        </p:txBody>
      </p:sp>
      <p:sp>
        <p:nvSpPr>
          <p:cNvPr id="6" name="Slide Number Placeholder">
            <a:extLst>
              <a:ext uri="{FF2B5EF4-FFF2-40B4-BE49-F238E27FC236}">
                <a16:creationId xmlns:a16="http://schemas.microsoft.com/office/drawing/2014/main" id="{341B8CF2-B385-0A17-DF26-955E724914A9}"/>
              </a:ext>
            </a:extLst>
          </p:cNvPr>
          <p:cNvSpPr>
            <a:spLocks noGrp="1"/>
          </p:cNvSpPr>
          <p:nvPr>
            <p:ph type="sldNum" sz="quarter" idx="16"/>
          </p:nvPr>
        </p:nvSpPr>
        <p:spPr>
          <a:xfrm>
            <a:off x="914400" y="19431000"/>
            <a:ext cx="640080" cy="365760"/>
          </a:xfrm>
        </p:spPr>
        <p:txBody>
          <a:bodyPr/>
          <a:lstStyle/>
          <a:p>
            <a:pPr>
              <a:lnSpc>
                <a:spcPct val="90000"/>
              </a:lnSpc>
            </a:pPr>
            <a:fld id="{5D6728F8-03AC-4059-94FB-90617981AE50}" type="slidenum">
              <a:rPr lang="en-US" smtClean="0"/>
              <a:pPr/>
              <a:t>33</a:t>
            </a:fld>
            <a:endParaRPr lang="en-US"/>
          </a:p>
        </p:txBody>
      </p:sp>
      <p:pic>
        <p:nvPicPr>
          <p:cNvPr id="7" name="CUDA Graph after Ulysses head pipelining" descr="cuda-graph-pipeline.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828800" y="5121920"/>
            <a:ext cx="22311360" cy="10330159"/>
          </a:xfrm>
          <a:prstGeom prst="rect">
            <a:avLst/>
          </a:prstGeom>
          <a:ln w="9525">
            <a:solidFill>
              <a:srgbClr val="A7A7A7"/>
            </a:solidFill>
          </a:ln>
        </p:spPr>
      </p:pic>
      <p:sp>
        <p:nvSpPr>
          <p:cNvPr id="8" name="Banding strengthens the need"/>
          <p:cNvSpPr txBox="1"/>
          <p:nvPr/>
        </p:nvSpPr>
        <p:spPr>
          <a:xfrm>
            <a:off x="25146000" y="525780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Banding strengthens the need</a:t>
            </a:r>
          </a:p>
        </p:txBody>
      </p:sp>
      <p:sp>
        <p:nvSpPr>
          <p:cNvPr id="9" name="Each band repeats unpack, Top-K,"/>
          <p:cNvSpPr txBox="1"/>
          <p:nvPr/>
        </p:nvSpPr>
        <p:spPr>
          <a:xfrm>
            <a:off x="25146000" y="630936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unpack, Top-K,</a:t>
            </a:r>
          </a:p>
          <a:p>
            <a:pPr algn="l">
              <a:lnSpc>
                <a:spcPct val="108000"/>
              </a:lnSpc>
              <a:spcBef>
                <a:spcPts val="0"/>
              </a:spcBef>
              <a:spcAft>
                <a:spcPts val="1200"/>
              </a:spcAft>
            </a:pPr>
            <a:r>
              <a:rPr sz="2800" b="0">
                <a:solidFill>
                  <a:srgbClr val="313131"/>
                </a:solidFill>
                <a:latin typeface="NVIDIA Sans"/>
              </a:rPr>
              <a:t>attention and pack submissions.</a:t>
            </a:r>
          </a:p>
        </p:txBody>
      </p:sp>
      <p:sp>
        <p:nvSpPr>
          <p:cNvPr id="10" name="A stable workload fits replay"/>
          <p:cNvSpPr txBox="1"/>
          <p:nvPr/>
        </p:nvSpPr>
        <p:spPr>
          <a:xfrm>
            <a:off x="25146000" y="832104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A stable workload fits replay</a:t>
            </a:r>
          </a:p>
        </p:txBody>
      </p:sp>
      <p:sp>
        <p:nvSpPr>
          <p:cNvPr id="11" name="Fixed shapes and registered buffers;"/>
          <p:cNvSpPr txBox="1"/>
          <p:nvPr/>
        </p:nvSpPr>
        <p:spPr>
          <a:xfrm>
            <a:off x="25146000" y="937260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Fixed shapes and registered buffers;</a:t>
            </a:r>
          </a:p>
          <a:p>
            <a:pPr algn="l">
              <a:lnSpc>
                <a:spcPct val="108000"/>
              </a:lnSpc>
              <a:spcBef>
                <a:spcPts val="0"/>
              </a:spcBef>
              <a:spcAft>
                <a:spcPts val="1200"/>
              </a:spcAft>
            </a:pPr>
            <a:r>
              <a:rPr sz="2800" b="0">
                <a:solidFill>
                  <a:srgbClr val="313131"/>
                </a:solidFill>
                <a:latin typeface="NVIDIA Sans"/>
              </a:rPr>
              <a:t>tensor values may change.</a:t>
            </a:r>
          </a:p>
        </p:txBody>
      </p:sp>
      <p:sp>
        <p:nvSpPr>
          <p:cNvPr id="12" name="400 calls amortize capture"/>
          <p:cNvSpPr txBox="1"/>
          <p:nvPr/>
        </p:nvSpPr>
        <p:spPr>
          <a:xfrm>
            <a:off x="25146000" y="11384280"/>
            <a:ext cx="9601200" cy="777240"/>
          </a:xfrm>
          <a:prstGeom prst="rect">
            <a:avLst/>
          </a:prstGeom>
          <a:noFill/>
        </p:spPr>
        <p:txBody>
          <a:bodyPr wrap="square" lIns="0" rIns="0" tIns="0" bIns="0">
            <a:spAutoFit/>
          </a:bodyPr>
          <a:lstStyle/>
          <a:p>
            <a:pPr algn="l">
              <a:lnSpc>
                <a:spcPct val="108000"/>
              </a:lnSpc>
              <a:spcBef>
                <a:spcPts val="0"/>
              </a:spcBef>
              <a:spcAft>
                <a:spcPts val="1200"/>
              </a:spcAft>
            </a:pPr>
            <a:r>
              <a:rPr sz="3100" b="1">
                <a:solidFill>
                  <a:srgbClr val="76B900"/>
                </a:solidFill>
                <a:latin typeface="NVIDIA Sans Medium"/>
              </a:rPr>
              <a:t>400 calls amortize capture</a:t>
            </a:r>
          </a:p>
        </p:txBody>
      </p:sp>
      <p:sp>
        <p:nvSpPr>
          <p:cNvPr id="13" name="Each band repeats over 50 blocks"/>
          <p:cNvSpPr txBox="1"/>
          <p:nvPr/>
        </p:nvSpPr>
        <p:spPr>
          <a:xfrm>
            <a:off x="25146000" y="12435840"/>
            <a:ext cx="9601200" cy="164592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Each band repeats over 50 blocks</a:t>
            </a:r>
          </a:p>
          <a:p>
            <a:pPr algn="l">
              <a:lnSpc>
                <a:spcPct val="108000"/>
              </a:lnSpc>
              <a:spcBef>
                <a:spcPts val="0"/>
              </a:spcBef>
              <a:spcAft>
                <a:spcPts val="1200"/>
              </a:spcAft>
            </a:pPr>
            <a:r>
              <a:rPr sz="2800" b="0">
                <a:solidFill>
                  <a:srgbClr val="313131"/>
                </a:solidFill>
                <a:latin typeface="NVIDIA Sans"/>
              </a:rPr>
              <a:t>and eight model evaluations.</a:t>
            </a:r>
          </a:p>
        </p:txBody>
      </p:sp>
      <p:sp>
        <p:nvSpPr>
          <p:cNvPr id="14" name="Capture compute only. RDMA, readiness"/>
          <p:cNvSpPr txBox="1"/>
          <p:nvPr/>
        </p:nvSpPr>
        <p:spPr>
          <a:xfrm>
            <a:off x="25146000" y="14356080"/>
            <a:ext cx="9601200" cy="1463040"/>
          </a:xfrm>
          <a:prstGeom prst="rect">
            <a:avLst/>
          </a:prstGeom>
          <a:noFill/>
        </p:spPr>
        <p:txBody>
          <a:bodyPr wrap="square" lIns="0" rIns="0" tIns="0" bIns="0">
            <a:spAutoFit/>
          </a:bodyPr>
          <a:lstStyle/>
          <a:p>
            <a:pPr algn="l">
              <a:lnSpc>
                <a:spcPct val="108000"/>
              </a:lnSpc>
              <a:spcBef>
                <a:spcPts val="0"/>
              </a:spcBef>
              <a:spcAft>
                <a:spcPts val="1200"/>
              </a:spcAft>
            </a:pPr>
            <a:r>
              <a:rPr sz="2500" b="0">
                <a:solidFill>
                  <a:srgbClr val="313131"/>
                </a:solidFill>
                <a:latin typeface="NVIDIA Sans"/>
              </a:rPr>
              <a:t>Capture compute only. RDMA, readiness</a:t>
            </a:r>
          </a:p>
          <a:p>
            <a:pPr algn="l">
              <a:lnSpc>
                <a:spcPct val="108000"/>
              </a:lnSpc>
              <a:spcBef>
                <a:spcPts val="0"/>
              </a:spcBef>
              <a:spcAft>
                <a:spcPts val="1200"/>
              </a:spcAft>
            </a:pPr>
            <a:r>
              <a:rPr sz="2500" b="0">
                <a:solidFill>
                  <a:srgbClr val="313131"/>
                </a:solidFill>
                <a:latin typeface="NVIDIA Sans"/>
              </a:rPr>
              <a:t>events and full W_O stay outside.</a:t>
            </a:r>
          </a:p>
        </p:txBody>
      </p:sp>
      <p:sp>
        <p:nvSpPr>
          <p:cNvPr id="15" name="Single-GPU compute experiment · historical 1 / 2 / 3 / 1 · no communication"/>
          <p:cNvSpPr txBox="1"/>
          <p:nvPr/>
        </p:nvSpPr>
        <p:spPr>
          <a:xfrm>
            <a:off x="1828800" y="15910559"/>
            <a:ext cx="32918400" cy="594360"/>
          </a:xfrm>
          <a:prstGeom prst="rect">
            <a:avLst/>
          </a:prstGeom>
          <a:noFill/>
        </p:spPr>
        <p:txBody>
          <a:bodyPr wrap="square" lIns="0" rIns="0" tIns="0" bIns="0">
            <a:spAutoFit/>
          </a:bodyPr>
          <a:lstStyle/>
          <a:p>
            <a:pPr algn="l">
              <a:lnSpc>
                <a:spcPct val="108000"/>
              </a:lnSpc>
              <a:spcBef>
                <a:spcPts val="0"/>
              </a:spcBef>
              <a:spcAft>
                <a:spcPts val="1200"/>
              </a:spcAft>
            </a:pPr>
            <a:r>
              <a:rPr sz="2600" b="0">
                <a:solidFill>
                  <a:srgbClr val="313131"/>
                </a:solidFill>
                <a:latin typeface="NVIDIA Sans"/>
              </a:rPr>
              <a:t>Single-GPU compute experiment · historical 1 / 2 / 3 / 1 · no communication</a:t>
            </a:r>
          </a:p>
        </p:txBody>
      </p:sp>
      <p:graphicFrame>
        <p:nvGraphicFramePr>
          <p:cNvPr id="16" name="Table 15"/>
          <p:cNvGraphicFramePr>
            <a:graphicFrameLocks noGrp="1"/>
          </p:cNvGraphicFramePr>
          <p:nvPr/>
        </p:nvGraphicFramePr>
        <p:xfrm>
          <a:off x="1828800" y="16687800"/>
          <a:ext cx="20665439" cy="2286000"/>
        </p:xfrm>
        <a:graphic>
          <a:graphicData uri="http://schemas.openxmlformats.org/drawingml/2006/table">
            <a:tbl>
              <a:tblPr firstRow="1" bandRow="1">
                <a:tableStyleId>{68D230F3-CF80-4859-8CE7-A43EE81993B5}</a:tableStyleId>
              </a:tblPr>
              <a:tblGrid>
                <a:gridCol w="7498079"/>
                <a:gridCol w="4389120"/>
                <a:gridCol w="4389120"/>
                <a:gridCol w="4389120"/>
              </a:tblGrid>
              <a:tr h="762000">
                <a:tc>
                  <a:txBody>
                    <a:bodyPr wrap="square"/>
                    <a:lstStyle/>
                    <a:p>
                      <a:pPr algn="ctr">
                        <a:lnSpc>
                          <a:spcPct val="100000"/>
                        </a:lnSpc>
                        <a:spcBef>
                          <a:spcPts val="0"/>
                        </a:spcBef>
                        <a:spcAft>
                          <a:spcPts val="0"/>
                        </a:spcAft>
                      </a:pPr>
                      <a:r>
                        <a:rPr sz="3600" b="0" i="0">
                          <a:solidFill>
                            <a:srgbClr val="76B900"/>
                          </a:solidFill>
                          <a:latin typeface="NVIDIA Sans Medium"/>
                        </a:rPr>
                        <a:t>Head layout</a:t>
                      </a:r>
                    </a:p>
                  </a:txBody>
                  <a:tcPr marL="36576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Eager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Graph ms</a:t>
                      </a:r>
                    </a:p>
                  </a:txBody>
                  <a:tcPr marL="182880" marR="182880" marT="91440" marB="91440" anchor="ctr"/>
                </a:tc>
                <a:tc>
                  <a:txBody>
                    <a:bodyPr wrap="square"/>
                    <a:lstStyle/>
                    <a:p>
                      <a:pPr algn="ctr">
                        <a:lnSpc>
                          <a:spcPct val="100000"/>
                        </a:lnSpc>
                        <a:spcBef>
                          <a:spcPts val="0"/>
                        </a:spcBef>
                        <a:spcAft>
                          <a:spcPts val="0"/>
                        </a:spcAft>
                      </a:pPr>
                      <a:r>
                        <a:rPr sz="3600" b="0" i="0">
                          <a:solidFill>
                            <a:srgbClr val="76B900"/>
                          </a:solidFill>
                          <a:latin typeface="NVIDIA Sans Medium"/>
                        </a:rPr>
                        <a:t>Reduction</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All 7 heads</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11.703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11.658</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0.39%</a:t>
                      </a:r>
                    </a:p>
                  </a:txBody>
                  <a:tcPr marL="182880" marR="182880" marT="91440" marB="91440" anchor="ctr"/>
                </a:tc>
              </a:tr>
              <a:tr h="762000">
                <a:tc>
                  <a:txBody>
                    <a:bodyPr wrap="square"/>
                    <a:lstStyle/>
                    <a:p>
                      <a:pPr algn="l">
                        <a:lnSpc>
                          <a:spcPct val="100000"/>
                        </a:lnSpc>
                        <a:spcBef>
                          <a:spcPts val="0"/>
                        </a:spcBef>
                        <a:spcAft>
                          <a:spcPts val="0"/>
                        </a:spcAft>
                      </a:pPr>
                      <a:r>
                        <a:rPr sz="2800" b="0" i="0">
                          <a:solidFill>
                            <a:srgbClr val="000000"/>
                          </a:solidFill>
                          <a:latin typeface="NVIDIA Sans Medium"/>
                        </a:rPr>
                        <a:t>Bands 1 / 2 / 3 / 1</a:t>
                      </a:r>
                    </a:p>
                  </a:txBody>
                  <a:tcPr marL="36576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12.323</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12.040</a:t>
                      </a:r>
                    </a:p>
                  </a:txBody>
                  <a:tcPr marL="182880" marR="182880" marT="91440" marB="91440" anchor="ctr"/>
                </a:tc>
                <a:tc>
                  <a:txBody>
                    <a:bodyPr wrap="square"/>
                    <a:lstStyle/>
                    <a:p>
                      <a:pPr algn="ctr">
                        <a:lnSpc>
                          <a:spcPct val="100000"/>
                        </a:lnSpc>
                        <a:spcBef>
                          <a:spcPts val="0"/>
                        </a:spcBef>
                        <a:spcAft>
                          <a:spcPts val="0"/>
                        </a:spcAft>
                      </a:pPr>
                      <a:r>
                        <a:rPr sz="2800" b="0" i="0">
                          <a:solidFill>
                            <a:srgbClr val="000000"/>
                          </a:solidFill>
                          <a:latin typeface="NVIDIA Sans"/>
                        </a:rPr>
                        <a:t>2.30%</a:t>
                      </a:r>
                    </a:p>
                  </a:txBody>
                  <a:tcPr marL="182880" marR="182880" marT="91440" marB="91440" anchor="ctr"/>
                </a:tc>
              </a:tr>
            </a:tbl>
          </a:graphicData>
        </a:graphic>
      </p:graphicFrame>
      <p:sp>
        <p:nvSpPr>
          <p:cNvPr id="17" name="Banding still adds compute cost."/>
          <p:cNvSpPr txBox="1"/>
          <p:nvPr/>
        </p:nvSpPr>
        <p:spPr>
          <a:xfrm>
            <a:off x="23774400" y="16733520"/>
            <a:ext cx="10972800" cy="2057400"/>
          </a:xfrm>
          <a:prstGeom prst="rect">
            <a:avLst/>
          </a:prstGeom>
          <a:noFill/>
        </p:spPr>
        <p:txBody>
          <a:bodyPr wrap="square" lIns="0" rIns="0" tIns="0" bIns="0">
            <a:spAutoFit/>
          </a:bodyPr>
          <a:lstStyle/>
          <a:p>
            <a:pPr algn="l">
              <a:lnSpc>
                <a:spcPct val="108000"/>
              </a:lnSpc>
              <a:spcBef>
                <a:spcPts val="0"/>
              </a:spcBef>
              <a:spcAft>
                <a:spcPts val="1200"/>
              </a:spcAft>
            </a:pPr>
            <a:r>
              <a:rPr sz="2800" b="0">
                <a:solidFill>
                  <a:srgbClr val="313131"/>
                </a:solidFill>
                <a:latin typeface="NVIDIA Sans"/>
              </a:rPr>
              <a:t>Banding still adds compute cost.</a:t>
            </a:r>
          </a:p>
          <a:p>
            <a:pPr algn="l">
              <a:lnSpc>
                <a:spcPct val="108000"/>
              </a:lnSpc>
              <a:spcBef>
                <a:spcPts val="0"/>
              </a:spcBef>
              <a:spcAft>
                <a:spcPts val="1200"/>
              </a:spcAft>
            </a:pPr>
            <a:r>
              <a:rPr sz="2800" b="0">
                <a:solidFill>
                  <a:srgbClr val="313131"/>
                </a:solidFill>
                <a:latin typeface="NVIDIA Sans"/>
              </a:rPr>
              <a:t>End-to-end gains require enough</a:t>
            </a:r>
          </a:p>
          <a:p>
            <a:pPr algn="l">
              <a:lnSpc>
                <a:spcPct val="108000"/>
              </a:lnSpc>
              <a:spcBef>
                <a:spcPts val="0"/>
              </a:spcBef>
              <a:spcAft>
                <a:spcPts val="1200"/>
              </a:spcAft>
            </a:pPr>
            <a:r>
              <a:rPr sz="2800" b="0">
                <a:solidFill>
                  <a:srgbClr val="313131"/>
                </a:solidFill>
                <a:latin typeface="NVIDIA Sans"/>
              </a:rPr>
              <a:t>communication overlap to repay it.</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34</a:t>
            </a:r>
          </a:p>
        </p:txBody>
      </p:sp>
      <p:sp>
        <p:nvSpPr>
          <p:cNvPr id="3" name="Text Placeholder 2"/>
          <p:cNvSpPr>
            <a:spLocks noGrp="1"/>
          </p:cNvSpPr>
          <p:nvPr>
            <p:ph type="body" idx="13" sz="quarter"/>
          </p:nvPr>
        </p:nvSpPr>
        <p:spPr/>
        <p:txBody>
          <a:bodyPr/>
          <a:lstStyle/>
          <a:p>
            <a:r>
              <a:t>Reduce how often the model runs.</a:t>
            </a:r>
          </a:p>
        </p:txBody>
      </p:sp>
      <p:sp>
        <p:nvSpPr>
          <p:cNvPr id="4" name="Title 3"/>
          <p:cNvSpPr>
            <a:spLocks noGrp="1"/>
          </p:cNvSpPr>
          <p:nvPr>
            <p:ph type="title"/>
          </p:nvPr>
        </p:nvSpPr>
        <p:spPr/>
        <p:txBody>
          <a:bodyPr/>
          <a:lstStyle/>
          <a:p>
            <a:r>
              <a:rPr sz="8800"/>
              <a:t>Optimization - Distillation</a:t>
            </a:r>
          </a:p>
        </p:txBody>
      </p:sp>
      <p:sp>
        <p:nvSpPr>
          <p:cNvPr id="5" name="Base label"/>
          <p:cNvSpPr txBox="1"/>
          <p:nvPr/>
        </p:nvSpPr>
        <p:spPr>
          <a:xfrm>
            <a:off x="1828800" y="5669280"/>
            <a:ext cx="182880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Base H3</a:t>
            </a:r>
          </a:p>
        </p:txBody>
      </p:sp>
      <p:sp>
        <p:nvSpPr>
          <p:cNvPr id="6" name="Base count"/>
          <p:cNvSpPr txBox="1"/>
          <p:nvPr/>
        </p:nvSpPr>
        <p:spPr>
          <a:xfrm>
            <a:off x="1828800" y="6812280"/>
            <a:ext cx="182880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50 model evaluations</a:t>
            </a:r>
          </a:p>
        </p:txBody>
      </p:sp>
      <p:sp>
        <p:nvSpPr>
          <p:cNvPr id="7" name="Base evaluation 1"/>
          <p:cNvSpPr/>
          <p:nvPr/>
        </p:nvSpPr>
        <p:spPr>
          <a:xfrm>
            <a:off x="182880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Base evaluation 2"/>
          <p:cNvSpPr/>
          <p:nvPr/>
        </p:nvSpPr>
        <p:spPr>
          <a:xfrm>
            <a:off x="257860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Base evaluation 3"/>
          <p:cNvSpPr/>
          <p:nvPr/>
        </p:nvSpPr>
        <p:spPr>
          <a:xfrm>
            <a:off x="332841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Base evaluation 4"/>
          <p:cNvSpPr/>
          <p:nvPr/>
        </p:nvSpPr>
        <p:spPr>
          <a:xfrm>
            <a:off x="407822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Base evaluation 5"/>
          <p:cNvSpPr/>
          <p:nvPr/>
        </p:nvSpPr>
        <p:spPr>
          <a:xfrm>
            <a:off x="482803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Base evaluation 6"/>
          <p:cNvSpPr/>
          <p:nvPr/>
        </p:nvSpPr>
        <p:spPr>
          <a:xfrm>
            <a:off x="557784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Base evaluation 7"/>
          <p:cNvSpPr/>
          <p:nvPr/>
        </p:nvSpPr>
        <p:spPr>
          <a:xfrm>
            <a:off x="632764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Base evaluation 8"/>
          <p:cNvSpPr/>
          <p:nvPr/>
        </p:nvSpPr>
        <p:spPr>
          <a:xfrm>
            <a:off x="7077455"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Base evaluation 9"/>
          <p:cNvSpPr/>
          <p:nvPr/>
        </p:nvSpPr>
        <p:spPr>
          <a:xfrm>
            <a:off x="782726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Base evaluation 10"/>
          <p:cNvSpPr/>
          <p:nvPr/>
        </p:nvSpPr>
        <p:spPr>
          <a:xfrm>
            <a:off x="857707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Base evaluation 11"/>
          <p:cNvSpPr/>
          <p:nvPr/>
        </p:nvSpPr>
        <p:spPr>
          <a:xfrm>
            <a:off x="932688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Base evaluation 12"/>
          <p:cNvSpPr/>
          <p:nvPr/>
        </p:nvSpPr>
        <p:spPr>
          <a:xfrm>
            <a:off x="1007668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Base evaluation 13"/>
          <p:cNvSpPr/>
          <p:nvPr/>
        </p:nvSpPr>
        <p:spPr>
          <a:xfrm>
            <a:off x="1082649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Base evaluation 14"/>
          <p:cNvSpPr/>
          <p:nvPr/>
        </p:nvSpPr>
        <p:spPr>
          <a:xfrm>
            <a:off x="1157630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Base evaluation 15"/>
          <p:cNvSpPr/>
          <p:nvPr/>
        </p:nvSpPr>
        <p:spPr>
          <a:xfrm>
            <a:off x="1232611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Base evaluation 16"/>
          <p:cNvSpPr/>
          <p:nvPr/>
        </p:nvSpPr>
        <p:spPr>
          <a:xfrm>
            <a:off x="13075919"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Base evaluation 17"/>
          <p:cNvSpPr/>
          <p:nvPr/>
        </p:nvSpPr>
        <p:spPr>
          <a:xfrm>
            <a:off x="1382572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Base evaluation 18"/>
          <p:cNvSpPr/>
          <p:nvPr/>
        </p:nvSpPr>
        <p:spPr>
          <a:xfrm>
            <a:off x="1457553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Base evaluation 19"/>
          <p:cNvSpPr/>
          <p:nvPr/>
        </p:nvSpPr>
        <p:spPr>
          <a:xfrm>
            <a:off x="15325343"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Base evaluation 20"/>
          <p:cNvSpPr/>
          <p:nvPr/>
        </p:nvSpPr>
        <p:spPr>
          <a:xfrm>
            <a:off x="16075151"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Base evaluation 21"/>
          <p:cNvSpPr/>
          <p:nvPr/>
        </p:nvSpPr>
        <p:spPr>
          <a:xfrm>
            <a:off x="16824960"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Base evaluation 22"/>
          <p:cNvSpPr/>
          <p:nvPr/>
        </p:nvSpPr>
        <p:spPr>
          <a:xfrm>
            <a:off x="17574768"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Base evaluation 23"/>
          <p:cNvSpPr/>
          <p:nvPr/>
        </p:nvSpPr>
        <p:spPr>
          <a:xfrm>
            <a:off x="18324576"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Base evaluation 24"/>
          <p:cNvSpPr/>
          <p:nvPr/>
        </p:nvSpPr>
        <p:spPr>
          <a:xfrm>
            <a:off x="19074384"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Base evaluation 25"/>
          <p:cNvSpPr/>
          <p:nvPr/>
        </p:nvSpPr>
        <p:spPr>
          <a:xfrm>
            <a:off x="19824192" y="850392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Base evaluation 26"/>
          <p:cNvSpPr/>
          <p:nvPr/>
        </p:nvSpPr>
        <p:spPr>
          <a:xfrm>
            <a:off x="182880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Base evaluation 27"/>
          <p:cNvSpPr/>
          <p:nvPr/>
        </p:nvSpPr>
        <p:spPr>
          <a:xfrm>
            <a:off x="257860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Base evaluation 28"/>
          <p:cNvSpPr/>
          <p:nvPr/>
        </p:nvSpPr>
        <p:spPr>
          <a:xfrm>
            <a:off x="332841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Base evaluation 29"/>
          <p:cNvSpPr/>
          <p:nvPr/>
        </p:nvSpPr>
        <p:spPr>
          <a:xfrm>
            <a:off x="407822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Base evaluation 30"/>
          <p:cNvSpPr/>
          <p:nvPr/>
        </p:nvSpPr>
        <p:spPr>
          <a:xfrm>
            <a:off x="482803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Base evaluation 31"/>
          <p:cNvSpPr/>
          <p:nvPr/>
        </p:nvSpPr>
        <p:spPr>
          <a:xfrm>
            <a:off x="557784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Base evaluation 32"/>
          <p:cNvSpPr/>
          <p:nvPr/>
        </p:nvSpPr>
        <p:spPr>
          <a:xfrm>
            <a:off x="632764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Base evaluation 33"/>
          <p:cNvSpPr/>
          <p:nvPr/>
        </p:nvSpPr>
        <p:spPr>
          <a:xfrm>
            <a:off x="7077455"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Base evaluation 34"/>
          <p:cNvSpPr/>
          <p:nvPr/>
        </p:nvSpPr>
        <p:spPr>
          <a:xfrm>
            <a:off x="782726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Base evaluation 35"/>
          <p:cNvSpPr/>
          <p:nvPr/>
        </p:nvSpPr>
        <p:spPr>
          <a:xfrm>
            <a:off x="857707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Base evaluation 36"/>
          <p:cNvSpPr/>
          <p:nvPr/>
        </p:nvSpPr>
        <p:spPr>
          <a:xfrm>
            <a:off x="932688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Base evaluation 37"/>
          <p:cNvSpPr/>
          <p:nvPr/>
        </p:nvSpPr>
        <p:spPr>
          <a:xfrm>
            <a:off x="1007668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Base evaluation 38"/>
          <p:cNvSpPr/>
          <p:nvPr/>
        </p:nvSpPr>
        <p:spPr>
          <a:xfrm>
            <a:off x="1082649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Base evaluation 39"/>
          <p:cNvSpPr/>
          <p:nvPr/>
        </p:nvSpPr>
        <p:spPr>
          <a:xfrm>
            <a:off x="1157630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Base evaluation 40"/>
          <p:cNvSpPr/>
          <p:nvPr/>
        </p:nvSpPr>
        <p:spPr>
          <a:xfrm>
            <a:off x="1232611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Base evaluation 41"/>
          <p:cNvSpPr/>
          <p:nvPr/>
        </p:nvSpPr>
        <p:spPr>
          <a:xfrm>
            <a:off x="13075919"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Base evaluation 42"/>
          <p:cNvSpPr/>
          <p:nvPr/>
        </p:nvSpPr>
        <p:spPr>
          <a:xfrm>
            <a:off x="1382572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Base evaluation 43"/>
          <p:cNvSpPr/>
          <p:nvPr/>
        </p:nvSpPr>
        <p:spPr>
          <a:xfrm>
            <a:off x="1457553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Base evaluation 44"/>
          <p:cNvSpPr/>
          <p:nvPr/>
        </p:nvSpPr>
        <p:spPr>
          <a:xfrm>
            <a:off x="15325343"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Base evaluation 45"/>
          <p:cNvSpPr/>
          <p:nvPr/>
        </p:nvSpPr>
        <p:spPr>
          <a:xfrm>
            <a:off x="16075151"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Base evaluation 46"/>
          <p:cNvSpPr/>
          <p:nvPr/>
        </p:nvSpPr>
        <p:spPr>
          <a:xfrm>
            <a:off x="16824960"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Base evaluation 47"/>
          <p:cNvSpPr/>
          <p:nvPr/>
        </p:nvSpPr>
        <p:spPr>
          <a:xfrm>
            <a:off x="17574768"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Base evaluation 48"/>
          <p:cNvSpPr/>
          <p:nvPr/>
        </p:nvSpPr>
        <p:spPr>
          <a:xfrm>
            <a:off x="18324576"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Base evaluation 49"/>
          <p:cNvSpPr/>
          <p:nvPr/>
        </p:nvSpPr>
        <p:spPr>
          <a:xfrm>
            <a:off x="19074384"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Base evaluation 50"/>
          <p:cNvSpPr/>
          <p:nvPr/>
        </p:nvSpPr>
        <p:spPr>
          <a:xfrm>
            <a:off x="19824192" y="9372600"/>
            <a:ext cx="557784" cy="557784"/>
          </a:xfrm>
          <a:prstGeom prst="rect">
            <a:avLst/>
          </a:prstGeom>
          <a:solidFill>
            <a:srgbClr val="A7A7A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Student label"/>
          <p:cNvSpPr txBox="1"/>
          <p:nvPr/>
        </p:nvSpPr>
        <p:spPr>
          <a:xfrm>
            <a:off x="1828800" y="11887200"/>
            <a:ext cx="20116800" cy="914400"/>
          </a:xfrm>
          <a:prstGeom prst="rect">
            <a:avLst/>
          </a:prstGeom>
          <a:noFill/>
        </p:spPr>
        <p:txBody>
          <a:bodyPr wrap="square" lIns="0" rIns="0" tIns="0" bIns="0">
            <a:spAutoFit/>
          </a:bodyPr>
          <a:lstStyle/>
          <a:p>
            <a:pPr>
              <a:spcBef>
                <a:spcPts val="0"/>
              </a:spcBef>
              <a:spcAft>
                <a:spcPts val="0"/>
              </a:spcAft>
            </a:pPr>
            <a:r>
              <a:rPr sz="4400" b="0">
                <a:solidFill>
                  <a:srgbClr val="000000"/>
                </a:solidFill>
                <a:latin typeface="NVIDIA Sans Medium"/>
              </a:rPr>
              <a:t>Distilled student</a:t>
            </a:r>
          </a:p>
        </p:txBody>
      </p:sp>
      <p:sp>
        <p:nvSpPr>
          <p:cNvPr id="58" name="Student count"/>
          <p:cNvSpPr txBox="1"/>
          <p:nvPr/>
        </p:nvSpPr>
        <p:spPr>
          <a:xfrm>
            <a:off x="1828800" y="13030200"/>
            <a:ext cx="20116800" cy="100584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a:rPr>
              <a:t>8 model evaluations</a:t>
            </a:r>
          </a:p>
        </p:txBody>
      </p:sp>
      <p:sp>
        <p:nvSpPr>
          <p:cNvPr id="59" name="Student evaluation 1"/>
          <p:cNvSpPr/>
          <p:nvPr/>
        </p:nvSpPr>
        <p:spPr>
          <a:xfrm>
            <a:off x="18288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Student evaluation 2"/>
          <p:cNvSpPr/>
          <p:nvPr/>
        </p:nvSpPr>
        <p:spPr>
          <a:xfrm>
            <a:off x="416052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Student evaluation 3"/>
          <p:cNvSpPr/>
          <p:nvPr/>
        </p:nvSpPr>
        <p:spPr>
          <a:xfrm>
            <a:off x="649224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Student evaluation 4"/>
          <p:cNvSpPr/>
          <p:nvPr/>
        </p:nvSpPr>
        <p:spPr>
          <a:xfrm>
            <a:off x="882395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Student evaluation 5"/>
          <p:cNvSpPr/>
          <p:nvPr/>
        </p:nvSpPr>
        <p:spPr>
          <a:xfrm>
            <a:off x="1115568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Student evaluation 6"/>
          <p:cNvSpPr/>
          <p:nvPr/>
        </p:nvSpPr>
        <p:spPr>
          <a:xfrm>
            <a:off x="13487400"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5" name="Student evaluation 7"/>
          <p:cNvSpPr/>
          <p:nvPr/>
        </p:nvSpPr>
        <p:spPr>
          <a:xfrm>
            <a:off x="1581911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Student evaluation 8"/>
          <p:cNvSpPr/>
          <p:nvPr/>
        </p:nvSpPr>
        <p:spPr>
          <a:xfrm>
            <a:off x="18150839" y="14676120"/>
            <a:ext cx="1965960" cy="8229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Evaluation reduction"/>
          <p:cNvSpPr txBox="1"/>
          <p:nvPr/>
        </p:nvSpPr>
        <p:spPr>
          <a:xfrm>
            <a:off x="23957280" y="7955279"/>
            <a:ext cx="10789920" cy="2560320"/>
          </a:xfrm>
          <a:prstGeom prst="rect">
            <a:avLst/>
          </a:prstGeom>
          <a:noFill/>
        </p:spPr>
        <p:txBody>
          <a:bodyPr wrap="square" lIns="0" rIns="0" tIns="0" bIns="0">
            <a:spAutoFit/>
          </a:bodyPr>
          <a:lstStyle/>
          <a:p>
            <a:pPr algn="ctr">
              <a:spcBef>
                <a:spcPts val="0"/>
              </a:spcBef>
              <a:spcAft>
                <a:spcPts val="0"/>
              </a:spcAft>
            </a:pPr>
            <a:r>
              <a:rPr sz="15200" b="0">
                <a:solidFill>
                  <a:srgbClr val="76B900"/>
                </a:solidFill>
                <a:latin typeface="NVIDIA Sans Medium"/>
              </a:rPr>
              <a:t>84%</a:t>
            </a:r>
          </a:p>
        </p:txBody>
      </p:sp>
      <p:sp>
        <p:nvSpPr>
          <p:cNvPr id="68" name="Evaluation reduction explanation"/>
          <p:cNvSpPr txBox="1"/>
          <p:nvPr/>
        </p:nvSpPr>
        <p:spPr>
          <a:xfrm>
            <a:off x="23225760" y="10972800"/>
            <a:ext cx="11521440" cy="1188720"/>
          </a:xfrm>
          <a:prstGeom prst="rect">
            <a:avLst/>
          </a:prstGeom>
          <a:noFill/>
        </p:spPr>
        <p:txBody>
          <a:bodyPr wrap="square" lIns="0" rIns="0" tIns="0" bIns="0">
            <a:spAutoFit/>
          </a:bodyPr>
          <a:lstStyle/>
          <a:p>
            <a:pPr algn="ctr">
              <a:spcBef>
                <a:spcPts val="0"/>
              </a:spcBef>
              <a:spcAft>
                <a:spcPts val="0"/>
              </a:spcAft>
            </a:pPr>
            <a:r>
              <a:rPr sz="4000" b="0">
                <a:solidFill>
                  <a:srgbClr val="313131"/>
                </a:solidFill>
                <a:latin typeface="NVIDIA Sans"/>
              </a:rPr>
              <a:t>fewer evaluations</a:t>
            </a:r>
          </a:p>
        </p:txBody>
      </p:sp>
      <p:sp>
        <p:nvSpPr>
          <p:cNvPr id="69" name="Distillation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Less repeated model work also means fewer repeated communication rounds.</a:t>
            </a:r>
          </a:p>
        </p:txBody>
      </p:sp>
      <p:sp>
        <p:nvSpPr>
          <p:cNvPr id="70" name="Distillation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Evaluation count reduction; measured E2E results are shown in the optimization table.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35</a:t>
            </a:r>
          </a:p>
        </p:txBody>
      </p:sp>
      <p:sp>
        <p:nvSpPr>
          <p:cNvPr id="3" name="Text Placeholder 2"/>
          <p:cNvSpPr>
            <a:spLocks noGrp="1"/>
          </p:cNvSpPr>
          <p:nvPr>
            <p:ph type="body" idx="13" sz="quarter"/>
          </p:nvPr>
        </p:nvSpPr>
        <p:spPr/>
        <p:txBody>
          <a:bodyPr/>
          <a:lstStyle/>
          <a:p>
            <a:r>
              <a:t>Choose where to compute, then lower the cost of that computation.</a:t>
            </a:r>
          </a:p>
        </p:txBody>
      </p:sp>
      <p:sp>
        <p:nvSpPr>
          <p:cNvPr id="4" name="Title 3"/>
          <p:cNvSpPr>
            <a:spLocks noGrp="1"/>
          </p:cNvSpPr>
          <p:nvPr>
            <p:ph type="title"/>
          </p:nvPr>
        </p:nvSpPr>
        <p:spPr/>
        <p:txBody>
          <a:bodyPr/>
          <a:lstStyle/>
          <a:p>
            <a:r>
              <a:rPr sz="7600"/>
              <a:t>Optimization - Video Sparse Attention + NVFP4</a:t>
            </a:r>
          </a:p>
        </p:txBody>
      </p:sp>
      <p:sp>
        <p:nvSpPr>
          <p:cNvPr id="5" name="VSA heading"/>
          <p:cNvSpPr txBox="1"/>
          <p:nvPr/>
        </p:nvSpPr>
        <p:spPr>
          <a:xfrm>
            <a:off x="1828800" y="5577840"/>
            <a:ext cx="155448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Video Sparse Attention</a:t>
            </a:r>
          </a:p>
        </p:txBody>
      </p:sp>
      <p:sp>
        <p:nvSpPr>
          <p:cNvPr id="6" name="VSA insight"/>
          <p:cNvSpPr txBox="1"/>
          <p:nvPr/>
        </p:nvSpPr>
        <p:spPr>
          <a:xfrm>
            <a:off x="1828800" y="6903720"/>
            <a:ext cx="155448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Attend to selected regions</a:t>
            </a:r>
          </a:p>
        </p:txBody>
      </p:sp>
      <p:sp>
        <p:nvSpPr>
          <p:cNvPr id="7" name="Attention block 0-0"/>
          <p:cNvSpPr/>
          <p:nvPr/>
        </p:nvSpPr>
        <p:spPr>
          <a:xfrm>
            <a:off x="429768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Attention block 0-1"/>
          <p:cNvSpPr/>
          <p:nvPr/>
        </p:nvSpPr>
        <p:spPr>
          <a:xfrm>
            <a:off x="571500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Attention block 0-2"/>
          <p:cNvSpPr/>
          <p:nvPr/>
        </p:nvSpPr>
        <p:spPr>
          <a:xfrm>
            <a:off x="713232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Attention block 0-3"/>
          <p:cNvSpPr/>
          <p:nvPr/>
        </p:nvSpPr>
        <p:spPr>
          <a:xfrm>
            <a:off x="854964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Attention block 0-4"/>
          <p:cNvSpPr/>
          <p:nvPr/>
        </p:nvSpPr>
        <p:spPr>
          <a:xfrm>
            <a:off x="9966960" y="8641080"/>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Attention block 0-5"/>
          <p:cNvSpPr/>
          <p:nvPr/>
        </p:nvSpPr>
        <p:spPr>
          <a:xfrm>
            <a:off x="11384280" y="8641080"/>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Attention block 1-0"/>
          <p:cNvSpPr/>
          <p:nvPr/>
        </p:nvSpPr>
        <p:spPr>
          <a:xfrm>
            <a:off x="429768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Attention block 1-1"/>
          <p:cNvSpPr/>
          <p:nvPr/>
        </p:nvSpPr>
        <p:spPr>
          <a:xfrm>
            <a:off x="571500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Attention block 1-2"/>
          <p:cNvSpPr/>
          <p:nvPr/>
        </p:nvSpPr>
        <p:spPr>
          <a:xfrm>
            <a:off x="713232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Attention block 1-3"/>
          <p:cNvSpPr/>
          <p:nvPr/>
        </p:nvSpPr>
        <p:spPr>
          <a:xfrm>
            <a:off x="854964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lock 1-4"/>
          <p:cNvSpPr/>
          <p:nvPr/>
        </p:nvSpPr>
        <p:spPr>
          <a:xfrm>
            <a:off x="9966960" y="9528048"/>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Attention block 1-5"/>
          <p:cNvSpPr/>
          <p:nvPr/>
        </p:nvSpPr>
        <p:spPr>
          <a:xfrm>
            <a:off x="11384280" y="9528048"/>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Attention block 2-0"/>
          <p:cNvSpPr/>
          <p:nvPr/>
        </p:nvSpPr>
        <p:spPr>
          <a:xfrm>
            <a:off x="429768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Attention block 2-1"/>
          <p:cNvSpPr/>
          <p:nvPr/>
        </p:nvSpPr>
        <p:spPr>
          <a:xfrm>
            <a:off x="571500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Attention block 2-2"/>
          <p:cNvSpPr/>
          <p:nvPr/>
        </p:nvSpPr>
        <p:spPr>
          <a:xfrm>
            <a:off x="713232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lock 2-3"/>
          <p:cNvSpPr/>
          <p:nvPr/>
        </p:nvSpPr>
        <p:spPr>
          <a:xfrm>
            <a:off x="8549640" y="10415015"/>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Attention block 2-4"/>
          <p:cNvSpPr/>
          <p:nvPr/>
        </p:nvSpPr>
        <p:spPr>
          <a:xfrm>
            <a:off x="996696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Attention block 2-5"/>
          <p:cNvSpPr/>
          <p:nvPr/>
        </p:nvSpPr>
        <p:spPr>
          <a:xfrm>
            <a:off x="11384280" y="10415015"/>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ttention block 3-0"/>
          <p:cNvSpPr/>
          <p:nvPr/>
        </p:nvSpPr>
        <p:spPr>
          <a:xfrm>
            <a:off x="429768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ttention block 3-1"/>
          <p:cNvSpPr/>
          <p:nvPr/>
        </p:nvSpPr>
        <p:spPr>
          <a:xfrm>
            <a:off x="571500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lock 3-2"/>
          <p:cNvSpPr/>
          <p:nvPr/>
        </p:nvSpPr>
        <p:spPr>
          <a:xfrm>
            <a:off x="713232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Attention block 3-3"/>
          <p:cNvSpPr/>
          <p:nvPr/>
        </p:nvSpPr>
        <p:spPr>
          <a:xfrm>
            <a:off x="854964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Attention block 3-4"/>
          <p:cNvSpPr/>
          <p:nvPr/>
        </p:nvSpPr>
        <p:spPr>
          <a:xfrm>
            <a:off x="9966960" y="11301984"/>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Attention block 3-5"/>
          <p:cNvSpPr/>
          <p:nvPr/>
        </p:nvSpPr>
        <p:spPr>
          <a:xfrm>
            <a:off x="11384280" y="11301984"/>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Attention block 4-0"/>
          <p:cNvSpPr/>
          <p:nvPr/>
        </p:nvSpPr>
        <p:spPr>
          <a:xfrm>
            <a:off x="42976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Attention block 4-1"/>
          <p:cNvSpPr/>
          <p:nvPr/>
        </p:nvSpPr>
        <p:spPr>
          <a:xfrm>
            <a:off x="571500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Attention block 4-2"/>
          <p:cNvSpPr/>
          <p:nvPr/>
        </p:nvSpPr>
        <p:spPr>
          <a:xfrm>
            <a:off x="713232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Attention block 4-3"/>
          <p:cNvSpPr/>
          <p:nvPr/>
        </p:nvSpPr>
        <p:spPr>
          <a:xfrm>
            <a:off x="8549640" y="12188951"/>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Attention block 4-4"/>
          <p:cNvSpPr/>
          <p:nvPr/>
        </p:nvSpPr>
        <p:spPr>
          <a:xfrm>
            <a:off x="996696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Attention block 4-5"/>
          <p:cNvSpPr/>
          <p:nvPr/>
        </p:nvSpPr>
        <p:spPr>
          <a:xfrm>
            <a:off x="11384280" y="12188951"/>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Attention block 5-0"/>
          <p:cNvSpPr/>
          <p:nvPr/>
        </p:nvSpPr>
        <p:spPr>
          <a:xfrm>
            <a:off x="429768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Attention block 5-1"/>
          <p:cNvSpPr/>
          <p:nvPr/>
        </p:nvSpPr>
        <p:spPr>
          <a:xfrm>
            <a:off x="571500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Attention block 5-2"/>
          <p:cNvSpPr/>
          <p:nvPr/>
        </p:nvSpPr>
        <p:spPr>
          <a:xfrm>
            <a:off x="713232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Attention block 5-3"/>
          <p:cNvSpPr/>
          <p:nvPr/>
        </p:nvSpPr>
        <p:spPr>
          <a:xfrm>
            <a:off x="854964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Attention block 5-4"/>
          <p:cNvSpPr/>
          <p:nvPr/>
        </p:nvSpPr>
        <p:spPr>
          <a:xfrm>
            <a:off x="9966960" y="13075919"/>
            <a:ext cx="1207008" cy="685800"/>
          </a:xfrm>
          <a:prstGeom prst="rect">
            <a:avLst/>
          </a:prstGeom>
          <a:solidFill>
            <a:srgbClr val="ECECE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Attention block 5-5"/>
          <p:cNvSpPr/>
          <p:nvPr/>
        </p:nvSpPr>
        <p:spPr>
          <a:xfrm>
            <a:off x="11384280" y="13075919"/>
            <a:ext cx="1207008" cy="68580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VSA diagram scope"/>
          <p:cNvSpPr txBox="1"/>
          <p:nvPr/>
        </p:nvSpPr>
        <p:spPr>
          <a:xfrm>
            <a:off x="1828800" y="14630400"/>
            <a:ext cx="155448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Content-dependent selection · schematic</a:t>
            </a:r>
          </a:p>
        </p:txBody>
      </p:sp>
      <p:cxnSp>
        <p:nvCxnSpPr>
          <p:cNvPr id="44" name="Two methods separator"/>
          <p:cNvCxnSpPr/>
          <p:nvPr/>
        </p:nvCxnSpPr>
        <p:spPr>
          <a:xfrm>
            <a:off x="18288000" y="5669280"/>
            <a:ext cx="0" cy="101498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45" name="NVFP4 heading"/>
          <p:cNvSpPr txBox="1"/>
          <p:nvPr/>
        </p:nvSpPr>
        <p:spPr>
          <a:xfrm>
            <a:off x="20116800" y="5577840"/>
            <a:ext cx="1463040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NVFP4</a:t>
            </a:r>
          </a:p>
        </p:txBody>
      </p:sp>
      <p:sp>
        <p:nvSpPr>
          <p:cNvPr id="46" name="NVFP4 insight"/>
          <p:cNvSpPr txBox="1"/>
          <p:nvPr/>
        </p:nvSpPr>
        <p:spPr>
          <a:xfrm>
            <a:off x="20116800" y="6903720"/>
            <a:ext cx="146304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a:rPr>
              <a:t>Lower precision with QAD</a:t>
            </a:r>
          </a:p>
        </p:txBody>
      </p:sp>
      <p:sp>
        <p:nvSpPr>
          <p:cNvPr id="47" name="BF16 label"/>
          <p:cNvSpPr txBox="1"/>
          <p:nvPr/>
        </p:nvSpPr>
        <p:spPr>
          <a:xfrm>
            <a:off x="20299680" y="9418320"/>
            <a:ext cx="5486400" cy="1371600"/>
          </a:xfrm>
          <a:prstGeom prst="rect">
            <a:avLst/>
          </a:prstGeom>
          <a:noFill/>
        </p:spPr>
        <p:txBody>
          <a:bodyPr wrap="square" lIns="0" rIns="0" tIns="0" bIns="0">
            <a:spAutoFit/>
          </a:bodyPr>
          <a:lstStyle/>
          <a:p>
            <a:pPr algn="ctr">
              <a:spcBef>
                <a:spcPts val="0"/>
              </a:spcBef>
              <a:spcAft>
                <a:spcPts val="0"/>
              </a:spcAft>
            </a:pPr>
            <a:r>
              <a:rPr sz="7800" b="0">
                <a:solidFill>
                  <a:srgbClr val="313131"/>
                </a:solidFill>
                <a:latin typeface="NVIDIA Sans Medium"/>
              </a:rPr>
              <a:t>BF16</a:t>
            </a:r>
          </a:p>
        </p:txBody>
      </p:sp>
      <p:sp>
        <p:nvSpPr>
          <p:cNvPr id="48" name="Precision transition"/>
          <p:cNvSpPr/>
          <p:nvPr/>
        </p:nvSpPr>
        <p:spPr>
          <a:xfrm>
            <a:off x="26334720" y="9784080"/>
            <a:ext cx="1828800" cy="6858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NVFP4 label"/>
          <p:cNvSpPr txBox="1"/>
          <p:nvPr/>
        </p:nvSpPr>
        <p:spPr>
          <a:xfrm>
            <a:off x="28620720" y="9418320"/>
            <a:ext cx="6035040" cy="1371600"/>
          </a:xfrm>
          <a:prstGeom prst="rect">
            <a:avLst/>
          </a:prstGeom>
          <a:noFill/>
        </p:spPr>
        <p:txBody>
          <a:bodyPr wrap="square" lIns="0" rIns="0" tIns="0" bIns="0">
            <a:spAutoFit/>
          </a:bodyPr>
          <a:lstStyle/>
          <a:p>
            <a:pPr algn="ctr">
              <a:spcBef>
                <a:spcPts val="0"/>
              </a:spcBef>
              <a:spcAft>
                <a:spcPts val="0"/>
              </a:spcAft>
            </a:pPr>
            <a:r>
              <a:rPr sz="7200" b="0">
                <a:solidFill>
                  <a:srgbClr val="76B900"/>
                </a:solidFill>
                <a:latin typeface="NVIDIA Sans Medium"/>
              </a:rPr>
              <a:t>NVFP4</a:t>
            </a:r>
          </a:p>
        </p:txBody>
      </p:sp>
      <p:sp>
        <p:nvSpPr>
          <p:cNvPr id="50" name="QAD summary"/>
          <p:cNvSpPr txBox="1"/>
          <p:nvPr/>
        </p:nvSpPr>
        <p:spPr>
          <a:xfrm>
            <a:off x="20116800" y="12481560"/>
            <a:ext cx="14630400" cy="228600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Train for quantization error.</a:t>
            </a:r>
          </a:p>
          <a:p>
            <a:pPr>
              <a:spcBef>
                <a:spcPts val="0"/>
              </a:spcBef>
              <a:spcAft>
                <a:spcPts val="0"/>
              </a:spcAft>
            </a:pPr>
            <a:r>
              <a:rPr sz="3400" b="0">
                <a:solidFill>
                  <a:srgbClr val="000000"/>
                </a:solidFill>
                <a:latin typeface="NVIDIA Sans"/>
              </a:rPr>
              <a:t>Keep sensitive paths at higher precision.</a:t>
            </a:r>
          </a:p>
        </p:txBody>
      </p:sp>
      <p:sp>
        <p:nvSpPr>
          <p:cNvPr id="51" name="Quality takeaway"/>
          <p:cNvSpPr txBox="1"/>
          <p:nvPr/>
        </p:nvSpPr>
        <p:spPr>
          <a:xfrm>
            <a:off x="1828800" y="17602200"/>
            <a:ext cx="32918400" cy="1097280"/>
          </a:xfrm>
          <a:prstGeom prst="rect">
            <a:avLst/>
          </a:prstGeom>
          <a:noFill/>
        </p:spPr>
        <p:txBody>
          <a:bodyPr wrap="square" lIns="0" rIns="0" tIns="0" bIns="0">
            <a:spAutoFit/>
          </a:bodyPr>
          <a:lstStyle/>
          <a:p>
            <a:pPr>
              <a:spcBef>
                <a:spcPts val="0"/>
              </a:spcBef>
              <a:spcAft>
                <a:spcPts val="0"/>
              </a:spcAft>
            </a:pPr>
            <a:r>
              <a:rPr sz="4200" b="0">
                <a:solidFill>
                  <a:srgbClr val="000000"/>
                </a:solidFill>
                <a:latin typeface="NVIDIA Sans Medium"/>
              </a:rPr>
              <a:t>Evaluate speed and quality together on representative scenes.</a:t>
            </a:r>
          </a:p>
        </p:txBody>
      </p:sp>
      <p:sp>
        <p:nvSpPr>
          <p:cNvPr id="52" name="Quality scope"/>
          <p:cNvSpPr txBox="1"/>
          <p:nvPr/>
        </p:nvSpPr>
        <p:spPr>
          <a:xfrm>
            <a:off x="1828800" y="1911096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Sparsity and precision changes require workload-specific quality checks.</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36</a:t>
            </a:r>
          </a:p>
        </p:txBody>
      </p:sp>
      <p:sp>
        <p:nvSpPr>
          <p:cNvPr id="3" name="Text Placeholder 2"/>
          <p:cNvSpPr>
            <a:spLocks noGrp="1"/>
          </p:cNvSpPr>
          <p:nvPr>
            <p:ph type="body" idx="13" sz="quarter"/>
          </p:nvPr>
        </p:nvSpPr>
        <p:spPr/>
        <p:txBody>
          <a:bodyPr/>
          <a:lstStyle/>
          <a:p>
            <a:r>
              <a:t>Topology: the communication path matters.</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5" name="Topology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Map GPU–NIC affinity before choosing the communication path.</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37</a:t>
            </a:r>
          </a:p>
        </p:txBody>
      </p:sp>
      <p:sp>
        <p:nvSpPr>
          <p:cNvPr id="3" name="Text Placeholder 2"/>
          <p:cNvSpPr>
            <a:spLocks noGrp="1"/>
          </p:cNvSpPr>
          <p:nvPr>
            <p:ph type="body" idx="13" sz="quarter"/>
          </p:nvPr>
        </p:nvSpPr>
        <p:spPr/>
        <p:txBody>
          <a:bodyPr/>
          <a:lstStyle/>
          <a:p>
            <a:r>
              <a:t>Choose the path, overlap the work, and reduce movement.</a:t>
            </a:r>
          </a:p>
        </p:txBody>
      </p:sp>
      <p:sp>
        <p:nvSpPr>
          <p:cNvPr id="4" name="Title 3"/>
          <p:cNvSpPr>
            <a:spLocks noGrp="1"/>
          </p:cNvSpPr>
          <p:nvPr>
            <p:ph type="title"/>
          </p:nvPr>
        </p:nvSpPr>
        <p:spPr/>
        <p:txBody>
          <a:bodyPr/>
          <a:lstStyle/>
          <a:p>
            <a:r>
              <a:rPr sz="8800"/>
              <a:t>Optimization - Comms</a:t>
            </a:r>
          </a:p>
        </p:txBody>
      </p:sp>
      <p:sp>
        <p:nvSpPr>
          <p:cNvPr id="5" name="Comms action 0"/>
          <p:cNvSpPr txBox="1"/>
          <p:nvPr/>
        </p:nvSpPr>
        <p:spPr>
          <a:xfrm>
            <a:off x="1828800" y="557784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Route</a:t>
            </a:r>
          </a:p>
        </p:txBody>
      </p:sp>
      <p:sp>
        <p:nvSpPr>
          <p:cNvPr id="6" name="Comms explanation 0"/>
          <p:cNvSpPr txBox="1"/>
          <p:nvPr/>
        </p:nvSpPr>
        <p:spPr>
          <a:xfrm>
            <a:off x="1828800" y="672084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GPU-affine NICs and RDMA.</a:t>
            </a:r>
          </a:p>
        </p:txBody>
      </p:sp>
      <p:sp>
        <p:nvSpPr>
          <p:cNvPr id="7" name="Comms action 1"/>
          <p:cNvSpPr txBox="1"/>
          <p:nvPr/>
        </p:nvSpPr>
        <p:spPr>
          <a:xfrm>
            <a:off x="1828800" y="9052559"/>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Overlap</a:t>
            </a:r>
          </a:p>
        </p:txBody>
      </p:sp>
      <p:sp>
        <p:nvSpPr>
          <p:cNvPr id="8" name="Comms explanation 1"/>
          <p:cNvSpPr txBox="1"/>
          <p:nvPr/>
        </p:nvSpPr>
        <p:spPr>
          <a:xfrm>
            <a:off x="1828800" y="10195559"/>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Transfer the next head band while attention runs.</a:t>
            </a:r>
          </a:p>
        </p:txBody>
      </p:sp>
      <p:sp>
        <p:nvSpPr>
          <p:cNvPr id="9" name="Comms action 2"/>
          <p:cNvSpPr txBox="1"/>
          <p:nvPr/>
        </p:nvSpPr>
        <p:spPr>
          <a:xfrm>
            <a:off x="1828800" y="12527280"/>
            <a:ext cx="13898880" cy="914400"/>
          </a:xfrm>
          <a:prstGeom prst="rect">
            <a:avLst/>
          </a:prstGeom>
          <a:noFill/>
        </p:spPr>
        <p:txBody>
          <a:bodyPr wrap="square" lIns="0" rIns="0" tIns="0" bIns="0">
            <a:spAutoFit/>
          </a:bodyPr>
          <a:lstStyle/>
          <a:p>
            <a:pPr>
              <a:spcBef>
                <a:spcPts val="0"/>
              </a:spcBef>
              <a:spcAft>
                <a:spcPts val="0"/>
              </a:spcAft>
            </a:pPr>
            <a:r>
              <a:rPr sz="4600" b="0">
                <a:solidFill>
                  <a:srgbClr val="000000"/>
                </a:solidFill>
                <a:latin typeface="NVIDIA Sans Medium"/>
              </a:rPr>
              <a:t>Streamline</a:t>
            </a:r>
          </a:p>
        </p:txBody>
      </p:sp>
      <p:sp>
        <p:nvSpPr>
          <p:cNvPr id="10" name="Comms explanation 2"/>
          <p:cNvSpPr txBox="1"/>
          <p:nvPr/>
        </p:nvSpPr>
        <p:spPr>
          <a:xfrm>
            <a:off x="1828800" y="13670280"/>
            <a:ext cx="13898880" cy="150876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Use direct layouts and replay stable compute.</a:t>
            </a:r>
          </a:p>
        </p:txBody>
      </p:sp>
      <p:sp>
        <p:nvSpPr>
          <p:cNvPr id="11" name="Overlap diagram heading"/>
          <p:cNvSpPr txBox="1"/>
          <p:nvPr/>
        </p:nvSpPr>
        <p:spPr>
          <a:xfrm>
            <a:off x="17373600" y="5577840"/>
            <a:ext cx="17373600" cy="914400"/>
          </a:xfrm>
          <a:prstGeom prst="rect">
            <a:avLst/>
          </a:prstGeom>
          <a:noFill/>
        </p:spPr>
        <p:txBody>
          <a:bodyPr wrap="square" lIns="0" rIns="0" tIns="0" bIns="0">
            <a:spAutoFit/>
          </a:bodyPr>
          <a:lstStyle/>
          <a:p>
            <a:pPr>
              <a:spcBef>
                <a:spcPts val="0"/>
              </a:spcBef>
              <a:spcAft>
                <a:spcPts val="0"/>
              </a:spcAft>
            </a:pPr>
            <a:r>
              <a:rPr sz="3800" b="0">
                <a:solidFill>
                  <a:srgbClr val="000000"/>
                </a:solidFill>
                <a:latin typeface="NVIDIA Sans Medium"/>
              </a:rPr>
              <a:t>Overlap transfers with attention</a:t>
            </a:r>
          </a:p>
        </p:txBody>
      </p:sp>
      <p:sp>
        <p:nvSpPr>
          <p:cNvPr id="12" name="Communication lane"/>
          <p:cNvSpPr txBox="1"/>
          <p:nvPr/>
        </p:nvSpPr>
        <p:spPr>
          <a:xfrm>
            <a:off x="17373600" y="7863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Transfer</a:t>
            </a:r>
          </a:p>
        </p:txBody>
      </p:sp>
      <p:sp>
        <p:nvSpPr>
          <p:cNvPr id="13" name="Attention lane"/>
          <p:cNvSpPr txBox="1"/>
          <p:nvPr/>
        </p:nvSpPr>
        <p:spPr>
          <a:xfrm>
            <a:off x="17373600" y="10149840"/>
            <a:ext cx="3931920" cy="731520"/>
          </a:xfrm>
          <a:prstGeom prst="rect">
            <a:avLst/>
          </a:prstGeom>
          <a:noFill/>
        </p:spPr>
        <p:txBody>
          <a:bodyPr wrap="square" lIns="0" rIns="0" tIns="0" bIns="0">
            <a:spAutoFit/>
          </a:bodyPr>
          <a:lstStyle/>
          <a:p>
            <a:pPr>
              <a:spcBef>
                <a:spcPts val="0"/>
              </a:spcBef>
              <a:spcAft>
                <a:spcPts val="0"/>
              </a:spcAft>
            </a:pPr>
            <a:r>
              <a:rPr sz="2800" b="0">
                <a:solidFill>
                  <a:srgbClr val="000000"/>
                </a:solidFill>
                <a:latin typeface="NVIDIA Sans"/>
              </a:rPr>
              <a:t>Attention</a:t>
            </a:r>
          </a:p>
        </p:txBody>
      </p:sp>
      <p:sp>
        <p:nvSpPr>
          <p:cNvPr id="14" name="Transfer band 0"/>
          <p:cNvSpPr/>
          <p:nvPr/>
        </p:nvSpPr>
        <p:spPr>
          <a:xfrm>
            <a:off x="2148840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ransfer band label 0"/>
          <p:cNvSpPr txBox="1"/>
          <p:nvPr/>
        </p:nvSpPr>
        <p:spPr>
          <a:xfrm>
            <a:off x="2148840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sp>
        <p:nvSpPr>
          <p:cNvPr id="16" name="Attention band 0"/>
          <p:cNvSpPr/>
          <p:nvPr/>
        </p:nvSpPr>
        <p:spPr>
          <a:xfrm>
            <a:off x="2432304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Attention band label 0"/>
          <p:cNvSpPr txBox="1"/>
          <p:nvPr/>
        </p:nvSpPr>
        <p:spPr>
          <a:xfrm>
            <a:off x="2432304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1</a:t>
            </a:r>
          </a:p>
        </p:txBody>
      </p:sp>
      <p:cxnSp>
        <p:nvCxnSpPr>
          <p:cNvPr id="18" name="Readiness 0"/>
          <p:cNvCxnSpPr/>
          <p:nvPr/>
        </p:nvCxnSpPr>
        <p:spPr>
          <a:xfrm>
            <a:off x="2432304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19" name="Transfer band 1"/>
          <p:cNvSpPr/>
          <p:nvPr/>
        </p:nvSpPr>
        <p:spPr>
          <a:xfrm>
            <a:off x="2478024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ransfer band label 1"/>
          <p:cNvSpPr txBox="1"/>
          <p:nvPr/>
        </p:nvSpPr>
        <p:spPr>
          <a:xfrm>
            <a:off x="2478024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sp>
        <p:nvSpPr>
          <p:cNvPr id="21" name="Attention band 1"/>
          <p:cNvSpPr/>
          <p:nvPr/>
        </p:nvSpPr>
        <p:spPr>
          <a:xfrm>
            <a:off x="27614880"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Attention band label 1"/>
          <p:cNvSpPr txBox="1"/>
          <p:nvPr/>
        </p:nvSpPr>
        <p:spPr>
          <a:xfrm>
            <a:off x="27614880"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2</a:t>
            </a:r>
          </a:p>
        </p:txBody>
      </p:sp>
      <p:cxnSp>
        <p:nvCxnSpPr>
          <p:cNvPr id="23" name="Readiness 1"/>
          <p:cNvCxnSpPr/>
          <p:nvPr/>
        </p:nvCxnSpPr>
        <p:spPr>
          <a:xfrm>
            <a:off x="27614880"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4" name="Transfer band 2"/>
          <p:cNvSpPr/>
          <p:nvPr/>
        </p:nvSpPr>
        <p:spPr>
          <a:xfrm>
            <a:off x="28072080" y="7589520"/>
            <a:ext cx="2834640" cy="1051560"/>
          </a:xfrm>
          <a:prstGeom prst="rect">
            <a:avLst/>
          </a:prstGeom>
          <a:solidFill>
            <a:srgbClr val="31313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ransfer band label 2"/>
          <p:cNvSpPr txBox="1"/>
          <p:nvPr/>
        </p:nvSpPr>
        <p:spPr>
          <a:xfrm>
            <a:off x="28072080" y="7763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sp>
        <p:nvSpPr>
          <p:cNvPr id="26" name="Attention band 2"/>
          <p:cNvSpPr/>
          <p:nvPr/>
        </p:nvSpPr>
        <p:spPr>
          <a:xfrm>
            <a:off x="30906719" y="9875520"/>
            <a:ext cx="2834640" cy="105156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Attention band label 2"/>
          <p:cNvSpPr txBox="1"/>
          <p:nvPr/>
        </p:nvSpPr>
        <p:spPr>
          <a:xfrm>
            <a:off x="30906719" y="10049256"/>
            <a:ext cx="2834640" cy="731520"/>
          </a:xfrm>
          <a:prstGeom prst="rect">
            <a:avLst/>
          </a:prstGeom>
          <a:noFill/>
        </p:spPr>
        <p:txBody>
          <a:bodyPr wrap="square" lIns="0" rIns="0" tIns="0" bIns="0">
            <a:spAutoFit/>
          </a:bodyPr>
          <a:lstStyle/>
          <a:p>
            <a:pPr algn="ctr">
              <a:spcBef>
                <a:spcPts val="0"/>
              </a:spcBef>
              <a:spcAft>
                <a:spcPts val="0"/>
              </a:spcAft>
            </a:pPr>
            <a:r>
              <a:rPr sz="3000" b="0">
                <a:solidFill>
                  <a:srgbClr val="FFFFFF"/>
                </a:solidFill>
                <a:latin typeface="NVIDIA Sans Medium"/>
              </a:rPr>
              <a:t>3</a:t>
            </a:r>
          </a:p>
        </p:txBody>
      </p:sp>
      <p:cxnSp>
        <p:nvCxnSpPr>
          <p:cNvPr id="28" name="Readiness 2"/>
          <p:cNvCxnSpPr/>
          <p:nvPr/>
        </p:nvCxnSpPr>
        <p:spPr>
          <a:xfrm>
            <a:off x="30906719" y="8641080"/>
            <a:ext cx="0" cy="1234440"/>
          </a:xfrm>
          <a:prstGeom prst="line">
            <a:avLst/>
          </a:prstGeom>
          <a:ln w="25400">
            <a:solidFill>
              <a:srgbClr val="A7A7A7"/>
            </a:solidFill>
          </a:ln>
        </p:spPr>
        <p:style>
          <a:lnRef idx="2">
            <a:schemeClr val="accent1"/>
          </a:lnRef>
          <a:fillRef idx="0">
            <a:schemeClr val="accent1"/>
          </a:fillRef>
          <a:effectRef idx="1">
            <a:schemeClr val="accent1"/>
          </a:effectRef>
          <a:fontRef idx="minor">
            <a:schemeClr val="tx1"/>
          </a:fontRef>
        </p:style>
      </p:cxnSp>
      <p:sp>
        <p:nvSpPr>
          <p:cNvPr id="29" name="Overlap diagram scope"/>
          <p:cNvSpPr txBox="1"/>
          <p:nvPr/>
        </p:nvSpPr>
        <p:spPr>
          <a:xfrm>
            <a:off x="17373600" y="11887200"/>
            <a:ext cx="17373600" cy="731520"/>
          </a:xfrm>
          <a:prstGeom prst="rect">
            <a:avLst/>
          </a:prstGeom>
          <a:noFill/>
        </p:spPr>
        <p:txBody>
          <a:bodyPr wrap="square" lIns="0" rIns="0" tIns="0" bIns="0">
            <a:spAutoFit/>
          </a:bodyPr>
          <a:lstStyle/>
          <a:p>
            <a:pPr>
              <a:spcBef>
                <a:spcPts val="0"/>
              </a:spcBef>
              <a:spcAft>
                <a:spcPts val="0"/>
              </a:spcAft>
            </a:pPr>
            <a:r>
              <a:rPr sz="2700" b="0">
                <a:solidFill>
                  <a:srgbClr val="313131"/>
                </a:solidFill>
                <a:latin typeface="NVIDIA Sans"/>
              </a:rPr>
              <a:t>Conceptual head-band schedule</a:t>
            </a:r>
          </a:p>
        </p:txBody>
      </p:sp>
      <p:sp>
        <p:nvSpPr>
          <p:cNvPr id="30" name="Grouped speedup"/>
          <p:cNvSpPr txBox="1"/>
          <p:nvPr/>
        </p:nvSpPr>
        <p:spPr>
          <a:xfrm>
            <a:off x="17373600" y="13761720"/>
            <a:ext cx="17373600" cy="2103120"/>
          </a:xfrm>
          <a:prstGeom prst="rect">
            <a:avLst/>
          </a:prstGeom>
          <a:noFill/>
        </p:spPr>
        <p:txBody>
          <a:bodyPr wrap="square" lIns="0" rIns="0" tIns="0" bIns="0">
            <a:spAutoFit/>
          </a:bodyPr>
          <a:lstStyle/>
          <a:p>
            <a:pPr algn="ctr">
              <a:spcBef>
                <a:spcPts val="0"/>
              </a:spcBef>
              <a:spcAft>
                <a:spcPts val="0"/>
              </a:spcAft>
            </a:pPr>
            <a:r>
              <a:rPr sz="10800" b="0">
                <a:solidFill>
                  <a:srgbClr val="76B900"/>
                </a:solidFill>
                <a:latin typeface="NVIDIA Sans Medium"/>
              </a:rPr>
              <a:t>3.1× faster</a:t>
            </a:r>
          </a:p>
        </p:txBody>
      </p:sp>
      <p:sp>
        <p:nvSpPr>
          <p:cNvPr id="31" name="Grouped speedup scope"/>
          <p:cNvSpPr txBox="1"/>
          <p:nvPr/>
        </p:nvSpPr>
        <p:spPr>
          <a:xfrm>
            <a:off x="17373600" y="16047720"/>
            <a:ext cx="17373600" cy="82296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E2E · stages 03 → 06</a:t>
            </a:r>
          </a:p>
        </p:txBody>
      </p:sp>
      <p:sp>
        <p:nvSpPr>
          <p:cNvPr id="32" name="Comms takeaway"/>
          <p:cNvSpPr txBox="1"/>
          <p:nvPr/>
        </p:nvSpPr>
        <p:spPr>
          <a:xfrm>
            <a:off x="1828800" y="17922240"/>
            <a:ext cx="32918400" cy="914400"/>
          </a:xfrm>
          <a:prstGeom prst="rect">
            <a:avLst/>
          </a:prstGeom>
          <a:noFill/>
        </p:spPr>
        <p:txBody>
          <a:bodyPr wrap="square" lIns="0" rIns="0" tIns="0" bIns="0">
            <a:spAutoFit/>
          </a:bodyPr>
          <a:lstStyle/>
          <a:p>
            <a:pPr>
              <a:spcBef>
                <a:spcPts val="0"/>
              </a:spcBef>
              <a:spcAft>
                <a:spcPts val="0"/>
              </a:spcAft>
            </a:pPr>
            <a:r>
              <a:rPr sz="4000" b="0">
                <a:solidFill>
                  <a:srgbClr val="000000"/>
                </a:solidFill>
                <a:latin typeface="NVIDIA Sans Medium"/>
              </a:rPr>
              <a:t>Communication is a major opportunity for lossless optimization.</a:t>
            </a:r>
          </a:p>
        </p:txBody>
      </p:sp>
      <p:sp>
        <p:nvSpPr>
          <p:cNvPr id="33" name="Grouped intervention"/>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Grouped result: RDMA + layout + head overlap + compute graphs.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5" name="Table header"/>
          <p:cNvSpPr/>
          <p:nvPr/>
        </p:nvSpPr>
        <p:spPr>
          <a:xfrm>
            <a:off x="1828800" y="4709160"/>
            <a:ext cx="329184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Header Stage"/>
          <p:cNvSpPr txBox="1"/>
          <p:nvPr/>
        </p:nvSpPr>
        <p:spPr>
          <a:xfrm>
            <a:off x="1965960" y="4892040"/>
            <a:ext cx="17373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Stage</a:t>
            </a:r>
          </a:p>
        </p:txBody>
      </p:sp>
      <p:sp>
        <p:nvSpPr>
          <p:cNvPr id="7" name="Header Cumulative change"/>
          <p:cNvSpPr txBox="1"/>
          <p:nvPr/>
        </p:nvSpPr>
        <p:spPr>
          <a:xfrm>
            <a:off x="4160520" y="4892040"/>
            <a:ext cx="1645920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Cumulative change</a:t>
            </a:r>
          </a:p>
        </p:txBody>
      </p:sp>
      <p:sp>
        <p:nvSpPr>
          <p:cNvPr id="8" name="Header Median (s)"/>
          <p:cNvSpPr txBox="1"/>
          <p:nvPr/>
        </p:nvSpPr>
        <p:spPr>
          <a:xfrm>
            <a:off x="21076919" y="4892040"/>
            <a:ext cx="356616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Median (s)</a:t>
            </a:r>
          </a:p>
        </p:txBody>
      </p:sp>
      <p:sp>
        <p:nvSpPr>
          <p:cNvPr id="9" name="Header E2E speedup&#10;vs. previous"/>
          <p:cNvSpPr txBox="1"/>
          <p:nvPr/>
        </p:nvSpPr>
        <p:spPr>
          <a:xfrm>
            <a:off x="25100280" y="4892040"/>
            <a:ext cx="603504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E2E speedup</a:t>
            </a:r>
          </a:p>
          <a:p>
            <a:pPr>
              <a:spcBef>
                <a:spcPts val="0"/>
              </a:spcBef>
              <a:spcAft>
                <a:spcPts val="0"/>
              </a:spcAft>
            </a:pPr>
            <a:r>
              <a:rPr sz="2800" b="0">
                <a:solidFill>
                  <a:srgbClr val="76B900"/>
                </a:solidFill>
                <a:latin typeface="NVIDIA Sans Medium"/>
              </a:rPr>
              <a:t>vs. previous</a:t>
            </a:r>
          </a:p>
        </p:txBody>
      </p:sp>
      <p:sp>
        <p:nvSpPr>
          <p:cNvPr id="10" name="Header RTF"/>
          <p:cNvSpPr txBox="1"/>
          <p:nvPr/>
        </p:nvSpPr>
        <p:spPr>
          <a:xfrm>
            <a:off x="31683960" y="4892040"/>
            <a:ext cx="2926080" cy="914400"/>
          </a:xfrm>
          <a:prstGeom prst="rect">
            <a:avLst/>
          </a:prstGeom>
          <a:noFill/>
        </p:spPr>
        <p:txBody>
          <a:bodyPr wrap="square" lIns="18288" rIns="18288" tIns="0" bIns="0">
            <a:spAutoFit/>
          </a:bodyPr>
          <a:lstStyle/>
          <a:p>
            <a:pPr>
              <a:spcBef>
                <a:spcPts val="0"/>
              </a:spcBef>
              <a:spcAft>
                <a:spcPts val="0"/>
              </a:spcAft>
            </a:pPr>
            <a:r>
              <a:rPr sz="2800" b="0">
                <a:solidFill>
                  <a:srgbClr val="76B900"/>
                </a:solidFill>
                <a:latin typeface="NVIDIA Sans Medium"/>
              </a:rPr>
              <a:t>RTF</a:t>
            </a:r>
          </a:p>
        </p:txBody>
      </p:sp>
      <p:sp>
        <p:nvSpPr>
          <p:cNvPr id="11" name="Row background 0"/>
          <p:cNvSpPr/>
          <p:nvPr/>
        </p:nvSpPr>
        <p:spPr>
          <a:xfrm>
            <a:off x="1828800" y="609904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Stage 00 Stage"/>
          <p:cNvSpPr txBox="1"/>
          <p:nvPr/>
        </p:nvSpPr>
        <p:spPr>
          <a:xfrm>
            <a:off x="1965960" y="62910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00</a:t>
            </a:r>
          </a:p>
        </p:txBody>
      </p:sp>
      <p:sp>
        <p:nvSpPr>
          <p:cNvPr id="13" name="Stage 00 Cumulative change"/>
          <p:cNvSpPr txBox="1"/>
          <p:nvPr/>
        </p:nvSpPr>
        <p:spPr>
          <a:xfrm>
            <a:off x="4160520" y="62910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Baseline · original BF16 / dense / 50 evaluations</a:t>
            </a:r>
          </a:p>
        </p:txBody>
      </p:sp>
      <p:sp>
        <p:nvSpPr>
          <p:cNvPr id="14" name="Stage 00 Median (s)"/>
          <p:cNvSpPr txBox="1"/>
          <p:nvPr/>
        </p:nvSpPr>
        <p:spPr>
          <a:xfrm>
            <a:off x="21076919" y="62910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213.402</a:t>
            </a:r>
          </a:p>
        </p:txBody>
      </p:sp>
      <p:sp>
        <p:nvSpPr>
          <p:cNvPr id="15" name="Stage 00 E2E speedup&#10;vs. previous"/>
          <p:cNvSpPr txBox="1"/>
          <p:nvPr/>
        </p:nvSpPr>
        <p:spPr>
          <a:xfrm>
            <a:off x="25100280" y="62910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a:t>
            </a:r>
          </a:p>
        </p:txBody>
      </p:sp>
      <p:sp>
        <p:nvSpPr>
          <p:cNvPr id="16" name="Stage 00 RTF"/>
          <p:cNvSpPr txBox="1"/>
          <p:nvPr/>
        </p:nvSpPr>
        <p:spPr>
          <a:xfrm>
            <a:off x="31683960" y="62910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41.304</a:t>
            </a:r>
          </a:p>
        </p:txBody>
      </p:sp>
      <p:sp>
        <p:nvSpPr>
          <p:cNvPr id="17" name="Stage 01 Stage"/>
          <p:cNvSpPr txBox="1"/>
          <p:nvPr/>
        </p:nvSpPr>
        <p:spPr>
          <a:xfrm>
            <a:off x="1965960" y="734263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01</a:t>
            </a:r>
          </a:p>
        </p:txBody>
      </p:sp>
      <p:sp>
        <p:nvSpPr>
          <p:cNvPr id="18" name="Stage 01 Cumulative change"/>
          <p:cNvSpPr txBox="1"/>
          <p:nvPr/>
        </p:nvSpPr>
        <p:spPr>
          <a:xfrm>
            <a:off x="4160520" y="734263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PDD · 50 → 8 evaluations</a:t>
            </a:r>
          </a:p>
        </p:txBody>
      </p:sp>
      <p:sp>
        <p:nvSpPr>
          <p:cNvPr id="19" name="Stage 01 Median (s)"/>
          <p:cNvSpPr txBox="1"/>
          <p:nvPr/>
        </p:nvSpPr>
        <p:spPr>
          <a:xfrm>
            <a:off x="21076919" y="734263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44.327</a:t>
            </a:r>
          </a:p>
        </p:txBody>
      </p:sp>
      <p:sp>
        <p:nvSpPr>
          <p:cNvPr id="20" name="Stage 01 E2E speedup&#10;vs. previous"/>
          <p:cNvSpPr txBox="1"/>
          <p:nvPr/>
        </p:nvSpPr>
        <p:spPr>
          <a:xfrm>
            <a:off x="25100280" y="734263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4.814×†</a:t>
            </a:r>
          </a:p>
        </p:txBody>
      </p:sp>
      <p:sp>
        <p:nvSpPr>
          <p:cNvPr id="21" name="Stage 01 RTF"/>
          <p:cNvSpPr txBox="1"/>
          <p:nvPr/>
        </p:nvSpPr>
        <p:spPr>
          <a:xfrm>
            <a:off x="31683960" y="734263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8.579</a:t>
            </a:r>
          </a:p>
        </p:txBody>
      </p:sp>
      <p:sp>
        <p:nvSpPr>
          <p:cNvPr id="22" name="Row background 2"/>
          <p:cNvSpPr/>
          <p:nvPr/>
        </p:nvSpPr>
        <p:spPr>
          <a:xfrm>
            <a:off x="1828800" y="820216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Stage 02 Stage"/>
          <p:cNvSpPr txBox="1"/>
          <p:nvPr/>
        </p:nvSpPr>
        <p:spPr>
          <a:xfrm>
            <a:off x="1965960" y="83941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02</a:t>
            </a:r>
          </a:p>
        </p:txBody>
      </p:sp>
      <p:sp>
        <p:nvSpPr>
          <p:cNvPr id="24" name="Stage 02 Cumulative change"/>
          <p:cNvSpPr txBox="1"/>
          <p:nvPr/>
        </p:nvSpPr>
        <p:spPr>
          <a:xfrm>
            <a:off x="4160520" y="83941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Trained VSA · native 8-step model / runtime</a:t>
            </a:r>
          </a:p>
        </p:txBody>
      </p:sp>
      <p:sp>
        <p:nvSpPr>
          <p:cNvPr id="25" name="Stage 02 Median (s)"/>
          <p:cNvSpPr txBox="1"/>
          <p:nvPr/>
        </p:nvSpPr>
        <p:spPr>
          <a:xfrm>
            <a:off x="21076919" y="83941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25.915</a:t>
            </a:r>
          </a:p>
        </p:txBody>
      </p:sp>
      <p:sp>
        <p:nvSpPr>
          <p:cNvPr id="26" name="Stage 02 E2E speedup&#10;vs. previous"/>
          <p:cNvSpPr txBox="1"/>
          <p:nvPr/>
        </p:nvSpPr>
        <p:spPr>
          <a:xfrm>
            <a:off x="25100280" y="83941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1.710×</a:t>
            </a:r>
          </a:p>
        </p:txBody>
      </p:sp>
      <p:sp>
        <p:nvSpPr>
          <p:cNvPr id="27" name="Stage 02 RTF"/>
          <p:cNvSpPr txBox="1"/>
          <p:nvPr/>
        </p:nvSpPr>
        <p:spPr>
          <a:xfrm>
            <a:off x="31683960" y="83941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5.016</a:t>
            </a:r>
          </a:p>
        </p:txBody>
      </p:sp>
      <p:sp>
        <p:nvSpPr>
          <p:cNvPr id="28" name="Stage 03 Stage"/>
          <p:cNvSpPr txBox="1"/>
          <p:nvPr/>
        </p:nvSpPr>
        <p:spPr>
          <a:xfrm>
            <a:off x="1965960" y="944575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03</a:t>
            </a:r>
          </a:p>
        </p:txBody>
      </p:sp>
      <p:sp>
        <p:nvSpPr>
          <p:cNvPr id="29" name="Stage 03 Cumulative change"/>
          <p:cNvSpPr txBox="1"/>
          <p:nvPr/>
        </p:nvSpPr>
        <p:spPr>
          <a:xfrm>
            <a:off x="4160520" y="944575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QAD NVFP4 DiT / native FP4 attention</a:t>
            </a:r>
          </a:p>
        </p:txBody>
      </p:sp>
      <p:sp>
        <p:nvSpPr>
          <p:cNvPr id="30" name="Stage 03 Median (s)"/>
          <p:cNvSpPr txBox="1"/>
          <p:nvPr/>
        </p:nvSpPr>
        <p:spPr>
          <a:xfrm>
            <a:off x="21076919" y="944575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19.460</a:t>
            </a:r>
          </a:p>
        </p:txBody>
      </p:sp>
      <p:sp>
        <p:nvSpPr>
          <p:cNvPr id="31" name="Stage 03 E2E speedup&#10;vs. previous"/>
          <p:cNvSpPr txBox="1"/>
          <p:nvPr/>
        </p:nvSpPr>
        <p:spPr>
          <a:xfrm>
            <a:off x="25100280" y="944575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1.332×</a:t>
            </a:r>
          </a:p>
        </p:txBody>
      </p:sp>
      <p:sp>
        <p:nvSpPr>
          <p:cNvPr id="32" name="Stage 03 RTF"/>
          <p:cNvSpPr txBox="1"/>
          <p:nvPr/>
        </p:nvSpPr>
        <p:spPr>
          <a:xfrm>
            <a:off x="31683960" y="944575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3.767</a:t>
            </a:r>
          </a:p>
        </p:txBody>
      </p:sp>
      <p:sp>
        <p:nvSpPr>
          <p:cNvPr id="33" name="Row background 4"/>
          <p:cNvSpPr/>
          <p:nvPr/>
        </p:nvSpPr>
        <p:spPr>
          <a:xfrm>
            <a:off x="1828800" y="1030528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Stage 04 Stage"/>
          <p:cNvSpPr txBox="1"/>
          <p:nvPr/>
        </p:nvSpPr>
        <p:spPr>
          <a:xfrm>
            <a:off x="1965960" y="1049731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04</a:t>
            </a:r>
          </a:p>
        </p:txBody>
      </p:sp>
      <p:sp>
        <p:nvSpPr>
          <p:cNvPr id="35" name="Stage 04 Cumulative change"/>
          <p:cNvSpPr txBox="1"/>
          <p:nvPr/>
        </p:nvSpPr>
        <p:spPr>
          <a:xfrm>
            <a:off x="4160520" y="1049731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RDMA / direct layout / V-gate overlap</a:t>
            </a:r>
          </a:p>
        </p:txBody>
      </p:sp>
      <p:sp>
        <p:nvSpPr>
          <p:cNvPr id="36" name="Stage 04 Median (s)"/>
          <p:cNvSpPr txBox="1"/>
          <p:nvPr/>
        </p:nvSpPr>
        <p:spPr>
          <a:xfrm>
            <a:off x="21076919" y="1049731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6.832</a:t>
            </a:r>
          </a:p>
        </p:txBody>
      </p:sp>
      <p:sp>
        <p:nvSpPr>
          <p:cNvPr id="37" name="Stage 04 E2E speedup&#10;vs. previous"/>
          <p:cNvSpPr txBox="1"/>
          <p:nvPr/>
        </p:nvSpPr>
        <p:spPr>
          <a:xfrm>
            <a:off x="25100280" y="1049731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2.848×</a:t>
            </a:r>
          </a:p>
        </p:txBody>
      </p:sp>
      <p:sp>
        <p:nvSpPr>
          <p:cNvPr id="38" name="Stage 04 RTF"/>
          <p:cNvSpPr txBox="1"/>
          <p:nvPr/>
        </p:nvSpPr>
        <p:spPr>
          <a:xfrm>
            <a:off x="31683960" y="1049731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1.322</a:t>
            </a:r>
          </a:p>
        </p:txBody>
      </p:sp>
      <p:sp>
        <p:nvSpPr>
          <p:cNvPr id="39" name="Stage 05 Stage"/>
          <p:cNvSpPr txBox="1"/>
          <p:nvPr/>
        </p:nvSpPr>
        <p:spPr>
          <a:xfrm>
            <a:off x="1965960" y="1154887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05</a:t>
            </a:r>
          </a:p>
        </p:txBody>
      </p:sp>
      <p:sp>
        <p:nvSpPr>
          <p:cNvPr id="40" name="Stage 05 Cumulative change"/>
          <p:cNvSpPr txBox="1"/>
          <p:nvPr/>
        </p:nvSpPr>
        <p:spPr>
          <a:xfrm>
            <a:off x="4160520" y="1154887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+ 2 / 3 / 2 head pipeline</a:t>
            </a:r>
          </a:p>
        </p:txBody>
      </p:sp>
      <p:sp>
        <p:nvSpPr>
          <p:cNvPr id="41" name="Stage 05 Median (s)"/>
          <p:cNvSpPr txBox="1"/>
          <p:nvPr/>
        </p:nvSpPr>
        <p:spPr>
          <a:xfrm>
            <a:off x="21076919" y="1154887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6.407</a:t>
            </a:r>
          </a:p>
        </p:txBody>
      </p:sp>
      <p:sp>
        <p:nvSpPr>
          <p:cNvPr id="42" name="Stage 05 E2E speedup&#10;vs. previous"/>
          <p:cNvSpPr txBox="1"/>
          <p:nvPr/>
        </p:nvSpPr>
        <p:spPr>
          <a:xfrm>
            <a:off x="25100280" y="1154887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1.066×</a:t>
            </a:r>
          </a:p>
        </p:txBody>
      </p:sp>
      <p:sp>
        <p:nvSpPr>
          <p:cNvPr id="43" name="Stage 05 RTF"/>
          <p:cNvSpPr txBox="1"/>
          <p:nvPr/>
        </p:nvSpPr>
        <p:spPr>
          <a:xfrm>
            <a:off x="31683960" y="1154887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1.240</a:t>
            </a:r>
          </a:p>
        </p:txBody>
      </p:sp>
      <p:sp>
        <p:nvSpPr>
          <p:cNvPr id="44" name="Row background 6"/>
          <p:cNvSpPr/>
          <p:nvPr/>
        </p:nvSpPr>
        <p:spPr>
          <a:xfrm>
            <a:off x="1828800" y="1240840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Stage 06 Stage"/>
          <p:cNvSpPr txBox="1"/>
          <p:nvPr/>
        </p:nvSpPr>
        <p:spPr>
          <a:xfrm>
            <a:off x="1965960" y="1260043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06</a:t>
            </a:r>
          </a:p>
        </p:txBody>
      </p:sp>
      <p:sp>
        <p:nvSpPr>
          <p:cNvPr id="46" name="Stage 06 Cumulative change"/>
          <p:cNvSpPr txBox="1"/>
          <p:nvPr/>
        </p:nvSpPr>
        <p:spPr>
          <a:xfrm>
            <a:off x="4160520" y="1260043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Compute CUDA graphs</a:t>
            </a:r>
          </a:p>
        </p:txBody>
      </p:sp>
      <p:sp>
        <p:nvSpPr>
          <p:cNvPr id="47" name="Stage 06 Median (s)"/>
          <p:cNvSpPr txBox="1"/>
          <p:nvPr/>
        </p:nvSpPr>
        <p:spPr>
          <a:xfrm>
            <a:off x="21076919" y="1260043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6.193</a:t>
            </a:r>
          </a:p>
        </p:txBody>
      </p:sp>
      <p:sp>
        <p:nvSpPr>
          <p:cNvPr id="48" name="Stage 06 E2E speedup&#10;vs. previous"/>
          <p:cNvSpPr txBox="1"/>
          <p:nvPr/>
        </p:nvSpPr>
        <p:spPr>
          <a:xfrm>
            <a:off x="25100280" y="1260043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1.035×</a:t>
            </a:r>
          </a:p>
        </p:txBody>
      </p:sp>
      <p:sp>
        <p:nvSpPr>
          <p:cNvPr id="49" name="Stage 06 RTF"/>
          <p:cNvSpPr txBox="1"/>
          <p:nvPr/>
        </p:nvSpPr>
        <p:spPr>
          <a:xfrm>
            <a:off x="31683960" y="1260043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1.199</a:t>
            </a:r>
          </a:p>
        </p:txBody>
      </p:sp>
      <p:sp>
        <p:nvSpPr>
          <p:cNvPr id="50" name="Stage 07 Stage"/>
          <p:cNvSpPr txBox="1"/>
          <p:nvPr/>
        </p:nvSpPr>
        <p:spPr>
          <a:xfrm>
            <a:off x="1965960" y="13651992"/>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07</a:t>
            </a:r>
          </a:p>
        </p:txBody>
      </p:sp>
      <p:sp>
        <p:nvSpPr>
          <p:cNvPr id="51" name="Stage 07 Cumulative change"/>
          <p:cNvSpPr txBox="1"/>
          <p:nvPr/>
        </p:nvSpPr>
        <p:spPr>
          <a:xfrm>
            <a:off x="4160520" y="13651992"/>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+ 36-layer NVFP4 VAE / MP4 pre-encoding</a:t>
            </a:r>
          </a:p>
        </p:txBody>
      </p:sp>
      <p:sp>
        <p:nvSpPr>
          <p:cNvPr id="52" name="Stage 07 Median (s)"/>
          <p:cNvSpPr txBox="1"/>
          <p:nvPr/>
        </p:nvSpPr>
        <p:spPr>
          <a:xfrm>
            <a:off x="21076919" y="13651992"/>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5.420</a:t>
            </a:r>
          </a:p>
        </p:txBody>
      </p:sp>
      <p:sp>
        <p:nvSpPr>
          <p:cNvPr id="53" name="Stage 07 E2E speedup&#10;vs. previous"/>
          <p:cNvSpPr txBox="1"/>
          <p:nvPr/>
        </p:nvSpPr>
        <p:spPr>
          <a:xfrm>
            <a:off x="25100280" y="13651992"/>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1.143×</a:t>
            </a:r>
          </a:p>
        </p:txBody>
      </p:sp>
      <p:sp>
        <p:nvSpPr>
          <p:cNvPr id="54" name="Stage 07 RTF"/>
          <p:cNvSpPr txBox="1"/>
          <p:nvPr/>
        </p:nvSpPr>
        <p:spPr>
          <a:xfrm>
            <a:off x="31683960" y="13651992"/>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1.049</a:t>
            </a:r>
          </a:p>
        </p:txBody>
      </p:sp>
      <p:sp>
        <p:nvSpPr>
          <p:cNvPr id="55" name="Row background 8"/>
          <p:cNvSpPr/>
          <p:nvPr/>
        </p:nvSpPr>
        <p:spPr>
          <a:xfrm>
            <a:off x="1828800" y="14511528"/>
            <a:ext cx="32918400" cy="10058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Stage 08–12 Stage"/>
          <p:cNvSpPr txBox="1"/>
          <p:nvPr/>
        </p:nvSpPr>
        <p:spPr>
          <a:xfrm>
            <a:off x="1965960" y="14703551"/>
            <a:ext cx="17373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08–12</a:t>
            </a:r>
          </a:p>
        </p:txBody>
      </p:sp>
      <p:sp>
        <p:nvSpPr>
          <p:cNvPr id="57" name="Stage 08–12 Cumulative change"/>
          <p:cNvSpPr txBox="1"/>
          <p:nvPr/>
        </p:nvSpPr>
        <p:spPr>
          <a:xfrm>
            <a:off x="4160520" y="14703551"/>
            <a:ext cx="1645920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 Output and data-movement optimizations</a:t>
            </a:r>
          </a:p>
        </p:txBody>
      </p:sp>
      <p:sp>
        <p:nvSpPr>
          <p:cNvPr id="58" name="Stage 08–12 Median (s)"/>
          <p:cNvSpPr txBox="1"/>
          <p:nvPr/>
        </p:nvSpPr>
        <p:spPr>
          <a:xfrm>
            <a:off x="21076919" y="14703551"/>
            <a:ext cx="356616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4.922</a:t>
            </a:r>
          </a:p>
        </p:txBody>
      </p:sp>
      <p:sp>
        <p:nvSpPr>
          <p:cNvPr id="59" name="Stage 08–12 E2E speedup&#10;vs. previous"/>
          <p:cNvSpPr txBox="1"/>
          <p:nvPr/>
        </p:nvSpPr>
        <p:spPr>
          <a:xfrm>
            <a:off x="25100280" y="14703551"/>
            <a:ext cx="603504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1.101×</a:t>
            </a:r>
          </a:p>
        </p:txBody>
      </p:sp>
      <p:sp>
        <p:nvSpPr>
          <p:cNvPr id="60" name="Stage 08–12 RTF"/>
          <p:cNvSpPr txBox="1"/>
          <p:nvPr/>
        </p:nvSpPr>
        <p:spPr>
          <a:xfrm>
            <a:off x="31683960" y="14703551"/>
            <a:ext cx="2926080" cy="68580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Medium"/>
              </a:rPr>
              <a:t>0.953</a:t>
            </a:r>
          </a:p>
        </p:txBody>
      </p:sp>
      <p:sp>
        <p:nvSpPr>
          <p:cNvPr id="61" name="Grouped details"/>
          <p:cNvSpPr txBox="1"/>
          <p:nvPr/>
        </p:nvSpPr>
        <p:spPr>
          <a:xfrm>
            <a:off x="1828800" y="1586484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313131"/>
                </a:solidFill>
                <a:latin typeface="NVIDIA Sans"/>
              </a:rPr>
              <a:t>08–12: fused tile / AAC preparation, direct I/O packing, compact routing and Q/K/V copy removal.</a:t>
            </a:r>
          </a:p>
        </p:txBody>
      </p:sp>
      <p:sp>
        <p:nvSpPr>
          <p:cNvPr id="62" name="Ratio definition"/>
          <p:cNvSpPr txBox="1"/>
          <p:nvPr/>
        </p:nvSpPr>
        <p:spPr>
          <a:xfrm>
            <a:off x="1828800" y="16642080"/>
            <a:ext cx="32918400" cy="640080"/>
          </a:xfrm>
          <a:prstGeom prst="rect">
            <a:avLst/>
          </a:prstGeom>
          <a:noFill/>
        </p:spPr>
        <p:txBody>
          <a:bodyPr wrap="square" lIns="18288" rIns="18288" tIns="0" bIns="0">
            <a:spAutoFit/>
          </a:bodyPr>
          <a:lstStyle/>
          <a:p>
            <a:pPr>
              <a:spcBef>
                <a:spcPts val="0"/>
              </a:spcBef>
              <a:spcAft>
                <a:spcPts val="0"/>
              </a:spcAft>
            </a:pPr>
            <a:r>
              <a:rPr sz="2800" b="0">
                <a:solidFill>
                  <a:srgbClr val="000000"/>
                </a:solidFill>
                <a:latin typeface="NVIDIA Sans Medium"/>
              </a:rPr>
              <a:t>E2E speedup = previous displayed median ÷ current median. 08–12 compares the final result with stage 07.</a:t>
            </a:r>
          </a:p>
        </p:txBody>
      </p:sp>
      <p:sp>
        <p:nvSpPr>
          <p:cNvPr id="63" name="Final result"/>
          <p:cNvSpPr txBox="1"/>
          <p:nvPr/>
        </p:nvSpPr>
        <p:spPr>
          <a:xfrm>
            <a:off x="1828800" y="17465040"/>
            <a:ext cx="32918400" cy="731520"/>
          </a:xfrm>
          <a:prstGeom prst="rect">
            <a:avLst/>
          </a:prstGeom>
          <a:noFill/>
        </p:spPr>
        <p:txBody>
          <a:bodyPr wrap="square" lIns="18288" rIns="18288" tIns="0" bIns="0">
            <a:spAutoFit/>
          </a:bodyPr>
          <a:lstStyle/>
          <a:p>
            <a:pPr>
              <a:spcBef>
                <a:spcPts val="0"/>
              </a:spcBef>
              <a:spcAft>
                <a:spcPts val="0"/>
              </a:spcAft>
            </a:pPr>
            <a:r>
              <a:rPr sz="3600" b="0">
                <a:solidFill>
                  <a:srgbClr val="76B900"/>
                </a:solidFill>
                <a:latin typeface="NVIDIA Sans Medium"/>
              </a:rPr>
              <a:t>Final median: 4.922 s · recheck: 4.927 s · 6/6 measured requests below 5 s</a:t>
            </a:r>
          </a:p>
        </p:txBody>
      </p:sp>
      <p:sp>
        <p:nvSpPr>
          <p:cNvPr id="64" name="Baseline qualification"/>
          <p:cNvSpPr txBox="1"/>
          <p:nvPr/>
        </p:nvSpPr>
        <p:spPr>
          <a:xfrm>
            <a:off x="1828800" y="18333720"/>
            <a:ext cx="32918400" cy="59436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 Recorded median ratio; baseline refreshed separately (n = 2). Stages 01–12 retain n = 3 each; no isolated 50→8-step gain claimed.</a:t>
            </a:r>
          </a:p>
        </p:txBody>
      </p:sp>
      <p:sp>
        <p:nvSpPr>
          <p:cNvPr id="65" name="Scope"/>
          <p:cNvSpPr txBox="1"/>
          <p:nvPr/>
        </p:nvSpPr>
        <p:spPr>
          <a:xfrm>
            <a:off x="1828800" y="19019520"/>
            <a:ext cx="32918400" cy="548640"/>
          </a:xfrm>
          <a:prstGeom prst="rect">
            <a:avLst/>
          </a:prstGeom>
          <a:noFill/>
        </p:spPr>
        <p:txBody>
          <a:bodyPr wrap="square" lIns="18288" rIns="18288" tIns="0" bIns="0">
            <a:spAutoFit/>
          </a:bodyPr>
          <a:lstStyle/>
          <a:p>
            <a:pPr>
              <a:spcBef>
                <a:spcPts val="0"/>
              </a:spcBef>
              <a:spcAft>
                <a:spcPts val="0"/>
              </a:spcAft>
            </a:pPr>
            <a:r>
              <a:rPr sz="2500" b="0">
                <a:solidFill>
                  <a:srgbClr val="313131"/>
                </a:solidFill>
                <a:latin typeface="NVIDIA Sans"/>
              </a:rPr>
              <a:t>RTF = latency / 5.167 s. Standalone H3; ASR / LLM excluded. Model, schedule and precision changes are not all lossless.</a:t>
            </a:r>
          </a:p>
        </p:txBody>
      </p:sp>
      <p:sp>
        <p:nvSpPr>
          <p:cNvPr id="66" name="Slide Number Placeholder 65"/>
          <p:cNvSpPr>
            <a:spLocks noGrp="1"/>
          </p:cNvSpPr>
          <p:nvPr>
            <p:ph type="sldNum" idx="16" sz="quarter"/>
          </p:nvPr>
        </p:nvSpPr>
        <p:spPr/>
        <p:txBody>
          <a:bodyPr/>
          <a:p>
            <a:r>
              <a:rPr/>
              <a:t>38</a:t>
            </a:r>
          </a:p>
        </p:txBody>
      </p:sp>
      <p:sp>
        <p:nvSpPr>
          <p:cNvPr id="67" name="Text Placeholder 66"/>
          <p:cNvSpPr>
            <a:spLocks noGrp="1"/>
          </p:cNvSpPr>
          <p:nvPr>
            <p:ph type="body" idx="13" sz="quarter"/>
          </p:nvPr>
        </p:nvSpPr>
        <p:spPr/>
        <p:txBody>
          <a:bodyPr/>
          <a:lstStyle/>
          <a:p>
            <a:r>
              <a:rPr/>
              <a:t>960 × 544 · 5.167 s output · 8 GPUs · standalone H3</a:t>
            </a:r>
          </a:p>
        </p:txBody>
      </p:sp>
      <p:sp>
        <p:nvSpPr>
          <p:cNvPr id="68" name="Title 67"/>
          <p:cNvSpPr>
            <a:spLocks noGrp="1"/>
          </p:cNvSpPr>
          <p:nvPr>
            <p:ph type="title"/>
          </p:nvPr>
        </p:nvSpPr>
        <p:spPr/>
        <p:txBody>
          <a:bodyPr/>
          <a:lstStyle/>
          <a:p>
            <a:r>
              <a:rPr/>
              <a:t>Real Time Comes from the Whole Pipeline</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39</a:t>
            </a:r>
          </a:p>
        </p:txBody>
      </p:sp>
      <p:sp>
        <p:nvSpPr>
          <p:cNvPr id="3" name="Text Placeholder 2"/>
          <p:cNvSpPr>
            <a:spLocks noGrp="1"/>
          </p:cNvSpPr>
          <p:nvPr>
            <p:ph type="body" idx="13" sz="quarter"/>
          </p:nvPr>
        </p:nvSpPr>
        <p:spPr/>
        <p:txBody>
          <a:bodyPr/>
          <a:lstStyle/>
          <a:p>
            <a:r>
              <a:t>Speech, reasoning and audio–video generation share the response budget.</a:t>
            </a:r>
          </a:p>
        </p:txBody>
      </p:sp>
      <p:sp>
        <p:nvSpPr>
          <p:cNvPr id="4" name="Title 3"/>
          <p:cNvSpPr>
            <a:spLocks noGrp="1"/>
          </p:cNvSpPr>
          <p:nvPr>
            <p:ph type="title"/>
          </p:nvPr>
        </p:nvSpPr>
        <p:spPr/>
        <p:txBody>
          <a:bodyPr/>
          <a:lstStyle/>
          <a:p>
            <a:r>
              <a:t>Real-Time Interaction Needs the Full Loop</a:t>
            </a:r>
          </a:p>
        </p:txBody>
      </p:sp>
      <p:sp>
        <p:nvSpPr>
          <p:cNvPr id="5" name="Spoken question"/>
          <p:cNvSpPr/>
          <p:nvPr/>
        </p:nvSpPr>
        <p:spPr>
          <a:xfrm>
            <a:off x="1828800" y="5486400"/>
            <a:ext cx="5577840" cy="205740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Spoken question tail"/>
          <p:cNvSpPr/>
          <p:nvPr/>
        </p:nvSpPr>
        <p:spPr>
          <a:xfrm rot="10800000">
            <a:off x="3781044" y="750722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Spoken question text"/>
          <p:cNvSpPr txBox="1"/>
          <p:nvPr/>
        </p:nvSpPr>
        <p:spPr>
          <a:xfrm>
            <a:off x="2084832" y="5715000"/>
            <a:ext cx="5065775" cy="173736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could you</a:t>
            </a:r>
          </a:p>
          <a:p>
            <a:pPr algn="ctr">
              <a:spcBef>
                <a:spcPts val="0"/>
              </a:spcBef>
              <a:spcAft>
                <a:spcPts val="0"/>
              </a:spcAft>
            </a:pPr>
            <a:r>
              <a:rPr sz="3600" b="0">
                <a:solidFill>
                  <a:srgbClr val="000000"/>
                </a:solidFill>
                <a:latin typeface="NVIDIA Sans Medium"/>
              </a:rPr>
              <a:t>introduce yourself?”</a:t>
            </a:r>
          </a:p>
        </p:txBody>
      </p:sp>
      <p:sp>
        <p:nvSpPr>
          <p:cNvPr id="8" name="User head"/>
          <p:cNvSpPr/>
          <p:nvPr/>
        </p:nvSpPr>
        <p:spPr>
          <a:xfrm>
            <a:off x="3182112" y="8823960"/>
            <a:ext cx="1170432" cy="1170432"/>
          </a:xfrm>
          <a:prstGeom prst="ellipse">
            <a:avLst/>
          </a:prstGeom>
          <a:noFill/>
          <a:ln w="508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User torso"/>
          <p:cNvCxnSpPr/>
          <p:nvPr/>
        </p:nvCxnSpPr>
        <p:spPr>
          <a:xfrm>
            <a:off x="3767328" y="10040112"/>
            <a:ext cx="0" cy="1938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0" name="User left arm"/>
          <p:cNvCxnSpPr/>
          <p:nvPr/>
        </p:nvCxnSpPr>
        <p:spPr>
          <a:xfrm flipH="1">
            <a:off x="2788920" y="10561320"/>
            <a:ext cx="978408" cy="100584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1" name="User speaking arm"/>
          <p:cNvCxnSpPr/>
          <p:nvPr/>
        </p:nvCxnSpPr>
        <p:spPr>
          <a:xfrm>
            <a:off x="3767328" y="10561320"/>
            <a:ext cx="841248" cy="52120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2" name="User microphone arm"/>
          <p:cNvCxnSpPr/>
          <p:nvPr/>
        </p:nvCxnSpPr>
        <p:spPr>
          <a:xfrm flipV="1">
            <a:off x="4608576" y="10287000"/>
            <a:ext cx="484632" cy="795528"/>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3" name="User left leg"/>
          <p:cNvCxnSpPr/>
          <p:nvPr/>
        </p:nvCxnSpPr>
        <p:spPr>
          <a:xfrm flipH="1">
            <a:off x="294436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cxnSp>
        <p:nvCxnSpPr>
          <p:cNvPr id="14" name="User right leg"/>
          <p:cNvCxnSpPr/>
          <p:nvPr/>
        </p:nvCxnSpPr>
        <p:spPr>
          <a:xfrm>
            <a:off x="3767328" y="11978640"/>
            <a:ext cx="822960" cy="1097280"/>
          </a:xfrm>
          <a:prstGeom prst="line">
            <a:avLst/>
          </a:prstGeom>
          <a:ln w="50800">
            <a:solidFill>
              <a:srgbClr val="000000"/>
            </a:solidFill>
          </a:ln>
        </p:spPr>
        <p:style>
          <a:lnRef idx="2">
            <a:schemeClr val="accent1"/>
          </a:lnRef>
          <a:fillRef idx="0">
            <a:schemeClr val="accent1"/>
          </a:fillRef>
          <a:effectRef idx="1">
            <a:schemeClr val="accent1"/>
          </a:effectRef>
          <a:fontRef idx="minor">
            <a:schemeClr val="tx1"/>
          </a:fontRef>
        </p:style>
      </p:cxnSp>
      <p:sp>
        <p:nvSpPr>
          <p:cNvPr id="15" name="Microphone"/>
          <p:cNvSpPr/>
          <p:nvPr/>
        </p:nvSpPr>
        <p:spPr>
          <a:xfrm rot="1320000">
            <a:off x="4946904" y="9445752"/>
            <a:ext cx="338328" cy="768096"/>
          </a:xfrm>
          <a:prstGeom prst="round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User label"/>
          <p:cNvSpPr txBox="1"/>
          <p:nvPr/>
        </p:nvSpPr>
        <p:spPr>
          <a:xfrm>
            <a:off x="2103120" y="13578840"/>
            <a:ext cx="3474720" cy="82296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User</a:t>
            </a:r>
          </a:p>
        </p:txBody>
      </p:sp>
      <p:cxnSp>
        <p:nvCxnSpPr>
          <p:cNvPr id="17" name="Spoken audio waveform 0"/>
          <p:cNvCxnSpPr/>
          <p:nvPr/>
        </p:nvCxnSpPr>
        <p:spPr>
          <a:xfrm>
            <a:off x="6240780" y="10409301"/>
            <a:ext cx="0" cy="30403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8" name="Spoken audio waveform 1"/>
          <p:cNvCxnSpPr/>
          <p:nvPr/>
        </p:nvCxnSpPr>
        <p:spPr>
          <a:xfrm>
            <a:off x="6457950" y="10235565"/>
            <a:ext cx="0" cy="65151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19" name="Spoken audio waveform 2"/>
          <p:cNvCxnSpPr/>
          <p:nvPr/>
        </p:nvCxnSpPr>
        <p:spPr>
          <a:xfrm>
            <a:off x="6675120" y="10018395"/>
            <a:ext cx="0" cy="108585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0" name="Spoken audio waveform 3"/>
          <p:cNvCxnSpPr/>
          <p:nvPr/>
        </p:nvCxnSpPr>
        <p:spPr>
          <a:xfrm>
            <a:off x="6892290" y="10148697"/>
            <a:ext cx="0" cy="82524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21" name="Spoken audio waveform 4"/>
          <p:cNvCxnSpPr/>
          <p:nvPr/>
        </p:nvCxnSpPr>
        <p:spPr>
          <a:xfrm>
            <a:off x="7109459" y="10365867"/>
            <a:ext cx="0" cy="390906"/>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22" name="Spoken audio label"/>
          <p:cNvSpPr txBox="1"/>
          <p:nvPr/>
        </p:nvSpPr>
        <p:spPr>
          <a:xfrm>
            <a:off x="5806440" y="11567160"/>
            <a:ext cx="1828800" cy="548640"/>
          </a:xfrm>
          <a:prstGeom prst="rect">
            <a:avLst/>
          </a:prstGeom>
          <a:noFill/>
        </p:spPr>
        <p:txBody>
          <a:bodyPr wrap="square" lIns="0" rIns="0" tIns="0" bIns="0">
            <a:spAutoFit/>
          </a:bodyPr>
          <a:lstStyle/>
          <a:p>
            <a:pPr algn="ctr">
              <a:spcBef>
                <a:spcPts val="0"/>
              </a:spcBef>
              <a:spcAft>
                <a:spcPts val="0"/>
              </a:spcAft>
            </a:pPr>
            <a:r>
              <a:rPr sz="2600" b="0">
                <a:solidFill>
                  <a:srgbClr val="313131"/>
                </a:solidFill>
                <a:latin typeface="NVIDIA Sans"/>
              </a:rPr>
              <a:t>Voice</a:t>
            </a:r>
          </a:p>
        </p:txBody>
      </p:sp>
      <p:cxnSp>
        <p:nvCxnSpPr>
          <p:cNvPr id="23" name="Voice to ASR"/>
          <p:cNvCxnSpPr/>
          <p:nvPr/>
        </p:nvCxnSpPr>
        <p:spPr>
          <a:xfrm>
            <a:off x="7452360" y="10561320"/>
            <a:ext cx="886967"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4" name="ASR background"/>
          <p:cNvSpPr/>
          <p:nvPr/>
        </p:nvSpPr>
        <p:spPr>
          <a:xfrm>
            <a:off x="8732520" y="9144000"/>
            <a:ext cx="553212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ASR accent"/>
          <p:cNvSpPr/>
          <p:nvPr/>
        </p:nvSpPr>
        <p:spPr>
          <a:xfrm>
            <a:off x="8732520" y="9144000"/>
            <a:ext cx="553212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ASR title"/>
          <p:cNvSpPr txBox="1"/>
          <p:nvPr/>
        </p:nvSpPr>
        <p:spPr>
          <a:xfrm>
            <a:off x="9006840" y="9710928"/>
            <a:ext cx="4983480" cy="777240"/>
          </a:xfrm>
          <a:prstGeom prst="rect">
            <a:avLst/>
          </a:prstGeom>
          <a:noFill/>
        </p:spPr>
        <p:txBody>
          <a:bodyPr wrap="square" lIns="0" rIns="0" tIns="0" bIns="0">
            <a:spAutoFit/>
          </a:bodyPr>
          <a:lstStyle/>
          <a:p>
            <a:pPr algn="ctr"/>
            <a:r>
              <a:rPr sz="3800" b="0">
                <a:solidFill>
                  <a:srgbClr val="000000"/>
                </a:solidFill>
                <a:latin typeface="NVIDIA Sans Medium"/>
              </a:rPr>
              <a:t>0.6B ASR model</a:t>
            </a:r>
          </a:p>
        </p:txBody>
      </p:sp>
      <p:sp>
        <p:nvSpPr>
          <p:cNvPr id="27" name="ASR description"/>
          <p:cNvSpPr txBox="1"/>
          <p:nvPr/>
        </p:nvSpPr>
        <p:spPr>
          <a:xfrm>
            <a:off x="8915400" y="10789920"/>
            <a:ext cx="5166359" cy="594360"/>
          </a:xfrm>
          <a:prstGeom prst="rect">
            <a:avLst/>
          </a:prstGeom>
          <a:noFill/>
        </p:spPr>
        <p:txBody>
          <a:bodyPr wrap="square" lIns="0" rIns="0" tIns="0" bIns="0">
            <a:spAutoFit/>
          </a:bodyPr>
          <a:lstStyle/>
          <a:p>
            <a:pPr algn="ctr"/>
            <a:r>
              <a:rPr sz="3000" b="0">
                <a:solidFill>
                  <a:srgbClr val="313131"/>
                </a:solidFill>
                <a:latin typeface="NVIDIA Sans"/>
              </a:rPr>
              <a:t>Speech → text</a:t>
            </a:r>
          </a:p>
        </p:txBody>
      </p:sp>
      <p:cxnSp>
        <p:nvCxnSpPr>
          <p:cNvPr id="28" name="Text to LLM"/>
          <p:cNvCxnSpPr/>
          <p:nvPr/>
        </p:nvCxnSpPr>
        <p:spPr>
          <a:xfrm>
            <a:off x="14447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29" name="LLM background"/>
          <p:cNvSpPr/>
          <p:nvPr/>
        </p:nvSpPr>
        <p:spPr>
          <a:xfrm>
            <a:off x="15864840" y="9144000"/>
            <a:ext cx="6400800"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LLM accent"/>
          <p:cNvSpPr/>
          <p:nvPr/>
        </p:nvSpPr>
        <p:spPr>
          <a:xfrm>
            <a:off x="15864840" y="9144000"/>
            <a:ext cx="6400800"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LLM title"/>
          <p:cNvSpPr txBox="1"/>
          <p:nvPr/>
        </p:nvSpPr>
        <p:spPr>
          <a:xfrm>
            <a:off x="16139160" y="9710928"/>
            <a:ext cx="5852160" cy="777240"/>
          </a:xfrm>
          <a:prstGeom prst="rect">
            <a:avLst/>
          </a:prstGeom>
          <a:noFill/>
        </p:spPr>
        <p:txBody>
          <a:bodyPr wrap="square" lIns="0" rIns="0" tIns="0" bIns="0">
            <a:spAutoFit/>
          </a:bodyPr>
          <a:lstStyle/>
          <a:p>
            <a:pPr algn="ctr"/>
            <a:r>
              <a:rPr sz="4200" b="0">
                <a:solidFill>
                  <a:srgbClr val="000000"/>
                </a:solidFill>
                <a:latin typeface="NVIDIA Sans Medium"/>
              </a:rPr>
              <a:t>4B LLM</a:t>
            </a:r>
          </a:p>
        </p:txBody>
      </p:sp>
      <p:sp>
        <p:nvSpPr>
          <p:cNvPr id="32" name="LLM description"/>
          <p:cNvSpPr txBox="1"/>
          <p:nvPr/>
        </p:nvSpPr>
        <p:spPr>
          <a:xfrm>
            <a:off x="16047720" y="10789920"/>
            <a:ext cx="6035040"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Reply → H3 prompt</a:t>
            </a:r>
          </a:p>
        </p:txBody>
      </p:sp>
      <p:cxnSp>
        <p:nvCxnSpPr>
          <p:cNvPr id="33" name="Prompt to H3"/>
          <p:cNvCxnSpPr/>
          <p:nvPr/>
        </p:nvCxnSpPr>
        <p:spPr>
          <a:xfrm>
            <a:off x="22448520" y="10561320"/>
            <a:ext cx="109728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4" name="H3 background"/>
          <p:cNvSpPr/>
          <p:nvPr/>
        </p:nvSpPr>
        <p:spPr>
          <a:xfrm>
            <a:off x="23865840" y="9144000"/>
            <a:ext cx="3977639" cy="288036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H3 accent"/>
          <p:cNvSpPr/>
          <p:nvPr/>
        </p:nvSpPr>
        <p:spPr>
          <a:xfrm>
            <a:off x="23865840" y="9144000"/>
            <a:ext cx="3977639" cy="68580"/>
          </a:xfrm>
          <a:prstGeom prst="rect">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H3 title"/>
          <p:cNvSpPr txBox="1"/>
          <p:nvPr/>
        </p:nvSpPr>
        <p:spPr>
          <a:xfrm>
            <a:off x="24140160" y="9710928"/>
            <a:ext cx="3428999"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H3</a:t>
            </a:r>
          </a:p>
        </p:txBody>
      </p:sp>
      <p:sp>
        <p:nvSpPr>
          <p:cNvPr id="37" name="H3 description"/>
          <p:cNvSpPr txBox="1"/>
          <p:nvPr/>
        </p:nvSpPr>
        <p:spPr>
          <a:xfrm>
            <a:off x="24048720" y="10789920"/>
            <a:ext cx="3611879" cy="594360"/>
          </a:xfrm>
          <a:prstGeom prst="rect">
            <a:avLst/>
          </a:prstGeom>
          <a:noFill/>
        </p:spPr>
        <p:txBody>
          <a:bodyPr wrap="square" lIns="0" rIns="0" tIns="0" bIns="0">
            <a:spAutoFit/>
          </a:bodyPr>
          <a:lstStyle/>
          <a:p>
            <a:pPr algn="ctr">
              <a:spcBef>
                <a:spcPts val="0"/>
              </a:spcBef>
              <a:spcAft>
                <a:spcPts val="0"/>
              </a:spcAft>
            </a:pPr>
            <a:r>
              <a:rPr sz="3000" b="0">
                <a:solidFill>
                  <a:srgbClr val="313131"/>
                </a:solidFill>
                <a:latin typeface="NVIDIA Sans"/>
              </a:rPr>
              <a:t>Audio + video</a:t>
            </a:r>
          </a:p>
        </p:txBody>
      </p:sp>
      <p:cxnSp>
        <p:nvCxnSpPr>
          <p:cNvPr id="38" name="H3 to avatar"/>
          <p:cNvCxnSpPr/>
          <p:nvPr/>
        </p:nvCxnSpPr>
        <p:spPr>
          <a:xfrm>
            <a:off x="28026360" y="10561320"/>
            <a:ext cx="960120" cy="0"/>
          </a:xfrm>
          <a:prstGeom prst="line">
            <a:avLst/>
          </a:prstGeom>
          <a:ln w="5080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39" name="Reference image label"/>
          <p:cNvSpPr txBox="1"/>
          <p:nvPr/>
        </p:nvSpPr>
        <p:spPr>
          <a:xfrm>
            <a:off x="23865840" y="4983480"/>
            <a:ext cx="3977639" cy="594360"/>
          </a:xfrm>
          <a:prstGeom prst="rect">
            <a:avLst/>
          </a:prstGeom>
          <a:noFill/>
        </p:spPr>
        <p:txBody>
          <a:bodyPr wrap="square" lIns="0" rIns="0" tIns="0" bIns="0">
            <a:spAutoFit/>
          </a:bodyPr>
          <a:lstStyle/>
          <a:p>
            <a:pPr algn="ctr">
              <a:spcBef>
                <a:spcPts val="0"/>
              </a:spcBef>
              <a:spcAft>
                <a:spcPts val="0"/>
              </a:spcAft>
            </a:pPr>
            <a:r>
              <a:rPr sz="2800" b="0">
                <a:solidFill>
                  <a:srgbClr val="000000"/>
                </a:solidFill>
                <a:latin typeface="NVIDIA Sans Medium"/>
              </a:rPr>
              <a:t>Reference image</a:t>
            </a:r>
          </a:p>
        </p:txBody>
      </p:sp>
      <p:pic>
        <p:nvPicPr>
          <p:cNvPr id="40" name="Actual H3 input reference" descr="image.png"/>
          <p:cNvPicPr>
            <a:picLocks noChangeAspect="1"/>
          </p:cNvPicPr>
          <p:nvPr/>
        </p:nvPicPr>
        <p:blipFill>
          <a:blip r:embed="rId5"/>
          <a:stretch>
            <a:fillRect/>
          </a:stretch>
        </p:blipFill>
        <p:spPr>
          <a:xfrm>
            <a:off x="24185880" y="5806440"/>
            <a:ext cx="3337560" cy="1907177"/>
          </a:xfrm>
          <a:prstGeom prst="rect">
            <a:avLst/>
          </a:prstGeom>
        </p:spPr>
      </p:pic>
      <p:cxnSp>
        <p:nvCxnSpPr>
          <p:cNvPr id="41" name="Reference image into H3"/>
          <p:cNvCxnSpPr/>
          <p:nvPr/>
        </p:nvCxnSpPr>
        <p:spPr>
          <a:xfrm>
            <a:off x="25854660" y="7882127"/>
            <a:ext cx="0" cy="1033273"/>
          </a:xfrm>
          <a:prstGeom prst="line">
            <a:avLst/>
          </a:prstGeom>
          <a:ln w="317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42" name="Avatar intended reply"/>
          <p:cNvSpPr/>
          <p:nvPr/>
        </p:nvSpPr>
        <p:spPr>
          <a:xfrm>
            <a:off x="29077920" y="5486400"/>
            <a:ext cx="5669280" cy="1417320"/>
          </a:xfrm>
          <a:prstGeom prst="roundRect">
            <a:avLst>
              <a:gd name="adj" fmla="val 12000"/>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Avatar intended reply tail"/>
          <p:cNvSpPr/>
          <p:nvPr/>
        </p:nvSpPr>
        <p:spPr>
          <a:xfrm rot="10800000">
            <a:off x="31062168" y="6867144"/>
            <a:ext cx="502920" cy="411480"/>
          </a:xfrm>
          <a:prstGeom prst="triangle">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Avatar intended reply text"/>
          <p:cNvSpPr txBox="1"/>
          <p:nvPr/>
        </p:nvSpPr>
        <p:spPr>
          <a:xfrm>
            <a:off x="29333952" y="5715000"/>
            <a:ext cx="5157216" cy="10972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“Hi, I’m Miles…”</a:t>
            </a:r>
          </a:p>
        </p:txBody>
      </p:sp>
      <p:pic>
        <p:nvPicPr>
          <p:cNvPr id="45" name="Actual generated avatar frame" descr="image.png"/>
          <p:cNvPicPr>
            <a:picLocks noChangeAspect="1"/>
          </p:cNvPicPr>
          <p:nvPr/>
        </p:nvPicPr>
        <p:blipFill>
          <a:blip r:embed="rId6"/>
          <a:stretch>
            <a:fillRect/>
          </a:stretch>
        </p:blipFill>
        <p:spPr>
          <a:xfrm>
            <a:off x="29260800" y="8778240"/>
            <a:ext cx="5486400" cy="3108960"/>
          </a:xfrm>
          <a:prstGeom prst="rect">
            <a:avLst/>
          </a:prstGeom>
        </p:spPr>
      </p:pic>
      <p:sp>
        <p:nvSpPr>
          <p:cNvPr id="46" name="Avatar output label"/>
          <p:cNvSpPr txBox="1"/>
          <p:nvPr/>
        </p:nvSpPr>
        <p:spPr>
          <a:xfrm>
            <a:off x="28986480" y="12481560"/>
            <a:ext cx="5760720" cy="777240"/>
          </a:xfrm>
          <a:prstGeom prst="rect">
            <a:avLst/>
          </a:prstGeom>
          <a:noFill/>
        </p:spPr>
        <p:txBody>
          <a:bodyPr wrap="square" lIns="0" rIns="0" tIns="0" bIns="0">
            <a:spAutoFit/>
          </a:bodyPr>
          <a:lstStyle/>
          <a:p>
            <a:pPr algn="ctr">
              <a:spcBef>
                <a:spcPts val="0"/>
              </a:spcBef>
              <a:spcAft>
                <a:spcPts val="0"/>
              </a:spcAft>
            </a:pPr>
            <a:r>
              <a:rPr sz="4200" b="0">
                <a:solidFill>
                  <a:srgbClr val="000000"/>
                </a:solidFill>
                <a:latin typeface="NVIDIA Sans Medium"/>
              </a:rPr>
              <a:t>Avatar reply</a:t>
            </a:r>
          </a:p>
        </p:txBody>
      </p:sp>
      <p:sp>
        <p:nvSpPr>
          <p:cNvPr id="47" name="Avatar output media"/>
          <p:cNvSpPr txBox="1"/>
          <p:nvPr/>
        </p:nvSpPr>
        <p:spPr>
          <a:xfrm>
            <a:off x="28986480" y="13395960"/>
            <a:ext cx="5760720" cy="594360"/>
          </a:xfrm>
          <a:prstGeom prst="rect">
            <a:avLst/>
          </a:prstGeom>
          <a:noFill/>
        </p:spPr>
        <p:txBody>
          <a:bodyPr wrap="square" lIns="0" rIns="0" tIns="0" bIns="0">
            <a:spAutoFit/>
          </a:bodyPr>
          <a:lstStyle/>
          <a:p>
            <a:pPr algn="ctr">
              <a:spcBef>
                <a:spcPts val="0"/>
              </a:spcBef>
              <a:spcAft>
                <a:spcPts val="0"/>
              </a:spcAft>
            </a:pPr>
            <a:r>
              <a:rPr sz="2800" b="0">
                <a:solidFill>
                  <a:srgbClr val="313131"/>
                </a:solidFill>
                <a:latin typeface="NVIDIA Sans"/>
              </a:rPr>
              <a:t>Video + voice</a:t>
            </a:r>
          </a:p>
        </p:txBody>
      </p:sp>
      <p:sp>
        <p:nvSpPr>
          <p:cNvPr id="48" name="Transcript label"/>
          <p:cNvSpPr txBox="1"/>
          <p:nvPr/>
        </p:nvSpPr>
        <p:spPr>
          <a:xfrm>
            <a:off x="8732520" y="13395960"/>
            <a:ext cx="557784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RECOGNIZED TEXT</a:t>
            </a:r>
          </a:p>
        </p:txBody>
      </p:sp>
      <p:sp>
        <p:nvSpPr>
          <p:cNvPr id="49" name="Transcript example"/>
          <p:cNvSpPr txBox="1"/>
          <p:nvPr/>
        </p:nvSpPr>
        <p:spPr>
          <a:xfrm>
            <a:off x="8732520" y="14154912"/>
            <a:ext cx="5577840" cy="1554480"/>
          </a:xfrm>
          <a:prstGeom prst="rect">
            <a:avLst/>
          </a:prstGeom>
          <a:noFill/>
        </p:spPr>
        <p:txBody>
          <a:bodyPr wrap="square" lIns="0" rIns="0" tIns="0" bIns="0">
            <a:spAutoFit/>
          </a:bodyPr>
          <a:lstStyle/>
          <a:p>
            <a:pPr>
              <a:spcBef>
                <a:spcPts val="0"/>
              </a:spcBef>
              <a:spcAft>
                <a:spcPts val="0"/>
              </a:spcAft>
            </a:pPr>
            <a:r>
              <a:rPr sz="3400" b="0">
                <a:solidFill>
                  <a:srgbClr val="000000"/>
                </a:solidFill>
                <a:latin typeface="NVIDIA Sans"/>
              </a:rPr>
              <a:t>“Hi, could you</a:t>
            </a:r>
          </a:p>
          <a:p>
            <a:pPr>
              <a:spcBef>
                <a:spcPts val="0"/>
              </a:spcBef>
              <a:spcAft>
                <a:spcPts val="0"/>
              </a:spcAft>
            </a:pPr>
            <a:r>
              <a:rPr sz="3400" b="0">
                <a:solidFill>
                  <a:srgbClr val="000000"/>
                </a:solidFill>
                <a:latin typeface="NVIDIA Sans"/>
              </a:rPr>
              <a:t>introduce yourself?”</a:t>
            </a:r>
          </a:p>
        </p:txBody>
      </p:sp>
      <p:sp>
        <p:nvSpPr>
          <p:cNvPr id="50" name="Prompt label"/>
          <p:cNvSpPr txBox="1"/>
          <p:nvPr/>
        </p:nvSpPr>
        <p:spPr>
          <a:xfrm>
            <a:off x="15864840" y="13395960"/>
            <a:ext cx="7589520" cy="502920"/>
          </a:xfrm>
          <a:prstGeom prst="rect">
            <a:avLst/>
          </a:prstGeom>
          <a:noFill/>
        </p:spPr>
        <p:txBody>
          <a:bodyPr wrap="square" lIns="0" rIns="0" tIns="0" bIns="0">
            <a:spAutoFit/>
          </a:bodyPr>
          <a:lstStyle/>
          <a:p>
            <a:pPr>
              <a:spcBef>
                <a:spcPts val="0"/>
              </a:spcBef>
              <a:spcAft>
                <a:spcPts val="0"/>
              </a:spcAft>
            </a:pPr>
            <a:r>
              <a:rPr sz="2400" b="0">
                <a:solidFill>
                  <a:srgbClr val="76B900"/>
                </a:solidFill>
                <a:latin typeface="NVIDIA Sans Medium"/>
              </a:rPr>
              <a:t>ENGLISH PROMPT · EXCERPT</a:t>
            </a:r>
          </a:p>
        </p:txBody>
      </p:sp>
      <p:sp>
        <p:nvSpPr>
          <p:cNvPr id="51" name="Prompt excerpt"/>
          <p:cNvSpPr txBox="1"/>
          <p:nvPr/>
        </p:nvSpPr>
        <p:spPr>
          <a:xfrm>
            <a:off x="15864840" y="14154912"/>
            <a:ext cx="7680960" cy="1828800"/>
          </a:xfrm>
          <a:prstGeom prst="rect">
            <a:avLst/>
          </a:prstGeom>
          <a:noFill/>
        </p:spPr>
        <p:txBody>
          <a:bodyPr wrap="square" lIns="0" rIns="0" tIns="0" bIns="0">
            <a:spAutoFit/>
          </a:bodyPr>
          <a:lstStyle/>
          <a:p>
            <a:pPr>
              <a:spcBef>
                <a:spcPts val="0"/>
              </a:spcBef>
              <a:spcAft>
                <a:spcPts val="0"/>
              </a:spcAft>
            </a:pPr>
            <a:r>
              <a:rPr sz="3000" b="0">
                <a:solidFill>
                  <a:srgbClr val="000000"/>
                </a:solidFill>
                <a:latin typeface="NVIDIA Sans"/>
              </a:rPr>
              <a:t>… “Hi, I’m Miles. I help with</a:t>
            </a:r>
          </a:p>
          <a:p>
            <a:pPr>
              <a:spcBef>
                <a:spcPts val="0"/>
              </a:spcBef>
              <a:spcAft>
                <a:spcPts val="0"/>
              </a:spcAft>
            </a:pPr>
            <a:r>
              <a:rPr sz="3000" b="0">
                <a:solidFill>
                  <a:srgbClr val="000000"/>
                </a:solidFill>
                <a:latin typeface="NVIDIA Sans"/>
              </a:rPr>
              <a:t>simple, clear answers.” …</a:t>
            </a:r>
          </a:p>
          <a:p>
            <a:pPr>
              <a:spcBef>
                <a:spcPts val="0"/>
              </a:spcBef>
              <a:spcAft>
                <a:spcPts val="0"/>
              </a:spcAft>
            </a:pPr>
            <a:r>
              <a:rPr sz="3000" b="0">
                <a:solidFill>
                  <a:srgbClr val="000000"/>
                </a:solidFill>
                <a:latin typeface="NVIDIA Sans"/>
              </a:rPr>
              <a:t>His lips follow the words.</a:t>
            </a:r>
          </a:p>
        </p:txBody>
      </p:sp>
      <p:sp>
        <p:nvSpPr>
          <p:cNvPr id="52" name="Prompt assembly note"/>
          <p:cNvSpPr txBox="1"/>
          <p:nvPr/>
        </p:nvSpPr>
        <p:spPr>
          <a:xfrm>
            <a:off x="15864840" y="16230600"/>
            <a:ext cx="7955279" cy="50292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Reply text + scene instructions</a:t>
            </a:r>
          </a:p>
        </p:txBody>
      </p:sp>
      <p:cxnSp>
        <p:nvCxnSpPr>
          <p:cNvPr id="53" name="Audio return down"/>
          <p:cNvCxnSpPr/>
          <p:nvPr/>
        </p:nvCxnSpPr>
        <p:spPr>
          <a:xfrm>
            <a:off x="32004000" y="14493240"/>
            <a:ext cx="0" cy="333756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4" name="Audio return left"/>
          <p:cNvCxnSpPr/>
          <p:nvPr/>
        </p:nvCxnSpPr>
        <p:spPr>
          <a:xfrm flipH="1">
            <a:off x="3767328" y="17830800"/>
            <a:ext cx="28236672" cy="0"/>
          </a:xfrm>
          <a:prstGeom prst="line">
            <a:avLst/>
          </a:prstGeom>
          <a:ln w="4445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5" name="Audio return to user"/>
          <p:cNvCxnSpPr/>
          <p:nvPr/>
        </p:nvCxnSpPr>
        <p:spPr>
          <a:xfrm flipV="1">
            <a:off x="3767328" y="14904720"/>
            <a:ext cx="0" cy="292608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cxnSp>
        <p:nvCxnSpPr>
          <p:cNvPr id="56" name="Audio return direction"/>
          <p:cNvCxnSpPr/>
          <p:nvPr/>
        </p:nvCxnSpPr>
        <p:spPr>
          <a:xfrm flipH="1">
            <a:off x="10698480" y="17830800"/>
            <a:ext cx="1188720" cy="0"/>
          </a:xfrm>
          <a:prstGeom prst="line">
            <a:avLst/>
          </a:prstGeom>
          <a:ln w="44450">
            <a:solidFill>
              <a:srgbClr val="76B900"/>
            </a:solidFill>
            <a:headEnd type="none"/>
            <a:tailEnd type="triangle" w="lg" len="lg"/>
          </a:ln>
        </p:spPr>
        <p:style>
          <a:lnRef idx="2">
            <a:schemeClr val="accent1"/>
          </a:lnRef>
          <a:fillRef idx="0">
            <a:schemeClr val="accent1"/>
          </a:fillRef>
          <a:effectRef idx="1">
            <a:schemeClr val="accent1"/>
          </a:effectRef>
          <a:fontRef idx="minor">
            <a:schemeClr val="tx1"/>
          </a:fontRef>
        </p:style>
      </p:cxnSp>
      <p:sp>
        <p:nvSpPr>
          <p:cNvPr id="57" name="Return audio waveform backing"/>
          <p:cNvSpPr/>
          <p:nvPr/>
        </p:nvSpPr>
        <p:spPr>
          <a:xfrm>
            <a:off x="28575000" y="17190720"/>
            <a:ext cx="2103120" cy="128016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58" name="Generated voice waveform 0"/>
          <p:cNvCxnSpPr/>
          <p:nvPr/>
        </p:nvCxnSpPr>
        <p:spPr>
          <a:xfrm>
            <a:off x="29260800" y="17702784"/>
            <a:ext cx="0" cy="256032"/>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9" name="Generated voice waveform 1"/>
          <p:cNvCxnSpPr/>
          <p:nvPr/>
        </p:nvCxnSpPr>
        <p:spPr>
          <a:xfrm>
            <a:off x="29443679" y="17556480"/>
            <a:ext cx="0" cy="54864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0" name="Generated voice waveform 2"/>
          <p:cNvCxnSpPr/>
          <p:nvPr/>
        </p:nvCxnSpPr>
        <p:spPr>
          <a:xfrm>
            <a:off x="29626560" y="17373600"/>
            <a:ext cx="0" cy="91440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1" name="Generated voice waveform 3"/>
          <p:cNvCxnSpPr/>
          <p:nvPr/>
        </p:nvCxnSpPr>
        <p:spPr>
          <a:xfrm>
            <a:off x="29809440" y="17483328"/>
            <a:ext cx="0" cy="69494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2" name="Generated voice waveform 4"/>
          <p:cNvCxnSpPr/>
          <p:nvPr/>
        </p:nvCxnSpPr>
        <p:spPr>
          <a:xfrm>
            <a:off x="29992319" y="17666208"/>
            <a:ext cx="0" cy="329184"/>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3" name="Closed loop label"/>
          <p:cNvSpPr txBox="1"/>
          <p:nvPr/>
        </p:nvSpPr>
        <p:spPr>
          <a:xfrm>
            <a:off x="11247120" y="17053560"/>
            <a:ext cx="16276320" cy="640080"/>
          </a:xfrm>
          <a:prstGeom prst="rect">
            <a:avLst/>
          </a:prstGeom>
          <a:noFill/>
        </p:spPr>
        <p:txBody>
          <a:bodyPr wrap="square" lIns="0" rIns="0" tIns="0" bIns="0">
            <a:spAutoFit/>
          </a:bodyPr>
          <a:lstStyle/>
          <a:p>
            <a:pPr algn="ctr">
              <a:spcBef>
                <a:spcPts val="0"/>
              </a:spcBef>
              <a:spcAft>
                <a:spcPts val="0"/>
              </a:spcAft>
            </a:pPr>
            <a:r>
              <a:rPr sz="3600" b="0">
                <a:solidFill>
                  <a:srgbClr val="000000"/>
                </a:solidFill>
                <a:latin typeface="NVIDIA Sans Medium"/>
              </a:rPr>
              <a:t>Hear the avatar’s reply</a:t>
            </a:r>
          </a:p>
        </p:txBody>
      </p:sp>
      <p:sp>
        <p:nvSpPr>
          <p:cNvPr id="64" name="Output configuration"/>
          <p:cNvSpPr txBox="1"/>
          <p:nvPr/>
        </p:nvSpPr>
        <p:spPr>
          <a:xfrm>
            <a:off x="1828800" y="19065240"/>
            <a:ext cx="32644080" cy="594360"/>
          </a:xfrm>
          <a:prstGeom prst="rect">
            <a:avLst/>
          </a:prstGeom>
          <a:noFill/>
        </p:spPr>
        <p:txBody>
          <a:bodyPr wrap="square" lIns="0" rIns="0" tIns="0" bIns="0">
            <a:spAutoFit/>
          </a:bodyPr>
          <a:lstStyle/>
          <a:p>
            <a:pPr>
              <a:spcBef>
                <a:spcPts val="0"/>
              </a:spcBef>
              <a:spcAft>
                <a:spcPts val="0"/>
              </a:spcAft>
            </a:pPr>
            <a:r>
              <a:rPr sz="3000" b="0">
                <a:solidFill>
                  <a:srgbClr val="313131"/>
                </a:solidFill>
                <a:latin typeface="NVIDIA Sans"/>
              </a:rPr>
              <a:t>960 × 544 · ~5 s per window · 8 × RTX PRO 5000</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Title"/>
          <p:cNvSpPr txBox="1"/>
          <p:nvPr/>
        </p:nvSpPr>
        <p:spPr>
          <a:xfrm>
            <a:off x="1828800" y="914400"/>
            <a:ext cx="32918400" cy="2057400"/>
          </a:xfrm>
          <a:prstGeom prst="rect">
            <a:avLst/>
          </a:prstGeom>
          <a:noFill/>
        </p:spPr>
        <p:txBody>
          <a:bodyPr wrap="square" lIns="18288" rIns="18288" tIns="0" bIns="0">
            <a:spAutoFit/>
          </a:bodyPr>
          <a:lstStyle/>
          <a:p>
            <a:pPr>
              <a:spcBef>
                <a:spcPts val="0"/>
              </a:spcBef>
              <a:spcAft>
                <a:spcPts val="0"/>
              </a:spcAft>
            </a:pPr>
            <a:r>
              <a:rPr sz="7000" b="1">
                <a:solidFill>
                  <a:srgbClr val="000000"/>
                </a:solidFill>
                <a:latin typeface="NVIDIA Sans"/>
              </a:rPr>
              <a:t>Live Avatar: Recorded Conversation</a:t>
            </a:r>
          </a:p>
        </p:txBody>
      </p:sp>
      <p:sp>
        <p:nvSpPr>
          <p:cNvPr id="3" name="Subtitle"/>
          <p:cNvSpPr txBox="1"/>
          <p:nvPr/>
        </p:nvSpPr>
        <p:spPr>
          <a:xfrm>
            <a:off x="1828800" y="3200400"/>
            <a:ext cx="32918400" cy="1097280"/>
          </a:xfrm>
          <a:prstGeom prst="rect">
            <a:avLst/>
          </a:prstGeom>
          <a:noFill/>
        </p:spPr>
        <p:txBody>
          <a:bodyPr wrap="square" lIns="18288" rIns="18288" tIns="0" bIns="0">
            <a:spAutoFit/>
          </a:bodyPr>
          <a:lstStyle/>
          <a:p>
            <a:r>
              <a:rPr sz="3300" b="0">
                <a:solidFill>
                  <a:srgbClr val="313131"/>
                </a:solidFill>
                <a:latin typeface="NVIDIA Sans"/>
              </a:rPr>
              <a:t>37.3 s presentation edit · final 75% at 3× playback</a:t>
            </a:r>
          </a:p>
        </p:txBody>
      </p:sp>
      <p:sp>
        <p:nvSpPr>
          <p:cNvPr id="4" name="Slide number"/>
          <p:cNvSpPr txBox="1"/>
          <p:nvPr/>
        </p:nvSpPr>
        <p:spPr>
          <a:xfrm>
            <a:off x="914400" y="19385280"/>
            <a:ext cx="914400" cy="640080"/>
          </a:xfrm>
          <a:prstGeom prst="rect">
            <a:avLst/>
          </a:prstGeom>
          <a:noFill/>
        </p:spPr>
        <p:txBody>
          <a:bodyPr wrap="square" lIns="18288" rIns="18288" tIns="0" bIns="0">
            <a:spAutoFit/>
          </a:bodyPr>
          <a:lstStyle/>
          <a:p>
            <a:pPr>
              <a:spcBef>
                <a:spcPts val="0"/>
              </a:spcBef>
              <a:spcAft>
                <a:spcPts val="0"/>
              </a:spcAft>
            </a:pPr>
            <a:r>
              <a:rPr sz="2400" b="0">
                <a:solidFill>
                  <a:srgbClr val="000000"/>
                </a:solidFill>
                <a:latin typeface="NVIDIA Sans"/>
              </a:rPr>
              <a:t>40</a:t>
            </a:r>
          </a:p>
        </p:txBody>
      </p:sp>
      <p:pic>
        <p:nvPicPr>
          <p:cNvPr id="5" name="live-avatar-recording.mp4">
            <a:hlinkClick r:id="" action="ppaction://media"/>
          </p:cNvPr>
          <p:cNvPicPr>
            <a:picLocks noChangeAspect="1"/>
          </p:cNvPicPr>
          <p:nvPr>
            <a:videoFile r:link="rId3"/>
            <p:extLst>
              <p:ext uri="{DAA4B4D4-6D71-4841-9C94-3DE7FCFB9230}">
                <p14:media xmlns:p14="http://schemas.microsoft.com/office/powerpoint/2010/main" r:embed="rId2"/>
              </p:ext>
            </p:extLst>
          </p:nvPr>
        </p:nvPicPr>
        <p:blipFill>
          <a:blip r:embed="rId4"/>
          <a:stretch>
            <a:fillRect/>
          </a:stretch>
        </p:blipFill>
        <p:spPr>
          <a:xfrm>
            <a:off x="6761139" y="4754880"/>
            <a:ext cx="23053720" cy="13258800"/>
          </a:xfrm>
          <a:prstGeom prst="rect">
            <a:avLst/>
          </a:prstGeom>
        </p:spPr>
      </p:pic>
      <p:sp>
        <p:nvSpPr>
          <p:cNvPr id="6" name="Recording footer"/>
          <p:cNvSpPr txBox="1"/>
          <p:nvPr/>
        </p:nvSpPr>
        <p:spPr>
          <a:xfrm>
            <a:off x="1828800" y="18562320"/>
            <a:ext cx="32918400" cy="731520"/>
          </a:xfrm>
          <a:prstGeom prst="rect">
            <a:avLst/>
          </a:prstGeom>
          <a:noFill/>
        </p:spPr>
        <p:txBody>
          <a:bodyPr wrap="square" lIns="18288" rIns="18288" tIns="0" bIns="0">
            <a:spAutoFit/>
          </a:bodyPr>
          <a:lstStyle/>
          <a:p>
            <a:pPr>
              <a:spcBef>
                <a:spcPts val="0"/>
              </a:spcBef>
              <a:spcAft>
                <a:spcPts val="0"/>
              </a:spcAft>
            </a:pPr>
            <a:r>
              <a:rPr sz="3000" b="0">
                <a:solidFill>
                  <a:srgbClr val="000000"/>
                </a:solidFill>
                <a:latin typeface="NVIDIA Sans"/>
              </a:rPr>
              <a:t>Play the recorded interaction · fullscreen avatar, live captions and timing overlays</a:t>
            </a:r>
          </a:p>
        </p:txBody>
      </p:sp>
    </p:spTree>
  </p:cSld>
  <p:clrMapOvr>
    <a:masterClrMapping/>
  </p:clrMapOvr>
  <p:timing>
    <p:tnLst>
      <p:par>
        <p:cTn id="1" dur="indefinite" restart="never" nodeType="tmRoot">
          <p:childTnLst>
            <p:video>
              <p:cMediaNode vol="80000">
                <p:cTn id="2" fill="hold" display="0">
                  <p:stCondLst>
                    <p:cond delay="indefinite"/>
                  </p:stCondLst>
                </p:cTn>
                <p:tgtEl>
                  <p:spTgt spid="5"/>
                </p:tgtEl>
              </p:cMediaNode>
            </p:video>
          </p:childTnLst>
        </p:cTn>
      </p:par>
    </p:tnLst>
  </p:timing>
</p:sld>
</file>

<file path=ppt/slides/slide41.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41</a:t>
            </a:r>
          </a:p>
        </p:txBody>
      </p:sp>
      <p:sp>
        <p:nvSpPr>
          <p:cNvPr id="3" name="Text Placeholder 2"/>
          <p:cNvSpPr>
            <a:spLocks noGrp="1"/>
          </p:cNvSpPr>
          <p:nvPr>
            <p:ph type="body" idx="13" sz="quarter"/>
          </p:nvPr>
        </p:nvSpPr>
        <p:spPr/>
        <p:txBody>
          <a:bodyPr/>
          <a:lstStyle/>
          <a:p/>
        </p:txBody>
      </p:sp>
      <p:sp>
        <p:nvSpPr>
          <p:cNvPr id="4" name="Title 3"/>
          <p:cNvSpPr>
            <a:spLocks noGrp="1"/>
          </p:cNvSpPr>
          <p:nvPr>
            <p:ph type="title"/>
          </p:nvPr>
        </p:nvSpPr>
        <p:spPr/>
        <p:txBody>
          <a:bodyPr/>
          <a:lstStyle/>
          <a:p>
            <a:r>
              <a:t>Takeaways</a:t>
            </a:r>
          </a:p>
        </p:txBody>
      </p:sp>
      <p:sp>
        <p:nvSpPr>
          <p:cNvPr id="5" name="Takeaway number 1"/>
          <p:cNvSpPr txBox="1"/>
          <p:nvPr/>
        </p:nvSpPr>
        <p:spPr>
          <a:xfrm>
            <a:off x="1828800" y="508406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01</a:t>
            </a:r>
          </a:p>
        </p:txBody>
      </p:sp>
      <p:sp>
        <p:nvSpPr>
          <p:cNvPr id="6" name="Takeaway title 1"/>
          <p:cNvSpPr txBox="1"/>
          <p:nvPr/>
        </p:nvSpPr>
        <p:spPr>
          <a:xfrm>
            <a:off x="3931920" y="50292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Multi-GPU optimization starts with topology</a:t>
            </a:r>
          </a:p>
        </p:txBody>
      </p:sp>
      <p:sp>
        <p:nvSpPr>
          <p:cNvPr id="7" name="Takeaway body 1"/>
          <p:cNvSpPr txBox="1"/>
          <p:nvPr/>
        </p:nvSpPr>
        <p:spPr>
          <a:xfrm>
            <a:off x="3931920" y="63550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Map GPU/NIC links and locate communication bottlenecks.</a:t>
            </a:r>
          </a:p>
          <a:p>
            <a:pPr>
              <a:spcBef>
                <a:spcPts val="0"/>
              </a:spcBef>
              <a:spcAft>
                <a:spcPts val="0"/>
              </a:spcAft>
            </a:pPr>
            <a:r>
              <a:rPr sz="3600" b="0">
                <a:solidFill>
                  <a:srgbClr val="000000"/>
                </a:solidFill>
                <a:latin typeface="NVIDIA Sans"/>
              </a:rPr>
              <a:t>Use available bandwidth efficiently, or reduce data transfer.</a:t>
            </a:r>
          </a:p>
          <a:p>
            <a:pPr>
              <a:spcBef>
                <a:spcPts val="0"/>
              </a:spcBef>
              <a:spcAft>
                <a:spcPts val="0"/>
              </a:spcAft>
            </a:pPr>
            <a:r>
              <a:rPr sz="3600" b="0">
                <a:solidFill>
                  <a:srgbClr val="000000"/>
                </a:solidFill>
                <a:latin typeface="NVIDIA Sans"/>
              </a:rPr>
              <a:t>Communication is a key source of lossless speedups.</a:t>
            </a:r>
          </a:p>
        </p:txBody>
      </p:sp>
      <p:sp>
        <p:nvSpPr>
          <p:cNvPr id="8" name="Takeaway number 2"/>
          <p:cNvSpPr txBox="1"/>
          <p:nvPr/>
        </p:nvSpPr>
        <p:spPr>
          <a:xfrm>
            <a:off x="1828800" y="10021824"/>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02</a:t>
            </a:r>
          </a:p>
        </p:txBody>
      </p:sp>
      <p:sp>
        <p:nvSpPr>
          <p:cNvPr id="9" name="Takeaway title 2"/>
          <p:cNvSpPr txBox="1"/>
          <p:nvPr/>
        </p:nvSpPr>
        <p:spPr>
          <a:xfrm>
            <a:off x="3931920" y="996696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Evaluate quantization case by case</a:t>
            </a:r>
          </a:p>
        </p:txBody>
      </p:sp>
      <p:sp>
        <p:nvSpPr>
          <p:cNvPr id="10" name="Takeaway body 2"/>
          <p:cNvSpPr txBox="1"/>
          <p:nvPr/>
        </p:nvSpPr>
        <p:spPr>
          <a:xfrm>
            <a:off x="3931920" y="1129284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Lossy quantization behaves differently across models and workloads.</a:t>
            </a:r>
          </a:p>
          <a:p>
            <a:pPr>
              <a:spcBef>
                <a:spcPts val="0"/>
              </a:spcBef>
              <a:spcAft>
                <a:spcPts val="0"/>
              </a:spcAft>
            </a:pPr>
            <a:r>
              <a:rPr sz="3600" b="0">
                <a:solidFill>
                  <a:srgbClr val="000000"/>
                </a:solidFill>
                <a:latin typeface="NVIDIA Sans"/>
              </a:rPr>
              <a:t>Measure quality and latency on representative cases.</a:t>
            </a:r>
          </a:p>
        </p:txBody>
      </p:sp>
      <p:sp>
        <p:nvSpPr>
          <p:cNvPr id="11" name="Takeaway number 3"/>
          <p:cNvSpPr txBox="1"/>
          <p:nvPr/>
        </p:nvSpPr>
        <p:spPr>
          <a:xfrm>
            <a:off x="1828800" y="14685263"/>
            <a:ext cx="1828800" cy="822960"/>
          </a:xfrm>
          <a:prstGeom prst="rect">
            <a:avLst/>
          </a:prstGeom>
          <a:noFill/>
        </p:spPr>
        <p:txBody>
          <a:bodyPr wrap="square" lIns="0" rIns="0" tIns="0" bIns="0">
            <a:spAutoFit/>
          </a:bodyPr>
          <a:lstStyle/>
          <a:p>
            <a:pPr>
              <a:spcBef>
                <a:spcPts val="0"/>
              </a:spcBef>
              <a:spcAft>
                <a:spcPts val="0"/>
              </a:spcAft>
            </a:pPr>
            <a:r>
              <a:rPr sz="4400" b="0">
                <a:solidFill>
                  <a:srgbClr val="76B900"/>
                </a:solidFill>
                <a:latin typeface="NVIDIA Sans Medium"/>
              </a:rPr>
              <a:t>03</a:t>
            </a:r>
          </a:p>
        </p:txBody>
      </p:sp>
      <p:sp>
        <p:nvSpPr>
          <p:cNvPr id="12" name="Takeaway title 3"/>
          <p:cNvSpPr txBox="1"/>
          <p:nvPr/>
        </p:nvSpPr>
        <p:spPr>
          <a:xfrm>
            <a:off x="3931920" y="14630400"/>
            <a:ext cx="30815280" cy="96012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Next: real-time response and richer interaction</a:t>
            </a:r>
          </a:p>
        </p:txBody>
      </p:sp>
      <p:sp>
        <p:nvSpPr>
          <p:cNvPr id="13" name="Takeaway body 3"/>
          <p:cNvSpPr txBox="1"/>
          <p:nvPr/>
        </p:nvSpPr>
        <p:spPr>
          <a:xfrm>
            <a:off x="3931920" y="15956280"/>
            <a:ext cx="30815280" cy="2468880"/>
          </a:xfrm>
          <a:prstGeom prst="rect">
            <a:avLst/>
          </a:prstGeom>
          <a:noFill/>
        </p:spPr>
        <p:txBody>
          <a:bodyPr wrap="square" lIns="0" rIns="0" tIns="0" bIns="0">
            <a:spAutoFit/>
          </a:bodyPr>
          <a:lstStyle/>
          <a:p>
            <a:pPr>
              <a:spcBef>
                <a:spcPts val="0"/>
              </a:spcBef>
              <a:spcAft>
                <a:spcPts val="0"/>
              </a:spcAft>
            </a:pPr>
            <a:r>
              <a:rPr sz="3600" b="0">
                <a:solidFill>
                  <a:srgbClr val="000000"/>
                </a:solidFill>
                <a:latin typeface="NVIDIA Sans"/>
              </a:rPr>
              <a:t>Explore autoregressive diffusion for earlier responses.</a:t>
            </a:r>
            <a:br/>
            <a:r>
              <a:rPr sz="3600" b="0">
                <a:solidFill>
                  <a:srgbClr val="000000"/>
                </a:solidFill>
                <a:latin typeface="NVIDIA Sans"/>
              </a:rPr>
              <a:t>Use prompt enhancers to support richer interaction.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43</a:t>
            </a:r>
          </a:p>
        </p:txBody>
      </p:sp>
      <p:sp>
        <p:nvSpPr>
          <p:cNvPr id="3" name="Text Placeholder 2"/>
          <p:cNvSpPr>
            <a:spLocks noGrp="1"/>
          </p:cNvSpPr>
          <p:nvPr>
            <p:ph type="body" idx="13" sz="quarter"/>
          </p:nvPr>
        </p:nvSpPr>
        <p:spPr/>
        <p:txBody>
          <a:bodyPr/>
          <a:lstStyle/>
          <a:p>
            <a:r>
              <a:t>A five-second clip needs a five-second generation budget.</a:t>
            </a:r>
          </a:p>
        </p:txBody>
      </p:sp>
      <p:sp>
        <p:nvSpPr>
          <p:cNvPr id="4" name="Title 3"/>
          <p:cNvSpPr>
            <a:spLocks noGrp="1"/>
          </p:cNvSpPr>
          <p:nvPr>
            <p:ph type="title"/>
          </p:nvPr>
        </p:nvSpPr>
        <p:spPr/>
        <p:txBody>
          <a:bodyPr/>
          <a:lstStyle/>
          <a:p>
            <a:r>
              <a:rPr sz="8800"/>
              <a:t>Real Time Means Keeping Up</a:t>
            </a:r>
          </a:p>
        </p:txBody>
      </p:sp>
      <p:sp>
        <p:nvSpPr>
          <p:cNvPr id="5" name="Generation label"/>
          <p:cNvSpPr txBox="1"/>
          <p:nvPr/>
        </p:nvSpPr>
        <p:spPr>
          <a:xfrm>
            <a:off x="1828800" y="6400800"/>
            <a:ext cx="146304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GENERATION TIME</a:t>
            </a:r>
          </a:p>
        </p:txBody>
      </p:sp>
      <p:sp>
        <p:nvSpPr>
          <p:cNvPr id="6" name="Generation budget"/>
          <p:cNvSpPr txBox="1"/>
          <p:nvPr/>
        </p:nvSpPr>
        <p:spPr>
          <a:xfrm>
            <a:off x="1828800" y="8229600"/>
            <a:ext cx="14630400" cy="3017520"/>
          </a:xfrm>
          <a:prstGeom prst="rect">
            <a:avLst/>
          </a:prstGeom>
          <a:noFill/>
        </p:spPr>
        <p:txBody>
          <a:bodyPr wrap="square" lIns="0" rIns="0" tIns="0" bIns="0">
            <a:spAutoFit/>
          </a:bodyPr>
          <a:lstStyle/>
          <a:p>
            <a:pPr>
              <a:spcBef>
                <a:spcPts val="0"/>
              </a:spcBef>
              <a:spcAft>
                <a:spcPts val="0"/>
              </a:spcAft>
            </a:pPr>
            <a:r>
              <a:rPr sz="18000" b="0">
                <a:solidFill>
                  <a:srgbClr val="76B900"/>
                </a:solidFill>
                <a:latin typeface="NVIDIA Sans Medium"/>
              </a:rPr>
              <a:t>&lt;5 s</a:t>
            </a:r>
          </a:p>
        </p:txBody>
      </p:sp>
      <p:sp>
        <p:nvSpPr>
          <p:cNvPr id="7" name="Budget relation"/>
          <p:cNvSpPr/>
          <p:nvPr/>
        </p:nvSpPr>
        <p:spPr>
          <a:xfrm>
            <a:off x="16642080" y="9235440"/>
            <a:ext cx="27432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Video label"/>
          <p:cNvSpPr txBox="1"/>
          <p:nvPr/>
        </p:nvSpPr>
        <p:spPr>
          <a:xfrm>
            <a:off x="21945600" y="6400800"/>
            <a:ext cx="12801600" cy="914400"/>
          </a:xfrm>
          <a:prstGeom prst="rect">
            <a:avLst/>
          </a:prstGeom>
          <a:noFill/>
        </p:spPr>
        <p:txBody>
          <a:bodyPr wrap="square" lIns="0" rIns="0" tIns="0" bIns="0">
            <a:spAutoFit/>
          </a:bodyPr>
          <a:lstStyle/>
          <a:p>
            <a:pPr>
              <a:spcBef>
                <a:spcPts val="0"/>
              </a:spcBef>
              <a:spcAft>
                <a:spcPts val="0"/>
              </a:spcAft>
            </a:pPr>
            <a:r>
              <a:rPr sz="3400" b="0">
                <a:solidFill>
                  <a:srgbClr val="313131"/>
                </a:solidFill>
                <a:latin typeface="NVIDIA Sans Medium"/>
              </a:rPr>
              <a:t>GENERATED AUDIO + VIDEO</a:t>
            </a:r>
          </a:p>
        </p:txBody>
      </p:sp>
      <p:sp>
        <p:nvSpPr>
          <p:cNvPr id="9" name="Video budget"/>
          <p:cNvSpPr txBox="1"/>
          <p:nvPr/>
        </p:nvSpPr>
        <p:spPr>
          <a:xfrm>
            <a:off x="21945600" y="8229600"/>
            <a:ext cx="12801600" cy="3017520"/>
          </a:xfrm>
          <a:prstGeom prst="rect">
            <a:avLst/>
          </a:prstGeom>
          <a:noFill/>
        </p:spPr>
        <p:txBody>
          <a:bodyPr wrap="square" lIns="0" rIns="0" tIns="0" bIns="0">
            <a:spAutoFit/>
          </a:bodyPr>
          <a:lstStyle/>
          <a:p>
            <a:pPr>
              <a:spcBef>
                <a:spcPts val="0"/>
              </a:spcBef>
              <a:spcAft>
                <a:spcPts val="0"/>
              </a:spcAft>
            </a:pPr>
            <a:r>
              <a:rPr sz="18000" b="0">
                <a:solidFill>
                  <a:srgbClr val="000000"/>
                </a:solidFill>
                <a:latin typeface="NVIDIA Sans Medium"/>
              </a:rPr>
              <a:t>~5 s</a:t>
            </a:r>
          </a:p>
        </p:txBody>
      </p:sp>
      <p:sp>
        <p:nvSpPr>
          <p:cNvPr id="10" name="Budget takeaway"/>
          <p:cNvSpPr txBox="1"/>
          <p:nvPr/>
        </p:nvSpPr>
        <p:spPr>
          <a:xfrm>
            <a:off x="1828800" y="17099280"/>
            <a:ext cx="32918400" cy="1280160"/>
          </a:xfrm>
          <a:prstGeom prst="rect">
            <a:avLst/>
          </a:prstGeom>
          <a:noFill/>
        </p:spPr>
        <p:txBody>
          <a:bodyPr wrap="square" lIns="0" rIns="0" tIns="0" bIns="0">
            <a:spAutoFit/>
          </a:bodyPr>
          <a:lstStyle/>
          <a:p>
            <a:pPr>
              <a:spcBef>
                <a:spcPts val="0"/>
              </a:spcBef>
              <a:spcAft>
                <a:spcPts val="0"/>
              </a:spcAft>
            </a:pPr>
            <a:r>
              <a:rPr sz="4800" b="0">
                <a:solidFill>
                  <a:srgbClr val="000000"/>
                </a:solidFill>
                <a:latin typeface="NVIDIA Sans Medium"/>
              </a:rPr>
              <a:t>Optimize the complete request, through playable output.</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44</a:t>
            </a:r>
          </a:p>
        </p:txBody>
      </p:sp>
      <p:sp>
        <p:nvSpPr>
          <p:cNvPr id="3" name="Text Placeholder 2"/>
          <p:cNvSpPr>
            <a:spLocks noGrp="1"/>
          </p:cNvSpPr>
          <p:nvPr>
            <p:ph type="body" idx="13" sz="quarter"/>
          </p:nvPr>
        </p:nvSpPr>
        <p:spPr/>
        <p:txBody>
          <a:bodyPr/>
          <a:lstStyle/>
          <a:p>
            <a:r>
              <a:t>Map GPU–NIC affinity before tuning the collective.</a:t>
            </a:r>
          </a:p>
        </p:txBody>
      </p:sp>
      <p:sp>
        <p:nvSpPr>
          <p:cNvPr id="4" name="Title 3"/>
          <p:cNvSpPr>
            <a:spLocks noGrp="1"/>
          </p:cNvSpPr>
          <p:nvPr>
            <p:ph type="title"/>
          </p:nvPr>
        </p:nvSpPr>
        <p:spPr/>
        <p:txBody>
          <a:bodyPr/>
          <a:lstStyle/>
          <a:p>
            <a:r>
              <a:rPr sz="8800"/>
              <a:t>Optimization - Comms</a:t>
            </a:r>
          </a:p>
        </p:txBody>
      </p:sp>
      <p:sp>
        <p:nvSpPr>
          <p:cNvPr id="5" name="CPU socket 0"/>
          <p:cNvSpPr/>
          <p:nvPr/>
        </p:nvSpPr>
        <p:spPr>
          <a:xfrm>
            <a:off x="36576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CPU socket 0 label"/>
          <p:cNvSpPr txBox="1"/>
          <p:nvPr/>
        </p:nvSpPr>
        <p:spPr>
          <a:xfrm>
            <a:off x="3749039"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0</a:t>
            </a:r>
          </a:p>
        </p:txBody>
      </p:sp>
      <p:sp>
        <p:nvSpPr>
          <p:cNvPr id="7" name="CPU socket 1"/>
          <p:cNvSpPr/>
          <p:nvPr/>
        </p:nvSpPr>
        <p:spPr>
          <a:xfrm>
            <a:off x="21031200" y="5486400"/>
            <a:ext cx="11887200" cy="123444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CPU socket 1 label"/>
          <p:cNvSpPr txBox="1"/>
          <p:nvPr/>
        </p:nvSpPr>
        <p:spPr>
          <a:xfrm>
            <a:off x="21122640" y="5724144"/>
            <a:ext cx="11704320" cy="960120"/>
          </a:xfrm>
          <a:prstGeom prst="rect">
            <a:avLst/>
          </a:prstGeom>
          <a:noFill/>
        </p:spPr>
        <p:txBody>
          <a:bodyPr wrap="square" lIns="0" rIns="0" tIns="0" bIns="0">
            <a:spAutoFit/>
          </a:bodyPr>
          <a:lstStyle/>
          <a:p>
            <a:pPr algn="ctr">
              <a:spcBef>
                <a:spcPts val="0"/>
              </a:spcBef>
              <a:spcAft>
                <a:spcPts val="0"/>
              </a:spcAft>
            </a:pPr>
            <a:r>
              <a:rPr sz="3800" b="0">
                <a:solidFill>
                  <a:srgbClr val="000000"/>
                </a:solidFill>
                <a:latin typeface="NVIDIA Sans Medium"/>
              </a:rPr>
              <a:t>CPU socket 1</a:t>
            </a:r>
          </a:p>
        </p:txBody>
      </p:sp>
      <p:cxnSp>
        <p:nvCxnSpPr>
          <p:cNvPr id="9" name="CPU interconnect"/>
          <p:cNvCxnSpPr/>
          <p:nvPr/>
        </p:nvCxnSpPr>
        <p:spPr>
          <a:xfrm>
            <a:off x="15544800" y="6080760"/>
            <a:ext cx="5486400" cy="0"/>
          </a:xfrm>
          <a:prstGeom prst="line">
            <a:avLst/>
          </a:prstGeom>
          <a:ln w="38100">
            <a:solidFill>
              <a:srgbClr val="A7A7A7"/>
            </a:solidFill>
          </a:ln>
        </p:spPr>
        <p:style>
          <a:lnRef idx="2">
            <a:schemeClr val="accent1"/>
          </a:lnRef>
          <a:fillRef idx="0">
            <a:schemeClr val="accent1"/>
          </a:fillRef>
          <a:effectRef idx="1">
            <a:schemeClr val="accent1"/>
          </a:effectRef>
          <a:fontRef idx="minor">
            <a:schemeClr val="tx1"/>
          </a:fontRef>
        </p:style>
      </p:cxnSp>
      <p:sp>
        <p:nvSpPr>
          <p:cNvPr id="10" name="CPU interconnect label"/>
          <p:cNvSpPr txBox="1"/>
          <p:nvPr/>
        </p:nvSpPr>
        <p:spPr>
          <a:xfrm>
            <a:off x="15819120" y="5166360"/>
            <a:ext cx="4937760" cy="594360"/>
          </a:xfrm>
          <a:prstGeom prst="rect">
            <a:avLst/>
          </a:prstGeom>
          <a:noFill/>
        </p:spPr>
        <p:txBody>
          <a:bodyPr wrap="square" lIns="0" rIns="0" tIns="0" bIns="0">
            <a:spAutoFit/>
          </a:bodyPr>
          <a:lstStyle/>
          <a:p>
            <a:pPr algn="ctr">
              <a:spcBef>
                <a:spcPts val="0"/>
              </a:spcBef>
              <a:spcAft>
                <a:spcPts val="0"/>
              </a:spcAft>
            </a:pPr>
            <a:r>
              <a:rPr sz="2400" b="0">
                <a:solidFill>
                  <a:srgbClr val="313131"/>
                </a:solidFill>
                <a:latin typeface="NVIDIA Sans"/>
              </a:rPr>
              <a:t>CPU interconnect</a:t>
            </a:r>
          </a:p>
        </p:txBody>
      </p:sp>
      <p:cxnSp>
        <p:nvCxnSpPr>
          <p:cNvPr id="11" name="Host trunk"/>
          <p:cNvCxnSpPr/>
          <p:nvPr/>
        </p:nvCxnSpPr>
        <p:spPr>
          <a:xfrm>
            <a:off x="96012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2" name="Host fanout"/>
          <p:cNvCxnSpPr/>
          <p:nvPr/>
        </p:nvCxnSpPr>
        <p:spPr>
          <a:xfrm>
            <a:off x="52578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3" name="Host uplink"/>
          <p:cNvCxnSpPr/>
          <p:nvPr/>
        </p:nvCxnSpPr>
        <p:spPr>
          <a:xfrm>
            <a:off x="52578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4" name="Host uplink"/>
          <p:cNvCxnSpPr/>
          <p:nvPr/>
        </p:nvCxnSpPr>
        <p:spPr>
          <a:xfrm>
            <a:off x="139446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5" name="Host trunk"/>
          <p:cNvCxnSpPr/>
          <p:nvPr/>
        </p:nvCxnSpPr>
        <p:spPr>
          <a:xfrm>
            <a:off x="26974800" y="6720840"/>
            <a:ext cx="0" cy="82296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6" name="Host fanout"/>
          <p:cNvCxnSpPr/>
          <p:nvPr/>
        </p:nvCxnSpPr>
        <p:spPr>
          <a:xfrm>
            <a:off x="22631400" y="7543800"/>
            <a:ext cx="86868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7" name="Host uplink"/>
          <p:cNvCxnSpPr/>
          <p:nvPr/>
        </p:nvCxnSpPr>
        <p:spPr>
          <a:xfrm>
            <a:off x="226314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18" name="Host uplink"/>
          <p:cNvCxnSpPr/>
          <p:nvPr/>
        </p:nvCxnSpPr>
        <p:spPr>
          <a:xfrm>
            <a:off x="31318200" y="7543800"/>
            <a:ext cx="0" cy="100584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19" name="PCIe switch 0"/>
          <p:cNvSpPr/>
          <p:nvPr/>
        </p:nvSpPr>
        <p:spPr>
          <a:xfrm>
            <a:off x="18288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PCIe switch 0 label"/>
          <p:cNvSpPr txBox="1"/>
          <p:nvPr/>
        </p:nvSpPr>
        <p:spPr>
          <a:xfrm>
            <a:off x="19202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21" name="GPU trunk 0"/>
          <p:cNvCxnSpPr/>
          <p:nvPr/>
        </p:nvCxnSpPr>
        <p:spPr>
          <a:xfrm>
            <a:off x="52578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22" name="GPU fanout 0"/>
          <p:cNvCxnSpPr/>
          <p:nvPr/>
        </p:nvCxnSpPr>
        <p:spPr>
          <a:xfrm>
            <a:off x="34290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3" name="GPU 0"/>
          <p:cNvSpPr/>
          <p:nvPr/>
        </p:nvSpPr>
        <p:spPr>
          <a:xfrm>
            <a:off x="2011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GPU 0 label"/>
          <p:cNvSpPr txBox="1"/>
          <p:nvPr/>
        </p:nvSpPr>
        <p:spPr>
          <a:xfrm>
            <a:off x="2103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0</a:t>
            </a:r>
          </a:p>
        </p:txBody>
      </p:sp>
      <p:cxnSp>
        <p:nvCxnSpPr>
          <p:cNvPr id="25" name="GPU branch 0-0"/>
          <p:cNvCxnSpPr/>
          <p:nvPr/>
        </p:nvCxnSpPr>
        <p:spPr>
          <a:xfrm>
            <a:off x="3429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6" name="GPU 1"/>
          <p:cNvSpPr/>
          <p:nvPr/>
        </p:nvSpPr>
        <p:spPr>
          <a:xfrm>
            <a:off x="5669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GPU 1 label"/>
          <p:cNvSpPr txBox="1"/>
          <p:nvPr/>
        </p:nvSpPr>
        <p:spPr>
          <a:xfrm>
            <a:off x="5760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1</a:t>
            </a:r>
          </a:p>
        </p:txBody>
      </p:sp>
      <p:cxnSp>
        <p:nvCxnSpPr>
          <p:cNvPr id="28" name="GPU branch 0-1"/>
          <p:cNvCxnSpPr/>
          <p:nvPr/>
        </p:nvCxnSpPr>
        <p:spPr>
          <a:xfrm>
            <a:off x="7086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29" name="ConnectX-8 0"/>
          <p:cNvSpPr/>
          <p:nvPr/>
        </p:nvSpPr>
        <p:spPr>
          <a:xfrm>
            <a:off x="18288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ConnectX-8 0 label"/>
          <p:cNvSpPr txBox="1"/>
          <p:nvPr/>
        </p:nvSpPr>
        <p:spPr>
          <a:xfrm>
            <a:off x="19202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31" name="NIC side branch 0"/>
          <p:cNvCxnSpPr/>
          <p:nvPr/>
        </p:nvCxnSpPr>
        <p:spPr>
          <a:xfrm>
            <a:off x="86868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2" name="NIC down branch 0"/>
          <p:cNvCxnSpPr/>
          <p:nvPr/>
        </p:nvCxnSpPr>
        <p:spPr>
          <a:xfrm>
            <a:off x="91897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3" name="NIC input 0"/>
          <p:cNvCxnSpPr/>
          <p:nvPr/>
        </p:nvCxnSpPr>
        <p:spPr>
          <a:xfrm flipH="1">
            <a:off x="86868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34" name="NIC network 0"/>
          <p:cNvCxnSpPr/>
          <p:nvPr/>
        </p:nvCxnSpPr>
        <p:spPr>
          <a:xfrm>
            <a:off x="52578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35" name="PCIe switch 1"/>
          <p:cNvSpPr/>
          <p:nvPr/>
        </p:nvSpPr>
        <p:spPr>
          <a:xfrm>
            <a:off x="105156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PCIe switch 1 label"/>
          <p:cNvSpPr txBox="1"/>
          <p:nvPr/>
        </p:nvSpPr>
        <p:spPr>
          <a:xfrm>
            <a:off x="106070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37" name="GPU trunk 1"/>
          <p:cNvCxnSpPr/>
          <p:nvPr/>
        </p:nvCxnSpPr>
        <p:spPr>
          <a:xfrm>
            <a:off x="139446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38" name="GPU fanout 1"/>
          <p:cNvCxnSpPr/>
          <p:nvPr/>
        </p:nvCxnSpPr>
        <p:spPr>
          <a:xfrm>
            <a:off x="121158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39" name="GPU 2"/>
          <p:cNvSpPr/>
          <p:nvPr/>
        </p:nvSpPr>
        <p:spPr>
          <a:xfrm>
            <a:off x="106984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GPU 2 label"/>
          <p:cNvSpPr txBox="1"/>
          <p:nvPr/>
        </p:nvSpPr>
        <p:spPr>
          <a:xfrm>
            <a:off x="107899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2</a:t>
            </a:r>
          </a:p>
        </p:txBody>
      </p:sp>
      <p:cxnSp>
        <p:nvCxnSpPr>
          <p:cNvPr id="41" name="GPU branch 1-0"/>
          <p:cNvCxnSpPr/>
          <p:nvPr/>
        </p:nvCxnSpPr>
        <p:spPr>
          <a:xfrm>
            <a:off x="121158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2" name="GPU 3"/>
          <p:cNvSpPr/>
          <p:nvPr/>
        </p:nvSpPr>
        <p:spPr>
          <a:xfrm>
            <a:off x="14356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GPU 3 label"/>
          <p:cNvSpPr txBox="1"/>
          <p:nvPr/>
        </p:nvSpPr>
        <p:spPr>
          <a:xfrm>
            <a:off x="14447519"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3</a:t>
            </a:r>
          </a:p>
        </p:txBody>
      </p:sp>
      <p:cxnSp>
        <p:nvCxnSpPr>
          <p:cNvPr id="44" name="GPU branch 1-1"/>
          <p:cNvCxnSpPr/>
          <p:nvPr/>
        </p:nvCxnSpPr>
        <p:spPr>
          <a:xfrm>
            <a:off x="15773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45" name="ConnectX-8 1"/>
          <p:cNvSpPr/>
          <p:nvPr/>
        </p:nvSpPr>
        <p:spPr>
          <a:xfrm>
            <a:off x="105156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ConnectX-8 1 label"/>
          <p:cNvSpPr txBox="1"/>
          <p:nvPr/>
        </p:nvSpPr>
        <p:spPr>
          <a:xfrm>
            <a:off x="106070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47" name="NIC side branch 1"/>
          <p:cNvCxnSpPr/>
          <p:nvPr/>
        </p:nvCxnSpPr>
        <p:spPr>
          <a:xfrm>
            <a:off x="173736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8" name="NIC down branch 1"/>
          <p:cNvCxnSpPr/>
          <p:nvPr/>
        </p:nvCxnSpPr>
        <p:spPr>
          <a:xfrm>
            <a:off x="178765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49" name="NIC input 1"/>
          <p:cNvCxnSpPr/>
          <p:nvPr/>
        </p:nvCxnSpPr>
        <p:spPr>
          <a:xfrm flipH="1">
            <a:off x="173736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50" name="NIC network 1"/>
          <p:cNvCxnSpPr/>
          <p:nvPr/>
        </p:nvCxnSpPr>
        <p:spPr>
          <a:xfrm>
            <a:off x="139446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51" name="PCIe switch 2"/>
          <p:cNvSpPr/>
          <p:nvPr/>
        </p:nvSpPr>
        <p:spPr>
          <a:xfrm>
            <a:off x="192024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PCIe switch 2 label"/>
          <p:cNvSpPr txBox="1"/>
          <p:nvPr/>
        </p:nvSpPr>
        <p:spPr>
          <a:xfrm>
            <a:off x="192938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53" name="GPU trunk 2"/>
          <p:cNvCxnSpPr/>
          <p:nvPr/>
        </p:nvCxnSpPr>
        <p:spPr>
          <a:xfrm>
            <a:off x="226314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54" name="GPU fanout 2"/>
          <p:cNvCxnSpPr/>
          <p:nvPr/>
        </p:nvCxnSpPr>
        <p:spPr>
          <a:xfrm>
            <a:off x="208026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5" name="GPU 4"/>
          <p:cNvSpPr/>
          <p:nvPr/>
        </p:nvSpPr>
        <p:spPr>
          <a:xfrm>
            <a:off x="193852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GPU 4 label"/>
          <p:cNvSpPr txBox="1"/>
          <p:nvPr/>
        </p:nvSpPr>
        <p:spPr>
          <a:xfrm>
            <a:off x="194767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4</a:t>
            </a:r>
          </a:p>
        </p:txBody>
      </p:sp>
      <p:cxnSp>
        <p:nvCxnSpPr>
          <p:cNvPr id="57" name="GPU branch 2-0"/>
          <p:cNvCxnSpPr/>
          <p:nvPr/>
        </p:nvCxnSpPr>
        <p:spPr>
          <a:xfrm>
            <a:off x="208026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58" name="GPU 5"/>
          <p:cNvSpPr/>
          <p:nvPr/>
        </p:nvSpPr>
        <p:spPr>
          <a:xfrm>
            <a:off x="230428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GPU 5 label"/>
          <p:cNvSpPr txBox="1"/>
          <p:nvPr/>
        </p:nvSpPr>
        <p:spPr>
          <a:xfrm>
            <a:off x="231343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5</a:t>
            </a:r>
          </a:p>
        </p:txBody>
      </p:sp>
      <p:cxnSp>
        <p:nvCxnSpPr>
          <p:cNvPr id="60" name="GPU branch 2-1"/>
          <p:cNvCxnSpPr/>
          <p:nvPr/>
        </p:nvCxnSpPr>
        <p:spPr>
          <a:xfrm>
            <a:off x="244602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61" name="ConnectX-8 2"/>
          <p:cNvSpPr/>
          <p:nvPr/>
        </p:nvSpPr>
        <p:spPr>
          <a:xfrm>
            <a:off x="192024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ConnectX-8 2 label"/>
          <p:cNvSpPr txBox="1"/>
          <p:nvPr/>
        </p:nvSpPr>
        <p:spPr>
          <a:xfrm>
            <a:off x="192938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63" name="NIC side branch 2"/>
          <p:cNvCxnSpPr/>
          <p:nvPr/>
        </p:nvCxnSpPr>
        <p:spPr>
          <a:xfrm>
            <a:off x="260604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4" name="NIC down branch 2"/>
          <p:cNvCxnSpPr/>
          <p:nvPr/>
        </p:nvCxnSpPr>
        <p:spPr>
          <a:xfrm>
            <a:off x="265633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5" name="NIC input 2"/>
          <p:cNvCxnSpPr/>
          <p:nvPr/>
        </p:nvCxnSpPr>
        <p:spPr>
          <a:xfrm flipH="1">
            <a:off x="260604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66" name="NIC network 2"/>
          <p:cNvCxnSpPr/>
          <p:nvPr/>
        </p:nvCxnSpPr>
        <p:spPr>
          <a:xfrm>
            <a:off x="226314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67" name="PCIe switch 3"/>
          <p:cNvSpPr/>
          <p:nvPr/>
        </p:nvSpPr>
        <p:spPr>
          <a:xfrm>
            <a:off x="27889200" y="8549640"/>
            <a:ext cx="685800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PCIe switch 3 label"/>
          <p:cNvSpPr txBox="1"/>
          <p:nvPr/>
        </p:nvSpPr>
        <p:spPr>
          <a:xfrm>
            <a:off x="27980640" y="8787384"/>
            <a:ext cx="6675120" cy="868680"/>
          </a:xfrm>
          <a:prstGeom prst="rect">
            <a:avLst/>
          </a:prstGeom>
          <a:noFill/>
        </p:spPr>
        <p:txBody>
          <a:bodyPr wrap="square" lIns="0" rIns="0" tIns="0" bIns="0">
            <a:spAutoFit/>
          </a:bodyPr>
          <a:lstStyle/>
          <a:p>
            <a:pPr algn="ctr">
              <a:spcBef>
                <a:spcPts val="0"/>
              </a:spcBef>
              <a:spcAft>
                <a:spcPts val="0"/>
              </a:spcAft>
            </a:pPr>
            <a:r>
              <a:rPr sz="3200" b="0">
                <a:solidFill>
                  <a:srgbClr val="000000"/>
                </a:solidFill>
                <a:latin typeface="NVIDIA Sans Medium"/>
              </a:rPr>
              <a:t>PCIe switch</a:t>
            </a:r>
          </a:p>
        </p:txBody>
      </p:sp>
      <p:cxnSp>
        <p:nvCxnSpPr>
          <p:cNvPr id="69" name="GPU trunk 3"/>
          <p:cNvCxnSpPr/>
          <p:nvPr/>
        </p:nvCxnSpPr>
        <p:spPr>
          <a:xfrm>
            <a:off x="31318200" y="9692640"/>
            <a:ext cx="0" cy="91440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cxnSp>
        <p:nvCxnSpPr>
          <p:cNvPr id="70" name="GPU fanout 3"/>
          <p:cNvCxnSpPr/>
          <p:nvPr/>
        </p:nvCxnSpPr>
        <p:spPr>
          <a:xfrm>
            <a:off x="29489400" y="10607040"/>
            <a:ext cx="3657600" cy="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1" name="GPU 6"/>
          <p:cNvSpPr/>
          <p:nvPr/>
        </p:nvSpPr>
        <p:spPr>
          <a:xfrm>
            <a:off x="280720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GPU 6 label"/>
          <p:cNvSpPr txBox="1"/>
          <p:nvPr/>
        </p:nvSpPr>
        <p:spPr>
          <a:xfrm>
            <a:off x="281635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6</a:t>
            </a:r>
          </a:p>
        </p:txBody>
      </p:sp>
      <p:cxnSp>
        <p:nvCxnSpPr>
          <p:cNvPr id="73" name="GPU branch 3-0"/>
          <p:cNvCxnSpPr/>
          <p:nvPr/>
        </p:nvCxnSpPr>
        <p:spPr>
          <a:xfrm>
            <a:off x="294894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4" name="GPU 7"/>
          <p:cNvSpPr/>
          <p:nvPr/>
        </p:nvSpPr>
        <p:spPr>
          <a:xfrm>
            <a:off x="31729680" y="11338560"/>
            <a:ext cx="2834640" cy="114300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5" name="GPU 7 label"/>
          <p:cNvSpPr txBox="1"/>
          <p:nvPr/>
        </p:nvSpPr>
        <p:spPr>
          <a:xfrm>
            <a:off x="31821120" y="11576304"/>
            <a:ext cx="2651760" cy="868680"/>
          </a:xfrm>
          <a:prstGeom prst="rect">
            <a:avLst/>
          </a:prstGeom>
          <a:noFill/>
        </p:spPr>
        <p:txBody>
          <a:bodyPr wrap="square" lIns="0" rIns="0" tIns="0" bIns="0">
            <a:spAutoFit/>
          </a:bodyPr>
          <a:lstStyle/>
          <a:p>
            <a:pPr algn="ctr">
              <a:spcBef>
                <a:spcPts val="0"/>
              </a:spcBef>
              <a:spcAft>
                <a:spcPts val="0"/>
              </a:spcAft>
            </a:pPr>
            <a:r>
              <a:rPr sz="3100" b="0">
                <a:solidFill>
                  <a:srgbClr val="000000"/>
                </a:solidFill>
                <a:latin typeface="NVIDIA Sans Medium"/>
              </a:rPr>
              <a:t>GPU 7</a:t>
            </a:r>
          </a:p>
        </p:txBody>
      </p:sp>
      <p:cxnSp>
        <p:nvCxnSpPr>
          <p:cNvPr id="76" name="GPU branch 3-1"/>
          <p:cNvCxnSpPr/>
          <p:nvPr/>
        </p:nvCxnSpPr>
        <p:spPr>
          <a:xfrm>
            <a:off x="33147000" y="10607040"/>
            <a:ext cx="0" cy="731520"/>
          </a:xfrm>
          <a:prstGeom prst="line">
            <a:avLst/>
          </a:prstGeom>
          <a:ln w="38100">
            <a:solidFill>
              <a:srgbClr val="313131"/>
            </a:solidFill>
          </a:ln>
        </p:spPr>
        <p:style>
          <a:lnRef idx="2">
            <a:schemeClr val="accent1"/>
          </a:lnRef>
          <a:fillRef idx="0">
            <a:schemeClr val="accent1"/>
          </a:fillRef>
          <a:effectRef idx="1">
            <a:schemeClr val="accent1"/>
          </a:effectRef>
          <a:fontRef idx="minor">
            <a:schemeClr val="tx1"/>
          </a:fontRef>
        </p:style>
      </p:cxnSp>
      <p:sp>
        <p:nvSpPr>
          <p:cNvPr id="77" name="ConnectX-8 3"/>
          <p:cNvSpPr/>
          <p:nvPr/>
        </p:nvSpPr>
        <p:spPr>
          <a:xfrm>
            <a:off x="27889200" y="14356080"/>
            <a:ext cx="6858000" cy="1188720"/>
          </a:xfrm>
          <a:prstGeom prst="rect">
            <a:avLst/>
          </a:prstGeom>
          <a:solidFill>
            <a:srgbClr val="F7F7F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ConnectX-8 3 label"/>
          <p:cNvSpPr txBox="1"/>
          <p:nvPr/>
        </p:nvSpPr>
        <p:spPr>
          <a:xfrm>
            <a:off x="27980640" y="14593824"/>
            <a:ext cx="6675120" cy="914400"/>
          </a:xfrm>
          <a:prstGeom prst="rect">
            <a:avLst/>
          </a:prstGeom>
          <a:noFill/>
        </p:spPr>
        <p:txBody>
          <a:bodyPr wrap="square" lIns="0" rIns="0" tIns="0" bIns="0">
            <a:spAutoFit/>
          </a:bodyPr>
          <a:lstStyle/>
          <a:p>
            <a:pPr algn="ctr">
              <a:spcBef>
                <a:spcPts val="0"/>
              </a:spcBef>
              <a:spcAft>
                <a:spcPts val="0"/>
              </a:spcAft>
            </a:pPr>
            <a:r>
              <a:rPr sz="3300" b="0">
                <a:solidFill>
                  <a:srgbClr val="000000"/>
                </a:solidFill>
                <a:latin typeface="NVIDIA Sans Medium"/>
              </a:rPr>
              <a:t>ConnectX-8</a:t>
            </a:r>
          </a:p>
        </p:txBody>
      </p:sp>
      <p:cxnSp>
        <p:nvCxnSpPr>
          <p:cNvPr id="79" name="NIC side branch 3"/>
          <p:cNvCxnSpPr/>
          <p:nvPr/>
        </p:nvCxnSpPr>
        <p:spPr>
          <a:xfrm>
            <a:off x="34747200" y="9125712"/>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0" name="NIC down branch 3"/>
          <p:cNvCxnSpPr/>
          <p:nvPr/>
        </p:nvCxnSpPr>
        <p:spPr>
          <a:xfrm>
            <a:off x="35250120" y="9125712"/>
            <a:ext cx="0" cy="5824728"/>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1" name="NIC input 3"/>
          <p:cNvCxnSpPr/>
          <p:nvPr/>
        </p:nvCxnSpPr>
        <p:spPr>
          <a:xfrm flipH="1">
            <a:off x="34747200" y="14950440"/>
            <a:ext cx="50292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2" name="NIC network 3"/>
          <p:cNvCxnSpPr/>
          <p:nvPr/>
        </p:nvCxnSpPr>
        <p:spPr>
          <a:xfrm>
            <a:off x="31318200" y="15544800"/>
            <a:ext cx="0" cy="96012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cxnSp>
        <p:nvCxnSpPr>
          <p:cNvPr id="83" name="Network fabric"/>
          <p:cNvCxnSpPr/>
          <p:nvPr/>
        </p:nvCxnSpPr>
        <p:spPr>
          <a:xfrm>
            <a:off x="5257800" y="16504920"/>
            <a:ext cx="26060400" cy="0"/>
          </a:xfrm>
          <a:prstGeom prst="line">
            <a:avLst/>
          </a:prstGeom>
          <a:ln w="50800">
            <a:solidFill>
              <a:srgbClr val="76B900"/>
            </a:solidFill>
          </a:ln>
        </p:spPr>
        <p:style>
          <a:lnRef idx="2">
            <a:schemeClr val="accent1"/>
          </a:lnRef>
          <a:fillRef idx="0">
            <a:schemeClr val="accent1"/>
          </a:fillRef>
          <a:effectRef idx="1">
            <a:schemeClr val="accent1"/>
          </a:effectRef>
          <a:fontRef idx="minor">
            <a:schemeClr val="tx1"/>
          </a:fontRef>
        </p:style>
      </p:cxnSp>
      <p:sp>
        <p:nvSpPr>
          <p:cNvPr id="84" name="Network fabric label"/>
          <p:cNvSpPr txBox="1"/>
          <p:nvPr/>
        </p:nvSpPr>
        <p:spPr>
          <a:xfrm>
            <a:off x="12801600" y="16779240"/>
            <a:ext cx="10972800" cy="640080"/>
          </a:xfrm>
          <a:prstGeom prst="rect">
            <a:avLst/>
          </a:prstGeom>
          <a:noFill/>
        </p:spPr>
        <p:txBody>
          <a:bodyPr wrap="square" lIns="0" rIns="0" tIns="0" bIns="0">
            <a:spAutoFit/>
          </a:bodyPr>
          <a:lstStyle/>
          <a:p>
            <a:pPr algn="ctr">
              <a:spcBef>
                <a:spcPts val="0"/>
              </a:spcBef>
              <a:spcAft>
                <a:spcPts val="0"/>
              </a:spcAft>
            </a:pPr>
            <a:r>
              <a:rPr sz="2800" b="0">
                <a:solidFill>
                  <a:srgbClr val="76B900"/>
                </a:solidFill>
                <a:latin typeface="NVIDIA Sans Medium"/>
              </a:rPr>
              <a:t>Network fabric</a:t>
            </a:r>
          </a:p>
        </p:txBody>
      </p:sp>
      <p:sp>
        <p:nvSpPr>
          <p:cNvPr id="86" name="Topology scope"/>
          <p:cNvSpPr txBox="1"/>
          <p:nvPr/>
        </p:nvSpPr>
        <p:spPr>
          <a:xfrm>
            <a:off x="1828800" y="19156680"/>
            <a:ext cx="32918400" cy="548640"/>
          </a:xfrm>
          <a:prstGeom prst="rect">
            <a:avLst/>
          </a:prstGeom>
          <a:noFill/>
        </p:spPr>
        <p:txBody>
          <a:bodyPr wrap="square" lIns="0" rIns="0" tIns="0" bIns="0">
            <a:spAutoFit/>
          </a:bodyPr>
          <a:lstStyle/>
          <a:p>
            <a:pPr>
              <a:spcBef>
                <a:spcPts val="0"/>
              </a:spcBef>
              <a:spcAft>
                <a:spcPts val="0"/>
              </a:spcAft>
            </a:pPr>
            <a:r>
              <a:rPr sz="2400" b="0">
                <a:solidFill>
                  <a:srgbClr val="313131"/>
                </a:solidFill>
                <a:latin typeface="NVIDIA Sans"/>
              </a:rPr>
              <a:t>8 × PRO 5000 · 4 × ConnectX-8 · two GPUs per PCIe subtree · no GPU NVLink</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show="0">
  <p:cSld>
    <p:spTree>
      <p:nvGrpSpPr>
        <p:cNvPr id="1" name=""/>
        <p:cNvGrpSpPr/>
        <p:nvPr/>
      </p:nvGrpSpPr>
      <p:grpSpPr/>
      <p:sp>
        <p:nvSpPr>
          <p:cNvPr id="2" name="Slide Number Placeholder 1"/>
          <p:cNvSpPr>
            <a:spLocks noGrp="1"/>
          </p:cNvSpPr>
          <p:nvPr>
            <p:ph type="sldNum" idx="16" sz="quarter"/>
          </p:nvPr>
        </p:nvSpPr>
        <p:spPr/>
        <p:txBody>
          <a:bodyPr/>
          <a:p>
            <a:r>
              <a:t>45</a:t>
            </a:r>
          </a:p>
        </p:txBody>
      </p:sp>
      <p:sp>
        <p:nvSpPr>
          <p:cNvPr id="3" name="Text Placeholder 2"/>
          <p:cNvSpPr>
            <a:spLocks noGrp="1"/>
          </p:cNvSpPr>
          <p:nvPr>
            <p:ph type="body" idx="13" sz="quarter"/>
          </p:nvPr>
        </p:nvSpPr>
        <p:spPr/>
        <p:txBody>
          <a:bodyPr/>
          <a:lstStyle/>
          <a:p>
            <a:r>
              <a:t>960 × 544 · 5.167 s output · 8 × RTX PRO 5000</a:t>
            </a:r>
          </a:p>
        </p:txBody>
      </p:sp>
      <p:sp>
        <p:nvSpPr>
          <p:cNvPr id="4" name="Title 3"/>
          <p:cNvSpPr>
            <a:spLocks noGrp="1"/>
          </p:cNvSpPr>
          <p:nvPr>
            <p:ph type="title"/>
          </p:nvPr>
        </p:nvSpPr>
        <p:spPr/>
        <p:txBody>
          <a:bodyPr/>
          <a:lstStyle/>
          <a:p>
            <a:r>
              <a:rPr sz="8800"/>
              <a:t>From Minutes to Real Time</a:t>
            </a:r>
          </a:p>
        </p:txBody>
      </p:sp>
      <p:sp>
        <p:nvSpPr>
          <p:cNvPr id="5" name="Overall speedup"/>
          <p:cNvSpPr txBox="1"/>
          <p:nvPr/>
        </p:nvSpPr>
        <p:spPr>
          <a:xfrm>
            <a:off x="1828800" y="5760720"/>
            <a:ext cx="32918400" cy="3200400"/>
          </a:xfrm>
          <a:prstGeom prst="rect">
            <a:avLst/>
          </a:prstGeom>
          <a:noFill/>
        </p:spPr>
        <p:txBody>
          <a:bodyPr wrap="square" lIns="0" rIns="0" tIns="0" bIns="0">
            <a:spAutoFit/>
          </a:bodyPr>
          <a:lstStyle/>
          <a:p>
            <a:pPr algn="ctr">
              <a:spcBef>
                <a:spcPts val="0"/>
              </a:spcBef>
              <a:spcAft>
                <a:spcPts val="0"/>
              </a:spcAft>
            </a:pPr>
            <a:r>
              <a:rPr sz="18200" b="0">
                <a:solidFill>
                  <a:srgbClr val="76B900"/>
                </a:solidFill>
                <a:latin typeface="NVIDIA Sans Medium"/>
              </a:rPr>
              <a:t>43.4× faster</a:t>
            </a:r>
          </a:p>
        </p:txBody>
      </p:sp>
      <p:sp>
        <p:nvSpPr>
          <p:cNvPr id="6" name="Baseline latency"/>
          <p:cNvSpPr txBox="1"/>
          <p:nvPr/>
        </p:nvSpPr>
        <p:spPr>
          <a:xfrm>
            <a:off x="2743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313131"/>
                </a:solidFill>
                <a:latin typeface="NVIDIA Sans Medium"/>
              </a:rPr>
              <a:t>213.40 s</a:t>
            </a:r>
          </a:p>
        </p:txBody>
      </p:sp>
      <p:sp>
        <p:nvSpPr>
          <p:cNvPr id="7" name="Final transition"/>
          <p:cNvSpPr/>
          <p:nvPr/>
        </p:nvSpPr>
        <p:spPr>
          <a:xfrm>
            <a:off x="16459200" y="11521440"/>
            <a:ext cx="3657600" cy="914400"/>
          </a:xfrm>
          <a:prstGeom prst="rightArrow">
            <a:avLst/>
          </a:prstGeom>
          <a:solidFill>
            <a:srgbClr val="76B9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Final latency"/>
          <p:cNvSpPr txBox="1"/>
          <p:nvPr/>
        </p:nvSpPr>
        <p:spPr>
          <a:xfrm>
            <a:off x="21031200" y="10789920"/>
            <a:ext cx="12801600" cy="2194560"/>
          </a:xfrm>
          <a:prstGeom prst="rect">
            <a:avLst/>
          </a:prstGeom>
          <a:noFill/>
        </p:spPr>
        <p:txBody>
          <a:bodyPr wrap="square" lIns="0" rIns="0" tIns="0" bIns="0">
            <a:spAutoFit/>
          </a:bodyPr>
          <a:lstStyle/>
          <a:p>
            <a:pPr algn="ctr">
              <a:spcBef>
                <a:spcPts val="0"/>
              </a:spcBef>
              <a:spcAft>
                <a:spcPts val="0"/>
              </a:spcAft>
            </a:pPr>
            <a:r>
              <a:rPr sz="11200" b="0">
                <a:solidFill>
                  <a:srgbClr val="76B900"/>
                </a:solidFill>
                <a:latin typeface="NVIDIA Sans Medium"/>
              </a:rPr>
              <a:t>4.92 s</a:t>
            </a:r>
          </a:p>
        </p:txBody>
      </p:sp>
      <p:sp>
        <p:nvSpPr>
          <p:cNvPr id="9" name="Baseline description"/>
          <p:cNvSpPr txBox="1"/>
          <p:nvPr/>
        </p:nvSpPr>
        <p:spPr>
          <a:xfrm>
            <a:off x="1828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Recorded baseline · 50 evaluations</a:t>
            </a:r>
          </a:p>
        </p:txBody>
      </p:sp>
      <p:sp>
        <p:nvSpPr>
          <p:cNvPr id="10" name="Final description"/>
          <p:cNvSpPr txBox="1"/>
          <p:nvPr/>
        </p:nvSpPr>
        <p:spPr>
          <a:xfrm>
            <a:off x="20116800" y="13441680"/>
            <a:ext cx="14630400" cy="914400"/>
          </a:xfrm>
          <a:prstGeom prst="rect">
            <a:avLst/>
          </a:prstGeom>
          <a:noFill/>
        </p:spPr>
        <p:txBody>
          <a:bodyPr wrap="square" lIns="0" rIns="0" tIns="0" bIns="0">
            <a:spAutoFit/>
          </a:bodyPr>
          <a:lstStyle/>
          <a:p>
            <a:pPr algn="ctr">
              <a:spcBef>
                <a:spcPts val="0"/>
              </a:spcBef>
              <a:spcAft>
                <a:spcPts val="0"/>
              </a:spcAft>
            </a:pPr>
            <a:r>
              <a:rPr sz="3100" b="0">
                <a:solidFill>
                  <a:srgbClr val="313131"/>
                </a:solidFill>
                <a:latin typeface="NVIDIA Sans"/>
              </a:rPr>
              <a:t>Optimized H3 · 8 evaluations</a:t>
            </a:r>
          </a:p>
        </p:txBody>
      </p:sp>
      <p:sp>
        <p:nvSpPr>
          <p:cNvPr id="11" name="Real-time result"/>
          <p:cNvSpPr txBox="1"/>
          <p:nvPr/>
        </p:nvSpPr>
        <p:spPr>
          <a:xfrm>
            <a:off x="1828800" y="15910559"/>
            <a:ext cx="32918400" cy="1280160"/>
          </a:xfrm>
          <a:prstGeom prst="rect">
            <a:avLst/>
          </a:prstGeom>
          <a:noFill/>
        </p:spPr>
        <p:txBody>
          <a:bodyPr wrap="square" lIns="0" rIns="0" tIns="0" bIns="0">
            <a:spAutoFit/>
          </a:bodyPr>
          <a:lstStyle/>
          <a:p>
            <a:pPr algn="ctr">
              <a:spcBef>
                <a:spcPts val="0"/>
              </a:spcBef>
              <a:spcAft>
                <a:spcPts val="0"/>
              </a:spcAft>
            </a:pPr>
            <a:r>
              <a:rPr sz="5200" b="0">
                <a:solidFill>
                  <a:srgbClr val="313131"/>
                </a:solidFill>
                <a:latin typeface="NVIDIA Sans Medium"/>
              </a:rPr>
              <a:t>5.17 s of video generated in 4.92 s  ·  RTF 0.95</a:t>
            </a:r>
          </a:p>
        </p:txBody>
      </p:sp>
      <p:sp>
        <p:nvSpPr>
          <p:cNvPr id="12" name="Result scope"/>
          <p:cNvSpPr txBox="1"/>
          <p:nvPr/>
        </p:nvSpPr>
        <p:spPr>
          <a:xfrm>
            <a:off x="1828800" y="18790920"/>
            <a:ext cx="32918400" cy="685800"/>
          </a:xfrm>
          <a:prstGeom prst="rect">
            <a:avLst/>
          </a:prstGeom>
          <a:noFill/>
        </p:spPr>
        <p:txBody>
          <a:bodyPr wrap="square" lIns="0" rIns="0" tIns="0" bIns="0">
            <a:spAutoFit/>
          </a:bodyPr>
          <a:lstStyle/>
          <a:p>
            <a:pPr>
              <a:spcBef>
                <a:spcPts val="0"/>
              </a:spcBef>
              <a:spcAft>
                <a:spcPts val="0"/>
              </a:spcAft>
            </a:pPr>
            <a:r>
              <a:rPr sz="2500" b="0">
                <a:solidFill>
                  <a:srgbClr val="313131"/>
                </a:solidFill>
                <a:latin typeface="NVIDIA Sans"/>
              </a:rPr>
              <a:t>Recorded E2E medians; baseline measured separately. Includes model, schedule and precision changes. Standalone H3.</a:t>
            </a:r>
          </a:p>
        </p:txBody>
      </p:sp>
    </p:spTree>
  </p:cSld>
  <p:clrMapOvr>
    <a:masterClrMapping/>
  </p:clrMapOvr>
</p:sld>
</file>

<file path=ppt/theme/theme1.xml><?xml version="1.0" encoding="utf-8"?>
<a:theme xmlns:a="http://schemas.openxmlformats.org/drawingml/2006/main" name="NVIDIA26_Corp Template_LIGHT_v2">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1"/>
        </a:solidFill>
        <a:ln>
          <a:noFill/>
        </a:ln>
      </a:spPr>
      <a:bodyPr lIns="0" rIns="0" rtlCol="0" anchor="ctr"/>
      <a:lstStyle>
        <a:defPPr algn="ctr">
          <a:defRPr sz="3200" dirty="0" smtClean="0">
            <a:solidFill>
              <a:schemeClr val="tx1"/>
            </a:solidFill>
          </a:defRPr>
        </a:defPPr>
      </a:lstStyle>
      <a:style>
        <a:lnRef idx="2">
          <a:schemeClr val="accent1">
            <a:shade val="15000"/>
          </a:schemeClr>
        </a:lnRef>
        <a:fillRef idx="1">
          <a:schemeClr val="accent1"/>
        </a:fillRef>
        <a:effectRef idx="0">
          <a:schemeClr val="accent1"/>
        </a:effectRef>
        <a:fontRef idx="minor">
          <a:schemeClr val="lt1"/>
        </a:fontRef>
      </a:style>
    </a:spDef>
    <a:lnDef>
      <a:spPr>
        <a:ln w="38100">
          <a:solidFill>
            <a:schemeClr val="tx1"/>
          </a:solidFill>
          <a:headEnd w="lg" len="lg"/>
          <a:tailEnd type="triangle" w="lg" len="lg"/>
        </a:ln>
      </a:spPr>
      <a:bodyPr/>
      <a:lstStyle/>
      <a:style>
        <a:lnRef idx="2">
          <a:schemeClr val="accent1"/>
        </a:lnRef>
        <a:fillRef idx="0">
          <a:schemeClr val="accent1"/>
        </a:fillRef>
        <a:effectRef idx="1">
          <a:schemeClr val="accent1"/>
        </a:effectRef>
        <a:fontRef idx="minor">
          <a:schemeClr val="tx1"/>
        </a:fontRef>
      </a:style>
    </a:lnDef>
    <a:txDef>
      <a:spPr>
        <a:noFill/>
      </a:spPr>
      <a:bodyPr wrap="none" rtlCol="0">
        <a:spAutoFit/>
      </a:bodyPr>
      <a:lstStyle>
        <a:defPPr algn="l">
          <a:lnSpc>
            <a:spcPct val="90000"/>
          </a:lnSpc>
          <a:spcBef>
            <a:spcPts val="800"/>
          </a:spcBef>
          <a:spcAft>
            <a:spcPts val="800"/>
          </a:spcAft>
          <a:defRPr sz="4400" kern="100" dirty="0" smtClean="0"/>
        </a:defPPr>
      </a:lstStyle>
    </a:txDef>
  </a:objectDefaults>
  <a:extraClrSchemeLst/>
  <a:extLst>
    <a:ext uri="{05A4C25C-085E-4340-85A3-A5531E510DB2}">
      <thm15:themeFamily xmlns:thm15="http://schemas.microsoft.com/office/thememl/2012/main" name="NVIDIA_PPT_Light_External_v2.potx" id="{89D8623C-2635-485F-9CA6-5E5546024BA4}" vid="{EC5B26FE-8EF1-484B-8617-0D0B03B15F25}"/>
    </a:ext>
  </a:extLst>
</a:theme>
</file>

<file path=ppt/theme/theme2.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3.xml><?xml version="1.0" encoding="utf-8"?>
<a:theme xmlns:a="http://schemas.openxmlformats.org/drawingml/2006/main" name="Office Theme">
  <a:themeElements>
    <a:clrScheme name="NVIDIA26_v2">
      <a:dk1>
        <a:srgbClr val="000000"/>
      </a:dk1>
      <a:lt1>
        <a:srgbClr val="FFFFFF"/>
      </a:lt1>
      <a:dk2>
        <a:srgbClr val="313131"/>
      </a:dk2>
      <a:lt2>
        <a:srgbClr val="F7F7F7"/>
      </a:lt2>
      <a:accent1>
        <a:srgbClr val="76B900"/>
      </a:accent1>
      <a:accent2>
        <a:srgbClr val="1DBBA4"/>
      </a:accent2>
      <a:accent3>
        <a:srgbClr val="0074DF"/>
      </a:accent3>
      <a:accent4>
        <a:srgbClr val="952FC6"/>
      </a:accent4>
      <a:accent5>
        <a:srgbClr val="EF9100"/>
      </a:accent5>
      <a:accent6>
        <a:srgbClr val="757575"/>
      </a:accent6>
      <a:hlink>
        <a:srgbClr val="757575"/>
      </a:hlink>
      <a:folHlink>
        <a:srgbClr val="757575"/>
      </a:folHlink>
    </a:clrScheme>
    <a:fontScheme name="NVIDIA Template 26">
      <a:majorFont>
        <a:latin typeface="NVIDIA Sans Medium"/>
        <a:ea typeface=""/>
        <a:cs typeface=""/>
      </a:majorFont>
      <a:minorFont>
        <a:latin typeface="NVIDIA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FD8A66332A4B643BA3F21C52B2B93D0" ma:contentTypeVersion="4" ma:contentTypeDescription="Create a new document." ma:contentTypeScope="" ma:versionID="8decfa97248364fabb228738731d1da1">
  <xsd:schema xmlns:xsd="http://www.w3.org/2001/XMLSchema" xmlns:xs="http://www.w3.org/2001/XMLSchema" xmlns:p="http://schemas.microsoft.com/office/2006/metadata/properties" xmlns:ns2="7a9fe218-95ae-41b4-8786-2f7d21b2ee85" targetNamespace="http://schemas.microsoft.com/office/2006/metadata/properties" ma:root="true" ma:fieldsID="d8702d7798b6dde85716cd96fe22432a" ns2:_="">
    <xsd:import namespace="7a9fe218-95ae-41b4-8786-2f7d21b2ee85"/>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7a9fe218-95ae-41b4-8786-2f7d21b2ee85"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CBB32034-B9C2-45E1-BAA9-50B92CAE0F3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7a9fe218-95ae-41b4-8786-2f7d21b2ee85"/>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236BE7EB-3103-4BD6-89FC-147281D24011}">
  <ds:schemaRefs>
    <ds:schemaRef ds:uri="http://schemas.microsoft.com/sharepoint/v3/contenttype/forms"/>
  </ds:schemaRefs>
</ds:datastoreItem>
</file>

<file path=customXml/itemProps3.xml><?xml version="1.0" encoding="utf-8"?>
<ds:datastoreItem xmlns:ds="http://schemas.openxmlformats.org/officeDocument/2006/customXml" ds:itemID="{24018C0D-B231-48D3-BF16-B7FF90AABA23}">
  <ds:schemaRefs>
    <ds:schemaRef ds:uri="http://schemas.microsoft.com/office/2006/metadata/properties"/>
    <ds:schemaRef ds:uri="http://schemas.microsoft.com/office/infopath/2007/PartnerControls"/>
  </ds:schemaRefs>
</ds:datastoreItem>
</file>

<file path=docMetadata/LabelInfo.xml><?xml version="1.0" encoding="utf-8"?>
<clbl:labelList xmlns:clbl="http://schemas.microsoft.com/office/2020/mipLabelMetadata">
  <clbl:label id="{43083d15-7273-40c1-b7db-39efd9ccc17a}" enabled="0" method="" siteId="{43083d15-7273-40c1-b7db-39efd9ccc17a}" removed="1"/>
</clbl:labelList>
</file>

<file path=docProps/app.xml><?xml version="1.0" encoding="utf-8"?>
<Properties xmlns="http://schemas.openxmlformats.org/officeDocument/2006/extended-properties" xmlns:vt="http://schemas.openxmlformats.org/officeDocument/2006/docPropsVTypes">
  <Template>NVIDIA26_Corp Template_LIGHT_v2</Template>
  <TotalTime>0</TotalTime>
  <Words>1883</Words>
  <Application>Microsoft Macintosh PowerPoint</Application>
  <PresentationFormat>自定义</PresentationFormat>
  <Paragraphs>441</Paragraphs>
  <Slides>58</Slides>
  <Notes>6</Notes>
  <HiddenSlides>0</HiddenSlides>
  <MMClips>0</MMClips>
  <ScaleCrop>false</ScaleCrop>
  <HeadingPairs>
    <vt:vector size="6" baseType="variant">
      <vt:variant>
        <vt:lpstr>已用的字体</vt:lpstr>
      </vt:variant>
      <vt:variant>
        <vt:i4>4</vt:i4>
      </vt:variant>
      <vt:variant>
        <vt:lpstr>主题</vt:lpstr>
      </vt:variant>
      <vt:variant>
        <vt:i4>1</vt:i4>
      </vt:variant>
      <vt:variant>
        <vt:lpstr>幻灯片标题</vt:lpstr>
      </vt:variant>
      <vt:variant>
        <vt:i4>58</vt:i4>
      </vt:variant>
    </vt:vector>
  </HeadingPairs>
  <TitlesOfParts>
    <vt:vector size="63" baseType="lpstr">
      <vt:lpstr>NVIDIA Sans</vt:lpstr>
      <vt:lpstr>NVIDIA Sans Medium</vt:lpstr>
      <vt:lpstr>Roboto Mono</vt:lpstr>
      <vt:lpstr>Roboto Mono Medium</vt:lpstr>
      <vt:lpstr>NVIDIA26_Corp Template_LIGHT_v2</vt:lpstr>
      <vt:lpstr>PowerPoint 演示文稿</vt:lpstr>
      <vt:lpstr>Helpful Resources</vt:lpstr>
      <vt:lpstr>PowerPoint 演示文稿</vt:lpstr>
      <vt:lpstr>PowerPoint 演示文稿</vt:lpstr>
      <vt:lpstr>PowerPoint 演示文稿</vt:lpstr>
      <vt:lpstr>PowerPoint 演示文稿</vt:lpstr>
      <vt:lpstr>Long or short—inspiring quote goes here up to multiple lines of text and should be followed with source credit.”</vt:lpstr>
      <vt:lpstr>Speaker Highlight</vt:lpstr>
      <vt:lpstr>Slide Layout  With No Subtitle</vt:lpstr>
      <vt:lpstr>Slide Title Goes Here</vt:lpstr>
      <vt:lpstr>Confidential Slides</vt:lpstr>
      <vt:lpstr>Confidential Watermark</vt:lpstr>
      <vt:lpstr>Single-Column Layout</vt:lpstr>
      <vt:lpstr>Two-Column Layout</vt:lpstr>
      <vt:lpstr>NVIDIA Coding Slide</vt:lpstr>
      <vt:lpstr>Customer Success Story and Use Case Example</vt:lpstr>
      <vt:lpstr>Stack Diagram Example</vt:lpstr>
      <vt:lpstr>Column Chart Example</vt:lpstr>
      <vt:lpstr>Column Chart Example</vt:lpstr>
      <vt:lpstr>Column Chart Example</vt:lpstr>
      <vt:lpstr>Column Chart Example</vt:lpstr>
      <vt:lpstr>Combo Chart Example</vt:lpstr>
      <vt:lpstr>Line Chart Example</vt:lpstr>
      <vt:lpstr>Doughnut Chart Example</vt:lpstr>
      <vt:lpstr>Doughnut Chart Example</vt:lpstr>
      <vt:lpstr>Doughnut Chart Example</vt:lpstr>
      <vt:lpstr>Doughnut Chart Example</vt:lpstr>
      <vt:lpstr>Table Example</vt:lpstr>
      <vt:lpstr>Icon Layout</vt:lpstr>
      <vt:lpstr>Stats Example</vt:lpstr>
      <vt:lpstr>One-up Layout</vt:lpstr>
      <vt:lpstr>One-up Layout Alternative</vt:lpstr>
      <vt:lpstr>One-up Layout Alternative</vt:lpstr>
      <vt:lpstr>One-up Layout Heavy Content</vt:lpstr>
      <vt:lpstr>Two-up Layout</vt:lpstr>
      <vt:lpstr>Two-up Layout</vt:lpstr>
      <vt:lpstr>Three-up Layout</vt:lpstr>
      <vt:lpstr>Three-up Layout</vt:lpstr>
      <vt:lpstr>Four-up Layout</vt:lpstr>
      <vt:lpstr>Four-up Layout</vt:lpstr>
      <vt:lpstr>Four-up Layout Alternative</vt:lpstr>
      <vt:lpstr>Four-up Layout Alternative</vt:lpstr>
      <vt:lpstr>Five-up Layout</vt:lpstr>
      <vt:lpstr>Six-up Layout</vt:lpstr>
      <vt:lpstr>Seven-up Layout</vt:lpstr>
      <vt:lpstr>Eight-up Layout</vt:lpstr>
      <vt:lpstr>Nine-up Layout</vt:lpstr>
      <vt:lpstr>Ten-up Layout</vt:lpstr>
      <vt:lpstr>Montage / Image Showcase</vt:lpstr>
      <vt:lpstr>PowerPoint 演示文稿</vt:lpstr>
      <vt:lpstr>PowerPoint 演示文稿</vt:lpstr>
      <vt:lpstr>Demo Title Goes Here</vt:lpstr>
      <vt:lpstr>Progression</vt:lpstr>
      <vt:lpstr>Timeline</vt:lpstr>
      <vt:lpstr>Image Timeline</vt:lpstr>
      <vt:lpstr>World Map</vt:lpstr>
      <vt:lpstr>World Map</vt:lpstr>
      <vt:lpstr>PowerPoint 演示文稿</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Real-Time MiniMax H3 Generation and vLLM-Omni ComfyUI Applications</dc:title>
  <dc:subject>Public technical brief on real-time distributed video generation and ComfyUI applications</dc:subject>
  <dc:creator>Shunyang Li</dc:creator>
  <cp:keywords>MiniMax H3, vLLM-Omni, NVIDIA RTX PRO, GPUDirect RDMA, CUDA Graph, VSA</cp:keywords>
  <dc:description/>
  <cp:lastModifiedBy>Shunyang Li</cp:lastModifiedBy>
  <cp:revision>1</cp:revision>
  <dcterms:created xsi:type="dcterms:W3CDTF">2026-10-22T18:06:46Z</dcterms:created>
  <dcterms:modified xsi:type="dcterms:W3CDTF">2026-10-22T18:07:42Z</dcterms:modified>
  <cp:category/>
  <cp:contentStatus/>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0x010100AFD8A66332A4B643BA3F21C52B2B93D0</vt:lpwstr>
  </property>
</Properties>
</file>