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6.xml"/><Relationship Id="rId34" Type="http://schemas.openxmlformats.org/officeDocument/2006/relationships/slide" Target="slides/slide15.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6.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21.xml"/><Relationship Id="rId41" Type="http://schemas.openxmlformats.org/officeDocument/2006/relationships/slide" Target="slides/slide40.xml"/><Relationship Id="rId42" Type="http://schemas.openxmlformats.org/officeDocument/2006/relationships/slide" Target="slides/slide11.xml"/><Relationship Id="rId43" Type="http://schemas.openxmlformats.org/officeDocument/2006/relationships/slide" Target="slides/slide39.xml"/><Relationship Id="rId44" Type="http://schemas.openxmlformats.org/officeDocument/2006/relationships/slide" Target="slides/slide38.xml"/><Relationship Id="rId45" Type="http://schemas.openxmlformats.org/officeDocument/2006/relationships/slide" Target="slides/slide30.xml"/><Relationship Id="rId46" Type="http://schemas.openxmlformats.org/officeDocument/2006/relationships/slide" Target="slides/slide34.xml"/><Relationship Id="rId47" Type="http://schemas.openxmlformats.org/officeDocument/2006/relationships/slide" Target="slides/slide26.xml"/><Relationship Id="rId48" Type="http://schemas.openxmlformats.org/officeDocument/2006/relationships/slide" Target="slides/slide25.xml"/><Relationship Id="rId49" Type="http://schemas.openxmlformats.org/officeDocument/2006/relationships/slide" Target="slides/slide32.xml"/><Relationship Id="rId50" Type="http://schemas.openxmlformats.org/officeDocument/2006/relationships/slide" Target="slides/slide2.xml"/><Relationship Id="rId51" Type="http://schemas.openxmlformats.org/officeDocument/2006/relationships/slide" Target="slides/slide31.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7.xml"/><Relationship Id="rId62"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8.xml"/><Relationship Id="rId85" Type="http://schemas.openxmlformats.org/officeDocument/2006/relationships/slide" Target="slides/slide19.xml"/><Relationship Id="rId86" Type="http://schemas.openxmlformats.org/officeDocument/2006/relationships/slide" Target="slides/slide20.xml"/><Relationship Id="rId87" Type="http://schemas.openxmlformats.org/officeDocument/2006/relationships/slide" Target="slides/slide22.xml"/><Relationship Id="rId89" Type="http://schemas.openxmlformats.org/officeDocument/2006/relationships/slide" Target="slides/slide23.xml"/><Relationship Id="rId90" Type="http://schemas.openxmlformats.org/officeDocument/2006/relationships/slide" Target="slides/slide24.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9" Type="http://schemas.openxmlformats.org/officeDocument/2006/relationships/slide" Target="slides/slide37.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a:p>
            <a:r>
              <a:t>Visible settings: 20% video-history noise (0.8 retained latent +0.2 seeded noise), last two video latent time slices, aligned 8 or 9 audio latent tokens. Audio clean; target prefix clamping off. No attention KV cache is reused across chunks. Same settings remain visible beside online video. Recorded media bytes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938760"/>
            <a:ext cx="32918400" cy="777240"/>
          </a:xfrm>
          <a:prstGeom prst="rect">
            <a:avLst/>
          </a:prstGeom>
          <a:noFill/>
        </p:spPr>
        <p:txBody>
          <a:bodyPr wrap="square" lIns="0" rIns="0" tIns="0" bIns="0">
            <a:spAutoFit/>
          </a:bodyPr>
          <a:lstStyle/>
          <a:p>
            <a:pPr>
              <a:spcBef>
                <a:spcPts val="0"/>
              </a:spcBef>
              <a:spcAft>
                <a:spcPts val="0"/>
              </a:spcAft>
            </a:pPr>
            <a:r>
              <a:rPr sz="3300" b="0">
                <a:solidFill>
                  <a:srgbClr val="000000"/>
                </a:solidFill>
                <a:latin typeface="NVIDIA Sans Medium"/>
              </a:rPr>
              <a:t>AV latents carry the history; attention K/V is recomputed for the new request.</a:t>
            </a:r>
          </a:p>
        </p:txBody>
      </p:sp>
      <p:sp>
        <p:nvSpPr>
          <p:cNvPr id="32" name="Continuation controls"/>
          <p:cNvSpPr txBox="1"/>
          <p:nvPr/>
        </p:nvSpPr>
        <p:spPr>
          <a:xfrm>
            <a:off x="1828800" y="13990320"/>
            <a:ext cx="329184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Target prefix clamping: off  ·  Cumulative AV positions  ·  Fixed-size history</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Generate 124 frames; append 119 new frames at 24 FPS. Repeat with the new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828800" y="5120640"/>
            <a:ext cx="22677120" cy="13042207"/>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
        <p:nvSpPr>
          <p:cNvPr id="7" name="History value 0"/>
          <p:cNvSpPr txBox="1"/>
          <p:nvPr/>
        </p:nvSpPr>
        <p:spPr>
          <a:xfrm>
            <a:off x="25877520" y="5715000"/>
            <a:ext cx="8869680" cy="1280160"/>
          </a:xfrm>
          <a:prstGeom prst="rect">
            <a:avLst/>
          </a:prstGeom>
          <a:noFill/>
        </p:spPr>
        <p:txBody>
          <a:bodyPr wrap="square" lIns="0" rIns="0" tIns="0" bIns="0">
            <a:spAutoFit/>
          </a:bodyPr>
          <a:lstStyle/>
          <a:p>
            <a:pPr>
              <a:spcBef>
                <a:spcPts val="0"/>
              </a:spcBef>
              <a:spcAft>
                <a:spcPts val="0"/>
              </a:spcAft>
            </a:pPr>
            <a:r>
              <a:rPr sz="6200" b="0">
                <a:solidFill>
                  <a:srgbClr val="76B900"/>
                </a:solidFill>
                <a:latin typeface="NVIDIA Sans Medium"/>
              </a:rPr>
              <a:t>20%</a:t>
            </a:r>
          </a:p>
        </p:txBody>
      </p:sp>
      <p:sp>
        <p:nvSpPr>
          <p:cNvPr id="8" name="History detail 0"/>
          <p:cNvSpPr txBox="1"/>
          <p:nvPr/>
        </p:nvSpPr>
        <p:spPr>
          <a:xfrm>
            <a:off x="25877520" y="722376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video history noise</a:t>
            </a:r>
          </a:p>
        </p:txBody>
      </p:sp>
      <p:sp>
        <p:nvSpPr>
          <p:cNvPr id="9" name="History value 1"/>
          <p:cNvSpPr txBox="1"/>
          <p:nvPr/>
        </p:nvSpPr>
        <p:spPr>
          <a:xfrm>
            <a:off x="25877520" y="896112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2 video</a:t>
            </a:r>
          </a:p>
        </p:txBody>
      </p:sp>
      <p:sp>
        <p:nvSpPr>
          <p:cNvPr id="10" name="History detail 1"/>
          <p:cNvSpPr txBox="1"/>
          <p:nvPr/>
        </p:nvSpPr>
        <p:spPr>
          <a:xfrm>
            <a:off x="25877520" y="1046988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time slices</a:t>
            </a:r>
          </a:p>
        </p:txBody>
      </p:sp>
      <p:sp>
        <p:nvSpPr>
          <p:cNvPr id="11" name="History value 2"/>
          <p:cNvSpPr txBox="1"/>
          <p:nvPr/>
        </p:nvSpPr>
        <p:spPr>
          <a:xfrm>
            <a:off x="25877520" y="1220724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8–9 audio</a:t>
            </a:r>
          </a:p>
        </p:txBody>
      </p:sp>
      <p:sp>
        <p:nvSpPr>
          <p:cNvPr id="12" name="History detail 2"/>
          <p:cNvSpPr txBox="1"/>
          <p:nvPr/>
        </p:nvSpPr>
        <p:spPr>
          <a:xfrm>
            <a:off x="25877520" y="1371600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tokens</a:t>
            </a:r>
          </a:p>
        </p:txBody>
      </p:sp>
      <p:sp>
        <p:nvSpPr>
          <p:cNvPr id="13" name="History cache scope"/>
          <p:cNvSpPr txBox="1"/>
          <p:nvPr/>
        </p:nvSpPr>
        <p:spPr>
          <a:xfrm>
            <a:off x="25877520" y="16093440"/>
            <a:ext cx="8869680" cy="15544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AV latent conditioning</a:t>
            </a:r>
          </a:p>
          <a:p>
            <a:pPr>
              <a:spcBef>
                <a:spcPts val="0"/>
              </a:spcBef>
              <a:spcAft>
                <a:spcPts val="0"/>
              </a:spcAft>
            </a:pPr>
            <a:r>
              <a:rPr sz="2700" b="0">
                <a:solidFill>
                  <a:srgbClr val="000000"/>
                </a:solidFill>
                <a:latin typeface="NVIDIA Sans"/>
              </a:rPr>
              <a:t>K/V recomputed per request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Supported today</a:t>
            </a:r>
          </a:p>
        </p:txBody>
      </p:sp>
      <p:sp>
        <p:nvSpPr>
          <p:cNvPr id="7" name="Supported scope"/>
          <p:cNvSpPr txBox="1"/>
          <p:nvPr/>
        </p:nvSpPr>
        <p:spPr>
          <a:xfrm>
            <a:off x="1828800" y="6217920"/>
            <a:ext cx="15544800" cy="594360"/>
          </a:xfrm>
          <a:prstGeom prst="rect">
            <a:avLst/>
          </a:prstGeom>
          <a:noFill/>
        </p:spPr>
        <p:txBody>
          <a:bodyPr wrap="square" lIns="0" rIns="0" tIns="0" bIns="0">
            <a:spAutoFit/>
          </a:bodyPr>
          <a:lstStyle/>
          <a:p>
            <a:pPr>
              <a:spcBef>
                <a:spcPts val="0"/>
              </a:spcBef>
              <a:spcAft>
                <a:spcPts val="0"/>
              </a:spcAft>
            </a:pPr>
            <a:r>
              <a:rPr sz="2500" b="0">
                <a:solidFill>
                  <a:srgbClr val="000000"/>
                </a:solidFill>
                <a:latin typeface="NVIDIA Sans"/>
              </a:rPr>
              <a:t>Available in the checked upstream source</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Planned support</a:t>
            </a:r>
          </a:p>
        </p:txBody>
      </p:sp>
      <p:sp>
        <p:nvSpPr>
          <p:cNvPr id="9" name="Planned scope"/>
          <p:cNvSpPr txBox="1"/>
          <p:nvPr/>
        </p:nvSpPr>
        <p:spPr>
          <a:xfrm>
            <a:off x="20116800" y="6217920"/>
            <a:ext cx="14630400" cy="59436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a:rPr>
              <a:t>Open PRs / RFC proposals · no announced ETA</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Generate &amp; guide</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Text, first/last frames, mixed references</a:t>
            </a:r>
          </a:p>
          <a:p>
            <a:pPr>
              <a:spcBef>
                <a:spcPts val="0"/>
              </a:spcBef>
              <a:spcAft>
                <a:spcPts val="0"/>
              </a:spcAft>
            </a:pPr>
            <a:r>
              <a:rPr sz="2800" b="0">
                <a:solidFill>
                  <a:srgbClr val="000000"/>
                </a:solidFill>
                <a:latin typeface="NVIDIA Sans"/>
              </a:rPr>
              <a:t>and timeline guides.</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Edit &amp; continue</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Inpainting, object removal</a:t>
            </a:r>
          </a:p>
          <a:p>
            <a:pPr>
              <a:spcBef>
                <a:spcPts val="0"/>
              </a:spcBef>
              <a:spcAft>
                <a:spcPts val="0"/>
              </a:spcAft>
            </a:pPr>
            <a:r>
              <a:rPr sz="2800" b="0">
                <a:solidFill>
                  <a:srgbClr val="000000"/>
                </a:solidFill>
                <a:latin typeface="NVIDIA Sans"/>
              </a:rPr>
              <a:t>and clip continuation.</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Upscale &amp; second pass*</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SeedVR2 restoration;</a:t>
            </a:r>
          </a:p>
          <a:p>
            <a:pPr>
              <a:spcBef>
                <a:spcPts val="0"/>
              </a:spcBef>
              <a:spcAft>
                <a:spcPts val="0"/>
              </a:spcAft>
            </a:pPr>
            <a:r>
              <a:rPr sz="2800" b="0">
                <a:solidFill>
                  <a:srgbClr val="000000"/>
                </a:solidFill>
                <a:latin typeface="NVIDIA Sans"/>
              </a:rPr>
              <a:t>H3 server-side latent refinement.</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Music-driven video</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Audio-driven shots, assembled</a:t>
            </a:r>
          </a:p>
          <a:p>
            <a:pPr>
              <a:spcBef>
                <a:spcPts val="0"/>
              </a:spcBef>
              <a:spcAft>
                <a:spcPts val="0"/>
              </a:spcAft>
            </a:pPr>
            <a:r>
              <a:rPr sz="2800" b="0">
                <a:solidFill>
                  <a:srgbClr val="000000"/>
                </a:solidFill>
                <a:latin typeface="NVIDIA Sans"/>
              </a:rPr>
              <a:t>with the supplied soundtrack.</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ControlNet workflows</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Pose, depth and edges · Draft PRs</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Character replacement</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Source video + new identity · Open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Multi-anchor workflow</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Identity + timed keyframes · Open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Long-form stories &amp; avatars</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Segmented production templates · RFC</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333720"/>
            <a:ext cx="32918400" cy="6400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*H3 second pass is server-configured; no dedicated ComfyUI node or template.</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27</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28</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37</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