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topology1.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 Id="rId98" Type="http://schemas.openxmlformats.org/officeDocument/2006/relationships/slide" Target="slides/slide75.xml"/><Relationship Id="rId99" Type="http://schemas.openxmlformats.org/officeDocument/2006/relationships/slide" Target="slides/slide76.xml"/><Relationship Id="rId100" Type="http://schemas.openxmlformats.org/officeDocument/2006/relationships/slide" Target="slides/slide77.xml"/><Relationship Id="rId101" Type="http://schemas.openxmlformats.org/officeDocument/2006/relationships/slide" Target="slides/slide78.xml"/><Relationship Id="rId102" Type="http://schemas.openxmlformats.org/officeDocument/2006/relationships/slide" Target="slides/slide79.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PTQ and QAD deploy the same NVFP4 format. PTQ calibrates activation scales and rounds a model after training; the weights never learn the resulting four-bit error. QAD instead runs the deployed quantized student forward during training and compares it with a frozen BF16 teacher. Gradients update only the student, and the teacher disappears at inference. In the publisher-reported FastH3 V2 study over 30 held-out prompts, per-step video-plus-audio relative L2 error against BF16 falls from 0.431 for PTQ to 0.351 for QAD, a 19 percent reduction; final-video error after eight steps falls from 0.817 to 0.713, a 13 percent reduction. Memory and file layout remain unchanged. This supports 'closer to BF16,' not bit-identical or globally equal quality. The two frames on this slide are a separate, strictly matched Ref2VA qualitative check: 1344 by 768, 124 frames, 24 FPS, eight steps, seed 1234, identical prompt and references, original video VAE and BF16 attention. Left is the BF16 checkpoint; right is the NVFP4 QAD checkpoint. Public metric: https://haoailab.com/blogs/fasth3-v21/ . Matched sample page: https://lishunyang12.github.io/fasth3-omni-evaluation-20261018/pro5000-4gpu/</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already centralizes CUDA Graph dispatch, capture, replay, caching and eager fallback through its graph manager, CudagraphDispatcher, CUDAGraphWrapper and FULL, PIECEWISE or NONE runtime modes. The production H3 path should reuse that lifecycle instead of retaining the benchmark prototype's private graph manager. H3 adds a thin profile adapter, stable registered I/O buffers and one graph-safe callable. The profile key must cover S bucket, Kmax, reference layout, head-band geometry and any backend choice that changes topology.</a:t>
            </a:r>
          </a:p>
          <a:p/>
          <a:p>
            <a:r>
              <a:t>The H3 callable captures only unpack QKV, VSA attention and O-bundle packing. QKV packing and input RDMA, readiness events, reverse RDMA and gather, local gate assembly, complete NVFP4 W_O and dynamic scheduling remain outside the Graph. In vLLM terms this is a PIECEWISE boundary: the framework owns dispatch and replay; H3 owns the communication boundary and persistent registered buffers. CUDA Graph reduces launch gaps but does not fuse kernels or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from the private benchmark module. Moving its lifecycle into vLLM is the proposed production integration and is not part of the measured 9.481 percent result.</a:t>
            </a:r>
          </a:p>
          <a:p/>
          <a:p>
            <a:r>
              <a:t>Official references: https://docs.vllm.ai/en/latest/design/cuda_graphs/ ; https://github.com/vllm-project/vllm/blob/main/vllm/compilation/cuda_graph.py ; https://docs.nvidia.com/cuda/cuda-programming-guide/04-special-topics/cuda-graphs.html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measured prototype captures synchronously on a miss, keeps tensors and geometry in a private pool, limits the cache to 32 entries and raises if the cache is full. The production path should move dispatch, capture, cache, graph-pool ownership and NONE-mode eager fallback to vLLM's existing graph framework. H3 supplies a profile descriptor and replay-buffer adapter. vLLM's EncoderCudaGraphManager provides a useful public pattern for token budgets, persistent buffers, smallest-fit replay and overflow fallback, but it is an encoder-specific class; this slide borrows its policy and does not claim that H3 DiT directly uses that manager.</a:t>
            </a:r>
          </a:p>
          <a:p/>
          <a:p>
            <a:r>
              <a:t>Because H3 sequence lengths can span roughly 60K to 1M, mechanically doubling buckets can waste too much attention compute. Start with curated exact profiles for common products, keep unknown profiles eager, and capture only after qualification. Report Graph hit rate, padding overhead, cold capture cost, graph-pool memory and eager fallback share.</a:t>
            </a:r>
          </a:p>
          <a:p/>
          <a:p>
            <a:r>
              <a:t>Official references: https://docs.vllm.ai/en/latest/design/cuda_graphs/ ; https://docs.vllm.ai/en/latest/design/cuda_graphs_multimodal/ ; https://docs.pytorch.org/docs/stable/notes/cuda.html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reproduces the physical hierarchy and GPU-to-NIC assignment of the retained H3 scaling website. The host has two NUMA domains and four PCIe subtrees. A contains GPUs 0 and 1 and ConnectX-8 A; B contains GPUs 2 and 3 and ConnectX-8 B; C contains GPUs 4 and 5 and ConnectX-8 C; D contains GPUs 6 and 7 and ConnectX-8 D. Each physical NIC has two assigned 400-Gb/s ports. GPU 0/1 map to mlx5_2/3; GPU 2/3 to mlx5_0/1; GPU 4/5 to mlx5_6/7; GPU 6/7 to mlx5_4/5. Dashed boxes mark logical PCIe subtrees, not physical switching devices. Solid ConnectX-8 boxes contain two functions: integrated PCIe switching and networking/RDMA. NVIDIA's published architecture establishes this integration. The diagram is functional, not a die or board floorplan. Extra recorded GPU-side PCIe bridges are collapsed on the GPU legs; their packaging is not assigned to the NIC box. GPU endpoints and NIC endpoints share their root-port hierarchy. The highlighted blue path is GPU4 to GPU7 using local direct PCIe P2P: GPU4, subtree C bridge/switch hierarchy, CPU1 PCIe root-complex I/O, subtree D bridge/switch hierarchy, GPU7. This is a same-NUMA, different-subtree NODE path. Its two root-port uplinks meet inside CPU1 I/O. It does not use the NIC networking functions or the RoCE fabric. GPU4 to GPU5 is PXB within subtree C; GPU4 to GPU0 crosses sockets and is SYS. Crossing CPU I/O does not imply CPU-core copying or host-RAM staging. These are topology-derived direct-P2P routes, not per-packet NCCL traces. The four CPU uplinks and individual GPU interfaces are Gen5 x16; the NIC interface is Gen6 x16. Interface labels follow the retained topology report and do not claim achieved bandwidth. RoCE is drawn as a logical fabric, not audited physical switch wiring. Eight 400-Gb/s ports total 400 GB/s one-way configured port line-rate capacity, not measured aggregate throughput. This is distinct from the 836-GB/s aggregate logical deadline requirement on slide 11. From any GPU, one peer is PXB, two are NODE and four are SYS. Equal all-to-all chunks therefore assign 4/7 or 57.1 percent of off-rank logical payload to cross-NUMA peers; this is not a timed wire-byte measurement. For NCCL local, retained logs show P2P and SHM route families; their timed byte split is unknown. In the website's fixed eight-GPU forced-RDMA run, GPUs 2,3,6,7 used host-staged NET/IB. The hardware figure does not claim all NCCL configurations use GPUDirect. Source URL: https://grateful-requirements-dictionaries-impacts.trycloudflare.com/scaling/#topology. Architecture source: https://developer.nvidia.com/blog/nvidia-connectx-8-supernics-advance-ai-platform-architecture-with-pcie-gen6-connectivity/. Evidence snapshot: research/scaling-site-context.json.</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exact-shape benchmark isolates the five Ulysses Q, K, V, gate and output slots for the current MiniMax H3 Ref2VA avatar profile: 960 by 544, 362 frames at 24 FPS, BF16, DP1, TP1, USP8, Ring1, global aligned sequence 56,960, local sequence 7,120, 56 heads and head dimension 128. It is one request on one eight-GPU replica, not DP8. Each route moves 446,566,400 off-rank logical bytes per rank and DiT block. Across all eight ranks and 400 PDD8 block calls, the minimum one-way off-rank logical volume is 1,429,012,480,000 bytes, or 1.42901248 decimal terabytes. Five warmups preceded eight paired trials with four block calls per trial. Each trial records the slowest rank; the slide reports the mean of those rank maxima. NCCL local measured 24.874763 milliseconds per block and 17.952589 decimal gigabytes per second of effective off-rank send bandwidth per rank. Nearest-NIC GPUDirect RDMA measured 10.855998 milliseconds and 41.135455 gigabytes per second. Multiplying the unrounded block means by 400 gives 9.949905 and 4.342399 seconds of serialized PDD8 communication plus path-required layout, a 5.607506-second reduction. The RDMA path is 2.291338 times faster and uses 56.3574 percent less measured communication-plus-layout time. Outputs match an independent all_gather reference exactly. This test contains no attention, GEMM or communication-compute overlap. Its serialized values are not end-to-end request predictions. The NCCL and RDMA adapters also use different path-required layout operations, so the delta is a measured deployment-path result rather than isolated wire time. Raw source: /tmp/h3-qad-realtime-20261023/ulysses-362f-paths-20261025.json.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topology1.sv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QAD keeps the NVFP4 student close to its BF16 target; versus PTQ, error falls at the same 4-bit deployment</a:t>
            </a:r>
          </a:p>
        </p:txBody>
      </p:sp>
      <p:sp>
        <p:nvSpPr>
          <p:cNvPr id="3" name="Title 2"/>
          <p:cNvSpPr>
            <a:spLocks noGrp="1"/>
          </p:cNvSpPr>
          <p:nvPr>
            <p:ph type="title"/>
          </p:nvPr>
        </p:nvSpPr>
        <p:spPr/>
        <p:txBody>
          <a:bodyPr/>
          <a:lstStyle/>
          <a:p>
            <a:r>
              <a:t>Quantization</a:t>
            </a:r>
          </a:p>
        </p:txBody>
      </p:sp>
      <p:sp>
        <p:nvSpPr>
          <p:cNvPr id="4" name="Text Placeholder 3"/>
          <p:cNvSpPr>
            <a:spLocks noGrp="1"/>
          </p:cNvSpPr>
          <p:nvPr>
            <p:ph type="body" idx="52" sz="quarter"/>
          </p:nvPr>
        </p:nvSpPr>
        <p:spPr/>
        <p:txBody>
          <a:bodyPr/>
          <a:lstStyle/>
          <a:p>
            <a:r>
              <a:t>Matched Ref2VA frame · same prompt, references, seed, and 8-step schedule</a:t>
            </a:r>
          </a:p>
        </p:txBody>
      </p:sp>
      <p:sp>
        <p:nvSpPr>
          <p:cNvPr id="5" name="Text Placeholder 4"/>
          <p:cNvSpPr>
            <a:spLocks noGrp="1"/>
          </p:cNvSpPr>
          <p:nvPr>
            <p:ph type="body" idx="51" sz="quarter"/>
          </p:nvPr>
        </p:nvSpPr>
        <p:spPr/>
        <p:txBody>
          <a:bodyPr/>
          <a:lstStyle/>
          <a:p>
            <a:r>
              <a:t>BF16 Reference</a:t>
            </a:r>
          </a:p>
        </p:txBody>
      </p:sp>
      <p:pic>
        <p:nvPicPr>
          <p:cNvPr id="6" name="Picture Placeholder 5" descr="qad-matched-bf16-reference-family-f024.png"/>
          <p:cNvPicPr>
            <a:picLocks noGrp="1" noChangeAspect="1"/>
          </p:cNvPicPr>
          <p:nvPr>
            <p:ph type="pic" idx="53" sz="quarter"/>
          </p:nvPr>
        </p:nvPicPr>
        <p:blipFill>
          <a:blip r:embed="rId3"/>
          <a:srcRect t="761" b="761"/>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Published V2: PTQ 0.431 → QAD 0.351 relative L2 error vs BF16 (−19%)</a:t>
            </a:r>
          </a:p>
        </p:txBody>
      </p:sp>
      <p:sp>
        <p:nvSpPr>
          <p:cNvPr id="8" name="Text Placeholder 7"/>
          <p:cNvSpPr>
            <a:spLocks noGrp="1"/>
          </p:cNvSpPr>
          <p:nvPr>
            <p:ph type="body" idx="55" sz="quarter"/>
          </p:nvPr>
        </p:nvSpPr>
        <p:spPr/>
        <p:txBody>
          <a:bodyPr/>
          <a:lstStyle/>
          <a:p>
            <a:r>
              <a:rPr>
                <a:solidFill>
                  <a:srgbClr val="76B900"/>
                </a:solidFill>
              </a:rPr>
              <a:t>NVFP4 + QAD</a:t>
            </a:r>
          </a:p>
        </p:txBody>
      </p:sp>
      <p:pic>
        <p:nvPicPr>
          <p:cNvPr id="9" name="Picture Placeholder 8" descr="qad-matched-nvfp4-qad-family-f024.png"/>
          <p:cNvPicPr>
            <a:picLocks noGrp="1" noChangeAspect="1"/>
          </p:cNvPicPr>
          <p:nvPr>
            <p:ph type="pic" idx="56" sz="quarter"/>
          </p:nvPr>
        </p:nvPicPr>
        <p:blipFill>
          <a:blip r:embed="rId4"/>
          <a:srcRect t="761" b="761"/>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Hao AI Lab, FastH3-QAD-v2 (30 held-out prompts) · matched Ref2VA checkpoint study; qualitative frame only</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DiT block reshards Q, K, and V across eight GPUs, then restores O</a:t>
            </a:r>
          </a:p>
        </p:txBody>
      </p:sp>
      <p:sp>
        <p:nvSpPr>
          <p:cNvPr id="3" name="Title 2"/>
          <p:cNvSpPr>
            <a:spLocks noGrp="1"/>
          </p:cNvSpPr>
          <p:nvPr>
            <p:ph type="title"/>
          </p:nvPr>
        </p:nvSpPr>
        <p:spPr/>
        <p:txBody>
          <a:bodyPr/>
          <a:lstStyle/>
          <a:p>
            <a:r>
              <a:t>Ulysses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Aggregate Rate for RTF 1*</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A2A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K, V, or O</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0.432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Reuse vLLM’s lifecycle</a:t>
            </a:r>
          </a:p>
          <a:p>
            <a:pPr lvl="1" algn="l"/>
            <a:r>
              <a:rPr b="0">
                <a:solidFill>
                  <a:srgbClr val="313131"/>
                </a:solidFill>
                <a:latin typeface="NVIDIA Sans"/>
              </a:rPr>
              <a:t>Dispatch, capture, cache, replay, and eager fallback stay in the existing framework</a:t>
            </a:r>
          </a:p>
          <a:p>
            <a:pPr algn="l"/>
            <a:r>
              <a:rPr b="1">
                <a:solidFill>
                  <a:srgbClr val="76B900"/>
                </a:solidFill>
                <a:latin typeface="NVIDIA Sans Medium"/>
              </a:rPr>
              <a:t>Capture only stable H3 work</a:t>
            </a:r>
          </a:p>
          <a:p>
            <a:pPr lvl="1" algn="l"/>
            <a:r>
              <a:rPr b="0">
                <a:solidFill>
                  <a:srgbClr val="313131"/>
                </a:solidFill>
                <a:latin typeface="NVIDIA Sans"/>
              </a:rPr>
              <a:t>Fixed buffers replay unpack QKV → VSA → pack O</a:t>
            </a:r>
          </a:p>
          <a:p>
            <a:pPr algn="l"/>
            <a:r>
              <a:rPr b="1">
                <a:solidFill>
                  <a:srgbClr val="313131"/>
                </a:solidFill>
                <a:latin typeface="NVIDIA Sans Medium"/>
              </a:rPr>
              <a:t>Leave communication at the boundary</a:t>
            </a:r>
          </a:p>
          <a:p>
            <a:pPr lvl="1" algn="l"/>
            <a:r>
              <a:rPr b="0">
                <a:solidFill>
                  <a:srgbClr val="313131"/>
                </a:solidFill>
                <a:latin typeface="NVIDIA Sans"/>
              </a:rPr>
              <a:t>RDMA, readiness events, reverse gather, and dynamic scheduling remain eager</a:t>
            </a:r>
          </a:p>
          <a:p>
            <a:pPr algn="l"/>
            <a:r>
              <a:rPr b="1">
                <a:solidFill>
                  <a:srgbClr val="76B900"/>
                </a:solidFill>
                <a:latin typeface="NVIDIA Sans Medium"/>
              </a:rPr>
              <a:t>Measured on one fixed profile</a:t>
            </a:r>
          </a:p>
          <a:p>
            <a:pPr lvl="1" algn="l"/>
            <a:r>
              <a:rPr b="0">
                <a:solidFill>
                  <a:srgbClr val="313131"/>
                </a:solidFill>
                <a:latin typeface="NVIDIA Sans"/>
              </a:rPr>
              <a:t>8-GPU head pipeline: 13.250 s → 11.994 s (−9.48%)</a:t>
            </a:r>
          </a:p>
        </p:txBody>
      </p:sp>
      <p:sp>
        <p:nvSpPr>
          <p:cNvPr id="3" name="Text Placeholder 2"/>
          <p:cNvSpPr>
            <a:spLocks noGrp="1"/>
          </p:cNvSpPr>
          <p:nvPr>
            <p:ph type="body" idx="14" sz="quarter"/>
          </p:nvPr>
        </p:nvSpPr>
        <p:spPr>
          <a:xfrm>
            <a:off x="1828800" y="5806440"/>
            <a:ext cx="13716000" cy="1417320"/>
          </a:xfrm>
        </p:spPr>
        <p:txBody>
          <a:bodyPr/>
          <a:lstStyle/>
          <a:p>
            <a:r>
              <a:t>Reuse vLLM’s graph lifecycle around H3’s request-stable compute island</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5" name="Text Placeholder 4"/>
          <p:cNvSpPr>
            <a:spLocks noGrp="1"/>
          </p:cNvSpPr>
          <p:nvPr>
            <p:ph type="body" idx="52" sz="quarter"/>
          </p:nvPr>
        </p:nvSpPr>
        <p:spPr/>
        <p:txBody>
          <a:bodyPr/>
          <a:lstStyle/>
          <a:p>
            <a:r>
              <a:t>Direct crops of the official planning and dispatch nodes</a:t>
            </a:r>
          </a:p>
        </p:txBody>
      </p:sp>
      <p:sp>
        <p:nvSpPr>
          <p:cNvPr id="6" name="Text Placeholder 5"/>
          <p:cNvSpPr>
            <a:spLocks noGrp="1"/>
          </p:cNvSpPr>
          <p:nvPr>
            <p:ph type="body" idx="51" sz="quarter"/>
          </p:nvPr>
        </p:nvSpPr>
        <p:spPr/>
        <p:txBody>
          <a:bodyPr/>
          <a:lstStyle/>
          <a:p>
            <a:r>
              <a:t>vLLM Executor Runtime · Detail View</a:t>
            </a:r>
          </a:p>
        </p:txBody>
      </p:sp>
      <p:pic>
        <p:nvPicPr>
          <p:cNvPr id="7" name="Picture Placeholder 6" descr="cuda-graph-concept-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executor runtime figure · H3 fixed-profile measurements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One request repeats the same geometry</a:t>
            </a:r>
          </a:p>
          <a:p>
            <a:pPr lvl="1" algn="l"/>
            <a:r>
              <a:rPr b="0">
                <a:solidFill>
                  <a:srgbClr val="313131"/>
                </a:solidFill>
                <a:latin typeface="NVIDIA Sans"/>
              </a:rPr>
              <a:t>50 blocks × 8 steps provide 400 replay opportunities per head band; tensor values may change</a:t>
            </a:r>
          </a:p>
          <a:p>
            <a:pPr algn="l"/>
            <a:r>
              <a:rPr b="1">
                <a:solidFill>
                  <a:srgbClr val="76B900"/>
                </a:solidFill>
                <a:latin typeface="NVIDIA Sans Medium"/>
              </a:rPr>
              <a:t>Match the complete profile</a:t>
            </a:r>
          </a:p>
          <a:p>
            <a:pPr lvl="1" algn="l"/>
            <a:r>
              <a:rPr b="0">
                <a:solidFill>
                  <a:srgbClr val="313131"/>
                </a:solidFill>
                <a:latin typeface="NVIDIA Sans"/>
              </a:rPr>
              <a:t>Packed length S, sparse budget Kmax, reference layout, head band, and backend</a:t>
            </a:r>
          </a:p>
          <a:p>
            <a:pPr algn="l"/>
            <a:r>
              <a:rPr b="1">
                <a:solidFill>
                  <a:srgbClr val="76B900"/>
                </a:solidFill>
                <a:latin typeface="NVIDIA Sans Medium"/>
              </a:rPr>
              <a:t>On a hit, copy and replay</a:t>
            </a:r>
          </a:p>
          <a:p>
            <a:pPr lvl="1" algn="l"/>
            <a:r>
              <a:rPr b="0">
                <a:solidFill>
                  <a:srgbClr val="313131"/>
                </a:solidFill>
                <a:latin typeface="NVIDIA Sans"/>
              </a:rPr>
              <a:t>Copy current values into stable buffers, then launch the cached graph</a:t>
            </a:r>
          </a:p>
          <a:p>
            <a:pPr algn="l"/>
            <a:r>
              <a:rPr b="1">
                <a:solidFill>
                  <a:srgbClr val="313131"/>
                </a:solidFill>
                <a:latin typeface="NVIDIA Sans Medium"/>
              </a:rPr>
              <a:t>On a miss, run eager</a:t>
            </a:r>
          </a:p>
          <a:p>
            <a:pPr lvl="1" algn="l"/>
            <a:r>
              <a:rPr b="0">
                <a:solidFill>
                  <a:srgbClr val="313131"/>
                </a:solidFill>
                <a:latin typeface="NVIDIA Sans"/>
              </a:rPr>
              <a:t>Serve immediately, qualify recurring profiles, then capture; report hit rate, cold cost, and graph memory</a:t>
            </a:r>
          </a:p>
        </p:txBody>
      </p:sp>
      <p:sp>
        <p:nvSpPr>
          <p:cNvPr id="3" name="Text Placeholder 2"/>
          <p:cNvSpPr>
            <a:spLocks noGrp="1"/>
          </p:cNvSpPr>
          <p:nvPr>
            <p:ph type="body" idx="14" sz="quarter"/>
          </p:nvPr>
        </p:nvSpPr>
        <p:spPr>
          <a:xfrm>
            <a:off x="1828800" y="5806440"/>
            <a:ext cx="13716000" cy="1417320"/>
          </a:xfrm>
        </p:spPr>
        <p:txBody>
          <a:bodyPr/>
          <a:lstStyle/>
          <a:p>
            <a:r>
              <a:t>Video shapes vary across requests, so replay is keyed by a qualified profile</a:t>
            </a:r>
          </a:p>
        </p:txBody>
      </p:sp>
      <p:sp>
        <p:nvSpPr>
          <p:cNvPr id="4" name="Title 3"/>
          <p:cNvSpPr>
            <a:spLocks noGrp="1"/>
          </p:cNvSpPr>
          <p:nvPr>
            <p:ph type="title"/>
          </p:nvPr>
        </p:nvSpPr>
        <p:spPr>
          <a:xfrm>
            <a:off x="1828800" y="1828800"/>
            <a:ext cx="13716000" cy="3840480"/>
          </a:xfrm>
        </p:spPr>
        <p:txBody>
          <a:bodyPr/>
          <a:lstStyle/>
          <a:p>
            <a:r>
              <a:t>CUDA Graph Reuse</a:t>
            </a:r>
          </a:p>
        </p:txBody>
      </p:sp>
      <p:sp>
        <p:nvSpPr>
          <p:cNvPr id="5" name="Text Placeholder 4"/>
          <p:cNvSpPr>
            <a:spLocks noGrp="1"/>
          </p:cNvSpPr>
          <p:nvPr>
            <p:ph type="body" idx="52" sz="quarter"/>
          </p:nvPr>
        </p:nvSpPr>
        <p:spPr/>
        <p:txBody>
          <a:bodyPr/>
          <a:lstStyle/>
          <a:p>
            <a:r>
              <a:t>H3 extends the dispatch key; the wrapper still owns replay and fallback</a:t>
            </a:r>
          </a:p>
        </p:txBody>
      </p:sp>
      <p:sp>
        <p:nvSpPr>
          <p:cNvPr id="6" name="Text Placeholder 5"/>
          <p:cNvSpPr>
            <a:spLocks noGrp="1"/>
          </p:cNvSpPr>
          <p:nvPr>
            <p:ph type="body" idx="51" sz="quarter"/>
          </p:nvPr>
        </p:nvSpPr>
        <p:spPr/>
        <p:txBody>
          <a:bodyPr/>
          <a:lstStyle/>
          <a:p>
            <a:r>
              <a:t>vLLM CUDAGraphWrapper · Detail View</a:t>
            </a:r>
          </a:p>
        </p:txBody>
      </p:sp>
      <p:pic>
        <p:nvPicPr>
          <p:cNvPr id="7" name="Picture Placeholder 6" descr="cuda-graph-reuse-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CUDAGraphWrapper flow · vLLM multimodal budget policy · H3 prototype audit</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13</a:t>
            </a:fld>
            <a:endParaRPr lang="en-US"/>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USP</a:t>
            </a:r>
          </a:p>
        </p:txBody>
      </p:sp>
      <p:sp>
        <p:nvSpPr>
          <p:cNvPr id="5" name="Text Placeholder 4"/>
          <p:cNvSpPr>
            <a:spLocks noGrp="1"/>
          </p:cNvSpPr>
          <p:nvPr>
            <p:ph type="body" idx="52" sz="quarter"/>
          </p:nvPr>
        </p:nvSpPr>
        <p:spPr/>
        <p:txBody>
          <a:bodyPr/>
          <a:lstStyle/>
          <a:p>
            <a:r>
              <a:t>7,120 × 56 → 56,960 × 7 → 7,120 × 56 · repeated in every attention block</a:t>
            </a:r>
          </a:p>
        </p:txBody>
      </p:sp>
      <p:sp>
        <p:nvSpPr>
          <p:cNvPr id="6" name="Text Placeholder 5"/>
          <p:cNvSpPr>
            <a:spLocks noGrp="1"/>
          </p:cNvSpPr>
          <p:nvPr>
            <p:ph type="body" idx="51" sz="quarter"/>
          </p:nvPr>
        </p:nvSpPr>
        <p:spPr/>
        <p:txBody>
          <a:bodyPr/>
          <a:lstStyle/>
          <a:p>
            <a:r>
              <a:t>Same Tensor, Different Ownership</a:t>
            </a:r>
          </a:p>
        </p:txBody>
      </p:sp>
      <p:pic>
        <p:nvPicPr>
          <p:cNvPr id="7" name="Picture Placeholder 6" descr="ulysses-sequence-parallel-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Adapted from DeepSpeed-Ulysses (Jacobs et al., 2023) · current H3 path: DP1 / TP1 / USP8 / Ring1 · measured 362-frame profile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CX-8 integrates PCIe switching and networking; local P2P uses the switching path</a:t>
            </a:r>
          </a:p>
        </p:txBody>
      </p:sp>
      <p:sp>
        <p:nvSpPr>
          <p:cNvPr id="3" name="Title 2"/>
          <p:cNvSpPr>
            <a:spLocks noGrp="1"/>
          </p:cNvSpPr>
          <p:nvPr>
            <p:ph type="title"/>
          </p:nvPr>
        </p:nvSpPr>
        <p:spPr/>
        <p:txBody>
          <a:bodyPr/>
          <a:lstStyle/>
          <a:p>
            <a:r>
              <a:t>USP Communication</a:t>
            </a:r>
          </a:p>
        </p:txBody>
      </p:sp>
      <p:sp>
        <p:nvSpPr>
          <p:cNvPr id="5" name="Text Placeholder 4"/>
          <p:cNvSpPr>
            <a:spLocks noGrp="1"/>
          </p:cNvSpPr>
          <p:nvPr>
            <p:ph type="body" idx="51" sz="quarter"/>
          </p:nvPr>
        </p:nvSpPr>
        <p:spPr>
          <a:xfrm>
            <a:off x="1828800" y="18425160"/>
            <a:ext cx="32918400" cy="594360"/>
          </a:xfrm>
        </p:spPr>
        <p:txBody>
          <a:bodyPr/>
          <a:lstStyle/>
          <a:p>
            <a:r>
              <a:t>Blue: GPU 4 ↔ GPU 7 via CPU 1 I/O (NODE) · Dashed boxes: logical PCIe subtrees</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retained PCIe hierarchy · NVIDIA ConnectX-8 architecture · functional view; extra bridges collapsed; line rates are configured capacity</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15</a:t>
            </a:fld>
            <a:endParaRPr lang="en-US"/>
          </a:p>
        </p:txBody>
      </p:sp>
      <p:pic>
        <p:nvPicPr>
          <p:cNvPr id="9" name="Graphviz Hardware Topology (SVG with PNG fallback)" descr="Eight GPUs in four dashed logical PCIe subtrees; each ConnectX-8 integrates PCIe switching and networking; blue traces GPU4-to-GPU7 local P2P via CPU1 I/O without entering the network functions"/>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8800" y="4846320"/>
            <a:ext cx="32918400" cy="13373100"/>
          </a:xfrm>
          <a:prstGeom prst="rect">
            <a:avLst/>
          </a:prstGeom>
          <a:ln w="9525">
            <a:solidFill>
              <a:srgbClr val="A7A7A7"/>
            </a:solidFill>
          </a:ln>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nearest-NIC path moves the same payload in less than half the measured communication + layout time</a:t>
            </a:r>
          </a:p>
        </p:txBody>
      </p:sp>
      <p:sp>
        <p:nvSpPr>
          <p:cNvPr id="3" name="Title 2"/>
          <p:cNvSpPr>
            <a:spLocks noGrp="1"/>
          </p:cNvSpPr>
          <p:nvPr>
            <p:ph type="title"/>
          </p:nvPr>
        </p:nvSpPr>
        <p:spPr/>
        <p:txBody>
          <a:bodyPr/>
          <a:lstStyle/>
          <a:p>
            <a:r>
              <a:t>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graphicFrame>
        <p:nvGraphicFramePr>
          <p:cNvPr id="5" name="Official NVIDIA Exact-Shape RDM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120640">
                  <a:extLst>
                    <a:ext uri="{9D8B030D-6E8A-4147-A177-3AD203B41FA5}">
                      <a16:colId xmlns:a16="http://schemas.microsoft.com/office/drawing/2014/main" val="1714626306"/>
                    </a:ext>
                  </a:extLst>
                </a:gridCol>
                <a:gridCol w="8412480">
                  <a:extLst>
                    <a:ext uri="{9D8B030D-6E8A-4147-A177-3AD203B41FA5}">
                      <a16:colId xmlns:a16="http://schemas.microsoft.com/office/drawing/2014/main" val="1697748500"/>
                    </a:ext>
                  </a:extLst>
                </a:gridCol>
                <a:gridCol w="4937760">
                  <a:extLst>
                    <a:ext uri="{9D8B030D-6E8A-4147-A177-3AD203B41FA5}">
                      <a16:colId xmlns:a16="http://schemas.microsoft.com/office/drawing/2014/main" val="3872581152"/>
                    </a:ext>
                  </a:extLst>
                </a:gridCol>
                <a:gridCol w="5212080">
                  <a:extLst>
                    <a:ext uri="{9D8B030D-6E8A-4147-A177-3AD203B41FA5}">
                      <a16:colId xmlns:a16="http://schemas.microsoft.com/office/drawing/2014/main" val="2543914041"/>
                    </a:ext>
                  </a:extLst>
                </a:gridCol>
                <a:gridCol w="45873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Route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Logical Off-Rank Volume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Rank-Max / Block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Effective BW / Rank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Serialized PDD8*</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local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24.87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17.95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9.95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Nearest-NIC GDR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10.86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41.14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4.34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RDMA delta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 five-slot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2.29×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scope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Communication + path-required layout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Exact vs independent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all_gather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attention or GEMM</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overlap</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*serial × 400; not E2E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Measured 2026-10-25 · 5 warmups + 8 trials × 4 calls · rank-max then mean · *serialized block mean × 400; not end-to-end</a:t>
            </a:r>
            <a:endParaRPr lang="en-US"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