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79" r:id="rId36"/>
    <p:sldId id="380" r:id="rId50"/>
    <p:sldId id="381" r:id="rId35"/>
    <p:sldId id="382" r:id="rId52"/>
    <p:sldId id="383" r:id="rId53"/>
    <p:sldId id="384" r:id="rId54"/>
    <p:sldId id="385" r:id="rId55"/>
    <p:sldId id="386" r:id="rId56"/>
    <p:sldId id="387" r:id="rId57"/>
    <p:sldId id="388" r:id="rId58"/>
    <p:sldId id="389" r:id="rId59"/>
    <p:sldId id="390" r:id="rId60"/>
    <p:sldId id="392" r:id="rId62"/>
    <p:sldId id="393" r:id="rId34"/>
    <p:sldId id="394" r:id="rId33"/>
    <p:sldId id="391" r:id="rId61"/>
    <p:sldId id="340" r:id="rId82"/>
    <p:sldId id="343" r:id="rId85"/>
    <p:sldId id="344" r:id="rId86"/>
    <p:sldId id="374" r:id="rId40"/>
    <p:sldId id="345" r:id="rId87"/>
    <p:sldId id="347" r:id="rId89"/>
    <p:sldId id="348" r:id="rId90"/>
    <p:sldId id="364" r:id="rId48"/>
    <p:sldId id="363" r:id="rId47"/>
    <p:sldId id="353" r:id="rId95"/>
    <p:sldId id="354" r:id="rId96"/>
    <p:sldId id="355" r:id="rId97"/>
    <p:sldId id="361" r:id="rId45"/>
    <p:sldId id="368" r:id="rId51"/>
    <p:sldId id="369" r:id="rId49"/>
    <p:sldId id="375" r:id="rId39"/>
    <p:sldId id="376" r:id="rId46"/>
    <p:sldId id="377" r:id="rId38"/>
    <p:sldId id="378" r:id="rId37"/>
    <p:sldId id="357" r:id="rId99"/>
    <p:sldId id="370" r:id="rId44"/>
    <p:sldId id="372" r:id="rId42"/>
    <p:sldId id="371" r:id="rId43"/>
    <p:sldId id="373" r:id="rId4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33" Type="http://schemas.openxmlformats.org/officeDocument/2006/relationships/slide" Target="slides/slide15.xml"/><Relationship Id="rId34" Type="http://schemas.openxmlformats.org/officeDocument/2006/relationships/slide" Target="slides/slide14.xml"/><Relationship Id="rId35" Type="http://schemas.openxmlformats.org/officeDocument/2006/relationships/slide" Target="slides/slide3.xml"/><Relationship Id="rId36" Type="http://schemas.openxmlformats.org/officeDocument/2006/relationships/slide" Target="slides/slide1.xml"/><Relationship Id="rId37" Type="http://schemas.openxmlformats.org/officeDocument/2006/relationships/slide" Target="slides/slide35.xml"/><Relationship Id="rId38" Type="http://schemas.openxmlformats.org/officeDocument/2006/relationships/slide" Target="slides/slide34.xml"/><Relationship Id="rId39" Type="http://schemas.openxmlformats.org/officeDocument/2006/relationships/slide" Target="slides/slide32.xml"/><Relationship Id="rId40" Type="http://schemas.openxmlformats.org/officeDocument/2006/relationships/slide" Target="slides/slide20.xml"/><Relationship Id="rId41" Type="http://schemas.openxmlformats.org/officeDocument/2006/relationships/slide" Target="slides/slide40.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37.xml"/><Relationship Id="rId45" Type="http://schemas.openxmlformats.org/officeDocument/2006/relationships/slide" Target="slides/slide29.xml"/><Relationship Id="rId46" Type="http://schemas.openxmlformats.org/officeDocument/2006/relationships/slide" Target="slides/slide33.xml"/><Relationship Id="rId47" Type="http://schemas.openxmlformats.org/officeDocument/2006/relationships/slide" Target="slides/slide25.xml"/><Relationship Id="rId48" Type="http://schemas.openxmlformats.org/officeDocument/2006/relationships/slide" Target="slides/slide24.xml"/><Relationship Id="rId49" Type="http://schemas.openxmlformats.org/officeDocument/2006/relationships/slide" Target="slides/slide31.xml"/><Relationship Id="rId50" Type="http://schemas.openxmlformats.org/officeDocument/2006/relationships/slide" Target="slides/slide2.xml"/><Relationship Id="rId51" Type="http://schemas.openxmlformats.org/officeDocument/2006/relationships/slide" Target="slides/slide30.xml"/><Relationship Id="rId52" Type="http://schemas.openxmlformats.org/officeDocument/2006/relationships/slide" Target="slides/slide4.xml"/><Relationship Id="rId53" Type="http://schemas.openxmlformats.org/officeDocument/2006/relationships/slide" Target="slides/slide5.xml"/><Relationship Id="rId54" Type="http://schemas.openxmlformats.org/officeDocument/2006/relationships/slide" Target="slides/slide6.xml"/><Relationship Id="rId55" Type="http://schemas.openxmlformats.org/officeDocument/2006/relationships/slide" Target="slides/slide7.xml"/><Relationship Id="rId56" Type="http://schemas.openxmlformats.org/officeDocument/2006/relationships/slide" Target="slides/slide8.xml"/><Relationship Id="rId57" Type="http://schemas.openxmlformats.org/officeDocument/2006/relationships/slide" Target="slides/slide9.xml"/><Relationship Id="rId58" Type="http://schemas.openxmlformats.org/officeDocument/2006/relationships/slide" Target="slides/slide10.xml"/><Relationship Id="rId59" Type="http://schemas.openxmlformats.org/officeDocument/2006/relationships/slide" Target="slides/slide11.xml"/><Relationship Id="rId60" Type="http://schemas.openxmlformats.org/officeDocument/2006/relationships/slide" Target="slides/slide12.xml"/><Relationship Id="rId61" Type="http://schemas.openxmlformats.org/officeDocument/2006/relationships/slide" Target="slides/slide16.xml"/><Relationship Id="rId62" Type="http://schemas.openxmlformats.org/officeDocument/2006/relationships/slide" Target="slides/slide13.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7.xml"/><Relationship Id="rId85" Type="http://schemas.openxmlformats.org/officeDocument/2006/relationships/slide" Target="slides/slide18.xml"/><Relationship Id="rId86" Type="http://schemas.openxmlformats.org/officeDocument/2006/relationships/slide" Target="slides/slide19.xml"/><Relationship Id="rId87" Type="http://schemas.openxmlformats.org/officeDocument/2006/relationships/slide" Target="slides/slide21.xml"/><Relationship Id="rId89" Type="http://schemas.openxmlformats.org/officeDocument/2006/relationships/slide" Target="slides/slide22.xml"/><Relationship Id="rId90" Type="http://schemas.openxmlformats.org/officeDocument/2006/relationships/slide" Target="slides/slide23.xml"/><Relationship Id="rId95" Type="http://schemas.openxmlformats.org/officeDocument/2006/relationships/slide" Target="slides/slide26.xml"/><Relationship Id="rId96" Type="http://schemas.openxmlformats.org/officeDocument/2006/relationships/slide" Target="slides/slide27.xml"/><Relationship Id="rId97" Type="http://schemas.openxmlformats.org/officeDocument/2006/relationships/slide" Target="slides/slide28.xml"/><Relationship Id="rId99" Type="http://schemas.openxmlformats.org/officeDocument/2006/relationships/slide" Target="slides/slide36.xml"/><Relationship Id="rId102" Type="http://schemas.openxmlformats.org/officeDocument/2006/relationships/slide" Target="slides/slide4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a:p>
            <a:r>
              <a:t>Condensed baseline: measured E2E median 213.40215269569308 s from two unprofiled requests. Nsight operator shares come from a separate 214.968 s profiled request. Other combines norm/activation, layout, memcpy/memset, convolution and other kernels. Kernel durations include overlap and synchronization; NCCL is not pure network transfer time. Full configuration and eight operator categories remain on hidden slide 18 and baseline-breakdown.html. Native VAE FP16 decode; exact precomputed AdaLN is already part of the engineering baseline.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Per-GPU specifications from the preserved hardware-specifications.json and official NVIDIA sources verified 2026-10-30: RTX PRO 5000 Blackwell, 110 SMs, 72 GB GDDR7 ECC, 300 W maximum board power and PCIe Gen5 x16. Eight GPUs on the recorded reference node. Power is a specification, not a measured serving draw. The original cross-SKU comparison is preserved in hidden slides 16 and 17. No PRO 5500 measurement is asserted.</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a:p/>
          <a:p>
            <a:r>
              <a:t>Presentation emphasis: Display only the method names and BF16-relative ratios rounded to one decimal. Exact source timings: BF16 152.576882 s; Online NVFP4 89.120574 s; QAD 84.467848 s; QAD + Native FP4 69.949291 s. These descriptive cross-run ratios are not controlled production speedups. Inspect quality on the representative workload before adopting a precision change. Source: v1.38/measurements.json. No new measurements.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a:p/>
          <a:p>
            <a:r>
              <a:t>Presentation emphasis: Start with the user-visible deadline. For this workload, 5.167 seconds of output requires E2E latency below 5.167 seconds. Model size motivates the problem; the deadline defines success.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takeaways after the recorded demo. These summarize the experiment and future directions; they do not add benchmark results.</a:t>
            </a:r>
          </a:p>
          <a:p>
            <a:r>
              <a:t>Communication optimization is described as lossless when the numerical workload is retained. GPU/NIC topology, bottlenecks, available bandwidth and transfer volume must be considered together.</a:t>
            </a:r>
          </a:p>
          <a:p>
            <a:r>
              <a:t>Quantization quality must be evaluated per model and workload. No universal quality claim is made.</a:t>
            </a:r>
          </a:p>
          <a:p>
            <a:r>
              <a:t>The final point is future work: autoregressive diffusion for lower response latency, and prompt enhancement for richer interactions. Neither is presented as a completed improvement in the recorded demo.</a:t>
            </a:r>
          </a:p>
          <a:p/>
          <a:p>
            <a:r>
              <a:t>Presentation emphasis: Close with reusable decisions: inspect topology; qualify quantization per workload; move from fast generation toward responsive, continuous interaction. The last point is future work, not a claim about the recorded demo.</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explains the actual rolling demo implementation as a schematic, not a new benchmark or a guarantee of seamless long-term quality.</a:t>
            </a:r>
          </a:p>
          <a:p>
            <a:r>
              <a:t>Each request generates 124 frames at 24 FPS. Window starts are 0, 119, 238. The first request emits all 124 frames. Subsequent requests remove five overlapping frames and corresponding decoded audio, yielding 119 new frames.</a:t>
            </a:r>
          </a:p>
          <a:p>
            <a:r>
              <a:t>The previous completed request retains only its last two video latent slices and an aligned audio latent tail. These are appended to existing visual/audio conditioning for the next request.</a:t>
            </a:r>
          </a:p>
          <a:p>
            <a:r>
              <a:t>The reference image and voice remain inputs. The next prompt may contain a new English reply or quiet listening instructions.</a:t>
            </a:r>
          </a:p>
          <a:p>
            <a:r>
              <a:t>In the interactive demo the video guide mixes 80 percent retained history and 20 percent seeded noise. The audio guide stays clean. Target video and audio prefix clamping are off.</a:t>
            </a:r>
          </a:p>
          <a:p>
            <a:r>
              <a:t>Cumulative AV positions continue across windows. Audio overlap uses rounded cumulative boundaries, resulting in eight or nine latent tokens; the slide simplifies this as matching audio.</a:t>
            </a:r>
          </a:p>
          <a:p>
            <a:r>
              <a:t>New state is committed only after successful MP4 generation. The diagram is fixed-size state handoff across requests; the runtime does not retain the whole video.</a:t>
            </a:r>
          </a:p>
          <a:p>
            <a:r>
              <a:t>The interaction example stays on slide 17. The recorded demonstration follows on slide 19.</a:t>
            </a:r>
          </a:p>
          <a:p>
            <a:r>
              <a:t>Updated visual: actual last frame of request 0 and actual first retained frame of request 1 from the same validated interactive-demo session. The right image is already overlap-trimmed; it is not a raw generated prefix. Media ordinal 0 has 124 frames, ordinal 1 has 119 emitted frames. The timeline illustrates removal of the five-frame overlapping start, with aligned audio trimming. Static frames do not establish seamless motion or guarantee long-term quality. See continuation-frames.json for extraction provenance.</a:t>
            </a:r>
          </a:p>
          <a:p/>
          <a:p>
            <a:r>
              <a:t>Presentation emphasis: Explain the experience-level purpose first: each window should feel like part of one conversation. The images and timeline show context reuse and overlap trimming. This does not establish indefinitely stable generation or eliminate all seams.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16 describes the eight-evaluation QAD pipeline; slide 6 describes the distinct historical four-step avatar. Do not imply all techniques are enabled in both recipes.</a:t>
            </a:r>
          </a:p>
          <a:p>
            <a:r>
              <a:t>Online evidence: https://lishunyang12.github.io/fasth3-omni-evaluation-20261018/reports/h3-liveavatar-long-video-20261014/</a:t>
            </a:r>
          </a:p>
          <a:p/>
          <a:p>
            <a:r>
              <a:t>Presentation emphasis: Use the three lessons to interpret the evidence, rather than walking through every implementation. The measured baseline NCCL work includes waiting and overlap. RDMA/layout/overlap is a grouped intervention, not an isolated RDMA result. The four-step avatar and eight-step ladder remain distinct workloads. Hidden slides retain the implementation details.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a:p/>
          <a:p>
            <a:r>
              <a:t>Presentation emphasis: Use the table as evidence for how the bottleneck shifts. Highlight the grouped communication change and the output-path work that completes the path below five seconds. Do not narrate every row. Final 4.922 s is standalone H3 latency; it does not establish the full conversational response latency. Keep the separately refreshed baseline qualification.</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five seconds is the nominal target. The benchmark emits 124 frames at 24 FPS, exactly 5.1666666667 seconds. Its RTF threshold is E2E latency / 5.1666666667 &lt; 1; the presentation uses &lt;5 seconds as the stricter practical target. Standalone H3 timing ends at the complete MP4 HTTP response and excludes ASR, LLM and browser playback. Interactive response is a separate budget.</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effect, not a narration of every intermediate row. Overall ratio is 213.40215269569308 / 4.9224158665165305 = 43.35313359996793. RTF is 4.9224158665165305/(124/24)=0.9527256515838446. Final stage is 12-copy-elision. Baseline was refreshed separately (n=2); later stages retain n=3 each. This is a descriptive ratio of recorded medians, not a matched rerun or isolated lossless gain. Optimized path includes PDD eight evaluations, trained VSA, QAD NVFP4/native FP4 attention, RDMA/layout/V-gate, 2/3/2 head overlap, CUDA graphs, 36-layer NVFP4 VAE and output/data movement changes. Standalone H3 excludes ASR, LLM, rolling history, media delivery and playback. This does not establish sustained real-time interactive response. Full optimization ladder remains on hidden slide 33 and benchmarks.html.</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a:p>
            <a:r>
              <a:t>Light-talk edit removes the repeated ASR transcript while retaining the actual reference image, English question/prompt excerpt, actual generated still and generated-voice return loop. ASR is Qwen3-ASR-0.6B; Qwen3-4B emits reply text and the server assembles the H3 prompt. The still is not a newly generated rendering of the example words. Full detail remains on hidden slide 34 and demo-config.html.</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The same 74.55-second user recording is retained byte-for-byte, including microphone audio, avatar audio, subtitles and measured overlays. The first five seconds were already trimmed in the source. Live service shares GPU 6/7 with ASR and LLM and carries rolling history. Its timings must not be confused with the 4.922-second standalone benchmark.</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insights for a short talk. (1) Map GPU/NIC topology and the actual bottleneck. Use bandwidth, overlap communication with computation, and reduce data movement for lossless speedups. (2) Quantization quality and efficiency vary by model and workload; validate representative scenes. (3) Autoregressive diffusion and richer prompt enhancement are future directions, not claims of improvements implemented in this demo.</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Creator handoff, about 45 seconds. The official ComfyUI extension sends inference requests to a local or remote vLLM-Omni service. ComfyUI does not load H3 weights in these workflows. On upstream main 08177216af4b44cef54ec5bdc75c265a9f0cd697, the extension contains image/video generation, multimodal understanding, TTS/voice cloning, music, restoration and H3 reference/editing/guide nodes. This slide selects three high-level points rather than claiming every model supports every node. H3 all-in-one includes T2VA, first/last-frame FL2VA and mixed-reference Ref2VA; it does not include a prompt LLM. API/model support bounds the UI. The official screenshot is an existing illustrative graph, not a new test or a recommended H3 benchmark configuration. No ComfyUI inference was run for this deck. Sources: https://github.com/vllm-project/vllm-omni/tree/08177216af4b44cef54ec5bdc75c265a9f0cd697/apps/ComfyUI-vLLM-Omni ; https://docs.vllm.ai/projects/vllm-omni/en/latest/features/comfyui/ ; https://github.com/vllm-project/vllm-omni/blob/08177216af4b44cef54ec5bdc75c265a9f0cd697/apps/ComfyUI-vLLM-Omni/docs/h3-06-all-in-one.md</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This is the presenter's planned open-source developer tool for end-to-end video generation and editing, with a backend designed to use models served by vLLM-Omni. Video Studio is a descriptive working title, not an announced official product name. No repository, release date, completion status, UI screenshot or tested model matrix was supplied, so none is asserted. Prompt/assets → generation → editing/assembly → export is a conceptual product flow, not a screenshot or completed integration. Model serving is the inference backend; it is not described as implementing the editing UI. Source for the plan: user instruction in this conversation.</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everyone to build the vLLM-Omni ecosystem: contribute model integrations, performance improvements, creator workflows, tests and documentation. The entire final slide is copied visually from the presenter's saved public deck, vLLM-Omni Slides (Public) 2026-04 latest (1).pptx, source slide 45, author metadata liuhongsheng, SHA256 1f457b63851bf0bd1d9a3cb8a1b8d7765b8507a1ae83a29f20df62ca405d8b72. Original content, logos, community links and QR codes are retained. The copied page is a full-slide image to preserve the original design in the NVIDIA deck; the individual source page is also retained as official-closing-source.pptx. No claim is made that historical QR invitations are current. Current canonical community information: https://github.com/vllm-project/vllm-omni#join-the-community ; https://slack.vllm.ai/ (#sig-omni).</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lishunyang12.github.io/fasth3-omni-evaluation-20261018/slides/minimax-h3-real-time-inference-20261025/v1.42/demo-config.html" TargetMode="External"/><Relationship Id="rId3" Type="http://schemas.openxmlformats.org/officeDocument/2006/relationships/image" Target="../media/image27.jpg"/><Relationship Id="rId4" Type="http://schemas.openxmlformats.org/officeDocument/2006/relationships/image" Target="../media/image36.png"/><Relationship Id="rId5" Type="http://schemas.openxmlformats.org/officeDocument/2006/relationships/image" Target="../media/image16.png"/><Relationship Id="rId6" Type="http://schemas.openxmlformats.org/officeDocument/2006/relationships/notesSlide" Target="../notesSlides/notesSlide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3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9.png"/><Relationship Id="rId3" Type="http://schemas.openxmlformats.org/officeDocument/2006/relationships/hyperlink" Target="https://github.com/vllm-project/vllm-omni" TargetMode="External"/><Relationship Id="rId4" Type="http://schemas.openxmlformats.org/officeDocument/2006/relationships/hyperlink" Target="https://blog.vllm.ai/2025/11/30/vllm-omni.html" TargetMode="External"/><Relationship Id="rId5" Type="http://schemas.openxmlformats.org/officeDocument/2006/relationships/hyperlink" Target="https://communityinviter.com/apps/vllm-dev/join-vllm-developers-slack" TargetMode="External"/><Relationship Id="rId6" Type="http://schemas.openxmlformats.org/officeDocument/2006/relationships/notesSlide" Target="../notesSlides/notesSlide4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 Id="rId5" Type="http://schemas.openxmlformats.org/officeDocument/2006/relationships/image" Target="../media/image36.png"/><Relationship Id="rId6"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2</a:t>
            </a:r>
          </a:p>
        </p:txBody>
      </p:sp>
      <p:sp>
        <p:nvSpPr>
          <p:cNvPr id="3" name="Text Placeholder 2"/>
          <p:cNvSpPr>
            <a:spLocks noGrp="1"/>
          </p:cNvSpPr>
          <p:nvPr>
            <p:ph type="body" idx="13" sz="quarter"/>
          </p:nvPr>
        </p:nvSpPr>
        <p:spPr/>
        <p:txBody>
          <a:bodyPr/>
          <a:lstStyle/>
          <a:p>
            <a:r>
              <a:t>A five-second clip needs a five-second generation budget.</a:t>
            </a:r>
          </a:p>
        </p:txBody>
      </p:sp>
      <p:sp>
        <p:nvSpPr>
          <p:cNvPr id="4" name="Title 3"/>
          <p:cNvSpPr>
            <a:spLocks noGrp="1"/>
          </p:cNvSpPr>
          <p:nvPr>
            <p:ph type="title"/>
          </p:nvPr>
        </p:nvSpPr>
        <p:spPr/>
        <p:txBody>
          <a:bodyPr/>
          <a:lstStyle/>
          <a:p>
            <a:r>
              <a:rPr sz="8800"/>
              <a:t>Real Time Means Keeping Up</a:t>
            </a:r>
          </a:p>
        </p:txBody>
      </p:sp>
      <p:sp>
        <p:nvSpPr>
          <p:cNvPr id="5" name="Generation label"/>
          <p:cNvSpPr txBox="1"/>
          <p:nvPr/>
        </p:nvSpPr>
        <p:spPr>
          <a:xfrm>
            <a:off x="1828800" y="6400800"/>
            <a:ext cx="146304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GENERATION TIME</a:t>
            </a:r>
          </a:p>
        </p:txBody>
      </p:sp>
      <p:sp>
        <p:nvSpPr>
          <p:cNvPr id="6" name="Generation budget"/>
          <p:cNvSpPr txBox="1"/>
          <p:nvPr/>
        </p:nvSpPr>
        <p:spPr>
          <a:xfrm>
            <a:off x="1828800" y="8229600"/>
            <a:ext cx="14630400" cy="3017520"/>
          </a:xfrm>
          <a:prstGeom prst="rect">
            <a:avLst/>
          </a:prstGeom>
          <a:noFill/>
        </p:spPr>
        <p:txBody>
          <a:bodyPr wrap="square" lIns="0" rIns="0" tIns="0" bIns="0">
            <a:spAutoFit/>
          </a:bodyPr>
          <a:lstStyle/>
          <a:p>
            <a:pPr>
              <a:spcBef>
                <a:spcPts val="0"/>
              </a:spcBef>
              <a:spcAft>
                <a:spcPts val="0"/>
              </a:spcAft>
            </a:pPr>
            <a:r>
              <a:rPr sz="18000" b="0">
                <a:solidFill>
                  <a:srgbClr val="76B900"/>
                </a:solidFill>
                <a:latin typeface="NVIDIA Sans Medium"/>
              </a:rPr>
              <a:t>&lt;5 s</a:t>
            </a:r>
          </a:p>
        </p:txBody>
      </p:sp>
      <p:sp>
        <p:nvSpPr>
          <p:cNvPr id="7" name="Budget relation"/>
          <p:cNvSpPr/>
          <p:nvPr/>
        </p:nvSpPr>
        <p:spPr>
          <a:xfrm>
            <a:off x="16642080" y="9235440"/>
            <a:ext cx="27432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ideo label"/>
          <p:cNvSpPr txBox="1"/>
          <p:nvPr/>
        </p:nvSpPr>
        <p:spPr>
          <a:xfrm>
            <a:off x="21945600" y="6400800"/>
            <a:ext cx="128016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GENERATED AUDIO + VIDEO</a:t>
            </a:r>
          </a:p>
        </p:txBody>
      </p:sp>
      <p:sp>
        <p:nvSpPr>
          <p:cNvPr id="9" name="Video budget"/>
          <p:cNvSpPr txBox="1"/>
          <p:nvPr/>
        </p:nvSpPr>
        <p:spPr>
          <a:xfrm>
            <a:off x="21945600" y="8229600"/>
            <a:ext cx="12801600" cy="3017520"/>
          </a:xfrm>
          <a:prstGeom prst="rect">
            <a:avLst/>
          </a:prstGeom>
          <a:noFill/>
        </p:spPr>
        <p:txBody>
          <a:bodyPr wrap="square" lIns="0" rIns="0" tIns="0" bIns="0">
            <a:spAutoFit/>
          </a:bodyPr>
          <a:lstStyle/>
          <a:p>
            <a:pPr>
              <a:spcBef>
                <a:spcPts val="0"/>
              </a:spcBef>
              <a:spcAft>
                <a:spcPts val="0"/>
              </a:spcAft>
            </a:pPr>
            <a:r>
              <a:rPr sz="18000" b="0">
                <a:solidFill>
                  <a:srgbClr val="000000"/>
                </a:solidFill>
                <a:latin typeface="NVIDIA Sans Medium"/>
              </a:rPr>
              <a:t>~5 s</a:t>
            </a:r>
          </a:p>
        </p:txBody>
      </p:sp>
      <p:sp>
        <p:nvSpPr>
          <p:cNvPr id="10" name="Budget takeaway"/>
          <p:cNvSpPr txBox="1"/>
          <p:nvPr/>
        </p:nvSpPr>
        <p:spPr>
          <a:xfrm>
            <a:off x="1828800" y="17099280"/>
            <a:ext cx="32918400" cy="128016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Optimize the complete request, through playable output.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3</a:t>
            </a:r>
          </a:p>
        </p:txBody>
      </p:sp>
      <p:sp>
        <p:nvSpPr>
          <p:cNvPr id="3" name="Text Placeholder 2"/>
          <p:cNvSpPr>
            <a:spLocks noGrp="1"/>
          </p:cNvSpPr>
          <p:nvPr>
            <p:ph type="body" idx="13" sz="quarter"/>
          </p:nvPr>
        </p:nvSpPr>
        <p:spPr/>
        <p:txBody>
          <a:bodyPr/>
          <a:lstStyle/>
          <a:p>
            <a:r>
              <a:t>The reference system</a:t>
            </a:r>
          </a:p>
        </p:txBody>
      </p:sp>
      <p:sp>
        <p:nvSpPr>
          <p:cNvPr id="4" name="Title 3"/>
          <p:cNvSpPr>
            <a:spLocks noGrp="1"/>
          </p:cNvSpPr>
          <p:nvPr>
            <p:ph type="title"/>
          </p:nvPr>
        </p:nvSpPr>
        <p:spPr/>
        <p:txBody>
          <a:bodyPr/>
          <a:lstStyle/>
          <a:p>
            <a:r>
              <a:rPr sz="8800"/>
              <a:t>SM120 Cards</a:t>
            </a:r>
          </a:p>
        </p:txBody>
      </p:sp>
      <p:sp>
        <p:nvSpPr>
          <p:cNvPr id="5" name="Reference GPU frame"/>
          <p:cNvSpPr/>
          <p:nvPr/>
        </p:nvSpPr>
        <p:spPr>
          <a:xfrm>
            <a:off x="1828800" y="5852160"/>
            <a:ext cx="24688800" cy="5120640"/>
          </a:xfrm>
          <a:prstGeom prst="rect">
            <a:avLst/>
          </a:prstGeom>
          <a:solidFill>
            <a:srgbClr val="FFFFFF"/>
          </a:solidFill>
          <a:ln w="508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PU model"/>
          <p:cNvSpPr txBox="1"/>
          <p:nvPr/>
        </p:nvSpPr>
        <p:spPr>
          <a:xfrm>
            <a:off x="2834640" y="7315200"/>
            <a:ext cx="22860000" cy="2011680"/>
          </a:xfrm>
          <a:prstGeom prst="rect">
            <a:avLst/>
          </a:prstGeom>
          <a:noFill/>
        </p:spPr>
        <p:txBody>
          <a:bodyPr wrap="square" lIns="0" rIns="0" tIns="0" bIns="0">
            <a:spAutoFit/>
          </a:bodyPr>
          <a:lstStyle/>
          <a:p>
            <a:pPr>
              <a:spcBef>
                <a:spcPts val="0"/>
              </a:spcBef>
              <a:spcAft>
                <a:spcPts val="0"/>
              </a:spcAft>
            </a:pPr>
            <a:r>
              <a:rPr sz="10400" b="0">
                <a:solidFill>
                  <a:srgbClr val="000000"/>
                </a:solidFill>
                <a:latin typeface="NVIDIA Sans Medium"/>
              </a:rPr>
              <a:t>RTX PRO 5000</a:t>
            </a:r>
          </a:p>
        </p:txBody>
      </p:sp>
      <p:sp>
        <p:nvSpPr>
          <p:cNvPr id="7" name="GPU count"/>
          <p:cNvSpPr txBox="1"/>
          <p:nvPr/>
        </p:nvSpPr>
        <p:spPr>
          <a:xfrm>
            <a:off x="27889200" y="6583680"/>
            <a:ext cx="6858000" cy="3291840"/>
          </a:xfrm>
          <a:prstGeom prst="rect">
            <a:avLst/>
          </a:prstGeom>
          <a:noFill/>
        </p:spPr>
        <p:txBody>
          <a:bodyPr wrap="square" lIns="0" rIns="0" tIns="0" bIns="0">
            <a:spAutoFit/>
          </a:bodyPr>
          <a:lstStyle/>
          <a:p>
            <a:pPr>
              <a:spcBef>
                <a:spcPts val="0"/>
              </a:spcBef>
              <a:spcAft>
                <a:spcPts val="0"/>
              </a:spcAft>
            </a:pPr>
            <a:r>
              <a:rPr sz="17400" b="0">
                <a:solidFill>
                  <a:srgbClr val="76B900"/>
                </a:solidFill>
                <a:latin typeface="NVIDIA Sans Medium"/>
              </a:rPr>
              <a:t>×8</a:t>
            </a:r>
          </a:p>
        </p:txBody>
      </p:sp>
      <p:sp>
        <p:nvSpPr>
          <p:cNvPr id="8" name="Spec SMs"/>
          <p:cNvSpPr txBox="1"/>
          <p:nvPr/>
        </p:nvSpPr>
        <p:spPr>
          <a:xfrm>
            <a:off x="1828800" y="1280160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SMs</a:t>
            </a:r>
          </a:p>
        </p:txBody>
      </p:sp>
      <p:sp>
        <p:nvSpPr>
          <p:cNvPr id="9" name="Value SMs"/>
          <p:cNvSpPr txBox="1"/>
          <p:nvPr/>
        </p:nvSpPr>
        <p:spPr>
          <a:xfrm>
            <a:off x="1828800" y="14173200"/>
            <a:ext cx="7772400" cy="228600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110</a:t>
            </a:r>
          </a:p>
        </p:txBody>
      </p:sp>
      <p:sp>
        <p:nvSpPr>
          <p:cNvPr id="10" name="Spec Memory"/>
          <p:cNvSpPr txBox="1"/>
          <p:nvPr/>
        </p:nvSpPr>
        <p:spPr>
          <a:xfrm>
            <a:off x="10287000" y="1280160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Memory</a:t>
            </a:r>
          </a:p>
        </p:txBody>
      </p:sp>
      <p:sp>
        <p:nvSpPr>
          <p:cNvPr id="11" name="Value Memory"/>
          <p:cNvSpPr txBox="1"/>
          <p:nvPr/>
        </p:nvSpPr>
        <p:spPr>
          <a:xfrm>
            <a:off x="10287000" y="14173200"/>
            <a:ext cx="7772400" cy="228600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72 GB</a:t>
            </a:r>
          </a:p>
          <a:p>
            <a:pPr>
              <a:spcBef>
                <a:spcPts val="0"/>
              </a:spcBef>
              <a:spcAft>
                <a:spcPts val="0"/>
              </a:spcAft>
            </a:pPr>
            <a:r>
              <a:rPr sz="4800" b="0">
                <a:solidFill>
                  <a:srgbClr val="000000"/>
                </a:solidFill>
                <a:latin typeface="NVIDIA Sans Medium"/>
              </a:rPr>
              <a:t>GDDR7 ECC</a:t>
            </a:r>
          </a:p>
        </p:txBody>
      </p:sp>
      <p:sp>
        <p:nvSpPr>
          <p:cNvPr id="12" name="Spec Power"/>
          <p:cNvSpPr txBox="1"/>
          <p:nvPr/>
        </p:nvSpPr>
        <p:spPr>
          <a:xfrm>
            <a:off x="18745200" y="1280160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Power</a:t>
            </a:r>
          </a:p>
        </p:txBody>
      </p:sp>
      <p:sp>
        <p:nvSpPr>
          <p:cNvPr id="13" name="Value Power"/>
          <p:cNvSpPr txBox="1"/>
          <p:nvPr/>
        </p:nvSpPr>
        <p:spPr>
          <a:xfrm>
            <a:off x="18745200" y="14173200"/>
            <a:ext cx="7772400" cy="228600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300 W</a:t>
            </a:r>
          </a:p>
        </p:txBody>
      </p:sp>
      <p:sp>
        <p:nvSpPr>
          <p:cNvPr id="14" name="Spec Interconnect"/>
          <p:cNvSpPr txBox="1"/>
          <p:nvPr/>
        </p:nvSpPr>
        <p:spPr>
          <a:xfrm>
            <a:off x="27203400" y="1280160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Interconnect</a:t>
            </a:r>
          </a:p>
        </p:txBody>
      </p:sp>
      <p:sp>
        <p:nvSpPr>
          <p:cNvPr id="15" name="Value Interconnect"/>
          <p:cNvSpPr txBox="1"/>
          <p:nvPr/>
        </p:nvSpPr>
        <p:spPr>
          <a:xfrm>
            <a:off x="27203400" y="14173200"/>
            <a:ext cx="7772400" cy="228600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PCIe Gen5 ×16</a:t>
            </a:r>
          </a:p>
        </p:txBody>
      </p:sp>
      <p:sp>
        <p:nvSpPr>
          <p:cNvPr id="16" name="Hardware takeaway"/>
          <p:cNvSpPr txBox="1"/>
          <p:nvPr/>
        </p:nvSpPr>
        <p:spPr>
          <a:xfrm>
            <a:off x="1828800" y="18013680"/>
            <a:ext cx="32918400" cy="91440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Medium"/>
              </a:rPr>
              <a:t>No NVLink between GPUs. Communication follows the PCIe and NIC topology.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4</a:t>
            </a:r>
          </a:p>
        </p:txBody>
      </p:sp>
      <p:sp>
        <p:nvSpPr>
          <p:cNvPr id="3" name="Text Placeholder 2"/>
          <p:cNvSpPr>
            <a:spLocks noGrp="1"/>
          </p:cNvSpPr>
          <p:nvPr>
            <p:ph type="body" idx="13" sz="quarter"/>
          </p:nvPr>
        </p:nvSpPr>
        <p:spPr/>
        <p:txBody>
          <a:bodyPr/>
          <a:lstStyle/>
          <a:p>
            <a:r>
              <a:t>960 × 544 · 5.167 s generated video</a:t>
            </a:r>
          </a:p>
        </p:txBody>
      </p:sp>
      <p:sp>
        <p:nvSpPr>
          <p:cNvPr id="4" name="Title 3"/>
          <p:cNvSpPr>
            <a:spLocks noGrp="1"/>
          </p:cNvSpPr>
          <p:nvPr>
            <p:ph type="title"/>
          </p:nvPr>
        </p:nvSpPr>
        <p:spPr/>
        <p:txBody>
          <a:bodyPr/>
          <a:lstStyle/>
          <a:p>
            <a:r>
              <a:rPr sz="8800"/>
              <a:t>Baseline: Latency Breakdown</a:t>
            </a:r>
          </a:p>
        </p:txBody>
      </p:sp>
      <p:sp>
        <p:nvSpPr>
          <p:cNvPr id="5" name="Config heading"/>
          <p:cNvSpPr txBox="1"/>
          <p:nvPr/>
        </p:nvSpPr>
        <p:spPr>
          <a:xfrm>
            <a:off x="1828800" y="5486400"/>
            <a:ext cx="141732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Reference configuration</a:t>
            </a:r>
          </a:p>
        </p:txBody>
      </p:sp>
      <p:sp>
        <p:nvSpPr>
          <p:cNvPr id="6" name="E2E number"/>
          <p:cNvSpPr txBox="1"/>
          <p:nvPr/>
        </p:nvSpPr>
        <p:spPr>
          <a:xfrm>
            <a:off x="1828800" y="7406640"/>
            <a:ext cx="13898880" cy="2468880"/>
          </a:xfrm>
          <a:prstGeom prst="rect">
            <a:avLst/>
          </a:prstGeom>
          <a:noFill/>
        </p:spPr>
        <p:txBody>
          <a:bodyPr wrap="square" lIns="0" rIns="0" tIns="0" bIns="0">
            <a:spAutoFit/>
          </a:bodyPr>
          <a:lstStyle/>
          <a:p>
            <a:pPr>
              <a:spcBef>
                <a:spcPts val="0"/>
              </a:spcBef>
              <a:spcAft>
                <a:spcPts val="0"/>
              </a:spcAft>
            </a:pPr>
            <a:r>
              <a:rPr sz="13800" b="0">
                <a:solidFill>
                  <a:srgbClr val="000000"/>
                </a:solidFill>
                <a:latin typeface="NVIDIA Sans Medium"/>
              </a:rPr>
              <a:t>213.4 s</a:t>
            </a:r>
          </a:p>
        </p:txBody>
      </p:sp>
      <p:sp>
        <p:nvSpPr>
          <p:cNvPr id="7" name="E2E label"/>
          <p:cNvSpPr txBox="1"/>
          <p:nvPr/>
        </p:nvSpPr>
        <p:spPr>
          <a:xfrm>
            <a:off x="1828800" y="10058400"/>
            <a:ext cx="141732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E2E latency</a:t>
            </a:r>
          </a:p>
        </p:txBody>
      </p:sp>
      <p:sp>
        <p:nvSpPr>
          <p:cNvPr id="8" name="Reference configuration bullets"/>
          <p:cNvSpPr txBox="1"/>
          <p:nvPr/>
        </p:nvSpPr>
        <p:spPr>
          <a:xfrm>
            <a:off x="1828800" y="12435840"/>
            <a:ext cx="14173200" cy="475488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200" b="0">
                <a:solidFill>
                  <a:srgbClr val="000000"/>
                </a:solidFill>
                <a:latin typeface="NVIDIA Sans"/>
              </a:rPr>
              <a:t>8 × RTX PRO 5000</a:t>
            </a:r>
          </a:p>
          <a:p>
            <a:pPr marL="384048" indent="-310896">
              <a:spcBef>
                <a:spcPts val="0"/>
              </a:spcBef>
              <a:spcAft>
                <a:spcPts val="2200"/>
              </a:spcAft>
              <a:buFont typeface="NVIDIA Sans"/>
              <a:buChar char="•"/>
            </a:pPr>
            <a:r>
              <a:rPr sz="3200" b="0">
                <a:solidFill>
                  <a:srgbClr val="000000"/>
                </a:solidFill>
                <a:latin typeface="NVIDIA Sans"/>
              </a:rPr>
              <a:t>50 steps · BF16 · dense attention</a:t>
            </a:r>
          </a:p>
          <a:p>
            <a:pPr marL="384048" indent="-310896">
              <a:spcBef>
                <a:spcPts val="0"/>
              </a:spcBef>
              <a:spcAft>
                <a:spcPts val="2200"/>
              </a:spcAft>
              <a:buFont typeface="NVIDIA Sans"/>
              <a:buChar char="•"/>
            </a:pPr>
            <a:r>
              <a:rPr sz="3200" b="0">
                <a:solidFill>
                  <a:srgbClr val="000000"/>
                </a:solidFill>
                <a:latin typeface="NVIDIA Sans"/>
              </a:rPr>
              <a:t>Ulysses8 · encoder TP8 · VAE tiles8</a:t>
            </a:r>
          </a:p>
        </p:txBody>
      </p:sp>
      <p:sp>
        <p:nvSpPr>
          <p:cNvPr id="9" name="GPU heading"/>
          <p:cNvSpPr txBox="1"/>
          <p:nvPr/>
        </p:nvSpPr>
        <p:spPr>
          <a:xfrm>
            <a:off x="17373600" y="5486400"/>
            <a:ext cx="173736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GPU work by operator</a:t>
            </a:r>
          </a:p>
        </p:txBody>
      </p:sp>
      <p:sp>
        <p:nvSpPr>
          <p:cNvPr id="10" name="Operator 0"/>
          <p:cNvSpPr txBox="1"/>
          <p:nvPr/>
        </p:nvSpPr>
        <p:spPr>
          <a:xfrm>
            <a:off x="17373600" y="758952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NCCL · includes waiting</a:t>
            </a:r>
          </a:p>
        </p:txBody>
      </p:sp>
      <p:sp>
        <p:nvSpPr>
          <p:cNvPr id="11" name="Share 0"/>
          <p:cNvSpPr txBox="1"/>
          <p:nvPr/>
        </p:nvSpPr>
        <p:spPr>
          <a:xfrm>
            <a:off x="30175200" y="740664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76B900"/>
                </a:solidFill>
                <a:latin typeface="NVIDIA Sans Medium"/>
              </a:rPr>
              <a:t>57.21%</a:t>
            </a:r>
          </a:p>
        </p:txBody>
      </p:sp>
      <p:sp>
        <p:nvSpPr>
          <p:cNvPr id="12" name="Bar track 0"/>
          <p:cNvSpPr/>
          <p:nvPr/>
        </p:nvSpPr>
        <p:spPr>
          <a:xfrm>
            <a:off x="17373600" y="882396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r value 0"/>
          <p:cNvSpPr/>
          <p:nvPr/>
        </p:nvSpPr>
        <p:spPr>
          <a:xfrm>
            <a:off x="17373600" y="8823960"/>
            <a:ext cx="9940131" cy="14630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perator 1"/>
          <p:cNvSpPr txBox="1"/>
          <p:nvPr/>
        </p:nvSpPr>
        <p:spPr>
          <a:xfrm>
            <a:off x="17373600" y="992124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Attention</a:t>
            </a:r>
          </a:p>
        </p:txBody>
      </p:sp>
      <p:sp>
        <p:nvSpPr>
          <p:cNvPr id="15" name="Share 1"/>
          <p:cNvSpPr txBox="1"/>
          <p:nvPr/>
        </p:nvSpPr>
        <p:spPr>
          <a:xfrm>
            <a:off x="30175200" y="973836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22.06%</a:t>
            </a:r>
          </a:p>
        </p:txBody>
      </p:sp>
      <p:sp>
        <p:nvSpPr>
          <p:cNvPr id="16" name="Bar track 1"/>
          <p:cNvSpPr/>
          <p:nvPr/>
        </p:nvSpPr>
        <p:spPr>
          <a:xfrm>
            <a:off x="17373600" y="1115568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r value 1"/>
          <p:cNvSpPr/>
          <p:nvPr/>
        </p:nvSpPr>
        <p:spPr>
          <a:xfrm>
            <a:off x="17373600" y="11155680"/>
            <a:ext cx="383227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perator 2"/>
          <p:cNvSpPr txBox="1"/>
          <p:nvPr/>
        </p:nvSpPr>
        <p:spPr>
          <a:xfrm>
            <a:off x="17373600" y="1225296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GEMM</a:t>
            </a:r>
          </a:p>
        </p:txBody>
      </p:sp>
      <p:sp>
        <p:nvSpPr>
          <p:cNvPr id="19" name="Share 2"/>
          <p:cNvSpPr txBox="1"/>
          <p:nvPr/>
        </p:nvSpPr>
        <p:spPr>
          <a:xfrm>
            <a:off x="30175200" y="1207008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18.57%</a:t>
            </a:r>
          </a:p>
        </p:txBody>
      </p:sp>
      <p:sp>
        <p:nvSpPr>
          <p:cNvPr id="20" name="Bar track 2"/>
          <p:cNvSpPr/>
          <p:nvPr/>
        </p:nvSpPr>
        <p:spPr>
          <a:xfrm>
            <a:off x="17373600" y="1348740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r value 2"/>
          <p:cNvSpPr/>
          <p:nvPr/>
        </p:nvSpPr>
        <p:spPr>
          <a:xfrm>
            <a:off x="17373600" y="13487400"/>
            <a:ext cx="322570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perator 3"/>
          <p:cNvSpPr txBox="1"/>
          <p:nvPr/>
        </p:nvSpPr>
        <p:spPr>
          <a:xfrm>
            <a:off x="17373600" y="1458468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Other</a:t>
            </a:r>
          </a:p>
        </p:txBody>
      </p:sp>
      <p:sp>
        <p:nvSpPr>
          <p:cNvPr id="23" name="Share 3"/>
          <p:cNvSpPr txBox="1"/>
          <p:nvPr/>
        </p:nvSpPr>
        <p:spPr>
          <a:xfrm>
            <a:off x="30175200" y="1440180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2.16%</a:t>
            </a:r>
          </a:p>
        </p:txBody>
      </p:sp>
      <p:sp>
        <p:nvSpPr>
          <p:cNvPr id="24" name="Bar track 3"/>
          <p:cNvSpPr/>
          <p:nvPr/>
        </p:nvSpPr>
        <p:spPr>
          <a:xfrm>
            <a:off x="17373600" y="1581912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r value 3"/>
          <p:cNvSpPr/>
          <p:nvPr/>
        </p:nvSpPr>
        <p:spPr>
          <a:xfrm>
            <a:off x="17373600" y="15819120"/>
            <a:ext cx="375481"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ccounting note"/>
          <p:cNvSpPr txBox="1"/>
          <p:nvPr/>
        </p:nvSpPr>
        <p:spPr>
          <a:xfrm>
            <a:off x="1828800" y="18882360"/>
            <a:ext cx="32918400" cy="64008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GPU work includes overlap and waiting; these shares are not E2E wall-time components.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5</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r>
              <a:rPr sz="4000" b="0">
                <a:solidFill>
                  <a:srgbClr val="000000"/>
                </a:solidFill>
                <a:latin typeface="NVIDIA Sans Medium"/>
              </a:rPr>
              <a:t>Fewer evaluations reduce compute and communication together.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6</a:t>
            </a:r>
          </a:p>
        </p:txBody>
      </p:sp>
      <p:sp>
        <p:nvSpPr>
          <p:cNvPr id="3" name="Text Placeholder 2"/>
          <p:cNvSpPr>
            <a:spLocks noGrp="1"/>
          </p:cNvSpPr>
          <p:nvPr>
            <p:ph type="body" idx="13" sz="quarter"/>
          </p:nvPr>
        </p:nvSpPr>
        <p:spPr/>
        <p:txBody>
          <a:bodyPr/>
          <a:lstStyle/>
          <a:p>
            <a:r>
              <a:t>Do less attention work. Use lower precision where quality allows.</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Attend to selected regions</a:t>
            </a:r>
          </a:p>
        </p:txBody>
      </p:sp>
      <p:sp>
        <p:nvSpPr>
          <p:cNvPr id="7" name="Attention block 0-0"/>
          <p:cNvSpPr/>
          <p:nvPr/>
        </p:nvSpPr>
        <p:spPr>
          <a:xfrm>
            <a:off x="429768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ttention block 0-1"/>
          <p:cNvSpPr/>
          <p:nvPr/>
        </p:nvSpPr>
        <p:spPr>
          <a:xfrm>
            <a:off x="571500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ttention block 0-2"/>
          <p:cNvSpPr/>
          <p:nvPr/>
        </p:nvSpPr>
        <p:spPr>
          <a:xfrm>
            <a:off x="713232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ttention block 0-3"/>
          <p:cNvSpPr/>
          <p:nvPr/>
        </p:nvSpPr>
        <p:spPr>
          <a:xfrm>
            <a:off x="854964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ttention block 0-4"/>
          <p:cNvSpPr/>
          <p:nvPr/>
        </p:nvSpPr>
        <p:spPr>
          <a:xfrm>
            <a:off x="996696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ttention block 0-5"/>
          <p:cNvSpPr/>
          <p:nvPr/>
        </p:nvSpPr>
        <p:spPr>
          <a:xfrm>
            <a:off x="1138428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ttention block 1-0"/>
          <p:cNvSpPr/>
          <p:nvPr/>
        </p:nvSpPr>
        <p:spPr>
          <a:xfrm>
            <a:off x="429768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ttention block 1-1"/>
          <p:cNvSpPr/>
          <p:nvPr/>
        </p:nvSpPr>
        <p:spPr>
          <a:xfrm>
            <a:off x="571500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ttention block 1-2"/>
          <p:cNvSpPr/>
          <p:nvPr/>
        </p:nvSpPr>
        <p:spPr>
          <a:xfrm>
            <a:off x="713232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ttention block 1-3"/>
          <p:cNvSpPr/>
          <p:nvPr/>
        </p:nvSpPr>
        <p:spPr>
          <a:xfrm>
            <a:off x="854964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lock 1-4"/>
          <p:cNvSpPr/>
          <p:nvPr/>
        </p:nvSpPr>
        <p:spPr>
          <a:xfrm>
            <a:off x="996696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ttention block 1-5"/>
          <p:cNvSpPr/>
          <p:nvPr/>
        </p:nvSpPr>
        <p:spPr>
          <a:xfrm>
            <a:off x="1138428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ention block 2-0"/>
          <p:cNvSpPr/>
          <p:nvPr/>
        </p:nvSpPr>
        <p:spPr>
          <a:xfrm>
            <a:off x="429768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ention block 2-1"/>
          <p:cNvSpPr/>
          <p:nvPr/>
        </p:nvSpPr>
        <p:spPr>
          <a:xfrm>
            <a:off x="571500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ention block 2-2"/>
          <p:cNvSpPr/>
          <p:nvPr/>
        </p:nvSpPr>
        <p:spPr>
          <a:xfrm>
            <a:off x="713232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lock 2-3"/>
          <p:cNvSpPr/>
          <p:nvPr/>
        </p:nvSpPr>
        <p:spPr>
          <a:xfrm>
            <a:off x="854964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ention block 2-4"/>
          <p:cNvSpPr/>
          <p:nvPr/>
        </p:nvSpPr>
        <p:spPr>
          <a:xfrm>
            <a:off x="996696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ention block 2-5"/>
          <p:cNvSpPr/>
          <p:nvPr/>
        </p:nvSpPr>
        <p:spPr>
          <a:xfrm>
            <a:off x="1138428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ttention block 3-0"/>
          <p:cNvSpPr/>
          <p:nvPr/>
        </p:nvSpPr>
        <p:spPr>
          <a:xfrm>
            <a:off x="429768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ttention block 3-1"/>
          <p:cNvSpPr/>
          <p:nvPr/>
        </p:nvSpPr>
        <p:spPr>
          <a:xfrm>
            <a:off x="571500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lock 3-2"/>
          <p:cNvSpPr/>
          <p:nvPr/>
        </p:nvSpPr>
        <p:spPr>
          <a:xfrm>
            <a:off x="713232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ention block 3-3"/>
          <p:cNvSpPr/>
          <p:nvPr/>
        </p:nvSpPr>
        <p:spPr>
          <a:xfrm>
            <a:off x="854964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ention block 3-4"/>
          <p:cNvSpPr/>
          <p:nvPr/>
        </p:nvSpPr>
        <p:spPr>
          <a:xfrm>
            <a:off x="996696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ention block 3-5"/>
          <p:cNvSpPr/>
          <p:nvPr/>
        </p:nvSpPr>
        <p:spPr>
          <a:xfrm>
            <a:off x="1138428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ention block 4-0"/>
          <p:cNvSpPr/>
          <p:nvPr/>
        </p:nvSpPr>
        <p:spPr>
          <a:xfrm>
            <a:off x="42976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ention block 4-1"/>
          <p:cNvSpPr/>
          <p:nvPr/>
        </p:nvSpPr>
        <p:spPr>
          <a:xfrm>
            <a:off x="571500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ention block 4-2"/>
          <p:cNvSpPr/>
          <p:nvPr/>
        </p:nvSpPr>
        <p:spPr>
          <a:xfrm>
            <a:off x="713232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ention block 4-3"/>
          <p:cNvSpPr/>
          <p:nvPr/>
        </p:nvSpPr>
        <p:spPr>
          <a:xfrm>
            <a:off x="854964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ention block 4-4"/>
          <p:cNvSpPr/>
          <p:nvPr/>
        </p:nvSpPr>
        <p:spPr>
          <a:xfrm>
            <a:off x="996696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ttention block 4-5"/>
          <p:cNvSpPr/>
          <p:nvPr/>
        </p:nvSpPr>
        <p:spPr>
          <a:xfrm>
            <a:off x="113842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ttention block 5-0"/>
          <p:cNvSpPr/>
          <p:nvPr/>
        </p:nvSpPr>
        <p:spPr>
          <a:xfrm>
            <a:off x="429768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ttention block 5-1"/>
          <p:cNvSpPr/>
          <p:nvPr/>
        </p:nvSpPr>
        <p:spPr>
          <a:xfrm>
            <a:off x="571500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ention block 5-2"/>
          <p:cNvSpPr/>
          <p:nvPr/>
        </p:nvSpPr>
        <p:spPr>
          <a:xfrm>
            <a:off x="713232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ttention block 5-3"/>
          <p:cNvSpPr/>
          <p:nvPr/>
        </p:nvSpPr>
        <p:spPr>
          <a:xfrm>
            <a:off x="854964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ention block 5-4"/>
          <p:cNvSpPr/>
          <p:nvPr/>
        </p:nvSpPr>
        <p:spPr>
          <a:xfrm>
            <a:off x="996696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ttention block 5-5"/>
          <p:cNvSpPr/>
          <p:nvPr/>
        </p:nvSpPr>
        <p:spPr>
          <a:xfrm>
            <a:off x="1138428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SA diagram scope"/>
          <p:cNvSpPr txBox="1"/>
          <p:nvPr/>
        </p:nvSpPr>
        <p:spPr>
          <a:xfrm>
            <a:off x="1828800" y="1463040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Lower precision with QAD</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7</a:t>
            </a:r>
          </a:p>
        </p:txBody>
      </p:sp>
      <p:sp>
        <p:nvSpPr>
          <p:cNvPr id="3" name="Text Placeholder 2"/>
          <p:cNvSpPr>
            <a:spLocks noGrp="1"/>
          </p:cNvSpPr>
          <p:nvPr>
            <p:ph type="body" idx="13" sz="quarter"/>
          </p:nvPr>
        </p:nvSpPr>
        <p:spPr/>
        <p:txBody>
          <a:bodyPr/>
          <a:lstStyle/>
          <a:p>
            <a:r>
              <a:t>Map GPU–NIC affinity before tuning the collective.</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8</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GPU-affine NICs and RDMA.</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Transfer the next head band while attention runs.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direct layouts and replay stable compute.</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Conceptual head-band schedule</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r>
              <a:rPr sz="3100" b="0">
                <a:solidFill>
                  <a:srgbClr val="313131"/>
                </a:solidFill>
                <a:latin typeface="NVIDIA Sans"/>
              </a:rPr>
              <a:t>Grouped E2E: 19.46 s → 6.19 s</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r>
              <a:rPr sz="4000" b="0">
                <a:solidFill>
                  <a:srgbClr val="000000"/>
                </a:solidFill>
                <a:latin typeface="NVIDIA Sans Medium"/>
              </a:rPr>
              <a:t>Route efficiently. Overlap work. Reduce movement.</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9</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Overall speedup"/>
          <p:cNvSpPr txBox="1"/>
          <p:nvPr/>
        </p:nvSpPr>
        <p:spPr>
          <a:xfrm>
            <a:off x="1828800" y="5760720"/>
            <a:ext cx="32918400" cy="3200400"/>
          </a:xfrm>
          <a:prstGeom prst="rect">
            <a:avLst/>
          </a:prstGeom>
          <a:noFill/>
        </p:spPr>
        <p:txBody>
          <a:bodyPr wrap="square" lIns="0" rIns="0" tIns="0" bIns="0">
            <a:spAutoFit/>
          </a:bodyPr>
          <a:lstStyle/>
          <a:p>
            <a:pPr algn="ctr">
              <a:spcBef>
                <a:spcPts val="0"/>
              </a:spcBef>
              <a:spcAft>
                <a:spcPts val="0"/>
              </a:spcAft>
            </a:pPr>
            <a:r>
              <a:rPr sz="18200" b="0">
                <a:solidFill>
                  <a:srgbClr val="76B900"/>
                </a:solidFill>
                <a:latin typeface="NVIDIA Sans Medium"/>
              </a:rPr>
              <a:t>43.4× faster</a:t>
            </a:r>
          </a:p>
        </p:txBody>
      </p:sp>
      <p:sp>
        <p:nvSpPr>
          <p:cNvPr id="6" name="Baseline latency"/>
          <p:cNvSpPr txBox="1"/>
          <p:nvPr/>
        </p:nvSpPr>
        <p:spPr>
          <a:xfrm>
            <a:off x="2743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313131"/>
                </a:solidFill>
                <a:latin typeface="NVIDIA Sans Medium"/>
              </a:rPr>
              <a:t>213.40 s</a:t>
            </a:r>
          </a:p>
        </p:txBody>
      </p:sp>
      <p:sp>
        <p:nvSpPr>
          <p:cNvPr id="7" name="Final transition"/>
          <p:cNvSpPr/>
          <p:nvPr/>
        </p:nvSpPr>
        <p:spPr>
          <a:xfrm>
            <a:off x="16459200" y="11521440"/>
            <a:ext cx="36576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inal latency"/>
          <p:cNvSpPr txBox="1"/>
          <p:nvPr/>
        </p:nvSpPr>
        <p:spPr>
          <a:xfrm>
            <a:off x="21031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76B900"/>
                </a:solidFill>
                <a:latin typeface="NVIDIA Sans Medium"/>
              </a:rPr>
              <a:t>4.92 s</a:t>
            </a:r>
          </a:p>
        </p:txBody>
      </p:sp>
      <p:sp>
        <p:nvSpPr>
          <p:cNvPr id="9" name="Baseline description"/>
          <p:cNvSpPr txBox="1"/>
          <p:nvPr/>
        </p:nvSpPr>
        <p:spPr>
          <a:xfrm>
            <a:off x="1828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baseline · 50 evaluations</a:t>
            </a:r>
          </a:p>
        </p:txBody>
      </p:sp>
      <p:sp>
        <p:nvSpPr>
          <p:cNvPr id="10" name="Final description"/>
          <p:cNvSpPr txBox="1"/>
          <p:nvPr/>
        </p:nvSpPr>
        <p:spPr>
          <a:xfrm>
            <a:off x="20116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Optimized H3 · 8 evaluations</a:t>
            </a:r>
          </a:p>
        </p:txBody>
      </p:sp>
      <p:sp>
        <p:nvSpPr>
          <p:cNvPr id="11" name="Real-time result"/>
          <p:cNvSpPr txBox="1"/>
          <p:nvPr/>
        </p:nvSpPr>
        <p:spPr>
          <a:xfrm>
            <a:off x="1828800" y="15910559"/>
            <a:ext cx="32918400" cy="1280160"/>
          </a:xfrm>
          <a:prstGeom prst="rect">
            <a:avLst/>
          </a:prstGeom>
          <a:noFill/>
        </p:spPr>
        <p:txBody>
          <a:bodyPr wrap="square" lIns="0" rIns="0" tIns="0" bIns="0">
            <a:spAutoFit/>
          </a:bodyPr>
          <a:lstStyle/>
          <a:p>
            <a:pPr algn="ctr">
              <a:spcBef>
                <a:spcPts val="0"/>
              </a:spcBef>
              <a:spcAft>
                <a:spcPts val="0"/>
              </a:spcAft>
            </a:pPr>
            <a:r>
              <a:rPr sz="5200" b="0">
                <a:solidFill>
                  <a:srgbClr val="313131"/>
                </a:solidFill>
                <a:latin typeface="NVIDIA Sans Medium"/>
              </a:rPr>
              <a:t>5.17 s of video generated in 4.92 s  ·  RTF 0.95</a:t>
            </a:r>
          </a:p>
        </p:txBody>
      </p:sp>
      <p:sp>
        <p:nvSpPr>
          <p:cNvPr id="12" name="Result scope"/>
          <p:cNvSpPr txBox="1"/>
          <p:nvPr/>
        </p:nvSpPr>
        <p:spPr>
          <a:xfrm>
            <a:off x="1828800" y="18790920"/>
            <a:ext cx="32918400" cy="68580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Recorded E2E medians; baseline measured separately. Includes model, schedule and precision changes. Standalone H3.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10</a:t>
            </a:r>
          </a:p>
        </p:txBody>
      </p:sp>
      <p:sp>
        <p:nvSpPr>
          <p:cNvPr id="3" name="Text Placeholder 2"/>
          <p:cNvSpPr>
            <a:spLocks noGrp="1"/>
          </p:cNvSpPr>
          <p:nvPr>
            <p:ph type="body" idx="13" sz="quarter"/>
          </p:nvPr>
        </p:nvSpPr>
        <p:spPr/>
        <p:txBody>
          <a:bodyPr/>
          <a:lstStyle/>
          <a:p>
            <a:r>
              <a:t>Voice → text → prompt → audio + video</a:t>
            </a:r>
          </a:p>
        </p:txBody>
      </p:sp>
      <p:sp>
        <p:nvSpPr>
          <p:cNvPr id="4" name="Title 3"/>
          <p:cNvSpPr>
            <a:spLocks noGrp="1"/>
          </p:cNvSpPr>
          <p:nvPr>
            <p:ph type="title"/>
          </p:nvPr>
        </p:nvSpPr>
        <p:spPr/>
        <p:txBody>
          <a:bodyPr/>
          <a:lstStyle/>
          <a:p>
            <a:r>
              <a:t>From a Question to a Reply</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Qwen3-ASR</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0.6B · 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Qwen3-4B</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4"/>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5"/>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r>
              <a:rPr sz="2400" b="0">
                <a:solidFill>
                  <a:srgbClr val="76B900"/>
                </a:solidFill>
                <a:latin typeface="NVIDIA Sans Medium"/>
              </a:rPr>
              <a:t>PROMPT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r>
              <a:rPr sz="3000" b="0">
                <a:solidFill>
                  <a:srgbClr val="313131"/>
                </a:solidFill>
                <a:latin typeface="NVIDIA Sans"/>
              </a:rPr>
              <a:t>960 × 544 · ~5 s windows · 8 steps · 8 × RTX PRO 5000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r>
              <a:rPr sz="7000" b="1">
                <a:solidFill>
                  <a:srgbClr val="000000"/>
                </a:solidFill>
                <a:latin typeface="NVIDIA Sans"/>
              </a:rPr>
              <a:t>Live Demo</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A continuous avatar conversation.</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11</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r>
              <a:rPr sz="3000" b="0">
                <a:solidFill>
                  <a:srgbClr val="000000"/>
                </a:solidFill>
                <a:latin typeface="NVIDIA Sans"/>
              </a:rPr>
              <a:t>960 × 544 · ~5 s windows · 8 steps · 8 × RTX PRO 5000</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12</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rPr sz="8800"/>
              <a:t>Takeaways</a:t>
            </a:r>
          </a:p>
        </p:txBody>
      </p:sp>
      <p:sp>
        <p:nvSpPr>
          <p:cNvPr id="5" name="Takeaway number 1"/>
          <p:cNvSpPr txBox="1"/>
          <p:nvPr/>
        </p:nvSpPr>
        <p:spPr>
          <a:xfrm>
            <a:off x="1828800" y="548640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01</a:t>
            </a:r>
          </a:p>
        </p:txBody>
      </p:sp>
      <p:sp>
        <p:nvSpPr>
          <p:cNvPr id="6" name="Takeaway title 1"/>
          <p:cNvSpPr txBox="1"/>
          <p:nvPr/>
        </p:nvSpPr>
        <p:spPr>
          <a:xfrm>
            <a:off x="4572000" y="548640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Optimize the communication path.</a:t>
            </a:r>
          </a:p>
        </p:txBody>
      </p:sp>
      <p:sp>
        <p:nvSpPr>
          <p:cNvPr id="7" name="Takeaway body 1"/>
          <p:cNvSpPr txBox="1"/>
          <p:nvPr/>
        </p:nvSpPr>
        <p:spPr>
          <a:xfrm>
            <a:off x="4572000" y="699516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Topology, bandwidth and less data movement.</a:t>
            </a:r>
          </a:p>
        </p:txBody>
      </p:sp>
      <p:sp>
        <p:nvSpPr>
          <p:cNvPr id="8" name="Takeaway number 2"/>
          <p:cNvSpPr txBox="1"/>
          <p:nvPr/>
        </p:nvSpPr>
        <p:spPr>
          <a:xfrm>
            <a:off x="1828800" y="978408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02</a:t>
            </a:r>
          </a:p>
        </p:txBody>
      </p:sp>
      <p:sp>
        <p:nvSpPr>
          <p:cNvPr id="9" name="Takeaway title 2"/>
          <p:cNvSpPr txBox="1"/>
          <p:nvPr/>
        </p:nvSpPr>
        <p:spPr>
          <a:xfrm>
            <a:off x="4572000" y="978408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Validate quantization case by case.</a:t>
            </a:r>
          </a:p>
        </p:txBody>
      </p:sp>
      <p:sp>
        <p:nvSpPr>
          <p:cNvPr id="10" name="Takeaway body 2"/>
          <p:cNvSpPr txBox="1"/>
          <p:nvPr/>
        </p:nvSpPr>
        <p:spPr>
          <a:xfrm>
            <a:off x="4572000" y="1129284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Measure quality and latency together.</a:t>
            </a:r>
          </a:p>
        </p:txBody>
      </p:sp>
      <p:sp>
        <p:nvSpPr>
          <p:cNvPr id="11" name="Takeaway number 3"/>
          <p:cNvSpPr txBox="1"/>
          <p:nvPr/>
        </p:nvSpPr>
        <p:spPr>
          <a:xfrm>
            <a:off x="1828800" y="1408176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03</a:t>
            </a:r>
          </a:p>
        </p:txBody>
      </p:sp>
      <p:sp>
        <p:nvSpPr>
          <p:cNvPr id="12" name="Takeaway title 3"/>
          <p:cNvSpPr txBox="1"/>
          <p:nvPr/>
        </p:nvSpPr>
        <p:spPr>
          <a:xfrm>
            <a:off x="4572000" y="1408176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Next: responsive, richer interaction.</a:t>
            </a:r>
          </a:p>
        </p:txBody>
      </p:sp>
      <p:sp>
        <p:nvSpPr>
          <p:cNvPr id="13" name="Takeaway body 3"/>
          <p:cNvSpPr txBox="1"/>
          <p:nvPr/>
        </p:nvSpPr>
        <p:spPr>
          <a:xfrm>
            <a:off x="4572000" y="1559052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Autoregressive diffusion + prompt enhancement.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13</a:t>
            </a:r>
          </a:p>
        </p:txBody>
      </p:sp>
      <p:sp>
        <p:nvSpPr>
          <p:cNvPr id="3" name="Text Placeholder 2"/>
          <p:cNvSpPr>
            <a:spLocks noGrp="1"/>
          </p:cNvSpPr>
          <p:nvPr>
            <p:ph type="body" idx="13" sz="quarter"/>
          </p:nvPr>
        </p:nvSpPr>
        <p:spPr/>
        <p:txBody>
          <a:bodyPr/>
          <a:lstStyle/>
          <a:p>
            <a:r>
              <a:t>Visual workflows, powered by a local or remote model service.</a:t>
            </a:r>
          </a:p>
        </p:txBody>
      </p:sp>
      <p:sp>
        <p:nvSpPr>
          <p:cNvPr id="4" name="Title 3"/>
          <p:cNvSpPr>
            <a:spLocks noGrp="1"/>
          </p:cNvSpPr>
          <p:nvPr>
            <p:ph type="title"/>
          </p:nvPr>
        </p:nvSpPr>
        <p:spPr/>
        <p:txBody>
          <a:bodyPr/>
          <a:lstStyle/>
          <a:p>
            <a:r>
              <a:rPr sz="8800"/>
              <a:t>vLLM-Omni for Creators — ComfyUI</a:t>
            </a:r>
          </a:p>
        </p:txBody>
      </p:sp>
      <p:pic>
        <p:nvPicPr>
          <p:cNvPr id="5" name="Official ComfyUI video workflow screenshot" descr="comfyui-video-generation.jpg"/>
          <p:cNvPicPr>
            <a:picLocks noChangeAspect="1"/>
          </p:cNvPicPr>
          <p:nvPr/>
        </p:nvPicPr>
        <p:blipFill>
          <a:blip r:embed="rId2"/>
          <a:stretch>
            <a:fillRect/>
          </a:stretch>
        </p:blipFill>
        <p:spPr>
          <a:xfrm>
            <a:off x="1828800" y="5303520"/>
            <a:ext cx="16966346" cy="12618720"/>
          </a:xfrm>
          <a:prstGeom prst="rect">
            <a:avLst/>
          </a:prstGeom>
        </p:spPr>
      </p:pic>
      <p:sp>
        <p:nvSpPr>
          <p:cNvPr id="6" name="Comfy availability"/>
          <p:cNvSpPr txBox="1"/>
          <p:nvPr/>
        </p:nvSpPr>
        <p:spPr>
          <a:xfrm>
            <a:off x="21031200" y="5669280"/>
            <a:ext cx="13716000" cy="731520"/>
          </a:xfrm>
          <a:prstGeom prst="rect">
            <a:avLst/>
          </a:prstGeom>
          <a:noFill/>
        </p:spPr>
        <p:txBody>
          <a:bodyPr wrap="square" lIns="0" rIns="0" tIns="0" bIns="0">
            <a:spAutoFit/>
          </a:bodyPr>
          <a:lstStyle/>
          <a:p>
            <a:pPr>
              <a:spcBef>
                <a:spcPts val="0"/>
              </a:spcBef>
              <a:spcAft>
                <a:spcPts val="0"/>
              </a:spcAft>
            </a:pPr>
            <a:r>
              <a:rPr sz="3200" b="0">
                <a:solidFill>
                  <a:srgbClr val="76B900"/>
                </a:solidFill>
                <a:latin typeface="NVIDIA Sans Medium"/>
              </a:rPr>
              <a:t>AVAILABLE ON MAIN</a:t>
            </a:r>
          </a:p>
        </p:txBody>
      </p:sp>
      <p:sp>
        <p:nvSpPr>
          <p:cNvPr id="7" name="Comfy capability 0"/>
          <p:cNvSpPr txBox="1"/>
          <p:nvPr/>
        </p:nvSpPr>
        <p:spPr>
          <a:xfrm>
            <a:off x="21031200" y="7498079"/>
            <a:ext cx="13716000" cy="105156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Compose visually</a:t>
            </a:r>
          </a:p>
        </p:txBody>
      </p:sp>
      <p:sp>
        <p:nvSpPr>
          <p:cNvPr id="8" name="Comfy explanation 0"/>
          <p:cNvSpPr txBox="1"/>
          <p:nvPr/>
        </p:nvSpPr>
        <p:spPr>
          <a:xfrm>
            <a:off x="21031200" y="8778240"/>
            <a:ext cx="13716000" cy="12344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Image, video and audio workflows.</a:t>
            </a:r>
          </a:p>
        </p:txBody>
      </p:sp>
      <p:sp>
        <p:nvSpPr>
          <p:cNvPr id="9" name="Comfy capability 1"/>
          <p:cNvSpPr txBox="1"/>
          <p:nvPr/>
        </p:nvSpPr>
        <p:spPr>
          <a:xfrm>
            <a:off x="21031200" y="10607040"/>
            <a:ext cx="13716000" cy="105156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Serve separately</a:t>
            </a:r>
          </a:p>
        </p:txBody>
      </p:sp>
      <p:sp>
        <p:nvSpPr>
          <p:cNvPr id="10" name="Comfy explanation 1"/>
          <p:cNvSpPr txBox="1"/>
          <p:nvPr/>
        </p:nvSpPr>
        <p:spPr>
          <a:xfrm>
            <a:off x="21031200" y="11887200"/>
            <a:ext cx="13716000" cy="12344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Models run in vLLM-Omni.</a:t>
            </a:r>
          </a:p>
        </p:txBody>
      </p:sp>
      <p:sp>
        <p:nvSpPr>
          <p:cNvPr id="11" name="Comfy capability 2"/>
          <p:cNvSpPr txBox="1"/>
          <p:nvPr/>
        </p:nvSpPr>
        <p:spPr>
          <a:xfrm>
            <a:off x="21031200" y="13716000"/>
            <a:ext cx="13716000" cy="105156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Bring H3 into the graph</a:t>
            </a:r>
          </a:p>
        </p:txBody>
      </p:sp>
      <p:sp>
        <p:nvSpPr>
          <p:cNvPr id="12" name="Comfy explanation 2"/>
          <p:cNvSpPr txBox="1"/>
          <p:nvPr/>
        </p:nvSpPr>
        <p:spPr>
          <a:xfrm>
            <a:off x="21031200" y="14996159"/>
            <a:ext cx="13716000" cy="12344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Text, keyframes or reference media.</a:t>
            </a:r>
          </a:p>
        </p:txBody>
      </p:sp>
      <p:sp>
        <p:nvSpPr>
          <p:cNvPr id="13" name="Comfy takeaway"/>
          <p:cNvSpPr txBox="1"/>
          <p:nvPr/>
        </p:nvSpPr>
        <p:spPr>
          <a:xfrm>
            <a:off x="1828800" y="18059400"/>
            <a:ext cx="32918400" cy="100584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Compose in ComfyUI. Run models in vLLM-Omni.</a:t>
            </a:r>
          </a:p>
        </p:txBody>
      </p:sp>
      <p:sp>
        <p:nvSpPr>
          <p:cNvPr id="14" name="Comfy source"/>
          <p:cNvSpPr txBox="1"/>
          <p:nvPr/>
        </p:nvSpPr>
        <p:spPr>
          <a:xfrm>
            <a:off x="1828800" y="19202400"/>
            <a:ext cx="32918400" cy="502920"/>
          </a:xfrm>
          <a:prstGeom prst="rect">
            <a:avLst/>
          </a:prstGeom>
          <a:noFill/>
        </p:spPr>
        <p:txBody>
          <a:bodyPr wrap="square" lIns="0" rIns="0" tIns="0" bIns="0">
            <a:spAutoFit/>
          </a:bodyPr>
          <a:lstStyle/>
          <a:p>
            <a:pPr>
              <a:spcBef>
                <a:spcPts val="0"/>
              </a:spcBef>
              <a:spcAft>
                <a:spcPts val="0"/>
              </a:spcAft>
            </a:pPr>
            <a:r>
              <a:rPr sz="2300" b="0">
                <a:solidFill>
                  <a:srgbClr val="313131"/>
                </a:solidFill>
                <a:latin typeface="NVIDIA Sans"/>
              </a:rPr>
              <a:t>Official UI example, not benchmark settings. Upstream main verified 30 Oct 2026 · 08177216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14</a:t>
            </a:r>
          </a:p>
        </p:txBody>
      </p:sp>
      <p:sp>
        <p:nvSpPr>
          <p:cNvPr id="3" name="Text Placeholder 2"/>
          <p:cNvSpPr>
            <a:spLocks noGrp="1"/>
          </p:cNvSpPr>
          <p:nvPr>
            <p:ph type="body" idx="13" sz="quarter"/>
          </p:nvPr>
        </p:nvSpPr>
        <p:spPr/>
        <p:txBody>
          <a:bodyPr/>
          <a:lstStyle/>
          <a:p>
            <a:r>
              <a:t>Planned open-source release</a:t>
            </a:r>
          </a:p>
        </p:txBody>
      </p:sp>
      <p:sp>
        <p:nvSpPr>
          <p:cNvPr id="4" name="Title 3"/>
          <p:cNvSpPr>
            <a:spLocks noGrp="1"/>
          </p:cNvSpPr>
          <p:nvPr>
            <p:ph type="title"/>
          </p:nvPr>
        </p:nvSpPr>
        <p:spPr/>
        <p:txBody>
          <a:bodyPr/>
          <a:lstStyle/>
          <a:p>
            <a:r>
              <a:rPr sz="8800"/>
              <a:t>vLLM-Omni for Creators — Video Studio</a:t>
            </a:r>
          </a:p>
        </p:txBody>
      </p:sp>
      <p:sp>
        <p:nvSpPr>
          <p:cNvPr id="5" name="Studio purpose"/>
          <p:cNvSpPr txBox="1"/>
          <p:nvPr/>
        </p:nvSpPr>
        <p:spPr>
          <a:xfrm>
            <a:off x="1828800" y="5486400"/>
            <a:ext cx="32918400" cy="128016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A developer tool for video generation and editing.</a:t>
            </a:r>
          </a:p>
        </p:txBody>
      </p:sp>
      <p:sp>
        <p:nvSpPr>
          <p:cNvPr id="6" name="Studio stage 0"/>
          <p:cNvSpPr/>
          <p:nvPr/>
        </p:nvSpPr>
        <p:spPr>
          <a:xfrm>
            <a:off x="18288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udio stage label 0"/>
          <p:cNvSpPr txBox="1"/>
          <p:nvPr/>
        </p:nvSpPr>
        <p:spPr>
          <a:xfrm>
            <a:off x="20116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Prompt + assets</a:t>
            </a:r>
          </a:p>
        </p:txBody>
      </p:sp>
      <p:sp>
        <p:nvSpPr>
          <p:cNvPr id="8" name="Studio flow 0"/>
          <p:cNvSpPr/>
          <p:nvPr/>
        </p:nvSpPr>
        <p:spPr>
          <a:xfrm>
            <a:off x="90068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udio stage 1"/>
          <p:cNvSpPr/>
          <p:nvPr/>
        </p:nvSpPr>
        <p:spPr>
          <a:xfrm>
            <a:off x="105156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udio stage label 1"/>
          <p:cNvSpPr txBox="1"/>
          <p:nvPr/>
        </p:nvSpPr>
        <p:spPr>
          <a:xfrm>
            <a:off x="106984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Generate clips</a:t>
            </a:r>
          </a:p>
        </p:txBody>
      </p:sp>
      <p:sp>
        <p:nvSpPr>
          <p:cNvPr id="11" name="Studio flow 1"/>
          <p:cNvSpPr/>
          <p:nvPr/>
        </p:nvSpPr>
        <p:spPr>
          <a:xfrm>
            <a:off x="176936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udio stage 2"/>
          <p:cNvSpPr/>
          <p:nvPr/>
        </p:nvSpPr>
        <p:spPr>
          <a:xfrm>
            <a:off x="192024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udio stage label 2"/>
          <p:cNvSpPr txBox="1"/>
          <p:nvPr/>
        </p:nvSpPr>
        <p:spPr>
          <a:xfrm>
            <a:off x="193852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Edit + assemble</a:t>
            </a:r>
          </a:p>
        </p:txBody>
      </p:sp>
      <p:sp>
        <p:nvSpPr>
          <p:cNvPr id="14" name="Studio flow 2"/>
          <p:cNvSpPr/>
          <p:nvPr/>
        </p:nvSpPr>
        <p:spPr>
          <a:xfrm>
            <a:off x="263804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udio stage 3"/>
          <p:cNvSpPr/>
          <p:nvPr/>
        </p:nvSpPr>
        <p:spPr>
          <a:xfrm>
            <a:off x="278892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udio stage label 3"/>
          <p:cNvSpPr txBox="1"/>
          <p:nvPr/>
        </p:nvSpPr>
        <p:spPr>
          <a:xfrm>
            <a:off x="280720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Export video</a:t>
            </a:r>
          </a:p>
        </p:txBody>
      </p:sp>
      <p:cxnSp>
        <p:nvCxnSpPr>
          <p:cNvPr id="17" name="Planned backend connector"/>
          <p:cNvCxnSpPr/>
          <p:nvPr/>
        </p:nvCxnSpPr>
        <p:spPr>
          <a:xfrm>
            <a:off x="13944600" y="10607040"/>
            <a:ext cx="0" cy="26060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18" name="Backend interface"/>
          <p:cNvSpPr txBox="1"/>
          <p:nvPr/>
        </p:nvSpPr>
        <p:spPr>
          <a:xfrm>
            <a:off x="14630400" y="11612880"/>
            <a:ext cx="11887200" cy="82296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Model-serving API</a:t>
            </a:r>
          </a:p>
        </p:txBody>
      </p:sp>
      <p:sp>
        <p:nvSpPr>
          <p:cNvPr id="19" name="Omni backend"/>
          <p:cNvSpPr/>
          <p:nvPr/>
        </p:nvSpPr>
        <p:spPr>
          <a:xfrm>
            <a:off x="8229600" y="13213080"/>
            <a:ext cx="18288000" cy="2788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mni backend label"/>
          <p:cNvSpPr txBox="1"/>
          <p:nvPr/>
        </p:nvSpPr>
        <p:spPr>
          <a:xfrm>
            <a:off x="8503920" y="13670280"/>
            <a:ext cx="17739360" cy="1005840"/>
          </a:xfrm>
          <a:prstGeom prst="rect">
            <a:avLst/>
          </a:prstGeom>
          <a:noFill/>
        </p:spPr>
        <p:txBody>
          <a:bodyPr wrap="square" lIns="0" rIns="0" tIns="0" bIns="0">
            <a:spAutoFit/>
          </a:bodyPr>
          <a:lstStyle/>
          <a:p>
            <a:pPr algn="ctr">
              <a:spcBef>
                <a:spcPts val="0"/>
              </a:spcBef>
              <a:spcAft>
                <a:spcPts val="0"/>
              </a:spcAft>
            </a:pPr>
            <a:r>
              <a:rPr sz="5200" b="0">
                <a:solidFill>
                  <a:srgbClr val="76B900"/>
                </a:solidFill>
                <a:latin typeface="NVIDIA Sans Medium"/>
              </a:rPr>
              <a:t>vLLM-Omni</a:t>
            </a:r>
          </a:p>
        </p:txBody>
      </p:sp>
      <p:sp>
        <p:nvSpPr>
          <p:cNvPr id="21" name="Omni backend scope"/>
          <p:cNvSpPr txBox="1"/>
          <p:nvPr/>
        </p:nvSpPr>
        <p:spPr>
          <a:xfrm>
            <a:off x="8503920" y="14950440"/>
            <a:ext cx="17739360" cy="640080"/>
          </a:xfrm>
          <a:prstGeom prst="rect">
            <a:avLst/>
          </a:prstGeom>
          <a:noFill/>
        </p:spPr>
        <p:txBody>
          <a:bodyPr wrap="square" lIns="0" rIns="0" tIns="0" bIns="0">
            <a:spAutoFit/>
          </a:bodyPr>
          <a:lstStyle/>
          <a:p>
            <a:pPr algn="ctr">
              <a:spcBef>
                <a:spcPts val="0"/>
              </a:spcBef>
              <a:spcAft>
                <a:spcPts val="0"/>
              </a:spcAft>
            </a:pPr>
            <a:r>
              <a:rPr sz="2900" b="0">
                <a:solidFill>
                  <a:srgbClr val="313131"/>
                </a:solidFill>
                <a:latin typeface="NVIDIA Sans"/>
              </a:rPr>
              <a:t>Compatible models served by vLLM-Omni</a:t>
            </a:r>
          </a:p>
        </p:txBody>
      </p:sp>
      <p:sp>
        <p:nvSpPr>
          <p:cNvPr id="22" name="Studio takeaway"/>
          <p:cNvSpPr txBox="1"/>
          <p:nvPr/>
        </p:nvSpPr>
        <p:spPr>
          <a:xfrm>
            <a:off x="1828800" y="17830800"/>
            <a:ext cx="32918400" cy="109728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One workflow, from generated clips to an edited video.</a:t>
            </a:r>
          </a:p>
        </p:txBody>
      </p:sp>
      <p:sp>
        <p:nvSpPr>
          <p:cNvPr id="23" name="Studio status"/>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Video Studio is a working title. Diagram shows the planned workflow and backend integration.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official public vLLM-Omni closing slide" descr="vllm-omni-official-closing.png"/>
          <p:cNvPicPr>
            <a:picLocks noChangeAspect="1"/>
          </p:cNvPicPr>
          <p:nvPr/>
        </p:nvPicPr>
        <p:blipFill>
          <a:blip r:embed="rId2"/>
          <a:stretch>
            <a:fillRect/>
          </a:stretch>
        </p:blipFill>
        <p:spPr>
          <a:xfrm>
            <a:off x="0" y="0"/>
            <a:ext cx="36576000" cy="20574000"/>
          </a:xfrm>
          <a:prstGeom prst="rect">
            <a:avLst/>
          </a:prstGeom>
        </p:spPr>
      </p:pic>
      <p:sp>
        <p:nvSpPr>
          <p:cNvPr id="3" name="GitHub original hyperlink">
            <a:hlinkClick r:id="rId3"/>
          </p:cNvPr>
          <p:cNvSpPr/>
          <p:nvPr/>
        </p:nvSpPr>
        <p:spPr>
          <a:xfrm>
            <a:off x="5074920" y="4315968"/>
            <a:ext cx="20080224" cy="394106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nnouncement original hyperlink">
            <a:hlinkClick r:id="rId4"/>
          </p:cNvPr>
          <p:cNvSpPr/>
          <p:nvPr/>
        </p:nvSpPr>
        <p:spPr>
          <a:xfrm>
            <a:off x="5074920" y="9006840"/>
            <a:ext cx="19677888" cy="394106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eveloper Slack original hyperlink">
            <a:hlinkClick r:id="rId5"/>
          </p:cNvPr>
          <p:cNvSpPr/>
          <p:nvPr/>
        </p:nvSpPr>
        <p:spPr>
          <a:xfrm>
            <a:off x="5486400" y="13688568"/>
            <a:ext cx="21113496" cy="4800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Generate about five seconds of audio and video within the same time budget.</a:t>
            </a:r>
          </a:p>
        </p:txBody>
      </p:sp>
      <p:sp>
        <p:nvSpPr>
          <p:cNvPr id="3" name="Title 2"/>
          <p:cNvSpPr>
            <a:spLocks noGrp="1"/>
          </p:cNvSpPr>
          <p:nvPr>
            <p:ph type="title"/>
          </p:nvPr>
        </p:nvSpPr>
        <p:spPr/>
        <p:txBody>
          <a:bodyPr/>
          <a:lstStyle/>
          <a:p>
            <a:r>
              <a:t>Real Time Is an End-to-End Budget</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The backbone is only part of the budget. Encoding, communication and audio–video output all contribute to latency.</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18</a:t>
            </a:fld>
            <a:endParaRPr lang="en-US"/>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19</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32918400" cy="11338560"/>
        </p:xfrm>
        <a:graphic>
          <a:graphicData uri="http://schemas.openxmlformats.org/drawingml/2006/table">
            <a:tbl>
              <a:tblPr firstRow="1" bandRow="1">
                <a:tableStyleId>{5C22544A-7EE6-4342-B048-85BDC9FD1C3A}</a:tableStyleId>
              </a:tblPr>
              <a:tblGrid>
                <a:gridCol w="9144000"/>
                <a:gridCol w="2926080"/>
                <a:gridCol w="6400800"/>
                <a:gridCol w="4023360"/>
                <a:gridCol w="10424160"/>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3291840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20</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28620720" cy="11338560"/>
        </p:xfrm>
        <a:graphic>
          <a:graphicData uri="http://schemas.openxmlformats.org/drawingml/2006/table">
            <a:tbl>
              <a:tblPr firstRow="1" bandRow="1">
                <a:tableStyleId>{5C22544A-7EE6-4342-B048-85BDC9FD1C3A}</a:tableStyleId>
              </a:tblPr>
              <a:tblGrid>
                <a:gridCol w="7950200"/>
                <a:gridCol w="2544064"/>
                <a:gridCol w="5565140"/>
                <a:gridCol w="3498088"/>
                <a:gridCol w="9063228"/>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2862072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 5000 selection frame"/>
          <p:cNvSpPr/>
          <p:nvPr/>
        </p:nvSpPr>
        <p:spPr>
          <a:xfrm>
            <a:off x="1737360" y="6958584"/>
            <a:ext cx="28803600" cy="2551176"/>
          </a:xfrm>
          <a:prstGeom prst="rect">
            <a:avLst/>
          </a:prstGeom>
          <a:noFill/>
          <a:ln w="635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ight GPU emphasis"/>
          <p:cNvSpPr txBox="1"/>
          <p:nvPr/>
        </p:nvSpPr>
        <p:spPr>
          <a:xfrm>
            <a:off x="30952440" y="7360920"/>
            <a:ext cx="3749039" cy="1965960"/>
          </a:xfrm>
          <a:prstGeom prst="rect">
            <a:avLst/>
          </a:prstGeom>
          <a:noFill/>
        </p:spPr>
        <p:txBody>
          <a:bodyPr wrap="square" lIns="0" rIns="0" tIns="0" bIns="0">
            <a:spAutoFit/>
          </a:bodyPr>
          <a:lstStyle/>
          <a:p>
            <a:pPr>
              <a:spcBef>
                <a:spcPts val="0"/>
              </a:spcBef>
              <a:spcAft>
                <a:spcPts val="0"/>
              </a:spcAft>
            </a:pPr>
            <a:r>
              <a:rPr sz="13200" b="0">
                <a:solidFill>
                  <a:srgbClr val="76B900"/>
                </a:solidFill>
                <a:latin typeface="NVIDIA Sans Medium"/>
              </a:rPr>
              <a:t>×8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21</a:t>
            </a:r>
          </a:p>
        </p:txBody>
      </p:sp>
      <p:sp>
        <p:nvSpPr>
          <p:cNvPr id="3" name="Text Placeholder 2"/>
          <p:cNvSpPr>
            <a:spLocks noGrp="1"/>
          </p:cNvSpPr>
          <p:nvPr>
            <p:ph type="body" idx="13" sz="quarter"/>
          </p:nvPr>
        </p:nvSpPr>
        <p:spPr/>
        <p:txBody>
          <a:bodyPr/>
          <a:lstStyle/>
          <a:p>
            <a:r>
              <a:t>E2E: 213.402 s  ·  Generated video: 960 × 544, 5.167 s</a:t>
            </a:r>
          </a:p>
        </p:txBody>
      </p:sp>
      <p:sp>
        <p:nvSpPr>
          <p:cNvPr id="4" name="Title 3"/>
          <p:cNvSpPr>
            <a:spLocks noGrp="1"/>
          </p:cNvSpPr>
          <p:nvPr>
            <p:ph type="title"/>
          </p:nvPr>
        </p:nvSpPr>
        <p:spPr/>
        <p:txBody>
          <a:bodyPr/>
          <a:lstStyle/>
          <a:p>
            <a:r>
              <a:t>Baseline: Latency Breakdown</a:t>
            </a:r>
          </a:p>
        </p:txBody>
      </p:sp>
      <p:sp>
        <p:nvSpPr>
          <p:cNvPr id="5" name="Config heading"/>
          <p:cNvSpPr txBox="1"/>
          <p:nvPr/>
        </p:nvSpPr>
        <p:spPr>
          <a:xfrm>
            <a:off x="1828800" y="5349240"/>
            <a:ext cx="123444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Reference configuration</a:t>
            </a:r>
          </a:p>
        </p:txBody>
      </p:sp>
      <p:sp>
        <p:nvSpPr>
          <p:cNvPr id="6" name="Reference configuration bullets"/>
          <p:cNvSpPr txBox="1"/>
          <p:nvPr/>
        </p:nvSpPr>
        <p:spPr>
          <a:xfrm>
            <a:off x="1828800" y="7315200"/>
            <a:ext cx="12344400" cy="1060704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800" b="0">
                <a:solidFill>
                  <a:srgbClr val="000000"/>
                </a:solidFill>
                <a:latin typeface="NVIDIA Sans"/>
              </a:rPr>
              <a:t>8 × PRO 5000 GPUs (SM120)</a:t>
            </a:r>
          </a:p>
          <a:p>
            <a:pPr marL="384048" indent="-310896">
              <a:spcBef>
                <a:spcPts val="0"/>
              </a:spcBef>
              <a:spcAft>
                <a:spcPts val="2200"/>
              </a:spcAft>
              <a:buFont typeface="NVIDIA Sans"/>
              <a:buChar char="•"/>
            </a:pPr>
            <a:r>
              <a:rPr sz="3800" b="0">
                <a:solidFill>
                  <a:srgbClr val="000000"/>
                </a:solidFill>
                <a:latin typeface="NVIDIA Sans"/>
              </a:rPr>
              <a:t>Original Ref2VA</a:t>
            </a:r>
          </a:p>
          <a:p>
            <a:pPr marL="384048" indent="-310896">
              <a:spcBef>
                <a:spcPts val="0"/>
              </a:spcBef>
              <a:spcAft>
                <a:spcPts val="2200"/>
              </a:spcAft>
              <a:buFont typeface="NVIDIA Sans"/>
              <a:buChar char="•"/>
            </a:pPr>
            <a:r>
              <a:rPr sz="3800" b="0">
                <a:solidFill>
                  <a:srgbClr val="000000"/>
                </a:solidFill>
                <a:latin typeface="NVIDIA Sans"/>
              </a:rPr>
              <a:t>50 steps · BF16 · dense attention</a:t>
            </a:r>
          </a:p>
          <a:p>
            <a:pPr marL="384048" indent="-310896">
              <a:spcBef>
                <a:spcPts val="0"/>
              </a:spcBef>
              <a:spcAft>
                <a:spcPts val="2200"/>
              </a:spcAft>
              <a:buFont typeface="NVIDIA Sans"/>
              <a:buChar char="•"/>
            </a:pPr>
            <a:r>
              <a:rPr sz="3800" b="0">
                <a:solidFill>
                  <a:srgbClr val="000000"/>
                </a:solidFill>
                <a:latin typeface="NVIDIA Sans"/>
              </a:rPr>
              <a:t>DiT TP1 / Ulysses8</a:t>
            </a:r>
          </a:p>
          <a:p>
            <a:pPr marL="384048" indent="-310896">
              <a:spcBef>
                <a:spcPts val="0"/>
              </a:spcBef>
              <a:spcAft>
                <a:spcPts val="2200"/>
              </a:spcAft>
              <a:buFont typeface="NVIDIA Sans"/>
              <a:buChar char="•"/>
            </a:pPr>
            <a:r>
              <a:rPr sz="3800" b="0">
                <a:solidFill>
                  <a:srgbClr val="000000"/>
                </a:solidFill>
                <a:latin typeface="NVIDIA Sans"/>
              </a:rPr>
              <a:t>Text encoder TP8 · VAE tiles8</a:t>
            </a:r>
          </a:p>
          <a:p>
            <a:pPr marL="384048" indent="-310896">
              <a:spcBef>
                <a:spcPts val="0"/>
              </a:spcBef>
              <a:spcAft>
                <a:spcPts val="2200"/>
              </a:spcAft>
              <a:buFont typeface="NVIDIA Sans"/>
              <a:buChar char="•"/>
            </a:pPr>
            <a:r>
              <a:rPr sz="3800" b="0">
                <a:solidFill>
                  <a:srgbClr val="000000"/>
                </a:solidFill>
                <a:latin typeface="NVIDIA Sans"/>
              </a:rPr>
              <a:t>Native VAE · FP16 decode</a:t>
            </a:r>
          </a:p>
        </p:txBody>
      </p:sp>
      <p:sp>
        <p:nvSpPr>
          <p:cNvPr id="7" name="GPU heading"/>
          <p:cNvSpPr txBox="1"/>
          <p:nvPr/>
        </p:nvSpPr>
        <p:spPr>
          <a:xfrm>
            <a:off x="15087600" y="5349240"/>
            <a:ext cx="196596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GPU work by operator</a:t>
            </a:r>
          </a:p>
        </p:txBody>
      </p:sp>
      <p:sp>
        <p:nvSpPr>
          <p:cNvPr id="8" name="GPU time column"/>
          <p:cNvSpPr txBox="1"/>
          <p:nvPr/>
        </p:nvSpPr>
        <p:spPr>
          <a:xfrm>
            <a:off x="26791920" y="6537960"/>
            <a:ext cx="493776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Mean s / GPU</a:t>
            </a:r>
          </a:p>
        </p:txBody>
      </p:sp>
      <p:sp>
        <p:nvSpPr>
          <p:cNvPr id="9" name="GPU share column"/>
          <p:cNvSpPr txBox="1"/>
          <p:nvPr/>
        </p:nvSpPr>
        <p:spPr>
          <a:xfrm>
            <a:off x="31912560" y="6537960"/>
            <a:ext cx="2834640" cy="548640"/>
          </a:xfrm>
          <a:prstGeom prst="rect">
            <a:avLst/>
          </a:prstGeom>
          <a:noFill/>
        </p:spPr>
        <p:txBody>
          <a:bodyPr wrap="square" lIns="0" rIns="0" tIns="0" bIns="0">
            <a:spAutoFit/>
          </a:bodyPr>
          <a:lstStyle/>
          <a:p>
            <a:pPr algn="r">
              <a:spcBef>
                <a:spcPts val="0"/>
              </a:spcBef>
              <a:spcAft>
                <a:spcPts val="0"/>
              </a:spcAft>
            </a:pPr>
            <a:r>
              <a:rPr sz="2400" b="0">
                <a:solidFill>
                  <a:srgbClr val="313131"/>
                </a:solidFill>
                <a:latin typeface="NVIDIA Sans"/>
              </a:rPr>
              <a:t>Share</a:t>
            </a:r>
          </a:p>
        </p:txBody>
      </p:sp>
      <p:sp>
        <p:nvSpPr>
          <p:cNvPr id="10" name="GPU category 0"/>
          <p:cNvSpPr txBox="1"/>
          <p:nvPr/>
        </p:nvSpPr>
        <p:spPr>
          <a:xfrm>
            <a:off x="15087600" y="758952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NCCL · includes waiting</a:t>
            </a:r>
          </a:p>
        </p:txBody>
      </p:sp>
      <p:sp>
        <p:nvSpPr>
          <p:cNvPr id="11" name="GPU seconds 0"/>
          <p:cNvSpPr txBox="1"/>
          <p:nvPr/>
        </p:nvSpPr>
        <p:spPr>
          <a:xfrm>
            <a:off x="27157680" y="758952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122.182</a:t>
            </a:r>
          </a:p>
        </p:txBody>
      </p:sp>
      <p:sp>
        <p:nvSpPr>
          <p:cNvPr id="12" name="GPU share 0"/>
          <p:cNvSpPr txBox="1"/>
          <p:nvPr/>
        </p:nvSpPr>
        <p:spPr>
          <a:xfrm>
            <a:off x="31729680" y="758952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57.21%</a:t>
            </a:r>
          </a:p>
        </p:txBody>
      </p:sp>
      <p:sp>
        <p:nvSpPr>
          <p:cNvPr id="13" name="GPU bar track 0"/>
          <p:cNvSpPr/>
          <p:nvPr/>
        </p:nvSpPr>
        <p:spPr>
          <a:xfrm>
            <a:off x="15087600" y="848563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PU bar 0"/>
          <p:cNvSpPr/>
          <p:nvPr/>
        </p:nvSpPr>
        <p:spPr>
          <a:xfrm>
            <a:off x="15087600" y="8485632"/>
            <a:ext cx="11248043" cy="91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PU category 1"/>
          <p:cNvSpPr txBox="1"/>
          <p:nvPr/>
        </p:nvSpPr>
        <p:spPr>
          <a:xfrm>
            <a:off x="15087600" y="897940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Attention</a:t>
            </a:r>
          </a:p>
        </p:txBody>
      </p:sp>
      <p:sp>
        <p:nvSpPr>
          <p:cNvPr id="16" name="GPU seconds 1"/>
          <p:cNvSpPr txBox="1"/>
          <p:nvPr/>
        </p:nvSpPr>
        <p:spPr>
          <a:xfrm>
            <a:off x="27157680" y="897940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47.105</a:t>
            </a:r>
          </a:p>
        </p:txBody>
      </p:sp>
      <p:sp>
        <p:nvSpPr>
          <p:cNvPr id="17" name="GPU share 1"/>
          <p:cNvSpPr txBox="1"/>
          <p:nvPr/>
        </p:nvSpPr>
        <p:spPr>
          <a:xfrm>
            <a:off x="31729680" y="897940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22.06%</a:t>
            </a:r>
          </a:p>
        </p:txBody>
      </p:sp>
      <p:sp>
        <p:nvSpPr>
          <p:cNvPr id="18" name="GPU bar track 1"/>
          <p:cNvSpPr/>
          <p:nvPr/>
        </p:nvSpPr>
        <p:spPr>
          <a:xfrm>
            <a:off x="15087600" y="987552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bar 1"/>
          <p:cNvSpPr/>
          <p:nvPr/>
        </p:nvSpPr>
        <p:spPr>
          <a:xfrm>
            <a:off x="15087600" y="9875520"/>
            <a:ext cx="4336525"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PU category 2"/>
          <p:cNvSpPr txBox="1"/>
          <p:nvPr/>
        </p:nvSpPr>
        <p:spPr>
          <a:xfrm>
            <a:off x="15087600" y="1036929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GEMM</a:t>
            </a:r>
          </a:p>
        </p:txBody>
      </p:sp>
      <p:sp>
        <p:nvSpPr>
          <p:cNvPr id="21" name="GPU seconds 2"/>
          <p:cNvSpPr txBox="1"/>
          <p:nvPr/>
        </p:nvSpPr>
        <p:spPr>
          <a:xfrm>
            <a:off x="27157680" y="1036929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39.650</a:t>
            </a:r>
          </a:p>
        </p:txBody>
      </p:sp>
      <p:sp>
        <p:nvSpPr>
          <p:cNvPr id="22" name="GPU share 2"/>
          <p:cNvSpPr txBox="1"/>
          <p:nvPr/>
        </p:nvSpPr>
        <p:spPr>
          <a:xfrm>
            <a:off x="31729680" y="1036929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18.57%</a:t>
            </a:r>
          </a:p>
        </p:txBody>
      </p:sp>
      <p:sp>
        <p:nvSpPr>
          <p:cNvPr id="23" name="GPU bar track 2"/>
          <p:cNvSpPr/>
          <p:nvPr/>
        </p:nvSpPr>
        <p:spPr>
          <a:xfrm>
            <a:off x="15087600" y="1126540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bar 2"/>
          <p:cNvSpPr/>
          <p:nvPr/>
        </p:nvSpPr>
        <p:spPr>
          <a:xfrm>
            <a:off x="15087600" y="11265408"/>
            <a:ext cx="3650143"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GPU category 3"/>
          <p:cNvSpPr txBox="1"/>
          <p:nvPr/>
        </p:nvSpPr>
        <p:spPr>
          <a:xfrm>
            <a:off x="15087600" y="11759184"/>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Norm / activation / elementwise</a:t>
            </a:r>
          </a:p>
        </p:txBody>
      </p:sp>
      <p:sp>
        <p:nvSpPr>
          <p:cNvPr id="26" name="GPU seconds 3"/>
          <p:cNvSpPr txBox="1"/>
          <p:nvPr/>
        </p:nvSpPr>
        <p:spPr>
          <a:xfrm>
            <a:off x="27157680" y="11759184"/>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2.288</a:t>
            </a:r>
          </a:p>
        </p:txBody>
      </p:sp>
      <p:sp>
        <p:nvSpPr>
          <p:cNvPr id="27" name="GPU share 3"/>
          <p:cNvSpPr txBox="1"/>
          <p:nvPr/>
        </p:nvSpPr>
        <p:spPr>
          <a:xfrm>
            <a:off x="31729680" y="11759184"/>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1.07%</a:t>
            </a:r>
          </a:p>
        </p:txBody>
      </p:sp>
      <p:sp>
        <p:nvSpPr>
          <p:cNvPr id="28" name="GPU bar track 3"/>
          <p:cNvSpPr/>
          <p:nvPr/>
        </p:nvSpPr>
        <p:spPr>
          <a:xfrm>
            <a:off x="15087600" y="12655296"/>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GPU bar 3"/>
          <p:cNvSpPr/>
          <p:nvPr/>
        </p:nvSpPr>
        <p:spPr>
          <a:xfrm>
            <a:off x="15087600" y="12655296"/>
            <a:ext cx="210601"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GPU category 4"/>
          <p:cNvSpPr txBox="1"/>
          <p:nvPr/>
        </p:nvSpPr>
        <p:spPr>
          <a:xfrm>
            <a:off x="15087600" y="13149072"/>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Layout / device copies</a:t>
            </a:r>
          </a:p>
        </p:txBody>
      </p:sp>
      <p:sp>
        <p:nvSpPr>
          <p:cNvPr id="31" name="GPU seconds 4"/>
          <p:cNvSpPr txBox="1"/>
          <p:nvPr/>
        </p:nvSpPr>
        <p:spPr>
          <a:xfrm>
            <a:off x="27157680" y="13149072"/>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1.929</a:t>
            </a:r>
          </a:p>
        </p:txBody>
      </p:sp>
      <p:sp>
        <p:nvSpPr>
          <p:cNvPr id="32" name="GPU share 4"/>
          <p:cNvSpPr txBox="1"/>
          <p:nvPr/>
        </p:nvSpPr>
        <p:spPr>
          <a:xfrm>
            <a:off x="31729680" y="13149072"/>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0.90%</a:t>
            </a:r>
          </a:p>
        </p:txBody>
      </p:sp>
      <p:sp>
        <p:nvSpPr>
          <p:cNvPr id="33" name="GPU bar track 4"/>
          <p:cNvSpPr/>
          <p:nvPr/>
        </p:nvSpPr>
        <p:spPr>
          <a:xfrm>
            <a:off x="15087600" y="14045184"/>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GPU bar 4"/>
          <p:cNvSpPr/>
          <p:nvPr/>
        </p:nvSpPr>
        <p:spPr>
          <a:xfrm>
            <a:off x="15087600" y="14045184"/>
            <a:ext cx="177549"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GPU category 5"/>
          <p:cNvSpPr txBox="1"/>
          <p:nvPr/>
        </p:nvSpPr>
        <p:spPr>
          <a:xfrm>
            <a:off x="15087600" y="1453896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CUDA memcpy / memset</a:t>
            </a:r>
          </a:p>
        </p:txBody>
      </p:sp>
      <p:sp>
        <p:nvSpPr>
          <p:cNvPr id="36" name="GPU seconds 5"/>
          <p:cNvSpPr txBox="1"/>
          <p:nvPr/>
        </p:nvSpPr>
        <p:spPr>
          <a:xfrm>
            <a:off x="27157680" y="1453896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0.064</a:t>
            </a:r>
          </a:p>
        </p:txBody>
      </p:sp>
      <p:sp>
        <p:nvSpPr>
          <p:cNvPr id="37" name="GPU share 5"/>
          <p:cNvSpPr txBox="1"/>
          <p:nvPr/>
        </p:nvSpPr>
        <p:spPr>
          <a:xfrm>
            <a:off x="31729680" y="1453896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0.03%</a:t>
            </a:r>
          </a:p>
        </p:txBody>
      </p:sp>
      <p:sp>
        <p:nvSpPr>
          <p:cNvPr id="38" name="GPU bar track 5"/>
          <p:cNvSpPr/>
          <p:nvPr/>
        </p:nvSpPr>
        <p:spPr>
          <a:xfrm>
            <a:off x="15087600" y="1543507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GPU bar 5"/>
          <p:cNvSpPr/>
          <p:nvPr/>
        </p:nvSpPr>
        <p:spPr>
          <a:xfrm>
            <a:off x="15087600" y="15435072"/>
            <a:ext cx="5872"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category 6"/>
          <p:cNvSpPr txBox="1"/>
          <p:nvPr/>
        </p:nvSpPr>
        <p:spPr>
          <a:xfrm>
            <a:off x="15087600" y="1592884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Convolution</a:t>
            </a:r>
          </a:p>
        </p:txBody>
      </p:sp>
      <p:sp>
        <p:nvSpPr>
          <p:cNvPr id="41" name="GPU seconds 6"/>
          <p:cNvSpPr txBox="1"/>
          <p:nvPr/>
        </p:nvSpPr>
        <p:spPr>
          <a:xfrm>
            <a:off x="27157680" y="1592884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0.192</a:t>
            </a:r>
          </a:p>
        </p:txBody>
      </p:sp>
      <p:sp>
        <p:nvSpPr>
          <p:cNvPr id="42" name="GPU share 6"/>
          <p:cNvSpPr txBox="1"/>
          <p:nvPr/>
        </p:nvSpPr>
        <p:spPr>
          <a:xfrm>
            <a:off x="31729680" y="1592884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0.09%</a:t>
            </a:r>
          </a:p>
        </p:txBody>
      </p:sp>
      <p:sp>
        <p:nvSpPr>
          <p:cNvPr id="43" name="GPU bar track 6"/>
          <p:cNvSpPr/>
          <p:nvPr/>
        </p:nvSpPr>
        <p:spPr>
          <a:xfrm>
            <a:off x="15087600" y="1682496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GPU bar 6"/>
          <p:cNvSpPr/>
          <p:nvPr/>
        </p:nvSpPr>
        <p:spPr>
          <a:xfrm>
            <a:off x="15087600" y="16824960"/>
            <a:ext cx="17657"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GPU category 7"/>
          <p:cNvSpPr txBox="1"/>
          <p:nvPr/>
        </p:nvSpPr>
        <p:spPr>
          <a:xfrm>
            <a:off x="15087600" y="1731873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Other kernels</a:t>
            </a:r>
          </a:p>
        </p:txBody>
      </p:sp>
      <p:sp>
        <p:nvSpPr>
          <p:cNvPr id="46" name="GPU seconds 7"/>
          <p:cNvSpPr txBox="1"/>
          <p:nvPr/>
        </p:nvSpPr>
        <p:spPr>
          <a:xfrm>
            <a:off x="27157680" y="1731873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0.143</a:t>
            </a:r>
          </a:p>
        </p:txBody>
      </p:sp>
      <p:sp>
        <p:nvSpPr>
          <p:cNvPr id="47" name="GPU share 7"/>
          <p:cNvSpPr txBox="1"/>
          <p:nvPr/>
        </p:nvSpPr>
        <p:spPr>
          <a:xfrm>
            <a:off x="31729680" y="1731873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0.07%</a:t>
            </a:r>
          </a:p>
        </p:txBody>
      </p:sp>
      <p:sp>
        <p:nvSpPr>
          <p:cNvPr id="48" name="GPU bar track 7"/>
          <p:cNvSpPr/>
          <p:nvPr/>
        </p:nvSpPr>
        <p:spPr>
          <a:xfrm>
            <a:off x="15087600" y="1821484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GPU bar 7"/>
          <p:cNvSpPr/>
          <p:nvPr/>
        </p:nvSpPr>
        <p:spPr>
          <a:xfrm>
            <a:off x="15087600" y="18214848"/>
            <a:ext cx="13204"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ccounting not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Nsight GPU work includes overlap and waiting; shares exclude CPU work and idle gaps.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22</a:t>
            </a:fld>
            <a:endParaRPr lang="en-US"/>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23</a:t>
            </a:fld>
            <a:endParaRPr lang="en-US"/>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24</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Single-GPU comparison · speed relative to BF16</a:t>
            </a:r>
          </a:p>
        </p:txBody>
      </p:sp>
      <p:sp>
        <p:nvSpPr>
          <p:cNvPr id="4" name="Title 3"/>
          <p:cNvSpPr>
            <a:spLocks noGrp="1"/>
          </p:cNvSpPr>
          <p:nvPr>
            <p:ph type="title"/>
          </p:nvPr>
        </p:nvSpPr>
        <p:spPr/>
        <p:txBody>
          <a:bodyPr/>
          <a:lstStyle/>
          <a:p>
            <a:r>
              <a:t>Quantization: Speed Needs a Quality Check</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scene and seed</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25</a:t>
            </a:fld>
            <a:endParaRPr lang="en-US"/>
          </a:p>
        </p:txBody>
      </p:sp>
      <p:sp>
        <p:nvSpPr>
          <p:cNvPr id="7" name="BF16 Reference"/>
          <p:cNvSpPr txBox="1"/>
          <p:nvPr/>
        </p:nvSpPr>
        <p:spPr>
          <a:xfrm>
            <a:off x="164592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8229600"/>
            <a:ext cx="8046720" cy="4598125"/>
          </a:xfrm>
          <a:prstGeom prst="rect">
            <a:avLst/>
          </a:prstGeom>
          <a:ln w="9525">
            <a:solidFill>
              <a:srgbClr val="A7A7A7"/>
            </a:solidFill>
          </a:ln>
        </p:spPr>
      </p:pic>
      <p:sp>
        <p:nvSpPr>
          <p:cNvPr id="10" name="Request: 152.58 s*"/>
          <p:cNvSpPr txBox="1"/>
          <p:nvPr/>
        </p:nvSpPr>
        <p:spPr>
          <a:xfrm>
            <a:off x="164592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313131"/>
                </a:solidFill>
                <a:latin typeface="NVIDIA Sans Medium"/>
              </a:rPr>
              <a:t>Baseline</a:t>
            </a:r>
          </a:p>
        </p:txBody>
      </p:sp>
      <p:sp>
        <p:nvSpPr>
          <p:cNvPr id="12" name="Online NVFP4"/>
          <p:cNvSpPr txBox="1"/>
          <p:nvPr/>
        </p:nvSpPr>
        <p:spPr>
          <a:xfrm>
            <a:off x="1005840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8229600"/>
            <a:ext cx="8046720" cy="4598125"/>
          </a:xfrm>
          <a:prstGeom prst="rect">
            <a:avLst/>
          </a:prstGeom>
          <a:ln w="9525">
            <a:solidFill>
              <a:srgbClr val="A7A7A7"/>
            </a:solidFill>
          </a:ln>
        </p:spPr>
      </p:pic>
      <p:sp>
        <p:nvSpPr>
          <p:cNvPr id="15" name="Request: 89.12 s*"/>
          <p:cNvSpPr txBox="1"/>
          <p:nvPr/>
        </p:nvSpPr>
        <p:spPr>
          <a:xfrm>
            <a:off x="1005840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1.7× faster</a:t>
            </a:r>
          </a:p>
        </p:txBody>
      </p:sp>
      <p:sp>
        <p:nvSpPr>
          <p:cNvPr id="17" name="QAD NVFP4"/>
          <p:cNvSpPr txBox="1"/>
          <p:nvPr/>
        </p:nvSpPr>
        <p:spPr>
          <a:xfrm>
            <a:off x="1847088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8229600"/>
            <a:ext cx="8046720" cy="4598125"/>
          </a:xfrm>
          <a:prstGeom prst="rect">
            <a:avLst/>
          </a:prstGeom>
          <a:ln w="9525">
            <a:solidFill>
              <a:srgbClr val="A7A7A7"/>
            </a:solidFill>
          </a:ln>
        </p:spPr>
      </p:pic>
      <p:sp>
        <p:nvSpPr>
          <p:cNvPr id="20" name="Request: 84.47 s*"/>
          <p:cNvSpPr txBox="1"/>
          <p:nvPr/>
        </p:nvSpPr>
        <p:spPr>
          <a:xfrm>
            <a:off x="1847088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1.8× faster</a:t>
            </a:r>
          </a:p>
        </p:txBody>
      </p:sp>
      <p:sp>
        <p:nvSpPr>
          <p:cNvPr id="22" name="QAD + Optimized FP4"/>
          <p:cNvSpPr txBox="1"/>
          <p:nvPr/>
        </p:nvSpPr>
        <p:spPr>
          <a:xfrm>
            <a:off x="2688336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8229600"/>
            <a:ext cx="8046720" cy="4598125"/>
          </a:xfrm>
          <a:prstGeom prst="rect">
            <a:avLst/>
          </a:prstGeom>
          <a:ln w="9525">
            <a:solidFill>
              <a:srgbClr val="A7A7A7"/>
            </a:solidFill>
          </a:ln>
        </p:spPr>
      </p:pic>
      <p:sp>
        <p:nvSpPr>
          <p:cNvPr id="25" name="Request: 69.95 s*"/>
          <p:cNvSpPr txBox="1"/>
          <p:nvPr/>
        </p:nvSpPr>
        <p:spPr>
          <a:xfrm>
            <a:off x="2688336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2.2× faster</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Retained single-request timings with CPU offload; first-use work varies.</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000000"/>
                </a:solidFill>
                <a:latin typeface="NVIDIA Sans Medium"/>
              </a:rPr>
              <a:t>Three Lessons for Real-Time Inference</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313131"/>
                </a:solidFill>
                <a:latin typeface="NVIDIA Sans"/>
              </a:rPr>
              <a:t>Choose the optimization that changes the end-to-end bottleneck.</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000000"/>
                </a:solidFill>
                <a:latin typeface="NVIDIA Sans"/>
              </a:rPr>
              <a:t>26</a:t>
            </a:r>
          </a:p>
        </p:txBody>
      </p:sp>
      <p:sp>
        <p:nvSpPr>
          <p:cNvPr id="5" name="Overview panel 0"/>
          <p:cNvSpPr/>
          <p:nvPr/>
        </p:nvSpPr>
        <p:spPr>
          <a:xfrm>
            <a:off x="1828800" y="502920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Reduce work with a quality budget</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Fewer steps, sparse attention and lower precision reduce work.</a:t>
            </a:r>
            <a:br/>
            <a:r>
              <a:rPr sz="3500">
                <a:solidFill>
                  <a:srgbClr val="000000"/>
                </a:solidFill>
                <a:latin typeface="NVIDIA Sans"/>
              </a:rPr>
              <a:t>Evaluate the quality tradeoff on the workload people will use.</a:t>
            </a:r>
          </a:p>
        </p:txBody>
      </p:sp>
      <p:sp>
        <p:nvSpPr>
          <p:cNvPr id="8" name="Overview panel 1"/>
          <p:cNvSpPr/>
          <p:nvPr/>
        </p:nvSpPr>
        <p:spPr>
          <a:xfrm>
            <a:off x="1828800" y="928116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Treat topology as part of the system</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Communication can dominate GPU time.</a:t>
            </a:r>
            <a:br/>
            <a:r>
              <a:rPr sz="3500">
                <a:solidFill>
                  <a:srgbClr val="000000"/>
                </a:solidFill>
                <a:latin typeface="NVIDIA Sans"/>
              </a:rPr>
              <a:t>Match data movement to the physical links before tuning kernels.</a:t>
            </a:r>
          </a:p>
        </p:txBody>
      </p:sp>
      <p:sp>
        <p:nvSpPr>
          <p:cNvPr id="11" name="Overview panel 2"/>
          <p:cNvSpPr/>
          <p:nvPr/>
        </p:nvSpPr>
        <p:spPr>
          <a:xfrm>
            <a:off x="1828800" y="1353312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Follow the bottleneck as it moves</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Decode, copies and output become more important as the model accelerates.</a:t>
            </a:r>
            <a:br/>
            <a:r>
              <a:rPr sz="3500">
                <a:solidFill>
                  <a:srgbClr val="000000"/>
                </a:solidFill>
                <a:latin typeface="NVIDIA Sans"/>
              </a:rPr>
              <a:t>Re-profile after each major speedup; judge progress by end-to-end latency.</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313131"/>
                </a:solidFill>
                <a:latin typeface="NVIDIA Sans"/>
              </a:rPr>
              <a:t>Read every speedup with its workload and configuration.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27</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28</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29</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30</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31</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32</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Less repeated model work also means fewer repeated communication rounds.</a:t>
            </a:r>
          </a:p>
        </p:txBody>
      </p:sp>
      <p:sp>
        <p:nvSpPr>
          <p:cNvPr id="70" name="Distillation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Evaluation count reduction; measured E2E results are shown in the optimization table.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33</a:t>
            </a:r>
          </a:p>
        </p:txBody>
      </p:sp>
      <p:sp>
        <p:nvSpPr>
          <p:cNvPr id="3" name="Text Placeholder 2"/>
          <p:cNvSpPr>
            <a:spLocks noGrp="1"/>
          </p:cNvSpPr>
          <p:nvPr>
            <p:ph type="body" idx="13" sz="quarter"/>
          </p:nvPr>
        </p:nvSpPr>
        <p:spPr/>
        <p:txBody>
          <a:bodyPr/>
          <a:lstStyle/>
          <a:p>
            <a:r>
              <a:t>Choose where to compute, then lower the cost of that computation.</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Attend to selected regions</a:t>
            </a:r>
          </a:p>
        </p:txBody>
      </p:sp>
      <p:sp>
        <p:nvSpPr>
          <p:cNvPr id="7" name="Attention block 0-0"/>
          <p:cNvSpPr/>
          <p:nvPr/>
        </p:nvSpPr>
        <p:spPr>
          <a:xfrm>
            <a:off x="429768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ttention block 0-1"/>
          <p:cNvSpPr/>
          <p:nvPr/>
        </p:nvSpPr>
        <p:spPr>
          <a:xfrm>
            <a:off x="571500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ttention block 0-2"/>
          <p:cNvSpPr/>
          <p:nvPr/>
        </p:nvSpPr>
        <p:spPr>
          <a:xfrm>
            <a:off x="713232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ttention block 0-3"/>
          <p:cNvSpPr/>
          <p:nvPr/>
        </p:nvSpPr>
        <p:spPr>
          <a:xfrm>
            <a:off x="854964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ttention block 0-4"/>
          <p:cNvSpPr/>
          <p:nvPr/>
        </p:nvSpPr>
        <p:spPr>
          <a:xfrm>
            <a:off x="996696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ttention block 0-5"/>
          <p:cNvSpPr/>
          <p:nvPr/>
        </p:nvSpPr>
        <p:spPr>
          <a:xfrm>
            <a:off x="1138428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ttention block 1-0"/>
          <p:cNvSpPr/>
          <p:nvPr/>
        </p:nvSpPr>
        <p:spPr>
          <a:xfrm>
            <a:off x="429768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ttention block 1-1"/>
          <p:cNvSpPr/>
          <p:nvPr/>
        </p:nvSpPr>
        <p:spPr>
          <a:xfrm>
            <a:off x="571500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ttention block 1-2"/>
          <p:cNvSpPr/>
          <p:nvPr/>
        </p:nvSpPr>
        <p:spPr>
          <a:xfrm>
            <a:off x="713232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ttention block 1-3"/>
          <p:cNvSpPr/>
          <p:nvPr/>
        </p:nvSpPr>
        <p:spPr>
          <a:xfrm>
            <a:off x="854964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lock 1-4"/>
          <p:cNvSpPr/>
          <p:nvPr/>
        </p:nvSpPr>
        <p:spPr>
          <a:xfrm>
            <a:off x="996696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ttention block 1-5"/>
          <p:cNvSpPr/>
          <p:nvPr/>
        </p:nvSpPr>
        <p:spPr>
          <a:xfrm>
            <a:off x="1138428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ention block 2-0"/>
          <p:cNvSpPr/>
          <p:nvPr/>
        </p:nvSpPr>
        <p:spPr>
          <a:xfrm>
            <a:off x="429768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ention block 2-1"/>
          <p:cNvSpPr/>
          <p:nvPr/>
        </p:nvSpPr>
        <p:spPr>
          <a:xfrm>
            <a:off x="571500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ention block 2-2"/>
          <p:cNvSpPr/>
          <p:nvPr/>
        </p:nvSpPr>
        <p:spPr>
          <a:xfrm>
            <a:off x="713232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lock 2-3"/>
          <p:cNvSpPr/>
          <p:nvPr/>
        </p:nvSpPr>
        <p:spPr>
          <a:xfrm>
            <a:off x="854964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ention block 2-4"/>
          <p:cNvSpPr/>
          <p:nvPr/>
        </p:nvSpPr>
        <p:spPr>
          <a:xfrm>
            <a:off x="996696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ention block 2-5"/>
          <p:cNvSpPr/>
          <p:nvPr/>
        </p:nvSpPr>
        <p:spPr>
          <a:xfrm>
            <a:off x="1138428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ttention block 3-0"/>
          <p:cNvSpPr/>
          <p:nvPr/>
        </p:nvSpPr>
        <p:spPr>
          <a:xfrm>
            <a:off x="429768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ttention block 3-1"/>
          <p:cNvSpPr/>
          <p:nvPr/>
        </p:nvSpPr>
        <p:spPr>
          <a:xfrm>
            <a:off x="571500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lock 3-2"/>
          <p:cNvSpPr/>
          <p:nvPr/>
        </p:nvSpPr>
        <p:spPr>
          <a:xfrm>
            <a:off x="713232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ention block 3-3"/>
          <p:cNvSpPr/>
          <p:nvPr/>
        </p:nvSpPr>
        <p:spPr>
          <a:xfrm>
            <a:off x="854964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ention block 3-4"/>
          <p:cNvSpPr/>
          <p:nvPr/>
        </p:nvSpPr>
        <p:spPr>
          <a:xfrm>
            <a:off x="996696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ention block 3-5"/>
          <p:cNvSpPr/>
          <p:nvPr/>
        </p:nvSpPr>
        <p:spPr>
          <a:xfrm>
            <a:off x="1138428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ention block 4-0"/>
          <p:cNvSpPr/>
          <p:nvPr/>
        </p:nvSpPr>
        <p:spPr>
          <a:xfrm>
            <a:off x="42976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ention block 4-1"/>
          <p:cNvSpPr/>
          <p:nvPr/>
        </p:nvSpPr>
        <p:spPr>
          <a:xfrm>
            <a:off x="571500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ention block 4-2"/>
          <p:cNvSpPr/>
          <p:nvPr/>
        </p:nvSpPr>
        <p:spPr>
          <a:xfrm>
            <a:off x="713232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ention block 4-3"/>
          <p:cNvSpPr/>
          <p:nvPr/>
        </p:nvSpPr>
        <p:spPr>
          <a:xfrm>
            <a:off x="854964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ention block 4-4"/>
          <p:cNvSpPr/>
          <p:nvPr/>
        </p:nvSpPr>
        <p:spPr>
          <a:xfrm>
            <a:off x="996696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ttention block 4-5"/>
          <p:cNvSpPr/>
          <p:nvPr/>
        </p:nvSpPr>
        <p:spPr>
          <a:xfrm>
            <a:off x="113842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ttention block 5-0"/>
          <p:cNvSpPr/>
          <p:nvPr/>
        </p:nvSpPr>
        <p:spPr>
          <a:xfrm>
            <a:off x="429768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ttention block 5-1"/>
          <p:cNvSpPr/>
          <p:nvPr/>
        </p:nvSpPr>
        <p:spPr>
          <a:xfrm>
            <a:off x="571500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ention block 5-2"/>
          <p:cNvSpPr/>
          <p:nvPr/>
        </p:nvSpPr>
        <p:spPr>
          <a:xfrm>
            <a:off x="713232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ttention block 5-3"/>
          <p:cNvSpPr/>
          <p:nvPr/>
        </p:nvSpPr>
        <p:spPr>
          <a:xfrm>
            <a:off x="854964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ention block 5-4"/>
          <p:cNvSpPr/>
          <p:nvPr/>
        </p:nvSpPr>
        <p:spPr>
          <a:xfrm>
            <a:off x="996696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ttention block 5-5"/>
          <p:cNvSpPr/>
          <p:nvPr/>
        </p:nvSpPr>
        <p:spPr>
          <a:xfrm>
            <a:off x="1138428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SA diagram scope"/>
          <p:cNvSpPr txBox="1"/>
          <p:nvPr/>
        </p:nvSpPr>
        <p:spPr>
          <a:xfrm>
            <a:off x="1828800" y="1463040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Lower precision with QAD</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Quality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Sparsity and precision changes require workload-specific quality checks.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34</a:t>
            </a:r>
          </a:p>
        </p:txBody>
      </p:sp>
      <p:sp>
        <p:nvSpPr>
          <p:cNvPr id="3" name="Text Placeholder 2"/>
          <p:cNvSpPr>
            <a:spLocks noGrp="1"/>
          </p:cNvSpPr>
          <p:nvPr>
            <p:ph type="body" idx="13" sz="quarter"/>
          </p:nvPr>
        </p:nvSpPr>
        <p:spPr/>
        <p:txBody>
          <a:bodyPr/>
          <a:lstStyle/>
          <a:p>
            <a:r>
              <a:t>Topology: the communication path matters.</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5" name="Topology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Map GPU–NIC affinity before choosing the communication path.</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35</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GPU-affine NICs and RDMA.</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Transfer the next head band while attention runs.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direct layouts and replay stable compute.</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Conceptual head-band schedule</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E2E · stages 03 → 06</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Communication is a major opportunity for lossless optimization.</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5" name="Table header"/>
          <p:cNvSpPr/>
          <p:nvPr/>
        </p:nvSpPr>
        <p:spPr>
          <a:xfrm>
            <a:off x="1828800" y="4709160"/>
            <a:ext cx="329184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E2E speedup</a:t>
            </a:r>
          </a:p>
          <a:p>
            <a:pPr>
              <a:spcBef>
                <a:spcPts val="0"/>
              </a:spcBef>
              <a:spcAft>
                <a:spcPts val="0"/>
              </a:spcAft>
            </a:pPr>
            <a:r>
              <a:rPr sz="2800" b="0">
                <a:solidFill>
                  <a:srgbClr val="76B900"/>
                </a:solidFill>
                <a:latin typeface="NVIDIA Sans Medium"/>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RTF</a:t>
            </a:r>
          </a:p>
        </p:txBody>
      </p:sp>
      <p:sp>
        <p:nvSpPr>
          <p:cNvPr id="11" name="Row background 0"/>
          <p:cNvSpPr/>
          <p:nvPr/>
        </p:nvSpPr>
        <p:spPr>
          <a:xfrm>
            <a:off x="1828800" y="609904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8.579</a:t>
            </a:r>
          </a:p>
        </p:txBody>
      </p:sp>
      <p:sp>
        <p:nvSpPr>
          <p:cNvPr id="22" name="Row background 2"/>
          <p:cNvSpPr/>
          <p:nvPr/>
        </p:nvSpPr>
        <p:spPr>
          <a:xfrm>
            <a:off x="1828800" y="820216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3.767</a:t>
            </a:r>
          </a:p>
        </p:txBody>
      </p:sp>
      <p:sp>
        <p:nvSpPr>
          <p:cNvPr id="33" name="Row background 4"/>
          <p:cNvSpPr/>
          <p:nvPr/>
        </p:nvSpPr>
        <p:spPr>
          <a:xfrm>
            <a:off x="1828800" y="1030528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1.240</a:t>
            </a:r>
          </a:p>
        </p:txBody>
      </p:sp>
      <p:sp>
        <p:nvSpPr>
          <p:cNvPr id="44" name="Row background 6"/>
          <p:cNvSpPr/>
          <p:nvPr/>
        </p:nvSpPr>
        <p:spPr>
          <a:xfrm>
            <a:off x="1828800" y="1240840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1.049</a:t>
            </a:r>
          </a:p>
        </p:txBody>
      </p:sp>
      <p:sp>
        <p:nvSpPr>
          <p:cNvPr id="55" name="Row background 8"/>
          <p:cNvSpPr/>
          <p:nvPr/>
        </p:nvSpPr>
        <p:spPr>
          <a:xfrm>
            <a:off x="1828800" y="1451152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313131"/>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600" b="0">
                <a:solidFill>
                  <a:srgbClr val="76B900"/>
                </a:solidFill>
                <a:latin typeface="NVIDIA Sans Medium"/>
              </a:rPr>
              <a:t>Final median: 4.922 s · recheck: 4.927 s · 6/6 measured requests below 5 s</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RTF = latency / 5.167 s. Standalone H3; ASR / LLM excluded. Model, schedule and precision changes are not all lossless.</a:t>
            </a:r>
          </a:p>
        </p:txBody>
      </p:sp>
      <p:sp>
        <p:nvSpPr>
          <p:cNvPr id="66" name="Slide Number Placeholder 65"/>
          <p:cNvSpPr>
            <a:spLocks noGrp="1"/>
          </p:cNvSpPr>
          <p:nvPr>
            <p:ph type="sldNum" idx="16" sz="quarter"/>
          </p:nvPr>
        </p:nvSpPr>
        <p:spPr/>
        <p:txBody>
          <a:bodyPr/>
          <a:p>
            <a:r>
              <a:rPr/>
              <a:t>36</a:t>
            </a:r>
          </a:p>
        </p:txBody>
      </p:sp>
      <p:sp>
        <p:nvSpPr>
          <p:cNvPr id="67" name="Text Placeholder 66"/>
          <p:cNvSpPr>
            <a:spLocks noGrp="1"/>
          </p:cNvSpPr>
          <p:nvPr>
            <p:ph type="body" idx="13" sz="quarter"/>
          </p:nvPr>
        </p:nvSpPr>
        <p:spPr/>
        <p:txBody>
          <a:bodyPr/>
          <a:lstStyle/>
          <a:p>
            <a:r>
              <a:rPr/>
              <a:t>960 × 544 · 5.167 s output · 8 GPUs · standalone H3</a:t>
            </a:r>
          </a:p>
        </p:txBody>
      </p:sp>
      <p:sp>
        <p:nvSpPr>
          <p:cNvPr id="68" name="Title 67"/>
          <p:cNvSpPr>
            <a:spLocks noGrp="1"/>
          </p:cNvSpPr>
          <p:nvPr>
            <p:ph type="title"/>
          </p:nvPr>
        </p:nvSpPr>
        <p:spPr/>
        <p:txBody>
          <a:bodyPr/>
          <a:lstStyle/>
          <a:p>
            <a:r>
              <a:rPr/>
              <a:t>Real Time Comes from the Whole Pipeline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37</a:t>
            </a:r>
          </a:p>
        </p:txBody>
      </p:sp>
      <p:sp>
        <p:nvSpPr>
          <p:cNvPr id="3" name="Text Placeholder 2"/>
          <p:cNvSpPr>
            <a:spLocks noGrp="1"/>
          </p:cNvSpPr>
          <p:nvPr>
            <p:ph type="body" idx="13" sz="quarter"/>
          </p:nvPr>
        </p:nvSpPr>
        <p:spPr/>
        <p:txBody>
          <a:bodyPr/>
          <a:lstStyle/>
          <a:p>
            <a:r>
              <a:t>Speech, reasoning and audio–video generation share the response budget.</a:t>
            </a:r>
          </a:p>
        </p:txBody>
      </p:sp>
      <p:sp>
        <p:nvSpPr>
          <p:cNvPr id="4" name="Title 3"/>
          <p:cNvSpPr>
            <a:spLocks noGrp="1"/>
          </p:cNvSpPr>
          <p:nvPr>
            <p:ph type="title"/>
          </p:nvPr>
        </p:nvSpPr>
        <p:spPr/>
        <p:txBody>
          <a:bodyPr/>
          <a:lstStyle/>
          <a:p>
            <a:r>
              <a:t>Real-Time Interaction Needs the Full Loop</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Qwen3-ASR</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0.6B · 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Qwen3-4B</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5"/>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6"/>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47" name="Avatar output media"/>
          <p:cNvSpPr txBox="1"/>
          <p:nvPr/>
        </p:nvSpPr>
        <p:spPr>
          <a:xfrm>
            <a:off x="28986480" y="13395960"/>
            <a:ext cx="5760720" cy="594360"/>
          </a:xfrm>
          <a:prstGeom prst="rect">
            <a:avLst/>
          </a:prstGeom>
          <a:noFill/>
        </p:spPr>
        <p:txBody>
          <a:bodyPr wrap="square" lIns="0" rIns="0" tIns="0" bIns="0">
            <a:spAutoFit/>
          </a:bodyPr>
          <a:lstStyle/>
          <a:p>
            <a:pPr algn="ctr">
              <a:spcBef>
                <a:spcPts val="0"/>
              </a:spcBef>
              <a:spcAft>
                <a:spcPts val="0"/>
              </a:spcAft>
            </a:pPr>
            <a:r>
              <a:rPr sz="2800" b="0">
                <a:solidFill>
                  <a:srgbClr val="313131"/>
                </a:solidFill>
                <a:latin typeface="NVIDIA Sans"/>
              </a:rPr>
              <a:t>Video + voice</a:t>
            </a:r>
          </a:p>
        </p:txBody>
      </p:sp>
      <p:sp>
        <p:nvSpPr>
          <p:cNvPr id="48" name="Transcript label"/>
          <p:cNvSpPr txBox="1"/>
          <p:nvPr/>
        </p:nvSpPr>
        <p:spPr>
          <a:xfrm>
            <a:off x="8732520" y="13395960"/>
            <a:ext cx="557784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RECOGNIZED TEXT</a:t>
            </a:r>
          </a:p>
        </p:txBody>
      </p:sp>
      <p:sp>
        <p:nvSpPr>
          <p:cNvPr id="49" name="Transcript example"/>
          <p:cNvSpPr txBox="1"/>
          <p:nvPr/>
        </p:nvSpPr>
        <p:spPr>
          <a:xfrm>
            <a:off x="8732520" y="14154912"/>
            <a:ext cx="5577840" cy="155448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“Hi, could you</a:t>
            </a:r>
          </a:p>
          <a:p>
            <a:pPr>
              <a:spcBef>
                <a:spcPts val="0"/>
              </a:spcBef>
              <a:spcAft>
                <a:spcPts val="0"/>
              </a:spcAft>
            </a:pPr>
            <a:r>
              <a:rPr sz="3400" b="0">
                <a:solidFill>
                  <a:srgbClr val="000000"/>
                </a:solidFill>
                <a:latin typeface="NVIDIA Sans"/>
              </a:rPr>
              <a:t>introduce yourself?”</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ENGLISH PROMPT ·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sp>
        <p:nvSpPr>
          <p:cNvPr id="52" name="Prompt assembly note"/>
          <p:cNvSpPr txBox="1"/>
          <p:nvPr/>
        </p:nvSpPr>
        <p:spPr>
          <a:xfrm>
            <a:off x="15864840" y="16230600"/>
            <a:ext cx="7955279"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Reply text + scene instructions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960 × 544 · ~5 s per window · 8 × RTX PRO 5000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38</a:t>
            </a:r>
          </a:p>
        </p:txBody>
      </p:sp>
      <p:sp>
        <p:nvSpPr>
          <p:cNvPr id="3" name="Text Placeholder 2"/>
          <p:cNvSpPr>
            <a:spLocks noGrp="1"/>
          </p:cNvSpPr>
          <p:nvPr>
            <p:ph type="body" idx="13" sz="quarter"/>
          </p:nvPr>
        </p:nvSpPr>
        <p:spPr/>
        <p:txBody>
          <a:bodyPr/>
          <a:lstStyle/>
          <a:p>
            <a:r>
              <a:t>The previous ending guides the next clip. Only new content is appended.</a:t>
            </a:r>
          </a:p>
        </p:txBody>
      </p:sp>
      <p:sp>
        <p:nvSpPr>
          <p:cNvPr id="4" name="Title 3"/>
          <p:cNvSpPr>
            <a:spLocks noGrp="1"/>
          </p:cNvSpPr>
          <p:nvPr>
            <p:ph type="title"/>
          </p:nvPr>
        </p:nvSpPr>
        <p:spPr/>
        <p:txBody>
          <a:bodyPr/>
          <a:lstStyle/>
          <a:p>
            <a:r>
              <a:t>Continuation Makes Clips Feel Continuous</a:t>
            </a:r>
          </a:p>
        </p:txBody>
      </p:sp>
      <p:sp>
        <p:nvSpPr>
          <p:cNvPr id="5" name="Chunk A heading"/>
          <p:cNvSpPr txBox="1"/>
          <p:nvPr/>
        </p:nvSpPr>
        <p:spPr>
          <a:xfrm>
            <a:off x="1828800" y="4754880"/>
            <a:ext cx="1586484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CHUNK A  /  LAST FRAME</a:t>
            </a:r>
          </a:p>
        </p:txBody>
      </p:sp>
      <p:sp>
        <p:nvSpPr>
          <p:cNvPr id="6" name="Chunk B heading"/>
          <p:cNvSpPr txBox="1"/>
          <p:nvPr/>
        </p:nvSpPr>
        <p:spPr>
          <a:xfrm>
            <a:off x="18882360" y="4754880"/>
            <a:ext cx="1586484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CHUNK B  /  FIRST RETAINED FRAME</a:t>
            </a:r>
          </a:p>
        </p:txBody>
      </p:sp>
      <p:pic>
        <p:nvPicPr>
          <p:cNvPr id="7" name="Actual last frame of Chunk A" descr="clip-a-ending.png"/>
          <p:cNvPicPr>
            <a:picLocks noChangeAspect="1"/>
          </p:cNvPicPr>
          <p:nvPr/>
        </p:nvPicPr>
        <p:blipFill>
          <a:blip r:embed="rId3"/>
          <a:stretch>
            <a:fillRect/>
          </a:stretch>
        </p:blipFill>
        <p:spPr>
          <a:xfrm>
            <a:off x="1828800" y="5806440"/>
            <a:ext cx="15864840" cy="8990076"/>
          </a:xfrm>
          <a:prstGeom prst="rect">
            <a:avLst/>
          </a:prstGeom>
        </p:spPr>
      </p:pic>
      <p:pic>
        <p:nvPicPr>
          <p:cNvPr id="8" name="Actual first retained frame of Chunk B" descr="clip-b-start.png"/>
          <p:cNvPicPr>
            <a:picLocks noChangeAspect="1"/>
          </p:cNvPicPr>
          <p:nvPr/>
        </p:nvPicPr>
        <p:blipFill>
          <a:blip r:embed="rId4"/>
          <a:stretch>
            <a:fillRect/>
          </a:stretch>
        </p:blipFill>
        <p:spPr>
          <a:xfrm>
            <a:off x="18882360" y="5806440"/>
            <a:ext cx="15864840" cy="8990076"/>
          </a:xfrm>
          <a:prstGeom prst="rect">
            <a:avLst/>
          </a:prstGeom>
        </p:spPr>
      </p:pic>
      <p:sp>
        <p:nvSpPr>
          <p:cNvPr id="9" name="Playback heading"/>
          <p:cNvSpPr txBox="1"/>
          <p:nvPr/>
        </p:nvSpPr>
        <p:spPr>
          <a:xfrm>
            <a:off x="1828800" y="15681959"/>
            <a:ext cx="11887200" cy="59436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CONTINUOUS PLAYBACK</a:t>
            </a:r>
          </a:p>
        </p:txBody>
      </p:sp>
      <p:sp>
        <p:nvSpPr>
          <p:cNvPr id="10" name="Discarded B prefix"/>
          <p:cNvSpPr/>
          <p:nvPr/>
        </p:nvSpPr>
        <p:spPr>
          <a:xfrm>
            <a:off x="17949333" y="15727680"/>
            <a:ext cx="677333" cy="502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7949333" y="15681959"/>
            <a:ext cx="677333" cy="594361"/>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7949333" y="15681959"/>
            <a:ext cx="677333" cy="594361"/>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rim label"/>
          <p:cNvSpPr txBox="1"/>
          <p:nvPr/>
        </p:nvSpPr>
        <p:spPr>
          <a:xfrm>
            <a:off x="19175306" y="15663672"/>
            <a:ext cx="15544800" cy="64008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Trim B’s overlapping start</a:t>
            </a:r>
          </a:p>
        </p:txBody>
      </p:sp>
      <p:sp>
        <p:nvSpPr>
          <p:cNvPr id="14" name="Playback A"/>
          <p:cNvSpPr/>
          <p:nvPr/>
        </p:nvSpPr>
        <p:spPr>
          <a:xfrm>
            <a:off x="1828800" y="16642080"/>
            <a:ext cx="16797866" cy="1234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layback B"/>
          <p:cNvSpPr/>
          <p:nvPr/>
        </p:nvSpPr>
        <p:spPr>
          <a:xfrm>
            <a:off x="18626666" y="16642080"/>
            <a:ext cx="16120533" cy="1234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Join marker"/>
          <p:cNvSpPr/>
          <p:nvPr/>
        </p:nvSpPr>
        <p:spPr>
          <a:xfrm>
            <a:off x="18599234" y="16642080"/>
            <a:ext cx="54864"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layback A label"/>
          <p:cNvSpPr txBox="1"/>
          <p:nvPr/>
        </p:nvSpPr>
        <p:spPr>
          <a:xfrm>
            <a:off x="2286000" y="16962120"/>
            <a:ext cx="15883466"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Chunk A · 5.167 s</a:t>
            </a:r>
          </a:p>
        </p:txBody>
      </p:sp>
      <p:sp>
        <p:nvSpPr>
          <p:cNvPr id="18" name="Playback B label"/>
          <p:cNvSpPr txBox="1"/>
          <p:nvPr/>
        </p:nvSpPr>
        <p:spPr>
          <a:xfrm>
            <a:off x="19083866" y="16962120"/>
            <a:ext cx="15206133" cy="731520"/>
          </a:xfrm>
          <a:prstGeom prst="rect">
            <a:avLst/>
          </a:prstGeom>
          <a:noFill/>
        </p:spPr>
        <p:txBody>
          <a:bodyPr wrap="square" lIns="0" rIns="0" tIns="0" bIns="0">
            <a:spAutoFit/>
          </a:bodyPr>
          <a:lstStyle/>
          <a:p>
            <a:pPr>
              <a:spcBef>
                <a:spcPts val="0"/>
              </a:spcBef>
              <a:spcAft>
                <a:spcPts val="0"/>
              </a:spcAft>
            </a:pPr>
            <a:r>
              <a:rPr sz="3400" b="0">
                <a:solidFill>
                  <a:srgbClr val="FFFFFF"/>
                </a:solidFill>
                <a:latin typeface="NVIDIA Sans Medium"/>
              </a:rPr>
              <a:t>Chunk B · +4.958 s</a:t>
            </a:r>
          </a:p>
        </p:txBody>
      </p:sp>
      <p:sp>
        <p:nvSpPr>
          <p:cNvPr id="19" name="Context principle"/>
          <p:cNvSpPr txBox="1"/>
          <p:nvPr/>
        </p:nvSpPr>
        <p:spPr>
          <a:xfrm>
            <a:off x="1828800" y="18608040"/>
            <a:ext cx="32918400" cy="73152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Recent audio–video context conditions the next generation; matching audio is trimmed with the overlap.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000000"/>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313131"/>
                </a:solidFill>
                <a:latin typeface="NVIDIA Sans"/>
              </a:rPr>
              <a:t>74.55 seconds · user-recorded microphone conversation · native H3 audio + video</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39</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40</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Takeaways</a:t>
            </a:r>
          </a:p>
        </p:txBody>
      </p:sp>
      <p:sp>
        <p:nvSpPr>
          <p:cNvPr id="5" name="Takeaway number 1"/>
          <p:cNvSpPr txBox="1"/>
          <p:nvPr/>
        </p:nvSpPr>
        <p:spPr>
          <a:xfrm>
            <a:off x="1828800" y="508406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01</a:t>
            </a:r>
          </a:p>
        </p:txBody>
      </p:sp>
      <p:sp>
        <p:nvSpPr>
          <p:cNvPr id="6" name="Takeaway title 1"/>
          <p:cNvSpPr txBox="1"/>
          <p:nvPr/>
        </p:nvSpPr>
        <p:spPr>
          <a:xfrm>
            <a:off x="3931920" y="50292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Multi-GPU optimization starts with topology</a:t>
            </a:r>
          </a:p>
        </p:txBody>
      </p:sp>
      <p:sp>
        <p:nvSpPr>
          <p:cNvPr id="7" name="Takeaway body 1"/>
          <p:cNvSpPr txBox="1"/>
          <p:nvPr/>
        </p:nvSpPr>
        <p:spPr>
          <a:xfrm>
            <a:off x="3931920" y="63550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Map GPU/NIC links and locate communication bottlenecks.</a:t>
            </a:r>
          </a:p>
          <a:p>
            <a:pPr>
              <a:spcBef>
                <a:spcPts val="0"/>
              </a:spcBef>
              <a:spcAft>
                <a:spcPts val="0"/>
              </a:spcAft>
            </a:pPr>
            <a:r>
              <a:rPr sz="3600" b="0">
                <a:solidFill>
                  <a:srgbClr val="000000"/>
                </a:solidFill>
                <a:latin typeface="NVIDIA Sans"/>
              </a:rPr>
              <a:t>Use available bandwidth efficiently, or reduce data transfer.</a:t>
            </a:r>
          </a:p>
          <a:p>
            <a:pPr>
              <a:spcBef>
                <a:spcPts val="0"/>
              </a:spcBef>
              <a:spcAft>
                <a:spcPts val="0"/>
              </a:spcAft>
            </a:pPr>
            <a:r>
              <a:rPr sz="3600" b="0">
                <a:solidFill>
                  <a:srgbClr val="000000"/>
                </a:solidFill>
                <a:latin typeface="NVIDIA Sans"/>
              </a:rPr>
              <a:t>Communication is a key source of lossless speedups.</a:t>
            </a:r>
          </a:p>
        </p:txBody>
      </p:sp>
      <p:sp>
        <p:nvSpPr>
          <p:cNvPr id="8" name="Takeaway number 2"/>
          <p:cNvSpPr txBox="1"/>
          <p:nvPr/>
        </p:nvSpPr>
        <p:spPr>
          <a:xfrm>
            <a:off x="1828800" y="1002182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02</a:t>
            </a:r>
          </a:p>
        </p:txBody>
      </p:sp>
      <p:sp>
        <p:nvSpPr>
          <p:cNvPr id="9" name="Takeaway title 2"/>
          <p:cNvSpPr txBox="1"/>
          <p:nvPr/>
        </p:nvSpPr>
        <p:spPr>
          <a:xfrm>
            <a:off x="3931920" y="996696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Evaluate quantization case by case</a:t>
            </a:r>
          </a:p>
        </p:txBody>
      </p:sp>
      <p:sp>
        <p:nvSpPr>
          <p:cNvPr id="10" name="Takeaway body 2"/>
          <p:cNvSpPr txBox="1"/>
          <p:nvPr/>
        </p:nvSpPr>
        <p:spPr>
          <a:xfrm>
            <a:off x="3931920" y="1129284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Lossy quantization behaves differently across models and workloads.</a:t>
            </a:r>
          </a:p>
          <a:p>
            <a:pPr>
              <a:spcBef>
                <a:spcPts val="0"/>
              </a:spcBef>
              <a:spcAft>
                <a:spcPts val="0"/>
              </a:spcAft>
            </a:pPr>
            <a:r>
              <a:rPr sz="3600" b="0">
                <a:solidFill>
                  <a:srgbClr val="000000"/>
                </a:solidFill>
                <a:latin typeface="NVIDIA Sans"/>
              </a:rPr>
              <a:t>Measure quality and latency on representative cases.</a:t>
            </a:r>
          </a:p>
        </p:txBody>
      </p:sp>
      <p:sp>
        <p:nvSpPr>
          <p:cNvPr id="11" name="Takeaway number 3"/>
          <p:cNvSpPr txBox="1"/>
          <p:nvPr/>
        </p:nvSpPr>
        <p:spPr>
          <a:xfrm>
            <a:off x="1828800" y="14685263"/>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03</a:t>
            </a:r>
          </a:p>
        </p:txBody>
      </p:sp>
      <p:sp>
        <p:nvSpPr>
          <p:cNvPr id="12" name="Takeaway title 3"/>
          <p:cNvSpPr txBox="1"/>
          <p:nvPr/>
        </p:nvSpPr>
        <p:spPr>
          <a:xfrm>
            <a:off x="3931920" y="146304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Next: real-time response and richer interaction</a:t>
            </a:r>
          </a:p>
        </p:txBody>
      </p:sp>
      <p:sp>
        <p:nvSpPr>
          <p:cNvPr id="13" name="Takeaway body 3"/>
          <p:cNvSpPr txBox="1"/>
          <p:nvPr/>
        </p:nvSpPr>
        <p:spPr>
          <a:xfrm>
            <a:off x="3931920" y="159562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Explore autoregressive diffusion for earlier responses.</a:t>
            </a:r>
            <a:br/>
            <a:r>
              <a:rPr sz="3600" b="0">
                <a:solidFill>
                  <a:srgbClr val="000000"/>
                </a:solidFill>
                <a:latin typeface="NVIDIA Sans"/>
              </a:rPr>
              <a:t>Use prompt enhancers to support richer interaction.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