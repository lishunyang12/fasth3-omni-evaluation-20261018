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64" r:id="rId48"/>
    <p:sldId id="363" r:id="rId47"/>
    <p:sldId id="353" r:id="rId95"/>
    <p:sldId id="354" r:id="rId96"/>
    <p:sldId id="355" r:id="rId97"/>
    <p:sldId id="361" r:id="rId45"/>
    <p:sldId id="368" r:id="rId51"/>
    <p:sldId id="369" r:id="rId49"/>
    <p:sldId id="357" r:id="rId99"/>
    <p:sldId id="358" r:id="rId100"/>
    <p:sldId id="359" r:id="rId10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5" Type="http://schemas.openxmlformats.org/officeDocument/2006/relationships/slide" Target="slides/slide15.xml"/><Relationship Id="rId47" Type="http://schemas.openxmlformats.org/officeDocument/2006/relationships/slide" Target="slides/slide11.xml"/><Relationship Id="rId48" Type="http://schemas.openxmlformats.org/officeDocument/2006/relationships/slide" Target="slides/slide10.xml"/><Relationship Id="rId49" Type="http://schemas.openxmlformats.org/officeDocument/2006/relationships/slide" Target="slides/slide17.xml"/><Relationship Id="rId51" Type="http://schemas.openxmlformats.org/officeDocument/2006/relationships/slide" Target="slides/slide16.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3" Type="http://schemas.openxmlformats.org/officeDocument/2006/relationships/slide" Target="slides/slide2.xml"/><Relationship Id="rId84" Type="http://schemas.openxmlformats.org/officeDocument/2006/relationships/slide" Target="slides/slide3.xml"/><Relationship Id="rId85" Type="http://schemas.openxmlformats.org/officeDocument/2006/relationships/slide" Target="slides/slide4.xml"/><Relationship Id="rId86" Type="http://schemas.openxmlformats.org/officeDocument/2006/relationships/slide" Target="slides/slide5.xml"/><Relationship Id="rId87" Type="http://schemas.openxmlformats.org/officeDocument/2006/relationships/slide" Target="slides/slide6.xml"/><Relationship Id="rId88" Type="http://schemas.openxmlformats.org/officeDocument/2006/relationships/slide" Target="slides/slide7.xml"/><Relationship Id="rId89" Type="http://schemas.openxmlformats.org/officeDocument/2006/relationships/slide" Target="slides/slide8.xml"/><Relationship Id="rId90" Type="http://schemas.openxmlformats.org/officeDocument/2006/relationships/slide" Target="slides/slide9.xml"/><Relationship Id="rId95" Type="http://schemas.openxmlformats.org/officeDocument/2006/relationships/slide" Target="slides/slide12.xml"/><Relationship Id="rId96" Type="http://schemas.openxmlformats.org/officeDocument/2006/relationships/slide" Target="slides/slide13.xml"/><Relationship Id="rId97" Type="http://schemas.openxmlformats.org/officeDocument/2006/relationships/slide" Target="slides/slide14.xml"/><Relationship Id="rId99" Type="http://schemas.openxmlformats.org/officeDocument/2006/relationships/slide" Target="slides/slide18.xml"/><Relationship Id="rId100" Type="http://schemas.openxmlformats.org/officeDocument/2006/relationships/slide" Target="slides/slide19.xml"/><Relationship Id="rId101" Type="http://schemas.openxmlformats.org/officeDocument/2006/relationships/slide" Target="slides/slide20.xml"/><Relationship Id="rId102" Type="http://schemas.openxmlformats.org/officeDocument/2006/relationships/slide" Target="slides/slide21.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AdaLN host-to-device weight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More than 99.998 percent of that H-to-D time comes from staging AdaLN projection BF16 weight and bias on exact-cache misses. The run uses the default 256 MiB runtime output cache and does not configure a complete offline schedule sidecar. Ordinary Attention, MLP and QKV weights remain resident after initialization.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defines the sampling terms used by the rest of the deck. A latent state x(t) is the current compressed video and audio representation. The DiT reads that state, its time coordinate and the prompt or reference conditioning, then predicts a data-ward velocity. The Euler solver uses that velocity to construct the next latent. Conventional sampling is sequential because the next DiT call requires the state produced by the previous update. NFE means network function evaluation; one NFE is one complete DiT forward, not one Transformer block. Base H3 uses 50 sequential NFEs. Each NFE traverses the 50-block main Transformer trunk, so the repeated trunk workload is 50 times 50, or 2,500 main-block passes. Under USP8, each of eight ranks executes its local shard, which is why a system trace can show 20,000 rank-local attention launches. Prompt and reference encoding happen before the repeated loop, and VAE decoding happens after it. H3 uses separate shifted Euler schedules for video and audio; x(t) and delta-t on this page deliberately abstract those two modality-specific updates, which share one joint DiT forward. Sources: https://research.nvidia.com/labs/genair/pdd/ ; https://github.com/MiniMax-AI/MiniMax-H3/blob/main/transformer/config.json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parallelism starts with a token shard on every GPU. For this measured 362-frame profile, the aligned sequence has 56,960 tokens, so USP8 gives each rank 7,120 tokens and all 56 attention heads. After the local Q, K, V and learned VSA gate projections, Ulysses runs an all-to-all that gathers the full sequence while scattering heads. The local tensor changes from [B, S/8, 56, 128] to [B, S, 7, 128]. Each rank can now compute full-sequence attention locally for its own seven heads. A reverse all-to-all on O restores [B, S/8, 56, 128], and output projection, residual and MLP continue on the local token shard. The element count is preserved: (S/8) times 56 equals S times 7. USP reduces the per-rank activation and head workload; it does not reduce the global attention math. New Q, K, V and gate tensors are produced in every attention block, so this exchange repeats block by block. The 56,960-token shape belongs to the measured 960 by 544, 362-frame communication study; it is not the 124-frame Base50 shape.</a:t>
            </a:r>
          </a:p>
          <a:p/>
          <a:p>
            <a:r>
              <a:t>v1.21: Title changed to Ulysses. The original website SVG and PNG are embedded without artwork edits. The schematic is the website P=4, S=15104 Q/K/V/O example, not the P=8, S=56960 measured H3 configuration described at left. The illustration does not include the extra learned VSA gate slot in the measured H3 profile. Retained website source: https://grateful-requirements-dictionaries-impacts.trycloudflare.com/scaling/ulysses.svg. The old tunnel is currently unavailable; original local website files were recovered.</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cumulative comparison for the fixed five-second livestream-target workload. These timings cover standalone Ref2VA requests, not rolling continuation.</a:t>
            </a:r>
          </a:p>
          <a:p>
            <a:r>
              <a:t>The retained baseline is 247.9563708677888 seconds: median of 247.9563708677888, 246.20054612867534 and 248.29797918722034. It uses the horizontal Miles image-and-audio Ref2VA request, 960x544, 124 frames at 24 fps (5.166666667 seconds of media), seed 43, on the original eight GPUs. The target is strictly less than 5.0 seconds through completed audiovisual MP4.</a:t>
            </a:r>
          </a:p>
          <a:p>
            <a:r>
              <a:t>Display groups 0-3 are left and 4-7 right. Group 0 is retained; only groups 1-7 require new timing. Each group adds its changes cumulatively. PDD reduces 50 evaluations to eight. VSA adds sparse attention. QAD and native FP4 are combined, including unified prefix/video computation and device-aware SM scheduling. Ulysses combines RDMA, direct layout, V/gate overlap and IB for remaining NCCL operations. The 2/3/2 head pipeline precedes CUDA Graph. NVFP4 36-layer VAE and MP4 pre-encoding are the last group.</a:t>
            </a:r>
          </a:p>
          <a:p>
            <a:r>
              <a:t>All seven new E2E groups have three formal requests, excluding initialization and warmup. Do not reuse the separate 362-frame historical CAKE study, standalone kernel times, or component numerical tests as points on this comparison. The encoders and native 36-layer VAE remain fixed until the explicit final VAE group. The native VAE decode uses FP16 autocast and mixed-precision operations; the BF16 DiT label does not describe its precision. The NVFP4 decoder contains 216 packed linear modules across 36 blocks and uses BF16 autocast. Actual decoder metadata and MP4 pre-encoding calls are recorded per request. AdaLN projection-cache counters will be recorded; enabled caching does not imply a 100 percent hit rate. Same-case video/audio quality, complete output decoding and actual eight-step execution must be reviewed alongside the timing.</a:t>
            </a:r>
          </a:p>
          <a:p>
            <a:r>
              <a:t>The baseline and early stages use recorded runtime configurations; checkpoint/runtime changes are documented in the benchmark manifests. This is cumulative evidence, not independent isolated attribution for each kernel. Rolling livestream continuity qualification is outside these seven cohorts.</a:t>
            </a:r>
          </a:p>
          <a:p/>
          <a:p>
            <a:r>
              <a:t>Measured medians in seconds: 0: 247.956370868, 1: 42.961755994, 2: 26.198997436, 3: 19.351314013, 4: 6.830540991, 5: 6.471706104, 6: 6.201149457, 7: 5.417645110</a:t>
            </a:r>
          </a:p>
          <a:p>
            <a:r>
              <a:t>Final formal samples: 5.414621825, 5.417645110, 5.422367400</a:t>
            </a:r>
          </a:p>
          <a:p>
            <a:r>
              <a:t>Quality review: full audiovisual decoding, repeat hashes, signal checks, and five sampled frames per cohort. Appearance, expression and head motion differ across model configurations. Subjective speech quality and lip synchronization were not rated. No perceptual equivalence or rolling-stream qualification is claimed.</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Shunyang Li | Benchmarks measured | 27 Oct 2026</a:t>
            </a:r>
          </a:p>
        </p:txBody>
      </p:sp>
      <p:sp>
        <p:nvSpPr>
          <p:cNvPr id="3" name="Text Placeholder 2"/>
          <p:cNvSpPr>
            <a:spLocks noGrp="1"/>
          </p:cNvSpPr>
          <p:nvPr>
            <p:ph type="body" idx="11" sz="quarter"/>
          </p:nvPr>
        </p:nvSpPr>
        <p:spPr>
          <a:xfrm>
            <a:off x="1828800" y="15956280"/>
            <a:ext cx="16459200" cy="1005840"/>
          </a:xfrm>
        </p:spPr>
        <p:txBody>
          <a:bodyPr/>
          <a:lstStyle/>
          <a:p>
            <a:r>
              <a:rPr sz="5800">
                <a:latin typeface="NVIDIA Sans"/>
              </a:rPr>
              <a:t>8× RTX PRO 5000 · vLLM-Omni</a:t>
            </a:r>
          </a:p>
        </p:txBody>
      </p:sp>
      <p:sp>
        <p:nvSpPr>
          <p:cNvPr id="4" name="Text Placeholder 3"/>
          <p:cNvSpPr>
            <a:spLocks noGrp="1"/>
          </p:cNvSpPr>
          <p:nvPr>
            <p:ph type="body" idx="10" sz="quarter"/>
          </p:nvPr>
        </p:nvSpPr>
        <p:spPr/>
        <p:txBody>
          <a:bodyPr/>
          <a:lstStyle/>
          <a:p>
            <a:r>
              <a:t>Toward Real-Time Generation</a:t>
            </a:r>
            <a:br/>
            <a:r>
              <a:t>With 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18059400" y="2470666"/>
            <a:ext cx="16687800" cy="4572000"/>
          </a:xfrm>
        </p:spPr>
        <p:txBody>
          <a:bodyPr/>
          <a:lstStyle/>
          <a:p>
            <a:r>
              <a:t>01 · Real-Time H3</a:t>
            </a:r>
            <a:br/>
            <a:r>
              <a:t>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A 32B encoder feeds the 33B Omni Transformer and visual/audio VAEs. Fifty blocks × 50 steps dominate compute; about 13B AdaLN parameters can be cached</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RDMA via NIC*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average GPU timeline</a:t>
            </a:r>
          </a:p>
        </p:txBody>
      </p:sp>
      <p:sp>
        <p:nvSpPr>
          <p:cNvPr id="3" name="Title 2"/>
          <p:cNvSpPr>
            <a:spLocks noGrp="1"/>
          </p:cNvSpPr>
          <p:nvPr>
            <p:ph type="title"/>
          </p:nvPr>
        </p:nvSpPr>
        <p:spPr/>
        <p:txBody>
          <a:bodyPr/>
          <a:lstStyle/>
          <a:p>
            <a:r>
              <a:t>Retained Baseline: 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Average GPU Time*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weight staging + device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default AdaLN offload · local NCCL / RDMA off · *sum across 8 GPU timelines ÷ 8</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Of the 38.5 s average, 36.9 s is AdaLN projection weight staging from CPU; layout is 1.5 s</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This run uses the default runtime cache, not a complete precomputed schedule sidecar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313131"/>
                </a:solidFill>
                <a:latin typeface="NVIDIA Sans Medium"/>
              </a:rPr>
              <a:t>State and direction</a:t>
            </a:r>
          </a:p>
          <a:p>
            <a:pPr lvl="1" algn="l"/>
            <a:r>
              <a:rPr b="0">
                <a:solidFill>
                  <a:srgbClr val="313131"/>
                </a:solidFill>
                <a:latin typeface="NVIDIA Sans"/>
              </a:rPr>
              <a:t>x(t) is the current latent; the DiT predicts a data-ward velocity</a:t>
            </a:r>
          </a:p>
          <a:p>
            <a:pPr algn="l"/>
            <a:r>
              <a:rPr b="1">
                <a:solidFill>
                  <a:srgbClr val="313131"/>
                </a:solidFill>
                <a:latin typeface="NVIDIA Sans Medium"/>
              </a:rPr>
              <a:t>Solver update</a:t>
            </a:r>
          </a:p>
          <a:p>
            <a:pPr lvl="1" algn="l"/>
            <a:r>
              <a:rPr b="0">
                <a:solidFill>
                  <a:srgbClr val="313131"/>
                </a:solidFill>
                <a:latin typeface="NVIDIA Sans"/>
              </a:rPr>
              <a:t>Euler advances x(t) by a small interval along that velocity</a:t>
            </a:r>
          </a:p>
          <a:p>
            <a:pPr lvl="1" algn="l"/>
            <a:r>
              <a:rPr b="0">
                <a:solidFill>
                  <a:srgbClr val="313131"/>
                </a:solidFill>
                <a:latin typeface="NVIDIA Sans"/>
              </a:rPr>
              <a:t>The next DiT call needs the new latent, so conventional steps run in sequence</a:t>
            </a:r>
          </a:p>
          <a:p>
            <a:pPr algn="l"/>
            <a:r>
              <a:rPr b="1">
                <a:solidFill>
                  <a:srgbClr val="76B900"/>
                </a:solidFill>
                <a:latin typeface="NVIDIA Sans Medium"/>
              </a:rPr>
              <a:t>Network function evaluation (NFE)</a:t>
            </a:r>
          </a:p>
          <a:p>
            <a:pPr lvl="1" algn="l"/>
            <a:r>
              <a:rPr b="0">
                <a:solidFill>
                  <a:srgbClr val="313131"/>
                </a:solidFill>
                <a:latin typeface="NVIDIA Sans"/>
              </a:rPr>
              <a:t>One NFE is one complete DiT forward</a:t>
            </a:r>
          </a:p>
          <a:p>
            <a:pPr algn="l"/>
            <a:r>
              <a:rPr b="1">
                <a:solidFill>
                  <a:srgbClr val="313131"/>
                </a:solidFill>
                <a:latin typeface="NVIDIA Sans Medium"/>
              </a:rPr>
              <a:t>Base H3</a:t>
            </a:r>
          </a:p>
          <a:p>
            <a:pPr lvl="1" algn="l"/>
            <a:r>
              <a:rPr b="0">
                <a:solidFill>
                  <a:srgbClr val="313131"/>
                </a:solidFill>
                <a:latin typeface="NVIDIA Sans"/>
              </a:rPr>
              <a:t>50 NFE × 50 main blocks = 2,500 main-block passes</a:t>
            </a:r>
          </a:p>
        </p:txBody>
      </p:sp>
      <p:sp>
        <p:nvSpPr>
          <p:cNvPr id="3" name="Text Placeholder 2"/>
          <p:cNvSpPr>
            <a:spLocks noGrp="1"/>
          </p:cNvSpPr>
          <p:nvPr>
            <p:ph type="body" idx="14" sz="quarter"/>
          </p:nvPr>
        </p:nvSpPr>
        <p:spPr>
          <a:xfrm>
            <a:off x="1828800" y="5806440"/>
            <a:ext cx="13716000" cy="1645920"/>
          </a:xfrm>
        </p:spPr>
        <p:txBody>
          <a:bodyPr/>
          <a:lstStyle/>
          <a:p>
            <a:r>
              <a:t>H3 follows a learned velocity field from noise toward clean video and audio latents</a:t>
            </a:r>
          </a:p>
        </p:txBody>
      </p:sp>
      <p:sp>
        <p:nvSpPr>
          <p:cNvPr id="4" name="Title 3"/>
          <p:cNvSpPr>
            <a:spLocks noGrp="1"/>
          </p:cNvSpPr>
          <p:nvPr>
            <p:ph type="title"/>
          </p:nvPr>
        </p:nvSpPr>
        <p:spPr>
          <a:xfrm>
            <a:off x="1828800" y="1828800"/>
            <a:ext cx="13716000" cy="3840480"/>
          </a:xfrm>
        </p:spPr>
        <p:txBody>
          <a:bodyPr/>
          <a:lstStyle/>
          <a:p>
            <a:r>
              <a:t>How Denoising Works</a:t>
            </a:r>
          </a:p>
        </p:txBody>
      </p:sp>
      <p:sp>
        <p:nvSpPr>
          <p:cNvPr id="5" name="Text Placeholder 4"/>
          <p:cNvSpPr>
            <a:spLocks noGrp="1"/>
          </p:cNvSpPr>
          <p:nvPr>
            <p:ph type="body" idx="52" sz="quarter"/>
          </p:nvPr>
        </p:nvSpPr>
        <p:spPr>
          <a:xfrm>
            <a:off x="19552660" y="18059400"/>
            <a:ext cx="15194539" cy="1051560"/>
          </a:xfrm>
        </p:spPr>
        <p:txBody>
          <a:bodyPr/>
          <a:lstStyle/>
          <a:p>
            <a:r>
              <a:t>A chain of dependent solver updates turns noise into clean latents</a:t>
            </a:r>
          </a:p>
        </p:txBody>
      </p:sp>
      <p:sp>
        <p:nvSpPr>
          <p:cNvPr id="6" name="Text Placeholder 5"/>
          <p:cNvSpPr>
            <a:spLocks noGrp="1"/>
          </p:cNvSpPr>
          <p:nvPr>
            <p:ph type="body" idx="51" sz="quarter"/>
          </p:nvPr>
        </p:nvSpPr>
        <p:spPr>
          <a:xfrm>
            <a:off x="19552660" y="17190720"/>
            <a:ext cx="15194539" cy="822960"/>
          </a:xfrm>
        </p:spPr>
        <p:txBody>
          <a:bodyPr/>
          <a:lstStyle/>
          <a:p>
            <a:r>
              <a:t>Classical Flow-Matching Sampling</a:t>
            </a:r>
          </a:p>
        </p:txBody>
      </p:sp>
      <p:pic>
        <p:nvPicPr>
          <p:cNvPr id="7" name="Picture Placeholder 6" descr="denoising-basic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 H3 Base configuration · NVIDIA FastGen-PDD sampling background (arXiv:2607.26004) · author abstraction</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10</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Retained single-GPU study at 1344 × 768 · Separate from the eight-GPU roadmap</a:t>
            </a:r>
          </a:p>
        </p:txBody>
      </p:sp>
      <p:sp>
        <p:nvSpPr>
          <p:cNvPr id="4" name="Title 3"/>
          <p:cNvSpPr>
            <a:spLocks noGrp="1"/>
          </p:cNvSpPr>
          <p:nvPr>
            <p:ph type="title"/>
          </p:nvPr>
        </p:nvSpPr>
        <p:spPr/>
        <p:txBody>
          <a:bodyPr/>
          <a:lstStyle/>
          <a:p>
            <a:r>
              <a:t>Prior Study: Quantization Quality</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sample; no general quality claim · LPIPS lower / SSIM higher means closer to BF16</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11</a:t>
            </a:fld>
            <a:endParaRPr lang="en-US"/>
          </a:p>
        </p:txBody>
      </p:sp>
      <p:sp>
        <p:nvSpPr>
          <p:cNvPr id="7" name="BF16 Reference"/>
          <p:cNvSpPr txBox="1"/>
          <p:nvPr/>
        </p:nvSpPr>
        <p:spPr>
          <a:xfrm>
            <a:off x="164592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6858000"/>
            <a:ext cx="8046720" cy="4598125"/>
          </a:xfrm>
          <a:prstGeom prst="rect">
            <a:avLst/>
          </a:prstGeom>
          <a:ln w="9525">
            <a:solidFill>
              <a:srgbClr val="A7A7A7"/>
            </a:solidFill>
          </a:ln>
        </p:spPr>
      </p:pic>
      <p:sp>
        <p:nvSpPr>
          <p:cNvPr id="9" name="BF16 weights"/>
          <p:cNvSpPr txBox="1"/>
          <p:nvPr/>
        </p:nvSpPr>
        <p:spPr>
          <a:xfrm>
            <a:off x="164592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BF16 weights</a:t>
            </a:r>
          </a:p>
          <a:p>
            <a:pPr algn="ctr">
              <a:lnSpc>
                <a:spcPct val="108000"/>
              </a:lnSpc>
              <a:spcBef>
                <a:spcPts val="0"/>
              </a:spcBef>
              <a:spcAft>
                <a:spcPts val="1000"/>
              </a:spcAft>
            </a:pPr>
            <a:r>
              <a:rPr sz="2900" b="0">
                <a:solidFill>
                  <a:srgbClr val="313131"/>
                </a:solidFill>
                <a:latin typeface="NVIDIA Sans"/>
              </a:rPr>
              <a:t>cuDNN BF16 attention</a:t>
            </a:r>
          </a:p>
        </p:txBody>
      </p:sp>
      <p:sp>
        <p:nvSpPr>
          <p:cNvPr id="10" name="Request: 152.58 s*"/>
          <p:cNvSpPr txBox="1"/>
          <p:nvPr/>
        </p:nvSpPr>
        <p:spPr>
          <a:xfrm>
            <a:off x="164592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152.58 s*</a:t>
            </a:r>
          </a:p>
        </p:txBody>
      </p:sp>
      <p:sp>
        <p:nvSpPr>
          <p:cNvPr id="11" name="LPIPS 0.0000  |  SSIM 1.0000"/>
          <p:cNvSpPr txBox="1"/>
          <p:nvPr/>
        </p:nvSpPr>
        <p:spPr>
          <a:xfrm>
            <a:off x="164592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0.0000  |  SSIM 1.0000</a:t>
            </a:r>
          </a:p>
        </p:txBody>
      </p:sp>
      <p:sp>
        <p:nvSpPr>
          <p:cNvPr id="12" name="Online NVFP4"/>
          <p:cNvSpPr txBox="1"/>
          <p:nvPr/>
        </p:nvSpPr>
        <p:spPr>
          <a:xfrm>
            <a:off x="1005840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6858000"/>
            <a:ext cx="8046720" cy="4598125"/>
          </a:xfrm>
          <a:prstGeom prst="rect">
            <a:avLst/>
          </a:prstGeom>
          <a:ln w="9525">
            <a:solidFill>
              <a:srgbClr val="A7A7A7"/>
            </a:solidFill>
          </a:ln>
        </p:spPr>
      </p:pic>
      <p:sp>
        <p:nvSpPr>
          <p:cNvPr id="14" name="Fresh BF16-derived NVFP4"/>
          <p:cNvSpPr txBox="1"/>
          <p:nvPr/>
        </p:nvSpPr>
        <p:spPr>
          <a:xfrm>
            <a:off x="1005840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Fresh BF16-derived NVFP4</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15" name="Request: 89.12 s*"/>
          <p:cNvSpPr txBox="1"/>
          <p:nvPr/>
        </p:nvSpPr>
        <p:spPr>
          <a:xfrm>
            <a:off x="1005840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89.12 s*</a:t>
            </a:r>
          </a:p>
        </p:txBody>
      </p:sp>
      <p:sp>
        <p:nvSpPr>
          <p:cNvPr id="16" name="LPIPS 0.2313  |  SSIM 0.5488"/>
          <p:cNvSpPr txBox="1"/>
          <p:nvPr/>
        </p:nvSpPr>
        <p:spPr>
          <a:xfrm>
            <a:off x="1005840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0.2313  |  SSIM 0.5488</a:t>
            </a:r>
          </a:p>
        </p:txBody>
      </p:sp>
      <p:sp>
        <p:nvSpPr>
          <p:cNvPr id="17" name="QAD NVFP4"/>
          <p:cNvSpPr txBox="1"/>
          <p:nvPr/>
        </p:nvSpPr>
        <p:spPr>
          <a:xfrm>
            <a:off x="1847088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6858000"/>
            <a:ext cx="8046720" cy="4598125"/>
          </a:xfrm>
          <a:prstGeom prst="rect">
            <a:avLst/>
          </a:prstGeom>
          <a:ln w="9525">
            <a:solidFill>
              <a:srgbClr val="A7A7A7"/>
            </a:solidFill>
          </a:ln>
        </p:spPr>
      </p:pic>
      <p:sp>
        <p:nvSpPr>
          <p:cNvPr id="19" name="QAD weights + native scales"/>
          <p:cNvSpPr txBox="1"/>
          <p:nvPr/>
        </p:nvSpPr>
        <p:spPr>
          <a:xfrm>
            <a:off x="1847088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QAD weights + native scales</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20" name="Request: 84.47 s*"/>
          <p:cNvSpPr txBox="1"/>
          <p:nvPr/>
        </p:nvSpPr>
        <p:spPr>
          <a:xfrm>
            <a:off x="1847088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84.47 s*</a:t>
            </a:r>
          </a:p>
        </p:txBody>
      </p:sp>
      <p:sp>
        <p:nvSpPr>
          <p:cNvPr id="21" name="LPIPS 0.2177  |  SSIM 0.6225"/>
          <p:cNvSpPr txBox="1"/>
          <p:nvPr/>
        </p:nvSpPr>
        <p:spPr>
          <a:xfrm>
            <a:off x="1847088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0.2177  |  SSIM 0.6225</a:t>
            </a:r>
          </a:p>
        </p:txBody>
      </p:sp>
      <p:sp>
        <p:nvSpPr>
          <p:cNvPr id="22" name="QAD + Optimized FP4"/>
          <p:cNvSpPr txBox="1"/>
          <p:nvPr/>
        </p:nvSpPr>
        <p:spPr>
          <a:xfrm>
            <a:off x="2688336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6858000"/>
            <a:ext cx="8046720" cy="4598125"/>
          </a:xfrm>
          <a:prstGeom prst="rect">
            <a:avLst/>
          </a:prstGeom>
          <a:ln w="9525">
            <a:solidFill>
              <a:srgbClr val="A7A7A7"/>
            </a:solidFill>
          </a:ln>
        </p:spPr>
      </p:pic>
      <p:sp>
        <p:nvSpPr>
          <p:cNvPr id="24" name="Same QAD encoder / decoder"/>
          <p:cNvSpPr txBox="1"/>
          <p:nvPr/>
        </p:nvSpPr>
        <p:spPr>
          <a:xfrm>
            <a:off x="2688336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Unified prefix / video attention</a:t>
            </a:r>
            <a:br>
              <a:rPr sz="2900" b="0">
                <a:solidFill>
                  <a:srgbClr val="313131"/>
                </a:solidFill>
                <a:latin typeface="NVIDIA Sans"/>
              </a:rPr>
            </a:br>
            <a:r>
              <a:rPr sz="2900" b="0">
                <a:solidFill>
                  <a:srgbClr val="313131"/>
                </a:solidFill>
                <a:latin typeface="NVIDIA Sans"/>
              </a:rPr>
              <a:t>Device-aware SM scheduling</a:t>
            </a:r>
          </a:p>
        </p:txBody>
      </p:sp>
      <p:sp>
        <p:nvSpPr>
          <p:cNvPr id="25" name="Request: 69.95 s*"/>
          <p:cNvSpPr txBox="1"/>
          <p:nvPr/>
        </p:nvSpPr>
        <p:spPr>
          <a:xfrm>
            <a:off x="2688336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69.95 s*</a:t>
            </a:r>
          </a:p>
        </p:txBody>
      </p:sp>
      <p:sp>
        <p:nvSpPr>
          <p:cNvPr id="26" name="LPIPS 0.2169  |  SSIM 0.6222"/>
          <p:cNvSpPr txBox="1"/>
          <p:nvPr/>
        </p:nvSpPr>
        <p:spPr>
          <a:xfrm>
            <a:off x="2688336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0.2169  |  SSIM 0.6222</a:t>
            </a:r>
          </a:p>
        </p:txBody>
      </p:sp>
      <p:sp>
        <p:nvSpPr>
          <p:cNvPr id="27" name="Quantized arms include DiT, language encoder and video decoder."/>
          <p:cNvSpPr txBox="1"/>
          <p:nvPr/>
        </p:nvSpPr>
        <p:spPr>
          <a:xfrm>
            <a:off x="1828800" y="16459200"/>
            <a:ext cx="3291840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76B900"/>
                </a:solidFill>
                <a:latin typeface="NVIDIA Sans Medium"/>
              </a:rPr>
              <a:t>Quantized arms include DiT, language encoder and video decoder.</a:t>
            </a:r>
          </a:p>
        </p:txBody>
      </p:sp>
      <p:sp>
        <p:nvSpPr>
          <p:cNvPr id="28" name="1344 × 768 · 124 frames at 24 FPS · 8 steps · Seed 1234 · VSA tile128"/>
          <p:cNvSpPr txBox="1"/>
          <p:nvPr/>
        </p:nvSpPr>
        <p:spPr>
          <a:xfrm>
            <a:off x="1828800" y="17510760"/>
            <a:ext cx="32918400" cy="7315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1344 × 768 · 124 frames at 24 FPS · 8 steps · Seed 1234 · VSA tile128</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*Single requests with CPU offload. GPUs: BF16 0; Online / QAD 3; Native FP4 1.</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Start with token shards</a:t>
            </a:r>
          </a:p>
          <a:p>
            <a:pPr lvl="1" algn="l"/>
            <a:r>
              <a:rPr b="0">
                <a:solidFill>
                  <a:srgbClr val="313131"/>
                </a:solidFill>
                <a:latin typeface="NVIDIA Sans"/>
              </a:rPr>
              <a:t>Eight GPUs split 56,960 tokens; each rank keeps 7,120 tokens and all 56 heads</a:t>
            </a:r>
          </a:p>
          <a:p>
            <a:pPr algn="l"/>
            <a:r>
              <a:rPr b="1">
                <a:solidFill>
                  <a:srgbClr val="76B900"/>
                </a:solidFill>
                <a:latin typeface="NVIDIA Sans Medium"/>
              </a:rPr>
              <a:t>Swap the sharding axis</a:t>
            </a:r>
          </a:p>
          <a:p>
            <a:pPr lvl="1" algn="l"/>
            <a:r>
              <a:rPr b="0">
                <a:solidFill>
                  <a:srgbClr val="313131"/>
                </a:solidFill>
                <a:latin typeface="NVIDIA Sans"/>
              </a:rPr>
              <a:t>Q/K/V/G all-to-all changes [S/8, 56] into [S, 7]</a:t>
            </a:r>
          </a:p>
          <a:p>
            <a:pPr algn="l"/>
            <a:r>
              <a:rPr b="1">
                <a:solidFill>
                  <a:srgbClr val="76B900"/>
                </a:solidFill>
                <a:latin typeface="NVIDIA Sans Medium"/>
              </a:rPr>
              <a:t>Do the expensive part locally</a:t>
            </a:r>
          </a:p>
          <a:p>
            <a:pPr lvl="1" algn="l"/>
            <a:r>
              <a:rPr b="0">
                <a:solidFill>
                  <a:srgbClr val="313131"/>
                </a:solidFill>
                <a:latin typeface="NVIDIA Sans"/>
              </a:rPr>
              <a:t>Each GPU sees the full sequence for its own seven heads</a:t>
            </a:r>
          </a:p>
          <a:p>
            <a:pPr algn="l"/>
            <a:r>
              <a:rPr b="1">
                <a:solidFill>
                  <a:srgbClr val="76B900"/>
                </a:solidFill>
                <a:latin typeface="NVIDIA Sans Medium"/>
              </a:rPr>
              <a:t>Switch back for the block</a:t>
            </a:r>
          </a:p>
          <a:p>
            <a:pPr lvl="1" algn="l"/>
            <a:r>
              <a:rPr b="0">
                <a:solidFill>
                  <a:srgbClr val="313131"/>
                </a:solidFill>
                <a:latin typeface="NVIDIA Sans"/>
              </a:rPr>
              <a:t>The O all-to-all restores token shards for projection, residual, and MLP</a:t>
            </a:r>
          </a:p>
        </p:txBody>
      </p:sp>
      <p:sp>
        <p:nvSpPr>
          <p:cNvPr id="3" name="Text Placeholder 2"/>
          <p:cNvSpPr>
            <a:spLocks noGrp="1"/>
          </p:cNvSpPr>
          <p:nvPr>
            <p:ph type="body" idx="14" sz="quarter"/>
          </p:nvPr>
        </p:nvSpPr>
        <p:spPr>
          <a:xfrm>
            <a:off x="1828800" y="5806440"/>
            <a:ext cx="13716000" cy="1691640"/>
          </a:xfrm>
        </p:spPr>
        <p:txBody>
          <a:bodyPr/>
          <a:lstStyle/>
          <a:p>
            <a:r>
              <a:t>Each GPU swaps a token shard for seven full-sequence heads</a:t>
            </a:r>
          </a:p>
        </p:txBody>
      </p:sp>
      <p:sp>
        <p:nvSpPr>
          <p:cNvPr id="4" name="Title 3"/>
          <p:cNvSpPr>
            <a:spLocks noGrp="1"/>
          </p:cNvSpPr>
          <p:nvPr>
            <p:ph type="title"/>
          </p:nvPr>
        </p:nvSpPr>
        <p:spPr>
          <a:xfrm>
            <a:off x="1828800" y="1828800"/>
            <a:ext cx="13716000" cy="3840480"/>
          </a:xfrm>
        </p:spPr>
        <p:txBody>
          <a:bodyPr/>
          <a:lstStyle/>
          <a:p>
            <a:r>
              <a:t>Ulysses</a:t>
            </a:r>
          </a:p>
        </p:txBody>
      </p:sp>
      <p:sp>
        <p:nvSpPr>
          <p:cNvPr id="5" name="Text Placeholder 4"/>
          <p:cNvSpPr>
            <a:spLocks noGrp="1"/>
          </p:cNvSpPr>
          <p:nvPr>
            <p:ph type="body" idx="52" sz="quarter"/>
          </p:nvPr>
        </p:nvSpPr>
        <p:spPr>
          <a:xfrm>
            <a:off x="17373600" y="16824960"/>
            <a:ext cx="17373600" cy="1097280"/>
          </a:xfrm>
        </p:spPr>
        <p:txBody>
          <a:bodyPr/>
          <a:lstStyle/>
          <a:p>
            <a:pPr algn="ctr"/>
            <a:r>
              <a:t>Original website illustration: P = 4</a:t>
            </a:r>
            <a:br/>
            <a:r>
              <a:t>Measured H3 configuration at left: P = 8</a:t>
            </a:r>
          </a:p>
        </p:txBody>
      </p:sp>
      <p:sp>
        <p:nvSpPr>
          <p:cNvPr id="6" name="Text Placeholder 5"/>
          <p:cNvSpPr>
            <a:spLocks noGrp="1"/>
          </p:cNvSpPr>
          <p:nvPr>
            <p:ph type="body" idx="51" sz="quarter"/>
          </p:nvPr>
        </p:nvSpPr>
        <p:spPr>
          <a:xfrm>
            <a:off x="17373600" y="16002000"/>
            <a:ext cx="17373600" cy="685800"/>
          </a:xfrm>
        </p:spPr>
        <p:txBody>
          <a:bodyPr/>
          <a:lstStyle/>
          <a:p>
            <a:r>
              <a:t>Shard by heads, then restore token shards</a:t>
            </a:r>
          </a:p>
        </p:txBody>
      </p:sp>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retained scaling website · Ulysses illustration P=4 · H3 profile at left P=8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12</a:t>
            </a:fld>
            <a:endParaRPr lang="en-US"/>
          </a:p>
        </p:txBody>
      </p:sp>
      <p:pic>
        <p:nvPicPr>
          <p:cNvPr id="10" name="Original website Ulysses schematic — P=4 illustration" descr="slide-12-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7373600" y="4311623"/>
            <a:ext cx="17373600" cy="11127790"/>
          </a:xfrm>
          <a:prstGeom prst="rect">
            <a:avLst/>
          </a:prstGeom>
          <a:ln w="9525">
            <a:solidFill>
              <a:srgbClr val="A7A7A7"/>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13</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14</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15</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16</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17</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One fixed Ref2VA case · Eight cumulative groups · Seven measured benchmarks</a:t>
            </a:r>
          </a:p>
        </p:txBody>
      </p:sp>
      <p:sp>
        <p:nvSpPr>
          <p:cNvPr id="3" name="Title 2"/>
          <p:cNvSpPr>
            <a:spLocks noGrp="1"/>
          </p:cNvSpPr>
          <p:nvPr>
            <p:ph type="title"/>
          </p:nvPr>
        </p:nvSpPr>
        <p:spPr/>
        <p:txBody>
          <a:bodyPr/>
          <a:lstStyle/>
          <a:p>
            <a:r>
              <a:t>Optimization Roadmap: 5 s Live Target</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18</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Base50 r4 · fixed input and seed · warm request median · complete audiovisual MP4</a:t>
            </a:r>
            <a:endParaRPr lang="en-US" dirty="0"/>
          </a:p>
        </p:txBody>
      </p:sp>
      <p:sp>
        <p:nvSpPr>
          <p:cNvPr id="7" name="Locked workload"/>
          <p:cNvSpPr txBox="1"/>
          <p:nvPr/>
        </p:nvSpPr>
        <p:spPr>
          <a:xfrm>
            <a:off x="1828800" y="5166360"/>
            <a:ext cx="32918400" cy="731520"/>
          </a:xfrm>
          <a:prstGeom prst="rect">
            <a:avLst/>
          </a:prstGeom>
          <a:noFill/>
        </p:spPr>
        <p:txBody>
          <a:bodyPr wrap="square" lIns="0" rIns="0" tIns="0" bIns="0">
            <a:noAutofit/>
          </a:bodyPr>
          <a:lstStyle/>
          <a:p>
            <a:pPr algn="ctr">
              <a:lnSpc>
                <a:spcPct val="112000"/>
              </a:lnSpc>
              <a:spcBef>
                <a:spcPts val="0"/>
              </a:spcBef>
              <a:spcAft>
                <a:spcPts val="0"/>
              </a:spcAft>
            </a:pPr>
            <a:r>
              <a:rPr sz="3200" b="0">
                <a:solidFill>
                  <a:srgbClr val="313131"/>
                </a:solidFill>
                <a:latin typeface="NVIDIA Sans"/>
              </a:rPr>
              <a:t>960 × 544  ·  124 frames / 24 FPS  ·  8 GPUs  ·  seed 43</a:t>
            </a:r>
          </a:p>
        </p:txBody>
      </p:sp>
      <p:sp>
        <p:nvSpPr>
          <p:cNvPr id="8" name="Model Compute"/>
          <p:cNvSpPr txBox="1"/>
          <p:nvPr/>
        </p:nvSpPr>
        <p:spPr>
          <a:xfrm>
            <a:off x="1828800" y="6263640"/>
            <a:ext cx="1243584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Model Compute</a:t>
            </a:r>
          </a:p>
        </p:txBody>
      </p:sp>
      <p:sp>
        <p:nvSpPr>
          <p:cNvPr id="9" name="Model Compute timing header"/>
          <p:cNvSpPr txBox="1"/>
          <p:nvPr/>
        </p:nvSpPr>
        <p:spPr>
          <a:xfrm>
            <a:off x="14630400" y="6355080"/>
            <a:ext cx="3108960" cy="640080"/>
          </a:xfrm>
          <a:prstGeom prst="rect">
            <a:avLst/>
          </a:prstGeom>
          <a:noFill/>
        </p:spPr>
        <p:txBody>
          <a:bodyPr wrap="square" lIns="0" rIns="0" tIns="0" bIns="0">
            <a:noAutofit/>
          </a:bodyPr>
          <a:lstStyle/>
          <a:p>
            <a:pPr algn="r">
              <a:lnSpc>
                <a:spcPct val="112000"/>
              </a:lnSpc>
              <a:spcBef>
                <a:spcPts val="0"/>
              </a:spcBef>
              <a:spcAft>
                <a:spcPts val="0"/>
              </a:spcAft>
            </a:pPr>
            <a:r>
              <a:rPr sz="2800" b="0">
                <a:solidFill>
                  <a:srgbClr val="313131"/>
                </a:solidFill>
                <a:latin typeface="NVIDIA Sans"/>
              </a:rPr>
              <a:t>E2E (s)</a:t>
            </a:r>
          </a:p>
        </p:txBody>
      </p:sp>
      <p:cxnSp>
        <p:nvCxnSpPr>
          <p:cNvPr id="10" name="Model Compute header rule"/>
          <p:cNvCxnSpPr/>
          <p:nvPr/>
        </p:nvCxnSpPr>
        <p:spPr>
          <a:xfrm>
            <a:off x="1828800" y="7086600"/>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11" name="Communication and Output"/>
          <p:cNvSpPr txBox="1"/>
          <p:nvPr/>
        </p:nvSpPr>
        <p:spPr>
          <a:xfrm>
            <a:off x="18836640" y="6263640"/>
            <a:ext cx="1243584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Communication and Output</a:t>
            </a:r>
          </a:p>
        </p:txBody>
      </p:sp>
      <p:sp>
        <p:nvSpPr>
          <p:cNvPr id="12" name="Communication and Output timing header"/>
          <p:cNvSpPr txBox="1"/>
          <p:nvPr/>
        </p:nvSpPr>
        <p:spPr>
          <a:xfrm>
            <a:off x="31638240" y="6355080"/>
            <a:ext cx="3108960" cy="640080"/>
          </a:xfrm>
          <a:prstGeom prst="rect">
            <a:avLst/>
          </a:prstGeom>
          <a:noFill/>
        </p:spPr>
        <p:txBody>
          <a:bodyPr wrap="square" lIns="0" rIns="0" tIns="0" bIns="0">
            <a:noAutofit/>
          </a:bodyPr>
          <a:lstStyle/>
          <a:p>
            <a:pPr algn="r">
              <a:lnSpc>
                <a:spcPct val="112000"/>
              </a:lnSpc>
              <a:spcBef>
                <a:spcPts val="0"/>
              </a:spcBef>
              <a:spcAft>
                <a:spcPts val="0"/>
              </a:spcAft>
            </a:pPr>
            <a:r>
              <a:rPr sz="2800" b="0">
                <a:solidFill>
                  <a:srgbClr val="313131"/>
                </a:solidFill>
                <a:latin typeface="NVIDIA Sans"/>
              </a:rPr>
              <a:t>E2E (s)</a:t>
            </a:r>
          </a:p>
        </p:txBody>
      </p:sp>
      <p:cxnSp>
        <p:nvCxnSpPr>
          <p:cNvPr id="13" name="Communication and Output header rule"/>
          <p:cNvCxnSpPr/>
          <p:nvPr/>
        </p:nvCxnSpPr>
        <p:spPr>
          <a:xfrm>
            <a:off x="18836640" y="7086600"/>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14" name="Stage 0 number"/>
          <p:cNvSpPr txBox="1"/>
          <p:nvPr/>
        </p:nvSpPr>
        <p:spPr>
          <a:xfrm>
            <a:off x="1828800" y="736092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0</a:t>
            </a:r>
          </a:p>
        </p:txBody>
      </p:sp>
      <p:sp>
        <p:nvSpPr>
          <p:cNvPr id="15" name="Stage 0 name"/>
          <p:cNvSpPr txBox="1"/>
          <p:nvPr/>
        </p:nvSpPr>
        <p:spPr>
          <a:xfrm>
            <a:off x="3017520" y="736092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Retained Baseline</a:t>
            </a:r>
          </a:p>
        </p:txBody>
      </p:sp>
      <p:sp>
        <p:nvSpPr>
          <p:cNvPr id="16" name="Stage 0 detail"/>
          <p:cNvSpPr txBox="1"/>
          <p:nvPr/>
        </p:nvSpPr>
        <p:spPr>
          <a:xfrm>
            <a:off x="3017520" y="827532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BF16 DiT · dense attention</a:t>
            </a:r>
          </a:p>
          <a:p>
            <a:pPr algn="l">
              <a:lnSpc>
                <a:spcPct val="112000"/>
              </a:lnSpc>
              <a:spcBef>
                <a:spcPts val="0"/>
              </a:spcBef>
              <a:spcAft>
                <a:spcPts val="0"/>
              </a:spcAft>
            </a:pPr>
            <a:r>
              <a:rPr sz="3000" b="0">
                <a:solidFill>
                  <a:srgbClr val="313131"/>
                </a:solidFill>
                <a:latin typeface="NVIDIA Sans"/>
              </a:rPr>
              <a:t>50 steps · local NCCL</a:t>
            </a:r>
          </a:p>
        </p:txBody>
      </p:sp>
      <p:sp>
        <p:nvSpPr>
          <p:cNvPr id="17" name="Stage 0 timing"/>
          <p:cNvSpPr txBox="1"/>
          <p:nvPr/>
        </p:nvSpPr>
        <p:spPr>
          <a:xfrm>
            <a:off x="14813280" y="745236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600" b="0">
                <a:solidFill>
                  <a:srgbClr val="000000"/>
                </a:solidFill>
                <a:latin typeface="NVIDIA Sans Medium"/>
              </a:rPr>
              <a:t>247.956</a:t>
            </a:r>
          </a:p>
        </p:txBody>
      </p:sp>
      <p:cxnSp>
        <p:nvCxnSpPr>
          <p:cNvPr id="18" name="Stage 0 separator"/>
          <p:cNvCxnSpPr/>
          <p:nvPr/>
        </p:nvCxnSpPr>
        <p:spPr>
          <a:xfrm>
            <a:off x="1828800" y="953719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Stage 1 number"/>
          <p:cNvSpPr txBox="1"/>
          <p:nvPr/>
        </p:nvSpPr>
        <p:spPr>
          <a:xfrm>
            <a:off x="1828800" y="973836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1</a:t>
            </a:r>
          </a:p>
        </p:txBody>
      </p:sp>
      <p:sp>
        <p:nvSpPr>
          <p:cNvPr id="20" name="Stage 1 name"/>
          <p:cNvSpPr txBox="1"/>
          <p:nvPr/>
        </p:nvSpPr>
        <p:spPr>
          <a:xfrm>
            <a:off x="3017520" y="973836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PDD: 50 to 8 Steps</a:t>
            </a:r>
          </a:p>
        </p:txBody>
      </p:sp>
      <p:sp>
        <p:nvSpPr>
          <p:cNvPr id="21" name="Stage 1 detail"/>
          <p:cNvSpPr txBox="1"/>
          <p:nvPr/>
        </p:nvSpPr>
        <p:spPr>
          <a:xfrm>
            <a:off x="3017520" y="1065276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Reduce denoiser evaluations</a:t>
            </a:r>
          </a:p>
          <a:p>
            <a:pPr algn="l">
              <a:lnSpc>
                <a:spcPct val="112000"/>
              </a:lnSpc>
              <a:spcBef>
                <a:spcPts val="0"/>
              </a:spcBef>
              <a:spcAft>
                <a:spcPts val="0"/>
              </a:spcAft>
            </a:pPr>
            <a:r>
              <a:rPr sz="3000" b="0">
                <a:solidFill>
                  <a:srgbClr val="313131"/>
                </a:solidFill>
                <a:latin typeface="NVIDIA Sans"/>
              </a:rPr>
              <a:t>Eight-step Ref2VA schedule</a:t>
            </a:r>
          </a:p>
        </p:txBody>
      </p:sp>
      <p:sp>
        <p:nvSpPr>
          <p:cNvPr id="22" name="Stage 1 timing"/>
          <p:cNvSpPr txBox="1"/>
          <p:nvPr/>
        </p:nvSpPr>
        <p:spPr>
          <a:xfrm>
            <a:off x="14813280" y="982980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600" b="0">
                <a:solidFill>
                  <a:srgbClr val="000000"/>
                </a:solidFill>
                <a:latin typeface="NVIDIA Sans Medium"/>
              </a:rPr>
              <a:t>42.962</a:t>
            </a:r>
          </a:p>
        </p:txBody>
      </p:sp>
      <p:cxnSp>
        <p:nvCxnSpPr>
          <p:cNvPr id="23" name="Stage 1 separator"/>
          <p:cNvCxnSpPr/>
          <p:nvPr/>
        </p:nvCxnSpPr>
        <p:spPr>
          <a:xfrm>
            <a:off x="1828800" y="1191463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Stage 2 number"/>
          <p:cNvSpPr txBox="1"/>
          <p:nvPr/>
        </p:nvSpPr>
        <p:spPr>
          <a:xfrm>
            <a:off x="1828800" y="1211580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2</a:t>
            </a:r>
          </a:p>
        </p:txBody>
      </p:sp>
      <p:sp>
        <p:nvSpPr>
          <p:cNvPr id="25" name="Stage 2 name"/>
          <p:cNvSpPr txBox="1"/>
          <p:nvPr/>
        </p:nvSpPr>
        <p:spPr>
          <a:xfrm>
            <a:off x="3017520" y="1211580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VSA</a:t>
            </a:r>
          </a:p>
        </p:txBody>
      </p:sp>
      <p:sp>
        <p:nvSpPr>
          <p:cNvPr id="26" name="Stage 2 detail"/>
          <p:cNvSpPr txBox="1"/>
          <p:nvPr/>
        </p:nvSpPr>
        <p:spPr>
          <a:xfrm>
            <a:off x="3017520" y="1303020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Select fine-attention blocks</a:t>
            </a:r>
          </a:p>
          <a:p>
            <a:pPr algn="l">
              <a:lnSpc>
                <a:spcPct val="112000"/>
              </a:lnSpc>
              <a:spcBef>
                <a:spcPts val="0"/>
              </a:spcBef>
              <a:spcAft>
                <a:spcPts val="0"/>
              </a:spcAft>
            </a:pPr>
            <a:r>
              <a:rPr sz="3000" b="0">
                <a:solidFill>
                  <a:srgbClr val="313131"/>
                </a:solidFill>
                <a:latin typeface="NVIDIA Sans"/>
              </a:rPr>
              <a:t>Keep global coarse context</a:t>
            </a:r>
          </a:p>
        </p:txBody>
      </p:sp>
      <p:sp>
        <p:nvSpPr>
          <p:cNvPr id="27" name="Stage 2 timing"/>
          <p:cNvSpPr txBox="1"/>
          <p:nvPr/>
        </p:nvSpPr>
        <p:spPr>
          <a:xfrm>
            <a:off x="14813280" y="1220724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600" b="0">
                <a:solidFill>
                  <a:srgbClr val="000000"/>
                </a:solidFill>
                <a:latin typeface="NVIDIA Sans Medium"/>
              </a:rPr>
              <a:t>26.199</a:t>
            </a:r>
          </a:p>
        </p:txBody>
      </p:sp>
      <p:cxnSp>
        <p:nvCxnSpPr>
          <p:cNvPr id="28" name="Stage 2 separator"/>
          <p:cNvCxnSpPr/>
          <p:nvPr/>
        </p:nvCxnSpPr>
        <p:spPr>
          <a:xfrm>
            <a:off x="1828800" y="1429207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Stage 3 number"/>
          <p:cNvSpPr txBox="1"/>
          <p:nvPr/>
        </p:nvSpPr>
        <p:spPr>
          <a:xfrm>
            <a:off x="1828800" y="1449324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3</a:t>
            </a:r>
          </a:p>
        </p:txBody>
      </p:sp>
      <p:sp>
        <p:nvSpPr>
          <p:cNvPr id="30" name="Stage 3 name"/>
          <p:cNvSpPr txBox="1"/>
          <p:nvPr/>
        </p:nvSpPr>
        <p:spPr>
          <a:xfrm>
            <a:off x="3017520" y="1449324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QAD + Native FP4 Attention</a:t>
            </a:r>
          </a:p>
        </p:txBody>
      </p:sp>
      <p:sp>
        <p:nvSpPr>
          <p:cNvPr id="31" name="Stage 3 detail"/>
          <p:cNvSpPr txBox="1"/>
          <p:nvPr/>
        </p:nvSpPr>
        <p:spPr>
          <a:xfrm>
            <a:off x="3017520" y="1540764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NVFP4 DiT · unified prefix / video</a:t>
            </a:r>
          </a:p>
          <a:p>
            <a:pPr algn="l">
              <a:lnSpc>
                <a:spcPct val="112000"/>
              </a:lnSpc>
              <a:spcBef>
                <a:spcPts val="0"/>
              </a:spcBef>
              <a:spcAft>
                <a:spcPts val="0"/>
              </a:spcAft>
            </a:pPr>
            <a:r>
              <a:rPr sz="3000" b="0">
                <a:solidFill>
                  <a:srgbClr val="313131"/>
                </a:solidFill>
                <a:latin typeface="NVIDIA Sans"/>
              </a:rPr>
              <a:t>Device-aware SM scheduling</a:t>
            </a:r>
          </a:p>
        </p:txBody>
      </p:sp>
      <p:sp>
        <p:nvSpPr>
          <p:cNvPr id="32" name="Stage 3 timing"/>
          <p:cNvSpPr txBox="1"/>
          <p:nvPr/>
        </p:nvSpPr>
        <p:spPr>
          <a:xfrm>
            <a:off x="14813280" y="1458468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600" b="0">
                <a:solidFill>
                  <a:srgbClr val="000000"/>
                </a:solidFill>
                <a:latin typeface="NVIDIA Sans Medium"/>
              </a:rPr>
              <a:t>19.351</a:t>
            </a:r>
          </a:p>
        </p:txBody>
      </p:sp>
      <p:cxnSp>
        <p:nvCxnSpPr>
          <p:cNvPr id="33" name="Stage 3 separator"/>
          <p:cNvCxnSpPr/>
          <p:nvPr/>
        </p:nvCxnSpPr>
        <p:spPr>
          <a:xfrm>
            <a:off x="1828800" y="1666951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34" name="Stage 4 number"/>
          <p:cNvSpPr txBox="1"/>
          <p:nvPr/>
        </p:nvSpPr>
        <p:spPr>
          <a:xfrm>
            <a:off x="18836640" y="736092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4</a:t>
            </a:r>
          </a:p>
        </p:txBody>
      </p:sp>
      <p:sp>
        <p:nvSpPr>
          <p:cNvPr id="35" name="Stage 4 name"/>
          <p:cNvSpPr txBox="1"/>
          <p:nvPr/>
        </p:nvSpPr>
        <p:spPr>
          <a:xfrm>
            <a:off x="20025360" y="736092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Ulysses Communication</a:t>
            </a:r>
          </a:p>
        </p:txBody>
      </p:sp>
      <p:sp>
        <p:nvSpPr>
          <p:cNvPr id="36" name="Stage 4 detail"/>
          <p:cNvSpPr txBox="1"/>
          <p:nvPr/>
        </p:nvSpPr>
        <p:spPr>
          <a:xfrm>
            <a:off x="20025360" y="827532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RDMA + direct layout + V / gate overlap</a:t>
            </a:r>
          </a:p>
          <a:p>
            <a:pPr algn="l">
              <a:lnSpc>
                <a:spcPct val="112000"/>
              </a:lnSpc>
              <a:spcBef>
                <a:spcPts val="0"/>
              </a:spcBef>
              <a:spcAft>
                <a:spcPts val="0"/>
              </a:spcAft>
            </a:pPr>
            <a:r>
              <a:rPr sz="3000" b="0">
                <a:solidFill>
                  <a:srgbClr val="313131"/>
                </a:solidFill>
                <a:latin typeface="NVIDIA Sans"/>
              </a:rPr>
              <a:t>IB for remaining NCCL collectives</a:t>
            </a:r>
          </a:p>
        </p:txBody>
      </p:sp>
      <p:sp>
        <p:nvSpPr>
          <p:cNvPr id="37" name="Stage 4 timing"/>
          <p:cNvSpPr txBox="1"/>
          <p:nvPr/>
        </p:nvSpPr>
        <p:spPr>
          <a:xfrm>
            <a:off x="31821119" y="745236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600" b="0">
                <a:solidFill>
                  <a:srgbClr val="000000"/>
                </a:solidFill>
                <a:latin typeface="NVIDIA Sans Medium"/>
              </a:rPr>
              <a:t>6.831</a:t>
            </a:r>
          </a:p>
        </p:txBody>
      </p:sp>
      <p:cxnSp>
        <p:nvCxnSpPr>
          <p:cNvPr id="38" name="Stage 4 separator"/>
          <p:cNvCxnSpPr/>
          <p:nvPr/>
        </p:nvCxnSpPr>
        <p:spPr>
          <a:xfrm>
            <a:off x="18836640" y="953719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39" name="Stage 5 number"/>
          <p:cNvSpPr txBox="1"/>
          <p:nvPr/>
        </p:nvSpPr>
        <p:spPr>
          <a:xfrm>
            <a:off x="18836640" y="973836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5</a:t>
            </a:r>
          </a:p>
        </p:txBody>
      </p:sp>
      <p:sp>
        <p:nvSpPr>
          <p:cNvPr id="40" name="Stage 5 name"/>
          <p:cNvSpPr txBox="1"/>
          <p:nvPr/>
        </p:nvSpPr>
        <p:spPr>
          <a:xfrm>
            <a:off x="20025360" y="973836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2 / 3 / 2 Head Pipeline</a:t>
            </a:r>
          </a:p>
        </p:txBody>
      </p:sp>
      <p:sp>
        <p:nvSpPr>
          <p:cNvPr id="41" name="Stage 5 detail"/>
          <p:cNvSpPr txBox="1"/>
          <p:nvPr/>
        </p:nvSpPr>
        <p:spPr>
          <a:xfrm>
            <a:off x="20025360" y="1065276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Overlap communication and attention</a:t>
            </a:r>
          </a:p>
          <a:p>
            <a:pPr algn="l">
              <a:lnSpc>
                <a:spcPct val="112000"/>
              </a:lnSpc>
              <a:spcBef>
                <a:spcPts val="0"/>
              </a:spcBef>
              <a:spcAft>
                <a:spcPts val="0"/>
              </a:spcAft>
            </a:pPr>
            <a:r>
              <a:rPr sz="3000" b="0">
                <a:solidFill>
                  <a:srgbClr val="313131"/>
                </a:solidFill>
                <a:latin typeface="NVIDIA Sans"/>
              </a:rPr>
              <a:t>Restore heads before output projection</a:t>
            </a:r>
          </a:p>
        </p:txBody>
      </p:sp>
      <p:sp>
        <p:nvSpPr>
          <p:cNvPr id="42" name="Stage 5 timing"/>
          <p:cNvSpPr txBox="1"/>
          <p:nvPr/>
        </p:nvSpPr>
        <p:spPr>
          <a:xfrm>
            <a:off x="31821119" y="982980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600" b="0">
                <a:solidFill>
                  <a:srgbClr val="000000"/>
                </a:solidFill>
                <a:latin typeface="NVIDIA Sans Medium"/>
              </a:rPr>
              <a:t>6.472</a:t>
            </a:r>
          </a:p>
        </p:txBody>
      </p:sp>
      <p:cxnSp>
        <p:nvCxnSpPr>
          <p:cNvPr id="43" name="Stage 5 separator"/>
          <p:cNvCxnSpPr/>
          <p:nvPr/>
        </p:nvCxnSpPr>
        <p:spPr>
          <a:xfrm>
            <a:off x="18836640" y="1191463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44" name="Stage 6 number"/>
          <p:cNvSpPr txBox="1"/>
          <p:nvPr/>
        </p:nvSpPr>
        <p:spPr>
          <a:xfrm>
            <a:off x="18836640" y="1211580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6</a:t>
            </a:r>
          </a:p>
        </p:txBody>
      </p:sp>
      <p:sp>
        <p:nvSpPr>
          <p:cNvPr id="45" name="Stage 6 name"/>
          <p:cNvSpPr txBox="1"/>
          <p:nvPr/>
        </p:nvSpPr>
        <p:spPr>
          <a:xfrm>
            <a:off x="20025360" y="1211580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CUDA Graph</a:t>
            </a:r>
          </a:p>
        </p:txBody>
      </p:sp>
      <p:sp>
        <p:nvSpPr>
          <p:cNvPr id="46" name="Stage 6 detail"/>
          <p:cNvSpPr txBox="1"/>
          <p:nvPr/>
        </p:nvSpPr>
        <p:spPr>
          <a:xfrm>
            <a:off x="20025360" y="1303020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Replay each head band's compute</a:t>
            </a:r>
          </a:p>
          <a:p>
            <a:pPr algn="l">
              <a:lnSpc>
                <a:spcPct val="112000"/>
              </a:lnSpc>
              <a:spcBef>
                <a:spcPts val="0"/>
              </a:spcBef>
              <a:spcAft>
                <a:spcPts val="0"/>
              </a:spcAft>
            </a:pPr>
            <a:r>
              <a:rPr sz="3000" b="0">
                <a:solidFill>
                  <a:srgbClr val="313131"/>
                </a:solidFill>
                <a:latin typeface="NVIDIA Sans"/>
              </a:rPr>
              <a:t>Reduce repeated CPU launch overhead</a:t>
            </a:r>
          </a:p>
        </p:txBody>
      </p:sp>
      <p:sp>
        <p:nvSpPr>
          <p:cNvPr id="47" name="Stage 6 timing"/>
          <p:cNvSpPr txBox="1"/>
          <p:nvPr/>
        </p:nvSpPr>
        <p:spPr>
          <a:xfrm>
            <a:off x="31821119" y="1220724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600" b="0">
                <a:solidFill>
                  <a:srgbClr val="000000"/>
                </a:solidFill>
                <a:latin typeface="NVIDIA Sans Medium"/>
              </a:rPr>
              <a:t>6.201</a:t>
            </a:r>
          </a:p>
        </p:txBody>
      </p:sp>
      <p:cxnSp>
        <p:nvCxnSpPr>
          <p:cNvPr id="48" name="Stage 6 separator"/>
          <p:cNvCxnSpPr/>
          <p:nvPr/>
        </p:nvCxnSpPr>
        <p:spPr>
          <a:xfrm>
            <a:off x="18836640" y="1429207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49" name="Stage 7 number"/>
          <p:cNvSpPr txBox="1"/>
          <p:nvPr/>
        </p:nvSpPr>
        <p:spPr>
          <a:xfrm>
            <a:off x="18836640" y="1449324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7</a:t>
            </a:r>
          </a:p>
        </p:txBody>
      </p:sp>
      <p:sp>
        <p:nvSpPr>
          <p:cNvPr id="50" name="Stage 7 name"/>
          <p:cNvSpPr txBox="1"/>
          <p:nvPr/>
        </p:nvSpPr>
        <p:spPr>
          <a:xfrm>
            <a:off x="20025360" y="1449324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NVFP4 36L VAE + MP4</a:t>
            </a:r>
          </a:p>
        </p:txBody>
      </p:sp>
      <p:sp>
        <p:nvSpPr>
          <p:cNvPr id="51" name="Stage 7 detail"/>
          <p:cNvSpPr txBox="1"/>
          <p:nvPr/>
        </p:nvSpPr>
        <p:spPr>
          <a:xfrm>
            <a:off x="20025360" y="1540764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Native 36-layer decoder to NVFP4</a:t>
            </a:r>
          </a:p>
          <a:p>
            <a:pPr algn="l">
              <a:lnSpc>
                <a:spcPct val="112000"/>
              </a:lnSpc>
              <a:spcBef>
                <a:spcPts val="0"/>
              </a:spcBef>
              <a:spcAft>
                <a:spcPts val="0"/>
              </a:spcAft>
            </a:pPr>
            <a:r>
              <a:rPr sz="3000" b="0">
                <a:solidFill>
                  <a:srgbClr val="313131"/>
                </a:solidFill>
                <a:latin typeface="NVIDIA Sans"/>
              </a:rPr>
              <a:t>MP4 pre-encoding pipeline</a:t>
            </a:r>
          </a:p>
        </p:txBody>
      </p:sp>
      <p:sp>
        <p:nvSpPr>
          <p:cNvPr id="52" name="Stage 7 timing"/>
          <p:cNvSpPr txBox="1"/>
          <p:nvPr/>
        </p:nvSpPr>
        <p:spPr>
          <a:xfrm>
            <a:off x="31821119" y="1458468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600" b="0">
                <a:solidFill>
                  <a:srgbClr val="000000"/>
                </a:solidFill>
                <a:latin typeface="NVIDIA Sans Medium"/>
              </a:rPr>
              <a:t>5.418</a:t>
            </a:r>
          </a:p>
        </p:txBody>
      </p:sp>
      <p:cxnSp>
        <p:nvCxnSpPr>
          <p:cNvPr id="53" name="Stage 7 separator"/>
          <p:cNvCxnSpPr/>
          <p:nvPr/>
        </p:nvCxnSpPr>
        <p:spPr>
          <a:xfrm>
            <a:off x="18836640" y="1666951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54" name="Live target"/>
          <p:cNvSpPr txBox="1"/>
          <p:nvPr/>
        </p:nvSpPr>
        <p:spPr>
          <a:xfrm>
            <a:off x="1828800" y="17465040"/>
            <a:ext cx="32918400" cy="868680"/>
          </a:xfrm>
          <a:prstGeom prst="rect">
            <a:avLst/>
          </a:prstGeom>
          <a:noFill/>
        </p:spPr>
        <p:txBody>
          <a:bodyPr wrap="square" lIns="0" rIns="0" tIns="0" bIns="0">
            <a:noAutofit/>
          </a:bodyPr>
          <a:lstStyle/>
          <a:p>
            <a:pPr algn="ctr">
              <a:lnSpc>
                <a:spcPct val="112000"/>
              </a:lnSpc>
              <a:spcBef>
                <a:spcPts val="0"/>
              </a:spcBef>
              <a:spcAft>
                <a:spcPts val="0"/>
              </a:spcAft>
            </a:pPr>
            <a:r>
              <a:rPr sz="4200" b="0">
                <a:solidFill>
                  <a:srgbClr val="76B900"/>
                </a:solidFill>
                <a:latin typeface="NVIDIA Sans Medium"/>
              </a:rPr>
              <a:t>Target: full request &lt; 5.000 s · Not reached</a:t>
            </a:r>
          </a:p>
        </p:txBody>
      </p:sp>
      <p:sp>
        <p:nvSpPr>
          <p:cNvPr id="55" name="Measurement status"/>
          <p:cNvSpPr txBox="1"/>
          <p:nvPr/>
        </p:nvSpPr>
        <p:spPr>
          <a:xfrm>
            <a:off x="1828800" y="18562320"/>
            <a:ext cx="32918400" cy="640080"/>
          </a:xfrm>
          <a:prstGeom prst="rect">
            <a:avLst/>
          </a:prstGeom>
          <a:noFill/>
        </p:spPr>
        <p:txBody>
          <a:bodyPr wrap="square" lIns="0" rIns="0" tIns="0" bIns="0">
            <a:noAutofit/>
          </a:bodyPr>
          <a:lstStyle/>
          <a:p>
            <a:pPr algn="ctr">
              <a:lnSpc>
                <a:spcPct val="112000"/>
              </a:lnSpc>
              <a:spcBef>
                <a:spcPts val="0"/>
              </a:spcBef>
              <a:spcAft>
                <a:spcPts val="0"/>
              </a:spcAft>
            </a:pPr>
            <a:r>
              <a:rPr sz="2800" b="0">
                <a:solidFill>
                  <a:srgbClr val="313131"/>
                </a:solidFill>
                <a:latin typeface="NVIDIA Sans"/>
              </a:rPr>
              <a:t>Seven groups measured · 3 formal requests each · Initialization and warmup excluded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18059400" y="2470666"/>
            <a:ext cx="16687800" cy="4572000"/>
          </a:xfrm>
        </p:spPr>
        <p:txBody>
          <a:bodyPr/>
          <a:lstStyle/>
          <a:p>
            <a:r>
              <a:t>02 · ComfyUI Apps</a:t>
            </a:r>
            <a:br/>
            <a:r>
              <a:t>With vLLM-Omni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a:xfrm>
            <a:off x="1828799" y="16870680"/>
            <a:ext cx="16114094" cy="1371600"/>
          </a:xfrm>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a:xfrm>
            <a:off x="1828799" y="15819120"/>
            <a:ext cx="16114094" cy="822960"/>
          </a:xfrm>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a:xfrm>
            <a:off x="18633106" y="16870680"/>
            <a:ext cx="16114093" cy="1371600"/>
          </a:xfrm>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a:xfrm>
            <a:off x="18633106" y="15819120"/>
            <a:ext cx="16114093" cy="822960"/>
          </a:xfrm>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20</a:t>
            </a:fld>
            <a:endParaRPr lang="en-US"/>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