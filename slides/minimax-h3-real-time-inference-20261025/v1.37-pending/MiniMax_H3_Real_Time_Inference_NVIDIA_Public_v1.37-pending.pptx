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Draft for the same five-second livestream-target workload. This is a cumulative benchmark plan, not a completed eight-GPU real-time claim.</a:t>
            </a:r>
          </a:p>
          <a:p>
            <a:r>
              <a:t>The retained baseline is 247.9563708677888 seconds: median of 247.9563708677888, 246.20054612867534 and 248.29797918722034. It uses the horizontal Miles image-and-audio Ref2VA request, 960x544, 124 frames at 24 fps (5.166666667 seconds of media), seed 43, on the original eight GPUs. The target is strictly less than 5.0 seconds through completed audiovisual MP4.</a:t>
            </a:r>
          </a:p>
          <a:p>
            <a:r>
              <a:t>Display groups 0-3 are left and 4-7 right. Group 0 is retained; only groups 1-7 require new timing. Each group adds its changes cumulatively. PDD reduces 50 evaluations to eight. VSA adds sparse attention. QAD and native FP4 are combined, including unified prefix/video computation and device-aware SM scheduling. Ulysses combines RDMA, direct layout, V/gate overlap and IB for remaining NCCL operations. The 2/3/2 head pipeline precedes CUDA Graph. NVFP4 36-layer VAE and MP4 pre-encoding are the last group.</a:t>
            </a:r>
          </a:p>
          <a:p>
            <a:r>
              <a:t>All seven new E2E results are pending. Do not reuse the separate 362-frame historical CAKE study, standalone kernel times, or component numerical tests as points on this comparison. The encoders and native 36-layer VAE remain fixed until the explicit final VAE group. The native VAE decode uses FP16 autocast and mixed-precision operations; the BF16 DiT label does not describe its precision. The NVFP4 decoder contains 216 packed linear modules across 36 blocks and uses BF16 autocast. Actual decoder metadata and MP4 pre-encoding calls are recorded per request. AdaLN projection-cache counters will be recorded; enabled caching does not imply a 100 percent hit rate. Same-case video/audio quality, complete output decoding and actual eight-step execution must be reviewed alongside the timing.</a:t>
            </a:r>
          </a:p>
          <a:p>
            <a:r>
              <a:t>The baseline and early stages use recorded runtime configurations; checkpoint/runtime changes are documented in the benchmark manifests. This is cumulative evidence, not independent isolated attribution for each kernel. Rolling livestream continuity qualification is outside these seven cohorts.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pending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Retained Baseline: 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6459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a:xfrm>
            <a:off x="19552660" y="18059400"/>
            <a:ext cx="15194539" cy="1051560"/>
          </a:xfrm>
        </p:spPr>
        <p:txBody>
          <a:bodyPr/>
          <a:lstStyle/>
          <a:p>
            <a:r>
              <a:t>A chain of dependent solver updates turns noise into clean latents</a:t>
            </a:r>
          </a:p>
        </p:txBody>
      </p:sp>
      <p:sp>
        <p:nvSpPr>
          <p:cNvPr id="6" name="Text Placeholder 5"/>
          <p:cNvSpPr>
            <a:spLocks noGrp="1"/>
          </p:cNvSpPr>
          <p:nvPr>
            <p:ph type="body" idx="51" sz="quarter"/>
          </p:nvPr>
        </p:nvSpPr>
        <p:spPr>
          <a:xfrm>
            <a:off x="19552660" y="17190720"/>
            <a:ext cx="15194539" cy="822960"/>
          </a:xfrm>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pPr algn="ctr"/>
            <a:r>
              <a:t>Original website illustration: P = 4</a:t>
            </a:r>
            <a:br/>
            <a:r>
              <a:t>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Retained baseline + seven cumulative groups · New E2E measurements pending</a:t>
            </a:r>
          </a:p>
        </p:txBody>
      </p:sp>
      <p:sp>
        <p:nvSpPr>
          <p:cNvPr id="3" name="Title 2"/>
          <p:cNvSpPr>
            <a:spLocks noGrp="1"/>
          </p:cNvSpPr>
          <p:nvPr>
            <p:ph type="title"/>
          </p:nvPr>
        </p:nvSpPr>
        <p:spPr/>
        <p:txBody>
          <a:bodyPr/>
          <a:lstStyle/>
          <a:p>
            <a:r>
              <a:t>Optimization Roadmap: 5 s Live Target</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Base50 r4 · fixed input and seed · warm request median · complete audiovisual MP4</a:t>
            </a:r>
            <a:endParaRPr lang="en-US" dirty="0"/>
          </a:p>
        </p:txBody>
      </p:sp>
      <p:sp>
        <p:nvSpPr>
          <p:cNvPr id="7" name="Locked workload"/>
          <p:cNvSpPr txBox="1"/>
          <p:nvPr/>
        </p:nvSpPr>
        <p:spPr>
          <a:xfrm>
            <a:off x="1828800" y="5166360"/>
            <a:ext cx="32918400" cy="731520"/>
          </a:xfrm>
          <a:prstGeom prst="rect">
            <a:avLst/>
          </a:prstGeom>
          <a:noFill/>
        </p:spPr>
        <p:txBody>
          <a:bodyPr wrap="square" lIns="0" rIns="0" tIns="0" bIns="0">
            <a:noAutofit/>
          </a:bodyPr>
          <a:lstStyle/>
          <a:p>
            <a:pPr algn="ctr">
              <a:lnSpc>
                <a:spcPct val="112000"/>
              </a:lnSpc>
              <a:spcBef>
                <a:spcPts val="0"/>
              </a:spcBef>
              <a:spcAft>
                <a:spcPts val="0"/>
              </a:spcAft>
            </a:pPr>
            <a:r>
              <a:rPr sz="3200" b="0">
                <a:solidFill>
                  <a:srgbClr val="313131"/>
                </a:solidFill>
                <a:latin typeface="NVIDIA Sans"/>
              </a:rPr>
              <a:t>960 × 544  ·  124 frames / 24 FPS  ·  8 GPUs  ·  seed 43</a:t>
            </a:r>
          </a:p>
        </p:txBody>
      </p:sp>
      <p:sp>
        <p:nvSpPr>
          <p:cNvPr id="8" name="Model Compute"/>
          <p:cNvSpPr txBox="1"/>
          <p:nvPr/>
        </p:nvSpPr>
        <p:spPr>
          <a:xfrm>
            <a:off x="182880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Model Compute</a:t>
            </a:r>
          </a:p>
        </p:txBody>
      </p:sp>
      <p:sp>
        <p:nvSpPr>
          <p:cNvPr id="9" name="Model Compute timing header"/>
          <p:cNvSpPr txBox="1"/>
          <p:nvPr/>
        </p:nvSpPr>
        <p:spPr>
          <a:xfrm>
            <a:off x="1463040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0" name="Model Compute header rule"/>
          <p:cNvCxnSpPr/>
          <p:nvPr/>
        </p:nvCxnSpPr>
        <p:spPr>
          <a:xfrm>
            <a:off x="182880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1" name="Communication and Output"/>
          <p:cNvSpPr txBox="1"/>
          <p:nvPr/>
        </p:nvSpPr>
        <p:spPr>
          <a:xfrm>
            <a:off x="1883664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Communication and Output</a:t>
            </a:r>
          </a:p>
        </p:txBody>
      </p:sp>
      <p:sp>
        <p:nvSpPr>
          <p:cNvPr id="12" name="Communication and Output timing header"/>
          <p:cNvSpPr txBox="1"/>
          <p:nvPr/>
        </p:nvSpPr>
        <p:spPr>
          <a:xfrm>
            <a:off x="3163824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3" name="Communication and Output header rule"/>
          <p:cNvCxnSpPr/>
          <p:nvPr/>
        </p:nvCxnSpPr>
        <p:spPr>
          <a:xfrm>
            <a:off x="1883664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4" name="Stage 0 number"/>
          <p:cNvSpPr txBox="1"/>
          <p:nvPr/>
        </p:nvSpPr>
        <p:spPr>
          <a:xfrm>
            <a:off x="182880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0</a:t>
            </a:r>
          </a:p>
        </p:txBody>
      </p:sp>
      <p:sp>
        <p:nvSpPr>
          <p:cNvPr id="15" name="Stage 0 name"/>
          <p:cNvSpPr txBox="1"/>
          <p:nvPr/>
        </p:nvSpPr>
        <p:spPr>
          <a:xfrm>
            <a:off x="301752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Retained Baseline</a:t>
            </a:r>
          </a:p>
        </p:txBody>
      </p:sp>
      <p:sp>
        <p:nvSpPr>
          <p:cNvPr id="16" name="Stage 0 detail"/>
          <p:cNvSpPr txBox="1"/>
          <p:nvPr/>
        </p:nvSpPr>
        <p:spPr>
          <a:xfrm>
            <a:off x="301752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BF16 DiT · dense attention</a:t>
            </a:r>
          </a:p>
          <a:p>
            <a:pPr algn="l">
              <a:lnSpc>
                <a:spcPct val="112000"/>
              </a:lnSpc>
              <a:spcBef>
                <a:spcPts val="0"/>
              </a:spcBef>
              <a:spcAft>
                <a:spcPts val="0"/>
              </a:spcAft>
            </a:pPr>
            <a:r>
              <a:rPr sz="3000" b="0">
                <a:solidFill>
                  <a:srgbClr val="313131"/>
                </a:solidFill>
                <a:latin typeface="NVIDIA Sans"/>
              </a:rPr>
              <a:t>50 steps · local NCCL</a:t>
            </a:r>
          </a:p>
        </p:txBody>
      </p:sp>
      <p:sp>
        <p:nvSpPr>
          <p:cNvPr id="17" name="Stage 0 timing"/>
          <p:cNvSpPr txBox="1"/>
          <p:nvPr/>
        </p:nvSpPr>
        <p:spPr>
          <a:xfrm>
            <a:off x="14813280"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247.956</a:t>
            </a:r>
          </a:p>
        </p:txBody>
      </p:sp>
      <p:cxnSp>
        <p:nvCxnSpPr>
          <p:cNvPr id="18" name="Stage 0 separator"/>
          <p:cNvCxnSpPr/>
          <p:nvPr/>
        </p:nvCxnSpPr>
        <p:spPr>
          <a:xfrm>
            <a:off x="182880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Stage 1 number"/>
          <p:cNvSpPr txBox="1"/>
          <p:nvPr/>
        </p:nvSpPr>
        <p:spPr>
          <a:xfrm>
            <a:off x="182880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1</a:t>
            </a:r>
          </a:p>
        </p:txBody>
      </p:sp>
      <p:sp>
        <p:nvSpPr>
          <p:cNvPr id="20" name="Stage 1 name"/>
          <p:cNvSpPr txBox="1"/>
          <p:nvPr/>
        </p:nvSpPr>
        <p:spPr>
          <a:xfrm>
            <a:off x="301752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PDD: 50 to 8 Steps</a:t>
            </a:r>
          </a:p>
        </p:txBody>
      </p:sp>
      <p:sp>
        <p:nvSpPr>
          <p:cNvPr id="21" name="Stage 1 detail"/>
          <p:cNvSpPr txBox="1"/>
          <p:nvPr/>
        </p:nvSpPr>
        <p:spPr>
          <a:xfrm>
            <a:off x="301752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Reduce denoiser evaluations</a:t>
            </a:r>
          </a:p>
          <a:p>
            <a:pPr algn="l">
              <a:lnSpc>
                <a:spcPct val="112000"/>
              </a:lnSpc>
              <a:spcBef>
                <a:spcPts val="0"/>
              </a:spcBef>
              <a:spcAft>
                <a:spcPts val="0"/>
              </a:spcAft>
            </a:pPr>
            <a:r>
              <a:rPr sz="3000" b="0">
                <a:solidFill>
                  <a:srgbClr val="313131"/>
                </a:solidFill>
                <a:latin typeface="NVIDIA Sans"/>
              </a:rPr>
              <a:t>Eight-step Ref2VA schedule</a:t>
            </a:r>
          </a:p>
        </p:txBody>
      </p:sp>
      <p:sp>
        <p:nvSpPr>
          <p:cNvPr id="22" name="Stage 1 timing"/>
          <p:cNvSpPr txBox="1"/>
          <p:nvPr/>
        </p:nvSpPr>
        <p:spPr>
          <a:xfrm>
            <a:off x="14813280"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000" b="0">
                <a:solidFill>
                  <a:srgbClr val="313131"/>
                </a:solidFill>
                <a:latin typeface="NVIDIA Sans"/>
              </a:rPr>
              <a:t>Pending</a:t>
            </a:r>
          </a:p>
        </p:txBody>
      </p:sp>
      <p:cxnSp>
        <p:nvCxnSpPr>
          <p:cNvPr id="23" name="Stage 1 separator"/>
          <p:cNvCxnSpPr/>
          <p:nvPr/>
        </p:nvCxnSpPr>
        <p:spPr>
          <a:xfrm>
            <a:off x="182880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Stage 2 number"/>
          <p:cNvSpPr txBox="1"/>
          <p:nvPr/>
        </p:nvSpPr>
        <p:spPr>
          <a:xfrm>
            <a:off x="182880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2</a:t>
            </a:r>
          </a:p>
        </p:txBody>
      </p:sp>
      <p:sp>
        <p:nvSpPr>
          <p:cNvPr id="25" name="Stage 2 name"/>
          <p:cNvSpPr txBox="1"/>
          <p:nvPr/>
        </p:nvSpPr>
        <p:spPr>
          <a:xfrm>
            <a:off x="301752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VSA</a:t>
            </a:r>
          </a:p>
        </p:txBody>
      </p:sp>
      <p:sp>
        <p:nvSpPr>
          <p:cNvPr id="26" name="Stage 2 detail"/>
          <p:cNvSpPr txBox="1"/>
          <p:nvPr/>
        </p:nvSpPr>
        <p:spPr>
          <a:xfrm>
            <a:off x="301752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Select fine-attention blocks</a:t>
            </a:r>
          </a:p>
          <a:p>
            <a:pPr algn="l">
              <a:lnSpc>
                <a:spcPct val="112000"/>
              </a:lnSpc>
              <a:spcBef>
                <a:spcPts val="0"/>
              </a:spcBef>
              <a:spcAft>
                <a:spcPts val="0"/>
              </a:spcAft>
            </a:pPr>
            <a:r>
              <a:rPr sz="3000" b="0">
                <a:solidFill>
                  <a:srgbClr val="313131"/>
                </a:solidFill>
                <a:latin typeface="NVIDIA Sans"/>
              </a:rPr>
              <a:t>Keep global coarse context</a:t>
            </a:r>
          </a:p>
        </p:txBody>
      </p:sp>
      <p:sp>
        <p:nvSpPr>
          <p:cNvPr id="27" name="Stage 2 timing"/>
          <p:cNvSpPr txBox="1"/>
          <p:nvPr/>
        </p:nvSpPr>
        <p:spPr>
          <a:xfrm>
            <a:off x="14813280"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000" b="0">
                <a:solidFill>
                  <a:srgbClr val="313131"/>
                </a:solidFill>
                <a:latin typeface="NVIDIA Sans"/>
              </a:rPr>
              <a:t>Pending</a:t>
            </a:r>
          </a:p>
        </p:txBody>
      </p:sp>
      <p:cxnSp>
        <p:nvCxnSpPr>
          <p:cNvPr id="28" name="Stage 2 separator"/>
          <p:cNvCxnSpPr/>
          <p:nvPr/>
        </p:nvCxnSpPr>
        <p:spPr>
          <a:xfrm>
            <a:off x="182880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tage 3 number"/>
          <p:cNvSpPr txBox="1"/>
          <p:nvPr/>
        </p:nvSpPr>
        <p:spPr>
          <a:xfrm>
            <a:off x="182880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3</a:t>
            </a:r>
          </a:p>
        </p:txBody>
      </p:sp>
      <p:sp>
        <p:nvSpPr>
          <p:cNvPr id="30" name="Stage 3 name"/>
          <p:cNvSpPr txBox="1"/>
          <p:nvPr/>
        </p:nvSpPr>
        <p:spPr>
          <a:xfrm>
            <a:off x="301752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QAD + Native FP4 Attention</a:t>
            </a:r>
          </a:p>
        </p:txBody>
      </p:sp>
      <p:sp>
        <p:nvSpPr>
          <p:cNvPr id="31" name="Stage 3 detail"/>
          <p:cNvSpPr txBox="1"/>
          <p:nvPr/>
        </p:nvSpPr>
        <p:spPr>
          <a:xfrm>
            <a:off x="301752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NVFP4 DiT · unified prefix / video</a:t>
            </a:r>
          </a:p>
          <a:p>
            <a:pPr algn="l">
              <a:lnSpc>
                <a:spcPct val="112000"/>
              </a:lnSpc>
              <a:spcBef>
                <a:spcPts val="0"/>
              </a:spcBef>
              <a:spcAft>
                <a:spcPts val="0"/>
              </a:spcAft>
            </a:pPr>
            <a:r>
              <a:rPr sz="3000" b="0">
                <a:solidFill>
                  <a:srgbClr val="313131"/>
                </a:solidFill>
                <a:latin typeface="NVIDIA Sans"/>
              </a:rPr>
              <a:t>Device-aware SM scheduling</a:t>
            </a:r>
          </a:p>
        </p:txBody>
      </p:sp>
      <p:sp>
        <p:nvSpPr>
          <p:cNvPr id="32" name="Stage 3 timing"/>
          <p:cNvSpPr txBox="1"/>
          <p:nvPr/>
        </p:nvSpPr>
        <p:spPr>
          <a:xfrm>
            <a:off x="14813280"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000" b="0">
                <a:solidFill>
                  <a:srgbClr val="313131"/>
                </a:solidFill>
                <a:latin typeface="NVIDIA Sans"/>
              </a:rPr>
              <a:t>Pending</a:t>
            </a:r>
          </a:p>
        </p:txBody>
      </p:sp>
      <p:cxnSp>
        <p:nvCxnSpPr>
          <p:cNvPr id="33" name="Stage 3 separator"/>
          <p:cNvCxnSpPr/>
          <p:nvPr/>
        </p:nvCxnSpPr>
        <p:spPr>
          <a:xfrm>
            <a:off x="182880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4" name="Stage 4 number"/>
          <p:cNvSpPr txBox="1"/>
          <p:nvPr/>
        </p:nvSpPr>
        <p:spPr>
          <a:xfrm>
            <a:off x="1883664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4</a:t>
            </a:r>
          </a:p>
        </p:txBody>
      </p:sp>
      <p:sp>
        <p:nvSpPr>
          <p:cNvPr id="35" name="Stage 4 name"/>
          <p:cNvSpPr txBox="1"/>
          <p:nvPr/>
        </p:nvSpPr>
        <p:spPr>
          <a:xfrm>
            <a:off x="2002536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Ulysses Communication</a:t>
            </a:r>
          </a:p>
        </p:txBody>
      </p:sp>
      <p:sp>
        <p:nvSpPr>
          <p:cNvPr id="36" name="Stage 4 detail"/>
          <p:cNvSpPr txBox="1"/>
          <p:nvPr/>
        </p:nvSpPr>
        <p:spPr>
          <a:xfrm>
            <a:off x="2002536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RDMA + direct layout + V / gate overlap</a:t>
            </a:r>
          </a:p>
          <a:p>
            <a:pPr algn="l">
              <a:lnSpc>
                <a:spcPct val="112000"/>
              </a:lnSpc>
              <a:spcBef>
                <a:spcPts val="0"/>
              </a:spcBef>
              <a:spcAft>
                <a:spcPts val="0"/>
              </a:spcAft>
            </a:pPr>
            <a:r>
              <a:rPr sz="3000" b="0">
                <a:solidFill>
                  <a:srgbClr val="313131"/>
                </a:solidFill>
                <a:latin typeface="NVIDIA Sans"/>
              </a:rPr>
              <a:t>IB for remaining NCCL collectives</a:t>
            </a:r>
          </a:p>
        </p:txBody>
      </p:sp>
      <p:sp>
        <p:nvSpPr>
          <p:cNvPr id="37" name="Stage 4 timing"/>
          <p:cNvSpPr txBox="1"/>
          <p:nvPr/>
        </p:nvSpPr>
        <p:spPr>
          <a:xfrm>
            <a:off x="31821119"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000" b="0">
                <a:solidFill>
                  <a:srgbClr val="313131"/>
                </a:solidFill>
                <a:latin typeface="NVIDIA Sans"/>
              </a:rPr>
              <a:t>Pending</a:t>
            </a:r>
          </a:p>
        </p:txBody>
      </p:sp>
      <p:cxnSp>
        <p:nvCxnSpPr>
          <p:cNvPr id="38" name="Stage 4 separator"/>
          <p:cNvCxnSpPr/>
          <p:nvPr/>
        </p:nvCxnSpPr>
        <p:spPr>
          <a:xfrm>
            <a:off x="1883664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9" name="Stage 5 number"/>
          <p:cNvSpPr txBox="1"/>
          <p:nvPr/>
        </p:nvSpPr>
        <p:spPr>
          <a:xfrm>
            <a:off x="1883664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5</a:t>
            </a:r>
          </a:p>
        </p:txBody>
      </p:sp>
      <p:sp>
        <p:nvSpPr>
          <p:cNvPr id="40" name="Stage 5 name"/>
          <p:cNvSpPr txBox="1"/>
          <p:nvPr/>
        </p:nvSpPr>
        <p:spPr>
          <a:xfrm>
            <a:off x="2002536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2 / 3 / 2 Head Pipeline</a:t>
            </a:r>
          </a:p>
        </p:txBody>
      </p:sp>
      <p:sp>
        <p:nvSpPr>
          <p:cNvPr id="41" name="Stage 5 detail"/>
          <p:cNvSpPr txBox="1"/>
          <p:nvPr/>
        </p:nvSpPr>
        <p:spPr>
          <a:xfrm>
            <a:off x="2002536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Overlap communication and attention</a:t>
            </a:r>
          </a:p>
          <a:p>
            <a:pPr algn="l">
              <a:lnSpc>
                <a:spcPct val="112000"/>
              </a:lnSpc>
              <a:spcBef>
                <a:spcPts val="0"/>
              </a:spcBef>
              <a:spcAft>
                <a:spcPts val="0"/>
              </a:spcAft>
            </a:pPr>
            <a:r>
              <a:rPr sz="3000" b="0">
                <a:solidFill>
                  <a:srgbClr val="313131"/>
                </a:solidFill>
                <a:latin typeface="NVIDIA Sans"/>
              </a:rPr>
              <a:t>Restore heads before output projection</a:t>
            </a:r>
          </a:p>
        </p:txBody>
      </p:sp>
      <p:sp>
        <p:nvSpPr>
          <p:cNvPr id="42" name="Stage 5 timing"/>
          <p:cNvSpPr txBox="1"/>
          <p:nvPr/>
        </p:nvSpPr>
        <p:spPr>
          <a:xfrm>
            <a:off x="31821119"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000" b="0">
                <a:solidFill>
                  <a:srgbClr val="313131"/>
                </a:solidFill>
                <a:latin typeface="NVIDIA Sans"/>
              </a:rPr>
              <a:t>Pending</a:t>
            </a:r>
          </a:p>
        </p:txBody>
      </p:sp>
      <p:cxnSp>
        <p:nvCxnSpPr>
          <p:cNvPr id="43" name="Stage 5 separator"/>
          <p:cNvCxnSpPr/>
          <p:nvPr/>
        </p:nvCxnSpPr>
        <p:spPr>
          <a:xfrm>
            <a:off x="1883664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Stage 6 number"/>
          <p:cNvSpPr txBox="1"/>
          <p:nvPr/>
        </p:nvSpPr>
        <p:spPr>
          <a:xfrm>
            <a:off x="1883664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6</a:t>
            </a:r>
          </a:p>
        </p:txBody>
      </p:sp>
      <p:sp>
        <p:nvSpPr>
          <p:cNvPr id="45" name="Stage 6 name"/>
          <p:cNvSpPr txBox="1"/>
          <p:nvPr/>
        </p:nvSpPr>
        <p:spPr>
          <a:xfrm>
            <a:off x="2002536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CUDA Graph</a:t>
            </a:r>
          </a:p>
        </p:txBody>
      </p:sp>
      <p:sp>
        <p:nvSpPr>
          <p:cNvPr id="46" name="Stage 6 detail"/>
          <p:cNvSpPr txBox="1"/>
          <p:nvPr/>
        </p:nvSpPr>
        <p:spPr>
          <a:xfrm>
            <a:off x="2002536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Replay each head band's compute</a:t>
            </a:r>
          </a:p>
          <a:p>
            <a:pPr algn="l">
              <a:lnSpc>
                <a:spcPct val="112000"/>
              </a:lnSpc>
              <a:spcBef>
                <a:spcPts val="0"/>
              </a:spcBef>
              <a:spcAft>
                <a:spcPts val="0"/>
              </a:spcAft>
            </a:pPr>
            <a:r>
              <a:rPr sz="3000" b="0">
                <a:solidFill>
                  <a:srgbClr val="313131"/>
                </a:solidFill>
                <a:latin typeface="NVIDIA Sans"/>
              </a:rPr>
              <a:t>Reduce repeated CPU launch overhead</a:t>
            </a:r>
          </a:p>
        </p:txBody>
      </p:sp>
      <p:sp>
        <p:nvSpPr>
          <p:cNvPr id="47" name="Stage 6 timing"/>
          <p:cNvSpPr txBox="1"/>
          <p:nvPr/>
        </p:nvSpPr>
        <p:spPr>
          <a:xfrm>
            <a:off x="31821119"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000" b="0">
                <a:solidFill>
                  <a:srgbClr val="313131"/>
                </a:solidFill>
                <a:latin typeface="NVIDIA Sans"/>
              </a:rPr>
              <a:t>Pending</a:t>
            </a:r>
          </a:p>
        </p:txBody>
      </p:sp>
      <p:cxnSp>
        <p:nvCxnSpPr>
          <p:cNvPr id="48" name="Stage 6 separator"/>
          <p:cNvCxnSpPr/>
          <p:nvPr/>
        </p:nvCxnSpPr>
        <p:spPr>
          <a:xfrm>
            <a:off x="1883664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Stage 7 number"/>
          <p:cNvSpPr txBox="1"/>
          <p:nvPr/>
        </p:nvSpPr>
        <p:spPr>
          <a:xfrm>
            <a:off x="1883664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7</a:t>
            </a:r>
          </a:p>
        </p:txBody>
      </p:sp>
      <p:sp>
        <p:nvSpPr>
          <p:cNvPr id="50" name="Stage 7 name"/>
          <p:cNvSpPr txBox="1"/>
          <p:nvPr/>
        </p:nvSpPr>
        <p:spPr>
          <a:xfrm>
            <a:off x="2002536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NVFP4 36L VAE + MP4</a:t>
            </a:r>
          </a:p>
        </p:txBody>
      </p:sp>
      <p:sp>
        <p:nvSpPr>
          <p:cNvPr id="51" name="Stage 7 detail"/>
          <p:cNvSpPr txBox="1"/>
          <p:nvPr/>
        </p:nvSpPr>
        <p:spPr>
          <a:xfrm>
            <a:off x="2002536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Native 36-layer decoder to NVFP4</a:t>
            </a:r>
          </a:p>
          <a:p>
            <a:pPr algn="l">
              <a:lnSpc>
                <a:spcPct val="112000"/>
              </a:lnSpc>
              <a:spcBef>
                <a:spcPts val="0"/>
              </a:spcBef>
              <a:spcAft>
                <a:spcPts val="0"/>
              </a:spcAft>
            </a:pPr>
            <a:r>
              <a:rPr sz="3000" b="0">
                <a:solidFill>
                  <a:srgbClr val="313131"/>
                </a:solidFill>
                <a:latin typeface="NVIDIA Sans"/>
              </a:rPr>
              <a:t>MP4 pre-encoding pipeline</a:t>
            </a:r>
          </a:p>
        </p:txBody>
      </p:sp>
      <p:sp>
        <p:nvSpPr>
          <p:cNvPr id="52" name="Stage 7 timing"/>
          <p:cNvSpPr txBox="1"/>
          <p:nvPr/>
        </p:nvSpPr>
        <p:spPr>
          <a:xfrm>
            <a:off x="31821119"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000" b="0">
                <a:solidFill>
                  <a:srgbClr val="313131"/>
                </a:solidFill>
                <a:latin typeface="NVIDIA Sans"/>
              </a:rPr>
              <a:t>Pending</a:t>
            </a:r>
          </a:p>
        </p:txBody>
      </p:sp>
      <p:cxnSp>
        <p:nvCxnSpPr>
          <p:cNvPr id="53" name="Stage 7 separator"/>
          <p:cNvCxnSpPr/>
          <p:nvPr/>
        </p:nvCxnSpPr>
        <p:spPr>
          <a:xfrm>
            <a:off x="1883664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54" name="Live target"/>
          <p:cNvSpPr txBox="1"/>
          <p:nvPr/>
        </p:nvSpPr>
        <p:spPr>
          <a:xfrm>
            <a:off x="1828800" y="17465040"/>
            <a:ext cx="32918400" cy="868680"/>
          </a:xfrm>
          <a:prstGeom prst="rect">
            <a:avLst/>
          </a:prstGeom>
          <a:noFill/>
        </p:spPr>
        <p:txBody>
          <a:bodyPr wrap="square" lIns="0" rIns="0" tIns="0" bIns="0">
            <a:noAutofit/>
          </a:bodyPr>
          <a:lstStyle/>
          <a:p>
            <a:pPr algn="ctr">
              <a:lnSpc>
                <a:spcPct val="112000"/>
              </a:lnSpc>
              <a:spcBef>
                <a:spcPts val="0"/>
              </a:spcBef>
              <a:spcAft>
                <a:spcPts val="0"/>
              </a:spcAft>
            </a:pPr>
            <a:r>
              <a:rPr sz="4200" b="0">
                <a:solidFill>
                  <a:srgbClr val="76B900"/>
                </a:solidFill>
                <a:latin typeface="NVIDIA Sans Medium"/>
              </a:rPr>
              <a:t>Target: full request &lt; 5.000 s</a:t>
            </a:r>
          </a:p>
        </p:txBody>
      </p:sp>
      <p:sp>
        <p:nvSpPr>
          <p:cNvPr id="55" name="Measurement status"/>
          <p:cNvSpPr txBox="1"/>
          <p:nvPr/>
        </p:nvSpPr>
        <p:spPr>
          <a:xfrm>
            <a:off x="1828800" y="18562320"/>
            <a:ext cx="32918400" cy="640080"/>
          </a:xfrm>
          <a:prstGeom prst="rect">
            <a:avLst/>
          </a:prstGeom>
          <a:noFill/>
        </p:spPr>
        <p:txBody>
          <a:bodyPr wrap="square" lIns="0" rIns="0" tIns="0" bIns="0">
            <a:noAutofit/>
          </a:bodyPr>
          <a:lstStyle/>
          <a:p>
            <a:pPr algn="ctr">
              <a:lnSpc>
                <a:spcPct val="112000"/>
              </a:lnSpc>
              <a:spcBef>
                <a:spcPts val="0"/>
              </a:spcBef>
              <a:spcAft>
                <a:spcPts val="0"/>
              </a:spcAft>
            </a:pPr>
            <a:r>
              <a:rPr sz="2800" b="0">
                <a:solidFill>
                  <a:srgbClr val="313131"/>
                </a:solidFill>
                <a:latin typeface="NVIDIA Sans"/>
              </a:rPr>
              <a:t>Seven new results pending · Live-target achievement remains unverified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02 · ComfyUI Apps</a:t>
            </a:r>
            <a:br/>
            <a:r>
              <a:t>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a:xfrm>
            <a:off x="1828799" y="16870680"/>
            <a:ext cx="16114094" cy="1371600"/>
          </a:xfrm>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a:xfrm>
            <a:off x="1828799" y="15819120"/>
            <a:ext cx="16114094" cy="822960"/>
          </a:xfrm>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a:xfrm>
            <a:off x="18633106" y="16870680"/>
            <a:ext cx="16114093" cy="1371600"/>
          </a:xfrm>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a:xfrm>
            <a:off x="18633106" y="15819120"/>
            <a:ext cx="16114093" cy="822960"/>
          </a:xfrm>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