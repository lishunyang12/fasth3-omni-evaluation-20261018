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6" r:id="rId88"/>
    <p:sldId id="347" r:id="rId89"/>
    <p:sldId id="348" r:id="rId90"/>
    <p:sldId id="349" r:id="rId91"/>
    <p:sldId id="350" r:id="rId92"/>
    <p:sldId id="351" r:id="rId93"/>
    <p:sldId id="352" r:id="rId94"/>
    <p:sldId id="353" r:id="rId95"/>
    <p:sldId id="354" r:id="rId96"/>
    <p:sldId id="355" r:id="rId97"/>
    <p:sldId id="356" r:id="rId98"/>
    <p:sldId id="357" r:id="rId99"/>
    <p:sldId id="358" r:id="rId100"/>
    <p:sldId id="359" r:id="rId101"/>
    <p:sldId id="360" r:id="rId102"/>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59.xml"/><Relationship Id="rId83" Type="http://schemas.openxmlformats.org/officeDocument/2006/relationships/slide" Target="slides/slide60.xml"/><Relationship Id="rId84" Type="http://schemas.openxmlformats.org/officeDocument/2006/relationships/slide" Target="slides/slide61.xml"/><Relationship Id="rId85" Type="http://schemas.openxmlformats.org/officeDocument/2006/relationships/slide" Target="slides/slide62.xml"/><Relationship Id="rId86" Type="http://schemas.openxmlformats.org/officeDocument/2006/relationships/slide" Target="slides/slide63.xml"/><Relationship Id="rId87" Type="http://schemas.openxmlformats.org/officeDocument/2006/relationships/slide" Target="slides/slide64.xml"/><Relationship Id="rId88" Type="http://schemas.openxmlformats.org/officeDocument/2006/relationships/slide" Target="slides/slide65.xml"/><Relationship Id="rId89" Type="http://schemas.openxmlformats.org/officeDocument/2006/relationships/slide" Target="slides/slide66.xml"/><Relationship Id="rId90" Type="http://schemas.openxmlformats.org/officeDocument/2006/relationships/slide" Target="slides/slide67.xml"/><Relationship Id="rId91" Type="http://schemas.openxmlformats.org/officeDocument/2006/relationships/slide" Target="slides/slide68.xml"/><Relationship Id="rId92" Type="http://schemas.openxmlformats.org/officeDocument/2006/relationships/slide" Target="slides/slide69.xml"/><Relationship Id="rId93" Type="http://schemas.openxmlformats.org/officeDocument/2006/relationships/slide" Target="slides/slide70.xml"/><Relationship Id="rId94" Type="http://schemas.openxmlformats.org/officeDocument/2006/relationships/slide" Target="slides/slide71.xml"/><Relationship Id="rId95" Type="http://schemas.openxmlformats.org/officeDocument/2006/relationships/slide" Target="slides/slide72.xml"/><Relationship Id="rId96" Type="http://schemas.openxmlformats.org/officeDocument/2006/relationships/slide" Target="slides/slide73.xml"/><Relationship Id="rId97" Type="http://schemas.openxmlformats.org/officeDocument/2006/relationships/slide" Target="slides/slide74.xml"/><Relationship Id="rId98" Type="http://schemas.openxmlformats.org/officeDocument/2006/relationships/slide" Target="slides/slide75.xml"/><Relationship Id="rId99" Type="http://schemas.openxmlformats.org/officeDocument/2006/relationships/slide" Target="slides/slide76.xml"/><Relationship Id="rId100" Type="http://schemas.openxmlformats.org/officeDocument/2006/relationships/slide" Target="slides/slide77.xml"/><Relationship Id="rId101" Type="http://schemas.openxmlformats.org/officeDocument/2006/relationships/slide" Target="slides/slide78.xml"/><Relationship Id="rId102" Type="http://schemas.openxmlformats.org/officeDocument/2006/relationships/slide" Target="slides/slide79.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The first row marks the selected eight-GPU RTX PRO 5000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measured baseline is MiniMax H3 Base Ref2VA at 960x544, 124 frames, 24 FPS, 50 denoising steps, BF16, and eight RTX PRO 5000 GPUs with USP8. Communication uses local NCCL; RDMA is disabled. The media duration is exactly 124 / 24 = 5.1667 seconds, shown as 5.167 seconds. The four top-level rows are mutually exclusive accounting buckets. The locked endpoint cohort contains three steady requests at 247.956, 246.201 and 248.298 seconds; its median is 247.956 seconds and RTF 47.992. The separately rerun matched Nsight request took 252.773 seconds, or RTF 48.924, after a 253.075-second warmup. Its warmup and measured outputs share one SHA-256 and fully decode. The matched trace reaches 60,827 MiB during the measured request and 61,299 MiB across the sampled run. The table is a hierarchy. NCCL communication includes DiT collectives and collectives in encoder, VAE and other work. It is reported separately from tensor compute and AdaLN host-to-device weight staging/layout. The four top-level cost centers are mutually exclusive and sum to 100 percent. The matched request passed the eight-device, kernel-count, attribution, transport and exclusive-accounting gates, and its CUDA kernel and memory totals match independent nsys stats exactly. The share denominator is kernel, memcpy and memset duration summed across all eight GPUs. The time column divides each category by eight and reports mean operation time per GPU. An interval-union check found no same-GPU overlap among the classified kernel/copy activities, and per-rank activity totals are 247.86 to 248.69 seconds, close to the measured E2E. NCCL kernel duration includes synchronization and peer waiting, so the DiT collective share of 46.4 percent is serialized collective residency rather than pure transfer time or an achieved-bandwidth measurement. The repeated loop issues 10,000 SendRecv kernels per rank: four per DiT block across 50 steps and 50 blocks. DiT host-to-device copies contribute 295.3 aggregate GPU-seconds and 8.94 TB of CUPTI logical bytes. More than 99.998 percent of that H-to-D time comes from staging AdaLN projection BF16 weight and bias on exact-cache misses. The run uses the default 256 MiB runtime output cache and does not configure a complete offline schedule sidecar. Ordinary Attention, MLP and QKV weights remain resident after initialization. This page stops at measured Base50 evidence. Optimization methods begin on the following slides.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defines the sampling terms used by the rest of the deck. A latent state x(t) is the current compressed video and audio representation. The DiT reads that state, its time coordinate and the prompt or reference conditioning, then predicts a data-ward velocity. The Euler solver uses that velocity to construct the next latent. Conventional sampling is sequential because the next DiT call requires the state produced by the previous update. NFE means network function evaluation; one NFE is one complete DiT forward, not one Transformer block. Base H3 uses 50 sequential NFEs. Each NFE traverses the 50-block main Transformer trunk, so the repeated trunk workload is 50 times 50, or 2,500 main-block passes. Under USP8, each of eight ranks executes its local shard, which is why a system trace can show 20,000 rank-local attention launches. Prompt and reference encoding happen before the repeated loop, and VAE decoding happens after it. H3 uses separate shifted Euler schedules for video and audio; x(t) and delta-t on this page deliberately abstract those two modality-specific updates, which share one joint DiT forward. Sources: https://research.nvidia.com/labs/genair/pdd/ ; https://github.com/MiniMax-AI/MiniMax-H3/blob/main/transformer/config.json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PDD removes denoiser calls, dense attention still compares every valid token with every other valid token. For the locked 544P request, 34,373 valid packed rows imply 1,181,503,129 candidate pairs for each head in each DiT block. Video Sparse Attention first partitions the video latent into spatiotemporal cubes. In the paper default, a 4 by 4 by 4 cube represents 64 tokens. Coarse global attention scores the cubes, Top-K selection chooses the relevant regions, and fine sparse attention gathers the original K and V tokens only from selected cubes; a learned gate combines coarse and fine outputs. The paper default selects 32 KV cubes for each query cube. Keep three implementation granularities separate: the paper cube contains 64 tokens, the current H3 logical routing tile is 128 rows, and the fine kernel tile is 64 rows. VSA reduces attended token pairs and attention compute. In the current strict Ulysses route, Q, K and V are exchanged before attention and O is exchanged on the return path, so VSA alone does not automatically reduce collective payload; the learned gate adds a Q-sized forward exchange when present. VSA routing and gate weights are learned, so switching a dense checkpoint to a sparse kernel is not equivalent to a quality-qualified VSA model. The public Ref2VA PDD8 adapter and public FastH3 VSA student are separate artifacts, so this slide describes the optimization sequence rather than claiming a released combined checkpoint. The communication result is source-derived, not a measured bandwidth claim.</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trained BF16 model. Apply the quantization recipe to create a student whose forward pass simulates the rounding and clipping it will see at inference. The same training sample also goes through the frozen BF16 teacher. A distillation loss measures the difference between teacher and student outputs, and gradients update only the student through the straight-through estimator. QAD is therefore a quality-recovery training method; it does not add work to the deployed inference graph. The public FastH3 Omni NVFP4-QAD checkpoint uses eight transformer forwards and packed NVFP4 transformer linears, while calibrated sensitive modules remain in BF16. The separate local Sage-VSA path quantizes selected fine-attention math to Q/K INT8 and V FP8, but the current Ulysses exchange still carries BF16 tensors. Do not combine the public checkpoint and the separate Sage path into one measured speedup until they pass a matched run. Figure source: https://developer.nvidia.com/blog/how-quantization-aware-training-enables-low-precision-accuracy-recovery/</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Strict Ulysses runs three forward Q, K and V all-to-alls and one reverse O all-to-all in each of 50 DiT blocks. At 50 denoiser evaluations that is 10,000 synchronized collective rounds. The 4.319 TB figure counts remote logical payload once at the sender. It excludes protocol and topology amplification and is not a wire-byte measurement. Dividing by the 5.167-second media duration gives a lower-bound payload rate, not an observed link rate. PDD8 removes the global step multiplier, but VSA and SageAttention do not automatically shrink BF16 Q, K, V and O exchange; overlap, exchanged dtype and layout, and topology-qualified RDMA must be measured separately.</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CUDA Graph does not depend on head batching. An all-head Ulysses exchange can still replay a captured unpack, attention and pack compute island when resolution, frame count, tensor geometry, strides and registered buffer addresses remain fixed. Sequence length can change when H, W, T or the packed reference slots change, so arbitrary video requests have less cross-request reuse than LLM decode. The current captured island contains no block-specific weights, and its key uses implementation configuration rather than the DiT block instance. When configuration and metadata match, one GraphExec per band/profile can replay across all 50 blocks and all denoising steps: 400 times under PDD8 or 2,500 times under Base50. The (1, 2, 3, 1) band plan uses four such GraphExecs. Fixed live-stream profiles also reuse their Graphs across continuation windows, which can amortize warmup and capture far better than arbitrary generation. A paired single-GPU component test used a saved real layer-0 input, 12 counterbalanced rounds and 20 repeats per arm. All four arms were bit-exact. All-head eager measured 11.703171 ms and all-head Graph measured 11.658073 ms, a 0.3853 percent reduction. Four-band eager measured 12.323460 ms and four-band Graph measured 12.040123 ms, a 2.2992 percent reduction. The test contains no collective or RDMA, so it shows that Graph helps the finer launch schedule more; it does not establish the end-to-end value of head banding. Banding alone adds compute overhead, and its intended gain comes from communication-compute overlap. The upper timeline shows the remaining limitation: attention still waits for the complete QKV exchange, so Graph replay only removes CPU launch and scheduling gaps. The lower timeline divides the seven local heads into fixed bands. Once band zero arrives, its captured compute island can run while the communication stream moves the next band. Graph replay keeps the smaller per-band unpack, attention and pack operations from becoming launch-bound. RDMA work requests, completion polling, readiness events and dynamic band scheduling remain outside CUDA Graph. CUDA Graph does not increase RDMA bandwidth and does not make arbitrary dynamic sequence lengths static. Cross-request variation still requires a bounded shape cache, padding and masking, or eager fallback on a cache miss.</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LLM decode commonly captures a small set of batch-size buckets with query length one, then reuses those graphs across many token steps and requests. Video generation has a higher-dimensional shape key. Output height, width and frame count change the latent sequence length; packed reference slots or conditioning length can add another dimension; head-band width and stable registered-buffer addresses also participate in the current prototype key. Therefore arbitrary video requests have lower cross-request Graph hit rate. The captured island contains no block-specific weights, and its key does not include the DiT block instance. When configuration and metadata match, one GraphExec per band/profile can replay across all 50 blocks and all denoising steps: 400 times under PDD8 or 2,500 times under Base50. The (1, 2, 3, 1) plan uses four GraphExecs. A fixed live-avatar profile can recover even more reuse because resolution, frame window, reference slots, band plan and persistent buffers repeat across continuation requests. For fixed-sparsity or fixed-Top-K VSA, the selected count is fixed for one profile. Top-K indices, scores and Q/K/V values change, but their tensor shapes do not, so those content changes do not require recapture. If a ratio-based K is derived from sequence length, K can still change when a new request changes H, W or T. The serving policy is to pre-capture a bounded set of hot profiles, use persistent registered buffer pools, run uncommon shapes eagerly, and capture only after a reuse threshold. Report Graph hit rate, cold capture cost, private-pool memory and eager fallback rate.</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parallelism starts with a token shard on every GPU. For this measured 362-frame profile, the aligned sequence has 56,960 tokens, so USP8 gives each rank 7,120 tokens and all 56 attention heads. After the local Q, K, V and learned VSA gate projections, Ulysses runs an all-to-all that gathers the full sequence while scattering heads. The local tensor changes from [B, S/8, 56, 128] to [B, S, 7, 128]. Each rank can now compute full-sequence attention locally for its own seven heads. A reverse all-to-all on O restores [B, S/8, 56, 128], and output projection, residual and MLP continue on the local token shard. The element count is preserved: (S/8) times 56 equals S times 7. USP reduces the per-rank activation and head workload; it does not reduce the global attention math. New Q, K, V and gate tensors are produced in every attention block, so this exchange repeats block by block. The 56,960-token shape belongs to the measured 960 by 544, 362-frame communication study; it is not the 124-frame Base50 shape.</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previous page explains the Ulysses tensor transform; this page shows the physical roads underneath it. The five Q, K, V, gate and output slots cross the topology in each measured VSA-enabled DiT block. The retained host has two NUMA sockets and four two-GPU PCIe islands. P0 contains GPUs 0 and 1, P1 contains GPUs 2 and 3, P2 contains GPUs 4 and 5, and P3 contains GPUs 6 and 7. From any GPU, one remote peer shares its PCIe subtree and is classified PXB, two peers sit behind the other subtree on the same NUMA socket and are classified NODE, and four peers sit across the CPU-to-CPU path and are classified SYS. Ulysses uses equal peer chunks, so the logical off-rank split is 1/7 PXB, 2/7 NODE and 4/7 SYS. Therefore 57.1 percent of minimum one-way off-rank logical payload is cross-socket. This is a topology and logical-payload statement; it is not a captured split of NCCL wire bytes, route residency, or elapsed time. The nearest-NIC mapping is GPU0 to mlx5_2, GPU1 to mlx5_3, GPU2 to mlx5_0, GPU3 to mlx5_1, GPU4 to mlx5_6, GPU5 to mlx5_7, GPU6 to mlx5_4 and GPU7 to mlx5_5. Each retained ConnectX-8 port was active at 400 Gb/s. The editable diagram shows hardware containment and path classes; it does not assert that the local NCCL control transported every byte over a single physical route family. Code anchors: pipeline_minimax_h3.py lines 648 and 886-887; pipeline_minimax_h3.py line 3539; denoise_loop.py lines 3-7 and the single model call beginning at line 404.</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exact-shape benchmark isolates the five Ulysses Q, K, V, gate and output slots for the current MiniMax H3 Ref2VA avatar profile: 960 by 544, 362 frames at 24 FPS, BF16, DP1, TP1, USP8, Ring1, global aligned sequence 56,960, local sequence 7,120, 56 heads and head dimension 128. It is one request on one eight-GPU replica, not DP8. Each route moves 446,566,400 off-rank logical bytes per rank and DiT block. Across all eight ranks and 400 PDD8 block calls, the minimum one-way off-rank logical volume is 1,429,012,480,000 bytes, or 1.42901248 decimal terabytes. Five warmups preceded eight paired trials with four block calls per trial. Each trial records the slowest rank; the slide reports the mean of those rank maxima. NCCL local measured 24.874763 milliseconds per block and 17.952589 decimal gigabytes per second of effective off-rank send bandwidth per rank. Nearest-NIC GPUDirect RDMA measured 10.855998 milliseconds and 41.135455 gigabytes per second. Multiplying the unrounded block means by 400 gives 9.949905 and 4.342399 seconds of serialized PDD8 communication plus path-required layout, a 5.607506-second reduction. The RDMA path is 2.291338 times faster and uses 56.3574 percent less measured communication-plus-layout time. Outputs match an independent all_gather reference exactly. This test contains no attention, GEMM or communication-compute overlap. Its serialized values are not end-to-end request predictions. The NCCL and RDMA adapters also use different path-required layout operations, so the delta is a measured deployment-path result rather than isolated wire time. Raw source: /tmp/h3-qad-realtime-20261023/ulysses-362f-paths-20261025.json.</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page as an evidence ledger, not as a performance ladder. Green means the exact locked benchmark. Blue means a result qualified inside its own study but not comparable with the green row. Orange is the acceptance work still required before we publish a cumulative optimization story.</a:t>
            </a:r>
          </a:p>
          <a:p/>
          <a:p>
            <a:r>
              <a:t>Row A is the only current result on the locked MiniMax H3 Base Ref2VA request: 960 by 544, 124 frames at 24 FPS, 5.1667 seconds of media, the Miles reference image and voice, the locked prompt, seed 43, 50 denoising steps, BF16 dense attention, eight RTX PRO 5000 GPUs, TP1 and USP8, local NCCL, and no RDMA. After initialization and one warmup, three formal requests took 247.956, 246.201, and 248.298 seconds. The median is 247.956 seconds, or RTF 47.992. All three formal outputs and the warmup share the same MP4 SHA-256 and fully decode. The 70.84 GiB value is the maximum sampled whole-device reading across ranks over cold initialization and steady requests. It is not a PyTorch allocator high-water mark, and the ranks are materially imbalanced. Slide 6 reports the same run as 60,813 MiB steady and 72,539 MiB during cold initialization.</a:t>
            </a:r>
          </a:p>
          <a:p/>
          <a:p>
            <a:r>
              <a:t>Row B is a different 15.083-second request: 960 by 544, 362 frames, one Zhiwei image, no external voice, an eight-forward NVFP4-QAD 36-layer decoder with VSA, and three samples per arm. Its original NCCL control averaged 17.681 seconds, while the final production arm averaged 14.974 seconds, changing RTF from 1.172 to 0.993. All three final requests met the 15.083-second media-duration budget. This is not sustained-stream evidence; the worst final request was 14.999848 seconds, only 0.152 milliseconds below a nominal 15.000-second threshold. The RDMA path also changes direct Ulysses layout handling, so its delta must not be described as isolated network transport.</a:t>
            </a:r>
          </a:p>
          <a:p/>
          <a:p>
            <a:r>
              <a:t>Row C is internally paired but historical. Both arms use the same 960 by 544, 243-frame input and seed in that study. The original Base50 arm took 263.847 seconds; a distinct four-step Turbo, MXFP8, dense-Sage, NVFP4-VAE, TP1/SP8 and RDMA production stack took 6.958 seconds. RTF moves from 26.059 to 0.687. There is one formal sample per arm, and many material axes change together. This proves endpoint feasibility for that study, not a PDD8, VSA, QAD, Sage, or RDMA ablation.</a:t>
            </a:r>
          </a:p>
          <a:p/>
          <a:p>
            <a:r>
              <a:t>Row D is the portrait live-avatar workload: 576 by 1024, a 124-frame request window with five-frame overlap, and therefore 119 new frames or 4.958 seconds of new media per continuation. It uses a four-step MXFP8 stack, BF16 Sage on the first sensitive attention path, NVFP4 video VAE, USP8 and RDMA. The initial request took 4.644 seconds. Five continuations have a 4.459-second median and RTF 0.899. The n label 1 + 5 means one initial request plus five continuation requests; it is not six steady samples. This is useful live-feasibility evidence, but it has no matched Base50 arm, no long-run P95, and no complete perceptual or lip-sync qualification.</a:t>
            </a:r>
          </a:p>
          <a:p/>
          <a:p>
            <a:r>
              <a:t>The orange row is the publication gate. Keep the row-A image, audio, prompt, seed, geometry, frame count, request mode, hardware placement, timing boundary and memory method fixed. Measure Base50, PDD8, PDD8 plus VSA, the selected QAD or Sage path, and the RDMA plus overlap path with at least three steady requests per stage. Record end-to-end latency, RTF, peak GPU memory under one method, output exactness or a stated quality metric, and matched Nsight cost centers and overlap. Only then may these stages be connected as a cumulative waterfall.</a:t>
            </a:r>
          </a:p>
          <a:p/>
          <a:p>
            <a:r>
              <a:t>The four-GPU real-RDMA precheck on the previous slide is correctness-only and is therefore absent from the performance rows. It did not run the full eight-GPU H3 model, measure end-to-end latency, or measure overlap. The 87.11 percent overlap value belongs to the separate 362-frame QAD trace and must not be attached to the Base50 row. A successful 1344 by 768 PDD8/VSA BF16 study is also component evidence only and does not fill a stage in the locked 544P chain.</a:t>
            </a:r>
          </a:p>
          <a:p/>
          <a:p>
            <a:r>
              <a:t>Visible footer note: the 70.84 GiB value is the whole-device nvidia-smi maximum across cold and steady execution, not allocator high-water. Rows B through D are independent evidence, not a staged sequence.</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focuses on ComfyUI workflows backed by vLLM-Omni multi-GPU serving, beginning with the public MiniMax H3 character-replacement work in PR #9194.</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part two. It uses the official vLLM-Omni architecture and the public PR #9194 ComfyUI character-replacement workflow. The pull request is open as of October 24, 2026.</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6.xml"/><Relationship Id="rId3" Type="http://schemas.openxmlformats.org/officeDocument/2006/relationships/image" Target="../media/image19.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 Id="rId3" Type="http://schemas.openxmlformats.org/officeDocument/2006/relationships/image" Target="../media/image20.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3.xml"/><Relationship Id="rId3" Type="http://schemas.openxmlformats.org/officeDocument/2006/relationships/image" Target="../media/image2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23.png"/><Relationship Id="rId4" Type="http://schemas.openxmlformats.org/officeDocument/2006/relationships/image" Target="../media/image24.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rPr>
                <a:solidFill>
                  <a:srgbClr val="313131"/>
                </a:solidFill>
              </a:rPr>
              <a:t>Shunyang Li | Public technical brief | October 2026</a:t>
            </a:r>
          </a:p>
        </p:txBody>
      </p:sp>
      <p:sp>
        <p:nvSpPr>
          <p:cNvPr id="3" name="Text Placeholder 2"/>
          <p:cNvSpPr>
            <a:spLocks noGrp="1"/>
          </p:cNvSpPr>
          <p:nvPr>
            <p:ph type="body" idx="11" sz="quarter"/>
          </p:nvPr>
        </p:nvSpPr>
        <p:spPr/>
        <p:txBody>
          <a:bodyPr/>
          <a:lstStyle/>
          <a:p>
            <a:r>
              <a:rPr sz="7700">
                <a:latin typeface="NVIDIA Sans"/>
              </a:rPr>
              <a:t>8× RTX PRO 5000 · vLLM-Omni</a:t>
            </a:r>
          </a:p>
        </p:txBody>
      </p:sp>
      <p:sp>
        <p:nvSpPr>
          <p:cNvPr id="4" name="Text Placeholder 3"/>
          <p:cNvSpPr>
            <a:spLocks noGrp="1"/>
          </p:cNvSpPr>
          <p:nvPr>
            <p:ph type="body" idx="10" sz="quarter"/>
          </p:nvPr>
        </p:nvSpPr>
        <p:spPr/>
        <p:txBody>
          <a:bodyPr/>
          <a:lstStyle/>
          <a:p>
            <a:r>
              <a:t>Real-Time Video Generation
With MiniMax H3</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and ComfyUI Applications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01 · Real-Time H3
Generation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A 124-frame clip at 24 FPS is real time only when end-to-end latency stays below 5.167 s (RTF &lt; 1)</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p:txBody>
          <a:bodyPr/>
          <a:lstStyle/>
          <a:p>
            <a:r>
              <a:t>32B encoder → 33B dense Omni Transformer → visual/audio VAE. Fifty blocks × 50 steps keep compute and memory pressure high; about 13B AdaLN parameters can be cached</a:t>
            </a:r>
          </a:p>
        </p:txBody>
      </p:sp>
      <p:sp>
        <p:nvSpPr>
          <p:cNvPr id="8" name="Text Placeholder 7"/>
          <p:cNvSpPr>
            <a:spLocks noGrp="1"/>
          </p:cNvSpPr>
          <p:nvPr>
            <p:ph type="body" idx="55" sz="quarter"/>
          </p:nvPr>
        </p:nvSpPr>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All discrete SM120 cards pair fifth-generation Tensor Cores with GDDR7 and PCIe Gen5; none provides GPU-to-GPU NVLink</a:t>
            </a:r>
          </a:p>
        </p:txBody>
      </p:sp>
      <p:sp>
        <p:nvSpPr>
          <p:cNvPr id="3" name="Title 2"/>
          <p:cNvSpPr>
            <a:spLocks noGrp="1"/>
          </p:cNvSpPr>
          <p:nvPr>
            <p:ph type="title"/>
          </p:nvPr>
        </p:nvSpPr>
        <p:spPr/>
        <p:txBody>
          <a:bodyPr/>
          <a:lstStyle/>
          <a:p>
            <a:r>
              <a:t>SM120 Brings FP4 Compute; PCIe Limits Scale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5000 ×8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110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72 GB GDDR7 ECC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48 GB variant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Planned: NIC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6000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188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GPU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170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32 GB GDDR7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SM121 · 48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128 GB unified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LPDDR5X</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NVLink-C2C in SoC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200 Gb/s ConnectX-7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 Planned system path; GPUDirect RDMA requires a compatible NIC and PCIe topology · Sources: NVIDIA product specs, CUDA GPU table, GPUDirect RDMA guide</a:t>
            </a:r>
            <a:endParaRPr lang="en-US" dirty="0"/>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NCCL occupies 49.2% of the average GPU timeline</a:t>
            </a:r>
          </a:p>
        </p:txBody>
      </p:sp>
      <p:sp>
        <p:nvSpPr>
          <p:cNvPr id="3" name="Title 2"/>
          <p:cNvSpPr>
            <a:spLocks noGrp="1"/>
          </p:cNvSpPr>
          <p:nvPr>
            <p:ph type="title"/>
          </p:nvPr>
        </p:nvSpPr>
        <p:spPr/>
        <p:txBody>
          <a:bodyPr/>
          <a:lstStyle/>
          <a:p>
            <a:r>
              <a:t>Latency Breakdown</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6</a:t>
            </a:fld>
            <a:endParaRPr lang="en-US"/>
          </a:p>
        </p:txBody>
      </p:sp>
      <p:graphicFrame>
        <p:nvGraphicFramePr>
          <p:cNvPr id="5" name="Official NVIDIA Baselin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18394801">
                  <a:extLst>
                    <a:ext uri="{9D8B030D-6E8A-4147-A177-3AD203B41FA5}">
                      <a16:colId xmlns:a16="http://schemas.microsoft.com/office/drawing/2014/main" val="1714626306"/>
                    </a:ext>
                  </a:extLst>
                </a:gridCol>
                <a:gridCol w="6217920">
                  <a:extLst>
                    <a:ext uri="{9D8B030D-6E8A-4147-A177-3AD203B41FA5}">
                      <a16:colId xmlns:a16="http://schemas.microsoft.com/office/drawing/2014/main" val="1697748500"/>
                    </a:ext>
                  </a:extLst>
                </a:gridCol>
                <a:gridCol w="3657600">
                  <a:extLst>
                    <a:ext uri="{9D8B030D-6E8A-4147-A177-3AD203B41FA5}">
                      <a16:colId xmlns:a16="http://schemas.microsoft.com/office/drawing/2014/main" val="3872581152"/>
                    </a:ext>
                  </a:extLst>
                </a:gridCol>
              </a:tblGrid>
              <a:tr h="91440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Stage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Average GPU Time*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Share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96012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Mean GPU timeline*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27432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250.0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NCCL communication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123.0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DiT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116.1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46.4%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Encoder, VAE, and other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7.0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Tensor compute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84.5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33.8%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2690260899"/>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Attention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45.3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18.1%</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618141472"/>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GEMM / MLP</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39.2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864763436"/>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AdaLN weight staging + device layout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38.5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404130746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Encoder, VAE, and other GPU work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1617734848"/>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Base Ref2VA · 960×544 · 124f @ 24 FPS · 50 steps · BF16 · 8× RTX PRO 5000 · default AdaLN offload · local NCCL / RDMA off · *sum across 8 GPU timelines ÷ 8</a:t>
            </a:r>
            <a:endParaRPr lang="en-US" dirty="0"/>
          </a:p>
        </p:txBody>
      </p:sp>
      <p:sp>
        <p:nvSpPr>
          <p:cNvPr id="7" name="Official NVIDIA Green Bullets (Template Slide 11)">
            <a:extLst>
              <a:ext uri="{FF2B5EF4-FFF2-40B4-BE49-F238E27FC236}">
                <a16:creationId xmlns:a16="http://schemas.microsoft.com/office/drawing/2014/main" id="{F4CEAB82-3270-2922-8769-7E63216D0A3E}"/>
              </a:ext>
            </a:extLst>
          </p:cNvPr>
          <p:cNvSpPr>
            <a:spLocks noGrp="1"/>
          </p:cNvSpPr>
          <p:nvPr>
            <p:ph type="body" sz="quarter" idx="13"/>
          </p:nvPr>
        </p:nvSpPr>
        <p:spPr>
          <a:xfrm>
            <a:off x="1828800" y="5943600"/>
            <a:ext cx="32918399" cy="12801600"/>
          </a:xfrm>
        </p:spPr>
        <p:txBody>
          <a:bodyPr wrap="square" anchor="t" lIns="2331720" rIns="2331719" tIns="10744200" bIns="0"/>
          <a:lstStyle/>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Of the 38.5 s average, 36.9 s is AdaLN projection weight staging from CPU; layout is 1.5 s</a:t>
            </a:r>
          </a:p>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This run uses the default runtime cache, not a complete precomputed schedule sidecar</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wrap="square" lIns="0" rIns="0" tIns="0" bIns="0"/>
          <a:lstStyle/>
          <a:p>
            <a:pPr algn="l"/>
            <a:r>
              <a:rPr b="1">
                <a:solidFill>
                  <a:srgbClr val="313131"/>
                </a:solidFill>
                <a:latin typeface="NVIDIA Sans Medium"/>
              </a:rPr>
              <a:t>State and direction</a:t>
            </a:r>
          </a:p>
          <a:p>
            <a:pPr lvl="1" algn="l"/>
            <a:r>
              <a:rPr b="0">
                <a:solidFill>
                  <a:srgbClr val="313131"/>
                </a:solidFill>
                <a:latin typeface="NVIDIA Sans"/>
              </a:rPr>
              <a:t>x(t) is the current latent; the DiT predicts a data-ward velocity</a:t>
            </a:r>
          </a:p>
          <a:p>
            <a:pPr algn="l"/>
            <a:r>
              <a:rPr b="1">
                <a:solidFill>
                  <a:srgbClr val="313131"/>
                </a:solidFill>
                <a:latin typeface="NVIDIA Sans Medium"/>
              </a:rPr>
              <a:t>Solver update</a:t>
            </a:r>
          </a:p>
          <a:p>
            <a:pPr lvl="1" algn="l"/>
            <a:r>
              <a:rPr b="0">
                <a:solidFill>
                  <a:srgbClr val="313131"/>
                </a:solidFill>
                <a:latin typeface="NVIDIA Sans"/>
              </a:rPr>
              <a:t>Euler advances x(t) by a small interval along that velocity</a:t>
            </a:r>
          </a:p>
          <a:p>
            <a:pPr lvl="1" algn="l"/>
            <a:r>
              <a:rPr b="0">
                <a:solidFill>
                  <a:srgbClr val="313131"/>
                </a:solidFill>
                <a:latin typeface="NVIDIA Sans"/>
              </a:rPr>
              <a:t>The next DiT call needs the new latent, so conventional steps run in sequence</a:t>
            </a:r>
          </a:p>
          <a:p>
            <a:pPr algn="l"/>
            <a:r>
              <a:rPr b="1">
                <a:solidFill>
                  <a:srgbClr val="76B900"/>
                </a:solidFill>
                <a:latin typeface="NVIDIA Sans Medium"/>
              </a:rPr>
              <a:t>Network function evaluation (NFE)</a:t>
            </a:r>
          </a:p>
          <a:p>
            <a:pPr lvl="1" algn="l"/>
            <a:r>
              <a:rPr b="0">
                <a:solidFill>
                  <a:srgbClr val="313131"/>
                </a:solidFill>
                <a:latin typeface="NVIDIA Sans"/>
              </a:rPr>
              <a:t>One NFE is one complete DiT forward</a:t>
            </a:r>
          </a:p>
          <a:p>
            <a:pPr algn="l"/>
            <a:r>
              <a:rPr b="1">
                <a:solidFill>
                  <a:srgbClr val="313131"/>
                </a:solidFill>
                <a:latin typeface="NVIDIA Sans Medium"/>
              </a:rPr>
              <a:t>Base H3</a:t>
            </a:r>
          </a:p>
          <a:p>
            <a:pPr lvl="1" algn="l"/>
            <a:r>
              <a:rPr b="0">
                <a:solidFill>
                  <a:srgbClr val="313131"/>
                </a:solidFill>
                <a:latin typeface="NVIDIA Sans"/>
              </a:rPr>
              <a:t>50 NFE × 50 main blocks = 2,500 main-block passes</a:t>
            </a:r>
          </a:p>
        </p:txBody>
      </p:sp>
      <p:sp>
        <p:nvSpPr>
          <p:cNvPr id="3" name="Text Placeholder 2"/>
          <p:cNvSpPr>
            <a:spLocks noGrp="1"/>
          </p:cNvSpPr>
          <p:nvPr>
            <p:ph type="body" idx="14" sz="quarter"/>
          </p:nvPr>
        </p:nvSpPr>
        <p:spPr/>
        <p:txBody>
          <a:bodyPr/>
          <a:lstStyle/>
          <a:p>
            <a:r>
              <a:t>H3 follows a learned velocity field from noise toward clean video and audio latents</a:t>
            </a:r>
          </a:p>
        </p:txBody>
      </p:sp>
      <p:sp>
        <p:nvSpPr>
          <p:cNvPr id="4" name="Title 3"/>
          <p:cNvSpPr>
            <a:spLocks noGrp="1"/>
          </p:cNvSpPr>
          <p:nvPr>
            <p:ph type="title"/>
          </p:nvPr>
        </p:nvSpPr>
        <p:spPr/>
        <p:txBody>
          <a:bodyPr/>
          <a:lstStyle/>
          <a:p>
            <a:r>
              <a:t>How Denoising Works</a:t>
            </a:r>
          </a:p>
        </p:txBody>
      </p:sp>
      <p:sp>
        <p:nvSpPr>
          <p:cNvPr id="5" name="Text Placeholder 4"/>
          <p:cNvSpPr>
            <a:spLocks noGrp="1"/>
          </p:cNvSpPr>
          <p:nvPr>
            <p:ph type="body" idx="52" sz="quarter"/>
          </p:nvPr>
        </p:nvSpPr>
        <p:spPr/>
        <p:txBody>
          <a:bodyPr/>
          <a:lstStyle/>
          <a:p>
            <a:r>
              <a:t>A chain of dependent solver updates turns noise into clean latents</a:t>
            </a:r>
          </a:p>
        </p:txBody>
      </p:sp>
      <p:sp>
        <p:nvSpPr>
          <p:cNvPr id="6" name="Text Placeholder 5"/>
          <p:cNvSpPr>
            <a:spLocks noGrp="1"/>
          </p:cNvSpPr>
          <p:nvPr>
            <p:ph type="body" idx="51" sz="quarter"/>
          </p:nvPr>
        </p:nvSpPr>
        <p:spPr/>
        <p:txBody>
          <a:bodyPr/>
          <a:lstStyle/>
          <a:p>
            <a:r>
              <a:t>Classical Flow-Matching Sampling</a:t>
            </a:r>
          </a:p>
        </p:txBody>
      </p:sp>
      <p:pic>
        <p:nvPicPr>
          <p:cNvPr id="7" name="Picture Placeholder 6" descr="denoising-basics-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MiniMax H3 Base configuration · NVIDIA FastGen-PDD sampling background (arXiv:2607.26004) · author abstraction</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7</a:t>
            </a:fld>
            <a:endParaRPr lang="en-US"/>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wrap="square" lIns="0" rIns="0" tIns="0" bIns="0"/>
          <a:lstStyle/>
          <a:p>
            <a:pPr algn="l"/>
            <a:r>
              <a:rPr b="1">
                <a:solidFill>
                  <a:srgbClr val="313131"/>
                </a:solidFill>
                <a:latin typeface="NVIDIA Sans Medium"/>
              </a:rPr>
              <a:t>Learn from the 50-step teacher</a:t>
            </a:r>
          </a:p>
          <a:p>
            <a:pPr lvl="1" algn="l"/>
            <a:r>
              <a:rPr b="0">
                <a:solidFill>
                  <a:srgbClr val="313131"/>
                </a:solidFill>
                <a:latin typeface="NVIDIA Sans"/>
              </a:rPr>
              <a:t>Base H3 supplies the direction for each short denoising interval</a:t>
            </a:r>
          </a:p>
          <a:p>
            <a:pPr algn="l"/>
            <a:r>
              <a:rPr b="1">
                <a:solidFill>
                  <a:srgbClr val="76B900"/>
                </a:solidFill>
                <a:latin typeface="NVIDIA Sans Medium"/>
              </a:rPr>
              <a:t>Predict four moves at once</a:t>
            </a:r>
          </a:p>
          <a:p>
            <a:pPr lvl="1" algn="l"/>
            <a:r>
              <a:rPr b="0">
                <a:solidFill>
                  <a:srgbClr val="313131"/>
                </a:solidFill>
                <a:latin typeface="NVIDIA Sans"/>
              </a:rPr>
              <a:t>One student call predicts four consecutive directions from the same noisy latent</a:t>
            </a:r>
          </a:p>
          <a:p>
            <a:pPr algn="l"/>
            <a:r>
              <a:rPr b="1">
                <a:solidFill>
                  <a:srgbClr val="313131"/>
                </a:solidFill>
                <a:latin typeface="NVIDIA Sans Medium"/>
              </a:rPr>
              <a:t>Take the step, then ask again</a:t>
            </a:r>
          </a:p>
          <a:p>
            <a:pPr lvl="1" algn="l"/>
            <a:r>
              <a:rPr b="0">
                <a:solidFill>
                  <a:srgbClr val="313131"/>
                </a:solidFill>
                <a:latin typeface="NVIDIA Sans"/>
              </a:rPr>
              <a:t>Combine those directions, update the latent, and repeat</a:t>
            </a:r>
          </a:p>
          <a:p>
            <a:pPr algn="l"/>
            <a:r>
              <a:rPr b="1">
                <a:solidFill>
                  <a:srgbClr val="76B900"/>
                </a:solidFill>
                <a:latin typeface="NVIDIA Sans Medium"/>
              </a:rPr>
              <a:t>What changes for H3</a:t>
            </a:r>
          </a:p>
          <a:p>
            <a:pPr lvl="1" algn="l"/>
            <a:r>
              <a:rPr b="0">
                <a:solidFill>
                  <a:srgbClr val="313131"/>
                </a:solidFill>
                <a:latin typeface="NVIDIA Sans"/>
              </a:rPr>
              <a:t>50 → 8 DiT calls; repeated block work falls from 2,500 to 400 (−84%)</a:t>
            </a:r>
          </a:p>
        </p:txBody>
      </p:sp>
      <p:sp>
        <p:nvSpPr>
          <p:cNvPr id="3" name="Text Placeholder 2"/>
          <p:cNvSpPr>
            <a:spLocks noGrp="1"/>
          </p:cNvSpPr>
          <p:nvPr>
            <p:ph type="body" idx="14" sz="quarter"/>
          </p:nvPr>
        </p:nvSpPr>
        <p:spPr/>
        <p:txBody>
          <a:bodyPr/>
          <a:lstStyle/>
          <a:p>
            <a:r>
              <a:t>PDD predicts four denoising intervals per DiT call: 50 calls → 8</a:t>
            </a:r>
          </a:p>
        </p:txBody>
      </p:sp>
      <p:sp>
        <p:nvSpPr>
          <p:cNvPr id="4" name="Title 3"/>
          <p:cNvSpPr>
            <a:spLocks noGrp="1"/>
          </p:cNvSpPr>
          <p:nvPr>
            <p:ph type="title"/>
          </p:nvPr>
        </p:nvSpPr>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wrap="square" lIns="0" rIns="0" tIns="0" bIns="0"/>
          <a:lstStyle/>
          <a:p>
            <a:pPr algn="l"/>
            <a:r>
              <a:rPr b="1">
                <a:solidFill>
                  <a:srgbClr val="313131"/>
                </a:solidFill>
                <a:latin typeface="NVIDIA Sans Medium"/>
              </a:rPr>
              <a:t>Why dense attention hurts</a:t>
            </a:r>
          </a:p>
          <a:p>
            <a:pPr lvl="1" algn="l"/>
            <a:r>
              <a:rPr b="0">
                <a:solidFill>
                  <a:srgbClr val="313131"/>
                </a:solidFill>
                <a:latin typeface="NVIDIA Sans"/>
              </a:rPr>
              <a:t>34,373 tokens create 1.181B candidate pairs per head and block</a:t>
            </a:r>
          </a:p>
          <a:p>
            <a:pPr algn="l"/>
            <a:r>
              <a:rPr b="1">
                <a:solidFill>
                  <a:srgbClr val="76B900"/>
                </a:solidFill>
                <a:latin typeface="NVIDIA Sans Medium"/>
              </a:rPr>
              <a:t>Look broadly, then zoom in</a:t>
            </a:r>
          </a:p>
          <a:p>
            <a:pPr lvl="1" algn="l"/>
            <a:r>
              <a:rPr b="0">
                <a:solidFill>
                  <a:srgbClr val="313131"/>
                </a:solidFill>
                <a:latin typeface="NVIDIA Sans"/>
              </a:rPr>
              <a:t>Coarse attention scans all cubes; Top-K picks where fine attention should work</a:t>
            </a:r>
          </a:p>
          <a:p>
            <a:pPr algn="l"/>
            <a:r>
              <a:rPr b="1">
                <a:solidFill>
                  <a:srgbClr val="76B900"/>
                </a:solidFill>
                <a:latin typeface="NVIDIA Sans Medium"/>
              </a:rPr>
              <a:t>Bring both views together</a:t>
            </a:r>
          </a:p>
          <a:p>
            <a:pPr lvl="1" algn="l"/>
            <a:r>
              <a:rPr b="0">
                <a:solidFill>
                  <a:srgbClr val="313131"/>
                </a:solidFill>
                <a:latin typeface="NVIDIA Sans"/>
              </a:rPr>
              <a:t>A learned gate mixes global context with selected fine detail</a:t>
            </a:r>
          </a:p>
          <a:p>
            <a:pPr algn="l"/>
            <a:r>
              <a:rPr b="1">
                <a:solidFill>
                  <a:srgbClr val="313131"/>
                </a:solidFill>
                <a:latin typeface="NVIDIA Sans Medium"/>
              </a:rPr>
              <a:t>What stays dense</a:t>
            </a:r>
          </a:p>
          <a:p>
            <a:pPr lvl="1" algn="l"/>
            <a:r>
              <a:rPr b="0">
                <a:solidFill>
                  <a:srgbClr val="313131"/>
                </a:solidFill>
                <a:latin typeface="NVIDIA Sans"/>
              </a:rPr>
              <a:t>USP8 still exchanges full-length Q/K/V/O between GPUs</a:t>
            </a:r>
          </a:p>
        </p:txBody>
      </p:sp>
      <p:sp>
        <p:nvSpPr>
          <p:cNvPr id="3" name="Text Placeholder 2"/>
          <p:cNvSpPr>
            <a:spLocks noGrp="1"/>
          </p:cNvSpPr>
          <p:nvPr>
            <p:ph type="body" idx="14" sz="quarter"/>
          </p:nvPr>
        </p:nvSpPr>
        <p:spPr/>
        <p:txBody>
          <a:bodyPr/>
          <a:lstStyle/>
          <a:p>
            <a:r>
              <a:t>VSA scans globally, then spends fine attention only where it matters</a:t>
            </a:r>
          </a:p>
        </p:txBody>
      </p:sp>
      <p:sp>
        <p:nvSpPr>
          <p:cNvPr id="4" name="Title 3"/>
          <p:cNvSpPr>
            <a:spLocks noGrp="1"/>
          </p:cNvSpPr>
          <p:nvPr>
            <p:ph type="title"/>
          </p:nvPr>
        </p:nvSpPr>
        <p:spPr/>
        <p:txBody>
          <a:bodyPr/>
          <a:lstStyle/>
          <a:p>
            <a:r>
              <a:t>Sparse Attention</a:t>
            </a:r>
          </a:p>
        </p:txBody>
      </p:sp>
      <p:sp>
        <p:nvSpPr>
          <p:cNvPr id="5" name="Text Placeholder 4"/>
          <p:cNvSpPr>
            <a:spLocks noGrp="1"/>
          </p:cNvSpPr>
          <p:nvPr>
            <p:ph type="body" idx="52" sz="quarter"/>
          </p:nvPr>
        </p:nvSpPr>
        <p:spPr/>
        <p:txBody>
          <a:bodyPr/>
          <a:lstStyle/>
          <a:p>
            <a:r>
              <a:t>Global coarse context + selected fine detail · FastH3 adaptation: G_f = 1</a:t>
            </a:r>
          </a:p>
        </p:txBody>
      </p:sp>
      <p:sp>
        <p:nvSpPr>
          <p:cNvPr id="6" name="Text Placeholder 5"/>
          <p:cNvSpPr>
            <a:spLocks noGrp="1"/>
          </p:cNvSpPr>
          <p:nvPr>
            <p:ph type="body" idx="51" sz="quarter"/>
          </p:nvPr>
        </p:nvSpPr>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Fig. 1 · current H3 Ulysses communication path audited from source</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9</a:t>
            </a:fld>
            <a:endParaRPr lang="en-US"/>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wrap="square" lIns="0" rIns="0" tIns="0" bIns="0"/>
          <a:lstStyle/>
          <a:p>
            <a:pPr algn="l"/>
            <a:r>
              <a:rPr b="1">
                <a:solidFill>
                  <a:srgbClr val="313131"/>
                </a:solidFill>
                <a:latin typeface="NVIDIA Sans Medium"/>
              </a:rPr>
              <a:t>Why PTQ is not enough</a:t>
            </a:r>
          </a:p>
          <a:p>
            <a:pPr lvl="1" algn="l"/>
            <a:r>
              <a:rPr b="0">
                <a:solidFill>
                  <a:srgbClr val="313131"/>
                </a:solidFill>
                <a:latin typeface="NVIDIA Sans"/>
              </a:rPr>
              <a:t>Four-bit rounding can move the model away from its BF16 output</a:t>
            </a:r>
          </a:p>
          <a:p>
            <a:pPr algn="l"/>
            <a:r>
              <a:rPr b="1">
                <a:solidFill>
                  <a:srgbClr val="76B900"/>
                </a:solidFill>
                <a:latin typeface="NVIDIA Sans Medium"/>
              </a:rPr>
              <a:t>Same sample, two paths</a:t>
            </a:r>
          </a:p>
          <a:p>
            <a:pPr lvl="1" algn="l"/>
            <a:r>
              <a:rPr b="0">
                <a:solidFill>
                  <a:srgbClr val="313131"/>
                </a:solidFill>
                <a:latin typeface="NVIDIA Sans"/>
              </a:rPr>
              <a:t>The teacher stays frozen; the student sees deployment quantization noise</a:t>
            </a:r>
          </a:p>
          <a:p>
            <a:pPr algn="l"/>
            <a:r>
              <a:rPr b="1">
                <a:solidFill>
                  <a:srgbClr val="76B900"/>
                </a:solidFill>
                <a:latin typeface="NVIDIA Sans Medium"/>
              </a:rPr>
              <a:t>Only the student learns</a:t>
            </a:r>
          </a:p>
          <a:p>
            <a:pPr lvl="1" algn="l"/>
            <a:r>
              <a:rPr b="0">
                <a:solidFill>
                  <a:srgbClr val="313131"/>
                </a:solidFill>
                <a:latin typeface="NVIDIA Sans"/>
              </a:rPr>
              <a:t>Distillation + STE update the student; the teacher disappears at inference</a:t>
            </a:r>
          </a:p>
          <a:p>
            <a:pPr algn="l"/>
            <a:r>
              <a:rPr b="1">
                <a:solidFill>
                  <a:srgbClr val="313131"/>
                </a:solidFill>
                <a:latin typeface="NVIDIA Sans Medium"/>
              </a:rPr>
              <a:t>Mixed precision by design</a:t>
            </a:r>
          </a:p>
          <a:p>
            <a:pPr lvl="1" algn="l"/>
            <a:r>
              <a:rPr b="0">
                <a:solidFill>
                  <a:srgbClr val="313131"/>
                </a:solidFill>
                <a:latin typeface="NVIDIA Sans"/>
              </a:rPr>
              <a:t>High-throughput linears use NVFP4; sensitive surrounding math stays BF16</a:t>
            </a:r>
          </a:p>
        </p:txBody>
      </p:sp>
      <p:sp>
        <p:nvSpPr>
          <p:cNvPr id="3" name="Text Placeholder 2"/>
          <p:cNvSpPr>
            <a:spLocks noGrp="1"/>
          </p:cNvSpPr>
          <p:nvPr>
            <p:ph type="body" idx="14" sz="quarter"/>
          </p:nvPr>
        </p:nvSpPr>
        <p:spPr/>
        <p:txBody>
          <a:bodyPr/>
          <a:lstStyle/>
          <a:p>
            <a:r>
              <a:t>QAD trains the deployed NVFP4 path against a frozen BF16 teacher</a:t>
            </a:r>
          </a:p>
        </p:txBody>
      </p:sp>
      <p:sp>
        <p:nvSpPr>
          <p:cNvPr id="4" name="Title 3"/>
          <p:cNvSpPr>
            <a:spLocks noGrp="1"/>
          </p:cNvSpPr>
          <p:nvPr>
            <p:ph type="title"/>
          </p:nvPr>
        </p:nvSpPr>
        <p:spPr/>
        <p:txBody>
          <a:bodyPr/>
          <a:lstStyle/>
          <a:p>
            <a:r>
              <a:t>Quantization</a:t>
            </a:r>
          </a:p>
        </p:txBody>
      </p:sp>
      <p:sp>
        <p:nvSpPr>
          <p:cNvPr id="5" name="Text Placeholder 4"/>
          <p:cNvSpPr>
            <a:spLocks noGrp="1"/>
          </p:cNvSpPr>
          <p:nvPr>
            <p:ph type="body" idx="52" sz="quarter"/>
          </p:nvPr>
        </p:nvSpPr>
        <p:spPr/>
        <p:txBody>
          <a:bodyPr/>
          <a:lstStyle/>
          <a:p>
            <a:r>
              <a:t>Concept: L_QAD = D(y_BF16, y_NVFP4) · the teacher disappears at inference</a:t>
            </a:r>
          </a:p>
        </p:txBody>
      </p:sp>
      <p:sp>
        <p:nvSpPr>
          <p:cNvPr id="6" name="Text Placeholder 5"/>
          <p:cNvSpPr>
            <a:spLocks noGrp="1"/>
          </p:cNvSpPr>
          <p:nvPr>
            <p:ph type="body" idx="51" sz="quarter"/>
          </p:nvPr>
        </p:nvSpPr>
        <p:spPr/>
        <p:txBody>
          <a:bodyPr/>
          <a:lstStyle/>
          <a:p>
            <a:r>
              <a:t>Teacher Guides; NVFP4 Student Learns</a:t>
            </a:r>
          </a:p>
        </p:txBody>
      </p:sp>
      <p:pic>
        <p:nvPicPr>
          <p:cNvPr id="7" name="Picture Placeholder 6" descr="nvidia_qad_loss_flow_figure5_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Model Optimizer QAD workflow, NVIDIA Technical Blog, Fig. 5 (2025) · FastH3 Omni NVFP4-QAD rev 0087718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10</a:t>
            </a:fld>
            <a:endParaRPr lang="en-US"/>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USP8 turns every attention block into four synchronized all-to-all exchanges</a:t>
            </a:r>
          </a:p>
        </p:txBody>
      </p:sp>
      <p:sp>
        <p:nvSpPr>
          <p:cNvPr id="3" name="Title 2"/>
          <p:cNvSpPr>
            <a:spLocks noGrp="1"/>
          </p:cNvSpPr>
          <p:nvPr>
            <p:ph type="title"/>
          </p:nvPr>
        </p:nvSpPr>
        <p:spPr/>
        <p:txBody>
          <a:bodyPr/>
          <a:lstStyle/>
          <a:p>
            <a:r>
              <a:t>Communication</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11</a:t>
            </a:fld>
            <a:endParaRPr lang="en-US"/>
          </a:p>
        </p:txBody>
      </p:sp>
      <p:sp>
        <p:nvSpPr>
          <p:cNvPr id="5"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Source-derived @ vLLM-Omni H3 rev 63487a7f · logical one-way off-rank payload lower bound; not measured PCIe/NIC traffic or achieved bandwidth</a:t>
            </a:r>
            <a:endParaRPr lang="en-US" dirty="0"/>
          </a:p>
        </p:txBody>
      </p:sp>
      <p:graphicFrame>
        <p:nvGraphicFramePr>
          <p:cNvPr id="6" name="Official NVIDIA Communication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475488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4023360">
                  <a:extLst>
                    <a:ext uri="{9D8B030D-6E8A-4147-A177-3AD203B41FA5}">
                      <a16:colId xmlns:a16="http://schemas.microsoft.com/office/drawing/2014/main" val="3872581152"/>
                    </a:ext>
                  </a:extLst>
                </a:gridCol>
                <a:gridCol w="6217920">
                  <a:extLst>
                    <a:ext uri="{9D8B030D-6E8A-4147-A177-3AD203B41FA5}">
                      <a16:colId xmlns:a16="http://schemas.microsoft.com/office/drawing/2014/main" val="2543914041"/>
                    </a:ext>
                  </a:extLst>
                </a:gridCol>
                <a:gridCol w="5044561">
                  <a:extLst>
                    <a:ext uri="{9D8B030D-6E8A-4147-A177-3AD203B41FA5}">
                      <a16:colId xmlns:a16="http://schemas.microsoft.com/office/drawing/2014/main" val="242183905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Scope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Tensor / Execution</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A2A Rounds</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Minimum Off-Rank Payload*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Rate at 5.167 s*</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One DiT Block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Q / K / V forward + O reverse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1.728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61.7 MB/rank/A2A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Base50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50 steps × 50 blocks = 2,500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4.319 TB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836.0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PDD8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8 steps × 50 blocks = 400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691.1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133.8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Boundary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Current VSA / Sage keeps dense BF16 exchange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Logical bytes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Not achieved bandwidth</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wrap="square" lIns="0" rIns="0" tIns="0" bIns="0"/>
          <a:lstStyle/>
          <a:p>
            <a:pPr algn="l"/>
            <a:r>
              <a:rPr b="1">
                <a:solidFill>
                  <a:srgbClr val="313131"/>
                </a:solidFill>
                <a:latin typeface="NVIDIA Sans Medium"/>
              </a:rPr>
              <a:t>All heads + Graph</a:t>
            </a:r>
          </a:p>
          <a:p>
            <a:pPr lvl="1" algn="l"/>
            <a:r>
              <a:rPr b="0">
                <a:solidFill>
                  <a:srgbClr val="313131"/>
                </a:solidFill>
                <a:latin typeface="NVIDIA Sans"/>
              </a:rPr>
              <a:t>Cuts launch overhead, but attention still waits for the full exchange</a:t>
            </a:r>
          </a:p>
          <a:p>
            <a:pPr algn="l"/>
            <a:r>
              <a:rPr b="1">
                <a:solidFill>
                  <a:srgbClr val="76B900"/>
                </a:solidFill>
                <a:latin typeface="NVIDIA Sans Medium"/>
              </a:rPr>
              <a:t>Head bands + Graph</a:t>
            </a:r>
          </a:p>
          <a:p>
            <a:pPr lvl="1" algn="l"/>
            <a:r>
              <a:rPr b="0">
                <a:solidFill>
                  <a:srgbClr val="313131"/>
                </a:solidFill>
                <a:latin typeface="NVIDIA Sans"/>
              </a:rPr>
              <a:t>Starts attention as each fixed band arrives and pipelines later bands</a:t>
            </a:r>
          </a:p>
          <a:p>
            <a:pPr algn="l"/>
            <a:r>
              <a:rPr b="1">
                <a:solidFill>
                  <a:srgbClr val="76B900"/>
                </a:solidFill>
                <a:latin typeface="NVIDIA Sans Medium"/>
              </a:rPr>
              <a:t>Measured compute-only</a:t>
            </a:r>
          </a:p>
          <a:p>
            <a:pPr lvl="1" algn="l"/>
            <a:r>
              <a:rPr b="0">
                <a:solidFill>
                  <a:srgbClr val="313131"/>
                </a:solidFill>
                <a:latin typeface="NVIDIA Sans"/>
              </a:rPr>
              <a:t>All-head −0.39% · four bands −2.30%; banding pays off through overlap</a:t>
            </a:r>
          </a:p>
          <a:p>
            <a:pPr algn="l"/>
            <a:r>
              <a:rPr b="1">
                <a:solidFill>
                  <a:srgbClr val="313131"/>
                </a:solidFill>
                <a:latin typeface="NVIDIA Sans Medium"/>
              </a:rPr>
              <a:t>Capture boundary</a:t>
            </a:r>
          </a:p>
          <a:p>
            <a:pPr lvl="1" algn="l"/>
            <a:r>
              <a:rPr b="0">
                <a:solidFill>
                  <a:srgbClr val="313131"/>
                </a:solidFill>
                <a:latin typeface="NVIDIA Sans"/>
              </a:rPr>
              <a:t>Graph: unpack → attention → pack; RDMA and readiness events stay outside</a:t>
            </a:r>
          </a:p>
        </p:txBody>
      </p:sp>
      <p:sp>
        <p:nvSpPr>
          <p:cNvPr id="3" name="Text Placeholder 2"/>
          <p:cNvSpPr>
            <a:spLocks noGrp="1"/>
          </p:cNvSpPr>
          <p:nvPr>
            <p:ph type="body" idx="14" sz="quarter"/>
          </p:nvPr>
        </p:nvSpPr>
        <p:spPr/>
        <p:txBody>
          <a:bodyPr/>
          <a:lstStyle/>
          <a:p>
            <a:r>
              <a:t>Replay trims launch gaps; fixed head bands expose overlap</a:t>
            </a:r>
          </a:p>
        </p:txBody>
      </p:sp>
      <p:sp>
        <p:nvSpPr>
          <p:cNvPr id="4" name="Title 3"/>
          <p:cNvSpPr>
            <a:spLocks noGrp="1"/>
          </p:cNvSpPr>
          <p:nvPr>
            <p:ph type="title"/>
          </p:nvPr>
        </p:nvSpPr>
        <p:spPr/>
        <p:txBody>
          <a:bodyPr/>
          <a:lstStyle/>
          <a:p>
            <a:r>
              <a:t>CUDA Graph</a:t>
            </a:r>
          </a:p>
        </p:txBody>
      </p:sp>
      <p:sp>
        <p:nvSpPr>
          <p:cNvPr id="5" name="Text Placeholder 4"/>
          <p:cNvSpPr>
            <a:spLocks noGrp="1"/>
          </p:cNvSpPr>
          <p:nvPr>
            <p:ph type="body" idx="52" sz="quarter"/>
          </p:nvPr>
        </p:nvSpPr>
        <p:spPr/>
        <p:txBody>
          <a:bodyPr/>
          <a:lstStyle/>
          <a:p>
            <a:r>
              <a:t>Measured compute-only: all-head −0.39% · four bands −2.30% · banding pays off through overlap</a:t>
            </a:r>
          </a:p>
        </p:txBody>
      </p:sp>
      <p:sp>
        <p:nvSpPr>
          <p:cNvPr id="6" name="Text Placeholder 5"/>
          <p:cNvSpPr>
            <a:spLocks noGrp="1"/>
          </p:cNvSpPr>
          <p:nvPr>
            <p:ph type="body" idx="51" sz="quarter"/>
          </p:nvPr>
        </p:nvSpPr>
        <p:spPr/>
        <p:txBody>
          <a:bodyPr/>
          <a:lstStyle/>
          <a:p>
            <a:r>
              <a:t>Same Graph Benefit · Different Overlap</a:t>
            </a:r>
          </a:p>
        </p:txBody>
      </p:sp>
      <p:pic>
        <p:nvPicPr>
          <p:cNvPr id="7" name="Picture Placeholder 6" descr="cuda-graph-head-bands-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Measured component test: head-compute-four-arm-20261025 · CUDA Programming Guide · author diagram</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12</a:t>
            </a:fld>
            <a:endParaRPr lang="en-US"/>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New video shapes need a new profile; a fixed live stream can replay the same graphs again and again</a:t>
            </a:r>
          </a:p>
        </p:txBody>
      </p:sp>
      <p:sp>
        <p:nvSpPr>
          <p:cNvPr id="3" name="Title 2"/>
          <p:cNvSpPr>
            <a:spLocks noGrp="1"/>
          </p:cNvSpPr>
          <p:nvPr>
            <p:ph type="title"/>
          </p:nvPr>
        </p:nvSpPr>
        <p:spPr/>
        <p:txBody>
          <a:bodyPr/>
          <a:lstStyle/>
          <a:p>
            <a:r>
              <a:t>CUDA Graph Reuse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13</a:t>
            </a:fld>
            <a:endParaRPr lang="en-US"/>
          </a:p>
        </p:txBody>
      </p:sp>
      <p:graphicFrame>
        <p:nvGraphicFramePr>
          <p:cNvPr id="5" name="Official NVIDIA CUDA Graph Reus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50"/>
        </p:xfrm>
        <a:graphic>
          <a:graphicData uri="http://schemas.openxmlformats.org/drawingml/2006/table">
            <a:tbl>
              <a:tblPr>
                <a:tableStyleId>{68D230F3-CF80-4859-8CE7-A43EE81993B5}</a:tableStyleId>
              </a:tblPr>
              <a:tblGrid>
                <a:gridCol w="4663440">
                  <a:extLst>
                    <a:ext uri="{9D8B030D-6E8A-4147-A177-3AD203B41FA5}">
                      <a16:colId xmlns:a16="http://schemas.microsoft.com/office/drawing/2014/main" val="1714626306"/>
                    </a:ext>
                  </a:extLst>
                </a:gridCol>
                <a:gridCol w="6949440">
                  <a:extLst>
                    <a:ext uri="{9D8B030D-6E8A-4147-A177-3AD203B41FA5}">
                      <a16:colId xmlns:a16="http://schemas.microsoft.com/office/drawing/2014/main" val="1697748500"/>
                    </a:ext>
                  </a:extLst>
                </a:gridCol>
                <a:gridCol w="8595360">
                  <a:extLst>
                    <a:ext uri="{9D8B030D-6E8A-4147-A177-3AD203B41FA5}">
                      <a16:colId xmlns:a16="http://schemas.microsoft.com/office/drawing/2014/main" val="3872581152"/>
                    </a:ext>
                  </a:extLst>
                </a:gridCol>
                <a:gridCol w="8062081">
                  <a:extLst>
                    <a:ext uri="{9D8B030D-6E8A-4147-A177-3AD203B41FA5}">
                      <a16:colId xmlns:a16="http://schemas.microsoft.com/office/drawing/2014/main" val="2543914041"/>
                    </a:ext>
                  </a:extLst>
                </a:gridCol>
              </a:tblGrid>
              <a:tr h="105156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Question</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LLM Decode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H3 Video</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Serving Policy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1948618">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Shape key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Batch bucket</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q_len = 1</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H/W/T · reference slots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head band</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Cache a small set</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of hot profiles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948618">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Replay window</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Many token steps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and requests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Across blocks + steps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PDD8: 400 · Base50: 2,500*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Reuse persistent slots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across continuation windows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948618">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VSA Top-K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Count fixed per profile</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indices and values change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Content changes replay</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the same Graph</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948618">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New geometry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Select another</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batch bucket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Bucket hit or</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eager path</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Capture only after</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the profile becomes hot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948618">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Buffer addresses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Static or pooled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decode buffers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Registered QKV/O</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staging buffers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Use a persistent</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buffer pool</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690260899"/>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*Per band/profile GraphExec when configuration matches · (1,2,3,1) uses four GraphExecs · Sources: CUDA Programming Guide; current H3 prototype audit</a:t>
            </a:r>
            <a:endParaRPr lang="en-US" dirty="0"/>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wrap="square" lIns="0" rIns="0" tIns="0" bIns="0"/>
          <a:lstStyle/>
          <a:p>
            <a:pPr algn="l"/>
            <a:r>
              <a:rPr b="1">
                <a:solidFill>
                  <a:srgbClr val="76B900"/>
                </a:solidFill>
                <a:latin typeface="NVIDIA Sans Medium"/>
              </a:rPr>
              <a:t>Start with token shards</a:t>
            </a:r>
          </a:p>
          <a:p>
            <a:pPr lvl="1" algn="l"/>
            <a:r>
              <a:rPr b="0">
                <a:solidFill>
                  <a:srgbClr val="313131"/>
                </a:solidFill>
                <a:latin typeface="NVIDIA Sans"/>
              </a:rPr>
              <a:t>Eight GPUs split 56,960 tokens; each rank keeps 7,120 tokens and all 56 heads</a:t>
            </a:r>
          </a:p>
          <a:p>
            <a:pPr algn="l"/>
            <a:r>
              <a:rPr b="1">
                <a:solidFill>
                  <a:srgbClr val="76B900"/>
                </a:solidFill>
                <a:latin typeface="NVIDIA Sans Medium"/>
              </a:rPr>
              <a:t>Swap the sharding axis</a:t>
            </a:r>
          </a:p>
          <a:p>
            <a:pPr lvl="1" algn="l"/>
            <a:r>
              <a:rPr b="0">
                <a:solidFill>
                  <a:srgbClr val="313131"/>
                </a:solidFill>
                <a:latin typeface="NVIDIA Sans"/>
              </a:rPr>
              <a:t>Q/K/V/G all-to-all changes [S/8, 56] into [S, 7]</a:t>
            </a:r>
          </a:p>
          <a:p>
            <a:pPr algn="l"/>
            <a:r>
              <a:rPr b="1">
                <a:solidFill>
                  <a:srgbClr val="76B900"/>
                </a:solidFill>
                <a:latin typeface="NVIDIA Sans Medium"/>
              </a:rPr>
              <a:t>Do the expensive part locally</a:t>
            </a:r>
          </a:p>
          <a:p>
            <a:pPr lvl="1" algn="l"/>
            <a:r>
              <a:rPr b="0">
                <a:solidFill>
                  <a:srgbClr val="313131"/>
                </a:solidFill>
                <a:latin typeface="NVIDIA Sans"/>
              </a:rPr>
              <a:t>Each GPU sees the full sequence for its own seven heads</a:t>
            </a:r>
          </a:p>
          <a:p>
            <a:pPr algn="l"/>
            <a:r>
              <a:rPr b="1">
                <a:solidFill>
                  <a:srgbClr val="76B900"/>
                </a:solidFill>
                <a:latin typeface="NVIDIA Sans Medium"/>
              </a:rPr>
              <a:t>Switch back for the block</a:t>
            </a:r>
          </a:p>
          <a:p>
            <a:pPr lvl="1" algn="l"/>
            <a:r>
              <a:rPr b="0">
                <a:solidFill>
                  <a:srgbClr val="313131"/>
                </a:solidFill>
                <a:latin typeface="NVIDIA Sans"/>
              </a:rPr>
              <a:t>The O all-to-all restores token shards for projection, residual, and MLP</a:t>
            </a:r>
          </a:p>
        </p:txBody>
      </p:sp>
      <p:sp>
        <p:nvSpPr>
          <p:cNvPr id="3" name="Text Placeholder 2"/>
          <p:cNvSpPr>
            <a:spLocks noGrp="1"/>
          </p:cNvSpPr>
          <p:nvPr>
            <p:ph type="body" idx="14" sz="quarter"/>
          </p:nvPr>
        </p:nvSpPr>
        <p:spPr/>
        <p:txBody>
          <a:bodyPr/>
          <a:lstStyle/>
          <a:p>
            <a:r>
              <a:t>Each GPU swaps a token shard for seven full-sequence heads</a:t>
            </a:r>
          </a:p>
        </p:txBody>
      </p:sp>
      <p:sp>
        <p:nvSpPr>
          <p:cNvPr id="4" name="Title 3"/>
          <p:cNvSpPr>
            <a:spLocks noGrp="1"/>
          </p:cNvSpPr>
          <p:nvPr>
            <p:ph type="title"/>
          </p:nvPr>
        </p:nvSpPr>
        <p:spPr/>
        <p:txBody>
          <a:bodyPr/>
          <a:lstStyle/>
          <a:p>
            <a:r>
              <a:t>USP</a:t>
            </a:r>
          </a:p>
        </p:txBody>
      </p:sp>
      <p:sp>
        <p:nvSpPr>
          <p:cNvPr id="5" name="Text Placeholder 4"/>
          <p:cNvSpPr>
            <a:spLocks noGrp="1"/>
          </p:cNvSpPr>
          <p:nvPr>
            <p:ph type="body" idx="52" sz="quarter"/>
          </p:nvPr>
        </p:nvSpPr>
        <p:spPr/>
        <p:txBody>
          <a:bodyPr/>
          <a:lstStyle/>
          <a:p>
            <a:r>
              <a:t>7,120 × 56 → 56,960 × 7 → 7,120 × 56 · repeated in every attention block</a:t>
            </a:r>
          </a:p>
        </p:txBody>
      </p:sp>
      <p:sp>
        <p:nvSpPr>
          <p:cNvPr id="6" name="Text Placeholder 5"/>
          <p:cNvSpPr>
            <a:spLocks noGrp="1"/>
          </p:cNvSpPr>
          <p:nvPr>
            <p:ph type="body" idx="51" sz="quarter"/>
          </p:nvPr>
        </p:nvSpPr>
        <p:spPr/>
        <p:txBody>
          <a:bodyPr/>
          <a:lstStyle/>
          <a:p>
            <a:r>
              <a:t>Same Tensor, Different Ownership</a:t>
            </a:r>
          </a:p>
        </p:txBody>
      </p:sp>
      <p:pic>
        <p:nvPicPr>
          <p:cNvPr id="7" name="Picture Placeholder 6" descr="ulysses-sequence-parallel-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Adapted from DeepSpeed-Ulysses (Jacobs et al., 2023) · current H3 path: DP1 / TP1 / USP8 / Ring1 · measured 362-frame profile</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14</a:t>
            </a:fld>
            <a:endParaRPr lang="en-US"/>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wrap="square" lIns="0" rIns="0" tIns="0" bIns="0"/>
          <a:lstStyle/>
          <a:p>
            <a:pPr algn="l"/>
            <a:r>
              <a:rPr b="1">
                <a:solidFill>
                  <a:srgbClr val="76B900"/>
                </a:solidFill>
                <a:latin typeface="NVIDIA Sans Medium"/>
              </a:rPr>
              <a:t>Four PCIe islands</a:t>
            </a:r>
          </a:p>
          <a:p>
            <a:pPr lvl="1" algn="l"/>
            <a:r>
              <a:rPr b="0">
                <a:solidFill>
                  <a:srgbClr val="313131"/>
                </a:solidFill>
                <a:latin typeface="NVIDIA Sans"/>
              </a:rPr>
              <a:t>Each island holds two GPUs and two nearest 400-Gb/s CX-8 ports</a:t>
            </a:r>
          </a:p>
          <a:p>
            <a:pPr algn="l"/>
            <a:r>
              <a:rPr b="1">
                <a:solidFill>
                  <a:srgbClr val="76B900"/>
                </a:solidFill>
                <a:latin typeface="NVIDIA Sans Medium"/>
              </a:rPr>
              <a:t>Three kinds of peer path</a:t>
            </a:r>
          </a:p>
          <a:p>
            <a:pPr lvl="1" algn="l"/>
            <a:r>
              <a:rPr b="0">
                <a:solidFill>
                  <a:srgbClr val="313131"/>
                </a:solidFill>
                <a:latin typeface="NVIDIA Sans"/>
              </a:rPr>
              <a:t>From one rank: 1 PXB, 2 NODE, and 4 SYS peers</a:t>
            </a:r>
          </a:p>
          <a:p>
            <a:pPr algn="l"/>
            <a:r>
              <a:rPr b="1">
                <a:solidFill>
                  <a:srgbClr val="76B900"/>
                </a:solidFill>
                <a:latin typeface="NVIDIA Sans Medium"/>
              </a:rPr>
              <a:t>Most peers cross sockets</a:t>
            </a:r>
          </a:p>
          <a:p>
            <a:pPr lvl="1" algn="l"/>
            <a:r>
              <a:rPr b="0">
                <a:solidFill>
                  <a:srgbClr val="313131"/>
                </a:solidFill>
                <a:latin typeface="NVIDIA Sans"/>
              </a:rPr>
              <a:t>Four of seven off-rank peers use the SYS path</a:t>
            </a:r>
          </a:p>
          <a:p>
            <a:pPr algn="l"/>
            <a:r>
              <a:rPr b="1">
                <a:solidFill>
                  <a:srgbClr val="76B900"/>
                </a:solidFill>
                <a:latin typeface="NVIDIA Sans Medium"/>
              </a:rPr>
              <a:t>Why the baseline is uneven</a:t>
            </a:r>
          </a:p>
          <a:p>
            <a:pPr lvl="1" algn="l"/>
            <a:r>
              <a:rPr b="0">
                <a:solidFill>
                  <a:srgbClr val="313131"/>
                </a:solidFill>
                <a:latin typeface="NVIDIA Sans"/>
              </a:rPr>
              <a:t>IB is disabled, so local NCCL follows these host paths</a:t>
            </a:r>
          </a:p>
        </p:txBody>
      </p:sp>
      <p:sp>
        <p:nvSpPr>
          <p:cNvPr id="3" name="Text Placeholder 2"/>
          <p:cNvSpPr>
            <a:spLocks noGrp="1"/>
          </p:cNvSpPr>
          <p:nvPr>
            <p:ph type="body" idx="14" sz="quarter"/>
          </p:nvPr>
        </p:nvSpPr>
        <p:spPr/>
        <p:txBody>
          <a:bodyPr/>
          <a:lstStyle/>
          <a:p>
            <a:r>
              <a:t>The exchange is balanced in bytes; the host paths are not</a:t>
            </a:r>
          </a:p>
        </p:txBody>
      </p:sp>
      <p:sp>
        <p:nvSpPr>
          <p:cNvPr id="4" name="Title 3"/>
          <p:cNvSpPr>
            <a:spLocks noGrp="1"/>
          </p:cNvSpPr>
          <p:nvPr>
            <p:ph type="title"/>
          </p:nvPr>
        </p:nvSpPr>
        <p:spPr/>
        <p:txBody>
          <a:bodyPr/>
          <a:lstStyle/>
          <a:p>
            <a:r>
              <a:t>USP Communication</a:t>
            </a:r>
          </a:p>
        </p:txBody>
      </p:sp>
      <p:sp>
        <p:nvSpPr>
          <p:cNvPr id="5" name="Text Placeholder 4"/>
          <p:cNvSpPr>
            <a:spLocks noGrp="1"/>
          </p:cNvSpPr>
          <p:nvPr>
            <p:ph type="body" idx="52" sz="quarter"/>
          </p:nvPr>
        </p:nvSpPr>
        <p:spPr/>
        <p:txBody>
          <a:bodyPr/>
          <a:lstStyle/>
          <a:p>
            <a:r>
              <a:t>The math is balanced. The roads are not.</a:t>
            </a:r>
          </a:p>
        </p:txBody>
      </p:sp>
      <p:sp>
        <p:nvSpPr>
          <p:cNvPr id="6" name="Text Placeholder 5"/>
          <p:cNvSpPr>
            <a:spLocks noGrp="1"/>
          </p:cNvSpPr>
          <p:nvPr>
            <p:ph type="body" idx="51" sz="quarter"/>
          </p:nvPr>
        </p:nvSpPr>
        <p:spPr/>
        <p:txBody>
          <a:bodyPr/>
          <a:lstStyle/>
          <a:p>
            <a:r>
              <a:t>Eight GPUs · Four PCIe Islands</a:t>
            </a:r>
          </a:p>
        </p:txBody>
      </p:sp>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MiniMaxH3Pipeline and denoise-loop code audit · retained nvidia-smi topo -m · 8 nearest 400-Gb/s CX-8 ports</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15</a:t>
            </a:fld>
            <a:endParaRPr lang="en-US"/>
          </a:p>
        </p:txBody>
      </p:sp>
      <p:sp>
        <p:nvSpPr>
          <p:cNvPr id="10" name="Rectangle 9"/>
          <p:cNvSpPr/>
          <p:nvPr/>
        </p:nvSpPr>
        <p:spPr>
          <a:xfrm>
            <a:off x="19705320" y="1920240"/>
            <a:ext cx="14859000" cy="5669280"/>
          </a:xfrm>
          <a:prstGeom prst="rect">
            <a:avLst/>
          </a:prstGeom>
          <a:solidFill>
            <a:srgbClr val="F7F7F7"/>
          </a:solidFill>
          <a:ln w="15875">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025360" y="2066544"/>
            <a:ext cx="5029200" cy="438912"/>
          </a:xfrm>
          <a:prstGeom prst="rect">
            <a:avLst/>
          </a:prstGeom>
          <a:noFill/>
        </p:spPr>
        <p:txBody>
          <a:bodyPr wrap="square" anchor="t" lIns="0" rIns="0" tIns="0" bIns="0">
            <a:spAutoFit/>
          </a:bodyPr>
          <a:lstStyle/>
          <a:p>
            <a:pPr algn="l">
              <a:spcBef>
                <a:spcPts val="0"/>
              </a:spcBef>
              <a:spcAft>
                <a:spcPts val="0"/>
              </a:spcAft>
              <a:buNone/>
            </a:pPr>
            <a:r>
              <a:rPr sz="2400" b="1" i="0">
                <a:solidFill>
                  <a:srgbClr val="313131"/>
                </a:solidFill>
                <a:latin typeface="NVIDIA Sans Medium"/>
              </a:rPr>
              <a:t>NUMA 0 · CPU 0</a:t>
            </a:r>
          </a:p>
        </p:txBody>
      </p:sp>
      <p:sp>
        <p:nvSpPr>
          <p:cNvPr id="12" name="Rectangle 11"/>
          <p:cNvSpPr/>
          <p:nvPr/>
        </p:nvSpPr>
        <p:spPr>
          <a:xfrm>
            <a:off x="20025360" y="2651760"/>
            <a:ext cx="6766560" cy="4526280"/>
          </a:xfrm>
          <a:prstGeom prst="rect">
            <a:avLst/>
          </a:prstGeom>
          <a:solidFill>
            <a:srgbClr val="FFFFFF"/>
          </a:solidFill>
          <a:ln w="12700">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77720" y="2651760"/>
            <a:ext cx="6766560" cy="4526280"/>
          </a:xfrm>
          <a:prstGeom prst="rect">
            <a:avLst/>
          </a:prstGeom>
          <a:solidFill>
            <a:srgbClr val="FFFFFF"/>
          </a:solidFill>
          <a:ln w="12700">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9705320" y="8183879"/>
            <a:ext cx="14859000" cy="5669280"/>
          </a:xfrm>
          <a:prstGeom prst="rect">
            <a:avLst/>
          </a:prstGeom>
          <a:solidFill>
            <a:srgbClr val="F7F7F7"/>
          </a:solidFill>
          <a:ln w="15875">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0025360" y="8330183"/>
            <a:ext cx="5029200" cy="438912"/>
          </a:xfrm>
          <a:prstGeom prst="rect">
            <a:avLst/>
          </a:prstGeom>
          <a:noFill/>
        </p:spPr>
        <p:txBody>
          <a:bodyPr wrap="square" anchor="t" lIns="0" rIns="0" tIns="0" bIns="0">
            <a:spAutoFit/>
          </a:bodyPr>
          <a:lstStyle/>
          <a:p>
            <a:pPr algn="l">
              <a:spcBef>
                <a:spcPts val="0"/>
              </a:spcBef>
              <a:spcAft>
                <a:spcPts val="0"/>
              </a:spcAft>
              <a:buNone/>
            </a:pPr>
            <a:r>
              <a:rPr sz="2400" b="1" i="0">
                <a:solidFill>
                  <a:srgbClr val="313131"/>
                </a:solidFill>
                <a:latin typeface="NVIDIA Sans Medium"/>
              </a:rPr>
              <a:t>NUMA 1 · CPU 1</a:t>
            </a:r>
          </a:p>
        </p:txBody>
      </p:sp>
      <p:sp>
        <p:nvSpPr>
          <p:cNvPr id="16" name="Rectangle 15"/>
          <p:cNvSpPr/>
          <p:nvPr/>
        </p:nvSpPr>
        <p:spPr>
          <a:xfrm>
            <a:off x="20025360" y="8915400"/>
            <a:ext cx="6766560" cy="4526280"/>
          </a:xfrm>
          <a:prstGeom prst="rect">
            <a:avLst/>
          </a:prstGeom>
          <a:solidFill>
            <a:srgbClr val="FFFFFF"/>
          </a:solidFill>
          <a:ln w="12700">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77720" y="8915400"/>
            <a:ext cx="6766560" cy="4526280"/>
          </a:xfrm>
          <a:prstGeom prst="rect">
            <a:avLst/>
          </a:prstGeom>
          <a:solidFill>
            <a:srgbClr val="FFFFFF"/>
          </a:solidFill>
          <a:ln w="12700">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21602700" y="3936492"/>
            <a:ext cx="361188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1602700" y="450799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5214580" y="450799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9055060" y="3936492"/>
            <a:ext cx="3611879"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9055060" y="450799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2666939" y="450799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6791919" y="3936492"/>
            <a:ext cx="685801" cy="0"/>
          </a:xfrm>
          <a:prstGeom prst="line">
            <a:avLst/>
          </a:prstGeom>
          <a:ln w="50800">
            <a:solidFill>
              <a:srgbClr val="0074D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1602700" y="10200132"/>
            <a:ext cx="361188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1602700" y="1077163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5214580" y="1077163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9055060" y="10200132"/>
            <a:ext cx="3611879"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9055060" y="1077163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2666939" y="1077163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6791919" y="10200132"/>
            <a:ext cx="685801" cy="0"/>
          </a:xfrm>
          <a:prstGeom prst="line">
            <a:avLst/>
          </a:prstGeom>
          <a:ln w="50800">
            <a:solidFill>
              <a:srgbClr val="0074D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7134820" y="7589520"/>
            <a:ext cx="0" cy="594359"/>
          </a:xfrm>
          <a:prstGeom prst="line">
            <a:avLst/>
          </a:prstGeom>
          <a:ln w="50800">
            <a:solidFill>
              <a:srgbClr val="EF910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0226527" y="2779776"/>
            <a:ext cx="2011680" cy="384048"/>
          </a:xfrm>
          <a:prstGeom prst="rect">
            <a:avLst/>
          </a:prstGeom>
          <a:noFill/>
        </p:spPr>
        <p:txBody>
          <a:bodyPr wrap="square" anchor="t" lIns="0" rIns="0" tIns="0" bIns="0">
            <a:spAutoFit/>
          </a:bodyPr>
          <a:lstStyle/>
          <a:p>
            <a:pPr algn="l">
              <a:spcBef>
                <a:spcPts val="0"/>
              </a:spcBef>
              <a:spcAft>
                <a:spcPts val="0"/>
              </a:spcAft>
              <a:buNone/>
            </a:pPr>
            <a:r>
              <a:rPr sz="2000" b="1" i="0">
                <a:solidFill>
                  <a:srgbClr val="313131"/>
                </a:solidFill>
                <a:latin typeface="NVIDIA Sans Medium"/>
              </a:rPr>
              <a:t>PCIe P0</a:t>
            </a:r>
          </a:p>
        </p:txBody>
      </p:sp>
      <p:sp>
        <p:nvSpPr>
          <p:cNvPr id="34" name="Rounded Rectangle 33"/>
          <p:cNvSpPr/>
          <p:nvPr/>
        </p:nvSpPr>
        <p:spPr>
          <a:xfrm>
            <a:off x="20299680" y="336499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0482560" y="343814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0</a:t>
            </a:r>
          </a:p>
        </p:txBody>
      </p:sp>
      <p:sp>
        <p:nvSpPr>
          <p:cNvPr id="36" name="Rounded Rectangle 35"/>
          <p:cNvSpPr/>
          <p:nvPr/>
        </p:nvSpPr>
        <p:spPr>
          <a:xfrm>
            <a:off x="20299680" y="517550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0482560" y="524865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mlx5_2</a:t>
            </a:r>
          </a:p>
        </p:txBody>
      </p:sp>
      <p:sp>
        <p:nvSpPr>
          <p:cNvPr id="38" name="Rounded Rectangle 37"/>
          <p:cNvSpPr/>
          <p:nvPr/>
        </p:nvSpPr>
        <p:spPr>
          <a:xfrm>
            <a:off x="23911560" y="336499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4094439" y="343814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1</a:t>
            </a:r>
          </a:p>
        </p:txBody>
      </p:sp>
      <p:sp>
        <p:nvSpPr>
          <p:cNvPr id="40" name="Rounded Rectangle 39"/>
          <p:cNvSpPr/>
          <p:nvPr/>
        </p:nvSpPr>
        <p:spPr>
          <a:xfrm>
            <a:off x="23911560" y="517550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4094439" y="524865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mlx5_3</a:t>
            </a:r>
          </a:p>
        </p:txBody>
      </p:sp>
      <p:sp>
        <p:nvSpPr>
          <p:cNvPr id="42" name="TextBox 41"/>
          <p:cNvSpPr txBox="1"/>
          <p:nvPr/>
        </p:nvSpPr>
        <p:spPr>
          <a:xfrm>
            <a:off x="27678888" y="2779776"/>
            <a:ext cx="2011680" cy="384048"/>
          </a:xfrm>
          <a:prstGeom prst="rect">
            <a:avLst/>
          </a:prstGeom>
          <a:noFill/>
        </p:spPr>
        <p:txBody>
          <a:bodyPr wrap="square" anchor="t" lIns="0" rIns="0" tIns="0" bIns="0">
            <a:spAutoFit/>
          </a:bodyPr>
          <a:lstStyle/>
          <a:p>
            <a:pPr algn="l">
              <a:spcBef>
                <a:spcPts val="0"/>
              </a:spcBef>
              <a:spcAft>
                <a:spcPts val="0"/>
              </a:spcAft>
              <a:buNone/>
            </a:pPr>
            <a:r>
              <a:rPr sz="2000" b="1" i="0">
                <a:solidFill>
                  <a:srgbClr val="313131"/>
                </a:solidFill>
                <a:latin typeface="NVIDIA Sans Medium"/>
              </a:rPr>
              <a:t>PCIe P1</a:t>
            </a:r>
          </a:p>
        </p:txBody>
      </p:sp>
      <p:sp>
        <p:nvSpPr>
          <p:cNvPr id="43" name="Rounded Rectangle 42"/>
          <p:cNvSpPr/>
          <p:nvPr/>
        </p:nvSpPr>
        <p:spPr>
          <a:xfrm>
            <a:off x="27752040" y="336499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7934920" y="343814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2</a:t>
            </a:r>
          </a:p>
        </p:txBody>
      </p:sp>
      <p:sp>
        <p:nvSpPr>
          <p:cNvPr id="45" name="Rounded Rectangle 44"/>
          <p:cNvSpPr/>
          <p:nvPr/>
        </p:nvSpPr>
        <p:spPr>
          <a:xfrm>
            <a:off x="27752040" y="517550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7934920" y="524865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mlx5_0</a:t>
            </a:r>
          </a:p>
        </p:txBody>
      </p:sp>
      <p:sp>
        <p:nvSpPr>
          <p:cNvPr id="47" name="Rounded Rectangle 46"/>
          <p:cNvSpPr/>
          <p:nvPr/>
        </p:nvSpPr>
        <p:spPr>
          <a:xfrm>
            <a:off x="31363919" y="336499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1546800" y="343814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3</a:t>
            </a:r>
          </a:p>
        </p:txBody>
      </p:sp>
      <p:sp>
        <p:nvSpPr>
          <p:cNvPr id="49" name="Rounded Rectangle 48"/>
          <p:cNvSpPr/>
          <p:nvPr/>
        </p:nvSpPr>
        <p:spPr>
          <a:xfrm>
            <a:off x="31363919" y="517550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1546800" y="524865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mlx5_1</a:t>
            </a:r>
          </a:p>
        </p:txBody>
      </p:sp>
      <p:sp>
        <p:nvSpPr>
          <p:cNvPr id="51" name="TextBox 50"/>
          <p:cNvSpPr txBox="1"/>
          <p:nvPr/>
        </p:nvSpPr>
        <p:spPr>
          <a:xfrm>
            <a:off x="20226527" y="9043416"/>
            <a:ext cx="2011680" cy="384048"/>
          </a:xfrm>
          <a:prstGeom prst="rect">
            <a:avLst/>
          </a:prstGeom>
          <a:noFill/>
        </p:spPr>
        <p:txBody>
          <a:bodyPr wrap="square" anchor="t" lIns="0" rIns="0" tIns="0" bIns="0">
            <a:spAutoFit/>
          </a:bodyPr>
          <a:lstStyle/>
          <a:p>
            <a:pPr algn="l">
              <a:spcBef>
                <a:spcPts val="0"/>
              </a:spcBef>
              <a:spcAft>
                <a:spcPts val="0"/>
              </a:spcAft>
              <a:buNone/>
            </a:pPr>
            <a:r>
              <a:rPr sz="2000" b="1" i="0">
                <a:solidFill>
                  <a:srgbClr val="313131"/>
                </a:solidFill>
                <a:latin typeface="NVIDIA Sans Medium"/>
              </a:rPr>
              <a:t>PCIe P2</a:t>
            </a:r>
          </a:p>
        </p:txBody>
      </p:sp>
      <p:sp>
        <p:nvSpPr>
          <p:cNvPr id="52" name="Rounded Rectangle 51"/>
          <p:cNvSpPr/>
          <p:nvPr/>
        </p:nvSpPr>
        <p:spPr>
          <a:xfrm>
            <a:off x="20299680" y="962863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0482560" y="970178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4</a:t>
            </a:r>
          </a:p>
        </p:txBody>
      </p:sp>
      <p:sp>
        <p:nvSpPr>
          <p:cNvPr id="54" name="Rounded Rectangle 53"/>
          <p:cNvSpPr/>
          <p:nvPr/>
        </p:nvSpPr>
        <p:spPr>
          <a:xfrm>
            <a:off x="20299680" y="1143914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0482560" y="1151229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mlx5_6</a:t>
            </a:r>
          </a:p>
        </p:txBody>
      </p:sp>
      <p:sp>
        <p:nvSpPr>
          <p:cNvPr id="56" name="Rounded Rectangle 55"/>
          <p:cNvSpPr/>
          <p:nvPr/>
        </p:nvSpPr>
        <p:spPr>
          <a:xfrm>
            <a:off x="23911560" y="962863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4094439" y="970178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5</a:t>
            </a:r>
          </a:p>
        </p:txBody>
      </p:sp>
      <p:sp>
        <p:nvSpPr>
          <p:cNvPr id="58" name="Rounded Rectangle 57"/>
          <p:cNvSpPr/>
          <p:nvPr/>
        </p:nvSpPr>
        <p:spPr>
          <a:xfrm>
            <a:off x="23911560" y="1143914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4094439" y="1151229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mlx5_7</a:t>
            </a:r>
          </a:p>
        </p:txBody>
      </p:sp>
      <p:sp>
        <p:nvSpPr>
          <p:cNvPr id="60" name="TextBox 59"/>
          <p:cNvSpPr txBox="1"/>
          <p:nvPr/>
        </p:nvSpPr>
        <p:spPr>
          <a:xfrm>
            <a:off x="27678888" y="9043416"/>
            <a:ext cx="2011680" cy="384048"/>
          </a:xfrm>
          <a:prstGeom prst="rect">
            <a:avLst/>
          </a:prstGeom>
          <a:noFill/>
        </p:spPr>
        <p:txBody>
          <a:bodyPr wrap="square" anchor="t" lIns="0" rIns="0" tIns="0" bIns="0">
            <a:spAutoFit/>
          </a:bodyPr>
          <a:lstStyle/>
          <a:p>
            <a:pPr algn="l">
              <a:spcBef>
                <a:spcPts val="0"/>
              </a:spcBef>
              <a:spcAft>
                <a:spcPts val="0"/>
              </a:spcAft>
              <a:buNone/>
            </a:pPr>
            <a:r>
              <a:rPr sz="2000" b="1" i="0">
                <a:solidFill>
                  <a:srgbClr val="313131"/>
                </a:solidFill>
                <a:latin typeface="NVIDIA Sans Medium"/>
              </a:rPr>
              <a:t>PCIe P3</a:t>
            </a:r>
          </a:p>
        </p:txBody>
      </p:sp>
      <p:sp>
        <p:nvSpPr>
          <p:cNvPr id="61" name="Rounded Rectangle 60"/>
          <p:cNvSpPr/>
          <p:nvPr/>
        </p:nvSpPr>
        <p:spPr>
          <a:xfrm>
            <a:off x="27752040" y="962863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7934920" y="970178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6</a:t>
            </a:r>
          </a:p>
        </p:txBody>
      </p:sp>
      <p:sp>
        <p:nvSpPr>
          <p:cNvPr id="63" name="Rounded Rectangle 62"/>
          <p:cNvSpPr/>
          <p:nvPr/>
        </p:nvSpPr>
        <p:spPr>
          <a:xfrm>
            <a:off x="27752040" y="1143914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7934920" y="1151229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mlx5_4</a:t>
            </a:r>
          </a:p>
        </p:txBody>
      </p:sp>
      <p:sp>
        <p:nvSpPr>
          <p:cNvPr id="65" name="Rounded Rectangle 64"/>
          <p:cNvSpPr/>
          <p:nvPr/>
        </p:nvSpPr>
        <p:spPr>
          <a:xfrm>
            <a:off x="31363919" y="962863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1546800" y="970178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7</a:t>
            </a:r>
          </a:p>
        </p:txBody>
      </p:sp>
      <p:sp>
        <p:nvSpPr>
          <p:cNvPr id="67" name="Rounded Rectangle 66"/>
          <p:cNvSpPr/>
          <p:nvPr/>
        </p:nvSpPr>
        <p:spPr>
          <a:xfrm>
            <a:off x="31363919" y="1143914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1546800" y="1151229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mlx5_5</a:t>
            </a:r>
          </a:p>
        </p:txBody>
      </p:sp>
      <p:cxnSp>
        <p:nvCxnSpPr>
          <p:cNvPr id="69" name="Connector 68"/>
          <p:cNvCxnSpPr/>
          <p:nvPr/>
        </p:nvCxnSpPr>
        <p:spPr>
          <a:xfrm>
            <a:off x="19842480" y="14593824"/>
            <a:ext cx="54864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20537424" y="14374368"/>
            <a:ext cx="4343400" cy="475488"/>
          </a:xfrm>
          <a:prstGeom prst="rect">
            <a:avLst/>
          </a:prstGeom>
          <a:noFill/>
        </p:spPr>
        <p:txBody>
          <a:bodyPr wrap="square" anchor="t" lIns="0" rIns="0" tIns="0" bIns="0">
            <a:spAutoFit/>
          </a:bodyPr>
          <a:lstStyle/>
          <a:p>
            <a:pPr algn="l">
              <a:spcBef>
                <a:spcPts val="0"/>
              </a:spcBef>
              <a:spcAft>
                <a:spcPts val="0"/>
              </a:spcAft>
              <a:buNone/>
            </a:pPr>
            <a:r>
              <a:rPr sz="2000" b="1" i="0">
                <a:solidFill>
                  <a:srgbClr val="76B900"/>
                </a:solidFill>
                <a:latin typeface="NVIDIA Sans Medium"/>
              </a:rPr>
              <a:t>PXB · 1/7 peer</a:t>
            </a:r>
          </a:p>
        </p:txBody>
      </p:sp>
      <p:cxnSp>
        <p:nvCxnSpPr>
          <p:cNvPr id="71" name="Connector 70"/>
          <p:cNvCxnSpPr/>
          <p:nvPr/>
        </p:nvCxnSpPr>
        <p:spPr>
          <a:xfrm>
            <a:off x="24277320" y="14593824"/>
            <a:ext cx="548640" cy="0"/>
          </a:xfrm>
          <a:prstGeom prst="line">
            <a:avLst/>
          </a:prstGeom>
          <a:ln w="50800">
            <a:solidFill>
              <a:srgbClr val="0074DF"/>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24972264" y="14374368"/>
            <a:ext cx="4343400" cy="475488"/>
          </a:xfrm>
          <a:prstGeom prst="rect">
            <a:avLst/>
          </a:prstGeom>
          <a:noFill/>
        </p:spPr>
        <p:txBody>
          <a:bodyPr wrap="square" anchor="t" lIns="0" rIns="0" tIns="0" bIns="0">
            <a:spAutoFit/>
          </a:bodyPr>
          <a:lstStyle/>
          <a:p>
            <a:pPr algn="l">
              <a:spcBef>
                <a:spcPts val="0"/>
              </a:spcBef>
              <a:spcAft>
                <a:spcPts val="0"/>
              </a:spcAft>
              <a:buNone/>
            </a:pPr>
            <a:r>
              <a:rPr sz="2000" b="1" i="0">
                <a:solidFill>
                  <a:srgbClr val="0074DF"/>
                </a:solidFill>
                <a:latin typeface="NVIDIA Sans Medium"/>
              </a:rPr>
              <a:t>NODE · 2/7 peers</a:t>
            </a:r>
          </a:p>
        </p:txBody>
      </p:sp>
      <p:cxnSp>
        <p:nvCxnSpPr>
          <p:cNvPr id="73" name="Connector 72"/>
          <p:cNvCxnSpPr/>
          <p:nvPr/>
        </p:nvCxnSpPr>
        <p:spPr>
          <a:xfrm>
            <a:off x="29215080" y="14593824"/>
            <a:ext cx="548639" cy="0"/>
          </a:xfrm>
          <a:prstGeom prst="line">
            <a:avLst/>
          </a:prstGeom>
          <a:ln w="50800">
            <a:solidFill>
              <a:srgbClr val="EF9100"/>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29910024" y="14374368"/>
            <a:ext cx="4343400" cy="475488"/>
          </a:xfrm>
          <a:prstGeom prst="rect">
            <a:avLst/>
          </a:prstGeom>
          <a:noFill/>
        </p:spPr>
        <p:txBody>
          <a:bodyPr wrap="square" anchor="t" lIns="0" rIns="0" tIns="0" bIns="0">
            <a:spAutoFit/>
          </a:bodyPr>
          <a:lstStyle/>
          <a:p>
            <a:pPr algn="l">
              <a:spcBef>
                <a:spcPts val="0"/>
              </a:spcBef>
              <a:spcAft>
                <a:spcPts val="0"/>
              </a:spcAft>
              <a:buNone/>
            </a:pPr>
            <a:r>
              <a:rPr sz="2000" b="1" i="0">
                <a:solidFill>
                  <a:srgbClr val="EF9100"/>
                </a:solidFill>
                <a:latin typeface="NVIDIA Sans Medium"/>
              </a:rPr>
              <a:t>SYS · 4/7 peers · 57.1%</a:t>
            </a:r>
          </a:p>
        </p:txBody>
      </p:sp>
      <p:cxnSp>
        <p:nvCxnSpPr>
          <p:cNvPr id="75" name="Connector 74"/>
          <p:cNvCxnSpPr/>
          <p:nvPr/>
        </p:nvCxnSpPr>
        <p:spPr>
          <a:xfrm>
            <a:off x="19842480" y="15288767"/>
            <a:ext cx="548640" cy="0"/>
          </a:xfrm>
          <a:prstGeom prst="line">
            <a:avLst/>
          </a:prstGeom>
          <a:ln w="38100">
            <a:solidFill>
              <a:srgbClr val="1DBBA4"/>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20537424" y="15060167"/>
            <a:ext cx="13624560" cy="512064"/>
          </a:xfrm>
          <a:prstGeom prst="rect">
            <a:avLst/>
          </a:prstGeom>
          <a:noFill/>
        </p:spPr>
        <p:txBody>
          <a:bodyPr wrap="square" anchor="t" lIns="0" rIns="0" tIns="0" bIns="0">
            <a:spAutoFit/>
          </a:bodyPr>
          <a:lstStyle/>
          <a:p>
            <a:pPr algn="l">
              <a:spcBef>
                <a:spcPts val="0"/>
              </a:spcBef>
              <a:spcAft>
                <a:spcPts val="0"/>
              </a:spcAft>
              <a:buNone/>
            </a:pPr>
            <a:r>
              <a:rPr sz="2000" b="1" i="0">
                <a:solidFill>
                  <a:srgbClr val="1DBBA4"/>
                </a:solidFill>
                <a:latin typeface="NVIDIA Sans Medium"/>
              </a:rPr>
              <a:t>Nearest-NIC GPUDirect RDMA · assigned 400-Gb/s CX-8 port per GPU</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The nearest-NIC path moves the same payload in less than half the measured communication + layout time</a:t>
            </a:r>
          </a:p>
        </p:txBody>
      </p:sp>
      <p:sp>
        <p:nvSpPr>
          <p:cNvPr id="3" name="Title 2"/>
          <p:cNvSpPr>
            <a:spLocks noGrp="1"/>
          </p:cNvSpPr>
          <p:nvPr>
            <p:ph type="title"/>
          </p:nvPr>
        </p:nvSpPr>
        <p:spPr/>
        <p:txBody>
          <a:bodyPr/>
          <a:lstStyle/>
          <a:p>
            <a:r>
              <a:t>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16</a:t>
            </a:fld>
            <a:endParaRPr lang="en-US"/>
          </a:p>
        </p:txBody>
      </p:sp>
      <p:graphicFrame>
        <p:nvGraphicFramePr>
          <p:cNvPr id="5" name="Official NVIDIA Exact-Shape RDM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5120640">
                  <a:extLst>
                    <a:ext uri="{9D8B030D-6E8A-4147-A177-3AD203B41FA5}">
                      <a16:colId xmlns:a16="http://schemas.microsoft.com/office/drawing/2014/main" val="1714626306"/>
                    </a:ext>
                  </a:extLst>
                </a:gridCol>
                <a:gridCol w="8412480">
                  <a:extLst>
                    <a:ext uri="{9D8B030D-6E8A-4147-A177-3AD203B41FA5}">
                      <a16:colId xmlns:a16="http://schemas.microsoft.com/office/drawing/2014/main" val="1697748500"/>
                    </a:ext>
                  </a:extLst>
                </a:gridCol>
                <a:gridCol w="4937760">
                  <a:extLst>
                    <a:ext uri="{9D8B030D-6E8A-4147-A177-3AD203B41FA5}">
                      <a16:colId xmlns:a16="http://schemas.microsoft.com/office/drawing/2014/main" val="3872581152"/>
                    </a:ext>
                  </a:extLst>
                </a:gridCol>
                <a:gridCol w="5212080">
                  <a:extLst>
                    <a:ext uri="{9D8B030D-6E8A-4147-A177-3AD203B41FA5}">
                      <a16:colId xmlns:a16="http://schemas.microsoft.com/office/drawing/2014/main" val="2543914041"/>
                    </a:ext>
                  </a:extLst>
                </a:gridCol>
                <a:gridCol w="4587361">
                  <a:extLst>
                    <a:ext uri="{9D8B030D-6E8A-4147-A177-3AD203B41FA5}">
                      <a16:colId xmlns:a16="http://schemas.microsoft.com/office/drawing/2014/main" val="242183905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Route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Logical Off-Rank Volume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Rank-Max / Block</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Effective BW / Rank</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Serialized PDD8*</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NCCL local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446.6 MB / rank / block</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1.429 TB / all ranks / PDD8 request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24.87 ms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17.95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9.95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Nearest-NIC GDR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446.6 MB / rank / block</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1.429 TB / all ranks / PDD8 request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10.86 ms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41.14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4.34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RDMA delta</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Same five-slot bytes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−56.4%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2.29×</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−5.61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Measured scope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Communication + path-required layout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Exact vs independent</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all_gather</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No attention or GEMM</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No overlap</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*serial × 400; not E2E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Measured 2026-10-25 · 5 warmups + 8 trials × 4 calls · rank-max then mean · *serialized block mean × 400; not end-to-end</a:t>
            </a:r>
            <a:endParaRPr lang="en-US" dirty="0"/>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wrap="square" lIns="0" rIns="0" tIns="0" bIns="0"/>
          <a:lstStyle/>
          <a:p>
            <a:pPr algn="l"/>
            <a:r>
              <a:rPr b="1">
                <a:solidFill>
                  <a:srgbClr val="76B900"/>
                </a:solidFill>
                <a:latin typeface="NVIDIA Sans Medium"/>
              </a:rPr>
              <a:t>Q/K first</a:t>
            </a:r>
          </a:p>
          <a:p>
            <a:pPr lvl="1" algn="l"/>
            <a:r>
              <a:rPr b="0">
                <a:solidFill>
                  <a:srgbClr val="313131"/>
                </a:solidFill>
                <a:latin typeface="NVIDIA Sans"/>
              </a:rPr>
              <a:t>V waits for an explicit CUDA event</a:t>
            </a:r>
          </a:p>
          <a:p>
            <a:pPr algn="l"/>
            <a:r>
              <a:rPr b="1">
                <a:solidFill>
                  <a:srgbClr val="76B900"/>
                </a:solidFill>
                <a:latin typeface="NVIDIA Sans Medium"/>
              </a:rPr>
              <a:t>Graph replay</a:t>
            </a:r>
          </a:p>
          <a:p>
            <a:pPr lvl="1" algn="l"/>
            <a:r>
              <a:rPr b="0">
                <a:solidFill>
                  <a:srgbClr val="313131"/>
                </a:solidFill>
                <a:latin typeface="NVIDIA Sans"/>
              </a:rPr>
              <a:t>Fixed-address unpack remains exact after the input changes</a:t>
            </a:r>
          </a:p>
          <a:p>
            <a:pPr algn="l"/>
            <a:r>
              <a:rPr b="1">
                <a:solidFill>
                  <a:srgbClr val="76B900"/>
                </a:solidFill>
                <a:latin typeface="NVIDIA Sans Medium"/>
              </a:rPr>
              <a:t>Tiled O return</a:t>
            </a:r>
          </a:p>
          <a:p>
            <a:pPr lvl="1" algn="l"/>
            <a:r>
              <a:rPr b="0">
                <a:solidFill>
                  <a:srgbClr val="313131"/>
                </a:solidFill>
                <a:latin typeface="NVIDIA Sans"/>
              </a:rPr>
              <a:t>Whole and row-chunk returns match byte for byte</a:t>
            </a:r>
          </a:p>
          <a:p>
            <a:pPr algn="l"/>
            <a:r>
              <a:rPr b="1">
                <a:solidFill>
                  <a:srgbClr val="313131"/>
                </a:solidFill>
                <a:latin typeface="NVIDIA Sans Medium"/>
              </a:rPr>
              <a:t>Eight-GPU acceptance gate</a:t>
            </a:r>
          </a:p>
          <a:p>
            <a:pPr lvl="1" algn="l"/>
            <a:r>
              <a:rPr b="0">
                <a:solidFill>
                  <a:srgbClr val="313131"/>
                </a:solidFill>
                <a:latin typeface="NVIDIA Sans"/>
              </a:rPr>
              <a:t>Full attention + W_O, end-to-end latency, memory, and Nsight overlap</a:t>
            </a:r>
          </a:p>
        </p:txBody>
      </p:sp>
      <p:sp>
        <p:nvSpPr>
          <p:cNvPr id="3" name="Text Placeholder 2"/>
          <p:cNvSpPr>
            <a:spLocks noGrp="1"/>
          </p:cNvSpPr>
          <p:nvPr>
            <p:ph type="body" idx="14" sz="quarter"/>
          </p:nvPr>
        </p:nvSpPr>
        <p:spPr/>
        <p:txBody>
          <a:bodyPr/>
          <a:lstStyle/>
          <a:p>
            <a:r>
              <a:t>The four-GPU transport path is byte-exact; the full eight-GPU H3 run still needs a clean machine</a:t>
            </a:r>
          </a:p>
        </p:txBody>
      </p:sp>
      <p:sp>
        <p:nvSpPr>
          <p:cNvPr id="4" name="Title 3"/>
          <p:cNvSpPr>
            <a:spLocks noGrp="1"/>
          </p:cNvSpPr>
          <p:nvPr>
            <p:ph type="title"/>
          </p:nvPr>
        </p:nvSpPr>
        <p:spPr/>
        <p:txBody>
          <a:bodyPr/>
          <a:lstStyle/>
          <a:p>
            <a:r>
              <a:t>RDMA Validation</a:t>
            </a:r>
          </a:p>
        </p:txBody>
      </p:sp>
      <p:sp>
        <p:nvSpPr>
          <p:cNvPr id="5" name="Text Placeholder 4"/>
          <p:cNvSpPr>
            <a:spLocks noGrp="1"/>
          </p:cNvSpPr>
          <p:nvPr>
            <p:ph type="body" idx="52" sz="quarter"/>
          </p:nvPr>
        </p:nvSpPr>
        <p:spPr/>
        <p:txBody>
          <a:bodyPr/>
          <a:lstStyle/>
          <a:p>
            <a:r>
              <a:t>24 configs × 4 ranks · 8-GPU H3 candidate pending</a:t>
            </a:r>
          </a:p>
        </p:txBody>
      </p:sp>
      <p:sp>
        <p:nvSpPr>
          <p:cNvPr id="6" name="Text Placeholder 5"/>
          <p:cNvSpPr>
            <a:spLocks noGrp="1"/>
          </p:cNvSpPr>
          <p:nvPr>
            <p:ph type="body" idx="51" sz="quarter"/>
          </p:nvPr>
        </p:nvSpPr>
        <p:spPr/>
        <p:txBody>
          <a:bodyPr/>
          <a:lstStyle/>
          <a:p>
            <a:r>
              <a:t>Four-GPU Real RDMA · 96 of 96 Rank Cases Exact</a:t>
            </a:r>
          </a:p>
        </p:txBody>
      </p:sp>
      <p:pic>
        <p:nvPicPr>
          <p:cNvPr id="7" name="Picture Placeholder 6" descr="rdma-overlap-timelin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Measured evidence: real-rdma-four-gpu-20261024-v2 · 2026-10-24 · candidate correctness precheck; latency and overlap not measured</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17</a:t>
            </a:fld>
            <a:endParaRPr lang="en-US"/>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Only Base50 uses the locked 960×544, 124-frame request; each optimized result uses a different workload</a:t>
            </a:r>
          </a:p>
        </p:txBody>
      </p:sp>
      <p:sp>
        <p:nvSpPr>
          <p:cNvPr id="3" name="Title 2"/>
          <p:cNvSpPr>
            <a:spLocks noGrp="1"/>
          </p:cNvSpPr>
          <p:nvPr>
            <p:ph type="title"/>
          </p:nvPr>
        </p:nvSpPr>
        <p:spPr/>
        <p:txBody>
          <a:bodyPr/>
          <a:lstStyle/>
          <a:p>
            <a:r>
              <a:t>Real-Time Demonstrated; Attribution Pending</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18</a:t>
            </a:fld>
            <a:endParaRPr lang="en-US"/>
          </a:p>
        </p:txBody>
      </p:sp>
      <p:graphicFrame>
        <p:nvGraphicFramePr>
          <p:cNvPr id="5" name="Official NVIDIA Results Evidenc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73"/>
        </p:xfrm>
        <a:graphic>
          <a:graphicData uri="http://schemas.openxmlformats.org/drawingml/2006/table">
            <a:tbl>
              <a:tblPr>
                <a:tableStyleId>{68D230F3-CF80-4859-8CE7-A43EE81993B5}</a:tableStyleId>
              </a:tblPr>
              <a:tblGrid>
                <a:gridCol w="457200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8686800">
                  <a:extLst>
                    <a:ext uri="{9D8B030D-6E8A-4147-A177-3AD203B41FA5}">
                      <a16:colId xmlns:a16="http://schemas.microsoft.com/office/drawing/2014/main" val="3872581152"/>
                    </a:ext>
                  </a:extLst>
                </a:gridCol>
                <a:gridCol w="6781921">
                  <a:extLst>
                    <a:ext uri="{9D8B030D-6E8A-4147-A177-3AD203B41FA5}">
                      <a16:colId xmlns:a16="http://schemas.microsoft.com/office/drawing/2014/main" val="254391404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Status</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Workload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System</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Result / Limit</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Measured baseline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124f · 5.167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Base50 · BF16 · USP8 · NCCL</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247.956 s · RTF 47.992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15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362f · 15.083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QAD · VSA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14.974 s mean · RTF 0.993</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10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243f · 10.125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Turbo · MXFP8 · 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6.958 s · RTF 0.687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Portrait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576×1024 · 119 new frames · 4.958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MXFP8 · Sage · FP4 VAE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4.459 s median · RTF 0.899</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921337">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Required matched test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Lock image, audio, prompt, seed, shape, and request mode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VSA → QAD/Sage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At least 3 runs per stage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690260899"/>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Sources: [A] Base50 r4 · [B] QAD 15 s cohort · [C] paired 10 s study · [D] portrait production · compare only within a row; timing and memory methods differ</a:t>
            </a:r>
            <a:endParaRPr lang="en-US" dirty="0"/>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02 · ComfyUI Apps
With vLLM-Omni</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Open PR #9194 adds character replacement, continuation-aware references, and chainable LoRA controls</a:t>
            </a:r>
          </a:p>
        </p:txBody>
      </p:sp>
      <p:sp>
        <p:nvSpPr>
          <p:cNvPr id="3" name="Title 2"/>
          <p:cNvSpPr>
            <a:spLocks noGrp="1"/>
          </p:cNvSpPr>
          <p:nvPr>
            <p:ph type="title"/>
          </p:nvPr>
        </p:nvSpPr>
        <p:spPr/>
        <p:txBody>
          <a:bodyPr/>
          <a:lstStyle/>
          <a:p>
            <a:r>
              <a:t>vLLM-Omni Brings Multi-GPU H3 to ComfyUI</a:t>
            </a:r>
          </a:p>
        </p:txBody>
      </p:sp>
      <p:sp>
        <p:nvSpPr>
          <p:cNvPr id="4" name="Text Placeholder 3"/>
          <p:cNvSpPr>
            <a:spLocks noGrp="1"/>
          </p:cNvSpPr>
          <p:nvPr>
            <p:ph type="body" idx="52" sz="quarter"/>
          </p:nvPr>
        </p:nvSpPr>
        <p:spPr/>
        <p:txBody>
          <a:bodyPr/>
          <a:lstStyle/>
          <a:p>
            <a:r>
              <a:t>ComfyUI authors the workflow; vLLM-Omni runs scheduling, model execution, and multi-GPU deployment</a:t>
            </a:r>
          </a:p>
        </p:txBody>
      </p:sp>
      <p:sp>
        <p:nvSpPr>
          <p:cNvPr id="5" name="Text Placeholder 4"/>
          <p:cNvSpPr>
            <a:spLocks noGrp="1"/>
          </p:cNvSpPr>
          <p:nvPr>
            <p:ph type="body" idx="51" sz="quarter"/>
          </p:nvPr>
        </p:nvSpPr>
        <p:spPr/>
        <p:txBody>
          <a:bodyPr/>
          <a:lstStyle/>
          <a:p>
            <a:r>
              <a:t>Official vLLM-Omni Architecture</a:t>
            </a:r>
          </a:p>
        </p:txBody>
      </p:sp>
      <p:pic>
        <p:nvPicPr>
          <p:cNvPr id="6" name="Picture Placeholder 5" descr="vllm-omni-architecture-official-16x9.png"/>
          <p:cNvPicPr>
            <a:picLocks noGrp="1" noChangeAspect="1"/>
          </p:cNvPicPr>
          <p:nvPr>
            <p:ph type="pic" idx="53" sz="quarter"/>
          </p:nvPr>
        </p:nvPicPr>
        <p:blipFill>
          <a:blip r:embed="rId3"/>
          <a:srcRect l="37" r="37"/>
          <a:stretch>
            <a:fillRect/>
          </a:stretch>
        </p:blipFill>
        <p:spPr>
          <a:ln w="9525">
            <a:solidFill>
              <a:srgbClr val="A7A7A7"/>
            </a:solidFill>
          </a:ln>
        </p:spPr>
      </p:pic>
      <p:sp>
        <p:nvSpPr>
          <p:cNvPr id="7" name="Text Placeholder 6"/>
          <p:cNvSpPr>
            <a:spLocks noGrp="1"/>
          </p:cNvSpPr>
          <p:nvPr>
            <p:ph type="body" idx="54" sz="quarter"/>
          </p:nvPr>
        </p:nvSpPr>
        <p:spPr/>
        <p:txBody>
          <a:bodyPr/>
          <a:lstStyle/>
          <a:p>
            <a:r>
              <a:t>The workflow supports single- and multi-character replacement, source-derived duration, long-video continuation, and LoRA controls</a:t>
            </a:r>
          </a:p>
        </p:txBody>
      </p:sp>
      <p:sp>
        <p:nvSpPr>
          <p:cNvPr id="8" name="Text Placeholder 7"/>
          <p:cNvSpPr>
            <a:spLocks noGrp="1"/>
          </p:cNvSpPr>
          <p:nvPr>
            <p:ph type="body" idx="55" sz="quarter"/>
          </p:nvPr>
        </p:nvSpPr>
        <p:spPr/>
        <p:txBody>
          <a:bodyPr/>
          <a:lstStyle/>
          <a:p>
            <a:r>
              <a:t>ComfyUI Workflow · PR #9194</a:t>
            </a:r>
          </a:p>
        </p:txBody>
      </p:sp>
      <p:pic>
        <p:nvPicPr>
          <p:cNvPr id="9" name="Picture Placeholder 8" descr="pr9194_comfyui_single_character_workflow-16x9.png"/>
          <p:cNvPicPr>
            <a:picLocks noGrp="1" noChangeAspect="1"/>
          </p:cNvPicPr>
          <p:nvPr>
            <p:ph type="pic" idx="56" sz="quarter"/>
          </p:nvPr>
        </p:nvPicPr>
        <p:blipFill>
          <a:blip r:embed="rId4"/>
          <a:srcRect l="28" r="28"/>
          <a:stretch>
            <a:fillRect/>
          </a:stretch>
        </p:blipFill>
        <p:spPr>
          <a:ln w="9525">
            <a:solidFill>
              <a:srgbClr val="A7A7A7"/>
            </a:solidFill>
          </a:ln>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vLLM-Omni v0.26 public deck, slide 22 · vLLM-Omni PR #9194 (open)</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20</a:t>
            </a:fld>
            <a:endParaRPr lang="en-US"/>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