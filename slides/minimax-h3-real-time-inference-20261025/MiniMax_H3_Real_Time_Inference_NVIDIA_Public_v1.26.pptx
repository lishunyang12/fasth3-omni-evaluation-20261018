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64" r:id="rId48"/>
    <p:sldId id="363" r:id="rId47"/>
    <p:sldId id="366" r:id="rId50"/>
    <p:sldId id="353" r:id="rId95"/>
    <p:sldId id="354" r:id="rId96"/>
    <p:sldId id="355" r:id="rId97"/>
    <p:sldId id="361" r:id="rId45"/>
    <p:sldId id="356" r:id="rId98"/>
    <p:sldId id="362" r:id="rId46"/>
    <p:sldId id="367" r:id="rId44"/>
    <p:sldId id="368" r:id="rId51"/>
    <p:sldId id="351" r:id="rId93"/>
    <p:sldId id="352" r:id="rId94"/>
    <p:sldId id="357" r:id="rId99"/>
    <p:sldId id="358" r:id="rId100"/>
    <p:sldId id="359" r:id="rId101"/>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44" Type="http://schemas.openxmlformats.org/officeDocument/2006/relationships/slide" Target="slides/slide27.xml"/><Relationship Id="rId45" Type="http://schemas.openxmlformats.org/officeDocument/2006/relationships/slide" Target="slides/slide20.xml"/><Relationship Id="rId46" Type="http://schemas.openxmlformats.org/officeDocument/2006/relationships/slide" Target="slides/slide22.xml"/><Relationship Id="rId47" Type="http://schemas.openxmlformats.org/officeDocument/2006/relationships/slide" Target="slides/slide10.xml"/><Relationship Id="rId48" Type="http://schemas.openxmlformats.org/officeDocument/2006/relationships/slide" Target="slides/slide11.xml"/><Relationship Id="rId50" Type="http://schemas.openxmlformats.org/officeDocument/2006/relationships/slide" Target="slides/slide13.xml"/><Relationship Id="rId51" Type="http://schemas.openxmlformats.org/officeDocument/2006/relationships/slide" Target="slides/slide28.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xml"/><Relationship Id="rId83" Type="http://schemas.openxmlformats.org/officeDocument/2006/relationships/slide" Target="slides/slide2.xml"/><Relationship Id="rId84" Type="http://schemas.openxmlformats.org/officeDocument/2006/relationships/slide" Target="slides/slide3.xml"/><Relationship Id="rId85" Type="http://schemas.openxmlformats.org/officeDocument/2006/relationships/slide" Target="slides/slide4.xml"/><Relationship Id="rId86" Type="http://schemas.openxmlformats.org/officeDocument/2006/relationships/slide" Target="slides/slide5.xml"/><Relationship Id="rId87" Type="http://schemas.openxmlformats.org/officeDocument/2006/relationships/slide" Target="slides/slide6.xml"/><Relationship Id="rId88" Type="http://schemas.openxmlformats.org/officeDocument/2006/relationships/slide" Target="slides/slide7.xml"/><Relationship Id="rId89" Type="http://schemas.openxmlformats.org/officeDocument/2006/relationships/slide" Target="slides/slide8.xml"/><Relationship Id="rId90" Type="http://schemas.openxmlformats.org/officeDocument/2006/relationships/slide" Target="slides/slide9.xml"/><Relationship Id="rId93" Type="http://schemas.openxmlformats.org/officeDocument/2006/relationships/slide" Target="slides/slide15.xml"/><Relationship Id="rId94" Type="http://schemas.openxmlformats.org/officeDocument/2006/relationships/slide" Target="slides/slide16.xml"/><Relationship Id="rId95" Type="http://schemas.openxmlformats.org/officeDocument/2006/relationships/slide" Target="slides/slide17.xml"/><Relationship Id="rId96" Type="http://schemas.openxmlformats.org/officeDocument/2006/relationships/slide" Target="slides/slide18.xml"/><Relationship Id="rId97" Type="http://schemas.openxmlformats.org/officeDocument/2006/relationships/slide" Target="slides/slide19.xml"/><Relationship Id="rId98" Type="http://schemas.openxmlformats.org/officeDocument/2006/relationships/slide" Target="slides/slide21.xml"/><Relationship Id="rId99" Type="http://schemas.openxmlformats.org/officeDocument/2006/relationships/slide" Target="slides/slide23.xml"/><Relationship Id="rId100" Type="http://schemas.openxmlformats.org/officeDocument/2006/relationships/slide" Target="slides/slide24.xml"/><Relationship Id="rId101" Type="http://schemas.openxmlformats.org/officeDocument/2006/relationships/slide" Target="slides/slide25.xml"/><Relationship Id="rId102" Type="http://schemas.openxmlformats.org/officeDocument/2006/relationships/slide" Target="slides/slide26.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Output loss: at each selected rung and for each of video/audio, MSE(student x0, teacher x0) divided by the initial PTQ MSE for that modality and rung. Video/audio weights are equal. Reconstruction: each student attention/FFN unit receives the teacher unit input with stop-gradient and matches its output using relative squared error. Target-video, target-audio and conditioning group weights are 1,1,0.25, normalized over present groups. Sequence-parallel-global denominators and gradient scaling preserve group weighting. Reconstruction is streamed per block and normalized by its step-zero value per rung. With recon_lambda=1, output and reconstruction terms have equal coefficients. The teacher walks all eight rungs; four rungs per row receive student loss. From step 20, student rollout is selected with probability 0.25. OmniRef YAML sets 200 training steps and identifies release step 120; do not reuse the V2 300-step recipe or V2 quality improvements as Omni measurements. Deployment adapter preserves packed weights, per-projection global scales, Q/K/V execution order and tensor-parallel scale swizzling. No QAD training was performed by this project. https://github.com/hao-ai-lab/FastVideo/blob/ea3275dfd1ce48cbb01f9fc7f28e918e857a0536/fastvideo/train/methods/knowledge_distillation/pdd_qad.py</a:t>
            </a:r>
          </a:p>
          <a:p>
            <a:r>
              <a:t>https://github.com/hao-ai-lab/FastVideo/blob/ea3275dfd1ce48cbb01f9fc7f28e918e857a0536/fastvideo/train/methods/knowledge_distillation/pdd_qad_recon.py</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videos are embedded as separate MP4 objects on this same slide, left to right: BF16 reference, Online NVFP4 without QAD training, and published QAD NVFP4. The video frames are not cropped or stretched. Videos start together at slide entry and are muted by default. Same request JSON: two family reference views, prompt, seed 1234, 1344x768, 124 frames at 24 FPS, eight transformer evaluations, cuDNN BF16 VSA and original video/audio decoders. Online NVFP4 quantizes untouched BF16 checkpoint 88d512c5 weights. No calibration dataset or table is loaded. Every DiT projection computes its activation global scale as 2688/max(abs(current_input)) on each forward; weights use their own tensor amax. Per-16 E4M3 block scales are computed dynamically. Weights are quantized once and cached before loading; activations are dynamically quantized on each forward. This is PTQ, without teacher supervision or QAD weight updates. It does not use the FP4 attention emulator. BF16 and Online NVFP4 use the original BF16 text encoder; the retained published QAD run uses its checkpoint encoder. Therefore this is a checkpoint-level visual comparison, not an isolated DiT QAD ablation. The original BF16 run uses HSDP, whereas quantized runs do not. No latency attribution or universal quality claim is made. The PDF contains frame-24 posters; video playback is in the PPTX or local HTML preview. https://github.com/hao-ai-lab/FastVideo/blob/ea3275dfd1ce48cbb01f9fc7f28e918e857a0536/examples/train/configs/knowledge_distillation/minimax_h3/omniref_nvfp4_qad.yaml</a:t>
            </a:r>
          </a:p>
          <a:p>
            <a:r>
              <a:t>Measured decoded-video similarity: {"online_nvfp4": {"lpips_alex_v0_1": {"mean": 0.2977905738497934, "std_population": 0.1439843131812286, "min": 0.09652196615934372, "max": 0.5121737718582153, "frames": 124}, "ssim_rgb": {"mean": 0.5777637524457234, "std_population": 0.13019779426300312, "min": 0.4346516289486761, "max": 0.8592144454339667, "frames": 124}}, "qad_nvfp4": {"lpips_alex_v0_1": {"mean": 0.2501977474819268, "std_population": 0.1342112506959792, "min": 0.08768212795257568, "max": 0.44881367683410645, "frames": 124}, "ssim_rgb": {"mean": 0.6437721022708937, "std_population": 0.13355167661847192, "min": 0.5014632406551502, "max": 0.8743636803808933, "frames": 124}}}</a:t>
            </a:r>
          </a:p>
          <a:p>
            <a:r>
              <a:t>LPIPS: pretrained AlexNet v0.1, FP32 RGB [-1,1]. SSIM: RGB, Gaussian 11x11 sigma 1.5, population covariance, data range 255. All 124 frames at original 1344x768; same frame-index alignment; no resize. Single-prompt checkpoint similarity, not general video quality. Request curl time_total is recorded in video-generation-times.json and displayed above. The online request was the first inference after startup, whereas retained runs used already-active servers. Timings exclude model loading and prepacking, include encoding/download; do not infer a quantization speedup.</a:t>
            </a:r>
          </a:p>
          <a:p>
            <a:r>
              <a:t>Direct Online NVFP4 uses the algorithm on the untouched BF16 checkpoint without numerical tuning. Amax scaling is part of the quantization algorithm. Videos and previously reported request times and LPIPS/SSIM are unchanged in v1.26.</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baseline is MiniMax H3 Base Ref2VA at 960x544, 124 frames, 24 FPS, 50 denoising steps, BF16, and eight RTX PRO 5000 GPUs with USP8. Communication uses local NCCL; RDMA is disabled. The media duration is exactly 124 / 24 = 5.1667 seconds, shown as 5.167 seconds. The four top-level rows are mutually exclusive accounting buckets. The locked endpoint cohort contains three steady requests at 247.956, 246.201 and 248.298 seconds; its median is 247.956 seconds and RTF 47.992. The separately rerun matched Nsight request took 252.773 seconds, or RTF 48.924, after a 253.075-second warmup. Its warmup and measured outputs share one SHA-256 and fully decode. The matched trace reaches 60,827 MiB during the measured request and 61,299 MiB across the sampled run. The table is a hierarchy. NCCL communication includes DiT collectives and collectives in encoder, VAE and other work. It is reported separately from tensor compute and AdaLN host-to-device weight staging/layout. The four top-level cost centers are mutually exclusive and sum to 100 percent. The matched request passed the eight-device, kernel-count, attribution, transport and exclusive-accounting gates, and its CUDA kernel and memory totals match independent nsys stats exactly. The share denominator is kernel, memcpy and memset duration summed across all eight GPUs. The time column divides each category by eight and reports mean operation time per GPU. An interval-union check found no same-GPU overlap among the classified kernel/copy activities, and per-rank activity totals are 247.86 to 248.69 seconds, close to the measured E2E. NCCL kernel duration includes synchronization and peer waiting, so the DiT collective share of 46.4 percent is serialized collective residency rather than pure transfer time or an achieved-bandwidth measurement. The repeated loop issues 10,000 SendRecv kernels per rank: four per DiT block across 50 steps and 50 blocks. DiT host-to-device copies contribute 295.3 aggregate GPU-seconds and 8.94 TB of CUPTI logical bytes. More than 99.998 percent of that H-to-D time comes from staging AdaLN projection BF16 weight and bias on exact-cache misses. The run uses the default 256 MiB runtime output cache and does not configure a complete offline schedule sidecar. Ordinary Attention, MLP and QKV weights remain resident after initialization. This page stops at measured Base50 evidence. Optimization methods begin on the following slides.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defines the sampling terms used by the rest of the deck. A latent state x(t) is the current compressed video and audio representation. The DiT reads that state, its time coordinate and the prompt or reference conditioning, then predicts a data-ward velocity. The Euler solver uses that velocity to construct the next latent. Conventional sampling is sequential because the next DiT call requires the state produced by the previous update. NFE means network function evaluation; one NFE is one complete DiT forward, not one Transformer block. Base H3 uses 50 sequential NFEs. Each NFE traverses the 50-block main Transformer trunk, so the repeated trunk workload is 50 times 50, or 2,500 main-block passes. Under USP8, each of eight ranks executes its local shard, which is why a system trace can show 20,000 rank-local attention launches. Prompt and reference encoding happen before the repeated loop, and VAE decoding happens after it. H3 uses separate shifted Euler schedules for video and audio; x(t) and delta-t on this page deliberately abstract those two modality-specific updates, which share one joint DiT forward. Sources: https://research.nvidia.com/labs/genair/pdd/ ; https://github.com/MiniMax-AI/MiniMax-H3/blob/main/transformer/config.json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Actual Nsight Systems GUI screenshot of FastH3_QAD36L_8xPRO5000_960x544_PCIe_GPU_NIC.nsys-rep. This is the pre-head-pipeline RDMA baseline; it already overlaps V/g projection with the first exchange. Q/K/V/G and O are otherwise whole-head operands. Exposed transport is defined using event-sync return to closing barrier CPU launch, intersected with productive CUDA kernels, excluding pack/unpack/copy/barrier kernels. Mean over eight GPUs: phase 3.761780366 s, exposed 3.244157462 s, covered 13.760%. Includes host posting/CQ polling/flush; not exact NIC wire time or E2E attribution. Screenshot does not show the proposed 2/3/2 schedule. Nsight reported possible incomplete CUDA/NVTX/OSRT collection; expected windows reconcile.</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vLLM already centralizes CUDA Graph dispatch, capture, replay, caching and eager fallback through its graph manager, CudagraphDispatcher, CUDAGraphWrapper and FULL, PIECEWISE or NONE runtime modes. The production H3 path should reuse that lifecycle instead of retaining the benchmark prototype's private graph manager. H3 adds a thin profile adapter, stable registered I/O buffers and one graph-safe callable. The profile key must cover S bucket, Kmax, reference layout, head-band geometry and any backend choice that changes topology.</a:t>
            </a:r>
          </a:p>
          <a:p/>
          <a:p>
            <a:r>
              <a:t>The H3 callable captures only unpack QKV, VSA attention and O-bundle packing. QKV packing and input RDMA, readiness events, reverse RDMA and gather, local gate assembly, complete NVFP4 W_O and dynamic scheduling remain outside the Graph. In vLLM terms this is a PIECEWISE boundary: the framework owns dispatch and replay; H3 owns the communication boundary and persistent registered buffers. CUDA Graph reduces launch gaps but does not fuse kernels or increase link bandwidth.</a:t>
            </a:r>
          </a:p>
          <a:p/>
          <a:p>
            <a:r>
              <a:t>A saved real layer-0 input was tested on one GPU with 12 counterbalanced rounds and 20 repeats per arm; all outputs were bit-exact. The all-head compute island changed from 11.703171 to 11.658073 ms, a 0.3853 percent reduction. Four fixed head bands changed from 12.323460 to 12.040123 ms, a 2.2992 percent reduction. This component test contains no collective, RDMA or overlap. Banding is still 2.879 percent slower than all-head eager in compute-only time; its intended gain comes from communication-compute overlap. Graph keeps the smaller per-band kernels from becoming launch-bound but does not create the overlap by itself.</a:t>
            </a:r>
          </a:p>
          <a:p/>
          <a:p>
            <a:r>
              <a:t>In the qualified fixed 8-GPU profile, the head pipeline changed from 13.249868 seconds to 11.993609 seconds with compute CUDA Graph, a 9.481 percent reduction. The profile is 960 by 544, 362 frames, one reference and PDD8. This is a fixed-profile pipeline result from the private benchmark module. Moving its lifecycle into vLLM is the proposed production integration and is not part of the measured 9.481 percent result.</a:t>
            </a:r>
          </a:p>
          <a:p/>
          <a:p>
            <a:r>
              <a:t>Official references: https://docs.vllm.ai/en/latest/design/cuda_graphs/ ; https://github.com/vllm-project/vllm/blob/main/vllm/compilation/cuda_graph.py ; https://docs.nvidia.com/cuda/cuda-programming-guide/04-special-topics/cuda-graphs.html</a:t>
            </a:r>
          </a:p>
          <a:p>
            <a:r>
              <a:t>Updated target plan: 2/3/2, three band slots. Capture/cache identity includes actual buffer pointers and band position, so equal head counts do not imply a reusable GraphExec. Historical measured E2E used 1/2/3/1 and a private prototype graph manager; integration with the vLLM lifecycle is the proposed production design. No 2/3/2 speedup is claimed.</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qualified profile is 960 by 544, 362 frames, one reference and PDD8. Its resolution, frame count, reference layout, valid and padded sequence lengths, Kmax, band plan, tensor geometry, implementation path and registered buffer addresses remain fixed. One GraphExec per fixed band/profile can replay across 50 blocks and eight denoising steps, or 400 calls per band/profile. Base50 would imply 2,500 calls, but that count is arithmetic only and has not been qualified. The (1, 2, 3, 1) plan uses four GraphExecs.</a:t>
            </a:r>
          </a:p>
          <a:p/>
          <a:p>
            <a:r>
              <a:t>Tensor values may change between replays. VSA can select different token indices and Q/K/V can contain new values as long as S, Kmax, tensor shapes, strides and stable virtual addresses still match the profile. A new resolution, frame count, reference layout, band plan, route metadata or buffer address can force another capture. cudaGraphExecUpdate supports some parameter changes when topology remains compatible; it does not make arbitrary topology or kernel-path changes reusable.</a:t>
            </a:r>
          </a:p>
          <a:p/>
          <a:p>
            <a:r>
              <a:t>The measured prototype captures synchronously on a miss, keeps tensors and geometry in a private pool, limits the cache to 32 entries and raises if the cache is full. The production path should move dispatch, capture, cache, graph-pool ownership and NONE-mode eager fallback to vLLM's existing graph framework. H3 supplies a profile descriptor and replay-buffer adapter. vLLM's EncoderCudaGraphManager provides a useful public pattern for token budgets, persistent buffers, smallest-fit replay and overflow fallback, but it is an encoder-specific class; this slide borrows its policy and does not claim that H3 DiT directly uses that manager.</a:t>
            </a:r>
          </a:p>
          <a:p/>
          <a:p>
            <a:r>
              <a:t>Because H3 sequence lengths can span roughly 60K to 1M, mechanically doubling buckets can waste too much attention compute. Start with curated exact profiles for common products, keep unknown profiles eager, and capture only after qualification. Report Graph hit rate, padding overhead, cold capture cost, graph-pool memory and eager fallback share.</a:t>
            </a:r>
          </a:p>
          <a:p/>
          <a:p>
            <a:r>
              <a:t>Official references: https://docs.vllm.ai/en/latest/design/cuda_graphs/ ; https://docs.vllm.ai/en/latest/design/cuda_graphs_multimodal/ ; https://docs.pytorch.org/docs/stable/notes/cuda.html</a:t>
            </a:r>
          </a:p>
          <a:p>
            <a:r>
              <a:t>The selected plan is 2/3/2. There are three schedule slots, not the former four. Do not claim measured qualification for this new partition. Unlike batch-size-oriented autoregressive LLM decode replay, H3 reuse relies on stable video token geometry, sparse budget, reference geometry and band-specific buffers across blocks and denoising evaluations. Variable requests need matching profiles or eager fallback.</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parallelism starts with a token shard on every GPU. For this measured 362-frame profile, the aligned sequence has 56,960 tokens, so USP8 gives each rank 7,120 tokens and all 56 attention heads. After the local Q, K, V and learned VSA gate projections, Ulysses runs an all-to-all that gathers the full sequence while scattering heads. The local tensor changes from [B, S/8, 56, 128] to [B, S, 7, 128]. Each rank can now compute full-sequence attention locally for its own seven heads. A reverse all-to-all on O restores [B, S/8, 56, 128], and output projection, residual and MLP continue on the local token shard. The element count is preserved: (S/8) times 56 equals S times 7. USP reduces the per-rank activation and head workload; it does not reduce the global attention math. New Q, K, V and gate tensors are produced in every attention block, so this exchange repeats block by block. The 56,960-token shape belongs to the measured 960 by 544, 362-frame communication study; it is not the 124-frame Base50 shape.</a:t>
            </a:r>
          </a:p>
          <a:p/>
          <a:p>
            <a:r>
              <a:t>v1.21: Title changed to Ulysses. The original website SVG and PNG are embedded without artwork edits. The schematic is the website P=4, S=15104 Q/K/V/O example, not the P=8, S=56960 measured H3 configuration described at left. The illustration does not include the extra learned VSA gate slot in the measured H3 profile. Retained website source: https://grateful-requirements-dictionaries-impacts.trycloudflare.com/scaling/ulysses.svg. The old tunnel is currently unavailable; original local website files were recovered.</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page as an evidence ledger, not as a performance ladder. Green means the exact locked benchmark. Blue means a result qualified inside its own study but not comparable with the green row. Orange is the acceptance work still required before we publish a cumulative optimization story.</a:t>
            </a:r>
          </a:p>
          <a:p/>
          <a:p>
            <a:r>
              <a:t>Row A is the only current result on the locked MiniMax H3 Base Ref2VA request: 960 by 544, 124 frames at 24 FPS, 5.1667 seconds of media, the Miles reference image and voice, the locked prompt, seed 43, 50 denoising steps, BF16 dense attention, eight RTX PRO 5000 GPUs, TP1 and USP8, local NCCL, and no RDMA. After initialization and one warmup, three formal requests took 247.956, 246.201, and 248.298 seconds. The median is 247.956 seconds, or RTF 47.992. All three formal outputs and the warmup share the same MP4 SHA-256 and fully decode. The 70.84 GiB value is the maximum sampled whole-device reading across ranks over cold initialization and steady requests. It is not a PyTorch allocator high-water mark, and the ranks are materially imbalanced. Slide 6 reports the same run as 60,813 MiB steady and 72,539 MiB during cold initialization.</a:t>
            </a:r>
          </a:p>
          <a:p/>
          <a:p>
            <a:r>
              <a:t>Row B is a different 15.083-second request: 960 by 544, 362 frames, one Zhiwei image, no external voice, an eight-forward NVFP4-QAD 36-layer decoder with VSA, and three samples per arm. Its original NCCL control averaged 17.681 seconds, while the final production arm averaged 14.974 seconds, changing RTF from 1.172 to 0.993. All three final requests met the 15.083-second media-duration budget. This is not sustained-stream evidence; the worst final request was 14.999848 seconds, only 0.152 milliseconds below a nominal 15.000-second threshold. The RDMA path also changes direct Ulysses layout handling, so its delta must not be described as isolated network transport.</a:t>
            </a:r>
          </a:p>
          <a:p/>
          <a:p>
            <a:r>
              <a:t>Row C is internally paired but historical. Both arms use the same 960 by 544, 243-frame input and seed in that study. The original Base50 arm took 263.847 seconds; a distinct four-step Turbo, MXFP8, dense-Sage, NVFP4-VAE, TP1/SP8 and RDMA production stack took 6.958 seconds. RTF moves from 26.059 to 0.687. There is one formal sample per arm, and many material axes change together. This proves endpoint feasibility for that study, not a PDD8, VSA, QAD, Sage, or RDMA ablation.</a:t>
            </a:r>
          </a:p>
          <a:p/>
          <a:p>
            <a:r>
              <a:t>Row D is the portrait live-avatar workload: 576 by 1024, a 124-frame request window with five-frame overlap, and therefore 119 new frames or 4.958 seconds of new media per continuation. It uses a four-step MXFP8 stack, BF16 Sage on the first sensitive attention path, NVFP4 video VAE, USP8 and RDMA. The initial request took 4.644 seconds. Five continuations have a 4.459-second median and RTF 0.899. The n label 1 + 5 means one initial request plus five continuation requests; it is not six steady samples. This is useful live-feasibility evidence, but it has no matched Base50 arm, no long-run P95, and no complete perceptual or lip-sync qualification.</a:t>
            </a:r>
          </a:p>
          <a:p/>
          <a:p>
            <a:r>
              <a:t>The orange row is the publication gate. Keep the row-A image, audio, prompt, seed, geometry, frame count, request mode, hardware placement, timing boundary and memory method fixed. Measure Base50, PDD8, PDD8 plus VSA, the selected QAD or Sage path, and the RDMA plus overlap path with at least three steady requests per stage. Record end-to-end latency, RTF, peak GPU memory under one method, output exactness or a stated quality metric, and matched Nsight cost centers and overlap. Only then may these stages be connected as a cumulative waterfall.</a:t>
            </a:r>
          </a:p>
          <a:p/>
          <a:p>
            <a:r>
              <a:t>The four-GPU real-RDMA precheck on the previous slide is correctness-only and is therefore absent from the performance rows. It did not run the full eight-GPU H3 model, measure end-to-end latency, or measure overlap. The 87.11 percent overlap value belongs to the separate 362-frame QAD trace and must not be attached to the Base50 row. A successful 1344 by 768 PDD8/VSA BF16 study is also component evidence only and does not fill a stage in the locked 544P chain.</a:t>
            </a:r>
          </a:p>
          <a:p/>
          <a:p>
            <a:r>
              <a:t>Visible footer note: the 70.84 GiB value is the whole-device nvidia-smi maximum across cold and steady execution, not allocator high-water. Rows B through D are independent evidence, not a staged sequence.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32.png"/><Relationship Id="rId5" Type="http://schemas.openxmlformats.org/officeDocument/2006/relationships/image" Target="../media/h3vector10.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 Id="rId3"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 Id="rId3"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a:solidFill>
                  <a:srgbClr val="313131"/>
                </a:solidFill>
              </a:rPr>
              <a:t>Shunyang Li | Public technical brief | October 2026</a:t>
            </a:r>
          </a:p>
        </p:txBody>
      </p:sp>
      <p:sp>
        <p:nvSpPr>
          <p:cNvPr id="3" name="Text Placeholder 2"/>
          <p:cNvSpPr>
            <a:spLocks noGrp="1"/>
          </p:cNvSpPr>
          <p:nvPr>
            <p:ph type="body" idx="11" sz="quarter"/>
          </p:nvPr>
        </p:nvSpPr>
        <p:spPr/>
        <p:txBody>
          <a:bodyPr/>
          <a:lstStyle/>
          <a:p>
            <a:r>
              <a:rPr sz="7700">
                <a:latin typeface="NVIDIA Sans"/>
              </a:rPr>
              <a:t>8× RTX PRO 5000 · vLLM-Omni</a:t>
            </a:r>
          </a:p>
        </p:txBody>
      </p:sp>
      <p:sp>
        <p:nvSpPr>
          <p:cNvPr id="4" name="Text Placeholder 3"/>
          <p:cNvSpPr>
            <a:spLocks noGrp="1"/>
          </p:cNvSpPr>
          <p:nvPr>
            <p:ph type="body" idx="10" sz="quarter"/>
          </p:nvPr>
        </p:nvSpPr>
        <p:spPr/>
        <p:txBody>
          <a:bodyPr/>
          <a:lstStyle/>
          <a:p>
            <a:r>
              <a:t>Real-Time Video Generation
With 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01 · Real-Time H3
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p:txBody>
          <a:bodyPr/>
          <a:lstStyle/>
          <a:p>
            <a:r>
              <a:t>32B encoder → 33B dense Omni Transformer → visual/audio VAE. Fifty blocks × 50 steps keep compute and memory pressure high; about 13B AdaLN parameters can be cached</a:t>
            </a:r>
          </a:p>
        </p:txBody>
      </p:sp>
      <p:sp>
        <p:nvSpPr>
          <p:cNvPr id="8" name="Text Placeholder 7"/>
          <p:cNvSpPr>
            <a:spLocks noGrp="1"/>
          </p:cNvSpPr>
          <p:nvPr>
            <p:ph type="body" idx="55" sz="quarter"/>
          </p:nvPr>
        </p:nvSpPr>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NIC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NCCL occupies 49.2% of the average GPU timeline</a:t>
            </a:r>
          </a:p>
        </p:txBody>
      </p:sp>
      <p:sp>
        <p:nvSpPr>
          <p:cNvPr id="3" name="Title 2"/>
          <p:cNvSpPr>
            <a:spLocks noGrp="1"/>
          </p:cNvSpPr>
          <p:nvPr>
            <p:ph type="title"/>
          </p:nvPr>
        </p:nvSpPr>
        <p:spPr/>
        <p:txBody>
          <a:bodyPr/>
          <a:lstStyle/>
          <a:p>
            <a:r>
              <a:t>Latency Breakdown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6</a:t>
            </a:fld>
            <a:endParaRPr lang="en-US"/>
          </a:p>
        </p:txBody>
      </p:sp>
      <p:graphicFrame>
        <p:nvGraphicFramePr>
          <p:cNvPr id="5" name="Official NVIDIA Baselin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18394801">
                  <a:extLst>
                    <a:ext uri="{9D8B030D-6E8A-4147-A177-3AD203B41FA5}">
                      <a16:colId xmlns:a16="http://schemas.microsoft.com/office/drawing/2014/main" val="1714626306"/>
                    </a:ext>
                  </a:extLst>
                </a:gridCol>
                <a:gridCol w="6217920">
                  <a:extLst>
                    <a:ext uri="{9D8B030D-6E8A-4147-A177-3AD203B41FA5}">
                      <a16:colId xmlns:a16="http://schemas.microsoft.com/office/drawing/2014/main" val="1697748500"/>
                    </a:ext>
                  </a:extLst>
                </a:gridCol>
                <a:gridCol w="3657600">
                  <a:extLst>
                    <a:ext uri="{9D8B030D-6E8A-4147-A177-3AD203B41FA5}">
                      <a16:colId xmlns:a16="http://schemas.microsoft.com/office/drawing/2014/main" val="3872581152"/>
                    </a:ext>
                  </a:extLst>
                </a:gridCol>
              </a:tblGrid>
              <a:tr h="91440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Stage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Average GPU Time*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Share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96012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Mean GPU timeline*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27432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250.0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communication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123.0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DiT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116.1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Encoder, VAE, and other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7.0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Tensor compute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84.5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33.8%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2690260899"/>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45.3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18.1%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618141472"/>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GEMM / MLP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39.2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864763436"/>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AdaLN weight staging + device layout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38.5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404130746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Encoder, VAE, and other GPU work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1617734848"/>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Base Ref2VA · 960×544 · 124f @ 24 FPS · 50 steps · BF16 · 8× RTX PRO 5000 · default AdaLN offload · local NCCL / RDMA off · *sum across 8 GPU timelines ÷ 8</a:t>
            </a:r>
            <a:endParaRPr lang="en-US" dirty="0"/>
          </a:p>
        </p:txBody>
      </p:sp>
      <p:sp>
        <p:nvSpPr>
          <p:cNvPr id="7" name="Official NVIDIA Green Bullets (Template Slide 11)">
            <a:extLst>
              <a:ext uri="{FF2B5EF4-FFF2-40B4-BE49-F238E27FC236}">
                <a16:creationId xmlns:a16="http://schemas.microsoft.com/office/drawing/2014/main" id="{F4CEAB82-3270-2922-8769-7E63216D0A3E}"/>
              </a:ext>
            </a:extLst>
          </p:cNvPr>
          <p:cNvSpPr>
            <a:spLocks noGrp="1"/>
          </p:cNvSpPr>
          <p:nvPr>
            <p:ph type="body" sz="quarter" idx="13"/>
          </p:nvPr>
        </p:nvSpPr>
        <p:spPr>
          <a:xfrm>
            <a:off x="1828800" y="5943600"/>
            <a:ext cx="32918399" cy="12801600"/>
          </a:xfrm>
        </p:spPr>
        <p:txBody>
          <a:bodyPr wrap="square" anchor="t" lIns="2331720" rIns="2331719" tIns="10744200" bIns="0"/>
          <a:lstStyle/>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Of the 38.5 s average, 36.9 s is AdaLN projection weight staging from CPU; layout is 1.5 s</a:t>
            </a:r>
          </a:p>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This run uses the default runtime cache, not a complete precomputed schedule sidecar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State and direction</a:t>
            </a:r>
          </a:p>
          <a:p>
            <a:pPr lvl="1" algn="l"/>
            <a:r>
              <a:rPr b="0">
                <a:solidFill>
                  <a:srgbClr val="313131"/>
                </a:solidFill>
                <a:latin typeface="NVIDIA Sans"/>
              </a:rPr>
              <a:t>x(t) is the current latent; the DiT predicts a data-ward velocity</a:t>
            </a:r>
          </a:p>
          <a:p>
            <a:pPr algn="l"/>
            <a:r>
              <a:rPr b="1">
                <a:solidFill>
                  <a:srgbClr val="313131"/>
                </a:solidFill>
                <a:latin typeface="NVIDIA Sans Medium"/>
              </a:rPr>
              <a:t>Solver update</a:t>
            </a:r>
          </a:p>
          <a:p>
            <a:pPr lvl="1" algn="l"/>
            <a:r>
              <a:rPr b="0">
                <a:solidFill>
                  <a:srgbClr val="313131"/>
                </a:solidFill>
                <a:latin typeface="NVIDIA Sans"/>
              </a:rPr>
              <a:t>Euler advances x(t) by a small interval along that velocity</a:t>
            </a:r>
          </a:p>
          <a:p>
            <a:pPr lvl="1" algn="l"/>
            <a:r>
              <a:rPr b="0">
                <a:solidFill>
                  <a:srgbClr val="313131"/>
                </a:solidFill>
                <a:latin typeface="NVIDIA Sans"/>
              </a:rPr>
              <a:t>The next DiT call needs the new latent, so conventional steps run in sequence</a:t>
            </a:r>
          </a:p>
          <a:p>
            <a:pPr algn="l"/>
            <a:r>
              <a:rPr b="1">
                <a:solidFill>
                  <a:srgbClr val="76B900"/>
                </a:solidFill>
                <a:latin typeface="NVIDIA Sans Medium"/>
              </a:rPr>
              <a:t>Network function evaluation (NFE)</a:t>
            </a:r>
          </a:p>
          <a:p>
            <a:pPr lvl="1" algn="l"/>
            <a:r>
              <a:rPr b="0">
                <a:solidFill>
                  <a:srgbClr val="313131"/>
                </a:solidFill>
                <a:latin typeface="NVIDIA Sans"/>
              </a:rPr>
              <a:t>One NFE is one complete DiT forward</a:t>
            </a:r>
          </a:p>
          <a:p>
            <a:pPr algn="l"/>
            <a:r>
              <a:rPr b="1">
                <a:solidFill>
                  <a:srgbClr val="313131"/>
                </a:solidFill>
                <a:latin typeface="NVIDIA Sans Medium"/>
              </a:rPr>
              <a:t>Base H3</a:t>
            </a:r>
          </a:p>
          <a:p>
            <a:pPr lvl="1" algn="l"/>
            <a:r>
              <a:rPr b="0">
                <a:solidFill>
                  <a:srgbClr val="313131"/>
                </a:solidFill>
                <a:latin typeface="NVIDIA Sans"/>
              </a:rPr>
              <a:t>50 NFE × 50 main blocks = 2,500 main-block passes</a:t>
            </a:r>
          </a:p>
        </p:txBody>
      </p:sp>
      <p:sp>
        <p:nvSpPr>
          <p:cNvPr id="3" name="Text Placeholder 2"/>
          <p:cNvSpPr>
            <a:spLocks noGrp="1"/>
          </p:cNvSpPr>
          <p:nvPr>
            <p:ph type="body" idx="14" sz="quarter"/>
          </p:nvPr>
        </p:nvSpPr>
        <p:spPr>
          <a:xfrm>
            <a:off x="1828800" y="5806440"/>
            <a:ext cx="13716000" cy="1417320"/>
          </a:xfrm>
        </p:spPr>
        <p:txBody>
          <a:bodyPr/>
          <a:lstStyle/>
          <a:p>
            <a:r>
              <a:t>H3 follows a learned velocity field from noise toward clean video and audio latents</a:t>
            </a:r>
          </a:p>
        </p:txBody>
      </p:sp>
      <p:sp>
        <p:nvSpPr>
          <p:cNvPr id="4" name="Title 3"/>
          <p:cNvSpPr>
            <a:spLocks noGrp="1"/>
          </p:cNvSpPr>
          <p:nvPr>
            <p:ph type="title"/>
          </p:nvPr>
        </p:nvSpPr>
        <p:spPr>
          <a:xfrm>
            <a:off x="1828800" y="1828800"/>
            <a:ext cx="13716000" cy="3840480"/>
          </a:xfrm>
        </p:spPr>
        <p:txBody>
          <a:bodyPr/>
          <a:lstStyle/>
          <a:p>
            <a:r>
              <a:t>How Denoising Works</a:t>
            </a:r>
          </a:p>
        </p:txBody>
      </p:sp>
      <p:sp>
        <p:nvSpPr>
          <p:cNvPr id="5" name="Text Placeholder 4"/>
          <p:cNvSpPr>
            <a:spLocks noGrp="1"/>
          </p:cNvSpPr>
          <p:nvPr>
            <p:ph type="body" idx="52" sz="quarter"/>
          </p:nvPr>
        </p:nvSpPr>
        <p:spPr/>
        <p:txBody>
          <a:bodyPr/>
          <a:lstStyle/>
          <a:p>
            <a:r>
              <a:t>A chain of dependent solver updates turns noise into clean latents</a:t>
            </a:r>
          </a:p>
        </p:txBody>
      </p:sp>
      <p:sp>
        <p:nvSpPr>
          <p:cNvPr id="6" name="Text Placeholder 5"/>
          <p:cNvSpPr>
            <a:spLocks noGrp="1"/>
          </p:cNvSpPr>
          <p:nvPr>
            <p:ph type="body" idx="51" sz="quarter"/>
          </p:nvPr>
        </p:nvSpPr>
        <p:spPr/>
        <p:txBody>
          <a:bodyPr/>
          <a:lstStyle/>
          <a:p>
            <a:r>
              <a:t>Classical Flow-Matching Sampling</a:t>
            </a:r>
          </a:p>
        </p:txBody>
      </p:sp>
      <p:pic>
        <p:nvPicPr>
          <p:cNvPr id="7" name="Picture Placeholder 6" descr="denoising-basics-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 H3 Base configuration · NVIDIA FastGen-PDD sampling background (arXiv:2607.26004) · author abstraction</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50 → 8 DiT calls; 2,500 → 400 repeated block passes (−84%)</a:t>
            </a:r>
          </a:p>
        </p:txBody>
      </p:sp>
      <p:sp>
        <p:nvSpPr>
          <p:cNvPr id="3" name="Text Placeholder 2"/>
          <p:cNvSpPr>
            <a:spLocks noGrp="1"/>
          </p:cNvSpPr>
          <p:nvPr>
            <p:ph type="body" idx="14" sz="quarter"/>
          </p:nvPr>
        </p:nvSpPr>
        <p:spPr>
          <a:xfrm>
            <a:off x="1828800" y="5806440"/>
            <a:ext cx="13716000" cy="1417320"/>
          </a:xfrm>
        </p:spPr>
        <p:txBody>
          <a:bodyPr/>
          <a:lstStyle/>
          <a:p>
            <a:r>
              <a:t>PDD predicts four denoising intervals per DiT call: 50 calls → 8</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4173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p:txBody>
          <a:bodyPr/>
          <a:lstStyle/>
          <a:p>
            <a:r>
              <a:t>Global coarse context + selected fine detail · FastH3 adaptation: G_f = 1</a:t>
            </a:r>
          </a:p>
        </p:txBody>
      </p:sp>
      <p:sp>
        <p:nvSpPr>
          <p:cNvPr id="6" name="Text Placeholder 5"/>
          <p:cNvSpPr>
            <a:spLocks noGrp="1"/>
          </p:cNvSpPr>
          <p:nvPr>
            <p:ph type="body" idx="51" sz="quarter"/>
          </p:nvPr>
        </p:nvSpPr>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BF16 reference · Direct Online NVFP4 · Published QAD checkpoint</a:t>
            </a:r>
          </a:p>
        </p:txBody>
      </p:sp>
      <p:sp>
        <p:nvSpPr>
          <p:cNvPr id="4" name="Title 3"/>
          <p:cNvSpPr>
            <a:spLocks noGrp="1"/>
          </p:cNvSpPr>
          <p:nvPr>
            <p:ph type="title"/>
          </p:nvPr>
        </p:nvSpPr>
        <p:spPr/>
        <p:txBody>
          <a:bodyPr/>
          <a:lstStyle/>
          <a:p>
            <a:r>
              <a:t>Quantization: Three-Way Video Comparison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Matched request · cuDNN BF16 attention + original VAE · checkpoint comparison, including encoder precision</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11</a:t>
            </a:fld>
            <a:endParaRPr lang="en-US"/>
          </a:p>
        </p:txBody>
      </p:sp>
      <p:sp>
        <p:nvSpPr>
          <p:cNvPr id="7" name="BF16 Reference"/>
          <p:cNvSpPr txBox="1"/>
          <p:nvPr/>
        </p:nvSpPr>
        <p:spPr>
          <a:xfrm>
            <a:off x="1828800" y="5715000"/>
            <a:ext cx="10515600" cy="91440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828800" y="7315200"/>
            <a:ext cx="10515600" cy="6008914"/>
          </a:xfrm>
          <a:prstGeom prst="rect">
            <a:avLst/>
          </a:prstGeom>
          <a:ln w="9525">
            <a:solidFill>
              <a:srgbClr val="A7A7A7"/>
            </a:solidFill>
          </a:ln>
        </p:spPr>
      </p:pic>
      <p:sp>
        <p:nvSpPr>
          <p:cNvPr id="9" name="Original BF16 weights"/>
          <p:cNvSpPr txBox="1"/>
          <p:nvPr/>
        </p:nvSpPr>
        <p:spPr>
          <a:xfrm>
            <a:off x="1828800" y="13827034"/>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Original BF16 weights</a:t>
            </a:r>
          </a:p>
        </p:txBody>
      </p:sp>
      <p:sp>
        <p:nvSpPr>
          <p:cNvPr id="10" name="Request E2E: 48.12 s*"/>
          <p:cNvSpPr txBox="1"/>
          <p:nvPr/>
        </p:nvSpPr>
        <p:spPr>
          <a:xfrm>
            <a:off x="1828800" y="1490472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E2E: 48.12 s*</a:t>
            </a:r>
          </a:p>
        </p:txBody>
      </p:sp>
      <p:sp>
        <p:nvSpPr>
          <p:cNvPr id="11" name="LPIPS ↓ 0.0000  |  SSIM ↑ 1.0000"/>
          <p:cNvSpPr txBox="1"/>
          <p:nvPr/>
        </p:nvSpPr>
        <p:spPr>
          <a:xfrm>
            <a:off x="1828800" y="15910559"/>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LPIPS ↓ 0.0000  |  SSIM ↑ 1.0000</a:t>
            </a:r>
          </a:p>
        </p:txBody>
      </p:sp>
      <p:sp>
        <p:nvSpPr>
          <p:cNvPr id="12" name="Online NVFP4"/>
          <p:cNvSpPr txBox="1"/>
          <p:nvPr/>
        </p:nvSpPr>
        <p:spPr>
          <a:xfrm>
            <a:off x="13030200" y="5715000"/>
            <a:ext cx="10515600" cy="91440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3030200" y="7315200"/>
            <a:ext cx="10515600" cy="6008914"/>
          </a:xfrm>
          <a:prstGeom prst="rect">
            <a:avLst/>
          </a:prstGeom>
          <a:ln w="9525">
            <a:solidFill>
              <a:srgbClr val="A7A7A7"/>
            </a:solidFill>
          </a:ln>
        </p:spPr>
      </p:pic>
      <p:sp>
        <p:nvSpPr>
          <p:cNvPr id="14" name="No calibration · No QAD"/>
          <p:cNvSpPr txBox="1"/>
          <p:nvPr/>
        </p:nvSpPr>
        <p:spPr>
          <a:xfrm>
            <a:off x="13030200" y="13827034"/>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No calibration / fine-tuning / QAD</a:t>
            </a:r>
          </a:p>
        </p:txBody>
      </p:sp>
      <p:sp>
        <p:nvSpPr>
          <p:cNvPr id="15" name="Request E2E: 32.44 s*"/>
          <p:cNvSpPr txBox="1"/>
          <p:nvPr/>
        </p:nvSpPr>
        <p:spPr>
          <a:xfrm>
            <a:off x="13030200" y="1490472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E2E: 32.44 s*</a:t>
            </a:r>
          </a:p>
        </p:txBody>
      </p:sp>
      <p:sp>
        <p:nvSpPr>
          <p:cNvPr id="16" name="LPIPS ↓ 0.2978  |  SSIM ↑ 0.5778"/>
          <p:cNvSpPr txBox="1"/>
          <p:nvPr/>
        </p:nvSpPr>
        <p:spPr>
          <a:xfrm>
            <a:off x="13030200" y="15910559"/>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LPIPS ↓ 0.2978  |  SSIM ↑ 0.5778</a:t>
            </a:r>
          </a:p>
        </p:txBody>
      </p:sp>
      <p:sp>
        <p:nvSpPr>
          <p:cNvPr id="17" name="QAD NVFP4"/>
          <p:cNvSpPr txBox="1"/>
          <p:nvPr/>
        </p:nvSpPr>
        <p:spPr>
          <a:xfrm>
            <a:off x="24231600" y="5715000"/>
            <a:ext cx="10515600" cy="91440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24231600" y="7315200"/>
            <a:ext cx="10515600" cy="6008914"/>
          </a:xfrm>
          <a:prstGeom prst="rect">
            <a:avLst/>
          </a:prstGeom>
          <a:ln w="9525">
            <a:solidFill>
              <a:srgbClr val="A7A7A7"/>
            </a:solidFill>
          </a:ln>
        </p:spPr>
      </p:pic>
      <p:sp>
        <p:nvSpPr>
          <p:cNvPr id="19" name="Published QAD checkpoint"/>
          <p:cNvSpPr txBox="1"/>
          <p:nvPr/>
        </p:nvSpPr>
        <p:spPr>
          <a:xfrm>
            <a:off x="24231600" y="13827034"/>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Published QAD checkpoint</a:t>
            </a:r>
          </a:p>
        </p:txBody>
      </p:sp>
      <p:sp>
        <p:nvSpPr>
          <p:cNvPr id="20" name="Request E2E: 28.40 s*"/>
          <p:cNvSpPr txBox="1"/>
          <p:nvPr/>
        </p:nvSpPr>
        <p:spPr>
          <a:xfrm>
            <a:off x="24231600" y="1490472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E2E: 28.40 s*</a:t>
            </a:r>
          </a:p>
        </p:txBody>
      </p:sp>
      <p:sp>
        <p:nvSpPr>
          <p:cNvPr id="21" name="LPIPS ↓ 0.2502  |  SSIM ↑ 0.6438"/>
          <p:cNvSpPr txBox="1"/>
          <p:nvPr/>
        </p:nvSpPr>
        <p:spPr>
          <a:xfrm>
            <a:off x="24231600" y="15910559"/>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LPIPS ↓ 0.2502  |  SSIM ↑ 0.6438</a:t>
            </a:r>
          </a:p>
        </p:txBody>
      </p:sp>
      <p:sp>
        <p:nvSpPr>
          <p:cNvPr id="22" name="1344 × 768  ·  124 frames @ 24 FPS  ·  8 steps  ·  Seed 1234"/>
          <p:cNvSpPr txBox="1"/>
          <p:nvPr/>
        </p:nvSpPr>
        <p:spPr>
          <a:xfrm>
            <a:off x="1828800" y="17190720"/>
            <a:ext cx="32918400" cy="822960"/>
          </a:xfrm>
          <a:prstGeom prst="rect">
            <a:avLst/>
          </a:prstGeom>
          <a:noFill/>
        </p:spPr>
        <p:txBody>
          <a:bodyPr wrap="square" lIns="0" rIns="0" tIns="0" bIns="0">
            <a:spAutoFit/>
          </a:bodyPr>
          <a:lstStyle/>
          <a:p>
            <a:pPr algn="ctr">
              <a:lnSpc>
                <a:spcPct val="108000"/>
              </a:lnSpc>
              <a:spcBef>
                <a:spcPts val="0"/>
              </a:spcBef>
              <a:spcAft>
                <a:spcPts val="1200"/>
              </a:spcAft>
            </a:pPr>
            <a:r>
              <a:rPr sz="3400" b="0">
                <a:solidFill>
                  <a:srgbClr val="313131"/>
                </a:solidFill>
                <a:latin typeface="NVIDIA Sans"/>
              </a:rPr>
              <a:t>1344 × 768  ·  124 frames @ 24 FPS  ·  8 steps  ·  Seed 1234</a:t>
            </a:r>
          </a:p>
        </p:txBody>
      </p:sp>
      <p:sp>
        <p:nvSpPr>
          <p:cNvPr id="23" name="*Single requests; warmup / encoder / HSDP differ. Metrics: all frames vs. BF16."/>
          <p:cNvSpPr txBox="1"/>
          <p:nvPr/>
        </p:nvSpPr>
        <p:spPr>
          <a:xfrm>
            <a:off x="1828800" y="18288000"/>
            <a:ext cx="329184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*Single requests; warmup / encoder / HSDP differ. Metrics: all frames vs. BF16.</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10</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Match denoised outputs and local activations while keeping VSA gate weights frozen</a:t>
            </a:r>
          </a:p>
        </p:txBody>
      </p:sp>
      <p:sp>
        <p:nvSpPr>
          <p:cNvPr id="4" name="Title 3"/>
          <p:cNvSpPr>
            <a:spLocks noGrp="1"/>
          </p:cNvSpPr>
          <p:nvPr>
            <p:ph type="title"/>
          </p:nvPr>
        </p:nvSpPr>
        <p:spPr/>
        <p:txBody>
          <a:bodyPr/>
          <a:lstStyle/>
          <a:p>
            <a:r>
              <a:t>QAD: Recover Video and Audio</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pdd_qad.py + pdd_qad_recon.py + OmniRef YAML @ ea3275d · public recipe, not our training benchmark</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12</a:t>
            </a:fld>
            <a:endParaRPr lang="en-US"/>
          </a:p>
        </p:txBody>
      </p:sp>
      <p:sp>
        <p:nvSpPr>
          <p:cNvPr id="7" name="1  Denoised output"/>
          <p:cNvSpPr txBox="1"/>
          <p:nvPr/>
        </p:nvSpPr>
        <p:spPr>
          <a:xfrm>
            <a:off x="1828800" y="5669280"/>
            <a:ext cx="10424160" cy="1097280"/>
          </a:xfrm>
          <a:prstGeom prst="rect">
            <a:avLst/>
          </a:prstGeom>
          <a:noFill/>
        </p:spPr>
        <p:txBody>
          <a:bodyPr wrap="square" lIns="0" rIns="0" tIns="0" bIns="0">
            <a:spAutoFit/>
          </a:bodyPr>
          <a:lstStyle/>
          <a:p>
            <a:pPr algn="l">
              <a:lnSpc>
                <a:spcPct val="108000"/>
              </a:lnSpc>
              <a:spcBef>
                <a:spcPts val="0"/>
              </a:spcBef>
              <a:spcAft>
                <a:spcPts val="1200"/>
              </a:spcAft>
            </a:pPr>
            <a:r>
              <a:rPr sz="4200" b="1">
                <a:solidFill>
                  <a:srgbClr val="76B900"/>
                </a:solidFill>
                <a:latin typeface="NVIDIA Sans Medium"/>
              </a:rPr>
              <a:t>1  Denoised output</a:t>
            </a:r>
          </a:p>
        </p:txBody>
      </p:sp>
      <p:sp>
        <p:nvSpPr>
          <p:cNvPr id="8" name="Match student x0 to teacher x0"/>
          <p:cNvSpPr txBox="1"/>
          <p:nvPr/>
        </p:nvSpPr>
        <p:spPr>
          <a:xfrm>
            <a:off x="1828800" y="7315200"/>
            <a:ext cx="10424160" cy="2286000"/>
          </a:xfrm>
          <a:prstGeom prst="rect">
            <a:avLst/>
          </a:prstGeom>
          <a:noFill/>
        </p:spPr>
        <p:txBody>
          <a:bodyPr wrap="square" lIns="0" rIns="0" tIns="0" bIns="0">
            <a:spAutoFit/>
          </a:bodyPr>
          <a:lstStyle/>
          <a:p>
            <a:pPr algn="l">
              <a:lnSpc>
                <a:spcPct val="108000"/>
              </a:lnSpc>
              <a:spcBef>
                <a:spcPts val="0"/>
              </a:spcBef>
              <a:spcAft>
                <a:spcPts val="1200"/>
              </a:spcAft>
            </a:pPr>
            <a:r>
              <a:rPr sz="4000" b="1">
                <a:solidFill>
                  <a:srgbClr val="313131"/>
                </a:solidFill>
                <a:latin typeface="NVIDIA Sans Medium"/>
              </a:rPr>
              <a:t>Match student x0 to teacher x0</a:t>
            </a:r>
          </a:p>
        </p:txBody>
      </p:sp>
      <p:sp>
        <p:nvSpPr>
          <p:cNvPr id="9" name="Normalize each sampling step and modality by its initial PTQ error"/>
          <p:cNvSpPr txBox="1"/>
          <p:nvPr/>
        </p:nvSpPr>
        <p:spPr>
          <a:xfrm>
            <a:off x="1828800" y="10058400"/>
            <a:ext cx="10424160" cy="3200400"/>
          </a:xfrm>
          <a:prstGeom prst="rect">
            <a:avLst/>
          </a:prstGeom>
          <a:noFill/>
        </p:spPr>
        <p:txBody>
          <a:bodyPr wrap="square" lIns="0" rIns="0" tIns="0" bIns="0">
            <a:spAutoFit/>
          </a:bodyPr>
          <a:lstStyle/>
          <a:p>
            <a:pPr algn="l">
              <a:lnSpc>
                <a:spcPct val="108000"/>
              </a:lnSpc>
              <a:spcBef>
                <a:spcPts val="0"/>
              </a:spcBef>
              <a:spcAft>
                <a:spcPts val="1200"/>
              </a:spcAft>
            </a:pPr>
            <a:r>
              <a:rPr sz="3600" b="0">
                <a:solidFill>
                  <a:srgbClr val="313131"/>
                </a:solidFill>
                <a:latin typeface="NVIDIA Sans"/>
              </a:rPr>
              <a:t>Normalize each sampling step and modality by its initial PTQ error</a:t>
            </a:r>
          </a:p>
        </p:txBody>
      </p:sp>
      <p:sp>
        <p:nvSpPr>
          <p:cNvPr id="10" name="Video and audio carry equal weight"/>
          <p:cNvSpPr txBox="1"/>
          <p:nvPr/>
        </p:nvSpPr>
        <p:spPr>
          <a:xfrm>
            <a:off x="1828800" y="13807440"/>
            <a:ext cx="10424160" cy="2103120"/>
          </a:xfrm>
          <a:prstGeom prst="rect">
            <a:avLst/>
          </a:prstGeom>
          <a:noFill/>
        </p:spPr>
        <p:txBody>
          <a:bodyPr wrap="square" lIns="0" rIns="0" tIns="0" bIns="0">
            <a:spAutoFit/>
          </a:bodyPr>
          <a:lstStyle/>
          <a:p>
            <a:pPr algn="l">
              <a:lnSpc>
                <a:spcPct val="108000"/>
              </a:lnSpc>
              <a:spcBef>
                <a:spcPts val="0"/>
              </a:spcBef>
              <a:spcAft>
                <a:spcPts val="1200"/>
              </a:spcAft>
            </a:pPr>
            <a:r>
              <a:rPr sz="3200" b="0">
                <a:solidFill>
                  <a:srgbClr val="313131"/>
                </a:solidFill>
                <a:latin typeface="NVIDIA Sans"/>
              </a:rPr>
              <a:t>Video and audio carry equal weight</a:t>
            </a:r>
          </a:p>
        </p:txBody>
      </p:sp>
      <p:sp>
        <p:nvSpPr>
          <p:cNvPr id="11" name="2  Layer reconstruction"/>
          <p:cNvSpPr txBox="1"/>
          <p:nvPr/>
        </p:nvSpPr>
        <p:spPr>
          <a:xfrm>
            <a:off x="13075920" y="5669280"/>
            <a:ext cx="10424160" cy="1097280"/>
          </a:xfrm>
          <a:prstGeom prst="rect">
            <a:avLst/>
          </a:prstGeom>
          <a:noFill/>
        </p:spPr>
        <p:txBody>
          <a:bodyPr wrap="square" lIns="0" rIns="0" tIns="0" bIns="0">
            <a:spAutoFit/>
          </a:bodyPr>
          <a:lstStyle/>
          <a:p>
            <a:pPr algn="l">
              <a:lnSpc>
                <a:spcPct val="108000"/>
              </a:lnSpc>
              <a:spcBef>
                <a:spcPts val="0"/>
              </a:spcBef>
              <a:spcAft>
                <a:spcPts val="1200"/>
              </a:spcAft>
            </a:pPr>
            <a:r>
              <a:rPr sz="4200" b="1">
                <a:solidFill>
                  <a:srgbClr val="76B900"/>
                </a:solidFill>
                <a:latin typeface="NVIDIA Sans Medium"/>
              </a:rPr>
              <a:t>2  Layer reconstruction</a:t>
            </a:r>
          </a:p>
        </p:txBody>
      </p:sp>
      <p:sp>
        <p:nvSpPr>
          <p:cNvPr id="12" name="Give each student unit the teacher’s input"/>
          <p:cNvSpPr txBox="1"/>
          <p:nvPr/>
        </p:nvSpPr>
        <p:spPr>
          <a:xfrm>
            <a:off x="13075920" y="7315200"/>
            <a:ext cx="10424160" cy="2286000"/>
          </a:xfrm>
          <a:prstGeom prst="rect">
            <a:avLst/>
          </a:prstGeom>
          <a:noFill/>
        </p:spPr>
        <p:txBody>
          <a:bodyPr wrap="square" lIns="0" rIns="0" tIns="0" bIns="0">
            <a:spAutoFit/>
          </a:bodyPr>
          <a:lstStyle/>
          <a:p>
            <a:pPr algn="l">
              <a:lnSpc>
                <a:spcPct val="108000"/>
              </a:lnSpc>
              <a:spcBef>
                <a:spcPts val="0"/>
              </a:spcBef>
              <a:spcAft>
                <a:spcPts val="1200"/>
              </a:spcAft>
            </a:pPr>
            <a:r>
              <a:rPr sz="4000" b="1">
                <a:solidFill>
                  <a:srgbClr val="313131"/>
                </a:solidFill>
                <a:latin typeface="NVIDIA Sans Medium"/>
              </a:rPr>
              <a:t>Give each student unit the teacher’s input</a:t>
            </a:r>
          </a:p>
        </p:txBody>
      </p:sp>
      <p:sp>
        <p:nvSpPr>
          <p:cNvPr id="13" name="Correct attention and FFN error locally, with per-block backward"/>
          <p:cNvSpPr txBox="1"/>
          <p:nvPr/>
        </p:nvSpPr>
        <p:spPr>
          <a:xfrm>
            <a:off x="13075920" y="10058400"/>
            <a:ext cx="10424160" cy="3200400"/>
          </a:xfrm>
          <a:prstGeom prst="rect">
            <a:avLst/>
          </a:prstGeom>
          <a:noFill/>
        </p:spPr>
        <p:txBody>
          <a:bodyPr wrap="square" lIns="0" rIns="0" tIns="0" bIns="0">
            <a:spAutoFit/>
          </a:bodyPr>
          <a:lstStyle/>
          <a:p>
            <a:pPr algn="l">
              <a:lnSpc>
                <a:spcPct val="108000"/>
              </a:lnSpc>
              <a:spcBef>
                <a:spcPts val="0"/>
              </a:spcBef>
              <a:spcAft>
                <a:spcPts val="1200"/>
              </a:spcAft>
            </a:pPr>
            <a:r>
              <a:rPr sz="3600" b="0">
                <a:solidFill>
                  <a:srgbClr val="313131"/>
                </a:solidFill>
                <a:latin typeface="NVIDIA Sans"/>
              </a:rPr>
              <a:t>Correct attention and FFN error locally, with per-block backward</a:t>
            </a:r>
          </a:p>
        </p:txBody>
      </p:sp>
      <p:sp>
        <p:nvSpPr>
          <p:cNvPr id="14" name="Video : audio : conditioning"/>
          <p:cNvSpPr txBox="1"/>
          <p:nvPr/>
        </p:nvSpPr>
        <p:spPr>
          <a:xfrm>
            <a:off x="13075920" y="13807440"/>
            <a:ext cx="10424160" cy="2103120"/>
          </a:xfrm>
          <a:prstGeom prst="rect">
            <a:avLst/>
          </a:prstGeom>
          <a:noFill/>
        </p:spPr>
        <p:txBody>
          <a:bodyPr wrap="square" lIns="0" rIns="0" tIns="0" bIns="0">
            <a:spAutoFit/>
          </a:bodyPr>
          <a:lstStyle/>
          <a:p>
            <a:pPr algn="l">
              <a:lnSpc>
                <a:spcPct val="108000"/>
              </a:lnSpc>
              <a:spcBef>
                <a:spcPts val="0"/>
              </a:spcBef>
              <a:spcAft>
                <a:spcPts val="1200"/>
              </a:spcAft>
            </a:pPr>
            <a:r>
              <a:rPr sz="3200" b="0">
                <a:solidFill>
                  <a:srgbClr val="313131"/>
                </a:solidFill>
                <a:latin typeface="NVIDIA Sans"/>
              </a:rPr>
              <a:t>Video : audio : conditioning</a:t>
            </a:r>
          </a:p>
          <a:p>
            <a:pPr algn="l">
              <a:lnSpc>
                <a:spcPct val="108000"/>
              </a:lnSpc>
              <a:spcBef>
                <a:spcPts val="0"/>
              </a:spcBef>
              <a:spcAft>
                <a:spcPts val="1200"/>
              </a:spcAft>
            </a:pPr>
            <a:r>
              <a:rPr sz="3200" b="0">
                <a:solidFill>
                  <a:srgbClr val="313131"/>
                </a:solidFill>
                <a:latin typeface="NVIDIA Sans"/>
              </a:rPr>
              <a:t>1 : 1 : 0.25</a:t>
            </a:r>
          </a:p>
        </p:txBody>
      </p:sp>
      <p:sp>
        <p:nvSpPr>
          <p:cNvPr id="15" name="3  Student rollout"/>
          <p:cNvSpPr txBox="1"/>
          <p:nvPr/>
        </p:nvSpPr>
        <p:spPr>
          <a:xfrm>
            <a:off x="24323040" y="5669280"/>
            <a:ext cx="10424160" cy="1097280"/>
          </a:xfrm>
          <a:prstGeom prst="rect">
            <a:avLst/>
          </a:prstGeom>
          <a:noFill/>
        </p:spPr>
        <p:txBody>
          <a:bodyPr wrap="square" lIns="0" rIns="0" tIns="0" bIns="0">
            <a:spAutoFit/>
          </a:bodyPr>
          <a:lstStyle/>
          <a:p>
            <a:pPr algn="l">
              <a:lnSpc>
                <a:spcPct val="108000"/>
              </a:lnSpc>
              <a:spcBef>
                <a:spcPts val="0"/>
              </a:spcBef>
              <a:spcAft>
                <a:spcPts val="1200"/>
              </a:spcAft>
            </a:pPr>
            <a:r>
              <a:rPr sz="4200" b="1">
                <a:solidFill>
                  <a:srgbClr val="76B900"/>
                </a:solidFill>
                <a:latin typeface="NVIDIA Sans Medium"/>
              </a:rPr>
              <a:t>3  Student rollout</a:t>
            </a:r>
          </a:p>
        </p:txBody>
      </p:sp>
      <p:sp>
        <p:nvSpPr>
          <p:cNvPr id="16" name="Train on the student’s own trajectory"/>
          <p:cNvSpPr txBox="1"/>
          <p:nvPr/>
        </p:nvSpPr>
        <p:spPr>
          <a:xfrm>
            <a:off x="24323040" y="7315200"/>
            <a:ext cx="10424160" cy="2286000"/>
          </a:xfrm>
          <a:prstGeom prst="rect">
            <a:avLst/>
          </a:prstGeom>
          <a:noFill/>
        </p:spPr>
        <p:txBody>
          <a:bodyPr wrap="square" lIns="0" rIns="0" tIns="0" bIns="0">
            <a:spAutoFit/>
          </a:bodyPr>
          <a:lstStyle/>
          <a:p>
            <a:pPr algn="l">
              <a:lnSpc>
                <a:spcPct val="108000"/>
              </a:lnSpc>
              <a:spcBef>
                <a:spcPts val="0"/>
              </a:spcBef>
              <a:spcAft>
                <a:spcPts val="1200"/>
              </a:spcAft>
            </a:pPr>
            <a:r>
              <a:rPr sz="4000" b="1">
                <a:solidFill>
                  <a:srgbClr val="313131"/>
                </a:solidFill>
                <a:latin typeface="NVIDIA Sans Medium"/>
              </a:rPr>
              <a:t>Train on the student’s own trajectory</a:t>
            </a:r>
          </a:p>
        </p:txBody>
      </p:sp>
      <p:sp>
        <p:nvSpPr>
          <p:cNvPr id="17" name="After step 20, use student rollout on 25% of rows"/>
          <p:cNvSpPr txBox="1"/>
          <p:nvPr/>
        </p:nvSpPr>
        <p:spPr>
          <a:xfrm>
            <a:off x="24323040" y="10058400"/>
            <a:ext cx="10424160" cy="3200400"/>
          </a:xfrm>
          <a:prstGeom prst="rect">
            <a:avLst/>
          </a:prstGeom>
          <a:noFill/>
        </p:spPr>
        <p:txBody>
          <a:bodyPr wrap="square" lIns="0" rIns="0" tIns="0" bIns="0">
            <a:spAutoFit/>
          </a:bodyPr>
          <a:lstStyle/>
          <a:p>
            <a:pPr algn="l">
              <a:lnSpc>
                <a:spcPct val="108000"/>
              </a:lnSpc>
              <a:spcBef>
                <a:spcPts val="0"/>
              </a:spcBef>
              <a:spcAft>
                <a:spcPts val="1200"/>
              </a:spcAft>
            </a:pPr>
            <a:r>
              <a:rPr sz="3600" b="0">
                <a:solidFill>
                  <a:srgbClr val="313131"/>
                </a:solidFill>
                <a:latin typeface="NVIDIA Sans"/>
              </a:rPr>
              <a:t>After step 20, use student rollout on 25% of rows</a:t>
            </a:r>
          </a:p>
        </p:txBody>
      </p:sp>
      <p:sp>
        <p:nvSpPr>
          <p:cNvPr id="18" name="Reduce exposure to teacher-only states"/>
          <p:cNvSpPr txBox="1"/>
          <p:nvPr/>
        </p:nvSpPr>
        <p:spPr>
          <a:xfrm>
            <a:off x="24323040" y="13807440"/>
            <a:ext cx="10424160" cy="2103120"/>
          </a:xfrm>
          <a:prstGeom prst="rect">
            <a:avLst/>
          </a:prstGeom>
          <a:noFill/>
        </p:spPr>
        <p:txBody>
          <a:bodyPr wrap="square" lIns="0" rIns="0" tIns="0" bIns="0">
            <a:spAutoFit/>
          </a:bodyPr>
          <a:lstStyle/>
          <a:p>
            <a:pPr algn="l">
              <a:lnSpc>
                <a:spcPct val="108000"/>
              </a:lnSpc>
              <a:spcBef>
                <a:spcPts val="0"/>
              </a:spcBef>
              <a:spcAft>
                <a:spcPts val="1200"/>
              </a:spcAft>
            </a:pPr>
            <a:r>
              <a:rPr sz="3200" b="0">
                <a:solidFill>
                  <a:srgbClr val="313131"/>
                </a:solidFill>
                <a:latin typeface="NVIDIA Sans"/>
              </a:rPr>
              <a:t>Reduce exposure to teacher-only states</a:t>
            </a:r>
          </a:p>
        </p:txBody>
      </p:sp>
      <p:sp>
        <p:nvSpPr>
          <p:cNvPr id="19" name="Day-0 deployment: preserve packed weights, independent projection scales and TP scale layout"/>
          <p:cNvSpPr txBox="1"/>
          <p:nvPr/>
        </p:nvSpPr>
        <p:spPr>
          <a:xfrm>
            <a:off x="1828800" y="17007840"/>
            <a:ext cx="32918400" cy="11887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313131"/>
                </a:solidFill>
                <a:latin typeface="NVIDIA Sans Medium"/>
              </a:rPr>
              <a:t>Day-0 deployment: preserve packed weights, independent projection scales and TP scale layout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Fewer launches per head band</a:t>
            </a:r>
          </a:p>
          <a:p>
            <a:pPr lvl="1" algn="l"/>
            <a:r>
              <a:rPr b="0">
                <a:solidFill>
                  <a:srgbClr val="313131"/>
                </a:solidFill>
                <a:latin typeface="NVIDIA Sans"/>
              </a:rPr>
              <a:t>Replay unpack QKV → VSA → pack O using fixed shapes and buffers</a:t>
            </a:r>
          </a:p>
          <a:p>
            <a:pPr algn="l"/>
            <a:r>
              <a:rPr b="1">
                <a:solidFill>
                  <a:srgbClr val="76B900"/>
                </a:solidFill>
                <a:latin typeface="NVIDIA Sans Medium"/>
              </a:rPr>
              <a:t>Keep transport at the boundary</a:t>
            </a:r>
          </a:p>
          <a:p>
            <a:pPr lvl="1" algn="l"/>
            <a:r>
              <a:rPr b="0">
                <a:solidFill>
                  <a:srgbClr val="313131"/>
                </a:solidFill>
                <a:latin typeface="NVIDIA Sans"/>
              </a:rPr>
              <a:t>RDMA and readiness events stay eager; overlap comes from scheduling</a:t>
            </a:r>
          </a:p>
          <a:p>
            <a:pPr algn="l"/>
            <a:r>
              <a:rPr b="1">
                <a:solidFill>
                  <a:srgbClr val="76B900"/>
                </a:solidFill>
                <a:latin typeface="NVIDIA Sans Medium"/>
              </a:rPr>
              <a:t>Reuse the framework lifecycle</a:t>
            </a:r>
          </a:p>
          <a:p>
            <a:pPr lvl="1" algn="l"/>
            <a:r>
              <a:rPr b="0">
                <a:solidFill>
                  <a:srgbClr val="313131"/>
                </a:solidFill>
                <a:latin typeface="NVIDIA Sans"/>
              </a:rPr>
              <a:t>Route capture, cache, replay and fallback through vLLM</a:t>
            </a:r>
          </a:p>
          <a:p>
            <a:pPr algn="l"/>
            <a:r>
              <a:rPr b="1">
                <a:solidFill>
                  <a:srgbClr val="76B900"/>
                </a:solidFill>
                <a:latin typeface="NVIDIA Sans Medium"/>
              </a:rPr>
              <a:t>Historical graph benefit: −9.48%</a:t>
            </a:r>
          </a:p>
          <a:p>
            <a:pPr lvl="1" algn="l"/>
            <a:r>
              <a:rPr b="0">
                <a:solidFill>
                  <a:srgbClr val="313131"/>
                </a:solidFill>
                <a:latin typeface="NVIDIA Sans"/>
              </a:rPr>
              <a:t>13.250 s → 11.994 s used 1/2/3/1; 2/3/2 has not been timed</a:t>
            </a:r>
          </a:p>
        </p:txBody>
      </p:sp>
      <p:sp>
        <p:nvSpPr>
          <p:cNvPr id="3" name="Text Placeholder 2"/>
          <p:cNvSpPr>
            <a:spLocks noGrp="1"/>
          </p:cNvSpPr>
          <p:nvPr>
            <p:ph type="body" idx="14" sz="quarter"/>
          </p:nvPr>
        </p:nvSpPr>
        <p:spPr>
          <a:xfrm>
            <a:off x="1828800" y="5806440"/>
            <a:ext cx="13716000" cy="1417320"/>
          </a:xfrm>
        </p:spPr>
        <p:txBody>
          <a:bodyPr/>
          <a:lstStyle/>
          <a:p>
            <a:r>
              <a:t>Capture the stable per-band compute after introducing the 2 / 3 / 2 pipeline</a:t>
            </a:r>
          </a:p>
        </p:txBody>
      </p:sp>
      <p:sp>
        <p:nvSpPr>
          <p:cNvPr id="4" name="Title 3"/>
          <p:cNvSpPr>
            <a:spLocks noGrp="1"/>
          </p:cNvSpPr>
          <p:nvPr>
            <p:ph type="title"/>
          </p:nvPr>
        </p:nvSpPr>
        <p:spPr>
          <a:xfrm>
            <a:off x="1828800" y="1828800"/>
            <a:ext cx="13716000" cy="3840480"/>
          </a:xfrm>
        </p:spPr>
        <p:txBody>
          <a:bodyPr/>
          <a:lstStyle/>
          <a:p>
            <a:r>
              <a:t>CUDA Graph</a:t>
            </a:r>
          </a:p>
        </p:txBody>
      </p:sp>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H3 prototype capture audit and fixed-profile measurements · proposed integration with vLLM CUDA Graph lifecycle</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21</a:t>
            </a:fld>
            <a:endParaRPr lang="en-US"/>
          </a:p>
        </p:txBody>
      </p:sp>
      <p:pic>
        <p:nvPicPr>
          <p:cNvPr id="10" name="Three stable compute capture slots" descr="graph-compute-232.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019520" y="5328940"/>
            <a:ext cx="15727680" cy="10647639"/>
          </a:xfrm>
          <a:prstGeom prst="rect">
            <a:avLst/>
          </a:prstGeom>
          <a:ln w="9525">
            <a:solidFill>
              <a:srgbClr val="A7A7A7"/>
            </a:solidFill>
          </a:ln>
        </p:spPr>
      </p:pic>
      <p:sp>
        <p:nvSpPr>
          <p:cNvPr id="11" name="Capture compute; schedule communication outside"/>
          <p:cNvSpPr txBox="1"/>
          <p:nvPr/>
        </p:nvSpPr>
        <p:spPr>
          <a:xfrm>
            <a:off x="19202400" y="17190720"/>
            <a:ext cx="155448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Capture compute; schedule communication outside</a:t>
            </a:r>
          </a:p>
        </p:txBody>
      </p:sp>
      <p:sp>
        <p:nvSpPr>
          <p:cNvPr id="12" name="Two equal-size bands may still use different buffers"/>
          <p:cNvSpPr txBox="1"/>
          <p:nvPr/>
        </p:nvSpPr>
        <p:spPr>
          <a:xfrm>
            <a:off x="19202400" y="18105120"/>
            <a:ext cx="15544800" cy="640080"/>
          </a:xfrm>
          <a:prstGeom prst="rect">
            <a:avLst/>
          </a:prstGeom>
          <a:noFill/>
        </p:spPr>
        <p:txBody>
          <a:bodyPr wrap="square" lIns="0" rIns="0" tIns="0" bIns="0">
            <a:spAutoFit/>
          </a:bodyPr>
          <a:lstStyle/>
          <a:p>
            <a:pPr algn="ctr">
              <a:lnSpc>
                <a:spcPct val="108000"/>
              </a:lnSpc>
              <a:spcBef>
                <a:spcPts val="0"/>
              </a:spcBef>
              <a:spcAft>
                <a:spcPts val="1200"/>
              </a:spcAft>
            </a:pPr>
            <a:r>
              <a:rPr sz="2600" b="0">
                <a:solidFill>
                  <a:srgbClr val="313131"/>
                </a:solidFill>
                <a:latin typeface="NVIDIA Sans"/>
              </a:rPr>
              <a:t>Two equal-size bands may still use different buffers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One request repeats stable geometry</a:t>
            </a:r>
          </a:p>
          <a:p>
            <a:pPr lvl="1" algn="l"/>
            <a:r>
              <a:rPr b="0">
                <a:solidFill>
                  <a:srgbClr val="313131"/>
                </a:solidFill>
                <a:latin typeface="NVIDIA Sans"/>
              </a:rPr>
              <a:t>50 blocks × 8 steps provide 400 replay opportunities per band slot</a:t>
            </a:r>
          </a:p>
          <a:p>
            <a:pPr algn="l"/>
            <a:r>
              <a:rPr b="1">
                <a:solidFill>
                  <a:srgbClr val="76B900"/>
                </a:solidFill>
                <a:latin typeface="NVIDIA Sans Medium"/>
              </a:rPr>
              <a:t>Use the complete profile key</a:t>
            </a:r>
          </a:p>
          <a:p>
            <a:pPr lvl="1" algn="l"/>
            <a:r>
              <a:rPr b="0">
                <a:solidFill>
                  <a:srgbClr val="313131"/>
                </a:solidFill>
                <a:latin typeface="NVIDIA Sans"/>
              </a:rPr>
              <a:t>S, Kmax, reference geometry, 2/3/2 band slot, backend and stable buffers</a:t>
            </a:r>
          </a:p>
          <a:p>
            <a:pPr algn="l"/>
            <a:r>
              <a:rPr b="1">
                <a:solidFill>
                  <a:srgbClr val="76B900"/>
                </a:solidFill>
                <a:latin typeface="NVIDIA Sans Medium"/>
              </a:rPr>
              <a:t>On a hit, copy and replay</a:t>
            </a:r>
          </a:p>
          <a:p>
            <a:pPr lvl="1" algn="l"/>
            <a:r>
              <a:rPr b="0">
                <a:solidFill>
                  <a:srgbClr val="313131"/>
                </a:solidFill>
                <a:latin typeface="NVIDIA Sans"/>
              </a:rPr>
              <a:t>Tensor values may change; shapes, strides and virtual addresses stay fixed</a:t>
            </a:r>
          </a:p>
          <a:p>
            <a:pPr algn="l"/>
            <a:r>
              <a:rPr b="1">
                <a:solidFill>
                  <a:srgbClr val="76B900"/>
                </a:solidFill>
                <a:latin typeface="NVIDIA Sans Medium"/>
              </a:rPr>
              <a:t>On a miss, use eager execution</a:t>
            </a:r>
          </a:p>
          <a:p>
            <a:pPr lvl="1" algn="l"/>
            <a:r>
              <a:rPr b="0">
                <a:solidFill>
                  <a:srgbClr val="313131"/>
                </a:solidFill>
                <a:latin typeface="NVIDIA Sans"/>
              </a:rPr>
              <a:t>Qualify recurring profiles before capture; track cold cost and graph memory</a:t>
            </a:r>
          </a:p>
        </p:txBody>
      </p:sp>
      <p:sp>
        <p:nvSpPr>
          <p:cNvPr id="3" name="Text Placeholder 2"/>
          <p:cNvSpPr>
            <a:spLocks noGrp="1"/>
          </p:cNvSpPr>
          <p:nvPr>
            <p:ph type="body" idx="14" sz="quarter"/>
          </p:nvPr>
        </p:nvSpPr>
        <p:spPr>
          <a:xfrm>
            <a:off x="1828800" y="5806440"/>
            <a:ext cx="13716000" cy="1417320"/>
          </a:xfrm>
        </p:spPr>
        <p:txBody>
          <a:bodyPr/>
          <a:lstStyle/>
          <a:p>
            <a:r>
              <a:t>Video shapes vary across requests, so replay is keyed by a qualified profile</a:t>
            </a:r>
          </a:p>
        </p:txBody>
      </p:sp>
      <p:sp>
        <p:nvSpPr>
          <p:cNvPr id="4" name="Title 3"/>
          <p:cNvSpPr>
            <a:spLocks noGrp="1"/>
          </p:cNvSpPr>
          <p:nvPr>
            <p:ph type="title"/>
          </p:nvPr>
        </p:nvSpPr>
        <p:spPr>
          <a:xfrm>
            <a:off x="1828800" y="1828800"/>
            <a:ext cx="13716000" cy="3840480"/>
          </a:xfrm>
        </p:spPr>
        <p:txBody>
          <a:bodyPr/>
          <a:lstStyle/>
          <a:p>
            <a:r>
              <a:t>CUDA Graph Reuse</a:t>
            </a:r>
          </a:p>
        </p:txBody>
      </p:sp>
      <p:sp>
        <p:nvSpPr>
          <p:cNvPr id="5" name="Text Placeholder 4"/>
          <p:cNvSpPr>
            <a:spLocks noGrp="1"/>
          </p:cNvSpPr>
          <p:nvPr>
            <p:ph type="body" idx="52" sz="quarter"/>
          </p:nvPr>
        </p:nvSpPr>
        <p:spPr/>
        <p:txBody>
          <a:bodyPr/>
          <a:lstStyle/>
          <a:p>
            <a:r>
              <a:t>H3 extends the dispatch key; the wrapper still owns replay and fallback</a:t>
            </a:r>
          </a:p>
        </p:txBody>
      </p:sp>
      <p:sp>
        <p:nvSpPr>
          <p:cNvPr id="6" name="Text Placeholder 5"/>
          <p:cNvSpPr>
            <a:spLocks noGrp="1"/>
          </p:cNvSpPr>
          <p:nvPr>
            <p:ph type="body" idx="51" sz="quarter"/>
          </p:nvPr>
        </p:nvSpPr>
        <p:spPr/>
        <p:txBody>
          <a:bodyPr/>
          <a:lstStyle/>
          <a:p>
            <a:r>
              <a:t>vLLM CUDAGraphWrapper · Detail View</a:t>
            </a:r>
          </a:p>
        </p:txBody>
      </p:sp>
      <p:pic>
        <p:nvPicPr>
          <p:cNvPr id="7" name="Picture Placeholder 6" descr="cuda-graph-reuse-16x9.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vLLM CUDA Graphs design, CUDAGraphWrapper flow · vLLM multimodal budget policy · H3 prototype audit</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22</a:t>
            </a:fld>
            <a:endParaRPr lang="en-US"/>
          </a:p>
        </p:txBody>
      </p:sp>
      <p:sp>
        <p:nvSpPr>
          <p:cNvPr id="10" name="H3: video geometry + head bands"/>
          <p:cNvSpPr txBox="1"/>
          <p:nvPr/>
        </p:nvSpPr>
        <p:spPr>
          <a:xfrm>
            <a:off x="1828800" y="16824960"/>
            <a:ext cx="13716000" cy="155448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H3: video geometry + head bands</a:t>
            </a:r>
          </a:p>
          <a:p>
            <a:pPr algn="l">
              <a:lnSpc>
                <a:spcPct val="108000"/>
              </a:lnSpc>
              <a:spcBef>
                <a:spcPts val="0"/>
              </a:spcBef>
              <a:spcAft>
                <a:spcPts val="1200"/>
              </a:spcAft>
            </a:pPr>
            <a:r>
              <a:rPr sz="3000" b="0">
                <a:solidFill>
                  <a:srgbClr val="313131"/>
                </a:solidFill>
                <a:latin typeface="NVIDIA Sans"/>
              </a:rPr>
              <a:t>LLM decode: often batch / token buckets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Start with token shards</a:t>
            </a:r>
          </a:p>
          <a:p>
            <a:pPr lvl="1" algn="l"/>
            <a:r>
              <a:rPr b="0">
                <a:solidFill>
                  <a:srgbClr val="313131"/>
                </a:solidFill>
                <a:latin typeface="NVIDIA Sans"/>
              </a:rPr>
              <a:t>Eight GPUs split 56,960 tokens; each rank keeps 7,120 tokens and all 56 heads</a:t>
            </a:r>
          </a:p>
          <a:p>
            <a:pPr algn="l"/>
            <a:r>
              <a:rPr b="1">
                <a:solidFill>
                  <a:srgbClr val="76B900"/>
                </a:solidFill>
                <a:latin typeface="NVIDIA Sans Medium"/>
              </a:rPr>
              <a:t>Swap the sharding axis</a:t>
            </a:r>
          </a:p>
          <a:p>
            <a:pPr lvl="1" algn="l"/>
            <a:r>
              <a:rPr b="0">
                <a:solidFill>
                  <a:srgbClr val="313131"/>
                </a:solidFill>
                <a:latin typeface="NVIDIA Sans"/>
              </a:rPr>
              <a:t>Q/K/V/G all-to-all changes [S/8, 56] into [S, 7]</a:t>
            </a:r>
          </a:p>
          <a:p>
            <a:pPr algn="l"/>
            <a:r>
              <a:rPr b="1">
                <a:solidFill>
                  <a:srgbClr val="76B900"/>
                </a:solidFill>
                <a:latin typeface="NVIDIA Sans Medium"/>
              </a:rPr>
              <a:t>Do the expensive part locally</a:t>
            </a:r>
          </a:p>
          <a:p>
            <a:pPr lvl="1" algn="l"/>
            <a:r>
              <a:rPr b="0">
                <a:solidFill>
                  <a:srgbClr val="313131"/>
                </a:solidFill>
                <a:latin typeface="NVIDIA Sans"/>
              </a:rPr>
              <a:t>Each GPU sees the full sequence for its own seven heads</a:t>
            </a:r>
          </a:p>
          <a:p>
            <a:pPr algn="l"/>
            <a:r>
              <a:rPr b="1">
                <a:solidFill>
                  <a:srgbClr val="76B900"/>
                </a:solidFill>
                <a:latin typeface="NVIDIA Sans Medium"/>
              </a:rPr>
              <a:t>Switch back for the block</a:t>
            </a:r>
          </a:p>
          <a:p>
            <a:pPr lvl="1" algn="l"/>
            <a:r>
              <a:rPr b="0">
                <a:solidFill>
                  <a:srgbClr val="313131"/>
                </a:solidFill>
                <a:latin typeface="NVIDIA Sans"/>
              </a:rPr>
              <a:t>The O all-to-all restores token shards for projection, residual, and MLP</a:t>
            </a:r>
          </a:p>
        </p:txBody>
      </p:sp>
      <p:sp>
        <p:nvSpPr>
          <p:cNvPr id="3" name="Text Placeholder 2"/>
          <p:cNvSpPr>
            <a:spLocks noGrp="1"/>
          </p:cNvSpPr>
          <p:nvPr>
            <p:ph type="body" idx="14" sz="quarter"/>
          </p:nvPr>
        </p:nvSpPr>
        <p:spPr>
          <a:xfrm>
            <a:off x="1828800" y="5806440"/>
            <a:ext cx="13716000" cy="1417320"/>
          </a:xfrm>
        </p:spPr>
        <p:txBody>
          <a:bodyPr/>
          <a:lstStyle/>
          <a:p>
            <a:r>
              <a:t>Each GPU swaps a token shard for seven full-sequence heads</a:t>
            </a:r>
          </a:p>
        </p:txBody>
      </p:sp>
      <p:sp>
        <p:nvSpPr>
          <p:cNvPr id="4" name="Title 3"/>
          <p:cNvSpPr>
            <a:spLocks noGrp="1"/>
          </p:cNvSpPr>
          <p:nvPr>
            <p:ph type="title"/>
          </p:nvPr>
        </p:nvSpPr>
        <p:spPr>
          <a:xfrm>
            <a:off x="1828800" y="1828800"/>
            <a:ext cx="13716000" cy="3840480"/>
          </a:xfrm>
        </p:spPr>
        <p:txBody>
          <a:bodyPr/>
          <a:lstStyle/>
          <a:p>
            <a:r>
              <a:t>Ulysses</a:t>
            </a:r>
          </a:p>
        </p:txBody>
      </p:sp>
      <p:sp>
        <p:nvSpPr>
          <p:cNvPr id="5" name="Text Placeholder 4"/>
          <p:cNvSpPr>
            <a:spLocks noGrp="1"/>
          </p:cNvSpPr>
          <p:nvPr>
            <p:ph type="body" idx="52" sz="quarter"/>
          </p:nvPr>
        </p:nvSpPr>
        <p:spPr>
          <a:xfrm>
            <a:off x="17373600" y="16824960"/>
            <a:ext cx="17373600" cy="1097280"/>
          </a:xfrm>
        </p:spPr>
        <p:txBody>
          <a:bodyPr/>
          <a:lstStyle/>
          <a:p>
            <a:r>
              <a:t>Original website illustration: P = 4
Measured H3 configuration at left: P = 8</a:t>
            </a:r>
          </a:p>
        </p:txBody>
      </p:sp>
      <p:sp>
        <p:nvSpPr>
          <p:cNvPr id="6" name="Text Placeholder 5"/>
          <p:cNvSpPr>
            <a:spLocks noGrp="1"/>
          </p:cNvSpPr>
          <p:nvPr>
            <p:ph type="body" idx="51" sz="quarter"/>
          </p:nvPr>
        </p:nvSpPr>
        <p:spPr>
          <a:xfrm>
            <a:off x="17373600" y="16002000"/>
            <a:ext cx="17373600" cy="685800"/>
          </a:xfrm>
        </p:spPr>
        <p:txBody>
          <a:bodyPr/>
          <a:lstStyle/>
          <a:p>
            <a:r>
              <a:t>Sequence shards → head shards → sequence shards</a:t>
            </a:r>
          </a:p>
        </p:txBody>
      </p:sp>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retained scaling website · Ulysses illustration P=4 · H3 profile at left P=8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13</a:t>
            </a:fld>
            <a:endParaRPr lang="en-US"/>
          </a:p>
        </p:txBody>
      </p:sp>
      <p:pic>
        <p:nvPicPr>
          <p:cNvPr id="10" name="Original website Ulysses schematic — P=4 illustration" descr="Original website Ulysses schematic — P=4 illustration">
            <a:hlinkClick r:id="rId6"/>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373600" y="4310538"/>
            <a:ext cx="17373600" cy="11129962"/>
          </a:xfrm>
          <a:prstGeom prst="rect">
            <a:avLst/>
          </a:prstGeom>
          <a:ln w="9525">
            <a:solidFill>
              <a:srgbClr val="A7A7A7"/>
            </a:solidFill>
          </a:ln>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5943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14</a:t>
            </a:fld>
            <a:endParaRPr lang="en-US"/>
          </a:p>
        </p:txBody>
      </p:sp>
      <p:pic>
        <p:nvPicPr>
          <p:cNvPr id="9" name="Topology with one-way capacity model" descr="topology-bandwidth.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Matched eight-GPU Q/K/V/O exchanges · FI RDMA is 2.33–2.47× faster across three sequence lengths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15</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sp>
        <p:nvSpPr>
          <p:cNvPr id="7" name="Bandwidth bounds — native template text"/>
          <p:cNvSpPr>
            <a:spLocks noGrp="1"/>
          </p:cNvSpPr>
          <p:nvPr>
            <p:ph type="body" idx="20" sz="quarter"/>
          </p:nvPr>
        </p:nvSpPr>
        <p:spPr>
          <a:xfrm>
            <a:off x="1828800" y="5303520"/>
            <a:ext cx="15636240" cy="12435840"/>
          </a:xfrm>
        </p:spPr>
        <p:txBody>
          <a:bodyPr wrap="square" lIns="0" rIns="0" tIns="0" bIns="0"/>
          <a:lstStyle/>
          <a:p>
            <a:pPr algn="l"/>
            <a:r>
              <a:rPr b="1">
                <a:solidFill>
                  <a:srgbClr val="76B900"/>
                </a:solidFill>
                <a:latin typeface="NVIDIA Sans Medium"/>
              </a:rPr>
              <a:t>Local NCCL: one P2P peer, six SHM peers</a:t>
            </a:r>
          </a:p>
          <a:p>
            <a:pPr lvl="1" algn="l"/>
            <a:r>
              <a:rPr b="0">
                <a:solidFill>
                  <a:srgbClr val="313131"/>
                </a:solidFill>
                <a:latin typeface="NVIDIA Sans"/>
              </a:rPr>
              <a:t>Cross-subtree payload uses host memory</a:t>
            </a:r>
          </a:p>
          <a:p>
            <a:pPr lvl="1" algn="l"/>
            <a:r>
              <a:rPr b="0">
                <a:solidFill>
                  <a:srgbClr val="313131"/>
                </a:solidFill>
                <a:latin typeface="NVIDIA Sans"/>
              </a:rPr>
              <a:t>Two GPUs share one 63.0 GB/s uplink</a:t>
            </a:r>
          </a:p>
          <a:p>
            <a:pPr lvl="1" algn="l"/>
            <a:r>
              <a:rPr b="0">
                <a:solidFill>
                  <a:srgbClr val="313131"/>
                </a:solidFill>
                <a:latin typeface="NVIDIA Sans"/>
              </a:rPr>
              <a:t>2 × B × 6/7 ≤ 63.0  →  B ≤ 36.8 GB/s</a:t>
            </a:r>
          </a:p>
          <a:p>
            <a:pPr algn="l"/>
            <a:r>
              <a:rPr b="1">
                <a:solidFill>
                  <a:srgbClr val="76B900"/>
                </a:solidFill>
                <a:latin typeface="NVIDIA Sans Medium"/>
              </a:rPr>
              <a:t>Cross-NUMA: C = 256 GB/s (raw model)</a:t>
            </a:r>
          </a:p>
          <a:p>
            <a:pPr lvl="1" algn="l"/>
            <a:r>
              <a:rPr b="0">
                <a:solidFill>
                  <a:srgbClr val="313131"/>
                </a:solidFill>
                <a:latin typeface="NVIDIA Sans"/>
              </a:rPr>
              <a:t>4 × B × 4/7 ≤ 256 → B ≤ 112 GB/s</a:t>
            </a:r>
          </a:p>
          <a:p>
            <a:pPr lvl="1" algn="l"/>
            <a:r>
              <a:rPr b="0">
                <a:solidFill>
                  <a:srgbClr val="313131"/>
                </a:solidFill>
                <a:latin typeface="NVIDIA Sans"/>
              </a:rPr>
              <a:t>Local ceiling: min(36.8, 112) = 36.8</a:t>
            </a:r>
          </a:p>
          <a:p>
            <a:pPr algn="l"/>
            <a:r>
              <a:rPr b="1">
                <a:solidFill>
                  <a:srgbClr val="76B900"/>
                </a:solidFill>
                <a:latin typeface="NVIDIA Sans Medium"/>
              </a:rPr>
              <a:t>FI RDMA: one nearest 400G port per GPU</a:t>
            </a:r>
          </a:p>
          <a:p>
            <a:pPr lvl="1" algn="l"/>
            <a:r>
              <a:rPr b="0">
                <a:solidFill>
                  <a:srgbClr val="313131"/>
                </a:solidFill>
                <a:latin typeface="NVIDIA Sans"/>
              </a:rPr>
              <a:t>Bypasses host buffers and CPU-facing uplinks</a:t>
            </a:r>
          </a:p>
          <a:p>
            <a:pPr lvl="1" algn="l"/>
            <a:r>
              <a:rPr b="0">
                <a:solidFill>
                  <a:srgbClr val="313131"/>
                </a:solidFill>
                <a:latin typeface="NVIDIA Sans"/>
              </a:rPr>
              <a:t>B ≤ min(63.0, 128/2, 50) = 50 GB/s</a:t>
            </a:r>
          </a:p>
        </p:txBody>
      </p:sp>
      <p:sp>
        <p:nvSpPr>
          <p:cNvPr id="9" name="Bandwidth comparison scope"/>
          <p:cNvSpPr>
            <a:spLocks noGrp="1"/>
          </p:cNvSpPr>
          <p:nvPr>
            <p:ph type="body" idx="52" sz="quarter"/>
          </p:nvPr>
        </p:nvSpPr>
        <p:spPr>
          <a:xfrm>
            <a:off x="17922240" y="17190720"/>
            <a:ext cx="16824960" cy="1234440"/>
          </a:xfrm>
        </p:spPr>
        <p:txBody>
          <a:bodyPr/>
          <a:lstStyle/>
          <a:p>
            <a:r>
              <a:t>2.33–2.47× measured communication speedup
Includes layout, allocation and scheduling</a:t>
            </a:r>
          </a:p>
        </p:txBody>
      </p:sp>
      <p:sp>
        <p:nvSpPr>
          <p:cNvPr id="10" name="Bandwidth variable definitions"/>
          <p:cNvSpPr>
            <a:spLocks noGrp="1"/>
          </p:cNvSpPr>
          <p:nvPr>
            <p:ph type="body" idx="52" sz="quarter"/>
          </p:nvPr>
        </p:nvSpPr>
        <p:spPr>
          <a:xfrm>
            <a:off x="1828800" y="17465040"/>
            <a:ext cx="15636240" cy="1143000"/>
          </a:xfrm>
        </p:spPr>
        <p:txBody>
          <a:bodyPr/>
          <a:lstStyle/>
          <a:p>
            <a:r>
              <a:t>B: off-rank TX per GPU · C: raw xGMI model input
Necessary link bounds; effective capacity can be lower</a:t>
            </a:r>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922240" y="5224272"/>
            <a:ext cx="16824960" cy="11497056"/>
          </a:xfrm>
          <a:prstGeom prst="rect">
            <a:avLst/>
          </a:prstGeom>
          <a:ln w="9525">
            <a:solidFill>
              <a:srgbClr val="A7A7A7"/>
            </a:solidFill>
          </a:ln>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5577840"/>
            <a:ext cx="23042880" cy="11155680"/>
          </a:xfrm>
        </p:spPr>
        <p:txBody>
          <a:bodyPr wrap="none" lIns="0" rIns="0" tIns="0" bIns="0"/>
          <a:lstStyle/>
          <a:p>
            <a:pPr>
              <a:spcAft>
                <a:spcPts val="1800"/>
              </a:spcAft>
            </a:pPr>
            <a:r>
              <a:rPr sz="3800" b="0">
                <a:solidFill>
                  <a:srgbClr val="A7A7A7"/>
                </a:solidFill>
                <a:latin typeface="Roboto Mono"/>
              </a:rPr>
              <a:t># comm.py:44–62 · original Q/K/V branch</a:t>
            </a:r>
          </a:p>
          <a:p>
            <a:pPr>
              <a:spcAft>
                <a:spcPts val="1800"/>
              </a:spcAft>
            </a:pPr>
            <a:r>
              <a:rPr sz="3800" b="0">
                <a:solidFill>
                  <a:srgbClr val="313131"/>
                </a:solidFill>
                <a:latin typeface="Roboto Mono"/>
              </a:rPr>
              <a:t>input_t = (</a:t>
            </a:r>
          </a:p>
          <a:p>
            <a:pPr>
              <a:spcAft>
                <a:spcPts val="1800"/>
              </a:spcAft>
            </a:pPr>
            <a:r>
              <a:rPr sz="3800" b="0">
                <a:solidFill>
                  <a:srgbClr val="313131"/>
                </a:solidFill>
                <a:latin typeface="Roboto Mono"/>
              </a:rPr>
              <a:t>    input.reshape(bs, shard_seqlen,</a:t>
            </a:r>
          </a:p>
          <a:p>
            <a:pPr>
              <a:spcAft>
                <a:spcPts val="1800"/>
              </a:spcAft>
            </a:pPr>
            <a:r>
              <a:rPr sz="3800" b="0">
                <a:solidFill>
                  <a:srgbClr val="313131"/>
                </a:solidFill>
                <a:latin typeface="Roboto Mono"/>
              </a:rPr>
              <a:t>                  seq_world_size, shard_hc, hs)</a:t>
            </a:r>
          </a:p>
          <a:p>
            <a:pPr>
              <a:spcAft>
                <a:spcPts val="1800"/>
              </a:spcAft>
            </a:pPr>
            <a:r>
              <a:rPr sz="3800" b="0">
                <a:solidFill>
                  <a:srgbClr val="313131"/>
                </a:solidFill>
                <a:latin typeface="Roboto Mono"/>
              </a:rPr>
              <a:t>    .transpose(0, 2).contiguous()</a:t>
            </a:r>
          </a:p>
          <a:p>
            <a:pPr>
              <a:spcAft>
                <a:spcPts val="1800"/>
              </a:spcAft>
            </a:pPr>
            <a:r>
              <a:rPr sz="3800" b="0">
                <a:solidFill>
                  <a:srgbClr val="313131"/>
                </a:solidFill>
                <a:latin typeface="Roboto Mono"/>
              </a:rPr>
              <a:t>)</a:t>
            </a:r>
          </a:p>
          <a:p>
            <a:pPr>
              <a:spcAft>
                <a:spcPts val="1800"/>
              </a:spcAft>
            </a:pPr>
            <a:r>
              <a:rPr sz="3800" b="0">
                <a:solidFill>
                  <a:srgbClr val="313131"/>
                </a:solidFill>
                <a:latin typeface="Roboto Mono"/>
              </a:rPr>
              <a:t>output = torch.empty_like(input_t)</a:t>
            </a:r>
          </a:p>
          <a:p>
            <a:pPr>
              <a:spcAft>
                <a:spcPts val="1800"/>
              </a:spcAft>
            </a:pPr>
            <a:r>
              <a:rPr sz="3800" b="1">
                <a:solidFill>
                  <a:srgbClr val="76B900"/>
                </a:solidFill>
                <a:latin typeface="Roboto Mono"/>
              </a:rPr>
              <a:t>dist.all_to_all_single(output, input_t, group=group)</a:t>
            </a:r>
          </a:p>
          <a:p>
            <a:pPr>
              <a:spcAft>
                <a:spcPts val="1800"/>
              </a:spcAft>
            </a:pPr>
            <a:r>
              <a:rPr sz="3800" b="0">
                <a:solidFill>
                  <a:srgbClr val="313131"/>
                </a:solidFill>
                <a:latin typeface="Roboto Mono"/>
              </a:rPr>
              <a:t>output = output.reshape(seqlen, bs, shard_hc, hs)</a:t>
            </a:r>
          </a:p>
          <a:p>
            <a:pPr>
              <a:spcAft>
                <a:spcPts val="1800"/>
              </a:spcAft>
            </a:pPr>
            <a:r>
              <a:rPr sz="3800" b="0">
                <a:solidFill>
                  <a:srgbClr val="313131"/>
                </a:solidFill>
                <a:latin typeface="Roboto Mono"/>
              </a:rPr>
              <a:t>output = (output.transpose(0, 1).contiguous()</a:t>
            </a:r>
          </a:p>
          <a:p>
            <a:pPr>
              <a:spcAft>
                <a:spcPts val="1800"/>
              </a:spcAft>
            </a:pPr>
            <a:r>
              <a:rPr sz="3800" b="0">
                <a:solidFill>
                  <a:srgbClr val="313131"/>
                </a:solidFill>
                <a:latin typeface="Roboto Mono"/>
              </a:rPr>
              <a:t>          .reshape(bs, seqlen, shard_hc, hs))</a:t>
            </a:r>
          </a:p>
        </p:txBody>
      </p:sp>
      <p:sp>
        <p:nvSpPr>
          <p:cNvPr id="3" name="Text Placeholder 2"/>
          <p:cNvSpPr>
            <a:spLocks noGrp="1"/>
          </p:cNvSpPr>
          <p:nvPr>
            <p:ph type="body" idx="14" sz="quarter"/>
          </p:nvPr>
        </p:nvSpPr>
        <p:spPr/>
        <p:txBody>
          <a:bodyPr/>
          <a:lstStyle/>
          <a:p>
            <a:r>
              <a:t>Q/K/V: pack head shards → NCCL all-to-all → restore sequence layout</a:t>
            </a:r>
          </a:p>
        </p:txBody>
      </p:sp>
      <p:sp>
        <p:nvSpPr>
          <p:cNvPr id="4" name="Title 3"/>
          <p:cNvSpPr>
            <a:spLocks noGrp="1"/>
          </p:cNvSpPr>
          <p:nvPr>
            <p:ph type="title"/>
          </p:nvPr>
        </p:nvSpPr>
        <p:spPr/>
        <p:txBody>
          <a:bodyPr/>
          <a:lstStyle/>
          <a:p>
            <a:r>
              <a:t>Original vLLM-Omni Ulysses</a:t>
            </a:r>
          </a:p>
        </p:txBody>
      </p:sp>
      <p:sp>
        <p:nvSpPr>
          <p:cNvPr id="5" name="Original Ulysses source notes"/>
          <p:cNvSpPr>
            <a:spLocks noGrp="1"/>
          </p:cNvSpPr>
          <p:nvPr>
            <p:ph type="body" idx="20" sz="quarter"/>
          </p:nvPr>
        </p:nvSpPr>
        <p:spPr>
          <a:xfrm>
            <a:off x="25603200" y="5577840"/>
            <a:ext cx="9144000" cy="11887200"/>
          </a:xfrm>
        </p:spPr>
        <p:txBody>
          <a:bodyPr wrap="square" lIns="0" rIns="0" tIns="0" bIns="0"/>
          <a:lstStyle/>
          <a:p>
            <a:pPr algn="l"/>
            <a:r>
              <a:rPr b="1">
                <a:solidFill>
                  <a:srgbClr val="76B900"/>
                </a:solidFill>
                <a:latin typeface="NVIDIA Sans Medium"/>
              </a:rPr>
              <a:t>Four exchanges per dense block</a:t>
            </a:r>
          </a:p>
          <a:p>
            <a:pPr lvl="1" algn="l"/>
            <a:r>
              <a:rPr b="0">
                <a:solidFill>
                  <a:srgbClr val="313131"/>
                </a:solidFill>
                <a:latin typeface="NVIDIA Sans"/>
              </a:rPr>
              <a:t>Q / K / V: scatter heads</a:t>
            </a:r>
          </a:p>
          <a:p>
            <a:pPr lvl="1" algn="l"/>
            <a:r>
              <a:rPr b="0">
                <a:solidFill>
                  <a:srgbClr val="313131"/>
                </a:solidFill>
                <a:latin typeface="NVIDIA Sans"/>
              </a:rPr>
              <a:t>O: scatter sequence</a:t>
            </a:r>
          </a:p>
          <a:p>
            <a:pPr algn="l"/>
            <a:r>
              <a:rPr b="1">
                <a:solidFill>
                  <a:srgbClr val="76B900"/>
                </a:solidFill>
                <a:latin typeface="NVIDIA Sans Medium"/>
              </a:rPr>
              <a:t>NCCL selects the route</a:t>
            </a:r>
          </a:p>
          <a:p>
            <a:pPr lvl="1" algn="l"/>
            <a:r>
              <a:rPr b="0">
                <a:solidFill>
                  <a:srgbClr val="313131"/>
                </a:solidFill>
                <a:latin typeface="NVIDIA Sans"/>
              </a:rPr>
              <a:t>P2P / SHM / NET depend on topology and configuration</a:t>
            </a:r>
          </a:p>
          <a:p>
            <a:pPr algn="l"/>
            <a:r>
              <a:rPr b="1">
                <a:solidFill>
                  <a:srgbClr val="76B900"/>
                </a:solidFill>
                <a:latin typeface="NVIDIA Sans Medium"/>
              </a:rPr>
              <a:t>At batch = 1</a:t>
            </a:r>
          </a:p>
          <a:p>
            <a:pPr lvl="1" algn="l"/>
            <a:r>
              <a:rPr b="0">
                <a:solidFill>
                  <a:srgbClr val="313131"/>
                </a:solidFill>
                <a:latin typeface="NVIDIA Sans"/>
              </a:rPr>
              <a:t>Q/K/V output transpose is a view; contiguous() does not always copy</a:t>
            </a:r>
          </a:p>
        </p:txBody>
      </p:sp>
      <p:sp>
        <p:nvSpPr>
          <p:cNvPr id="6" name="Ulysses call-chain source"/>
          <p:cNvSpPr>
            <a:spLocks noGrp="1"/>
          </p:cNvSpPr>
          <p:nvPr>
            <p:ph type="body" idx="52" sz="quarter"/>
          </p:nvPr>
        </p:nvSpPr>
        <p:spPr>
          <a:xfrm>
            <a:off x="1828800" y="16916400"/>
            <a:ext cx="32918400" cy="1417320"/>
          </a:xfrm>
        </p:spPr>
        <p:txBody>
          <a:bodyPr/>
          <a:lstStyle/>
          <a:p>
            <a:r>
              <a:t>ulysses.py:538–547 → SeqAllToAll4D.forward → all_to_all_4D → PyTorch NCCL
O reverses the exchange at ulysses.py:721 · pinned source: 63487a7f22db</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Base50 checkout 63487a7f22db · comm.py:44–62 · line wrapping adjusted;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16</a:t>
            </a:fld>
            <a:endParaRPr lang="en-US"/>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Q/K first</a:t>
            </a:r>
          </a:p>
          <a:p>
            <a:pPr lvl="1" algn="l"/>
            <a:r>
              <a:rPr b="0">
                <a:solidFill>
                  <a:srgbClr val="313131"/>
                </a:solidFill>
                <a:latin typeface="NVIDIA Sans"/>
              </a:rPr>
              <a:t>V waits for an explicit CUDA event</a:t>
            </a:r>
          </a:p>
          <a:p>
            <a:pPr algn="l"/>
            <a:r>
              <a:rPr b="1">
                <a:solidFill>
                  <a:srgbClr val="76B900"/>
                </a:solidFill>
                <a:latin typeface="NVIDIA Sans Medium"/>
              </a:rPr>
              <a:t>Graph replay</a:t>
            </a:r>
          </a:p>
          <a:p>
            <a:pPr lvl="1" algn="l"/>
            <a:r>
              <a:rPr b="0">
                <a:solidFill>
                  <a:srgbClr val="313131"/>
                </a:solidFill>
                <a:latin typeface="NVIDIA Sans"/>
              </a:rPr>
              <a:t>Fixed-address unpack remains exact after the input changes</a:t>
            </a:r>
          </a:p>
          <a:p>
            <a:pPr algn="l"/>
            <a:r>
              <a:rPr b="1">
                <a:solidFill>
                  <a:srgbClr val="76B900"/>
                </a:solidFill>
                <a:latin typeface="NVIDIA Sans Medium"/>
              </a:rPr>
              <a:t>Tiled O return</a:t>
            </a:r>
          </a:p>
          <a:p>
            <a:pPr lvl="1" algn="l"/>
            <a:r>
              <a:rPr b="0">
                <a:solidFill>
                  <a:srgbClr val="313131"/>
                </a:solidFill>
                <a:latin typeface="NVIDIA Sans"/>
              </a:rPr>
              <a:t>Whole and row-chunk returns match byte for byte</a:t>
            </a:r>
          </a:p>
          <a:p>
            <a:pPr algn="l"/>
            <a:r>
              <a:rPr b="1">
                <a:solidFill>
                  <a:srgbClr val="313131"/>
                </a:solidFill>
                <a:latin typeface="NVIDIA Sans Medium"/>
              </a:rPr>
              <a:t>Eight-GPU acceptance gate</a:t>
            </a:r>
          </a:p>
          <a:p>
            <a:pPr lvl="1" algn="l"/>
            <a:r>
              <a:rPr b="0">
                <a:solidFill>
                  <a:srgbClr val="313131"/>
                </a:solidFill>
                <a:latin typeface="NVIDIA Sans"/>
              </a:rPr>
              <a:t>Full attention + W_O, end-to-end latency, memory, and Nsight overlap</a:t>
            </a:r>
          </a:p>
        </p:txBody>
      </p:sp>
      <p:sp>
        <p:nvSpPr>
          <p:cNvPr id="3" name="Text Placeholder 2"/>
          <p:cNvSpPr>
            <a:spLocks noGrp="1"/>
          </p:cNvSpPr>
          <p:nvPr>
            <p:ph type="body" idx="14" sz="quarter"/>
          </p:nvPr>
        </p:nvSpPr>
        <p:spPr>
          <a:xfrm>
            <a:off x="1828800" y="5806440"/>
            <a:ext cx="13716000" cy="1417320"/>
          </a:xfrm>
        </p:spPr>
        <p:txBody>
          <a:bodyPr/>
          <a:lstStyle/>
          <a:p>
            <a:r>
              <a:t>Separate candidate: transport checks passed on four GPUs</a:t>
            </a:r>
          </a:p>
        </p:txBody>
      </p:sp>
      <p:sp>
        <p:nvSpPr>
          <p:cNvPr id="4" name="Title 3"/>
          <p:cNvSpPr>
            <a:spLocks noGrp="1"/>
          </p:cNvSpPr>
          <p:nvPr>
            <p:ph type="title"/>
          </p:nvPr>
        </p:nvSpPr>
        <p:spPr>
          <a:xfrm>
            <a:off x="1828800" y="1828800"/>
            <a:ext cx="13716000" cy="3840480"/>
          </a:xfrm>
        </p:spPr>
        <p:txBody>
          <a:bodyPr/>
          <a:lstStyle/>
          <a:p>
            <a:r>
              <a:t>Q/K-First RDMA: Validation</a:t>
            </a:r>
          </a:p>
        </p:txBody>
      </p:sp>
      <p:sp>
        <p:nvSpPr>
          <p:cNvPr id="5" name="Text Placeholder 4"/>
          <p:cNvSpPr>
            <a:spLocks noGrp="1"/>
          </p:cNvSpPr>
          <p:nvPr>
            <p:ph type="body" idx="52" sz="quarter"/>
          </p:nvPr>
        </p:nvSpPr>
        <p:spPr/>
        <p:txBody>
          <a:bodyPr/>
          <a:lstStyle/>
          <a:p>
            <a:r>
              <a:t>24 configs × 4 ranks · 8-GPU H3 candidate pending</a:t>
            </a:r>
          </a:p>
        </p:txBody>
      </p:sp>
      <p:sp>
        <p:nvSpPr>
          <p:cNvPr id="6" name="Text Placeholder 5"/>
          <p:cNvSpPr>
            <a:spLocks noGrp="1"/>
          </p:cNvSpPr>
          <p:nvPr>
            <p:ph type="body" idx="51" sz="quarter"/>
          </p:nvPr>
        </p:nvSpPr>
        <p:spPr/>
        <p:txBody>
          <a:bodyPr/>
          <a:lstStyle/>
          <a:p>
            <a:r>
              <a:t>Four-GPU Real RDMA · 96 of 96 Rank Cases Exact</a:t>
            </a:r>
          </a:p>
        </p:txBody>
      </p:sp>
      <p:pic>
        <p:nvPicPr>
          <p:cNvPr id="7" name="Picture Placeholder 6" descr="rdma-overlap-timelin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Measured evidence: real-rdma-four-gpu-20261024-v2 · 2026-10-24 · candidate correctness precheck; latency and overlap not measured</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17</a:t>
            </a:fld>
            <a:endParaRPr lang="en-US"/>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5303520"/>
            <a:ext cx="15727680" cy="12801600"/>
          </a:xfrm>
        </p:spPr>
        <p:txBody>
          <a:bodyPr wrap="square" lIns="0" rIns="0" tIns="0" bIns="0"/>
          <a:lstStyle/>
          <a:p>
            <a:pPr algn="l"/>
            <a:r>
              <a:rPr b="1">
                <a:solidFill>
                  <a:srgbClr val="76B900"/>
                </a:solidFill>
                <a:latin typeface="NVIDIA Sans Medium"/>
              </a:rPr>
              <a:t>Measured benefit</a:t>
            </a:r>
          </a:p>
          <a:p>
            <a:pPr lvl="1" algn="l"/>
            <a:r>
              <a:rPr b="0">
                <a:solidFill>
                  <a:srgbClr val="313131"/>
                </a:solidFill>
                <a:latin typeface="NVIDIA Sans"/>
              </a:rPr>
              <a:t>2.33–2.47× faster Q/K/V/O exchanges</a:t>
            </a:r>
          </a:p>
          <a:p>
            <a:pPr lvl="1" algn="l"/>
            <a:r>
              <a:rPr b="0">
                <a:solidFill>
                  <a:srgbClr val="313131"/>
                </a:solidFill>
                <a:latin typeface="NVIDIA Sans"/>
              </a:rPr>
              <a:t>17.0–18.3 → 39.9–42.7 GB/s/GPU</a:t>
            </a:r>
          </a:p>
          <a:p>
            <a:pPr lvl="1" algn="l"/>
            <a:r>
              <a:rPr b="0">
                <a:solidFill>
                  <a:srgbClr val="313131"/>
                </a:solidFill>
                <a:latin typeface="NVIDIA Sans"/>
              </a:rPr>
              <a:t>Three sequence lengths; exact output checks</a:t>
            </a:r>
          </a:p>
          <a:p>
            <a:pPr algn="l"/>
            <a:r>
              <a:rPr b="1">
                <a:solidFill>
                  <a:srgbClr val="76B900"/>
                </a:solidFill>
                <a:latin typeface="NVIDIA Sans Medium"/>
              </a:rPr>
              <a:t>Topology explains the opportunity</a:t>
            </a:r>
          </a:p>
          <a:p>
            <a:pPr lvl="1" algn="l"/>
            <a:r>
              <a:rPr b="0">
                <a:solidFill>
                  <a:srgbClr val="313131"/>
                </a:solidFill>
                <a:latin typeface="NVIDIA Sans"/>
              </a:rPr>
              <a:t>Local NCCL: one P2P peer, six SHM peers</a:t>
            </a:r>
          </a:p>
          <a:p>
            <a:pPr lvl="1" algn="l"/>
            <a:r>
              <a:rPr b="0">
                <a:solidFill>
                  <a:srgbClr val="313131"/>
                </a:solidFill>
                <a:latin typeface="NVIDIA Sans"/>
              </a:rPr>
              <a:t>FI RDMA: one nearest 400G port per GPU</a:t>
            </a:r>
          </a:p>
          <a:p>
            <a:pPr lvl="1" algn="l"/>
            <a:r>
              <a:rPr b="0">
                <a:solidFill>
                  <a:srgbClr val="313131"/>
                </a:solidFill>
                <a:latin typeface="NVIDIA Sans"/>
              </a:rPr>
              <a:t>Payload bypasses shared CPU uplinks and host buffers</a:t>
            </a:r>
          </a:p>
        </p:txBody>
      </p:sp>
      <p:sp>
        <p:nvSpPr>
          <p:cNvPr id="3" name="Text Placeholder 2"/>
          <p:cNvSpPr>
            <a:spLocks noGrp="1"/>
          </p:cNvSpPr>
          <p:nvPr>
            <p:ph type="body" idx="14" sz="quarter"/>
          </p:nvPr>
        </p:nvSpPr>
        <p:spPr/>
        <p:txBody>
          <a:bodyPr/>
          <a:lstStyle/>
          <a:p>
            <a:r>
              <a:t>Use GPU-affine FI RDMA for the tested eight-GPU configuration</a:t>
            </a:r>
          </a:p>
        </p:txBody>
      </p:sp>
      <p:sp>
        <p:nvSpPr>
          <p:cNvPr id="4" name="Title 3"/>
          <p:cNvSpPr>
            <a:spLocks noGrp="1"/>
          </p:cNvSpPr>
          <p:nvPr>
            <p:ph type="title"/>
          </p:nvPr>
        </p:nvSpPr>
        <p:spPr/>
        <p:txBody>
          <a:bodyPr/>
          <a:lstStyle/>
          <a:p>
            <a:r>
              <a:t>Ulysses Communication: Conclusion</a:t>
            </a:r>
          </a:p>
        </p:txBody>
      </p:sp>
      <p:sp>
        <p:nvSpPr>
          <p:cNvPr id="5" name="Communication interpretation and next step"/>
          <p:cNvSpPr>
            <a:spLocks noGrp="1"/>
          </p:cNvSpPr>
          <p:nvPr>
            <p:ph type="body" idx="13" sz="quarter"/>
          </p:nvPr>
        </p:nvSpPr>
        <p:spPr>
          <a:xfrm>
            <a:off x="19202400" y="5303520"/>
            <a:ext cx="15544800" cy="12801600"/>
          </a:xfrm>
        </p:spPr>
        <p:txBody>
          <a:bodyPr wrap="square" lIns="0" rIns="0" tIns="0" bIns="0"/>
          <a:lstStyle/>
          <a:p>
            <a:pPr algn="l"/>
            <a:r>
              <a:rPr b="1">
                <a:solidFill>
                  <a:srgbClr val="76B900"/>
                </a:solidFill>
                <a:latin typeface="NVIDIA Sans Medium"/>
              </a:rPr>
              <a:t>Interpret the capacity model</a:t>
            </a:r>
          </a:p>
          <a:p>
            <a:pPr lvl="1" algn="l"/>
            <a:r>
              <a:rPr b="0">
                <a:solidFill>
                  <a:srgbClr val="313131"/>
                </a:solidFill>
                <a:latin typeface="NVIDIA Sans"/>
              </a:rPr>
              <a:t>With C = 256 GB/s, the 36.8 GB/s shared-uplink bound is tighter than 112 GB/s xGMI</a:t>
            </a:r>
          </a:p>
          <a:p>
            <a:pPr algn="l"/>
            <a:r>
              <a:rPr b="1">
                <a:solidFill>
                  <a:srgbClr val="76B900"/>
                </a:solidFill>
                <a:latin typeface="NVIDIA Sans Medium"/>
              </a:rPr>
              <a:t>Measured costs still matter</a:t>
            </a:r>
          </a:p>
          <a:p>
            <a:pPr lvl="1" algn="l"/>
            <a:r>
              <a:rPr b="0">
                <a:solidFill>
                  <a:srgbClr val="313131"/>
                </a:solidFill>
                <a:latin typeface="NVIDIA Sans"/>
              </a:rPr>
              <a:t>SHM, layout and scheduling prevent saturation; raw capacity does not explain every loss</a:t>
            </a:r>
          </a:p>
          <a:p>
            <a:pPr algn="l"/>
            <a:r>
              <a:rPr b="1">
                <a:solidFill>
                  <a:srgbClr val="76B900"/>
                </a:solidFill>
                <a:latin typeface="NVIDIA Sans Medium"/>
              </a:rPr>
              <a:t>Next: hide exposed communication</a:t>
            </a:r>
          </a:p>
          <a:p>
            <a:pPr lvl="1" algn="l"/>
            <a:r>
              <a:rPr b="0">
                <a:solidFill>
                  <a:srgbClr val="313131"/>
                </a:solidFill>
                <a:latin typeface="NVIDIA Sans"/>
              </a:rPr>
              <a:t>Pipeline head bands, then capture stable compute with CUDA Graph</a:t>
            </a:r>
          </a:p>
        </p:txBody>
      </p:sp>
      <p:sp>
        <p:nvSpPr>
          <p:cNvPr id="6"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Controlled local-NCCL comparison · communication speedup only · full-model benefit requires matched E2E validation</a:t>
            </a:r>
            <a:endParaRPr lang="en-US" dirty="0"/>
          </a:p>
        </p:txBody>
      </p:sp>
      <p:sp>
        <p:nvSpPr>
          <p:cNvPr id="7"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18</a:t>
            </a:fld>
            <a:endParaRPr lang="en-US"/>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Only Base50 uses the locked 960×544, 124-frame request; each optimized result uses a different workload</a:t>
            </a:r>
          </a:p>
        </p:txBody>
      </p:sp>
      <p:sp>
        <p:nvSpPr>
          <p:cNvPr id="3" name="Title 2"/>
          <p:cNvSpPr>
            <a:spLocks noGrp="1"/>
          </p:cNvSpPr>
          <p:nvPr>
            <p:ph type="title"/>
          </p:nvPr>
        </p:nvSpPr>
        <p:spPr/>
        <p:txBody>
          <a:bodyPr/>
          <a:lstStyle/>
          <a:p>
            <a:r>
              <a:t>Real-Time Demonstrated; Attribution Pending</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23</a:t>
            </a:fld>
            <a:endParaRPr lang="en-US"/>
          </a:p>
        </p:txBody>
      </p:sp>
      <p:graphicFrame>
        <p:nvGraphicFramePr>
          <p:cNvPr id="5" name="Official NVIDIA Results Evidenc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73"/>
        </p:xfrm>
        <a:graphic>
          <a:graphicData uri="http://schemas.openxmlformats.org/drawingml/2006/table">
            <a:tbl>
              <a:tblPr>
                <a:tableStyleId>{68D230F3-CF80-4859-8CE7-A43EE81993B5}</a:tableStyleId>
              </a:tblPr>
              <a:tblGrid>
                <a:gridCol w="457200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8686800">
                  <a:extLst>
                    <a:ext uri="{9D8B030D-6E8A-4147-A177-3AD203B41FA5}">
                      <a16:colId xmlns:a16="http://schemas.microsoft.com/office/drawing/2014/main" val="3872581152"/>
                    </a:ext>
                  </a:extLst>
                </a:gridCol>
                <a:gridCol w="6781921">
                  <a:extLst>
                    <a:ext uri="{9D8B030D-6E8A-4147-A177-3AD203B41FA5}">
                      <a16:colId xmlns:a16="http://schemas.microsoft.com/office/drawing/2014/main" val="254391404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Status</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Workload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System</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Result / Limit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baseline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124f · 5.167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Base50 · BF16 · USP8 · NCCL</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247.956 s · RTF 47.992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15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362f · 15.083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QAD · VSA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14.974 s mean · RTF 0.993</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10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243f · 10.125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Turbo · MXFP8 · 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6.958 s · RTF 0.687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Portrait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576×1024 · 119 new frames · 4.958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MXFP8 · Sage · FP4 VAE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4.459 s median · RTF 0.899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921337">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Required matched test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Lock image, audio, prompt, seed, shape, and request mode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VSA → QAD/Sage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At least 3 runs per stage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Sources: [A] Base50 r4 · [B] QAD 15 s cohort · [C] paired 10 s study · [D] portrait production · compare only within a row; timing and memory methods differ</a:t>
            </a:r>
            <a:endParaRPr lang="en-US"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02 · ComfyUI Apps
With vLLM-Omni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Open PR #9194 adds character replacement, continuation-aware references, and chainable LoRA controls</a:t>
            </a:r>
          </a:p>
        </p:txBody>
      </p:sp>
      <p:sp>
        <p:nvSpPr>
          <p:cNvPr id="3" name="Title 2"/>
          <p:cNvSpPr>
            <a:spLocks noGrp="1"/>
          </p:cNvSpPr>
          <p:nvPr>
            <p:ph type="title"/>
          </p:nvPr>
        </p:nvSpPr>
        <p:spPr/>
        <p:txBody>
          <a:bodyPr/>
          <a:lstStyle/>
          <a:p>
            <a:r>
              <a:t>vLLM-Omni Brings Multi-GPU H3 to ComfyUI</a:t>
            </a:r>
          </a:p>
        </p:txBody>
      </p:sp>
      <p:sp>
        <p:nvSpPr>
          <p:cNvPr id="4" name="Text Placeholder 3"/>
          <p:cNvSpPr>
            <a:spLocks noGrp="1"/>
          </p:cNvSpPr>
          <p:nvPr>
            <p:ph type="body" idx="52" sz="quarter"/>
          </p:nvPr>
        </p:nvSpPr>
        <p:spPr/>
        <p:txBody>
          <a:bodyPr/>
          <a:lstStyle/>
          <a:p>
            <a:r>
              <a:t>ComfyUI authors the workflow; vLLM-Omni runs scheduling, model execution, and multi-GPU deployment</a:t>
            </a:r>
          </a:p>
        </p:txBody>
      </p:sp>
      <p:sp>
        <p:nvSpPr>
          <p:cNvPr id="5" name="Text Placeholder 4"/>
          <p:cNvSpPr>
            <a:spLocks noGrp="1"/>
          </p:cNvSpPr>
          <p:nvPr>
            <p:ph type="body" idx="51" sz="quarter"/>
          </p:nvPr>
        </p:nvSpPr>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The workflow supports single- and multi-character replacement, source-derived duration, long-video continuation, and LoRA controls</a:t>
            </a:r>
          </a:p>
        </p:txBody>
      </p:sp>
      <p:sp>
        <p:nvSpPr>
          <p:cNvPr id="8" name="Text Placeholder 7"/>
          <p:cNvSpPr>
            <a:spLocks noGrp="1"/>
          </p:cNvSpPr>
          <p:nvPr>
            <p:ph type="body" idx="55" sz="quarter"/>
          </p:nvPr>
        </p:nvSpPr>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vLLM-Omni v0.26 public deck, slide 22 · vLLM-Omni PR #9194 (open)</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25</a:t>
            </a:fld>
            <a:endParaRPr lang="en-US"/>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Faster transfers leave a dependency bubble when all heads move as one group</a:t>
            </a:r>
          </a:p>
        </p:txBody>
      </p:sp>
      <p:sp>
        <p:nvSpPr>
          <p:cNvPr id="4" name="Title 3"/>
          <p:cNvSpPr>
            <a:spLocks noGrp="1"/>
          </p:cNvSpPr>
          <p:nvPr>
            <p:ph type="title"/>
          </p:nvPr>
        </p:nvSpPr>
        <p:spPr/>
        <p:txBody>
          <a:bodyPr/>
          <a:lstStyle/>
          <a:p>
            <a:r>
              <a:t>RDMA Still Leaves Ulysses Waiting</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Nsight Systems 2025.3.2 · retained FI RDMA baseline · 8 × RTX PRO 5000 · 960 × 544 · 362 frames · 8 steps</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19</a:t>
            </a:fld>
            <a:endParaRPr lang="en-US"/>
          </a:p>
        </p:txBody>
      </p:sp>
      <p:pic>
        <p:nvPicPr>
          <p:cNvPr id="7" name="Actual Nsight Systems RDMA baseline" descr="nsys-rdma-baseline.png"/>
          <p:cNvPicPr>
            <a:picLocks noChangeAspect="1"/>
          </p:cNvPicPr>
          <p:nvPr/>
        </p:nvPicPr>
        <p:blipFill>
          <a:blip r:embed="rId3"/>
          <a:stretch>
            <a:fillRect/>
          </a:stretch>
        </p:blipFill>
        <p:spPr>
          <a:xfrm>
            <a:off x="2145650" y="5303520"/>
            <a:ext cx="22226299" cy="10698480"/>
          </a:xfrm>
          <a:prstGeom prst="rect">
            <a:avLst/>
          </a:prstGeom>
          <a:ln w="9525">
            <a:solidFill>
              <a:srgbClr val="A7A7A7"/>
            </a:solidFill>
          </a:ln>
        </p:spPr>
      </p:pic>
      <p:sp>
        <p:nvSpPr>
          <p:cNvPr id="8" name="Annotation: exposed communication waits"/>
          <p:cNvSpPr/>
          <p:nvPr/>
        </p:nvSpPr>
        <p:spPr>
          <a:xfrm>
            <a:off x="10853714" y="6530942"/>
            <a:ext cx="3433465" cy="2421671"/>
          </a:xfrm>
          <a:prstGeom prst="rect">
            <a:avLst/>
          </a:prstGeom>
          <a:noFill/>
          <a:ln w="9525">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y bubbles remain"/>
          <p:cNvSpPr txBox="1"/>
          <p:nvPr/>
        </p:nvSpPr>
        <p:spPr>
          <a:xfrm>
            <a:off x="25786080" y="5486400"/>
            <a:ext cx="8961120" cy="1005840"/>
          </a:xfrm>
          <a:prstGeom prst="rect">
            <a:avLst/>
          </a:prstGeom>
          <a:noFill/>
        </p:spPr>
        <p:txBody>
          <a:bodyPr wrap="square" lIns="0" rIns="0" tIns="0" bIns="0">
            <a:spAutoFit/>
          </a:bodyPr>
          <a:lstStyle/>
          <a:p>
            <a:pPr algn="l">
              <a:lnSpc>
                <a:spcPct val="108000"/>
              </a:lnSpc>
              <a:spcBef>
                <a:spcPts val="0"/>
              </a:spcBef>
              <a:spcAft>
                <a:spcPts val="1200"/>
              </a:spcAft>
            </a:pPr>
            <a:r>
              <a:rPr sz="4000" b="1">
                <a:solidFill>
                  <a:srgbClr val="76B900"/>
                </a:solidFill>
                <a:latin typeface="NVIDIA Sans Medium"/>
              </a:rPr>
              <a:t>Why bubbles remain</a:t>
            </a:r>
          </a:p>
        </p:txBody>
      </p:sp>
      <p:sp>
        <p:nvSpPr>
          <p:cNvPr id="10" name="Attention waits for complete Q/K/V."/>
          <p:cNvSpPr txBox="1"/>
          <p:nvPr/>
        </p:nvSpPr>
        <p:spPr>
          <a:xfrm>
            <a:off x="25786080" y="6858000"/>
            <a:ext cx="8961120" cy="3657600"/>
          </a:xfrm>
          <a:prstGeom prst="rect">
            <a:avLst/>
          </a:prstGeom>
          <a:noFill/>
        </p:spPr>
        <p:txBody>
          <a:bodyPr wrap="square" lIns="0" rIns="0" tIns="0" bIns="0">
            <a:spAutoFit/>
          </a:bodyPr>
          <a:lstStyle/>
          <a:p>
            <a:pPr algn="l">
              <a:lnSpc>
                <a:spcPct val="108000"/>
              </a:lnSpc>
              <a:spcBef>
                <a:spcPts val="0"/>
              </a:spcBef>
              <a:spcAft>
                <a:spcPts val="1200"/>
              </a:spcAft>
            </a:pPr>
            <a:r>
              <a:rPr sz="3600" b="0">
                <a:solidFill>
                  <a:srgbClr val="313131"/>
                </a:solidFill>
                <a:latin typeface="NVIDIA Sans"/>
              </a:rPr>
              <a:t>Attention waits for complete Q/K/V.</a:t>
            </a:r>
          </a:p>
          <a:p>
            <a:pPr algn="l">
              <a:lnSpc>
                <a:spcPct val="108000"/>
              </a:lnSpc>
              <a:spcBef>
                <a:spcPts val="0"/>
              </a:spcBef>
              <a:spcAft>
                <a:spcPts val="1200"/>
              </a:spcAft>
            </a:pPr>
            <a:r>
              <a:rPr sz="3600" b="0">
                <a:solidFill>
                  <a:srgbClr val="313131"/>
                </a:solidFill>
                <a:latin typeface="NVIDIA Sans"/>
              </a:rPr>
              <a:t>Output projection waits for the returned O.</a:t>
            </a:r>
          </a:p>
        </p:txBody>
      </p:sp>
      <p:sp>
        <p:nvSpPr>
          <p:cNvPr id="11" name="3.24 s / GPU"/>
          <p:cNvSpPr txBox="1"/>
          <p:nvPr/>
        </p:nvSpPr>
        <p:spPr>
          <a:xfrm>
            <a:off x="25786080" y="11338560"/>
            <a:ext cx="8961120" cy="1097280"/>
          </a:xfrm>
          <a:prstGeom prst="rect">
            <a:avLst/>
          </a:prstGeom>
          <a:noFill/>
        </p:spPr>
        <p:txBody>
          <a:bodyPr wrap="square" lIns="0" rIns="0" tIns="0" bIns="0">
            <a:spAutoFit/>
          </a:bodyPr>
          <a:lstStyle/>
          <a:p>
            <a:pPr algn="l">
              <a:lnSpc>
                <a:spcPct val="108000"/>
              </a:lnSpc>
              <a:spcBef>
                <a:spcPts val="0"/>
              </a:spcBef>
              <a:spcAft>
                <a:spcPts val="1200"/>
              </a:spcAft>
            </a:pPr>
            <a:r>
              <a:rPr sz="4800" b="1">
                <a:solidFill>
                  <a:srgbClr val="76B900"/>
                </a:solidFill>
                <a:latin typeface="NVIDIA Sans Medium"/>
              </a:rPr>
              <a:t>3.24 s / GPU</a:t>
            </a:r>
          </a:p>
        </p:txBody>
      </p:sp>
      <p:sp>
        <p:nvSpPr>
          <p:cNvPr id="12" name="Exposed transport phase"/>
          <p:cNvSpPr txBox="1"/>
          <p:nvPr/>
        </p:nvSpPr>
        <p:spPr>
          <a:xfrm>
            <a:off x="25786080" y="12710160"/>
            <a:ext cx="8961120" cy="2377440"/>
          </a:xfrm>
          <a:prstGeom prst="rect">
            <a:avLst/>
          </a:prstGeom>
          <a:noFill/>
        </p:spPr>
        <p:txBody>
          <a:bodyPr wrap="square" lIns="0" rIns="0" tIns="0" bIns="0">
            <a:spAutoFit/>
          </a:bodyPr>
          <a:lstStyle/>
          <a:p>
            <a:pPr algn="l">
              <a:lnSpc>
                <a:spcPct val="108000"/>
              </a:lnSpc>
              <a:spcBef>
                <a:spcPts val="0"/>
              </a:spcBef>
              <a:spcAft>
                <a:spcPts val="1200"/>
              </a:spcAft>
            </a:pPr>
            <a:r>
              <a:rPr sz="3200" b="0">
                <a:solidFill>
                  <a:srgbClr val="313131"/>
                </a:solidFill>
                <a:latin typeface="NVIDIA Sans"/>
              </a:rPr>
              <a:t>Exposed transport phase</a:t>
            </a:r>
          </a:p>
          <a:p>
            <a:pPr algn="l">
              <a:lnSpc>
                <a:spcPct val="108000"/>
              </a:lnSpc>
              <a:spcBef>
                <a:spcPts val="0"/>
              </a:spcBef>
              <a:spcAft>
                <a:spcPts val="1200"/>
              </a:spcAft>
            </a:pPr>
            <a:r>
              <a:rPr sz="3200" b="0">
                <a:solidFill>
                  <a:srgbClr val="313131"/>
                </a:solidFill>
                <a:latin typeface="NVIDIA Sans"/>
              </a:rPr>
              <a:t>8-GPU mean, full DiT trace</a:t>
            </a:r>
          </a:p>
        </p:txBody>
      </p:sp>
      <p:sp>
        <p:nvSpPr>
          <p:cNvPr id="13" name="Compute-lane gaps overlap communication phases; NIC work need not appear as a CUDA kernel."/>
          <p:cNvSpPr txBox="1"/>
          <p:nvPr/>
        </p:nvSpPr>
        <p:spPr>
          <a:xfrm>
            <a:off x="1828800" y="16550640"/>
            <a:ext cx="32918400" cy="91440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313131"/>
                </a:solidFill>
                <a:latin typeface="NVIDIA Sans Medium"/>
              </a:rPr>
              <a:t>Compute-lane gaps overlap communication phases; NIC work need not appear as a CUDA kernel.</a:t>
            </a:r>
          </a:p>
        </p:txBody>
      </p:sp>
      <p:sp>
        <p:nvSpPr>
          <p:cNvPr id="14" name="Transport phase includes host posting / CQ polling / flush. This is a profiled baseline, not a 2/3/2 result."/>
          <p:cNvSpPr txBox="1"/>
          <p:nvPr/>
        </p:nvSpPr>
        <p:spPr>
          <a:xfrm>
            <a:off x="1828800" y="17830800"/>
            <a:ext cx="32918400" cy="91440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Transport phase includes host posting / CQ polling / flush. This is a profiled baseline, not a 2/3/2 result.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2 → 3 → 2 heads per GPU to overlap communication and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20</a:t>
            </a:fld>
            <a:endParaRPr lang="en-US"/>
          </a:p>
        </p:txBody>
      </p:sp>
      <p:pic>
        <p:nvPicPr>
          <p:cNvPr id="7" name="Three-band Ulysses dependency schedule" descr="head-pipeline-232.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28800" y="5326380"/>
            <a:ext cx="32918400" cy="11109959"/>
          </a:xfrm>
          <a:prstGeom prst="rect">
            <a:avLst/>
          </a:prstGeom>
          <a:ln w="9525">
            <a:solidFill>
              <a:srgbClr val="A7A7A7"/>
            </a:solidFill>
          </a:ln>
        </p:spPr>
      </p:pic>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Then reduce launch cost</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Repeated small compute islands motivate CUDA Graph replay.</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