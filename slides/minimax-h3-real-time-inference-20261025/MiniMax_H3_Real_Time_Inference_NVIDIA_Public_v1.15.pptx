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trained BF16 model. Apply the quantization recipe to create a student whose forward pass simulates the rounding and clipping it will see at inference. The same training sample also goes through the frozen BF16 teacher. A distillation loss measures the difference between teacher and student outputs, and gradients update only the student through the straight-through estimator. QAD is therefore a quality-recovery training method; it does not add work to the deployed inference graph. The public FastH3 Omni NVFP4-QAD checkpoint uses eight transformer forwards and packed NVFP4 transformer linears, while calibrated sensitive modules remain in BF16. The separate local Sage-VSA path quantizes selected fine-attention math to Q/K INT8 and V FP8, but the current Ulysses exchange still carries BF16 tensors. Do not combine the public checkpoint and the separate Sage path into one measured speedup until they pass a matched run. Figure source: https://developer.nvidia.com/blog/how-quantization-aware-training-enables-low-precision-accuracy-recovery/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page explains the Ulysses tensor transform; this page shows the physical roads underneath it. The five Q, K, V, gate and output slots cross the topology in each measured VSA-enabled DiT block. The retained host has two NUMA sockets and four two-GPU PCIe islands. P0 contains GPUs 0 and 1, P1 contains GPUs 2 and 3, P2 contains GPUs 4 and 5, and P3 contains GPUs 6 and 7. From any GPU, one remote peer shares its PCIe subtree and is classified PXB, two peers sit behind the other subtree on the same NUMA socket and are classified NODE, and four peers sit across the CPU-to-CPU path and are classified SYS. Ulysses uses equal peer chunks, so the logical off-rank split is 1/7 PXB, 2/7 NODE and 4/7 SYS. Therefore 57.1 percent of minimum one-way off-rank logical payload is cross-socket. This is a topology and logical-payload statement; it is not a captured split of NCCL wire bytes, route residency, or elapsed time. The nearest-NIC mapping is GPU0 to mlx5_2, GPU1 to mlx5_3, GPU2 to mlx5_0, GPU3 to mlx5_1, GPU4 to mlx5_6, GPU5 to mlx5_7, GPU6 to mlx5_4 and GPU7 to mlx5_5. Each retained ConnectX-8 port was active at 400 Gb/s. The editable diagram shows hardware containment and path classes; it does not assert that the local NCCL control transported every byte over a single physical route family. Code anchors: pipeline_minimax_h3.py lines 648 and 886-887; pipeline_minimax_h3.py line 3539; denoise_loop.py lines 3-7 and the single model call beginning at line 404.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PTQ is not enough</a:t>
            </a:r>
          </a:p>
          <a:p>
            <a:pPr lvl="1" algn="l"/>
            <a:r>
              <a:rPr b="0">
                <a:solidFill>
                  <a:srgbClr val="313131"/>
                </a:solidFill>
                <a:latin typeface="NVIDIA Sans"/>
              </a:rPr>
              <a:t>Four-bit rounding can move the model away from its BF16 output</a:t>
            </a:r>
          </a:p>
          <a:p>
            <a:pPr algn="l"/>
            <a:r>
              <a:rPr b="1">
                <a:solidFill>
                  <a:srgbClr val="76B900"/>
                </a:solidFill>
                <a:latin typeface="NVIDIA Sans Medium"/>
              </a:rPr>
              <a:t>Same sample, two paths</a:t>
            </a:r>
          </a:p>
          <a:p>
            <a:pPr lvl="1" algn="l"/>
            <a:r>
              <a:rPr b="0">
                <a:solidFill>
                  <a:srgbClr val="313131"/>
                </a:solidFill>
                <a:latin typeface="NVIDIA Sans"/>
              </a:rPr>
              <a:t>The teacher stays frozen; the student sees deployment quantization noise</a:t>
            </a:r>
          </a:p>
          <a:p>
            <a:pPr algn="l"/>
            <a:r>
              <a:rPr b="1">
                <a:solidFill>
                  <a:srgbClr val="76B900"/>
                </a:solidFill>
                <a:latin typeface="NVIDIA Sans Medium"/>
              </a:rPr>
              <a:t>Only the student learns</a:t>
            </a:r>
          </a:p>
          <a:p>
            <a:pPr lvl="1" algn="l"/>
            <a:r>
              <a:rPr b="0">
                <a:solidFill>
                  <a:srgbClr val="313131"/>
                </a:solidFill>
                <a:latin typeface="NVIDIA Sans"/>
              </a:rPr>
              <a:t>Distillation + STE update the student; the teacher disappears at inference</a:t>
            </a:r>
          </a:p>
          <a:p>
            <a:pPr algn="l"/>
            <a:r>
              <a:rPr b="1">
                <a:solidFill>
                  <a:srgbClr val="313131"/>
                </a:solidFill>
                <a:latin typeface="NVIDIA Sans Medium"/>
              </a:rPr>
              <a:t>Mixed precision by design</a:t>
            </a:r>
          </a:p>
          <a:p>
            <a:pPr lvl="1" algn="l"/>
            <a:r>
              <a:rPr b="0">
                <a:solidFill>
                  <a:srgbClr val="313131"/>
                </a:solidFill>
                <a:latin typeface="NVIDIA Sans"/>
              </a:rPr>
              <a:t>High-throughput linears use NVFP4; sensitive surrounding math stays BF16</a:t>
            </a:r>
          </a:p>
        </p:txBody>
      </p:sp>
      <p:sp>
        <p:nvSpPr>
          <p:cNvPr id="3" name="Text Placeholder 2"/>
          <p:cNvSpPr>
            <a:spLocks noGrp="1"/>
          </p:cNvSpPr>
          <p:nvPr>
            <p:ph type="body" idx="14" sz="quarter"/>
          </p:nvPr>
        </p:nvSpPr>
        <p:spPr>
          <a:xfrm>
            <a:off x="1828800" y="5806440"/>
            <a:ext cx="13716000" cy="1417320"/>
          </a:xfrm>
        </p:spPr>
        <p:txBody>
          <a:bodyPr/>
          <a:lstStyle/>
          <a:p>
            <a:r>
              <a:t>QAD trains the deployed NVFP4 path against a frozen BF16 teacher</a:t>
            </a:r>
          </a:p>
        </p:txBody>
      </p:sp>
      <p:sp>
        <p:nvSpPr>
          <p:cNvPr id="4" name="Title 3"/>
          <p:cNvSpPr>
            <a:spLocks noGrp="1"/>
          </p:cNvSpPr>
          <p:nvPr>
            <p:ph type="title"/>
          </p:nvPr>
        </p:nvSpPr>
        <p:spPr>
          <a:xfrm>
            <a:off x="1828800" y="1828800"/>
            <a:ext cx="13716000" cy="3840480"/>
          </a:xfrm>
        </p:spPr>
        <p:txBody>
          <a:bodyPr/>
          <a:lstStyle/>
          <a:p>
            <a:r>
              <a:t>Quantization</a:t>
            </a:r>
          </a:p>
        </p:txBody>
      </p:sp>
      <p:sp>
        <p:nvSpPr>
          <p:cNvPr id="5" name="Text Placeholder 4"/>
          <p:cNvSpPr>
            <a:spLocks noGrp="1"/>
          </p:cNvSpPr>
          <p:nvPr>
            <p:ph type="body" idx="52" sz="quarter"/>
          </p:nvPr>
        </p:nvSpPr>
        <p:spPr/>
        <p:txBody>
          <a:bodyPr/>
          <a:lstStyle/>
          <a:p>
            <a:r>
              <a:t>Concept: L_QAD = D(y_BF16, y_NVFP4) · the teacher disappears at inference</a:t>
            </a:r>
          </a:p>
        </p:txBody>
      </p:sp>
      <p:sp>
        <p:nvSpPr>
          <p:cNvPr id="6" name="Text Placeholder 5"/>
          <p:cNvSpPr>
            <a:spLocks noGrp="1"/>
          </p:cNvSpPr>
          <p:nvPr>
            <p:ph type="body" idx="51" sz="quarter"/>
          </p:nvPr>
        </p:nvSpPr>
        <p:spPr/>
        <p:txBody>
          <a:bodyPr/>
          <a:lstStyle/>
          <a:p>
            <a:r>
              <a:t>Teacher Guides; NVFP4 Student Learns</a:t>
            </a:r>
          </a:p>
        </p:txBody>
      </p:sp>
      <p:pic>
        <p:nvPicPr>
          <p:cNvPr id="7" name="Picture Placeholder 6" descr="nvidia_qad_loss_flow_figure5_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Model Optimizer QAD workflow, NVIDIA Technical Blog, Fig. 5 (2025) · FastH3 Omni NVFP4-QAD rev 0087718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USP8 turns every attention block into four synchronized all-to-all exchanges</a:t>
            </a:r>
          </a:p>
        </p:txBody>
      </p:sp>
      <p:sp>
        <p:nvSpPr>
          <p:cNvPr id="3" name="Title 2"/>
          <p:cNvSpPr>
            <a:spLocks noGrp="1"/>
          </p:cNvSpPr>
          <p:nvPr>
            <p:ph type="title"/>
          </p:nvPr>
        </p:nvSpPr>
        <p:spPr/>
        <p:txBody>
          <a:bodyPr/>
          <a:lstStyle/>
          <a:p>
            <a:r>
              <a:t>Communication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Four PCIe islands</a:t>
            </a:r>
          </a:p>
          <a:p>
            <a:pPr lvl="1" algn="l"/>
            <a:r>
              <a:rPr b="0">
                <a:solidFill>
                  <a:srgbClr val="313131"/>
                </a:solidFill>
                <a:latin typeface="NVIDIA Sans"/>
              </a:rPr>
              <a:t>Each island holds two GPUs and two nearest 400-Gb/s CX-8 ports</a:t>
            </a:r>
          </a:p>
          <a:p>
            <a:pPr algn="l"/>
            <a:r>
              <a:rPr b="1">
                <a:solidFill>
                  <a:srgbClr val="76B900"/>
                </a:solidFill>
                <a:latin typeface="NVIDIA Sans Medium"/>
              </a:rPr>
              <a:t>Three kinds of peer path</a:t>
            </a:r>
          </a:p>
          <a:p>
            <a:pPr lvl="1" algn="l"/>
            <a:r>
              <a:rPr b="0">
                <a:solidFill>
                  <a:srgbClr val="313131"/>
                </a:solidFill>
                <a:latin typeface="NVIDIA Sans"/>
              </a:rPr>
              <a:t>From one rank: 1 PXB, 2 NODE, and 4 SYS peers</a:t>
            </a:r>
          </a:p>
          <a:p>
            <a:pPr algn="l"/>
            <a:r>
              <a:rPr b="1">
                <a:solidFill>
                  <a:srgbClr val="76B900"/>
                </a:solidFill>
                <a:latin typeface="NVIDIA Sans Medium"/>
              </a:rPr>
              <a:t>Most peers cross sockets</a:t>
            </a:r>
          </a:p>
          <a:p>
            <a:pPr lvl="1" algn="l"/>
            <a:r>
              <a:rPr b="0">
                <a:solidFill>
                  <a:srgbClr val="313131"/>
                </a:solidFill>
                <a:latin typeface="NVIDIA Sans"/>
              </a:rPr>
              <a:t>Four of seven off-rank peers use the SYS path</a:t>
            </a:r>
          </a:p>
          <a:p>
            <a:pPr algn="l"/>
            <a:r>
              <a:rPr b="1">
                <a:solidFill>
                  <a:srgbClr val="76B900"/>
                </a:solidFill>
                <a:latin typeface="NVIDIA Sans Medium"/>
              </a:rPr>
              <a:t>Why the baseline is uneven</a:t>
            </a:r>
          </a:p>
          <a:p>
            <a:pPr lvl="1" algn="l"/>
            <a:r>
              <a:rPr b="0">
                <a:solidFill>
                  <a:srgbClr val="313131"/>
                </a:solidFill>
                <a:latin typeface="NVIDIA Sans"/>
              </a:rPr>
              <a:t>IB is disabled, so local NCCL follows these host paths</a:t>
            </a:r>
          </a:p>
        </p:txBody>
      </p:sp>
      <p:sp>
        <p:nvSpPr>
          <p:cNvPr id="3" name="Text Placeholder 2"/>
          <p:cNvSpPr>
            <a:spLocks noGrp="1"/>
          </p:cNvSpPr>
          <p:nvPr>
            <p:ph type="body" idx="14" sz="quarter"/>
          </p:nvPr>
        </p:nvSpPr>
        <p:spPr>
          <a:xfrm>
            <a:off x="1828800" y="5806440"/>
            <a:ext cx="13716000" cy="1417320"/>
          </a:xfrm>
        </p:spPr>
        <p:txBody>
          <a:bodyPr/>
          <a:lstStyle/>
          <a:p>
            <a:r>
              <a:t>The exchange is balanced in bytes; the host paths are not</a:t>
            </a:r>
          </a:p>
        </p:txBody>
      </p:sp>
      <p:sp>
        <p:nvSpPr>
          <p:cNvPr id="4" name="Title 3"/>
          <p:cNvSpPr>
            <a:spLocks noGrp="1"/>
          </p:cNvSpPr>
          <p:nvPr>
            <p:ph type="title"/>
          </p:nvPr>
        </p:nvSpPr>
        <p:spPr>
          <a:xfrm>
            <a:off x="1828800" y="1828800"/>
            <a:ext cx="13716000" cy="3840480"/>
          </a:xfrm>
        </p:spPr>
        <p:txBody>
          <a:bodyPr/>
          <a:lstStyle/>
          <a:p>
            <a:r>
              <a:t>USP Communication</a:t>
            </a:r>
          </a:p>
        </p:txBody>
      </p:sp>
      <p:sp>
        <p:nvSpPr>
          <p:cNvPr id="5" name="Text Placeholder 4"/>
          <p:cNvSpPr>
            <a:spLocks noGrp="1"/>
          </p:cNvSpPr>
          <p:nvPr>
            <p:ph type="body" idx="52" sz="quarter"/>
          </p:nvPr>
        </p:nvSpPr>
        <p:spPr/>
        <p:txBody>
          <a:bodyPr/>
          <a:lstStyle/>
          <a:p>
            <a:r>
              <a:t>The math is balanced. The roads are not.</a:t>
            </a:r>
          </a:p>
        </p:txBody>
      </p:sp>
      <p:sp>
        <p:nvSpPr>
          <p:cNvPr id="6" name="Text Placeholder 5"/>
          <p:cNvSpPr>
            <a:spLocks noGrp="1"/>
          </p:cNvSpPr>
          <p:nvPr>
            <p:ph type="body" idx="51" sz="quarter"/>
          </p:nvPr>
        </p:nvSpPr>
        <p:spPr/>
        <p:txBody>
          <a:bodyPr/>
          <a:lstStyle/>
          <a:p>
            <a:r>
              <a:t>Eight GPUs · Four PCIe Islands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MiniMaxH3Pipeline and denoise-loop code audit · retained nvidia-smi topo -m · 8 nearest 400-Gb/s CX-8 ports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
        <p:nvSpPr>
          <p:cNvPr id="10" name="Rectangle 9"/>
          <p:cNvSpPr/>
          <p:nvPr/>
        </p:nvSpPr>
        <p:spPr>
          <a:xfrm>
            <a:off x="19705320" y="1920240"/>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0" y="2066544"/>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0 · CPU 0</a:t>
            </a:r>
          </a:p>
        </p:txBody>
      </p:sp>
      <p:sp>
        <p:nvSpPr>
          <p:cNvPr id="12" name="Rectangle 11"/>
          <p:cNvSpPr/>
          <p:nvPr/>
        </p:nvSpPr>
        <p:spPr>
          <a:xfrm>
            <a:off x="2002536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7772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705320" y="8183879"/>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25360" y="8330183"/>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1 · CPU 1</a:t>
            </a:r>
          </a:p>
        </p:txBody>
      </p:sp>
      <p:sp>
        <p:nvSpPr>
          <p:cNvPr id="16" name="Rectangle 15"/>
          <p:cNvSpPr/>
          <p:nvPr/>
        </p:nvSpPr>
        <p:spPr>
          <a:xfrm>
            <a:off x="2002536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7772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21602700" y="393649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60270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21458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055060" y="393649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5506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66939"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91919" y="393649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602700" y="1020013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60270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21458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055060" y="1020013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05506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666939"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91919" y="1020013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134820" y="7589520"/>
            <a:ext cx="0" cy="594359"/>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226527"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P0</a:t>
            </a:r>
          </a:p>
        </p:txBody>
      </p:sp>
      <p:sp>
        <p:nvSpPr>
          <p:cNvPr id="34" name="Rounded Rectangle 33"/>
          <p:cNvSpPr/>
          <p:nvPr/>
        </p:nvSpPr>
        <p:spPr>
          <a:xfrm>
            <a:off x="2029968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48256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0</a:t>
            </a:r>
          </a:p>
        </p:txBody>
      </p:sp>
      <p:sp>
        <p:nvSpPr>
          <p:cNvPr id="36" name="Rounded Rectangle 35"/>
          <p:cNvSpPr/>
          <p:nvPr/>
        </p:nvSpPr>
        <p:spPr>
          <a:xfrm>
            <a:off x="2029968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48256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mlx5_2</a:t>
            </a:r>
          </a:p>
        </p:txBody>
      </p:sp>
      <p:sp>
        <p:nvSpPr>
          <p:cNvPr id="38" name="Rounded Rectangle 37"/>
          <p:cNvSpPr/>
          <p:nvPr/>
        </p:nvSpPr>
        <p:spPr>
          <a:xfrm>
            <a:off x="2391156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094439"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1</a:t>
            </a:r>
          </a:p>
        </p:txBody>
      </p:sp>
      <p:sp>
        <p:nvSpPr>
          <p:cNvPr id="40" name="Rounded Rectangle 39"/>
          <p:cNvSpPr/>
          <p:nvPr/>
        </p:nvSpPr>
        <p:spPr>
          <a:xfrm>
            <a:off x="2391156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94439"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mlx5_3</a:t>
            </a:r>
          </a:p>
        </p:txBody>
      </p:sp>
      <p:sp>
        <p:nvSpPr>
          <p:cNvPr id="42" name="TextBox 41"/>
          <p:cNvSpPr txBox="1"/>
          <p:nvPr/>
        </p:nvSpPr>
        <p:spPr>
          <a:xfrm>
            <a:off x="27678888"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P1</a:t>
            </a:r>
          </a:p>
        </p:txBody>
      </p:sp>
      <p:sp>
        <p:nvSpPr>
          <p:cNvPr id="43" name="Rounded Rectangle 42"/>
          <p:cNvSpPr/>
          <p:nvPr/>
        </p:nvSpPr>
        <p:spPr>
          <a:xfrm>
            <a:off x="2775204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3492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2</a:t>
            </a:r>
          </a:p>
        </p:txBody>
      </p:sp>
      <p:sp>
        <p:nvSpPr>
          <p:cNvPr id="45" name="Rounded Rectangle 44"/>
          <p:cNvSpPr/>
          <p:nvPr/>
        </p:nvSpPr>
        <p:spPr>
          <a:xfrm>
            <a:off x="2775204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93492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mlx5_0</a:t>
            </a:r>
          </a:p>
        </p:txBody>
      </p:sp>
      <p:sp>
        <p:nvSpPr>
          <p:cNvPr id="47" name="Rounded Rectangle 46"/>
          <p:cNvSpPr/>
          <p:nvPr/>
        </p:nvSpPr>
        <p:spPr>
          <a:xfrm>
            <a:off x="31363919"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54680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3</a:t>
            </a:r>
          </a:p>
        </p:txBody>
      </p:sp>
      <p:sp>
        <p:nvSpPr>
          <p:cNvPr id="49" name="Rounded Rectangle 48"/>
          <p:cNvSpPr/>
          <p:nvPr/>
        </p:nvSpPr>
        <p:spPr>
          <a:xfrm>
            <a:off x="31363919"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54680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mlx5_1</a:t>
            </a:r>
          </a:p>
        </p:txBody>
      </p:sp>
      <p:sp>
        <p:nvSpPr>
          <p:cNvPr id="51" name="TextBox 50"/>
          <p:cNvSpPr txBox="1"/>
          <p:nvPr/>
        </p:nvSpPr>
        <p:spPr>
          <a:xfrm>
            <a:off x="20226527"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P2</a:t>
            </a:r>
          </a:p>
        </p:txBody>
      </p:sp>
      <p:sp>
        <p:nvSpPr>
          <p:cNvPr id="52" name="Rounded Rectangle 51"/>
          <p:cNvSpPr/>
          <p:nvPr/>
        </p:nvSpPr>
        <p:spPr>
          <a:xfrm>
            <a:off x="2029968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48256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4</a:t>
            </a:r>
          </a:p>
        </p:txBody>
      </p:sp>
      <p:sp>
        <p:nvSpPr>
          <p:cNvPr id="54" name="Rounded Rectangle 53"/>
          <p:cNvSpPr/>
          <p:nvPr/>
        </p:nvSpPr>
        <p:spPr>
          <a:xfrm>
            <a:off x="2029968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48256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mlx5_6</a:t>
            </a:r>
          </a:p>
        </p:txBody>
      </p:sp>
      <p:sp>
        <p:nvSpPr>
          <p:cNvPr id="56" name="Rounded Rectangle 55"/>
          <p:cNvSpPr/>
          <p:nvPr/>
        </p:nvSpPr>
        <p:spPr>
          <a:xfrm>
            <a:off x="2391156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094439"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5</a:t>
            </a:r>
          </a:p>
        </p:txBody>
      </p:sp>
      <p:sp>
        <p:nvSpPr>
          <p:cNvPr id="58" name="Rounded Rectangle 57"/>
          <p:cNvSpPr/>
          <p:nvPr/>
        </p:nvSpPr>
        <p:spPr>
          <a:xfrm>
            <a:off x="2391156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094439"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mlx5_7</a:t>
            </a:r>
          </a:p>
        </p:txBody>
      </p:sp>
      <p:sp>
        <p:nvSpPr>
          <p:cNvPr id="60" name="TextBox 59"/>
          <p:cNvSpPr txBox="1"/>
          <p:nvPr/>
        </p:nvSpPr>
        <p:spPr>
          <a:xfrm>
            <a:off x="27678888"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P3</a:t>
            </a:r>
          </a:p>
        </p:txBody>
      </p:sp>
      <p:sp>
        <p:nvSpPr>
          <p:cNvPr id="61" name="Rounded Rectangle 60"/>
          <p:cNvSpPr/>
          <p:nvPr/>
        </p:nvSpPr>
        <p:spPr>
          <a:xfrm>
            <a:off x="2775204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3492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6</a:t>
            </a:r>
          </a:p>
        </p:txBody>
      </p:sp>
      <p:sp>
        <p:nvSpPr>
          <p:cNvPr id="63" name="Rounded Rectangle 62"/>
          <p:cNvSpPr/>
          <p:nvPr/>
        </p:nvSpPr>
        <p:spPr>
          <a:xfrm>
            <a:off x="2775204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3492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mlx5_4</a:t>
            </a:r>
          </a:p>
        </p:txBody>
      </p:sp>
      <p:sp>
        <p:nvSpPr>
          <p:cNvPr id="65" name="Rounded Rectangle 64"/>
          <p:cNvSpPr/>
          <p:nvPr/>
        </p:nvSpPr>
        <p:spPr>
          <a:xfrm>
            <a:off x="31363919"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54680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7</a:t>
            </a:r>
          </a:p>
        </p:txBody>
      </p:sp>
      <p:sp>
        <p:nvSpPr>
          <p:cNvPr id="67" name="Rounded Rectangle 66"/>
          <p:cNvSpPr/>
          <p:nvPr/>
        </p:nvSpPr>
        <p:spPr>
          <a:xfrm>
            <a:off x="31363919"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mlx5_5</a:t>
            </a:r>
          </a:p>
        </p:txBody>
      </p:sp>
      <p:cxnSp>
        <p:nvCxnSpPr>
          <p:cNvPr id="69" name="Connector 68"/>
          <p:cNvCxnSpPr/>
          <p:nvPr/>
        </p:nvCxnSpPr>
        <p:spPr>
          <a:xfrm>
            <a:off x="19842480" y="14593824"/>
            <a:ext cx="54864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05374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76B900"/>
                </a:solidFill>
                <a:latin typeface="NVIDIA Sans Medium"/>
              </a:rPr>
              <a:t>PXB · 1/7 peer</a:t>
            </a:r>
          </a:p>
        </p:txBody>
      </p:sp>
      <p:cxnSp>
        <p:nvCxnSpPr>
          <p:cNvPr id="71" name="Connector 70"/>
          <p:cNvCxnSpPr/>
          <p:nvPr/>
        </p:nvCxnSpPr>
        <p:spPr>
          <a:xfrm>
            <a:off x="24277320" y="14593824"/>
            <a:ext cx="548640"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97226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0074DF"/>
                </a:solidFill>
                <a:latin typeface="NVIDIA Sans Medium"/>
              </a:rPr>
              <a:t>NODE · 2/7 peers</a:t>
            </a:r>
          </a:p>
        </p:txBody>
      </p:sp>
      <p:cxnSp>
        <p:nvCxnSpPr>
          <p:cNvPr id="73" name="Connector 72"/>
          <p:cNvCxnSpPr/>
          <p:nvPr/>
        </p:nvCxnSpPr>
        <p:spPr>
          <a:xfrm>
            <a:off x="29215080" y="14593824"/>
            <a:ext cx="548639" cy="0"/>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9100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EF9100"/>
                </a:solidFill>
                <a:latin typeface="NVIDIA Sans Medium"/>
              </a:rPr>
              <a:t>SYS · 4/7 peers · 57.1%</a:t>
            </a:r>
          </a:p>
        </p:txBody>
      </p:sp>
      <p:cxnSp>
        <p:nvCxnSpPr>
          <p:cNvPr id="75" name="Connector 74"/>
          <p:cNvCxnSpPr/>
          <p:nvPr/>
        </p:nvCxnSpPr>
        <p:spPr>
          <a:xfrm>
            <a:off x="19842480" y="15288767"/>
            <a:ext cx="548640" cy="0"/>
          </a:xfrm>
          <a:prstGeom prst="line">
            <a:avLst/>
          </a:prstGeom>
          <a:ln w="38100">
            <a:solidFill>
              <a:srgbClr val="1DBBA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537424" y="15060167"/>
            <a:ext cx="13624560" cy="512064"/>
          </a:xfrm>
          <a:prstGeom prst="rect">
            <a:avLst/>
          </a:prstGeom>
          <a:noFill/>
        </p:spPr>
        <p:txBody>
          <a:bodyPr wrap="square" anchor="t" lIns="0" rIns="0" tIns="0" bIns="0">
            <a:spAutoFit/>
          </a:bodyPr>
          <a:lstStyle/>
          <a:p>
            <a:pPr algn="l">
              <a:spcBef>
                <a:spcPts val="0"/>
              </a:spcBef>
              <a:spcAft>
                <a:spcPts val="0"/>
              </a:spcAft>
              <a:buNone/>
            </a:pPr>
            <a:r>
              <a:rPr sz="2000" b="1" i="0">
                <a:solidFill>
                  <a:srgbClr val="1DBBA4"/>
                </a:solidFill>
                <a:latin typeface="NVIDIA Sans Medium"/>
              </a:rPr>
              <a:t>Nearest-NIC GPUDirect RDMA · assigned 400-Gb/s CX-8 port per GPU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