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89" r:id="rId59"/>
    <p:sldId id="390" r:id="rId60"/>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2" r:id="rId42"/>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30" Type="http://schemas.openxmlformats.org/officeDocument/2006/relationships/slide" Target="slides/slide44.xml"/><Relationship Id="rId31" Type="http://schemas.openxmlformats.org/officeDocument/2006/relationships/slide" Target="slides/slide43.xml"/><Relationship Id="rId32" Type="http://schemas.openxmlformats.org/officeDocument/2006/relationships/slide" Target="slides/slide42.xml"/><Relationship Id="rId33" Type="http://schemas.openxmlformats.org/officeDocument/2006/relationships/slide" Target="slides/slide15.xml"/><Relationship Id="rId34" Type="http://schemas.openxmlformats.org/officeDocument/2006/relationships/slide" Target="slides/slide14.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5.xml"/><Relationship Id="rId38" Type="http://schemas.openxmlformats.org/officeDocument/2006/relationships/slide" Target="slides/slide34.xml"/><Relationship Id="rId39" Type="http://schemas.openxmlformats.org/officeDocument/2006/relationships/slide" Target="slides/slide32.xml"/><Relationship Id="rId40" Type="http://schemas.openxmlformats.org/officeDocument/2006/relationships/slide" Target="slides/slide20.xml"/><Relationship Id="rId41" Type="http://schemas.openxmlformats.org/officeDocument/2006/relationships/slide" Target="slides/slide40.xml"/><Relationship Id="rId42" Type="http://schemas.openxmlformats.org/officeDocument/2006/relationships/slide" Target="slides/slide38.xml"/><Relationship Id="rId43" Type="http://schemas.openxmlformats.org/officeDocument/2006/relationships/slide" Target="slides/slide39.xml"/><Relationship Id="rId44" Type="http://schemas.openxmlformats.org/officeDocument/2006/relationships/slide" Target="slides/slide37.xml"/><Relationship Id="rId45" Type="http://schemas.openxmlformats.org/officeDocument/2006/relationships/slide" Target="slides/slide29.xml"/><Relationship Id="rId46" Type="http://schemas.openxmlformats.org/officeDocument/2006/relationships/slide" Target="slides/slide33.xml"/><Relationship Id="rId47" Type="http://schemas.openxmlformats.org/officeDocument/2006/relationships/slide" Target="slides/slide25.xml"/><Relationship Id="rId48" Type="http://schemas.openxmlformats.org/officeDocument/2006/relationships/slide" Target="slides/slide24.xml"/><Relationship Id="rId49" Type="http://schemas.openxmlformats.org/officeDocument/2006/relationships/slide" Target="slides/slide31.xml"/><Relationship Id="rId50" Type="http://schemas.openxmlformats.org/officeDocument/2006/relationships/slide" Target="slides/slide2.xml"/><Relationship Id="rId51" Type="http://schemas.openxmlformats.org/officeDocument/2006/relationships/slide" Target="slides/slide30.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1.xml"/><Relationship Id="rId60" Type="http://schemas.openxmlformats.org/officeDocument/2006/relationships/slide" Target="slides/slide12.xml"/><Relationship Id="rId61" Type="http://schemas.openxmlformats.org/officeDocument/2006/relationships/slide" Target="slides/slide16.xml"/><Relationship Id="rId62" Type="http://schemas.openxmlformats.org/officeDocument/2006/relationships/slide" Target="slides/slide13.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7.xml"/><Relationship Id="rId85" Type="http://schemas.openxmlformats.org/officeDocument/2006/relationships/slide" Target="slides/slide18.xml"/><Relationship Id="rId86" Type="http://schemas.openxmlformats.org/officeDocument/2006/relationships/slide" Target="slides/slide19.xml"/><Relationship Id="rId87" Type="http://schemas.openxmlformats.org/officeDocument/2006/relationships/slide" Target="slides/slide21.xml"/><Relationship Id="rId89" Type="http://schemas.openxmlformats.org/officeDocument/2006/relationships/slide" Target="slides/slide22.xml"/><Relationship Id="rId90" Type="http://schemas.openxmlformats.org/officeDocument/2006/relationships/slide" Target="slides/slide23.xml"/><Relationship Id="rId95" Type="http://schemas.openxmlformats.org/officeDocument/2006/relationships/slide" Target="slides/slide26.xml"/><Relationship Id="rId96" Type="http://schemas.openxmlformats.org/officeDocument/2006/relationships/slide" Target="slides/slide27.xml"/><Relationship Id="rId97" Type="http://schemas.openxmlformats.org/officeDocument/2006/relationships/slide" Target="slides/slide28.xml"/><Relationship Id="rId99" Type="http://schemas.openxmlformats.org/officeDocument/2006/relationships/slide" Target="slides/slide36.xml"/><Relationship Id="rId102" Type="http://schemas.openxmlformats.org/officeDocument/2006/relationships/slide" Target="slides/slide41.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explains the actual rolling demo implementation as a schematic, not a new benchmark or a guarantee of seamless long-term quality.</a:t>
            </a:r>
          </a:p>
          <a:p>
            <a:r>
              <a:t>Each request generates 124 frames at 24 FPS. Window starts are 0, 119, 238. The first request emits all 124 frames. Subsequent requests remove five overlapping frames and corresponding decoded audio, yielding 119 new frames.</a:t>
            </a:r>
          </a:p>
          <a:p>
            <a:r>
              <a:t>The previous completed request retains only its last two video latent slices and an aligned audio latent tail. These are appended to existing visual/audio conditioning for the next request.</a:t>
            </a:r>
          </a:p>
          <a:p>
            <a:r>
              <a:t>The reference image and voice remain inputs. The next prompt may contain a new English reply or quiet listening instructions.</a:t>
            </a:r>
          </a:p>
          <a:p>
            <a:r>
              <a:t>In the interactive demo the video guide mixes 80 percent retained history and 20 percent seeded noise. The audio guide stays clean. Target video and audio prefix clamping are off.</a:t>
            </a:r>
          </a:p>
          <a:p>
            <a:r>
              <a:t>Cumulative AV positions continue across windows. Audio overlap uses rounded cumulative boundaries, resulting in eight or nine latent tokens; the slide simplifies this as matching audio.</a:t>
            </a:r>
          </a:p>
          <a:p>
            <a:r>
              <a:t>New state is committed only after successful MP4 generation. The diagram is fixed-size state handoff across requests; the runtime does not retain the whole video.</a:t>
            </a:r>
          </a:p>
          <a:p>
            <a:r>
              <a:t>The interaction example stays on slide 17. The recorded demonstration follows on slide 19.</a:t>
            </a:r>
          </a:p>
          <a:p>
            <a:r>
              <a:t>Updated visual: actual last frame of request 0 and actual first retained frame of request 1 from the same validated interactive-demo session. The right image is already overlap-trimmed; it is not a raw generated prefix. Media ordinal 0 has 124 frames, ordinal 1 has 119 emitted frames. The timeline illustrates removal of the five-frame overlapping start, with aligned audio trimming. Static frames do not establish seamless motion or guarantee long-term quality. See continuation-frames.json for extraction provenance.</a:t>
            </a:r>
          </a:p>
          <a:p/>
          <a:p>
            <a:r>
              <a:t>Presentation emphasis: Explain the experience-level purpose first: each window should feel like part of one conversation. The images and timeline show context reuse and overlap trimming. This does not establish indefinitely stable generation or eliminate all seams.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Creator handoff, about 45 seconds. The official ComfyUI extension sends inference requests to a local or remote vLLM-Omni service. ComfyUI does not load H3 weights in these workflows. On upstream main 08177216af4b44cef54ec5bdc75c265a9f0cd697, the extension contains image/video generation, multimodal understanding, TTS/voice cloning, music, restoration and H3 reference/editing/guide nodes. This slide selects three high-level points rather than claiming every model supports every node. H3 all-in-one includes T2VA, first/last-frame FL2VA and mixed-reference Ref2VA; it does not include a prompt LLM. API/model support bounds the UI. The official screenshot is an existing illustrative graph, not a new test or a recommended H3 benchmark configuration. No ComfyUI inference was run for this deck. Sources: https://github.com/vllm-project/vllm-omni/tree/08177216af4b44cef54ec5bdc75c265a9f0cd697/apps/ComfyUI-vLLM-Omni ; https://docs.vllm.ai/projects/vllm-omni/en/latest/features/comfyui/ ; https://github.com/vllm-project/vllm-omni/blob/08177216af4b44cef54ec5bdc75c265a9f0cd697/apps/ComfyUI-vLLM-Omni/docs/h3-06-all-in-one.md</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everyone to build the vLLM-Omni ecosystem: contribute model integrations, performance improvements, creator workflows, tests and documentation. The entire final slide is copied visually from the presenter's saved public deck, vLLM-Omni Slides (Public) 2026-04 latest (1).pptx, source slide 45, author metadata liuhongsheng, SHA256 1f457b63851bf0bd1d9a3cb8a1b8d7765b8507a1ae83a29f20df62ca405d8b72. Original content, logos, community links and QR codes are retained. The copied page is a full-slide image to preserve the original design in the NVIDIA deck; the individual source page is also retained as official-closing-source.pptx. No claim is made that historical QR invitations are current. Current canonical community information: https://github.com/vllm-project/vllm-omni#join-the-community ; https://slack.vllm.ai/ (#sig-omni).</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conversation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11</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12</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a:r>
              <a:t>Visual workflows, powered by a local or remote model service.</a:t>
            </a:r>
          </a:p>
        </p:txBody>
      </p:sp>
      <p:sp>
        <p:nvSpPr>
          <p:cNvPr id="4" name="Title 3"/>
          <p:cNvSpPr>
            <a:spLocks noGrp="1"/>
          </p:cNvSpPr>
          <p:nvPr>
            <p:ph type="title"/>
          </p:nvPr>
        </p:nvSpPr>
        <p:spPr/>
        <p:txBody>
          <a:bodyPr/>
          <a:lstStyle/>
          <a:p>
            <a:r>
              <a:rPr sz="8800"/>
              <a:t>vLLM-Omni for Creators — ComfyUI</a:t>
            </a:r>
          </a:p>
        </p:txBody>
      </p:sp>
      <p:pic>
        <p:nvPicPr>
          <p:cNvPr id="5" name="Official ComfyUI video workflow screenshot" descr="comfyui-video-generation.jpg"/>
          <p:cNvPicPr>
            <a:picLocks noChangeAspect="1"/>
          </p:cNvPicPr>
          <p:nvPr/>
        </p:nvPicPr>
        <p:blipFill>
          <a:blip r:embed="rId2"/>
          <a:stretch>
            <a:fillRect/>
          </a:stretch>
        </p:blipFill>
        <p:spPr>
          <a:xfrm>
            <a:off x="1828800" y="5303520"/>
            <a:ext cx="16966346" cy="12618720"/>
          </a:xfrm>
          <a:prstGeom prst="rect">
            <a:avLst/>
          </a:prstGeom>
        </p:spPr>
      </p:pic>
      <p:sp>
        <p:nvSpPr>
          <p:cNvPr id="6" name="Comfy availability"/>
          <p:cNvSpPr txBox="1"/>
          <p:nvPr/>
        </p:nvSpPr>
        <p:spPr>
          <a:xfrm>
            <a:off x="21031200" y="5669280"/>
            <a:ext cx="137160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AVAILABLE ON MAIN</a:t>
            </a:r>
          </a:p>
        </p:txBody>
      </p:sp>
      <p:sp>
        <p:nvSpPr>
          <p:cNvPr id="7" name="Comfy capability 0"/>
          <p:cNvSpPr txBox="1"/>
          <p:nvPr/>
        </p:nvSpPr>
        <p:spPr>
          <a:xfrm>
            <a:off x="21031200" y="7498079"/>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Compose visually</a:t>
            </a:r>
          </a:p>
        </p:txBody>
      </p:sp>
      <p:sp>
        <p:nvSpPr>
          <p:cNvPr id="8" name="Comfy explanation 0"/>
          <p:cNvSpPr txBox="1"/>
          <p:nvPr/>
        </p:nvSpPr>
        <p:spPr>
          <a:xfrm>
            <a:off x="21031200" y="877824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Image, video and audio workflows.</a:t>
            </a:r>
          </a:p>
        </p:txBody>
      </p:sp>
      <p:sp>
        <p:nvSpPr>
          <p:cNvPr id="9" name="Comfy capability 1"/>
          <p:cNvSpPr txBox="1"/>
          <p:nvPr/>
        </p:nvSpPr>
        <p:spPr>
          <a:xfrm>
            <a:off x="21031200" y="1060704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Serve separately</a:t>
            </a:r>
          </a:p>
        </p:txBody>
      </p:sp>
      <p:sp>
        <p:nvSpPr>
          <p:cNvPr id="10" name="Comfy explanation 1"/>
          <p:cNvSpPr txBox="1"/>
          <p:nvPr/>
        </p:nvSpPr>
        <p:spPr>
          <a:xfrm>
            <a:off x="21031200" y="11887200"/>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Models run in vLLM-Omni.</a:t>
            </a:r>
          </a:p>
        </p:txBody>
      </p:sp>
      <p:sp>
        <p:nvSpPr>
          <p:cNvPr id="11" name="Comfy capability 2"/>
          <p:cNvSpPr txBox="1"/>
          <p:nvPr/>
        </p:nvSpPr>
        <p:spPr>
          <a:xfrm>
            <a:off x="21031200" y="13716000"/>
            <a:ext cx="13716000" cy="10515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Bring H3 into the graph</a:t>
            </a:r>
          </a:p>
        </p:txBody>
      </p:sp>
      <p:sp>
        <p:nvSpPr>
          <p:cNvPr id="12" name="Comfy explanation 2"/>
          <p:cNvSpPr txBox="1"/>
          <p:nvPr/>
        </p:nvSpPr>
        <p:spPr>
          <a:xfrm>
            <a:off x="21031200" y="14996159"/>
            <a:ext cx="13716000" cy="12344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Text, keyframes or reference media.</a:t>
            </a:r>
          </a:p>
        </p:txBody>
      </p:sp>
      <p:sp>
        <p:nvSpPr>
          <p:cNvPr id="13" name="Comfy takeaway"/>
          <p:cNvSpPr txBox="1"/>
          <p:nvPr/>
        </p:nvSpPr>
        <p:spPr>
          <a:xfrm>
            <a:off x="1828800" y="18059400"/>
            <a:ext cx="32918400" cy="100584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Compose in ComfyUI. Run models in vLLM-Omni.</a:t>
            </a:r>
          </a:p>
        </p:txBody>
      </p:sp>
      <p:sp>
        <p:nvSpPr>
          <p:cNvPr id="14" name="Comfy sourc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300" b="0">
                <a:solidFill>
                  <a:srgbClr val="313131"/>
                </a:solidFill>
                <a:latin typeface="NVIDIA Sans"/>
              </a:rPr>
              <a:t>Official UI example, not benchmark settings. Upstream main verified 30 Oct 2026 · 08177216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Planned open-source release</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Original official public vLLM-Omni closing slide" descr="vllm-omni-official-closing.png"/>
          <p:cNvPicPr>
            <a:picLocks noChangeAspect="1"/>
          </p:cNvPicPr>
          <p:nvPr/>
        </p:nvPicPr>
        <p:blipFill>
          <a:blip r:embed="rId2"/>
          <a:stretch>
            <a:fillRect/>
          </a:stretch>
        </p:blipFill>
        <p:spPr>
          <a:xfrm>
            <a:off x="0" y="0"/>
            <a:ext cx="36576000" cy="20574000"/>
          </a:xfrm>
          <a:prstGeom prst="rect">
            <a:avLst/>
          </a:prstGeom>
        </p:spPr>
      </p:pic>
      <p:sp>
        <p:nvSpPr>
          <p:cNvPr id="3" name="GitHub original hyperlink">
            <a:hlinkClick r:id="rId3"/>
          </p:cNvPr>
          <p:cNvSpPr/>
          <p:nvPr/>
        </p:nvSpPr>
        <p:spPr>
          <a:xfrm>
            <a:off x="5074920" y="4315968"/>
            <a:ext cx="20080224" cy="3941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nnouncement original hyperlink">
            <a:hlinkClick r:id="rId4"/>
          </p:cNvPr>
          <p:cNvSpPr/>
          <p:nvPr/>
        </p:nvSpPr>
        <p:spPr>
          <a:xfrm>
            <a:off x="5074920" y="9006840"/>
            <a:ext cx="19677888" cy="3941063"/>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Developer Slack original hyperlink">
            <a:hlinkClick r:id="rId5"/>
          </p:cNvPr>
          <p:cNvSpPr/>
          <p:nvPr/>
        </p:nvSpPr>
        <p:spPr>
          <a:xfrm>
            <a:off x="5486400" y="13688568"/>
            <a:ext cx="21113496" cy="4800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18</a:t>
            </a:fld>
            <a:endParaRPr lang="en-US"/>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19</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22</a:t>
            </a:fld>
            <a:endParaRPr lang="en-US"/>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23</a:t>
            </a:fld>
            <a:endParaRPr lang="en-US"/>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24</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25</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26</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27</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28</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29</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30</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32</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33</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36</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37</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Qwen3-ASR</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0.6B · 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Qwen3-4B</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38</a:t>
            </a:r>
          </a:p>
        </p:txBody>
      </p:sp>
      <p:sp>
        <p:nvSpPr>
          <p:cNvPr id="3" name="Text Placeholder 2"/>
          <p:cNvSpPr>
            <a:spLocks noGrp="1"/>
          </p:cNvSpPr>
          <p:nvPr>
            <p:ph type="body" idx="13" sz="quarter"/>
          </p:nvPr>
        </p:nvSpPr>
        <p:spPr/>
        <p:txBody>
          <a:bodyPr/>
          <a:lstStyle/>
          <a:p>
            <a:r>
              <a:t>The previous ending guides the next clip. Only new content is appended.</a:t>
            </a:r>
          </a:p>
        </p:txBody>
      </p:sp>
      <p:sp>
        <p:nvSpPr>
          <p:cNvPr id="4" name="Title 3"/>
          <p:cNvSpPr>
            <a:spLocks noGrp="1"/>
          </p:cNvSpPr>
          <p:nvPr>
            <p:ph type="title"/>
          </p:nvPr>
        </p:nvSpPr>
        <p:spPr/>
        <p:txBody>
          <a:bodyPr/>
          <a:lstStyle/>
          <a:p>
            <a:r>
              <a:t>Continuation Makes Clips Feel Continuous</a:t>
            </a:r>
          </a:p>
        </p:txBody>
      </p:sp>
      <p:sp>
        <p:nvSpPr>
          <p:cNvPr id="5" name="Chunk A heading"/>
          <p:cNvSpPr txBox="1"/>
          <p:nvPr/>
        </p:nvSpPr>
        <p:spPr>
          <a:xfrm>
            <a:off x="182880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A  /  LAST FRAME</a:t>
            </a:r>
          </a:p>
        </p:txBody>
      </p:sp>
      <p:sp>
        <p:nvSpPr>
          <p:cNvPr id="6" name="Chunk B heading"/>
          <p:cNvSpPr txBox="1"/>
          <p:nvPr/>
        </p:nvSpPr>
        <p:spPr>
          <a:xfrm>
            <a:off x="18882360" y="4754880"/>
            <a:ext cx="1586484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CHUNK B  /  FIRST RETAINED FRAME</a:t>
            </a:r>
          </a:p>
        </p:txBody>
      </p:sp>
      <p:pic>
        <p:nvPicPr>
          <p:cNvPr id="7" name="Actual last frame of Chunk A" descr="clip-a-ending.png"/>
          <p:cNvPicPr>
            <a:picLocks noChangeAspect="1"/>
          </p:cNvPicPr>
          <p:nvPr/>
        </p:nvPicPr>
        <p:blipFill>
          <a:blip r:embed="rId3"/>
          <a:stretch>
            <a:fillRect/>
          </a:stretch>
        </p:blipFill>
        <p:spPr>
          <a:xfrm>
            <a:off x="1828800" y="5806440"/>
            <a:ext cx="15864840" cy="8990076"/>
          </a:xfrm>
          <a:prstGeom prst="rect">
            <a:avLst/>
          </a:prstGeom>
        </p:spPr>
      </p:pic>
      <p:pic>
        <p:nvPicPr>
          <p:cNvPr id="8" name="Actual first retained frame of Chunk B" descr="clip-b-start.png"/>
          <p:cNvPicPr>
            <a:picLocks noChangeAspect="1"/>
          </p:cNvPicPr>
          <p:nvPr/>
        </p:nvPicPr>
        <p:blipFill>
          <a:blip r:embed="rId4"/>
          <a:stretch>
            <a:fillRect/>
          </a:stretch>
        </p:blipFill>
        <p:spPr>
          <a:xfrm>
            <a:off x="18882360" y="5806440"/>
            <a:ext cx="15864840" cy="8990076"/>
          </a:xfrm>
          <a:prstGeom prst="rect">
            <a:avLst/>
          </a:prstGeom>
        </p:spPr>
      </p:pic>
      <p:sp>
        <p:nvSpPr>
          <p:cNvPr id="9" name="Playback heading"/>
          <p:cNvSpPr txBox="1"/>
          <p:nvPr/>
        </p:nvSpPr>
        <p:spPr>
          <a:xfrm>
            <a:off x="1828800" y="15681959"/>
            <a:ext cx="11887200" cy="59436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CONTINUOUS PLAYBACK</a:t>
            </a:r>
          </a:p>
        </p:txBody>
      </p:sp>
      <p:sp>
        <p:nvSpPr>
          <p:cNvPr id="10" name="Discarded B prefix"/>
          <p:cNvSpPr/>
          <p:nvPr/>
        </p:nvSpPr>
        <p:spPr>
          <a:xfrm>
            <a:off x="17949333" y="15727680"/>
            <a:ext cx="677333" cy="502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7949333" y="15681959"/>
            <a:ext cx="677333" cy="594361"/>
          </a:xfrm>
          <a:prstGeom prst="line">
            <a:avLst/>
          </a:prstGeom>
          <a:ln w="25400">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rim label"/>
          <p:cNvSpPr txBox="1"/>
          <p:nvPr/>
        </p:nvSpPr>
        <p:spPr>
          <a:xfrm>
            <a:off x="19175306" y="15663672"/>
            <a:ext cx="155448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B’s overlapping start</a:t>
            </a:r>
          </a:p>
        </p:txBody>
      </p:sp>
      <p:sp>
        <p:nvSpPr>
          <p:cNvPr id="14" name="Playback A"/>
          <p:cNvSpPr/>
          <p:nvPr/>
        </p:nvSpPr>
        <p:spPr>
          <a:xfrm>
            <a:off x="1828800" y="16642080"/>
            <a:ext cx="16797866" cy="1234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layback B"/>
          <p:cNvSpPr/>
          <p:nvPr/>
        </p:nvSpPr>
        <p:spPr>
          <a:xfrm>
            <a:off x="18626666" y="16642080"/>
            <a:ext cx="16120533" cy="1234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Join marker"/>
          <p:cNvSpPr/>
          <p:nvPr/>
        </p:nvSpPr>
        <p:spPr>
          <a:xfrm>
            <a:off x="18599234" y="16642080"/>
            <a:ext cx="54864"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layback A label"/>
          <p:cNvSpPr txBox="1"/>
          <p:nvPr/>
        </p:nvSpPr>
        <p:spPr>
          <a:xfrm>
            <a:off x="2286000" y="16962120"/>
            <a:ext cx="15883466"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Chunk A · 5.167 s</a:t>
            </a:r>
          </a:p>
        </p:txBody>
      </p:sp>
      <p:sp>
        <p:nvSpPr>
          <p:cNvPr id="18" name="Playback B label"/>
          <p:cNvSpPr txBox="1"/>
          <p:nvPr/>
        </p:nvSpPr>
        <p:spPr>
          <a:xfrm>
            <a:off x="19083866" y="16962120"/>
            <a:ext cx="15206133" cy="731520"/>
          </a:xfrm>
          <a:prstGeom prst="rect">
            <a:avLst/>
          </a:prstGeom>
          <a:noFill/>
        </p:spPr>
        <p:txBody>
          <a:bodyPr wrap="square" lIns="0" rIns="0" tIns="0" bIns="0">
            <a:spAutoFit/>
          </a:bodyPr>
          <a:lstStyle/>
          <a:p>
            <a:pPr>
              <a:spcBef>
                <a:spcPts val="0"/>
              </a:spcBef>
              <a:spcAft>
                <a:spcPts val="0"/>
              </a:spcAft>
            </a:pPr>
            <a:r>
              <a:rPr sz="3400" b="0">
                <a:solidFill>
                  <a:srgbClr val="FFFFFF"/>
                </a:solidFill>
                <a:latin typeface="NVIDIA Sans Medium"/>
              </a:rPr>
              <a:t>Chunk B · +4.958 s</a:t>
            </a:r>
          </a:p>
        </p:txBody>
      </p:sp>
      <p:sp>
        <p:nvSpPr>
          <p:cNvPr id="19" name="Context principle"/>
          <p:cNvSpPr txBox="1"/>
          <p:nvPr/>
        </p:nvSpPr>
        <p:spPr>
          <a:xfrm>
            <a:off x="1828800" y="18608040"/>
            <a:ext cx="32918400" cy="73152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Recent audio–video context conditions the next generation; matching audio is trimmed with the overlap.</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39</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40</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42</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