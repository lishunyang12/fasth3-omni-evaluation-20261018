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72" r:id="rId42"/>
    <p:sldId id="389" r:id="rId59"/>
    <p:sldId id="390" r:id="rId60"/>
    <p:sldId id="392" r:id="rId62"/>
    <p:sldId id="393" r:id="rId34"/>
    <p:sldId id="394" r:id="rId33"/>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1" r:id="rId43"/>
    <p:sldId id="373" r:id="rId41"/>
    <p:sldId id="360" r:id="rId102"/>
    <p:sldId id="395" r:id="rId32"/>
    <p:sldId id="396" r:id="rId31"/>
    <p:sldId id="397" r:id="rId30"/>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0" Type="http://schemas.openxmlformats.org/officeDocument/2006/relationships/slide" Target="slides/slide44.xml"/><Relationship Id="rId31" Type="http://schemas.openxmlformats.org/officeDocument/2006/relationships/slide" Target="slides/slide43.xml"/><Relationship Id="rId32" Type="http://schemas.openxmlformats.org/officeDocument/2006/relationships/slide" Target="slides/slide42.xml"/><Relationship Id="rId33" Type="http://schemas.openxmlformats.org/officeDocument/2006/relationships/slide" Target="slides/slide16.xml"/><Relationship Id="rId34" Type="http://schemas.openxmlformats.org/officeDocument/2006/relationships/slide" Target="slides/slide15.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6.xml"/><Relationship Id="rId38" Type="http://schemas.openxmlformats.org/officeDocument/2006/relationships/slide" Target="slides/slide35.xml"/><Relationship Id="rId39" Type="http://schemas.openxmlformats.org/officeDocument/2006/relationships/slide" Target="slides/slide33.xml"/><Relationship Id="rId40" Type="http://schemas.openxmlformats.org/officeDocument/2006/relationships/slide" Target="slides/slide21.xml"/><Relationship Id="rId41" Type="http://schemas.openxmlformats.org/officeDocument/2006/relationships/slide" Target="slides/slide40.xml"/><Relationship Id="rId42" Type="http://schemas.openxmlformats.org/officeDocument/2006/relationships/slide" Target="slides/slide11.xml"/><Relationship Id="rId43" Type="http://schemas.openxmlformats.org/officeDocument/2006/relationships/slide" Target="slides/slide39.xml"/><Relationship Id="rId44" Type="http://schemas.openxmlformats.org/officeDocument/2006/relationships/slide" Target="slides/slide38.xml"/><Relationship Id="rId45" Type="http://schemas.openxmlformats.org/officeDocument/2006/relationships/slide" Target="slides/slide30.xml"/><Relationship Id="rId46" Type="http://schemas.openxmlformats.org/officeDocument/2006/relationships/slide" Target="slides/slide34.xml"/><Relationship Id="rId47" Type="http://schemas.openxmlformats.org/officeDocument/2006/relationships/slide" Target="slides/slide26.xml"/><Relationship Id="rId48" Type="http://schemas.openxmlformats.org/officeDocument/2006/relationships/slide" Target="slides/slide25.xml"/><Relationship Id="rId49" Type="http://schemas.openxmlformats.org/officeDocument/2006/relationships/slide" Target="slides/slide32.xml"/><Relationship Id="rId50" Type="http://schemas.openxmlformats.org/officeDocument/2006/relationships/slide" Target="slides/slide2.xml"/><Relationship Id="rId51" Type="http://schemas.openxmlformats.org/officeDocument/2006/relationships/slide" Target="slides/slide31.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17.xml"/><Relationship Id="rId62" Type="http://schemas.openxmlformats.org/officeDocument/2006/relationships/slide" Target="slides/slide14.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8.xml"/><Relationship Id="rId85" Type="http://schemas.openxmlformats.org/officeDocument/2006/relationships/slide" Target="slides/slide19.xml"/><Relationship Id="rId86" Type="http://schemas.openxmlformats.org/officeDocument/2006/relationships/slide" Target="slides/slide20.xml"/><Relationship Id="rId87" Type="http://schemas.openxmlformats.org/officeDocument/2006/relationships/slide" Target="slides/slide22.xml"/><Relationship Id="rId89" Type="http://schemas.openxmlformats.org/officeDocument/2006/relationships/slide" Target="slides/slide23.xml"/><Relationship Id="rId90" Type="http://schemas.openxmlformats.org/officeDocument/2006/relationships/slide" Target="slides/slide24.xml"/><Relationship Id="rId95" Type="http://schemas.openxmlformats.org/officeDocument/2006/relationships/slide" Target="slides/slide27.xml"/><Relationship Id="rId96" Type="http://schemas.openxmlformats.org/officeDocument/2006/relationships/slide" Target="slides/slide28.xml"/><Relationship Id="rId97" Type="http://schemas.openxmlformats.org/officeDocument/2006/relationships/slide" Target="slides/slide29.xml"/><Relationship Id="rId99" Type="http://schemas.openxmlformats.org/officeDocument/2006/relationships/slide" Target="slides/slide37.xml"/><Relationship Id="rId102" Type="http://schemas.openxmlformats.org/officeDocument/2006/relationships/slide" Target="slides/slide4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Compute-rich, bandwidth-modest is a qualitative platform insight, not a measured roofline or a universal bandwidth-bound claim. It refers here to inter-GPU communication relative to Blackwell tensor compute. GPUs have no NVLink; GPU transfers use PCIe and selected NIC routes. Per-GPU Gen5 x16 raw nominal is 64 GB/s one way, 63.015 after line encoding, before packets. A shared host uplink can serve two GPUs. Do not multiply that shared capacity by the GPU count. Specifications: 110 SMs, 72 GB GDDR7 ECC, 300 W max board power, FP4 Tensor Cores. NVIDIA official page checked 2026-10-31: https://www.nvidia.com/en-us/products/workstations/professional-desktop-gpus/rtx-pro-5000/ . Published capacities are not measured payload rates or sustained compute. Current standalone H3 reference has eight GPUs; no new hardware measurements.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schematic of the retained interactive runtime, not a new test. Retain the final two temporal video latent slices, not two decoded frames or two attention tokens, plus the aligned audio latent tail. Audio length is 8 or 9 latent tokens: round((start+5)*5/3)-round(start*5/3), start=119*ordinal. No attention K/V tensors are passed between requests; the tail is patchified/packed and appended to visual/audio condition rows, so K/V is computed in the new request. Video history =0.8*history +0.2*seeded noise: a linear coefficient, not noise variance or replacement frames. Reference-image noise stays 0.001; audio history is clean. Target video/audio prefix clamping off. Cumulative AV positions. Generate 124 decoded frames; continuation drops 5 frames and 8/9 audio-token intervals and emits 119 frames. Timeline schematic, not to scale. Right image is the actual first retained frame after trim; left is the actual previous ending. State commits after successful MP4 generation. Fixed-size conditioning does not guarantee indefinite quality. This custom recorded demo differs from upstream planned production ComfyUI graphs. Pipeline slide 10, demo slide 12. Source hashes in continuation.json; no new benchmark.</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architecture comparison, not a matched quality or performance benchmark. MiniMax H3 full dense OmniTransformer 33B; Wan2.2 A14B total 27B with 14B active per denoising step; LTX-2.5 official 22B designation; HunyuanVideo-1.5 8.3B. Encoder and VAE parameters excluded. H3 full weights include precomputable modulation branches, so the bar is not runtime-active parameter count or FLOPs. Open H3-Base defaults to 768 pixels on the short side. This benchmark instead uses 960x544 at 124 frames/24 FPS (5.1667 s). H3-Regenerate-2K is not included. Joint audio-video and multimodal reference conditioning are model capabilities, not exclusive to H3. Sources checked 2026-10-31: https://huggingface.co/MiniMaxAI/MiniMax-H3 ; https://github.com/Wan-Video/Wan2.2 ; https://huggingface.co/Lightricks/LTX-2.5 ; https://github.com/Tencent-Hunyuan/HunyuanVideo-1.5</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a:p>
            <a:r>
              <a:t>Added explanatory detail: PDD8 predicts four trained fine-interval directions per evaluation over the 32-interval schedule. It is not selecting eight original solver steps. Recorded stage 00→01 medians 213.40215269569308→44.32691093347967 seconds; separately refreshed baseline, not a matched rerun. No new measurements.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a:p>
            <a:r>
              <a:t>Added recorded E2E changes: stage01 PDD8→stage02 trained VSA (44.3269→25.9154s), then stage03 QAD NVFP4/native FP4 attention (19.4603s). These compare cumulative model/runtime variants, not isolated attention or GEMM kernels. Full precision is retained in sensitive paths. New text does not claim losslessness.</a:t>
            </a:r>
          </a:p>
          <a:p>
            <a:r>
              <a:t>Explicit configuration: VSA sparsity setting 0.9 (90%); block/tile size 128 tokens. Recorded native attention metadata uses vsa_h3_tile_size=128 and vsa_h3_sparsity=0.9; demo-config.json retains sparsity_setting=0.9. The 10-by-10 grid illustrates the setting only, not a captured mask, fixed Top-K selection, measured whole-model sparsity, or a 90% E2E reduction. Prefix/reference policies and coarse attention are separate work. Block size is measured in tokens, not pixels. No runtime configuration changed.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comparison added to the same two-socket/four-subtree/eight-GPU topology. Black dashed arrows illustrate the controlled local-only NCCL replay for GPU0→GPU4; green illustrates the tested GPU-affine FlashInfer RDMA payload route. These are logical data-flow diagrams, not packet traces. In the NCCL local-only audit, every rank uses P2P/CUMEM to its one same-subtree peer and SHM/direct/direct to six others. Same-NUMA different-subtree payload uses host buffers and host uplinks; cross-NUMA also traverses the CPU interconnect. Dashed arrows include host-buffer staging, not direct P2P across all GPUs. FI RDMA uses mapped GPU0→mlx5_2 and GPU4→mlx5_6; payload bypasses host buffers/uplinks, with CPU control work still present. External RoCE switch wiring is unaudited. Network rail is logical connectivity. Known physical link widths scale with nominal raw one-way capacity; black route emphasis is not a bandwidth encoding. The CPU physical link uses the user-supplied 128GB/s system bandwidth. GPU PCIe max and host uplink 64GB/s raw (63.015 after 128/130 encoding); shared NIC endpoint 128GB/s raw; network port 50GB/s. CPU-to-CPU bandwidth is 128GB/s as supplied by the presenter on 2026-10-31; this is not a new throughput measurement. The source statement does not establish one-way versus aggregate-duplex accounting, so no directional split or saturation is inferred. Measured S15104 eight-GPU exchange: NCCL 5.5599215ms,17.0384218554GB/s/GPU; FI RDMA2.3746525ms,39.8931161507GB/s/GPU;2.341362x. This is rank-max timing, pooled median over three rounds of30 samples, B1,H56,D128,BF16,Q/K/V scatters and O gather,94,732,288 off-rank TX bytes/GPU. Includes layouts, allocations/staging,synchronization; excludes attention,GEMM,E2E. Original source63487a7f22db AST-extracted all_to_all_4D unchanged. Local-only adds NCCL_NET_DISABLE_INTRA=1,NCCL_IB_DISABLE=1,P2P and SHM enabled. The historical Base50 run did not record NET_DISABLE_INTRA; its per-pair routes are unknown. An IB-disable-only replay used NET/Socket cross-NUMA, so it must not be depicted as this local-only SHM control. NCCL can also use RDMA; this is not a universal library comparison. These implementation gains are not isolated link gains or the19.46→6.83s cumulative E2E change. Sources: retained public sequence-comparison-v1.23.json and hidden slide28; local-only route audit pair counts P2P8,SHM48. No new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a:p>
            <a:r>
              <a:t>Expanded mechanism and measurements: stage03 19.4603s →stage04 RDMA/direct layout/V-gate 6.8325s →stage05 2/3/2 head pipeline 6.4073s →stage06 compute CUDA graphs 6.1930s. The 3.1x result groups those changes. The separate 2.34x route replay on slide7 includes communication/layout/synchronization and is not this E2E experiment. The equal-width schedule is conceptual, not a scale drawing of 2/3/2 durations.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Restored the cumulative optimization ladder to main slide9. Every value is from unchanged benchmark-data.json. Displayed rows00–07 are individual stages;08–12 combines output/data movement work and compares stage12 with stage07, not stage11. Overall213.40215269569308/4.9224158665165305=43.353x;RTF4.9224158665165305/(124/24)=0.95272565. Baseline refreshed separately with n2;later stagesn3 retained,not a matched rerun. No isolated distillation or RDMA causality is asserted. PDD,VSA,QAD/precision are not all lossless. Final standalone H3 latency excludes ASR,LLM,rolling history and browser playback. Original detailed table remains on hidden slide36; previous final-number-only design on hidden slide44. Row08–12 includes fused tile/AAC prep,direct output/input packing,integer routing compaction and producer copy elision. Final recheck4.927s is a separate retained result,not averaged into the main table.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a:p>
            <a:r>
              <a:t>Visible settings: 20% video-history noise (0.8 retained latent +0.2 seeded noise), last two video latent time slices, aligned 8 or 9 audio latent tokens. Audio clean; target prefix clamping off. No attention KV cache is reused across chunks. Same settings remain visible beside online video. Recorded media bytes unchanged.</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Supported status checked against upstream main 08177216af4b44cef54ec5bdc75c265a9f0cd697 on 2026-10-31; RFC checkboxes can lag merged code. Existing templates: All-in-One T2VA/FL2VA/Ref2VA, timeline guides, latent-mask editing/continuation, supplied-track music videos and SeedVR2 restoration. Model/API restrictions apply; not all modes combine. H3 second-pass refinement is backend-supported, merged #8322, via server defaults latent_refine and optional latent_upscale; learned upscale needs a separate checkpoint. Request mode only; no dedicated ComfyUI node/template. SeedVR2 is a separate model. Planned support means public development work or RFC proposals, not delivery commitments: CTRL-02 #7492 and WF-06 #7507 draft/open; character replacement #9194 open; identity plus timeline-anchor template #9420 open, while guide nodes already exist. RFC #8251 proposes H3-01 story/dialogue, H3-02 long-video, H3-05 repeatable avatar production graphs. This does not negate existing bounded continuation or guarantee unlimited generation. #7943 generation progress remains open. Q4 roadmap #8264 includes ComfyUI but priorities/ownership require coordination. No feature delivery dates announced. No new inference/benchmark. https://github.com/vllm-project/vllm-omni/issues/8264 ; https://github.com/vllm-project/vllm-omni/issues/7380 ; https://github.com/vllm-project/vllm-omni/issues/8251</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a:p>
            <a:r>
              <a:t>Presenter-provided target, 2026-10-31: expected open-source release in early November 2026. This is a plan, not a confirmed release or completed integration.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closing slide replacing an outdated copied event page, as requested. Official GitHub project, current documentation URL and #sig-omni Slack community were checked against https://github.com/vllm-project/vllm-omni and https://docs.vllm.ai/projects/vllm-omni/en/latest/ on 2026-10-31. This is a general contribution invitation, not an event announcement, availability guarantee or product roadmap. No release number, event date, star count  is shown. Original closing source stays archived in sources/official-closing-source.pptx.</a:t>
            </a:r>
          </a:p>
          <a:p>
            <a:r>
              <a:t>Added two QR codes on 2026-10-31. GitHub QR encodes the official repository URL directly. WeChat QR is the unchanged official docs/assets/WeChat.jpg linked from the current official README, pinned to commit 08177216af4b44cef54ec5bdc75c265a9f0cd697. Native picture cropping shows only its full QR with quiet zone; the original image is archived. The image states it is valid before November 2, displayed explicitly in English. Successful decoding is verified; live group admission cannot be tested without a WeChat account. A future presentation should refresh the group QR from the official README. The GitHub link remains a route to the current community entry.</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 Id="rId7" Type="http://schemas.openxmlformats.org/officeDocument/2006/relationships/hyperlink" Target="https://docs.vllm.ai/projects/vllm-omni/en/latest/" TargetMode="External"/><Relationship Id="rId8" Type="http://schemas.openxmlformats.org/officeDocument/2006/relationships/hyperlink" Target="https://slack.vllm.ai/" TargetMode="External"/><Relationship Id="rId9" Type="http://schemas.openxmlformats.org/officeDocument/2006/relationships/image" Target="../media/image40.png"/><Relationship Id="rId10" Type="http://schemas.openxmlformats.org/officeDocument/2006/relationships/image" Target="../media/image41.jpg"/><Relationship Id="rId11" Type="http://schemas.openxmlformats.org/officeDocument/2006/relationships/hyperlink" Target="https://github.com/vllm-project/vllm-omni/blob/main/docs/assets/WeChat.jp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large dense backbone for joint audio–video generation.</a:t>
            </a:r>
          </a:p>
        </p:txBody>
      </p:sp>
      <p:sp>
        <p:nvSpPr>
          <p:cNvPr id="4" name="Title 3"/>
          <p:cNvSpPr>
            <a:spLocks noGrp="1"/>
          </p:cNvSpPr>
          <p:nvPr>
            <p:ph type="title"/>
          </p:nvPr>
        </p:nvSpPr>
        <p:spPr/>
        <p:txBody>
          <a:bodyPr/>
          <a:lstStyle/>
          <a:p>
            <a:r>
              <a:rPr sz="8800"/>
              <a:t>MiniMax H3 in Context</a:t>
            </a:r>
          </a:p>
        </p:txBody>
      </p:sp>
      <p:sp>
        <p:nvSpPr>
          <p:cNvPr id="5" name="Comparison heading"/>
          <p:cNvSpPr txBox="1"/>
          <p:nvPr/>
        </p:nvSpPr>
        <p:spPr>
          <a:xfrm>
            <a:off x="1828800" y="5486400"/>
            <a:ext cx="21031200" cy="914400"/>
          </a:xfrm>
          <a:prstGeom prst="rect">
            <a:avLst/>
          </a:prstGeom>
          <a:noFill/>
        </p:spPr>
        <p:txBody>
          <a:bodyPr wrap="square" lIns="0" rIns="0" tIns="0" bIns="0">
            <a:spAutoFit/>
          </a:bodyPr>
          <a:lstStyle/>
          <a:p>
            <a:pPr>
              <a:spcBef>
                <a:spcPts val="0"/>
              </a:spcBef>
              <a:spcAft>
                <a:spcPts val="0"/>
              </a:spcAft>
            </a:pPr>
            <a:r>
              <a:rPr sz="4500" b="0">
                <a:solidFill>
                  <a:srgbClr val="000000"/>
                </a:solidFill>
                <a:latin typeface="NVIDIA Sans Medium"/>
              </a:rPr>
              <a:t>Generative backbone parameters</a:t>
            </a:r>
          </a:p>
        </p:txBody>
      </p:sp>
      <p:sp>
        <p:nvSpPr>
          <p:cNvPr id="6" name="Model 0"/>
          <p:cNvSpPr txBox="1"/>
          <p:nvPr/>
        </p:nvSpPr>
        <p:spPr>
          <a:xfrm>
            <a:off x="1828800" y="736092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MiniMax H3</a:t>
            </a:r>
          </a:p>
        </p:txBody>
      </p:sp>
      <p:sp>
        <p:nvSpPr>
          <p:cNvPr id="7" name="Size 0"/>
          <p:cNvSpPr txBox="1"/>
          <p:nvPr/>
        </p:nvSpPr>
        <p:spPr>
          <a:xfrm>
            <a:off x="12801600" y="7360920"/>
            <a:ext cx="1005840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33B · dense</a:t>
            </a:r>
          </a:p>
        </p:txBody>
      </p:sp>
      <p:sp>
        <p:nvSpPr>
          <p:cNvPr id="8" name="Parameter bar 0"/>
          <p:cNvSpPr/>
          <p:nvPr/>
        </p:nvSpPr>
        <p:spPr>
          <a:xfrm>
            <a:off x="1828800" y="8385048"/>
            <a:ext cx="201168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del 1"/>
          <p:cNvSpPr txBox="1"/>
          <p:nvPr/>
        </p:nvSpPr>
        <p:spPr>
          <a:xfrm>
            <a:off x="1828800" y="973836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Wan2.2 A14B</a:t>
            </a:r>
          </a:p>
        </p:txBody>
      </p:sp>
      <p:sp>
        <p:nvSpPr>
          <p:cNvPr id="10" name="Size 1"/>
          <p:cNvSpPr txBox="1"/>
          <p:nvPr/>
        </p:nvSpPr>
        <p:spPr>
          <a:xfrm>
            <a:off x="12801600" y="973836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27B total · 14B active</a:t>
            </a:r>
          </a:p>
        </p:txBody>
      </p:sp>
      <p:sp>
        <p:nvSpPr>
          <p:cNvPr id="11" name="Parameter bar 1"/>
          <p:cNvSpPr/>
          <p:nvPr/>
        </p:nvSpPr>
        <p:spPr>
          <a:xfrm>
            <a:off x="1828800" y="10762488"/>
            <a:ext cx="16459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del 2"/>
          <p:cNvSpPr txBox="1"/>
          <p:nvPr/>
        </p:nvSpPr>
        <p:spPr>
          <a:xfrm>
            <a:off x="1828800" y="1211580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LTX-2.5</a:t>
            </a:r>
          </a:p>
        </p:txBody>
      </p:sp>
      <p:sp>
        <p:nvSpPr>
          <p:cNvPr id="13" name="Size 2"/>
          <p:cNvSpPr txBox="1"/>
          <p:nvPr/>
        </p:nvSpPr>
        <p:spPr>
          <a:xfrm>
            <a:off x="12801600" y="1211580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22B</a:t>
            </a:r>
          </a:p>
        </p:txBody>
      </p:sp>
      <p:sp>
        <p:nvSpPr>
          <p:cNvPr id="14" name="Parameter bar 2"/>
          <p:cNvSpPr/>
          <p:nvPr/>
        </p:nvSpPr>
        <p:spPr>
          <a:xfrm>
            <a:off x="1828800" y="13139928"/>
            <a:ext cx="13411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del 3"/>
          <p:cNvSpPr txBox="1"/>
          <p:nvPr/>
        </p:nvSpPr>
        <p:spPr>
          <a:xfrm>
            <a:off x="1828800" y="1449324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HunyuanVideo-1.5</a:t>
            </a:r>
          </a:p>
        </p:txBody>
      </p:sp>
      <p:sp>
        <p:nvSpPr>
          <p:cNvPr id="16" name="Size 3"/>
          <p:cNvSpPr txBox="1"/>
          <p:nvPr/>
        </p:nvSpPr>
        <p:spPr>
          <a:xfrm>
            <a:off x="12801600" y="1449324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8.3B</a:t>
            </a:r>
          </a:p>
        </p:txBody>
      </p:sp>
      <p:sp>
        <p:nvSpPr>
          <p:cNvPr id="17" name="Parameter bar 3"/>
          <p:cNvSpPr/>
          <p:nvPr/>
        </p:nvSpPr>
        <p:spPr>
          <a:xfrm>
            <a:off x="1828800" y="15517368"/>
            <a:ext cx="505968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mparison divider"/>
          <p:cNvCxnSpPr/>
          <p:nvPr/>
        </p:nvCxnSpPr>
        <p:spPr>
          <a:xfrm>
            <a:off x="23774400" y="5623560"/>
            <a:ext cx="0" cy="1101852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H3 capability 0"/>
          <p:cNvSpPr txBox="1"/>
          <p:nvPr/>
        </p:nvSpPr>
        <p:spPr>
          <a:xfrm>
            <a:off x="25603200" y="60350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Audio + video</a:t>
            </a:r>
          </a:p>
        </p:txBody>
      </p:sp>
      <p:sp>
        <p:nvSpPr>
          <p:cNvPr id="20" name="H3 explanation 0"/>
          <p:cNvSpPr txBox="1"/>
          <p:nvPr/>
        </p:nvSpPr>
        <p:spPr>
          <a:xfrm>
            <a:off x="25603200" y="74523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Generated together</a:t>
            </a:r>
          </a:p>
        </p:txBody>
      </p:sp>
      <p:sp>
        <p:nvSpPr>
          <p:cNvPr id="21" name="H3 capability 1"/>
          <p:cNvSpPr txBox="1"/>
          <p:nvPr/>
        </p:nvSpPr>
        <p:spPr>
          <a:xfrm>
            <a:off x="25603200" y="96926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Multimodal context</a:t>
            </a:r>
          </a:p>
        </p:txBody>
      </p:sp>
      <p:sp>
        <p:nvSpPr>
          <p:cNvPr id="22" name="H3 explanation 1"/>
          <p:cNvSpPr txBox="1"/>
          <p:nvPr/>
        </p:nvSpPr>
        <p:spPr>
          <a:xfrm>
            <a:off x="25603200" y="111099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Text, image, video and audio</a:t>
            </a:r>
          </a:p>
        </p:txBody>
      </p:sp>
      <p:sp>
        <p:nvSpPr>
          <p:cNvPr id="23" name="H3 capability 2"/>
          <p:cNvSpPr txBox="1"/>
          <p:nvPr/>
        </p:nvSpPr>
        <p:spPr>
          <a:xfrm>
            <a:off x="25603200" y="133502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Native 768p</a:t>
            </a:r>
          </a:p>
        </p:txBody>
      </p:sp>
      <p:sp>
        <p:nvSpPr>
          <p:cNvPr id="24" name="H3 explanation 2"/>
          <p:cNvSpPr txBox="1"/>
          <p:nvPr/>
        </p:nvSpPr>
        <p:spPr>
          <a:xfrm>
            <a:off x="25603200" y="14767559"/>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Open H3-Base capability</a:t>
            </a:r>
          </a:p>
        </p:txBody>
      </p:sp>
      <p:sp>
        <p:nvSpPr>
          <p:cNvPr id="25" name="Model insight"/>
          <p:cNvSpPr txBox="1"/>
          <p:nvPr/>
        </p:nvSpPr>
        <p:spPr>
          <a:xfrm>
            <a:off x="1828800" y="17876520"/>
            <a:ext cx="32918400" cy="960120"/>
          </a:xfrm>
          <a:prstGeom prst="rect">
            <a:avLst/>
          </a:prstGeom>
          <a:noFill/>
        </p:spPr>
        <p:txBody>
          <a:bodyPr wrap="square" lIns="0" rIns="0" tIns="0" bIns="0">
            <a:spAutoFit/>
          </a:bodyPr>
          <a:lstStyle/>
          <a:p>
            <a:pPr>
              <a:spcBef>
                <a:spcPts val="0"/>
              </a:spcBef>
              <a:spcAft>
                <a:spcPts val="0"/>
              </a:spcAft>
            </a:pPr>
            <a:r>
              <a:rPr sz="4100" b="0">
                <a:solidFill>
                  <a:srgbClr val="000000"/>
                </a:solidFill>
                <a:latin typeface="NVIDIA Sans Medium"/>
              </a:rPr>
              <a:t>The challenge: fit the complete audio–video pipeline into a ~5 s budget.</a:t>
            </a:r>
          </a:p>
        </p:txBody>
      </p:sp>
      <p:sp>
        <p:nvSpPr>
          <p:cNvPr id="26" name="Comparison scop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Published full backbone sizes; encoders excluded. Parameter count is not a latency or quality ranking.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Compute-rich, bandwidth-modest</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486400"/>
            <a:ext cx="24688800" cy="393192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649224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576072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110</a:t>
            </a:r>
          </a:p>
        </p:txBody>
      </p:sp>
      <p:sp>
        <p:nvSpPr>
          <p:cNvPr id="10" name="Spec Memory"/>
          <p:cNvSpPr txBox="1"/>
          <p:nvPr/>
        </p:nvSpPr>
        <p:spPr>
          <a:xfrm>
            <a:off x="102870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72 GB</a:t>
            </a:r>
          </a:p>
          <a:p>
            <a:pPr>
              <a:spcBef>
                <a:spcPts val="0"/>
              </a:spcBef>
              <a:spcAft>
                <a:spcPts val="0"/>
              </a:spcAft>
            </a:pPr>
            <a:r>
              <a:rPr sz="4700" b="0">
                <a:solidFill>
                  <a:srgbClr val="000000"/>
                </a:solidFill>
                <a:latin typeface="NVIDIA Sans Medium"/>
              </a:rPr>
              <a:t>GDDR7 ECC</a:t>
            </a:r>
          </a:p>
        </p:txBody>
      </p:sp>
      <p:sp>
        <p:nvSpPr>
          <p:cNvPr id="12" name="Spec Power"/>
          <p:cNvSpPr txBox="1"/>
          <p:nvPr/>
        </p:nvSpPr>
        <p:spPr>
          <a:xfrm>
            <a:off x="187452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300 W</a:t>
            </a:r>
          </a:p>
        </p:txBody>
      </p:sp>
      <p:sp>
        <p:nvSpPr>
          <p:cNvPr id="14" name="Spec Interconnect"/>
          <p:cNvSpPr txBox="1"/>
          <p:nvPr/>
        </p:nvSpPr>
        <p:spPr>
          <a:xfrm>
            <a:off x="272034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PCIe Gen5 ×16</a:t>
            </a:r>
          </a:p>
        </p:txBody>
      </p:sp>
      <p:cxnSp>
        <p:nvCxnSpPr>
          <p:cNvPr id="16" name="Hardware contrast divider"/>
          <p:cNvCxnSpPr/>
          <p:nvPr/>
        </p:nvCxnSpPr>
        <p:spPr>
          <a:xfrm>
            <a:off x="18288000" y="15544800"/>
            <a:ext cx="0" cy="274320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7" name="Compute advantage"/>
          <p:cNvSpPr txBox="1"/>
          <p:nvPr/>
        </p:nvSpPr>
        <p:spPr>
          <a:xfrm>
            <a:off x="1828800" y="15636240"/>
            <a:ext cx="16002000" cy="91440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Blackwell Tensor Cores</a:t>
            </a:r>
          </a:p>
        </p:txBody>
      </p:sp>
      <p:sp>
        <p:nvSpPr>
          <p:cNvPr id="18" name="Compute explanation"/>
          <p:cNvSpPr txBox="1"/>
          <p:nvPr/>
        </p:nvSpPr>
        <p:spPr>
          <a:xfrm>
            <a:off x="1828800" y="17053560"/>
            <a:ext cx="160020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Native FP4 compute</a:t>
            </a:r>
          </a:p>
        </p:txBody>
      </p:sp>
      <p:sp>
        <p:nvSpPr>
          <p:cNvPr id="19" name="Communication constraint"/>
          <p:cNvSpPr txBox="1"/>
          <p:nvPr/>
        </p:nvSpPr>
        <p:spPr>
          <a:xfrm>
            <a:off x="20116800" y="15636240"/>
            <a:ext cx="14630400" cy="914400"/>
          </a:xfrm>
          <a:prstGeom prst="rect">
            <a:avLst/>
          </a:prstGeom>
          <a:noFill/>
        </p:spPr>
        <p:txBody>
          <a:bodyPr wrap="square" lIns="0" rIns="0" tIns="0" bIns="0">
            <a:spAutoFit/>
          </a:bodyPr>
          <a:lstStyle/>
          <a:p>
            <a:pPr>
              <a:spcBef>
                <a:spcPts val="0"/>
              </a:spcBef>
              <a:spcAft>
                <a:spcPts val="0"/>
              </a:spcAft>
            </a:pPr>
            <a:r>
              <a:rPr sz="4300" b="0">
                <a:solidFill>
                  <a:srgbClr val="000000"/>
                </a:solidFill>
                <a:latin typeface="NVIDIA Sans Medium"/>
              </a:rPr>
              <a:t>No GPU NVLink</a:t>
            </a:r>
          </a:p>
        </p:txBody>
      </p:sp>
      <p:sp>
        <p:nvSpPr>
          <p:cNvPr id="20" name="Communication rate"/>
          <p:cNvSpPr txBox="1"/>
          <p:nvPr/>
        </p:nvSpPr>
        <p:spPr>
          <a:xfrm>
            <a:off x="20116800" y="17053560"/>
            <a:ext cx="14630400" cy="9144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64 GB/s PCIe per GPU, one way*</a:t>
            </a:r>
          </a:p>
        </p:txBody>
      </p:sp>
      <p:sp>
        <p:nvSpPr>
          <p:cNvPr id="21" name="Hardwar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*Raw nominal Gen5 ×16 capacity. The constraint here is inter-GPU communication relative to on-card compute.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
        <p:nvSpPr>
          <p:cNvPr id="70" name="PDD mechanism"/>
          <p:cNvSpPr txBox="1"/>
          <p:nvPr/>
        </p:nvSpPr>
        <p:spPr>
          <a:xfrm>
            <a:off x="1828800" y="1645920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A trained student predicts multiple diffusion intervals per call.</a:t>
            </a:r>
          </a:p>
        </p:txBody>
      </p:sp>
      <p:sp>
        <p:nvSpPr>
          <p:cNvPr id="71" name="PDD latency"/>
          <p:cNvSpPr txBox="1"/>
          <p:nvPr/>
        </p:nvSpPr>
        <p:spPr>
          <a:xfrm>
            <a:off x="22860000" y="13716000"/>
            <a:ext cx="118872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213.40 s → 44.33 s</a:t>
            </a:r>
          </a:p>
        </p:txBody>
      </p:sp>
      <p:sp>
        <p:nvSpPr>
          <p:cNvPr id="72" name="PDD speedup"/>
          <p:cNvSpPr txBox="1"/>
          <p:nvPr/>
        </p:nvSpPr>
        <p:spPr>
          <a:xfrm>
            <a:off x="22860000" y="14996159"/>
            <a:ext cx="11887200" cy="73152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Recorded E2E · 4.81×†</a:t>
            </a:r>
          </a:p>
        </p:txBody>
      </p:sp>
      <p:sp>
        <p:nvSpPr>
          <p:cNvPr id="73" name="PDD evidence scope"/>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 Baseline measured separately. This is a recorded median ratio, not an isolated step-count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r>
              <a:rPr sz="3800" b="0">
                <a:solidFill>
                  <a:srgbClr val="000000"/>
                </a:solidFill>
                <a:latin typeface="NVIDIA Sans"/>
              </a:rPr>
              <a:t>Coarse attention selects fine regions</a:t>
            </a:r>
          </a:p>
        </p:txBody>
      </p:sp>
      <p:sp>
        <p:nvSpPr>
          <p:cNvPr id="43" name="VSA diagram scope"/>
          <p:cNvSpPr txBox="1"/>
          <p:nvPr/>
        </p:nvSpPr>
        <p:spPr>
          <a:xfrm>
            <a:off x="1828800" y="1380744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r>
              <a:rPr sz="3400" b="0">
                <a:solidFill>
                  <a:srgbClr val="000000"/>
                </a:solidFill>
                <a:latin typeface="NVIDIA Sans"/>
              </a:rPr>
              <a:t>QAD DiT + native FP4 attention</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VSA measured effect"/>
          <p:cNvSpPr txBox="1"/>
          <p:nvPr/>
        </p:nvSpPr>
        <p:spPr>
          <a:xfrm>
            <a:off x="1828800" y="15910559"/>
            <a:ext cx="16002000" cy="914400"/>
          </a:xfrm>
          <a:prstGeom prst="rect">
            <a:avLst/>
          </a:prstGeom>
          <a:noFill/>
        </p:spPr>
        <p:txBody>
          <a:bodyPr wrap="square" lIns="0" rIns="0" tIns="0" bIns="0">
            <a:spAutoFit/>
          </a:bodyPr>
          <a:lstStyle/>
          <a:p>
            <a:pPr>
              <a:spcBef>
                <a:spcPts val="0"/>
              </a:spcBef>
              <a:spcAft>
                <a:spcPts val="0"/>
              </a:spcAft>
            </a:pPr>
            <a:r>
              <a:rPr sz="3600" b="0">
                <a:solidFill>
                  <a:srgbClr val="76B900"/>
                </a:solidFill>
                <a:latin typeface="NVIDIA Sans Medium"/>
              </a:rPr>
              <a:t>44.33 s → 25.92 s · 1.71×</a:t>
            </a:r>
          </a:p>
        </p:txBody>
      </p:sp>
      <p:sp>
        <p:nvSpPr>
          <p:cNvPr id="53" name="NVFP4 measured effect"/>
          <p:cNvSpPr txBox="1"/>
          <p:nvPr/>
        </p:nvSpPr>
        <p:spPr>
          <a:xfrm>
            <a:off x="20116800" y="15910559"/>
            <a:ext cx="14630400" cy="914400"/>
          </a:xfrm>
          <a:prstGeom prst="rect">
            <a:avLst/>
          </a:prstGeom>
          <a:noFill/>
        </p:spPr>
        <p:txBody>
          <a:bodyPr wrap="square" lIns="0" rIns="0" tIns="0" bIns="0">
            <a:spAutoFit/>
          </a:bodyPr>
          <a:lstStyle/>
          <a:p>
            <a:pPr>
              <a:spcBef>
                <a:spcPts val="0"/>
              </a:spcBef>
              <a:spcAft>
                <a:spcPts val="0"/>
              </a:spcAft>
            </a:pPr>
            <a:r>
              <a:rPr sz="3500" b="0">
                <a:solidFill>
                  <a:srgbClr val="76B900"/>
                </a:solidFill>
                <a:latin typeface="NVIDIA Sans Medium"/>
              </a:rPr>
              <a:t>25.92 s → 19.46 s · 1.33×</a:t>
            </a:r>
          </a:p>
        </p:txBody>
      </p:sp>
      <p:sp>
        <p:nvSpPr>
          <p:cNvPr id="54" name="VSA FP4 evidenc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Recorded E2E medians · 8 evaluations · trained sparse / quantized model variants; quality must be validated.</a:t>
            </a:r>
          </a:p>
        </p:txBody>
      </p:sp>
      <p:sp>
        <p:nvSpPr>
          <p:cNvPr id="55" name="Attention block 0-0"/>
          <p:cNvSpPr/>
          <p:nvPr/>
        </p:nvSpPr>
        <p:spPr>
          <a:xfrm>
            <a:off x="42976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ention block 0-1"/>
          <p:cNvSpPr/>
          <p:nvPr/>
        </p:nvSpPr>
        <p:spPr>
          <a:xfrm>
            <a:off x="5257800" y="8641080"/>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ention block 0-2"/>
          <p:cNvSpPr/>
          <p:nvPr/>
        </p:nvSpPr>
        <p:spPr>
          <a:xfrm>
            <a:off x="62179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ention block 0-3"/>
          <p:cNvSpPr/>
          <p:nvPr/>
        </p:nvSpPr>
        <p:spPr>
          <a:xfrm>
            <a:off x="71780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ention block 0-4"/>
          <p:cNvSpPr/>
          <p:nvPr/>
        </p:nvSpPr>
        <p:spPr>
          <a:xfrm>
            <a:off x="81381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ention block 0-5"/>
          <p:cNvSpPr/>
          <p:nvPr/>
        </p:nvSpPr>
        <p:spPr>
          <a:xfrm>
            <a:off x="90982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ention block 0-6"/>
          <p:cNvSpPr/>
          <p:nvPr/>
        </p:nvSpPr>
        <p:spPr>
          <a:xfrm>
            <a:off x="1005840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ention block 0-7"/>
          <p:cNvSpPr/>
          <p:nvPr/>
        </p:nvSpPr>
        <p:spPr>
          <a:xfrm>
            <a:off x="110185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ention block 0-8"/>
          <p:cNvSpPr/>
          <p:nvPr/>
        </p:nvSpPr>
        <p:spPr>
          <a:xfrm>
            <a:off x="119786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ention block 0-9"/>
          <p:cNvSpPr/>
          <p:nvPr/>
        </p:nvSpPr>
        <p:spPr>
          <a:xfrm>
            <a:off x="129387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ention block 1-0"/>
          <p:cNvSpPr/>
          <p:nvPr/>
        </p:nvSpPr>
        <p:spPr>
          <a:xfrm>
            <a:off x="42976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ention block 1-1"/>
          <p:cNvSpPr/>
          <p:nvPr/>
        </p:nvSpPr>
        <p:spPr>
          <a:xfrm>
            <a:off x="52578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Attention block 1-2"/>
          <p:cNvSpPr/>
          <p:nvPr/>
        </p:nvSpPr>
        <p:spPr>
          <a:xfrm>
            <a:off x="621792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ention block 1-3"/>
          <p:cNvSpPr/>
          <p:nvPr/>
        </p:nvSpPr>
        <p:spPr>
          <a:xfrm>
            <a:off x="71780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ttention block 1-4"/>
          <p:cNvSpPr/>
          <p:nvPr/>
        </p:nvSpPr>
        <p:spPr>
          <a:xfrm>
            <a:off x="81381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ention block 1-5"/>
          <p:cNvSpPr/>
          <p:nvPr/>
        </p:nvSpPr>
        <p:spPr>
          <a:xfrm>
            <a:off x="90982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Attention block 1-6"/>
          <p:cNvSpPr/>
          <p:nvPr/>
        </p:nvSpPr>
        <p:spPr>
          <a:xfrm>
            <a:off x="100584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Attention block 1-7"/>
          <p:cNvSpPr/>
          <p:nvPr/>
        </p:nvSpPr>
        <p:spPr>
          <a:xfrm>
            <a:off x="11018520" y="9116567"/>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ention block 1-8"/>
          <p:cNvSpPr/>
          <p:nvPr/>
        </p:nvSpPr>
        <p:spPr>
          <a:xfrm>
            <a:off x="119786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Attention block 1-9"/>
          <p:cNvSpPr/>
          <p:nvPr/>
        </p:nvSpPr>
        <p:spPr>
          <a:xfrm>
            <a:off x="129387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ention block 2-0"/>
          <p:cNvSpPr/>
          <p:nvPr/>
        </p:nvSpPr>
        <p:spPr>
          <a:xfrm>
            <a:off x="42976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ttention block 2-1"/>
          <p:cNvSpPr/>
          <p:nvPr/>
        </p:nvSpPr>
        <p:spPr>
          <a:xfrm>
            <a:off x="52578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ention block 2-2"/>
          <p:cNvSpPr/>
          <p:nvPr/>
        </p:nvSpPr>
        <p:spPr>
          <a:xfrm>
            <a:off x="62179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ttention block 2-3"/>
          <p:cNvSpPr/>
          <p:nvPr/>
        </p:nvSpPr>
        <p:spPr>
          <a:xfrm>
            <a:off x="7178040" y="9592055"/>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ention block 2-4"/>
          <p:cNvSpPr/>
          <p:nvPr/>
        </p:nvSpPr>
        <p:spPr>
          <a:xfrm>
            <a:off x="81381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ttention block 2-5"/>
          <p:cNvSpPr/>
          <p:nvPr/>
        </p:nvSpPr>
        <p:spPr>
          <a:xfrm>
            <a:off x="90982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Attention block 2-6"/>
          <p:cNvSpPr/>
          <p:nvPr/>
        </p:nvSpPr>
        <p:spPr>
          <a:xfrm>
            <a:off x="100584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ttention block 2-7"/>
          <p:cNvSpPr/>
          <p:nvPr/>
        </p:nvSpPr>
        <p:spPr>
          <a:xfrm>
            <a:off x="110185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Attention block 2-8"/>
          <p:cNvSpPr/>
          <p:nvPr/>
        </p:nvSpPr>
        <p:spPr>
          <a:xfrm>
            <a:off x="1197864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ttention block 2-9"/>
          <p:cNvSpPr/>
          <p:nvPr/>
        </p:nvSpPr>
        <p:spPr>
          <a:xfrm>
            <a:off x="129387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Attention block 3-0"/>
          <p:cNvSpPr/>
          <p:nvPr/>
        </p:nvSpPr>
        <p:spPr>
          <a:xfrm>
            <a:off x="42976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ttention block 3-1"/>
          <p:cNvSpPr/>
          <p:nvPr/>
        </p:nvSpPr>
        <p:spPr>
          <a:xfrm>
            <a:off x="52578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Attention block 3-2"/>
          <p:cNvSpPr/>
          <p:nvPr/>
        </p:nvSpPr>
        <p:spPr>
          <a:xfrm>
            <a:off x="62179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ttention block 3-3"/>
          <p:cNvSpPr/>
          <p:nvPr/>
        </p:nvSpPr>
        <p:spPr>
          <a:xfrm>
            <a:off x="71780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Attention block 3-4"/>
          <p:cNvSpPr/>
          <p:nvPr/>
        </p:nvSpPr>
        <p:spPr>
          <a:xfrm>
            <a:off x="813816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ttention block 3-5"/>
          <p:cNvSpPr/>
          <p:nvPr/>
        </p:nvSpPr>
        <p:spPr>
          <a:xfrm>
            <a:off x="90982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Attention block 3-6"/>
          <p:cNvSpPr/>
          <p:nvPr/>
        </p:nvSpPr>
        <p:spPr>
          <a:xfrm>
            <a:off x="100584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ttention block 3-7"/>
          <p:cNvSpPr/>
          <p:nvPr/>
        </p:nvSpPr>
        <p:spPr>
          <a:xfrm>
            <a:off x="110185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Attention block 3-8"/>
          <p:cNvSpPr/>
          <p:nvPr/>
        </p:nvSpPr>
        <p:spPr>
          <a:xfrm>
            <a:off x="119786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ttention block 3-9"/>
          <p:cNvSpPr/>
          <p:nvPr/>
        </p:nvSpPr>
        <p:spPr>
          <a:xfrm>
            <a:off x="12938760" y="1006754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Attention block 4-0"/>
          <p:cNvSpPr/>
          <p:nvPr/>
        </p:nvSpPr>
        <p:spPr>
          <a:xfrm>
            <a:off x="4297680" y="1054303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ttention block 4-1"/>
          <p:cNvSpPr/>
          <p:nvPr/>
        </p:nvSpPr>
        <p:spPr>
          <a:xfrm>
            <a:off x="52578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Attention block 4-2"/>
          <p:cNvSpPr/>
          <p:nvPr/>
        </p:nvSpPr>
        <p:spPr>
          <a:xfrm>
            <a:off x="62179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ttention block 4-3"/>
          <p:cNvSpPr/>
          <p:nvPr/>
        </p:nvSpPr>
        <p:spPr>
          <a:xfrm>
            <a:off x="71780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ttention block 4-4"/>
          <p:cNvSpPr/>
          <p:nvPr/>
        </p:nvSpPr>
        <p:spPr>
          <a:xfrm>
            <a:off x="81381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Attention block 4-5"/>
          <p:cNvSpPr/>
          <p:nvPr/>
        </p:nvSpPr>
        <p:spPr>
          <a:xfrm>
            <a:off x="909828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Attention block 4-6"/>
          <p:cNvSpPr/>
          <p:nvPr/>
        </p:nvSpPr>
        <p:spPr>
          <a:xfrm>
            <a:off x="100584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Attention block 4-7"/>
          <p:cNvSpPr/>
          <p:nvPr/>
        </p:nvSpPr>
        <p:spPr>
          <a:xfrm>
            <a:off x="110185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Attention block 4-8"/>
          <p:cNvSpPr/>
          <p:nvPr/>
        </p:nvSpPr>
        <p:spPr>
          <a:xfrm>
            <a:off x="119786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Attention block 4-9"/>
          <p:cNvSpPr/>
          <p:nvPr/>
        </p:nvSpPr>
        <p:spPr>
          <a:xfrm>
            <a:off x="129387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Attention block 5-0"/>
          <p:cNvSpPr/>
          <p:nvPr/>
        </p:nvSpPr>
        <p:spPr>
          <a:xfrm>
            <a:off x="42976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ttention block 5-1"/>
          <p:cNvSpPr/>
          <p:nvPr/>
        </p:nvSpPr>
        <p:spPr>
          <a:xfrm>
            <a:off x="525780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Attention block 5-2"/>
          <p:cNvSpPr/>
          <p:nvPr/>
        </p:nvSpPr>
        <p:spPr>
          <a:xfrm>
            <a:off x="62179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ttention block 5-3"/>
          <p:cNvSpPr/>
          <p:nvPr/>
        </p:nvSpPr>
        <p:spPr>
          <a:xfrm>
            <a:off x="71780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Attention block 5-4"/>
          <p:cNvSpPr/>
          <p:nvPr/>
        </p:nvSpPr>
        <p:spPr>
          <a:xfrm>
            <a:off x="81381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ttention block 5-5"/>
          <p:cNvSpPr/>
          <p:nvPr/>
        </p:nvSpPr>
        <p:spPr>
          <a:xfrm>
            <a:off x="90982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ttention block 5-6"/>
          <p:cNvSpPr/>
          <p:nvPr/>
        </p:nvSpPr>
        <p:spPr>
          <a:xfrm>
            <a:off x="10058400" y="11018519"/>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Attention block 5-7"/>
          <p:cNvSpPr/>
          <p:nvPr/>
        </p:nvSpPr>
        <p:spPr>
          <a:xfrm>
            <a:off x="110185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ttention block 5-8"/>
          <p:cNvSpPr/>
          <p:nvPr/>
        </p:nvSpPr>
        <p:spPr>
          <a:xfrm>
            <a:off x="119786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ttention block 5-9"/>
          <p:cNvSpPr/>
          <p:nvPr/>
        </p:nvSpPr>
        <p:spPr>
          <a:xfrm>
            <a:off x="129387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ttention block 6-0"/>
          <p:cNvSpPr/>
          <p:nvPr/>
        </p:nvSpPr>
        <p:spPr>
          <a:xfrm>
            <a:off x="42976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ttention block 6-1"/>
          <p:cNvSpPr/>
          <p:nvPr/>
        </p:nvSpPr>
        <p:spPr>
          <a:xfrm>
            <a:off x="52578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ttention block 6-2"/>
          <p:cNvSpPr/>
          <p:nvPr/>
        </p:nvSpPr>
        <p:spPr>
          <a:xfrm>
            <a:off x="6217920" y="11494008"/>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ttention block 6-3"/>
          <p:cNvSpPr/>
          <p:nvPr/>
        </p:nvSpPr>
        <p:spPr>
          <a:xfrm>
            <a:off x="71780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ttention block 6-4"/>
          <p:cNvSpPr/>
          <p:nvPr/>
        </p:nvSpPr>
        <p:spPr>
          <a:xfrm>
            <a:off x="81381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ttention block 6-5"/>
          <p:cNvSpPr/>
          <p:nvPr/>
        </p:nvSpPr>
        <p:spPr>
          <a:xfrm>
            <a:off x="90982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ttention block 6-6"/>
          <p:cNvSpPr/>
          <p:nvPr/>
        </p:nvSpPr>
        <p:spPr>
          <a:xfrm>
            <a:off x="100584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ttention block 6-7"/>
          <p:cNvSpPr/>
          <p:nvPr/>
        </p:nvSpPr>
        <p:spPr>
          <a:xfrm>
            <a:off x="1101852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ttention block 6-8"/>
          <p:cNvSpPr/>
          <p:nvPr/>
        </p:nvSpPr>
        <p:spPr>
          <a:xfrm>
            <a:off x="119786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ttention block 6-9"/>
          <p:cNvSpPr/>
          <p:nvPr/>
        </p:nvSpPr>
        <p:spPr>
          <a:xfrm>
            <a:off x="129387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ttention block 7-0"/>
          <p:cNvSpPr/>
          <p:nvPr/>
        </p:nvSpPr>
        <p:spPr>
          <a:xfrm>
            <a:off x="42976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ttention block 7-1"/>
          <p:cNvSpPr/>
          <p:nvPr/>
        </p:nvSpPr>
        <p:spPr>
          <a:xfrm>
            <a:off x="52578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ttention block 7-2"/>
          <p:cNvSpPr/>
          <p:nvPr/>
        </p:nvSpPr>
        <p:spPr>
          <a:xfrm>
            <a:off x="62179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ttention block 7-3"/>
          <p:cNvSpPr/>
          <p:nvPr/>
        </p:nvSpPr>
        <p:spPr>
          <a:xfrm>
            <a:off x="717804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ttention block 7-4"/>
          <p:cNvSpPr/>
          <p:nvPr/>
        </p:nvSpPr>
        <p:spPr>
          <a:xfrm>
            <a:off x="81381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ttention block 7-5"/>
          <p:cNvSpPr/>
          <p:nvPr/>
        </p:nvSpPr>
        <p:spPr>
          <a:xfrm>
            <a:off x="90982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ttention block 7-6"/>
          <p:cNvSpPr/>
          <p:nvPr/>
        </p:nvSpPr>
        <p:spPr>
          <a:xfrm>
            <a:off x="100584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ttention block 7-7"/>
          <p:cNvSpPr/>
          <p:nvPr/>
        </p:nvSpPr>
        <p:spPr>
          <a:xfrm>
            <a:off x="110185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ttention block 7-8"/>
          <p:cNvSpPr/>
          <p:nvPr/>
        </p:nvSpPr>
        <p:spPr>
          <a:xfrm>
            <a:off x="11978640" y="11969496"/>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ttention block 7-9"/>
          <p:cNvSpPr/>
          <p:nvPr/>
        </p:nvSpPr>
        <p:spPr>
          <a:xfrm>
            <a:off x="129387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ttention block 8-0"/>
          <p:cNvSpPr/>
          <p:nvPr/>
        </p:nvSpPr>
        <p:spPr>
          <a:xfrm>
            <a:off x="42976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ttention block 8-1"/>
          <p:cNvSpPr/>
          <p:nvPr/>
        </p:nvSpPr>
        <p:spPr>
          <a:xfrm>
            <a:off x="52578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ttention block 8-2"/>
          <p:cNvSpPr/>
          <p:nvPr/>
        </p:nvSpPr>
        <p:spPr>
          <a:xfrm>
            <a:off x="62179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ttention block 8-3"/>
          <p:cNvSpPr/>
          <p:nvPr/>
        </p:nvSpPr>
        <p:spPr>
          <a:xfrm>
            <a:off x="71780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ttention block 8-4"/>
          <p:cNvSpPr/>
          <p:nvPr/>
        </p:nvSpPr>
        <p:spPr>
          <a:xfrm>
            <a:off x="8138160" y="1244498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ttention block 8-5"/>
          <p:cNvSpPr/>
          <p:nvPr/>
        </p:nvSpPr>
        <p:spPr>
          <a:xfrm>
            <a:off x="90982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ttention block 8-6"/>
          <p:cNvSpPr/>
          <p:nvPr/>
        </p:nvSpPr>
        <p:spPr>
          <a:xfrm>
            <a:off x="100584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ttention block 8-7"/>
          <p:cNvSpPr/>
          <p:nvPr/>
        </p:nvSpPr>
        <p:spPr>
          <a:xfrm>
            <a:off x="110185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ttention block 8-8"/>
          <p:cNvSpPr/>
          <p:nvPr/>
        </p:nvSpPr>
        <p:spPr>
          <a:xfrm>
            <a:off x="119786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ttention block 8-9"/>
          <p:cNvSpPr/>
          <p:nvPr/>
        </p:nvSpPr>
        <p:spPr>
          <a:xfrm>
            <a:off x="1293876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ttention block 9-0"/>
          <p:cNvSpPr/>
          <p:nvPr/>
        </p:nvSpPr>
        <p:spPr>
          <a:xfrm>
            <a:off x="429768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ttention block 9-1"/>
          <p:cNvSpPr/>
          <p:nvPr/>
        </p:nvSpPr>
        <p:spPr>
          <a:xfrm>
            <a:off x="52578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ttention block 9-2"/>
          <p:cNvSpPr/>
          <p:nvPr/>
        </p:nvSpPr>
        <p:spPr>
          <a:xfrm>
            <a:off x="62179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ttention block 9-3"/>
          <p:cNvSpPr/>
          <p:nvPr/>
        </p:nvSpPr>
        <p:spPr>
          <a:xfrm>
            <a:off x="71780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Attention block 9-4"/>
          <p:cNvSpPr/>
          <p:nvPr/>
        </p:nvSpPr>
        <p:spPr>
          <a:xfrm>
            <a:off x="81381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Attention block 9-5"/>
          <p:cNvSpPr/>
          <p:nvPr/>
        </p:nvSpPr>
        <p:spPr>
          <a:xfrm>
            <a:off x="9098280" y="1292047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ttention block 9-6"/>
          <p:cNvSpPr/>
          <p:nvPr/>
        </p:nvSpPr>
        <p:spPr>
          <a:xfrm>
            <a:off x="100584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Attention block 9-7"/>
          <p:cNvSpPr/>
          <p:nvPr/>
        </p:nvSpPr>
        <p:spPr>
          <a:xfrm>
            <a:off x="110185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ttention block 9-8"/>
          <p:cNvSpPr/>
          <p:nvPr/>
        </p:nvSpPr>
        <p:spPr>
          <a:xfrm>
            <a:off x="119786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Attention block 9-9"/>
          <p:cNvSpPr/>
          <p:nvPr/>
        </p:nvSpPr>
        <p:spPr>
          <a:xfrm>
            <a:off x="129387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VSA configuration"/>
          <p:cNvSpPr txBox="1"/>
          <p:nvPr/>
        </p:nvSpPr>
        <p:spPr>
          <a:xfrm>
            <a:off x="1828800" y="14676120"/>
            <a:ext cx="16002000" cy="8229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90% sparsity · Block size: 128 tokens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Compute-rich, bandwidth-modest: choose the payload route.</a:t>
            </a:r>
          </a:p>
        </p:txBody>
      </p:sp>
      <p:sp>
        <p:nvSpPr>
          <p:cNvPr id="4" name="Title 3"/>
          <p:cNvSpPr>
            <a:spLocks noGrp="1"/>
          </p:cNvSpPr>
          <p:nvPr>
            <p:ph type="title"/>
          </p:nvPr>
        </p:nvSpPr>
        <p:spPr/>
        <p:txBody>
          <a:bodyPr/>
          <a:lstStyle/>
          <a:p>
            <a:r>
              <a:rPr sz="8800"/>
              <a:t>Optimization - Comms</a:t>
            </a:r>
          </a:p>
        </p:txBody>
      </p:sp>
      <p:sp>
        <p:nvSpPr>
          <p:cNvPr id="5" name="CPU 0"/>
          <p:cNvSpPr/>
          <p:nvPr/>
        </p:nvSpPr>
        <p:spPr>
          <a:xfrm>
            <a:off x="36576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0 label"/>
          <p:cNvSpPr txBox="1"/>
          <p:nvPr/>
        </p:nvSpPr>
        <p:spPr>
          <a:xfrm>
            <a:off x="37216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0 + host buffers</a:t>
            </a:r>
          </a:p>
        </p:txBody>
      </p:sp>
      <p:sp>
        <p:nvSpPr>
          <p:cNvPr id="7" name="CPU 1"/>
          <p:cNvSpPr/>
          <p:nvPr/>
        </p:nvSpPr>
        <p:spPr>
          <a:xfrm>
            <a:off x="210312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1 label"/>
          <p:cNvSpPr txBox="1"/>
          <p:nvPr/>
        </p:nvSpPr>
        <p:spPr>
          <a:xfrm>
            <a:off x="210952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1 + host buffers</a:t>
            </a:r>
          </a:p>
        </p:txBody>
      </p:sp>
      <p:cxnSp>
        <p:nvCxnSpPr>
          <p:cNvPr id="9" name="CPU interconnect"/>
          <p:cNvCxnSpPr/>
          <p:nvPr/>
        </p:nvCxnSpPr>
        <p:spPr>
          <a:xfrm>
            <a:off x="15544800" y="5806440"/>
            <a:ext cx="5486400" cy="0"/>
          </a:xfrm>
          <a:prstGeom prst="line">
            <a:avLst/>
          </a:prstGeom>
          <a:ln w="81280">
            <a:solidFill>
              <a:srgbClr val="A7A7A7"/>
            </a:solidFill>
            <a:prstDash val="solid"/>
          </a:ln>
        </p:spPr>
        <p:style>
          <a:lnRef idx="2">
            <a:schemeClr val="accent1"/>
          </a:lnRef>
          <a:fillRef idx="0">
            <a:schemeClr val="accent1"/>
          </a:fillRef>
          <a:effectRef idx="1">
            <a:schemeClr val="accent1"/>
          </a:effectRef>
          <a:fontRef idx="minor">
            <a:schemeClr val="tx1"/>
          </a:fontRef>
        </p:style>
      </p:cxnSp>
      <p:sp>
        <p:nvSpPr>
          <p:cNvPr id="10" name="CPU interconnect bandwidth"/>
          <p:cNvSpPr txBox="1"/>
          <p:nvPr/>
        </p:nvSpPr>
        <p:spPr>
          <a:xfrm>
            <a:off x="15819120" y="5074920"/>
            <a:ext cx="4937760" cy="502920"/>
          </a:xfrm>
          <a:prstGeom prst="rect">
            <a:avLst/>
          </a:prstGeom>
          <a:noFill/>
        </p:spPr>
        <p:txBody>
          <a:bodyPr wrap="square" lIns="0" rIns="0" tIns="0" bIns="0">
            <a:spAutoFit/>
          </a:bodyPr>
          <a:lstStyle/>
          <a:p>
            <a:pPr algn="ctr"/>
            <a:r>
              <a:rPr sz="2800" b="0">
                <a:solidFill>
                  <a:srgbClr val="313131"/>
                </a:solidFill>
                <a:latin typeface="NVIDIA Sans"/>
              </a:rPr>
              <a:t>128 GB/s</a:t>
            </a:r>
          </a:p>
        </p:txBody>
      </p:sp>
      <p:cxnSp>
        <p:nvCxnSpPr>
          <p:cNvPr id="11" name="Host uplink 0"/>
          <p:cNvCxnSpPr/>
          <p:nvPr/>
        </p:nvCxnSpPr>
        <p:spPr>
          <a:xfrm flipH="1">
            <a:off x="52578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Switch 0"/>
          <p:cNvSpPr/>
          <p:nvPr/>
        </p:nvSpPr>
        <p:spPr>
          <a:xfrm>
            <a:off x="18288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witch 0 label"/>
          <p:cNvSpPr txBox="1"/>
          <p:nvPr/>
        </p:nvSpPr>
        <p:spPr>
          <a:xfrm>
            <a:off x="1892807"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14" name="GPU link 0-0"/>
          <p:cNvCxnSpPr/>
          <p:nvPr/>
        </p:nvCxnSpPr>
        <p:spPr>
          <a:xfrm>
            <a:off x="3429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5" name="GPU 0"/>
          <p:cNvSpPr/>
          <p:nvPr/>
        </p:nvSpPr>
        <p:spPr>
          <a:xfrm>
            <a:off x="19659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PU 0 label"/>
          <p:cNvSpPr txBox="1"/>
          <p:nvPr/>
        </p:nvSpPr>
        <p:spPr>
          <a:xfrm>
            <a:off x="2029967"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0</a:t>
            </a:r>
          </a:p>
        </p:txBody>
      </p:sp>
      <p:cxnSp>
        <p:nvCxnSpPr>
          <p:cNvPr id="17" name="GPU link 0-1"/>
          <p:cNvCxnSpPr/>
          <p:nvPr/>
        </p:nvCxnSpPr>
        <p:spPr>
          <a:xfrm>
            <a:off x="7086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8" name="GPU 1"/>
          <p:cNvSpPr/>
          <p:nvPr/>
        </p:nvSpPr>
        <p:spPr>
          <a:xfrm>
            <a:off x="56235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1 label"/>
          <p:cNvSpPr txBox="1"/>
          <p:nvPr/>
        </p:nvSpPr>
        <p:spPr>
          <a:xfrm>
            <a:off x="5687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1</a:t>
            </a:r>
          </a:p>
        </p:txBody>
      </p:sp>
      <p:cxnSp>
        <p:nvCxnSpPr>
          <p:cNvPr id="20" name="NIC PCIe 0"/>
          <p:cNvCxnSpPr/>
          <p:nvPr/>
        </p:nvCxnSpPr>
        <p:spPr>
          <a:xfrm>
            <a:off x="86868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1" name="NIC PCIe 0"/>
          <p:cNvCxnSpPr/>
          <p:nvPr/>
        </p:nvCxnSpPr>
        <p:spPr>
          <a:xfrm>
            <a:off x="90982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2" name="NIC PCIe 0"/>
          <p:cNvCxnSpPr/>
          <p:nvPr/>
        </p:nvCxnSpPr>
        <p:spPr>
          <a:xfrm flipH="1">
            <a:off x="86868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NIC 0"/>
          <p:cNvSpPr/>
          <p:nvPr/>
        </p:nvSpPr>
        <p:spPr>
          <a:xfrm>
            <a:off x="18288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IC 0 label"/>
          <p:cNvSpPr txBox="1"/>
          <p:nvPr/>
        </p:nvSpPr>
        <p:spPr>
          <a:xfrm>
            <a:off x="1892807"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25" name="400G port 0-0"/>
          <p:cNvCxnSpPr/>
          <p:nvPr/>
        </p:nvCxnSpPr>
        <p:spPr>
          <a:xfrm>
            <a:off x="49377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6" name="400G port 0-1"/>
          <p:cNvCxnSpPr/>
          <p:nvPr/>
        </p:nvCxnSpPr>
        <p:spPr>
          <a:xfrm>
            <a:off x="55778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Ports 0"/>
          <p:cNvSpPr txBox="1"/>
          <p:nvPr/>
        </p:nvSpPr>
        <p:spPr>
          <a:xfrm>
            <a:off x="58064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28" name="Host uplink 1"/>
          <p:cNvCxnSpPr/>
          <p:nvPr/>
        </p:nvCxnSpPr>
        <p:spPr>
          <a:xfrm>
            <a:off x="128016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witch 1"/>
          <p:cNvSpPr/>
          <p:nvPr/>
        </p:nvSpPr>
        <p:spPr>
          <a:xfrm>
            <a:off x="105156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witch 1 label"/>
          <p:cNvSpPr txBox="1"/>
          <p:nvPr/>
        </p:nvSpPr>
        <p:spPr>
          <a:xfrm>
            <a:off x="105796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31" name="GPU link 1-0"/>
          <p:cNvCxnSpPr/>
          <p:nvPr/>
        </p:nvCxnSpPr>
        <p:spPr>
          <a:xfrm>
            <a:off x="121158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2" name="GPU 2"/>
          <p:cNvSpPr/>
          <p:nvPr/>
        </p:nvSpPr>
        <p:spPr>
          <a:xfrm>
            <a:off x="106527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2 label"/>
          <p:cNvSpPr txBox="1"/>
          <p:nvPr/>
        </p:nvSpPr>
        <p:spPr>
          <a:xfrm>
            <a:off x="107167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2</a:t>
            </a:r>
          </a:p>
        </p:txBody>
      </p:sp>
      <p:cxnSp>
        <p:nvCxnSpPr>
          <p:cNvPr id="34" name="GPU link 1-1"/>
          <p:cNvCxnSpPr/>
          <p:nvPr/>
        </p:nvCxnSpPr>
        <p:spPr>
          <a:xfrm>
            <a:off x="15773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5" name="GPU 3"/>
          <p:cNvSpPr/>
          <p:nvPr/>
        </p:nvSpPr>
        <p:spPr>
          <a:xfrm>
            <a:off x="14310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PU 3 label"/>
          <p:cNvSpPr txBox="1"/>
          <p:nvPr/>
        </p:nvSpPr>
        <p:spPr>
          <a:xfrm>
            <a:off x="14374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3</a:t>
            </a:r>
          </a:p>
        </p:txBody>
      </p:sp>
      <p:cxnSp>
        <p:nvCxnSpPr>
          <p:cNvPr id="37" name="NIC PCIe 1"/>
          <p:cNvCxnSpPr/>
          <p:nvPr/>
        </p:nvCxnSpPr>
        <p:spPr>
          <a:xfrm>
            <a:off x="173736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8" name="NIC PCIe 1"/>
          <p:cNvCxnSpPr/>
          <p:nvPr/>
        </p:nvCxnSpPr>
        <p:spPr>
          <a:xfrm>
            <a:off x="177850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9" name="NIC PCIe 1"/>
          <p:cNvCxnSpPr/>
          <p:nvPr/>
        </p:nvCxnSpPr>
        <p:spPr>
          <a:xfrm flipH="1">
            <a:off x="173736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40" name="NIC 1"/>
          <p:cNvSpPr/>
          <p:nvPr/>
        </p:nvSpPr>
        <p:spPr>
          <a:xfrm>
            <a:off x="105156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IC 1 label"/>
          <p:cNvSpPr txBox="1"/>
          <p:nvPr/>
        </p:nvSpPr>
        <p:spPr>
          <a:xfrm>
            <a:off x="105796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42" name="400G port 1-0"/>
          <p:cNvCxnSpPr/>
          <p:nvPr/>
        </p:nvCxnSpPr>
        <p:spPr>
          <a:xfrm>
            <a:off x="136245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43" name="400G port 1-1"/>
          <p:cNvCxnSpPr/>
          <p:nvPr/>
        </p:nvCxnSpPr>
        <p:spPr>
          <a:xfrm>
            <a:off x="142646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Ports 1"/>
          <p:cNvSpPr txBox="1"/>
          <p:nvPr/>
        </p:nvSpPr>
        <p:spPr>
          <a:xfrm>
            <a:off x="144932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45" name="Host uplink 2"/>
          <p:cNvCxnSpPr/>
          <p:nvPr/>
        </p:nvCxnSpPr>
        <p:spPr>
          <a:xfrm flipH="1">
            <a:off x="226314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6" name="Switch 2"/>
          <p:cNvSpPr/>
          <p:nvPr/>
        </p:nvSpPr>
        <p:spPr>
          <a:xfrm>
            <a:off x="192024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witch 2 label"/>
          <p:cNvSpPr txBox="1"/>
          <p:nvPr/>
        </p:nvSpPr>
        <p:spPr>
          <a:xfrm>
            <a:off x="192664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48" name="GPU link 2-0"/>
          <p:cNvCxnSpPr/>
          <p:nvPr/>
        </p:nvCxnSpPr>
        <p:spPr>
          <a:xfrm>
            <a:off x="20802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GPU 4"/>
          <p:cNvSpPr/>
          <p:nvPr/>
        </p:nvSpPr>
        <p:spPr>
          <a:xfrm>
            <a:off x="193395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GPU 4 label"/>
          <p:cNvSpPr txBox="1"/>
          <p:nvPr/>
        </p:nvSpPr>
        <p:spPr>
          <a:xfrm>
            <a:off x="19403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4</a:t>
            </a:r>
          </a:p>
        </p:txBody>
      </p:sp>
      <p:cxnSp>
        <p:nvCxnSpPr>
          <p:cNvPr id="51" name="GPU link 2-1"/>
          <p:cNvCxnSpPr/>
          <p:nvPr/>
        </p:nvCxnSpPr>
        <p:spPr>
          <a:xfrm>
            <a:off x="244602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52" name="GPU 5"/>
          <p:cNvSpPr/>
          <p:nvPr/>
        </p:nvSpPr>
        <p:spPr>
          <a:xfrm>
            <a:off x="229971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PU 5 label"/>
          <p:cNvSpPr txBox="1"/>
          <p:nvPr/>
        </p:nvSpPr>
        <p:spPr>
          <a:xfrm>
            <a:off x="230611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5</a:t>
            </a:r>
          </a:p>
        </p:txBody>
      </p:sp>
      <p:cxnSp>
        <p:nvCxnSpPr>
          <p:cNvPr id="54" name="NIC PCIe 2"/>
          <p:cNvCxnSpPr/>
          <p:nvPr/>
        </p:nvCxnSpPr>
        <p:spPr>
          <a:xfrm>
            <a:off x="260604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5" name="NIC PCIe 2"/>
          <p:cNvCxnSpPr/>
          <p:nvPr/>
        </p:nvCxnSpPr>
        <p:spPr>
          <a:xfrm>
            <a:off x="264718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6" name="NIC PCIe 2"/>
          <p:cNvCxnSpPr/>
          <p:nvPr/>
        </p:nvCxnSpPr>
        <p:spPr>
          <a:xfrm flipH="1">
            <a:off x="260604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57" name="NIC 2"/>
          <p:cNvSpPr/>
          <p:nvPr/>
        </p:nvSpPr>
        <p:spPr>
          <a:xfrm>
            <a:off x="192024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IC 2 label"/>
          <p:cNvSpPr txBox="1"/>
          <p:nvPr/>
        </p:nvSpPr>
        <p:spPr>
          <a:xfrm>
            <a:off x="192664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59" name="400G port 2-0"/>
          <p:cNvCxnSpPr/>
          <p:nvPr/>
        </p:nvCxnSpPr>
        <p:spPr>
          <a:xfrm>
            <a:off x="223113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60" name="400G port 2-1"/>
          <p:cNvCxnSpPr/>
          <p:nvPr/>
        </p:nvCxnSpPr>
        <p:spPr>
          <a:xfrm>
            <a:off x="22951439"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61" name="Ports 2"/>
          <p:cNvSpPr txBox="1"/>
          <p:nvPr/>
        </p:nvSpPr>
        <p:spPr>
          <a:xfrm>
            <a:off x="231800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62" name="Host uplink 3"/>
          <p:cNvCxnSpPr/>
          <p:nvPr/>
        </p:nvCxnSpPr>
        <p:spPr>
          <a:xfrm>
            <a:off x="301752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3" name="Switch 3"/>
          <p:cNvSpPr/>
          <p:nvPr/>
        </p:nvSpPr>
        <p:spPr>
          <a:xfrm>
            <a:off x="278892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witch 3 label"/>
          <p:cNvSpPr txBox="1"/>
          <p:nvPr/>
        </p:nvSpPr>
        <p:spPr>
          <a:xfrm>
            <a:off x="279532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65" name="GPU link 3-0"/>
          <p:cNvCxnSpPr/>
          <p:nvPr/>
        </p:nvCxnSpPr>
        <p:spPr>
          <a:xfrm>
            <a:off x="29489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6" name="GPU 6"/>
          <p:cNvSpPr/>
          <p:nvPr/>
        </p:nvSpPr>
        <p:spPr>
          <a:xfrm>
            <a:off x="28026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PU 6 label"/>
          <p:cNvSpPr txBox="1"/>
          <p:nvPr/>
        </p:nvSpPr>
        <p:spPr>
          <a:xfrm>
            <a:off x="28090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6</a:t>
            </a:r>
          </a:p>
        </p:txBody>
      </p:sp>
      <p:cxnSp>
        <p:nvCxnSpPr>
          <p:cNvPr id="68" name="GPU link 3-1"/>
          <p:cNvCxnSpPr/>
          <p:nvPr/>
        </p:nvCxnSpPr>
        <p:spPr>
          <a:xfrm>
            <a:off x="33147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9" name="GPU 7"/>
          <p:cNvSpPr/>
          <p:nvPr/>
        </p:nvSpPr>
        <p:spPr>
          <a:xfrm>
            <a:off x="316839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PU 7 label"/>
          <p:cNvSpPr txBox="1"/>
          <p:nvPr/>
        </p:nvSpPr>
        <p:spPr>
          <a:xfrm>
            <a:off x="317479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7</a:t>
            </a:r>
          </a:p>
        </p:txBody>
      </p:sp>
      <p:cxnSp>
        <p:nvCxnSpPr>
          <p:cNvPr id="71" name="NIC PCIe 3"/>
          <p:cNvCxnSpPr/>
          <p:nvPr/>
        </p:nvCxnSpPr>
        <p:spPr>
          <a:xfrm>
            <a:off x="347472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2" name="NIC PCIe 3"/>
          <p:cNvCxnSpPr/>
          <p:nvPr/>
        </p:nvCxnSpPr>
        <p:spPr>
          <a:xfrm>
            <a:off x="351586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3" name="NIC PCIe 3"/>
          <p:cNvCxnSpPr/>
          <p:nvPr/>
        </p:nvCxnSpPr>
        <p:spPr>
          <a:xfrm flipH="1">
            <a:off x="347472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74" name="NIC 3"/>
          <p:cNvSpPr/>
          <p:nvPr/>
        </p:nvSpPr>
        <p:spPr>
          <a:xfrm>
            <a:off x="278892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NIC 3 label"/>
          <p:cNvSpPr txBox="1"/>
          <p:nvPr/>
        </p:nvSpPr>
        <p:spPr>
          <a:xfrm>
            <a:off x="279532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76" name="400G port 3-0"/>
          <p:cNvCxnSpPr/>
          <p:nvPr/>
        </p:nvCxnSpPr>
        <p:spPr>
          <a:xfrm>
            <a:off x="309981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7" name="400G port 3-1"/>
          <p:cNvCxnSpPr/>
          <p:nvPr/>
        </p:nvCxnSpPr>
        <p:spPr>
          <a:xfrm>
            <a:off x="316382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78" name="Ports 3"/>
          <p:cNvSpPr txBox="1"/>
          <p:nvPr/>
        </p:nvSpPr>
        <p:spPr>
          <a:xfrm>
            <a:off x="318668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sp>
        <p:nvSpPr>
          <p:cNvPr id="79" name="Fabric"/>
          <p:cNvSpPr/>
          <p:nvPr/>
        </p:nvSpPr>
        <p:spPr>
          <a:xfrm>
            <a:off x="1828800" y="13716000"/>
            <a:ext cx="32918400" cy="548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abric text"/>
          <p:cNvSpPr txBox="1"/>
          <p:nvPr/>
        </p:nvSpPr>
        <p:spPr>
          <a:xfrm>
            <a:off x="27432000" y="13734288"/>
            <a:ext cx="7315200" cy="45720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RoCE fabric</a:t>
            </a:r>
          </a:p>
        </p:txBody>
      </p:sp>
      <p:cxnSp>
        <p:nvCxnSpPr>
          <p:cNvPr id="81" name="NCCL G0 up"/>
          <p:cNvCxnSpPr/>
          <p:nvPr/>
        </p:nvCxnSpPr>
        <p:spPr>
          <a:xfrm flipV="1">
            <a:off x="34290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NCCL Host0 up"/>
          <p:cNvCxnSpPr/>
          <p:nvPr/>
        </p:nvCxnSpPr>
        <p:spPr>
          <a:xfrm flipV="1">
            <a:off x="52578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NCCL Across sockets"/>
          <p:cNvCxnSpPr/>
          <p:nvPr/>
        </p:nvCxnSpPr>
        <p:spPr>
          <a:xfrm>
            <a:off x="15544800" y="5806440"/>
            <a:ext cx="5486400" cy="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NCCL Host1 down"/>
          <p:cNvCxnSpPr/>
          <p:nvPr/>
        </p:nvCxnSpPr>
        <p:spPr>
          <a:xfrm flipH="1">
            <a:off x="226314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NCCL G4 down"/>
          <p:cNvCxnSpPr/>
          <p:nvPr/>
        </p:nvCxnSpPr>
        <p:spPr>
          <a:xfrm>
            <a:off x="208026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RDMA G0 up"/>
          <p:cNvCxnSpPr/>
          <p:nvPr/>
        </p:nvCxnSpPr>
        <p:spPr>
          <a:xfrm flipV="1">
            <a:off x="36118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RDMA NIC 0-0"/>
          <p:cNvCxnSpPr/>
          <p:nvPr/>
        </p:nvCxnSpPr>
        <p:spPr>
          <a:xfrm>
            <a:off x="86868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8" name="RDMA NIC 0-1"/>
          <p:cNvCxnSpPr/>
          <p:nvPr/>
        </p:nvCxnSpPr>
        <p:spPr>
          <a:xfrm>
            <a:off x="90982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RDMA NIC 0-2"/>
          <p:cNvCxnSpPr/>
          <p:nvPr/>
        </p:nvCxnSpPr>
        <p:spPr>
          <a:xfrm flipH="1">
            <a:off x="86868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0" name="RDMA NIC 2-0"/>
          <p:cNvCxnSpPr/>
          <p:nvPr/>
        </p:nvCxnSpPr>
        <p:spPr>
          <a:xfrm>
            <a:off x="260604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1" name="RDMA NIC 2-1"/>
          <p:cNvCxnSpPr/>
          <p:nvPr/>
        </p:nvCxnSpPr>
        <p:spPr>
          <a:xfrm flipV="1">
            <a:off x="264718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RDMA NIC 2-2"/>
          <p:cNvCxnSpPr/>
          <p:nvPr/>
        </p:nvCxnSpPr>
        <p:spPr>
          <a:xfrm flipH="1">
            <a:off x="260604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3" name="RDMA source port"/>
          <p:cNvCxnSpPr/>
          <p:nvPr/>
        </p:nvCxnSpPr>
        <p:spPr>
          <a:xfrm>
            <a:off x="49377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RDMA logical fabric"/>
          <p:cNvCxnSpPr/>
          <p:nvPr/>
        </p:nvCxnSpPr>
        <p:spPr>
          <a:xfrm>
            <a:off x="4937760" y="13990320"/>
            <a:ext cx="17373600" cy="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RDMA target port"/>
          <p:cNvCxnSpPr/>
          <p:nvPr/>
        </p:nvCxnSpPr>
        <p:spPr>
          <a:xfrm flipV="1">
            <a:off x="223113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RDMA G4 down"/>
          <p:cNvCxnSpPr/>
          <p:nvPr/>
        </p:nvCxnSpPr>
        <p:spPr>
          <a:xfrm>
            <a:off x="209854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Nominal bandwidth legend"/>
          <p:cNvSpPr txBox="1"/>
          <p:nvPr/>
        </p:nvSpPr>
        <p:spPr>
          <a:xfrm>
            <a:off x="1828800" y="14630400"/>
            <a:ext cx="3291840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Nominal one-way links: GPU / host 64 GB/s  ·  NIC PCIe 128 GB/s  ·  port 50 GB/s</a:t>
            </a:r>
          </a:p>
        </p:txBody>
      </p:sp>
      <p:sp>
        <p:nvSpPr>
          <p:cNvPr id="98" name="NCCL path heading"/>
          <p:cNvSpPr txBox="1"/>
          <p:nvPr/>
        </p:nvSpPr>
        <p:spPr>
          <a:xfrm>
            <a:off x="1828800" y="15681959"/>
            <a:ext cx="1554480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Original code · local-only NCCL replay</a:t>
            </a:r>
          </a:p>
        </p:txBody>
      </p:sp>
      <p:sp>
        <p:nvSpPr>
          <p:cNvPr id="99" name="NCCL measured rate"/>
          <p:cNvSpPr txBox="1"/>
          <p:nvPr/>
        </p:nvSpPr>
        <p:spPr>
          <a:xfrm>
            <a:off x="1828800" y="16733520"/>
            <a:ext cx="13716000" cy="109728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17.0 GB/s/GPU</a:t>
            </a:r>
          </a:p>
        </p:txBody>
      </p:sp>
      <p:sp>
        <p:nvSpPr>
          <p:cNvPr id="100" name="NCCL measured time"/>
          <p:cNvSpPr txBox="1"/>
          <p:nvPr/>
        </p:nvSpPr>
        <p:spPr>
          <a:xfrm>
            <a:off x="1828800" y="17967960"/>
            <a:ext cx="1490472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5.560 ms · shared uplinks + host buffers</a:t>
            </a:r>
          </a:p>
        </p:txBody>
      </p:sp>
      <p:sp>
        <p:nvSpPr>
          <p:cNvPr id="101" name="Communication speedup"/>
          <p:cNvSpPr txBox="1"/>
          <p:nvPr/>
        </p:nvSpPr>
        <p:spPr>
          <a:xfrm>
            <a:off x="15773400" y="16687800"/>
            <a:ext cx="5029200" cy="1371600"/>
          </a:xfrm>
          <a:prstGeom prst="rect">
            <a:avLst/>
          </a:prstGeom>
          <a:noFill/>
        </p:spPr>
        <p:txBody>
          <a:bodyPr wrap="square" lIns="0" rIns="0" tIns="0" bIns="0">
            <a:spAutoFit/>
          </a:bodyPr>
          <a:lstStyle/>
          <a:p>
            <a:pPr algn="ctr">
              <a:spcBef>
                <a:spcPts val="0"/>
              </a:spcBef>
              <a:spcAft>
                <a:spcPts val="0"/>
              </a:spcAft>
            </a:pPr>
            <a:r>
              <a:rPr sz="7500" b="0">
                <a:solidFill>
                  <a:srgbClr val="76B900"/>
                </a:solidFill>
                <a:latin typeface="NVIDIA Sans Medium"/>
              </a:rPr>
              <a:t>2.34×</a:t>
            </a:r>
          </a:p>
        </p:txBody>
      </p:sp>
      <p:sp>
        <p:nvSpPr>
          <p:cNvPr id="102" name="RDMA path heading"/>
          <p:cNvSpPr txBox="1"/>
          <p:nvPr/>
        </p:nvSpPr>
        <p:spPr>
          <a:xfrm>
            <a:off x="21945600" y="15681959"/>
            <a:ext cx="128016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GPU-affine FI RDMA</a:t>
            </a:r>
          </a:p>
        </p:txBody>
      </p:sp>
      <p:sp>
        <p:nvSpPr>
          <p:cNvPr id="103" name="RDMA measured rate"/>
          <p:cNvSpPr txBox="1"/>
          <p:nvPr/>
        </p:nvSpPr>
        <p:spPr>
          <a:xfrm>
            <a:off x="21945600" y="16733520"/>
            <a:ext cx="12801600" cy="1097280"/>
          </a:xfrm>
          <a:prstGeom prst="rect">
            <a:avLst/>
          </a:prstGeom>
          <a:noFill/>
        </p:spPr>
        <p:txBody>
          <a:bodyPr wrap="square" lIns="0" rIns="0" tIns="0" bIns="0">
            <a:spAutoFit/>
          </a:bodyPr>
          <a:lstStyle/>
          <a:p>
            <a:pPr>
              <a:spcBef>
                <a:spcPts val="0"/>
              </a:spcBef>
              <a:spcAft>
                <a:spcPts val="0"/>
              </a:spcAft>
            </a:pPr>
            <a:r>
              <a:rPr sz="6000" b="0">
                <a:solidFill>
                  <a:srgbClr val="76B900"/>
                </a:solidFill>
                <a:latin typeface="NVIDIA Sans Medium"/>
              </a:rPr>
              <a:t>39.9 GB/s/GPU</a:t>
            </a:r>
          </a:p>
        </p:txBody>
      </p:sp>
      <p:sp>
        <p:nvSpPr>
          <p:cNvPr id="104" name="RDMA measured time"/>
          <p:cNvSpPr txBox="1"/>
          <p:nvPr/>
        </p:nvSpPr>
        <p:spPr>
          <a:xfrm>
            <a:off x="21945600" y="17967960"/>
            <a:ext cx="128016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2.375 ms · bypasses host payload buffers</a:t>
            </a:r>
          </a:p>
        </p:txBody>
      </p:sp>
      <p:sp>
        <p:nvSpPr>
          <p:cNvPr id="105" name="Measurement scope"/>
          <p:cNvSpPr txBox="1"/>
          <p:nvPr/>
        </p:nvSpPr>
        <p:spPr>
          <a:xfrm>
            <a:off x="1828800" y="189738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Measured 8-GPU Q/K/V/O replay · S=15,104 · BF16 · 90 samples/backend · includes layout and synchronization.</a:t>
            </a:r>
          </a:p>
        </p:txBody>
      </p:sp>
      <p:sp>
        <p:nvSpPr>
          <p:cNvPr id="106" name="Route scope"/>
          <p:cNvSpPr txBox="1"/>
          <p:nvPr/>
        </p:nvSpPr>
        <p:spPr>
          <a:xfrm>
            <a:off x="1828800" y="19568160"/>
            <a:ext cx="32918400" cy="502920"/>
          </a:xfrm>
          <a:prstGeom prst="rect">
            <a:avLst/>
          </a:prstGeom>
          <a:noFill/>
        </p:spPr>
        <p:txBody>
          <a:bodyPr wrap="square" lIns="0" rIns="0" tIns="0" bIns="0">
            <a:spAutoFit/>
          </a:bodyPr>
          <a:lstStyle/>
          <a:p>
            <a:pPr>
              <a:spcBef>
                <a:spcPts val="0"/>
              </a:spcBef>
              <a:spcAft>
                <a:spcPts val="0"/>
              </a:spcAft>
            </a:pPr>
            <a:r>
              <a:rPr sz="2200" b="0">
                <a:solidFill>
                  <a:srgbClr val="313131"/>
                </a:solidFill>
                <a:latin typeface="NVIDIA Sans"/>
              </a:rPr>
              <a:t>Arrows illustrate GPU 0 → GPU 4. Rates are effective collective TX per GPU; historical Base50 pair routes were not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828800"/>
          </a:xfrm>
          <a:prstGeom prst="rect">
            <a:avLst/>
          </a:prstGeom>
          <a:noFill/>
        </p:spPr>
        <p:txBody>
          <a:bodyPr wrap="square" lIns="0" rIns="0" tIns="0" bIns="0">
            <a:spAutoFit/>
          </a:bodyPr>
          <a:lstStyle/>
          <a:p>
            <a:r>
              <a:rPr sz="3100" b="0">
                <a:solidFill>
                  <a:srgbClr val="000000"/>
                </a:solidFill>
                <a:latin typeface="NVIDIA Sans"/>
              </a:rPr>
              <a:t>GPU-affine NICs + BF16 RDMA.</a:t>
            </a:r>
          </a:p>
          <a:p>
            <a:r>
              <a:rPr sz="3100" b="0">
                <a:solidFill>
                  <a:srgbClr val="000000"/>
                </a:solidFill>
                <a:latin typeface="NVIDIA Sans"/>
              </a:rPr>
              <a:t>Bypass shared host payload paths.</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828800"/>
          </a:xfrm>
          <a:prstGeom prst="rect">
            <a:avLst/>
          </a:prstGeom>
          <a:noFill/>
        </p:spPr>
        <p:txBody>
          <a:bodyPr wrap="square" lIns="0" rIns="0" tIns="0" bIns="0">
            <a:spAutoFit/>
          </a:bodyPr>
          <a:lstStyle/>
          <a:p>
            <a:r>
              <a:rPr sz="3100" b="0">
                <a:solidFill>
                  <a:srgbClr val="000000"/>
                </a:solidFill>
                <a:latin typeface="NVIDIA Sans"/>
              </a:rPr>
              <a:t>2 / 3 / 2 head bands.</a:t>
            </a:r>
          </a:p>
          <a:p>
            <a:r>
              <a:rPr sz="3100" b="0">
                <a:solidFill>
                  <a:srgbClr val="000000"/>
                </a:solidFill>
                <a:latin typeface="NVIDIA Sans"/>
              </a:rPr>
              <a:t>Transfer one band while another computes.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828800"/>
          </a:xfrm>
          <a:prstGeom prst="rect">
            <a:avLst/>
          </a:prstGeom>
          <a:noFill/>
        </p:spPr>
        <p:txBody>
          <a:bodyPr wrap="square" lIns="0" rIns="0" tIns="0" bIns="0">
            <a:spAutoFit/>
          </a:bodyPr>
          <a:lstStyle/>
          <a:p>
            <a:r>
              <a:rPr sz="3100" b="0">
                <a:solidFill>
                  <a:srgbClr val="000000"/>
                </a:solidFill>
                <a:latin typeface="NVIDIA Sans"/>
              </a:rPr>
              <a:t>Direct layouts + compute CUDA graphs.</a:t>
            </a:r>
          </a:p>
          <a:p>
            <a:r>
              <a:rPr sz="3100" b="0">
                <a:solidFill>
                  <a:srgbClr val="000000"/>
                </a:solidFill>
                <a:latin typeface="NVIDIA Sans"/>
              </a:rPr>
              <a:t>Reduce copies and launch overhead.</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r>
              <a:rPr sz="2700" b="0">
                <a:solidFill>
                  <a:srgbClr val="313131"/>
                </a:solidFill>
                <a:latin typeface="NVIDIA Sans"/>
              </a:rPr>
              <a:t>Conceptual overlap · 2 / 3 / 2 head bands</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19.46 → 6.83 → 6.41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
        <p:nvSpPr>
          <p:cNvPr id="34" name="Comms stage labels"/>
          <p:cNvSpPr txBox="1"/>
          <p:nvPr/>
        </p:nvSpPr>
        <p:spPr>
          <a:xfrm>
            <a:off x="17373600" y="17007840"/>
            <a:ext cx="17373600" cy="59436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Route/layout → head bands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Ladder header"/>
          <p:cNvSpPr/>
          <p:nvPr/>
        </p:nvSpPr>
        <p:spPr>
          <a:xfrm>
            <a:off x="1828800" y="5303520"/>
            <a:ext cx="32918400" cy="118872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2148840" y="5596128"/>
            <a:ext cx="21031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Stage</a:t>
            </a:r>
          </a:p>
        </p:txBody>
      </p:sp>
      <p:sp>
        <p:nvSpPr>
          <p:cNvPr id="7" name="Header Cumulative optimization"/>
          <p:cNvSpPr txBox="1"/>
          <p:nvPr/>
        </p:nvSpPr>
        <p:spPr>
          <a:xfrm>
            <a:off x="4572000" y="5596128"/>
            <a:ext cx="185623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Cumulative optimization</a:t>
            </a:r>
          </a:p>
        </p:txBody>
      </p:sp>
      <p:sp>
        <p:nvSpPr>
          <p:cNvPr id="8" name="Header E2E latency"/>
          <p:cNvSpPr txBox="1"/>
          <p:nvPr/>
        </p:nvSpPr>
        <p:spPr>
          <a:xfrm>
            <a:off x="23774400" y="5596128"/>
            <a:ext cx="475488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E2E latency</a:t>
            </a:r>
          </a:p>
        </p:txBody>
      </p:sp>
      <p:sp>
        <p:nvSpPr>
          <p:cNvPr id="9" name="Header Speedup¹"/>
          <p:cNvSpPr txBox="1"/>
          <p:nvPr/>
        </p:nvSpPr>
        <p:spPr>
          <a:xfrm>
            <a:off x="29535119" y="5596128"/>
            <a:ext cx="493776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Speedup¹</a:t>
            </a:r>
          </a:p>
        </p:txBody>
      </p:sp>
      <p:sp>
        <p:nvSpPr>
          <p:cNvPr id="10" name="Row 00"/>
          <p:cNvSpPr/>
          <p:nvPr/>
        </p:nvSpPr>
        <p:spPr>
          <a:xfrm>
            <a:off x="1828800" y="6492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00 2.35"/>
          <p:cNvSpPr txBox="1"/>
          <p:nvPr/>
        </p:nvSpPr>
        <p:spPr>
          <a:xfrm>
            <a:off x="2148840" y="6766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00</a:t>
            </a:r>
          </a:p>
        </p:txBody>
      </p:sp>
      <p:sp>
        <p:nvSpPr>
          <p:cNvPr id="12" name="Stage 00 5"/>
          <p:cNvSpPr txBox="1"/>
          <p:nvPr/>
        </p:nvSpPr>
        <p:spPr>
          <a:xfrm>
            <a:off x="4572000" y="6766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Baseline · BF16 / dense / 50 evaluations</a:t>
            </a:r>
          </a:p>
        </p:txBody>
      </p:sp>
      <p:sp>
        <p:nvSpPr>
          <p:cNvPr id="13" name="Stage 00 26"/>
          <p:cNvSpPr txBox="1"/>
          <p:nvPr/>
        </p:nvSpPr>
        <p:spPr>
          <a:xfrm>
            <a:off x="23774400" y="6766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213.402 s</a:t>
            </a:r>
          </a:p>
        </p:txBody>
      </p:sp>
      <p:sp>
        <p:nvSpPr>
          <p:cNvPr id="14" name="Stage 00 32.3"/>
          <p:cNvSpPr txBox="1"/>
          <p:nvPr/>
        </p:nvSpPr>
        <p:spPr>
          <a:xfrm>
            <a:off x="29535119" y="6766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a:t>
            </a:r>
          </a:p>
        </p:txBody>
      </p:sp>
      <p:sp>
        <p:nvSpPr>
          <p:cNvPr id="15" name="Stage 01 2.35"/>
          <p:cNvSpPr txBox="1"/>
          <p:nvPr/>
        </p:nvSpPr>
        <p:spPr>
          <a:xfrm>
            <a:off x="2148840" y="7909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01</a:t>
            </a:r>
          </a:p>
        </p:txBody>
      </p:sp>
      <p:sp>
        <p:nvSpPr>
          <p:cNvPr id="16" name="Stage 01 5"/>
          <p:cNvSpPr txBox="1"/>
          <p:nvPr/>
        </p:nvSpPr>
        <p:spPr>
          <a:xfrm>
            <a:off x="4572000" y="7909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PDD · 50 → 8 evaluations</a:t>
            </a:r>
          </a:p>
        </p:txBody>
      </p:sp>
      <p:sp>
        <p:nvSpPr>
          <p:cNvPr id="17" name="Stage 01 26"/>
          <p:cNvSpPr txBox="1"/>
          <p:nvPr/>
        </p:nvSpPr>
        <p:spPr>
          <a:xfrm>
            <a:off x="23774400" y="7909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44.327 s</a:t>
            </a:r>
          </a:p>
        </p:txBody>
      </p:sp>
      <p:sp>
        <p:nvSpPr>
          <p:cNvPr id="18" name="Stage 01 32.3"/>
          <p:cNvSpPr txBox="1"/>
          <p:nvPr/>
        </p:nvSpPr>
        <p:spPr>
          <a:xfrm>
            <a:off x="29535119" y="7909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4.814×†</a:t>
            </a:r>
          </a:p>
        </p:txBody>
      </p:sp>
      <p:sp>
        <p:nvSpPr>
          <p:cNvPr id="19" name="Row 02"/>
          <p:cNvSpPr/>
          <p:nvPr/>
        </p:nvSpPr>
        <p:spPr>
          <a:xfrm>
            <a:off x="1828800" y="8778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02 2.35"/>
          <p:cNvSpPr txBox="1"/>
          <p:nvPr/>
        </p:nvSpPr>
        <p:spPr>
          <a:xfrm>
            <a:off x="2148840" y="9052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02</a:t>
            </a:r>
          </a:p>
        </p:txBody>
      </p:sp>
      <p:sp>
        <p:nvSpPr>
          <p:cNvPr id="21" name="Stage 02 5"/>
          <p:cNvSpPr txBox="1"/>
          <p:nvPr/>
        </p:nvSpPr>
        <p:spPr>
          <a:xfrm>
            <a:off x="4572000" y="9052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Trained video sparse attention</a:t>
            </a:r>
          </a:p>
        </p:txBody>
      </p:sp>
      <p:sp>
        <p:nvSpPr>
          <p:cNvPr id="22" name="Stage 02 26"/>
          <p:cNvSpPr txBox="1"/>
          <p:nvPr/>
        </p:nvSpPr>
        <p:spPr>
          <a:xfrm>
            <a:off x="23774400" y="9052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25.915 s</a:t>
            </a:r>
          </a:p>
        </p:txBody>
      </p:sp>
      <p:sp>
        <p:nvSpPr>
          <p:cNvPr id="23" name="Stage 02 32.3"/>
          <p:cNvSpPr txBox="1"/>
          <p:nvPr/>
        </p:nvSpPr>
        <p:spPr>
          <a:xfrm>
            <a:off x="29535119" y="9052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1.710×</a:t>
            </a:r>
          </a:p>
        </p:txBody>
      </p:sp>
      <p:sp>
        <p:nvSpPr>
          <p:cNvPr id="24" name="Stage 03 2.35"/>
          <p:cNvSpPr txBox="1"/>
          <p:nvPr/>
        </p:nvSpPr>
        <p:spPr>
          <a:xfrm>
            <a:off x="2148840" y="10195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03</a:t>
            </a:r>
          </a:p>
        </p:txBody>
      </p:sp>
      <p:sp>
        <p:nvSpPr>
          <p:cNvPr id="25" name="Stage 03 5"/>
          <p:cNvSpPr txBox="1"/>
          <p:nvPr/>
        </p:nvSpPr>
        <p:spPr>
          <a:xfrm>
            <a:off x="4572000" y="10195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QAD NVFP4 DiT / native FP4 attention</a:t>
            </a:r>
          </a:p>
        </p:txBody>
      </p:sp>
      <p:sp>
        <p:nvSpPr>
          <p:cNvPr id="26" name="Stage 03 26"/>
          <p:cNvSpPr txBox="1"/>
          <p:nvPr/>
        </p:nvSpPr>
        <p:spPr>
          <a:xfrm>
            <a:off x="23774400" y="10195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19.460 s</a:t>
            </a:r>
          </a:p>
        </p:txBody>
      </p:sp>
      <p:sp>
        <p:nvSpPr>
          <p:cNvPr id="27" name="Stage 03 32.3"/>
          <p:cNvSpPr txBox="1"/>
          <p:nvPr/>
        </p:nvSpPr>
        <p:spPr>
          <a:xfrm>
            <a:off x="29535119" y="10195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1.332×</a:t>
            </a:r>
          </a:p>
        </p:txBody>
      </p:sp>
      <p:sp>
        <p:nvSpPr>
          <p:cNvPr id="28" name="Row 04"/>
          <p:cNvSpPr/>
          <p:nvPr/>
        </p:nvSpPr>
        <p:spPr>
          <a:xfrm>
            <a:off x="1828800" y="11064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04 2.35"/>
          <p:cNvSpPr txBox="1"/>
          <p:nvPr/>
        </p:nvSpPr>
        <p:spPr>
          <a:xfrm>
            <a:off x="2148840" y="11338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04</a:t>
            </a:r>
          </a:p>
        </p:txBody>
      </p:sp>
      <p:sp>
        <p:nvSpPr>
          <p:cNvPr id="30" name="Stage 04 5"/>
          <p:cNvSpPr txBox="1"/>
          <p:nvPr/>
        </p:nvSpPr>
        <p:spPr>
          <a:xfrm>
            <a:off x="4572000" y="11338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RDMA / direct layout / V-gate overlap</a:t>
            </a:r>
          </a:p>
        </p:txBody>
      </p:sp>
      <p:sp>
        <p:nvSpPr>
          <p:cNvPr id="31" name="Stage 04 26"/>
          <p:cNvSpPr txBox="1"/>
          <p:nvPr/>
        </p:nvSpPr>
        <p:spPr>
          <a:xfrm>
            <a:off x="23774400" y="11338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6.832 s</a:t>
            </a:r>
          </a:p>
        </p:txBody>
      </p:sp>
      <p:sp>
        <p:nvSpPr>
          <p:cNvPr id="32" name="Stage 04 32.3"/>
          <p:cNvSpPr txBox="1"/>
          <p:nvPr/>
        </p:nvSpPr>
        <p:spPr>
          <a:xfrm>
            <a:off x="29535119" y="11338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2.848×</a:t>
            </a:r>
          </a:p>
        </p:txBody>
      </p:sp>
      <p:sp>
        <p:nvSpPr>
          <p:cNvPr id="33" name="Stage 05 2.35"/>
          <p:cNvSpPr txBox="1"/>
          <p:nvPr/>
        </p:nvSpPr>
        <p:spPr>
          <a:xfrm>
            <a:off x="2148840" y="12481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05</a:t>
            </a:r>
          </a:p>
        </p:txBody>
      </p:sp>
      <p:sp>
        <p:nvSpPr>
          <p:cNvPr id="34" name="Stage 05 5"/>
          <p:cNvSpPr txBox="1"/>
          <p:nvPr/>
        </p:nvSpPr>
        <p:spPr>
          <a:xfrm>
            <a:off x="4572000" y="12481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+ 2 / 3 / 2 head pipeline</a:t>
            </a:r>
          </a:p>
        </p:txBody>
      </p:sp>
      <p:sp>
        <p:nvSpPr>
          <p:cNvPr id="35" name="Stage 05 26"/>
          <p:cNvSpPr txBox="1"/>
          <p:nvPr/>
        </p:nvSpPr>
        <p:spPr>
          <a:xfrm>
            <a:off x="23774400" y="12481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6.407 s</a:t>
            </a:r>
          </a:p>
        </p:txBody>
      </p:sp>
      <p:sp>
        <p:nvSpPr>
          <p:cNvPr id="36" name="Stage 05 32.3"/>
          <p:cNvSpPr txBox="1"/>
          <p:nvPr/>
        </p:nvSpPr>
        <p:spPr>
          <a:xfrm>
            <a:off x="29535119" y="12481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1.066×</a:t>
            </a:r>
          </a:p>
        </p:txBody>
      </p:sp>
      <p:sp>
        <p:nvSpPr>
          <p:cNvPr id="37" name="Row 06"/>
          <p:cNvSpPr/>
          <p:nvPr/>
        </p:nvSpPr>
        <p:spPr>
          <a:xfrm>
            <a:off x="1828800" y="13350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ge 06 2.35"/>
          <p:cNvSpPr txBox="1"/>
          <p:nvPr/>
        </p:nvSpPr>
        <p:spPr>
          <a:xfrm>
            <a:off x="2148840" y="13624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06</a:t>
            </a:r>
          </a:p>
        </p:txBody>
      </p:sp>
      <p:sp>
        <p:nvSpPr>
          <p:cNvPr id="39" name="Stage 06 5"/>
          <p:cNvSpPr txBox="1"/>
          <p:nvPr/>
        </p:nvSpPr>
        <p:spPr>
          <a:xfrm>
            <a:off x="4572000" y="13624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Compute CUDA graphs</a:t>
            </a:r>
          </a:p>
        </p:txBody>
      </p:sp>
      <p:sp>
        <p:nvSpPr>
          <p:cNvPr id="40" name="Stage 06 26"/>
          <p:cNvSpPr txBox="1"/>
          <p:nvPr/>
        </p:nvSpPr>
        <p:spPr>
          <a:xfrm>
            <a:off x="23774400" y="13624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6.193 s</a:t>
            </a:r>
          </a:p>
        </p:txBody>
      </p:sp>
      <p:sp>
        <p:nvSpPr>
          <p:cNvPr id="41" name="Stage 06 32.3"/>
          <p:cNvSpPr txBox="1"/>
          <p:nvPr/>
        </p:nvSpPr>
        <p:spPr>
          <a:xfrm>
            <a:off x="29535119" y="13624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1.035×</a:t>
            </a:r>
          </a:p>
        </p:txBody>
      </p:sp>
      <p:sp>
        <p:nvSpPr>
          <p:cNvPr id="42" name="Stage 07 2.35"/>
          <p:cNvSpPr txBox="1"/>
          <p:nvPr/>
        </p:nvSpPr>
        <p:spPr>
          <a:xfrm>
            <a:off x="2148840" y="14767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07</a:t>
            </a:r>
          </a:p>
        </p:txBody>
      </p:sp>
      <p:sp>
        <p:nvSpPr>
          <p:cNvPr id="43" name="Stage 07 5"/>
          <p:cNvSpPr txBox="1"/>
          <p:nvPr/>
        </p:nvSpPr>
        <p:spPr>
          <a:xfrm>
            <a:off x="4572000" y="14767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+ 36-layer NVFP4 VAE / MP4 pre-encoding</a:t>
            </a:r>
          </a:p>
        </p:txBody>
      </p:sp>
      <p:sp>
        <p:nvSpPr>
          <p:cNvPr id="44" name="Stage 07 26"/>
          <p:cNvSpPr txBox="1"/>
          <p:nvPr/>
        </p:nvSpPr>
        <p:spPr>
          <a:xfrm>
            <a:off x="23774400" y="14767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5.420 s</a:t>
            </a:r>
          </a:p>
        </p:txBody>
      </p:sp>
      <p:sp>
        <p:nvSpPr>
          <p:cNvPr id="45" name="Stage 07 32.3"/>
          <p:cNvSpPr txBox="1"/>
          <p:nvPr/>
        </p:nvSpPr>
        <p:spPr>
          <a:xfrm>
            <a:off x="29535119" y="14767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1.143×</a:t>
            </a:r>
          </a:p>
        </p:txBody>
      </p:sp>
      <p:sp>
        <p:nvSpPr>
          <p:cNvPr id="46" name="Row 08–12"/>
          <p:cNvSpPr/>
          <p:nvPr/>
        </p:nvSpPr>
        <p:spPr>
          <a:xfrm>
            <a:off x="1828800" y="15636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ge 08–12 2.35"/>
          <p:cNvSpPr txBox="1"/>
          <p:nvPr/>
        </p:nvSpPr>
        <p:spPr>
          <a:xfrm>
            <a:off x="2148840" y="15910560"/>
            <a:ext cx="210312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08–12</a:t>
            </a:r>
          </a:p>
        </p:txBody>
      </p:sp>
      <p:sp>
        <p:nvSpPr>
          <p:cNvPr id="48" name="Stage 08–12 5"/>
          <p:cNvSpPr txBox="1"/>
          <p:nvPr/>
        </p:nvSpPr>
        <p:spPr>
          <a:xfrm>
            <a:off x="4572000" y="15910560"/>
            <a:ext cx="18562320" cy="777240"/>
          </a:xfrm>
          <a:prstGeom prst="rect">
            <a:avLst/>
          </a:prstGeom>
          <a:noFill/>
        </p:spPr>
        <p:txBody>
          <a:bodyPr wrap="square" lIns="0" rIns="0" tIns="0" bIns="0">
            <a:spAutoFit/>
          </a:bodyPr>
          <a:lstStyle/>
          <a:p>
            <a:pPr>
              <a:spcBef>
                <a:spcPts val="0"/>
              </a:spcBef>
              <a:spcAft>
                <a:spcPts val="0"/>
              </a:spcAft>
            </a:pPr>
            <a:r>
              <a:rPr sz="3300" b="0">
                <a:solidFill>
                  <a:srgbClr val="76B900"/>
                </a:solidFill>
                <a:latin typeface="NVIDIA Sans Medium"/>
              </a:rPr>
              <a:t>+ Output fusion / routing / copy removal</a:t>
            </a:r>
          </a:p>
        </p:txBody>
      </p:sp>
      <p:sp>
        <p:nvSpPr>
          <p:cNvPr id="49" name="Stage 08–12 26"/>
          <p:cNvSpPr txBox="1"/>
          <p:nvPr/>
        </p:nvSpPr>
        <p:spPr>
          <a:xfrm>
            <a:off x="23774400" y="15910560"/>
            <a:ext cx="502920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4.922 s</a:t>
            </a:r>
          </a:p>
        </p:txBody>
      </p:sp>
      <p:sp>
        <p:nvSpPr>
          <p:cNvPr id="50" name="Stage 08–12 32.3"/>
          <p:cNvSpPr txBox="1"/>
          <p:nvPr/>
        </p:nvSpPr>
        <p:spPr>
          <a:xfrm>
            <a:off x="29535119" y="15910560"/>
            <a:ext cx="493776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1.101×</a:t>
            </a:r>
          </a:p>
        </p:txBody>
      </p:sp>
      <p:sp>
        <p:nvSpPr>
          <p:cNvPr id="51" name="Overall measured result"/>
          <p:cNvSpPr txBox="1"/>
          <p:nvPr/>
        </p:nvSpPr>
        <p:spPr>
          <a:xfrm>
            <a:off x="1828800" y="17419320"/>
            <a:ext cx="32918400" cy="1097280"/>
          </a:xfrm>
          <a:prstGeom prst="rect">
            <a:avLst/>
          </a:prstGeom>
          <a:noFill/>
        </p:spPr>
        <p:txBody>
          <a:bodyPr wrap="square" lIns="0" rIns="0" tIns="0" bIns="0">
            <a:spAutoFit/>
          </a:bodyPr>
          <a:lstStyle/>
          <a:p>
            <a:pPr algn="ctr">
              <a:spcBef>
                <a:spcPts val="0"/>
              </a:spcBef>
              <a:spcAft>
                <a:spcPts val="0"/>
              </a:spcAft>
            </a:pPr>
            <a:r>
              <a:rPr sz="5800" b="0">
                <a:solidFill>
                  <a:srgbClr val="76B900"/>
                </a:solidFill>
                <a:latin typeface="NVIDIA Sans Medium"/>
              </a:rPr>
              <a:t>43.4× faster  ·  4.92 s  ·  RTF 0.95</a:t>
            </a:r>
          </a:p>
        </p:txBody>
      </p:sp>
      <p:sp>
        <p:nvSpPr>
          <p:cNvPr id="52" name="Ladder ratio note"/>
          <p:cNvSpPr txBox="1"/>
          <p:nvPr/>
        </p:nvSpPr>
        <p:spPr>
          <a:xfrm>
            <a:off x="1828800" y="189280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¹ Previous displayed row ÷ current row. 08–12 is grouped. † Baseline refreshed separately (n=2); later stages n=3.</a:t>
            </a:r>
          </a:p>
        </p:txBody>
      </p:sp>
      <p:sp>
        <p:nvSpPr>
          <p:cNvPr id="53" name="Ladder scope"/>
          <p:cNvSpPr txBox="1"/>
          <p:nvPr/>
        </p:nvSpPr>
        <p:spPr>
          <a:xfrm>
            <a:off x="1828800" y="1952244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Standalone H3; ASR / LLM excluded. Includes model, schedule and precision changes. No new measurements.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11</a:t>
            </a:r>
          </a:p>
        </p:txBody>
      </p:sp>
      <p:sp>
        <p:nvSpPr>
          <p:cNvPr id="3" name="Text Placeholder 2"/>
          <p:cNvSpPr>
            <a:spLocks noGrp="1"/>
          </p:cNvSpPr>
          <p:nvPr>
            <p:ph type="body" idx="13" sz="quarter"/>
          </p:nvPr>
        </p:nvSpPr>
        <p:spPr/>
        <p:txBody>
          <a:bodyPr/>
          <a:lstStyle/>
          <a:p>
            <a:r>
              <a:t>Carry a short audio–video latent tail into each new ~5 s window.</a:t>
            </a:r>
          </a:p>
        </p:txBody>
      </p:sp>
      <p:sp>
        <p:nvSpPr>
          <p:cNvPr id="4" name="Title 3"/>
          <p:cNvSpPr>
            <a:spLocks noGrp="1"/>
          </p:cNvSpPr>
          <p:nvPr>
            <p:ph type="title"/>
          </p:nvPr>
        </p:nvSpPr>
        <p:spPr/>
        <p:txBody>
          <a:bodyPr/>
          <a:lstStyle/>
          <a:p>
            <a:r>
              <a:rPr sz="8800"/>
              <a:t>Continuation: From One Clip to the Next</a:t>
            </a:r>
          </a:p>
        </p:txBody>
      </p:sp>
      <p:sp>
        <p:nvSpPr>
          <p:cNvPr id="5" name="Previous chunk heading"/>
          <p:cNvSpPr txBox="1"/>
          <p:nvPr/>
        </p:nvSpPr>
        <p:spPr>
          <a:xfrm>
            <a:off x="1828800" y="5760720"/>
            <a:ext cx="758952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PREVIOUS CHUNK</a:t>
            </a:r>
          </a:p>
        </p:txBody>
      </p:sp>
      <p:pic>
        <p:nvPicPr>
          <p:cNvPr id="6" name="Actual ending of chunk A" descr="image.png"/>
          <p:cNvPicPr>
            <a:picLocks noChangeAspect="1"/>
          </p:cNvPicPr>
          <p:nvPr/>
        </p:nvPicPr>
        <p:blipFill>
          <a:blip r:embed="rId3"/>
          <a:stretch>
            <a:fillRect/>
          </a:stretch>
        </p:blipFill>
        <p:spPr>
          <a:xfrm>
            <a:off x="1828800" y="6949440"/>
            <a:ext cx="7406640" cy="4197096"/>
          </a:xfrm>
          <a:prstGeom prst="rect">
            <a:avLst/>
          </a:prstGeom>
        </p:spPr>
      </p:pic>
      <p:sp>
        <p:nvSpPr>
          <p:cNvPr id="7" name="Previous chunk caption"/>
          <p:cNvSpPr txBox="1"/>
          <p:nvPr/>
        </p:nvSpPr>
        <p:spPr>
          <a:xfrm>
            <a:off x="1828800" y="11475720"/>
            <a:ext cx="740664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Keep only the ending</a:t>
            </a:r>
          </a:p>
        </p:txBody>
      </p:sp>
      <p:sp>
        <p:nvSpPr>
          <p:cNvPr id="8" name="History heading"/>
          <p:cNvSpPr txBox="1"/>
          <p:nvPr/>
        </p:nvSpPr>
        <p:spPr>
          <a:xfrm>
            <a:off x="10789920" y="5303520"/>
            <a:ext cx="10332720" cy="73152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Medium"/>
              </a:rPr>
              <a:t>HISTORY CONDITION</a:t>
            </a:r>
          </a:p>
        </p:txBody>
      </p:sp>
      <p:sp>
        <p:nvSpPr>
          <p:cNvPr id="9" name="2 video latent slices box"/>
          <p:cNvSpPr/>
          <p:nvPr/>
        </p:nvSpPr>
        <p:spPr>
          <a:xfrm>
            <a:off x="10789920" y="667512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2 video latent slices"/>
          <p:cNvSpPr txBox="1"/>
          <p:nvPr/>
        </p:nvSpPr>
        <p:spPr>
          <a:xfrm>
            <a:off x="11109960" y="690372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2 video latent slices</a:t>
            </a:r>
          </a:p>
        </p:txBody>
      </p:sp>
      <p:sp>
        <p:nvSpPr>
          <p:cNvPr id="11" name="2 video latent slices detail"/>
          <p:cNvSpPr txBox="1"/>
          <p:nvPr/>
        </p:nvSpPr>
        <p:spPr>
          <a:xfrm>
            <a:off x="11109960" y="7909560"/>
            <a:ext cx="9692640" cy="685800"/>
          </a:xfrm>
          <a:prstGeom prst="rect">
            <a:avLst/>
          </a:prstGeom>
          <a:noFill/>
        </p:spPr>
        <p:txBody>
          <a:bodyPr wrap="square" lIns="0" rIns="0" tIns="0" bIns="0">
            <a:spAutoFit/>
          </a:bodyPr>
          <a:lstStyle/>
          <a:p>
            <a:pPr>
              <a:spcBef>
                <a:spcPts val="0"/>
              </a:spcBef>
              <a:spcAft>
                <a:spcPts val="0"/>
              </a:spcAft>
            </a:pPr>
            <a:r>
              <a:rPr sz="2800" b="0">
                <a:solidFill>
                  <a:srgbClr val="76B900"/>
                </a:solidFill>
                <a:latin typeface="NVIDIA Sans"/>
              </a:rPr>
              <a:t>80% history + 20% noise</a:t>
            </a:r>
          </a:p>
        </p:txBody>
      </p:sp>
      <p:sp>
        <p:nvSpPr>
          <p:cNvPr id="12" name="8–9 audio latent tokens box"/>
          <p:cNvSpPr/>
          <p:nvPr/>
        </p:nvSpPr>
        <p:spPr>
          <a:xfrm>
            <a:off x="10789920" y="960120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8–9 audio latent tokens"/>
          <p:cNvSpPr txBox="1"/>
          <p:nvPr/>
        </p:nvSpPr>
        <p:spPr>
          <a:xfrm>
            <a:off x="11109960" y="982980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8–9 audio latent tokens</a:t>
            </a:r>
          </a:p>
        </p:txBody>
      </p:sp>
      <p:sp>
        <p:nvSpPr>
          <p:cNvPr id="14" name="8–9 audio latent tokens detail"/>
          <p:cNvSpPr txBox="1"/>
          <p:nvPr/>
        </p:nvSpPr>
        <p:spPr>
          <a:xfrm>
            <a:off x="11109960" y="10835640"/>
            <a:ext cx="9692640" cy="68580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Clean history · no added noise</a:t>
            </a:r>
          </a:p>
        </p:txBody>
      </p:sp>
      <p:cxnSp>
        <p:nvCxnSpPr>
          <p:cNvPr id="15" name="Tail split input"/>
          <p:cNvCxnSpPr/>
          <p:nvPr/>
        </p:nvCxnSpPr>
        <p:spPr>
          <a:xfrm>
            <a:off x="9235440" y="9052560"/>
            <a:ext cx="731520" cy="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Tail split stem"/>
          <p:cNvCxnSpPr/>
          <p:nvPr/>
        </p:nvCxnSpPr>
        <p:spPr>
          <a:xfrm>
            <a:off x="9966960" y="7818120"/>
            <a:ext cx="0" cy="292608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Tail branch 8.55"/>
          <p:cNvCxnSpPr/>
          <p:nvPr/>
        </p:nvCxnSpPr>
        <p:spPr>
          <a:xfrm>
            <a:off x="9966960" y="781812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Tail branch 11.75"/>
          <p:cNvCxnSpPr/>
          <p:nvPr/>
        </p:nvCxnSpPr>
        <p:spPr>
          <a:xfrm>
            <a:off x="9966960" y="1074420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ther conditioning"/>
          <p:cNvSpPr/>
          <p:nvPr/>
        </p:nvSpPr>
        <p:spPr>
          <a:xfrm>
            <a:off x="22494240" y="4937760"/>
            <a:ext cx="1225296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ther conditioning label"/>
          <p:cNvSpPr txBox="1"/>
          <p:nvPr/>
        </p:nvSpPr>
        <p:spPr>
          <a:xfrm>
            <a:off x="22677120" y="5120640"/>
            <a:ext cx="11887200" cy="128016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a:rPr>
              <a:t>Reference image + voice</a:t>
            </a:r>
          </a:p>
          <a:p>
            <a:pPr algn="ctr">
              <a:spcBef>
                <a:spcPts val="0"/>
              </a:spcBef>
              <a:spcAft>
                <a:spcPts val="0"/>
              </a:spcAft>
            </a:pPr>
            <a:r>
              <a:rPr sz="2700" b="0">
                <a:solidFill>
                  <a:srgbClr val="000000"/>
                </a:solidFill>
                <a:latin typeface="NVIDIA Sans"/>
              </a:rPr>
              <a:t>Next reply / listening prompt</a:t>
            </a:r>
          </a:p>
        </p:txBody>
      </p:sp>
      <p:sp>
        <p:nvSpPr>
          <p:cNvPr id="21" name="H3 box"/>
          <p:cNvSpPr/>
          <p:nvPr/>
        </p:nvSpPr>
        <p:spPr>
          <a:xfrm>
            <a:off x="22860000" y="7680960"/>
            <a:ext cx="4389120" cy="3200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label"/>
          <p:cNvSpPr txBox="1"/>
          <p:nvPr/>
        </p:nvSpPr>
        <p:spPr>
          <a:xfrm>
            <a:off x="22951440" y="8138160"/>
            <a:ext cx="4206240" cy="1097280"/>
          </a:xfrm>
          <a:prstGeom prst="rect">
            <a:avLst/>
          </a:prstGeom>
          <a:noFill/>
        </p:spPr>
        <p:txBody>
          <a:bodyPr wrap="square" lIns="0" rIns="0" tIns="0" bIns="0">
            <a:spAutoFit/>
          </a:bodyPr>
          <a:lstStyle/>
          <a:p>
            <a:pPr algn="ctr">
              <a:spcBef>
                <a:spcPts val="0"/>
              </a:spcBef>
              <a:spcAft>
                <a:spcPts val="0"/>
              </a:spcAft>
            </a:pPr>
            <a:r>
              <a:rPr sz="6000" b="0">
                <a:solidFill>
                  <a:srgbClr val="000000"/>
                </a:solidFill>
                <a:latin typeface="NVIDIA Sans Medium"/>
              </a:rPr>
              <a:t>H3</a:t>
            </a:r>
          </a:p>
        </p:txBody>
      </p:sp>
      <p:sp>
        <p:nvSpPr>
          <p:cNvPr id="23" name="H3 steps"/>
          <p:cNvSpPr txBox="1"/>
          <p:nvPr/>
        </p:nvSpPr>
        <p:spPr>
          <a:xfrm>
            <a:off x="22951440" y="9738360"/>
            <a:ext cx="4206240" cy="640080"/>
          </a:xfrm>
          <a:prstGeom prst="rect">
            <a:avLst/>
          </a:prstGeom>
          <a:noFill/>
        </p:spPr>
        <p:txBody>
          <a:bodyPr wrap="square" lIns="0" rIns="0" tIns="0" bIns="0">
            <a:spAutoFit/>
          </a:bodyPr>
          <a:lstStyle/>
          <a:p>
            <a:pPr algn="ctr">
              <a:spcBef>
                <a:spcPts val="0"/>
              </a:spcBef>
              <a:spcAft>
                <a:spcPts val="0"/>
              </a:spcAft>
            </a:pPr>
            <a:r>
              <a:rPr sz="2900" b="0">
                <a:solidFill>
                  <a:srgbClr val="000000"/>
                </a:solidFill>
                <a:latin typeface="NVIDIA Sans"/>
              </a:rPr>
              <a:t>8 steps</a:t>
            </a:r>
          </a:p>
        </p:txBody>
      </p:sp>
      <p:cxnSp>
        <p:nvCxnSpPr>
          <p:cNvPr id="24" name="Prompt into H3"/>
          <p:cNvCxnSpPr/>
          <p:nvPr/>
        </p:nvCxnSpPr>
        <p:spPr>
          <a:xfrm>
            <a:off x="25054560" y="6583680"/>
            <a:ext cx="0" cy="109728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Guide input 8.55"/>
          <p:cNvCxnSpPr/>
          <p:nvPr/>
        </p:nvCxnSpPr>
        <p:spPr>
          <a:xfrm>
            <a:off x="21122640" y="781812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Guide input 11.75"/>
          <p:cNvCxnSpPr/>
          <p:nvPr/>
        </p:nvCxnSpPr>
        <p:spPr>
          <a:xfrm>
            <a:off x="21122640" y="1074420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Next chunk heading"/>
          <p:cNvSpPr txBox="1"/>
          <p:nvPr/>
        </p:nvSpPr>
        <p:spPr>
          <a:xfrm>
            <a:off x="28620720" y="6400800"/>
            <a:ext cx="6126480" cy="640080"/>
          </a:xfrm>
          <a:prstGeom prst="rect">
            <a:avLst/>
          </a:prstGeom>
          <a:noFill/>
        </p:spPr>
        <p:txBody>
          <a:bodyPr wrap="square" lIns="0" rIns="0" tIns="0" bIns="0">
            <a:spAutoFit/>
          </a:bodyPr>
          <a:lstStyle/>
          <a:p>
            <a:pPr>
              <a:spcBef>
                <a:spcPts val="0"/>
              </a:spcBef>
              <a:spcAft>
                <a:spcPts val="0"/>
              </a:spcAft>
            </a:pPr>
            <a:r>
              <a:rPr sz="2400" b="0">
                <a:solidFill>
                  <a:srgbClr val="000000"/>
                </a:solidFill>
                <a:latin typeface="NVIDIA Sans Medium"/>
              </a:rPr>
              <a:t>CHUNK B · AFTER TRIM</a:t>
            </a:r>
          </a:p>
        </p:txBody>
      </p:sp>
      <p:pic>
        <p:nvPicPr>
          <p:cNvPr id="28" name="Actual first retained frame of chunk B" descr="image.png"/>
          <p:cNvPicPr>
            <a:picLocks noChangeAspect="1"/>
          </p:cNvPicPr>
          <p:nvPr/>
        </p:nvPicPr>
        <p:blipFill>
          <a:blip r:embed="rId4"/>
          <a:stretch>
            <a:fillRect/>
          </a:stretch>
        </p:blipFill>
        <p:spPr>
          <a:xfrm>
            <a:off x="28620720" y="7452360"/>
            <a:ext cx="6126480" cy="3471672"/>
          </a:xfrm>
          <a:prstGeom prst="rect">
            <a:avLst/>
          </a:prstGeom>
        </p:spPr>
      </p:pic>
      <p:cxnSp>
        <p:nvCxnSpPr>
          <p:cNvPr id="29" name="H3 to next playback"/>
          <p:cNvCxnSpPr/>
          <p:nvPr/>
        </p:nvCxnSpPr>
        <p:spPr>
          <a:xfrm>
            <a:off x="27249120" y="9281160"/>
            <a:ext cx="137160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Next chunk caption"/>
          <p:cNvSpPr txBox="1"/>
          <p:nvPr/>
        </p:nvSpPr>
        <p:spPr>
          <a:xfrm>
            <a:off x="28620720" y="11475720"/>
            <a:ext cx="6126480" cy="73152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New video + audio</a:t>
            </a:r>
          </a:p>
        </p:txBody>
      </p:sp>
      <p:sp>
        <p:nvSpPr>
          <p:cNvPr id="31" name="Cache scope"/>
          <p:cNvSpPr txBox="1"/>
          <p:nvPr/>
        </p:nvSpPr>
        <p:spPr>
          <a:xfrm>
            <a:off x="1828800" y="12938760"/>
            <a:ext cx="32918400" cy="777240"/>
          </a:xfrm>
          <a:prstGeom prst="rect">
            <a:avLst/>
          </a:prstGeom>
          <a:noFill/>
        </p:spPr>
        <p:txBody>
          <a:bodyPr wrap="square" lIns="0" rIns="0" tIns="0" bIns="0">
            <a:spAutoFit/>
          </a:bodyPr>
          <a:lstStyle/>
          <a:p>
            <a:pPr>
              <a:spcBef>
                <a:spcPts val="0"/>
              </a:spcBef>
              <a:spcAft>
                <a:spcPts val="0"/>
              </a:spcAft>
            </a:pPr>
            <a:r>
              <a:rPr sz="3300" b="0">
                <a:solidFill>
                  <a:srgbClr val="000000"/>
                </a:solidFill>
                <a:latin typeface="NVIDIA Sans Medium"/>
              </a:rPr>
              <a:t>AV latents carry the history; attention K/V is recomputed for the new request.</a:t>
            </a:r>
          </a:p>
        </p:txBody>
      </p:sp>
      <p:sp>
        <p:nvSpPr>
          <p:cNvPr id="32" name="Continuation controls"/>
          <p:cNvSpPr txBox="1"/>
          <p:nvPr/>
        </p:nvSpPr>
        <p:spPr>
          <a:xfrm>
            <a:off x="1828800" y="13990320"/>
            <a:ext cx="329184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Target prefix clamping: off  ·  Cumulative AV positions  ·  Fixed-size history</a:t>
            </a:r>
          </a:p>
        </p:txBody>
      </p:sp>
      <p:sp>
        <p:nvSpPr>
          <p:cNvPr id="33" name="Playback heading"/>
          <p:cNvSpPr txBox="1"/>
          <p:nvPr/>
        </p:nvSpPr>
        <p:spPr>
          <a:xfrm>
            <a:off x="1828800" y="15544800"/>
            <a:ext cx="1527048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APPEND ONLY NEW CONTENT</a:t>
            </a:r>
          </a:p>
        </p:txBody>
      </p:sp>
      <p:sp>
        <p:nvSpPr>
          <p:cNvPr id="34" name="Trim heading"/>
          <p:cNvSpPr txBox="1"/>
          <p:nvPr/>
        </p:nvSpPr>
        <p:spPr>
          <a:xfrm>
            <a:off x="18745200" y="15544800"/>
            <a:ext cx="160020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5 overlapping frames + aligned audio</a:t>
            </a:r>
          </a:p>
        </p:txBody>
      </p:sp>
      <p:sp>
        <p:nvSpPr>
          <p:cNvPr id="35" name="Playback A"/>
          <p:cNvSpPr/>
          <p:nvPr/>
        </p:nvSpPr>
        <p:spPr>
          <a:xfrm>
            <a:off x="1828800" y="16642080"/>
            <a:ext cx="16002000" cy="1280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rimmed overlap"/>
          <p:cNvSpPr/>
          <p:nvPr/>
        </p:nvSpPr>
        <p:spPr>
          <a:xfrm>
            <a:off x="17967960" y="16642080"/>
            <a:ext cx="685800" cy="12801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Trim mark 1"/>
          <p:cNvCxnSpPr/>
          <p:nvPr/>
        </p:nvCxnSpPr>
        <p:spPr>
          <a:xfrm>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Trim mark 2"/>
          <p:cNvCxnSpPr/>
          <p:nvPr/>
        </p:nvCxnSpPr>
        <p:spPr>
          <a:xfrm flipH="1">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Playback B"/>
          <p:cNvSpPr/>
          <p:nvPr/>
        </p:nvSpPr>
        <p:spPr>
          <a:xfrm>
            <a:off x="18790920" y="16642080"/>
            <a:ext cx="15956280" cy="12801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layback A label"/>
          <p:cNvSpPr txBox="1"/>
          <p:nvPr/>
        </p:nvSpPr>
        <p:spPr>
          <a:xfrm>
            <a:off x="2194560" y="16962120"/>
            <a:ext cx="1527048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Chunk A · 5.167 s</a:t>
            </a:r>
          </a:p>
        </p:txBody>
      </p:sp>
      <p:sp>
        <p:nvSpPr>
          <p:cNvPr id="41" name="Playback B label"/>
          <p:cNvSpPr txBox="1"/>
          <p:nvPr/>
        </p:nvSpPr>
        <p:spPr>
          <a:xfrm>
            <a:off x="19156680" y="16962120"/>
            <a:ext cx="15179040" cy="731520"/>
          </a:xfrm>
          <a:prstGeom prst="rect">
            <a:avLst/>
          </a:prstGeom>
          <a:noFill/>
        </p:spPr>
        <p:txBody>
          <a:bodyPr wrap="square" lIns="0" rIns="0" tIns="0" bIns="0">
            <a:spAutoFit/>
          </a:bodyPr>
          <a:lstStyle/>
          <a:p>
            <a:pPr>
              <a:spcBef>
                <a:spcPts val="0"/>
              </a:spcBef>
              <a:spcAft>
                <a:spcPts val="0"/>
              </a:spcAft>
            </a:pPr>
            <a:r>
              <a:rPr sz="3600" b="0">
                <a:solidFill>
                  <a:srgbClr val="FFFFFF"/>
                </a:solidFill>
                <a:latin typeface="NVIDIA Sans Medium"/>
              </a:rPr>
              <a:t>Chunk B · +4.958 s</a:t>
            </a:r>
          </a:p>
        </p:txBody>
      </p:sp>
      <p:sp>
        <p:nvSpPr>
          <p:cNvPr id="42" name="Continuation result"/>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Generate 124 frames; append 119 new frames at 24 FPS. Repeat with the new tail.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r>
              <a:rPr sz="7000" b="1">
                <a:solidFill>
                  <a:srgbClr val="000000"/>
                </a:solidFill>
                <a:latin typeface="NVIDIA Sans"/>
              </a:rPr>
              <a:t>Live Demo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A continuous conversation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12</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828800" y="5120640"/>
            <a:ext cx="22677120" cy="13042207"/>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r>
              <a:rPr sz="3000" b="0">
                <a:solidFill>
                  <a:srgbClr val="000000"/>
                </a:solidFill>
                <a:latin typeface="NVIDIA Sans"/>
              </a:rPr>
              <a:t>960 × 544 · ~5 s windows · 8 steps · 8 × RTX PRO 5000</a:t>
            </a:r>
          </a:p>
        </p:txBody>
      </p:sp>
      <p:sp>
        <p:nvSpPr>
          <p:cNvPr id="7" name="History value 0"/>
          <p:cNvSpPr txBox="1"/>
          <p:nvPr/>
        </p:nvSpPr>
        <p:spPr>
          <a:xfrm>
            <a:off x="25877520" y="5715000"/>
            <a:ext cx="8869680" cy="1280160"/>
          </a:xfrm>
          <a:prstGeom prst="rect">
            <a:avLst/>
          </a:prstGeom>
          <a:noFill/>
        </p:spPr>
        <p:txBody>
          <a:bodyPr wrap="square" lIns="0" rIns="0" tIns="0" bIns="0">
            <a:spAutoFit/>
          </a:bodyPr>
          <a:lstStyle/>
          <a:p>
            <a:pPr>
              <a:spcBef>
                <a:spcPts val="0"/>
              </a:spcBef>
              <a:spcAft>
                <a:spcPts val="0"/>
              </a:spcAft>
            </a:pPr>
            <a:r>
              <a:rPr sz="6200" b="0">
                <a:solidFill>
                  <a:srgbClr val="76B900"/>
                </a:solidFill>
                <a:latin typeface="NVIDIA Sans Medium"/>
              </a:rPr>
              <a:t>20%</a:t>
            </a:r>
          </a:p>
        </p:txBody>
      </p:sp>
      <p:sp>
        <p:nvSpPr>
          <p:cNvPr id="8" name="History detail 0"/>
          <p:cNvSpPr txBox="1"/>
          <p:nvPr/>
        </p:nvSpPr>
        <p:spPr>
          <a:xfrm>
            <a:off x="25877520" y="7223760"/>
            <a:ext cx="886968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video history noise</a:t>
            </a:r>
          </a:p>
        </p:txBody>
      </p:sp>
      <p:sp>
        <p:nvSpPr>
          <p:cNvPr id="9" name="History value 1"/>
          <p:cNvSpPr txBox="1"/>
          <p:nvPr/>
        </p:nvSpPr>
        <p:spPr>
          <a:xfrm>
            <a:off x="25877520" y="8961120"/>
            <a:ext cx="8869680" cy="1280160"/>
          </a:xfrm>
          <a:prstGeom prst="rect">
            <a:avLst/>
          </a:prstGeom>
          <a:noFill/>
        </p:spPr>
        <p:txBody>
          <a:bodyPr wrap="square" lIns="0" rIns="0" tIns="0" bIns="0">
            <a:spAutoFit/>
          </a:bodyPr>
          <a:lstStyle/>
          <a:p>
            <a:pPr>
              <a:spcBef>
                <a:spcPts val="0"/>
              </a:spcBef>
              <a:spcAft>
                <a:spcPts val="0"/>
              </a:spcAft>
            </a:pPr>
            <a:r>
              <a:rPr sz="6200" b="0">
                <a:solidFill>
                  <a:srgbClr val="313131"/>
                </a:solidFill>
                <a:latin typeface="NVIDIA Sans Medium"/>
              </a:rPr>
              <a:t>2 video</a:t>
            </a:r>
          </a:p>
        </p:txBody>
      </p:sp>
      <p:sp>
        <p:nvSpPr>
          <p:cNvPr id="10" name="History detail 1"/>
          <p:cNvSpPr txBox="1"/>
          <p:nvPr/>
        </p:nvSpPr>
        <p:spPr>
          <a:xfrm>
            <a:off x="25877520" y="10469880"/>
            <a:ext cx="886968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latent time slices</a:t>
            </a:r>
          </a:p>
        </p:txBody>
      </p:sp>
      <p:sp>
        <p:nvSpPr>
          <p:cNvPr id="11" name="History value 2"/>
          <p:cNvSpPr txBox="1"/>
          <p:nvPr/>
        </p:nvSpPr>
        <p:spPr>
          <a:xfrm>
            <a:off x="25877520" y="12207240"/>
            <a:ext cx="8869680" cy="1280160"/>
          </a:xfrm>
          <a:prstGeom prst="rect">
            <a:avLst/>
          </a:prstGeom>
          <a:noFill/>
        </p:spPr>
        <p:txBody>
          <a:bodyPr wrap="square" lIns="0" rIns="0" tIns="0" bIns="0">
            <a:spAutoFit/>
          </a:bodyPr>
          <a:lstStyle/>
          <a:p>
            <a:pPr>
              <a:spcBef>
                <a:spcPts val="0"/>
              </a:spcBef>
              <a:spcAft>
                <a:spcPts val="0"/>
              </a:spcAft>
            </a:pPr>
            <a:r>
              <a:rPr sz="6200" b="0">
                <a:solidFill>
                  <a:srgbClr val="313131"/>
                </a:solidFill>
                <a:latin typeface="NVIDIA Sans Medium"/>
              </a:rPr>
              <a:t>8–9 audio</a:t>
            </a:r>
          </a:p>
        </p:txBody>
      </p:sp>
      <p:sp>
        <p:nvSpPr>
          <p:cNvPr id="12" name="History detail 2"/>
          <p:cNvSpPr txBox="1"/>
          <p:nvPr/>
        </p:nvSpPr>
        <p:spPr>
          <a:xfrm>
            <a:off x="25877520" y="13716000"/>
            <a:ext cx="886968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latent tokens</a:t>
            </a:r>
          </a:p>
        </p:txBody>
      </p:sp>
      <p:sp>
        <p:nvSpPr>
          <p:cNvPr id="13" name="History cache scope"/>
          <p:cNvSpPr txBox="1"/>
          <p:nvPr/>
        </p:nvSpPr>
        <p:spPr>
          <a:xfrm>
            <a:off x="25877520" y="16093440"/>
            <a:ext cx="8869680" cy="155448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AV latent conditioning</a:t>
            </a:r>
          </a:p>
          <a:p>
            <a:pPr>
              <a:spcBef>
                <a:spcPts val="0"/>
              </a:spcBef>
              <a:spcAft>
                <a:spcPts val="0"/>
              </a:spcAft>
            </a:pPr>
            <a:r>
              <a:rPr sz="2700" b="0">
                <a:solidFill>
                  <a:srgbClr val="000000"/>
                </a:solidFill>
                <a:latin typeface="NVIDIA Sans"/>
              </a:rPr>
              <a:t>K/V recomputed per request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r>
              <a:rPr sz="3800" b="0">
                <a:solidFill>
                  <a:srgbClr val="313131"/>
                </a:solidFill>
                <a:latin typeface="NVIDIA Sans"/>
              </a:rPr>
              <a:t>Compute-rich GPUs need topology-aware communication.</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Compose in ComfyUI. Run models in vLLM-Omni.</a:t>
            </a:r>
          </a:p>
        </p:txBody>
      </p:sp>
      <p:sp>
        <p:nvSpPr>
          <p:cNvPr id="4" name="Title 3"/>
          <p:cNvSpPr>
            <a:spLocks noGrp="1"/>
          </p:cNvSpPr>
          <p:nvPr>
            <p:ph type="title"/>
          </p:nvPr>
        </p:nvSpPr>
        <p:spPr/>
        <p:txBody>
          <a:bodyPr/>
          <a:lstStyle/>
          <a:p>
            <a:r>
              <a:rPr sz="8800"/>
              <a:t>vLLM-Omni for Creators — ComfyUI</a:t>
            </a:r>
          </a:p>
        </p:txBody>
      </p:sp>
      <p:cxnSp>
        <p:nvCxnSpPr>
          <p:cNvPr id="5" name="Support divider"/>
          <p:cNvCxnSpPr/>
          <p:nvPr/>
        </p:nvCxnSpPr>
        <p:spPr>
          <a:xfrm>
            <a:off x="18288000" y="5212080"/>
            <a:ext cx="0" cy="1225296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6" name="Supported heading"/>
          <p:cNvSpPr txBox="1"/>
          <p:nvPr/>
        </p:nvSpPr>
        <p:spPr>
          <a:xfrm>
            <a:off x="1828800" y="5120640"/>
            <a:ext cx="15544800" cy="82296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Supported today</a:t>
            </a:r>
          </a:p>
        </p:txBody>
      </p:sp>
      <p:sp>
        <p:nvSpPr>
          <p:cNvPr id="7" name="Supported scope"/>
          <p:cNvSpPr txBox="1"/>
          <p:nvPr/>
        </p:nvSpPr>
        <p:spPr>
          <a:xfrm>
            <a:off x="1828800" y="6217920"/>
            <a:ext cx="15544800" cy="594360"/>
          </a:xfrm>
          <a:prstGeom prst="rect">
            <a:avLst/>
          </a:prstGeom>
          <a:noFill/>
        </p:spPr>
        <p:txBody>
          <a:bodyPr wrap="square" lIns="0" rIns="0" tIns="0" bIns="0">
            <a:spAutoFit/>
          </a:bodyPr>
          <a:lstStyle/>
          <a:p>
            <a:pPr>
              <a:spcBef>
                <a:spcPts val="0"/>
              </a:spcBef>
              <a:spcAft>
                <a:spcPts val="0"/>
              </a:spcAft>
            </a:pPr>
            <a:r>
              <a:rPr sz="2500" b="0">
                <a:solidFill>
                  <a:srgbClr val="000000"/>
                </a:solidFill>
                <a:latin typeface="NVIDIA Sans"/>
              </a:rPr>
              <a:t>Available in the checked upstream source</a:t>
            </a:r>
          </a:p>
        </p:txBody>
      </p:sp>
      <p:sp>
        <p:nvSpPr>
          <p:cNvPr id="8" name="Planned heading"/>
          <p:cNvSpPr txBox="1"/>
          <p:nvPr/>
        </p:nvSpPr>
        <p:spPr>
          <a:xfrm>
            <a:off x="20116800" y="5120640"/>
            <a:ext cx="14630400" cy="8229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Planned support</a:t>
            </a:r>
          </a:p>
        </p:txBody>
      </p:sp>
      <p:sp>
        <p:nvSpPr>
          <p:cNvPr id="9" name="Planned scope"/>
          <p:cNvSpPr txBox="1"/>
          <p:nvPr/>
        </p:nvSpPr>
        <p:spPr>
          <a:xfrm>
            <a:off x="20116800" y="6217920"/>
            <a:ext cx="14630400" cy="594360"/>
          </a:xfrm>
          <a:prstGeom prst="rect">
            <a:avLst/>
          </a:prstGeom>
          <a:noFill/>
        </p:spPr>
        <p:txBody>
          <a:bodyPr wrap="square" lIns="0" rIns="0" tIns="0" bIns="0">
            <a:spAutoFit/>
          </a:bodyPr>
          <a:lstStyle/>
          <a:p>
            <a:pPr>
              <a:spcBef>
                <a:spcPts val="0"/>
              </a:spcBef>
              <a:spcAft>
                <a:spcPts val="0"/>
              </a:spcAft>
            </a:pPr>
            <a:r>
              <a:rPr sz="2400" b="0">
                <a:solidFill>
                  <a:srgbClr val="000000"/>
                </a:solidFill>
                <a:latin typeface="NVIDIA Sans"/>
              </a:rPr>
              <a:t>Open PRs / RFC proposals · no announced ETA</a:t>
            </a:r>
          </a:p>
        </p:txBody>
      </p:sp>
      <p:sp>
        <p:nvSpPr>
          <p:cNvPr id="10" name="Supported title 0"/>
          <p:cNvSpPr txBox="1"/>
          <p:nvPr/>
        </p:nvSpPr>
        <p:spPr>
          <a:xfrm>
            <a:off x="1828800" y="745236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Generate &amp; guide</a:t>
            </a:r>
          </a:p>
        </p:txBody>
      </p:sp>
      <p:sp>
        <p:nvSpPr>
          <p:cNvPr id="11" name="Supported detail 0"/>
          <p:cNvSpPr txBox="1"/>
          <p:nvPr/>
        </p:nvSpPr>
        <p:spPr>
          <a:xfrm>
            <a:off x="1828800" y="836676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Text, first/last frames, mixed references</a:t>
            </a:r>
          </a:p>
          <a:p>
            <a:pPr>
              <a:spcBef>
                <a:spcPts val="0"/>
              </a:spcBef>
              <a:spcAft>
                <a:spcPts val="0"/>
              </a:spcAft>
            </a:pPr>
            <a:r>
              <a:rPr sz="2800" b="0">
                <a:solidFill>
                  <a:srgbClr val="000000"/>
                </a:solidFill>
                <a:latin typeface="NVIDIA Sans"/>
              </a:rPr>
              <a:t>and timeline guides.</a:t>
            </a:r>
          </a:p>
        </p:txBody>
      </p:sp>
      <p:sp>
        <p:nvSpPr>
          <p:cNvPr id="12" name="Supported title 1"/>
          <p:cNvSpPr txBox="1"/>
          <p:nvPr/>
        </p:nvSpPr>
        <p:spPr>
          <a:xfrm>
            <a:off x="1828800" y="987552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Edit &amp; continue</a:t>
            </a:r>
          </a:p>
        </p:txBody>
      </p:sp>
      <p:sp>
        <p:nvSpPr>
          <p:cNvPr id="13" name="Supported detail 1"/>
          <p:cNvSpPr txBox="1"/>
          <p:nvPr/>
        </p:nvSpPr>
        <p:spPr>
          <a:xfrm>
            <a:off x="1828800" y="1078992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Inpainting, object removal</a:t>
            </a:r>
          </a:p>
          <a:p>
            <a:pPr>
              <a:spcBef>
                <a:spcPts val="0"/>
              </a:spcBef>
              <a:spcAft>
                <a:spcPts val="0"/>
              </a:spcAft>
            </a:pPr>
            <a:r>
              <a:rPr sz="2800" b="0">
                <a:solidFill>
                  <a:srgbClr val="000000"/>
                </a:solidFill>
                <a:latin typeface="NVIDIA Sans"/>
              </a:rPr>
              <a:t>and clip continuation.</a:t>
            </a:r>
          </a:p>
        </p:txBody>
      </p:sp>
      <p:sp>
        <p:nvSpPr>
          <p:cNvPr id="14" name="Supported title 2"/>
          <p:cNvSpPr txBox="1"/>
          <p:nvPr/>
        </p:nvSpPr>
        <p:spPr>
          <a:xfrm>
            <a:off x="1828800" y="1229868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Upscale &amp; second pass*</a:t>
            </a:r>
          </a:p>
        </p:txBody>
      </p:sp>
      <p:sp>
        <p:nvSpPr>
          <p:cNvPr id="15" name="Supported detail 2"/>
          <p:cNvSpPr txBox="1"/>
          <p:nvPr/>
        </p:nvSpPr>
        <p:spPr>
          <a:xfrm>
            <a:off x="1828800" y="1321308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SeedVR2 restoration;</a:t>
            </a:r>
          </a:p>
          <a:p>
            <a:pPr>
              <a:spcBef>
                <a:spcPts val="0"/>
              </a:spcBef>
              <a:spcAft>
                <a:spcPts val="0"/>
              </a:spcAft>
            </a:pPr>
            <a:r>
              <a:rPr sz="2800" b="0">
                <a:solidFill>
                  <a:srgbClr val="000000"/>
                </a:solidFill>
                <a:latin typeface="NVIDIA Sans"/>
              </a:rPr>
              <a:t>H3 server-side latent refinement.</a:t>
            </a:r>
          </a:p>
        </p:txBody>
      </p:sp>
      <p:sp>
        <p:nvSpPr>
          <p:cNvPr id="16" name="Supported title 3"/>
          <p:cNvSpPr txBox="1"/>
          <p:nvPr/>
        </p:nvSpPr>
        <p:spPr>
          <a:xfrm>
            <a:off x="1828800" y="1472184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Music-driven video</a:t>
            </a:r>
          </a:p>
        </p:txBody>
      </p:sp>
      <p:sp>
        <p:nvSpPr>
          <p:cNvPr id="17" name="Supported detail 3"/>
          <p:cNvSpPr txBox="1"/>
          <p:nvPr/>
        </p:nvSpPr>
        <p:spPr>
          <a:xfrm>
            <a:off x="1828800" y="1563624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Audio-driven shots, assembled</a:t>
            </a:r>
          </a:p>
          <a:p>
            <a:pPr>
              <a:spcBef>
                <a:spcPts val="0"/>
              </a:spcBef>
              <a:spcAft>
                <a:spcPts val="0"/>
              </a:spcAft>
            </a:pPr>
            <a:r>
              <a:rPr sz="2800" b="0">
                <a:solidFill>
                  <a:srgbClr val="000000"/>
                </a:solidFill>
                <a:latin typeface="NVIDIA Sans"/>
              </a:rPr>
              <a:t>with the supplied soundtrack.</a:t>
            </a:r>
          </a:p>
        </p:txBody>
      </p:sp>
      <p:sp>
        <p:nvSpPr>
          <p:cNvPr id="18" name="Planned title 0"/>
          <p:cNvSpPr txBox="1"/>
          <p:nvPr/>
        </p:nvSpPr>
        <p:spPr>
          <a:xfrm>
            <a:off x="20116800" y="745236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ControlNet workflows</a:t>
            </a:r>
          </a:p>
        </p:txBody>
      </p:sp>
      <p:sp>
        <p:nvSpPr>
          <p:cNvPr id="19" name="Planned detail 0"/>
          <p:cNvSpPr txBox="1"/>
          <p:nvPr/>
        </p:nvSpPr>
        <p:spPr>
          <a:xfrm>
            <a:off x="20116800" y="836676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Pose, depth and edges · Draft PRs</a:t>
            </a:r>
          </a:p>
        </p:txBody>
      </p:sp>
      <p:sp>
        <p:nvSpPr>
          <p:cNvPr id="20" name="Planned title 1"/>
          <p:cNvSpPr txBox="1"/>
          <p:nvPr/>
        </p:nvSpPr>
        <p:spPr>
          <a:xfrm>
            <a:off x="20116800" y="987552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Character replacement</a:t>
            </a:r>
          </a:p>
        </p:txBody>
      </p:sp>
      <p:sp>
        <p:nvSpPr>
          <p:cNvPr id="21" name="Planned detail 1"/>
          <p:cNvSpPr txBox="1"/>
          <p:nvPr/>
        </p:nvSpPr>
        <p:spPr>
          <a:xfrm>
            <a:off x="20116800" y="1078992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Source video + new identity · Open PR</a:t>
            </a:r>
          </a:p>
        </p:txBody>
      </p:sp>
      <p:sp>
        <p:nvSpPr>
          <p:cNvPr id="22" name="Planned title 2"/>
          <p:cNvSpPr txBox="1"/>
          <p:nvPr/>
        </p:nvSpPr>
        <p:spPr>
          <a:xfrm>
            <a:off x="20116800" y="1229868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Multi-anchor workflow</a:t>
            </a:r>
          </a:p>
        </p:txBody>
      </p:sp>
      <p:sp>
        <p:nvSpPr>
          <p:cNvPr id="23" name="Planned detail 2"/>
          <p:cNvSpPr txBox="1"/>
          <p:nvPr/>
        </p:nvSpPr>
        <p:spPr>
          <a:xfrm>
            <a:off x="20116800" y="1321308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Identity + timed keyframes · Open PR</a:t>
            </a:r>
          </a:p>
        </p:txBody>
      </p:sp>
      <p:sp>
        <p:nvSpPr>
          <p:cNvPr id="24" name="Planned title 3"/>
          <p:cNvSpPr txBox="1"/>
          <p:nvPr/>
        </p:nvSpPr>
        <p:spPr>
          <a:xfrm>
            <a:off x="20116800" y="1472184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Long-form stories &amp; avatars</a:t>
            </a:r>
          </a:p>
        </p:txBody>
      </p:sp>
      <p:sp>
        <p:nvSpPr>
          <p:cNvPr id="25" name="Planned detail 3"/>
          <p:cNvSpPr txBox="1"/>
          <p:nvPr/>
        </p:nvSpPr>
        <p:spPr>
          <a:xfrm>
            <a:off x="20116800" y="1563624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Segmented production templates · RFC</a:t>
            </a:r>
          </a:p>
        </p:txBody>
      </p:sp>
      <p:cxnSp>
        <p:nvCxnSpPr>
          <p:cNvPr id="26" name="Support footer divider"/>
          <p:cNvCxnSpPr/>
          <p:nvPr/>
        </p:nvCxnSpPr>
        <p:spPr>
          <a:xfrm>
            <a:off x="1828800" y="17739360"/>
            <a:ext cx="3291840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Second pass scope"/>
          <p:cNvSpPr txBox="1"/>
          <p:nvPr/>
        </p:nvSpPr>
        <p:spPr>
          <a:xfrm>
            <a:off x="1828800" y="18333720"/>
            <a:ext cx="32918400" cy="64008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*H3 second pass is server-configured; no dedicated ComfyUI node or template.</a:t>
            </a:r>
          </a:p>
        </p:txBody>
      </p:sp>
      <p:sp>
        <p:nvSpPr>
          <p:cNvPr id="28" name="Roadmap sources"/>
          <p:cNvSpPr txBox="1"/>
          <p:nvPr/>
        </p:nvSpPr>
        <p:spPr>
          <a:xfrm>
            <a:off x="1828800" y="19293840"/>
            <a:ext cx="32918400" cy="594360"/>
          </a:xfrm>
          <a:prstGeom prst="rect">
            <a:avLst/>
          </a:prstGeom>
          <a:noFill/>
        </p:spPr>
        <p:txBody>
          <a:bodyPr wrap="square" lIns="0" rIns="0" tIns="0" bIns="0">
            <a:spAutoFit/>
          </a:bodyPr>
          <a:lstStyle/>
          <a:p>
            <a:pPr>
              <a:spcBef>
                <a:spcPts val="0"/>
              </a:spcBef>
              <a:spcAft>
                <a:spcPts val="0"/>
              </a:spcAft>
            </a:pPr>
            <a:r>
              <a:rPr sz="2300" b="0">
                <a:solidFill>
                  <a:srgbClr val="000000"/>
                </a:solidFill>
                <a:latin typeface="NVIDIA Sans"/>
              </a:rPr>
              <a:t>Public roadmap #8264 · H3 #7380 · Production workflows #8251 · Status checked 31 Oct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15</a:t>
            </a:r>
          </a:p>
        </p:txBody>
      </p:sp>
      <p:sp>
        <p:nvSpPr>
          <p:cNvPr id="3" name="Text Placeholder 2"/>
          <p:cNvSpPr>
            <a:spLocks noGrp="1"/>
          </p:cNvSpPr>
          <p:nvPr>
            <p:ph type="body" idx="13" sz="quarter"/>
          </p:nvPr>
        </p:nvSpPr>
        <p:spPr/>
        <p:txBody>
          <a:bodyPr/>
          <a:lstStyle/>
          <a:p>
            <a:r>
              <a:t>Expected open-source release: early November 2026.</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16</a:t>
            </a:r>
          </a:p>
        </p:txBody>
      </p:sp>
      <p:sp>
        <p:nvSpPr>
          <p:cNvPr id="3" name="Text Placeholder 2"/>
          <p:cNvSpPr>
            <a:spLocks noGrp="1"/>
          </p:cNvSpPr>
          <p:nvPr>
            <p:ph type="body" idx="13" sz="quarter"/>
          </p:nvPr>
        </p:nvSpPr>
        <p:spPr/>
        <p:txBody>
          <a:bodyPr/>
          <a:lstStyle/>
          <a:p>
            <a:r>
              <a:t>Join the open-source multimodal serving community.</a:t>
            </a:r>
          </a:p>
        </p:txBody>
      </p:sp>
      <p:sp>
        <p:nvSpPr>
          <p:cNvPr id="4" name="Title 3"/>
          <p:cNvSpPr>
            <a:spLocks noGrp="1"/>
          </p:cNvSpPr>
          <p:nvPr>
            <p:ph type="title"/>
          </p:nvPr>
        </p:nvSpPr>
        <p:spPr/>
        <p:txBody>
          <a:bodyPr/>
          <a:lstStyle/>
          <a:p>
            <a:r>
              <a:rPr sz="8800"/>
              <a:t>Build with vLLM-Omni</a:t>
            </a:r>
          </a:p>
        </p:txBody>
      </p:sp>
      <p:sp>
        <p:nvSpPr>
          <p:cNvPr id="5" name="Community invitation"/>
          <p:cNvSpPr txBox="1"/>
          <p:nvPr/>
        </p:nvSpPr>
        <p:spPr>
          <a:xfrm>
            <a:off x="1828800" y="5486400"/>
            <a:ext cx="17830800" cy="5029200"/>
          </a:xfrm>
          <a:prstGeom prst="rect">
            <a:avLst/>
          </a:prstGeom>
          <a:noFill/>
        </p:spPr>
        <p:txBody>
          <a:bodyPr wrap="square" lIns="0" rIns="0" tIns="0" bIns="0">
            <a:spAutoFit/>
          </a:bodyPr>
          <a:lstStyle/>
          <a:p>
            <a:pPr>
              <a:spcBef>
                <a:spcPts val="0"/>
              </a:spcBef>
              <a:spcAft>
                <a:spcPts val="0"/>
              </a:spcAft>
            </a:pPr>
            <a:r>
              <a:rPr sz="10200" b="0">
                <a:solidFill>
                  <a:srgbClr val="000000"/>
                </a:solidFill>
                <a:latin typeface="NVIDIA Sans Medium"/>
              </a:rPr>
              <a:t>Bring a model.</a:t>
            </a:r>
          </a:p>
          <a:p>
            <a:pPr>
              <a:spcBef>
                <a:spcPts val="0"/>
              </a:spcBef>
              <a:spcAft>
                <a:spcPts val="0"/>
              </a:spcAft>
            </a:pPr>
            <a:r>
              <a:rPr sz="10200" b="0">
                <a:solidFill>
                  <a:srgbClr val="000000"/>
                </a:solidFill>
                <a:latin typeface="NVIDIA Sans Medium"/>
              </a:rPr>
              <a:t>Build a workflow.</a:t>
            </a:r>
          </a:p>
        </p:txBody>
      </p:sp>
      <p:sp>
        <p:nvSpPr>
          <p:cNvPr id="6" name="Community contribution"/>
          <p:cNvSpPr txBox="1"/>
          <p:nvPr/>
        </p:nvSpPr>
        <p:spPr>
          <a:xfrm>
            <a:off x="1828800" y="12893040"/>
            <a:ext cx="32918400" cy="109728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Contribute models · Optimize serving · Share creator workflows</a:t>
            </a:r>
          </a:p>
        </p:txBody>
      </p:sp>
      <p:cxnSp>
        <p:nvCxnSpPr>
          <p:cNvPr id="7" name="Closing divider"/>
          <p:cNvCxnSpPr/>
          <p:nvPr/>
        </p:nvCxnSpPr>
        <p:spPr>
          <a:xfrm>
            <a:off x="1828800" y="13807440"/>
            <a:ext cx="32918400" cy="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8" name="Code + contributions"/>
          <p:cNvSpPr txBox="1"/>
          <p:nvPr/>
        </p:nvSpPr>
        <p:spPr>
          <a:xfrm>
            <a:off x="1828800" y="14859000"/>
            <a:ext cx="1600200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Code + contributions</a:t>
            </a:r>
          </a:p>
        </p:txBody>
      </p:sp>
      <p:sp>
        <p:nvSpPr>
          <p:cNvPr id="9" name="Code + contributions URL"/>
          <p:cNvSpPr txBox="1"/>
          <p:nvPr/>
        </p:nvSpPr>
        <p:spPr>
          <a:xfrm>
            <a:off x="1828800" y="16184880"/>
            <a:ext cx="16002000" cy="91440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a:hlinkClick r:id="rId3"/>
              </a:rPr>
              <a:t>github.com/vllm-project/vllm-omni</a:t>
            </a:r>
          </a:p>
        </p:txBody>
      </p:sp>
      <p:sp>
        <p:nvSpPr>
          <p:cNvPr id="10" name="Documentation"/>
          <p:cNvSpPr txBox="1"/>
          <p:nvPr/>
        </p:nvSpPr>
        <p:spPr>
          <a:xfrm>
            <a:off x="20116800" y="14859000"/>
            <a:ext cx="1463040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Documentation</a:t>
            </a:r>
          </a:p>
        </p:txBody>
      </p:sp>
      <p:sp>
        <p:nvSpPr>
          <p:cNvPr id="11" name="Documentation URL"/>
          <p:cNvSpPr txBox="1"/>
          <p:nvPr/>
        </p:nvSpPr>
        <p:spPr>
          <a:xfrm>
            <a:off x="20116800" y="16184880"/>
            <a:ext cx="14630400" cy="91440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a:hlinkClick r:id="rId7"/>
              </a:rPr>
              <a:t>docs.vllm.ai/projects/vllm-omni</a:t>
            </a:r>
          </a:p>
        </p:txBody>
      </p:sp>
      <p:sp>
        <p:nvSpPr>
          <p:cNvPr id="12" name="Developer community"/>
          <p:cNvSpPr txBox="1"/>
          <p:nvPr/>
        </p:nvSpPr>
        <p:spPr>
          <a:xfrm>
            <a:off x="1828800" y="1856232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hlinkClick r:id="rId8"/>
              </a:rPr>
              <a:t>Developer community: slack.vllm.ai · #sig-omni</a:t>
            </a:r>
          </a:p>
        </p:txBody>
      </p:sp>
      <p:pic>
        <p:nvPicPr>
          <p:cNvPr id="13" name="GitHub project QR" descr="vllm-omni-github-qr.png">
            <a:hlinkClick r:id="rId3"/>
          </p:cNvPr>
          <p:cNvPicPr>
            <a:picLocks noChangeAspect="1"/>
          </p:cNvPicPr>
          <p:nvPr/>
        </p:nvPicPr>
        <p:blipFill>
          <a:blip r:embed="rId9"/>
          <a:stretch>
            <a:fillRect/>
          </a:stretch>
        </p:blipFill>
        <p:spPr>
          <a:xfrm>
            <a:off x="21031200" y="5577840"/>
            <a:ext cx="5669280" cy="5669280"/>
          </a:xfrm>
          <a:prstGeom prst="rect">
            <a:avLst/>
          </a:prstGeom>
        </p:spPr>
      </p:pic>
      <p:pic>
        <p:nvPicPr>
          <p:cNvPr id="14" name="Official WeChat QR" descr="vllm-omni-official-wechat.jpg">
            <a:hlinkClick r:id="rId11"/>
          </p:cNvPr>
          <p:cNvPicPr>
            <a:picLocks noChangeAspect="1"/>
          </p:cNvPicPr>
          <p:nvPr/>
        </p:nvPicPr>
        <p:blipFill>
          <a:blip r:embed="rId10"/>
          <a:srcRect l="12801" r="12718" t="33121" b="14997"/>
          <a:stretch>
            <a:fillRect/>
          </a:stretch>
        </p:blipFill>
        <p:spPr>
          <a:xfrm>
            <a:off x="28712160" y="5577840"/>
            <a:ext cx="5669280" cy="5669280"/>
          </a:xfrm>
          <a:prstGeom prst="rect">
            <a:avLst/>
          </a:prstGeom>
        </p:spPr>
      </p:pic>
      <p:sp>
        <p:nvSpPr>
          <p:cNvPr id="15" name="GitHub QR label"/>
          <p:cNvSpPr txBox="1"/>
          <p:nvPr/>
        </p:nvSpPr>
        <p:spPr>
          <a:xfrm>
            <a:off x="20665440" y="4663440"/>
            <a:ext cx="6400800" cy="6400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GitHub project</a:t>
            </a:r>
          </a:p>
        </p:txBody>
      </p:sp>
      <p:sp>
        <p:nvSpPr>
          <p:cNvPr id="16" name="WeChat QR label"/>
          <p:cNvSpPr txBox="1"/>
          <p:nvPr/>
        </p:nvSpPr>
        <p:spPr>
          <a:xfrm>
            <a:off x="28346400" y="4663440"/>
            <a:ext cx="6400800" cy="6400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WeChat community</a:t>
            </a:r>
          </a:p>
        </p:txBody>
      </p:sp>
      <p:sp>
        <p:nvSpPr>
          <p:cNvPr id="17" name="GitHub QR caption"/>
          <p:cNvSpPr txBox="1"/>
          <p:nvPr/>
        </p:nvSpPr>
        <p:spPr>
          <a:xfrm>
            <a:off x="20391120" y="11521440"/>
            <a:ext cx="6949440" cy="685800"/>
          </a:xfrm>
          <a:prstGeom prst="rect">
            <a:avLst/>
          </a:prstGeom>
          <a:noFill/>
        </p:spPr>
        <p:txBody>
          <a:bodyPr wrap="square" lIns="0" rIns="0" tIns="0" bIns="0">
            <a:spAutoFit/>
          </a:bodyPr>
          <a:lstStyle/>
          <a:p>
            <a:pPr algn="ctr">
              <a:spcBef>
                <a:spcPts val="0"/>
              </a:spcBef>
              <a:spcAft>
                <a:spcPts val="0"/>
              </a:spcAft>
            </a:pPr>
            <a:r>
              <a:rPr sz="2600" b="0">
                <a:solidFill>
                  <a:srgbClr val="000000"/>
                </a:solidFill>
                <a:latin typeface="NVIDIA Sans"/>
              </a:rPr>
              <a:t>Code + contributions</a:t>
            </a:r>
          </a:p>
        </p:txBody>
      </p:sp>
      <p:sp>
        <p:nvSpPr>
          <p:cNvPr id="18" name="WeChat QR expiry"/>
          <p:cNvSpPr txBox="1"/>
          <p:nvPr/>
        </p:nvSpPr>
        <p:spPr>
          <a:xfrm>
            <a:off x="28163520" y="11521440"/>
            <a:ext cx="6766560" cy="68580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Valid before 2 Nov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19</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22</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23</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24</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25</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26</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27</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28</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29</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30</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31</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32</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33</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36</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37</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38</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37.3 s presentation edit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39</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42</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43</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44</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