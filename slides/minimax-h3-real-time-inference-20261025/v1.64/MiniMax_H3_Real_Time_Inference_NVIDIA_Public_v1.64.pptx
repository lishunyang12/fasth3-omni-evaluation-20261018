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8" r:id="rId29"/>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14.xml"/><Relationship Id="rId30" Type="http://schemas.openxmlformats.org/officeDocument/2006/relationships/slide" Target="slides/slide45.xml"/><Relationship Id="rId31" Type="http://schemas.openxmlformats.org/officeDocument/2006/relationships/slide" Target="slides/slide44.xml"/><Relationship Id="rId32" Type="http://schemas.openxmlformats.org/officeDocument/2006/relationships/slide" Target="slides/slide43.xml"/><Relationship Id="rId33" Type="http://schemas.openxmlformats.org/officeDocument/2006/relationships/slide" Target="slides/slide17.xml"/><Relationship Id="rId34" Type="http://schemas.openxmlformats.org/officeDocument/2006/relationships/slide" Target="slides/slide16.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7.xml"/><Relationship Id="rId38" Type="http://schemas.openxmlformats.org/officeDocument/2006/relationships/slide" Target="slides/slide36.xml"/><Relationship Id="rId39" Type="http://schemas.openxmlformats.org/officeDocument/2006/relationships/slide" Target="slides/slide34.xml"/><Relationship Id="rId40" Type="http://schemas.openxmlformats.org/officeDocument/2006/relationships/slide" Target="slides/slide22.xml"/><Relationship Id="rId41" Type="http://schemas.openxmlformats.org/officeDocument/2006/relationships/slide" Target="slides/slide41.xml"/><Relationship Id="rId42" Type="http://schemas.openxmlformats.org/officeDocument/2006/relationships/slide" Target="slides/slide11.xml"/><Relationship Id="rId43" Type="http://schemas.openxmlformats.org/officeDocument/2006/relationships/slide" Target="slides/slide40.xml"/><Relationship Id="rId44" Type="http://schemas.openxmlformats.org/officeDocument/2006/relationships/slide" Target="slides/slide39.xml"/><Relationship Id="rId45" Type="http://schemas.openxmlformats.org/officeDocument/2006/relationships/slide" Target="slides/slide31.xml"/><Relationship Id="rId46" Type="http://schemas.openxmlformats.org/officeDocument/2006/relationships/slide" Target="slides/slide35.xml"/><Relationship Id="rId47" Type="http://schemas.openxmlformats.org/officeDocument/2006/relationships/slide" Target="slides/slide27.xml"/><Relationship Id="rId48" Type="http://schemas.openxmlformats.org/officeDocument/2006/relationships/slide" Target="slides/slide26.xml"/><Relationship Id="rId49" Type="http://schemas.openxmlformats.org/officeDocument/2006/relationships/slide" Target="slides/slide33.xml"/><Relationship Id="rId50" Type="http://schemas.openxmlformats.org/officeDocument/2006/relationships/slide" Target="slides/slide2.xml"/><Relationship Id="rId51" Type="http://schemas.openxmlformats.org/officeDocument/2006/relationships/slide" Target="slides/slide32.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8.xml"/><Relationship Id="rId62"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9.xml"/><Relationship Id="rId85" Type="http://schemas.openxmlformats.org/officeDocument/2006/relationships/slide" Target="slides/slide20.xml"/><Relationship Id="rId86" Type="http://schemas.openxmlformats.org/officeDocument/2006/relationships/slide" Target="slides/slide21.xml"/><Relationship Id="rId87" Type="http://schemas.openxmlformats.org/officeDocument/2006/relationships/slide" Target="slides/slide23.xml"/><Relationship Id="rId89" Type="http://schemas.openxmlformats.org/officeDocument/2006/relationships/slide" Target="slides/slide24.xml"/><Relationship Id="rId90" Type="http://schemas.openxmlformats.org/officeDocument/2006/relationships/slide" Target="slides/slide25.xml"/><Relationship Id="rId95" Type="http://schemas.openxmlformats.org/officeDocument/2006/relationships/slide" Target="slides/slide28.xml"/><Relationship Id="rId96" Type="http://schemas.openxmlformats.org/officeDocument/2006/relationships/slide" Target="slides/slide29.xml"/><Relationship Id="rId97" Type="http://schemas.openxmlformats.org/officeDocument/2006/relationships/slide" Target="slides/slide30.xml"/><Relationship Id="rId99" Type="http://schemas.openxmlformats.org/officeDocument/2006/relationships/slide" Target="slides/slide38.xml"/><Relationship Id="rId102" Type="http://schemas.openxmlformats.org/officeDocument/2006/relationships/slide" Target="slides/slide4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a:p>
            <a:r>
              <a:t>Presenter date correction: 2026-11-01.</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live-avatar conversation, displayed as video only at the original aspect ratio. Presenter requested removal of added slide annotations, including the history-noise, latent and K/V sidebar. Technical configuration and continuation explanation remain on slides 10 and 11 and in demo-config.json. The first five seconds were already trimmed. The first 25% of the trimmed source plays at 1x and the final 75% at 3x with pitch-preserving audio. The 3x playback badge is burned into the accelerated portion. Original recorded subtitles, avatar-generation latency and reply-video-start metrics remain in the unchanged video. Final presentation video duration is 37.275 seconds. No new generation or benchmark.</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a:p/>
          <a:p>
            <a:r>
              <a:t>Workflow speaker notes, checked 31 October 2026.</a:t>
            </a:r>
          </a:p>
          <a:p>
            <a:r>
              <a:t>Text, keyframes and mixed references [Supported template]: Start from a text prompt, constrain the first and/or last frame, or supply image, video and audio references. The connected inputs select T2VA, FL2VA or Ref2VA. These are alternative generation modes; the service must load the matching checkpoint partition.</a:t>
            </a:r>
          </a:p>
          <a:p>
            <a:r>
              <a:t>Source: https://github.com/vllm-project/vllm-omni/blob/08177216af4b44cef54ec5bdc75c265a9f0cd697/apps/ComfyUI-vLLM-Omni/docs/h3-06-all-in-one.md</a:t>
            </a:r>
          </a:p>
          <a:p/>
          <a:p>
            <a:r>
              <a:t>Timeline guides [Supported nodes and template]: Place an image, video or audio guide at a chosen frame of the output. For example, frame 36 is 1.5 seconds at 24 FPS. This controls when supplied content appears. Requires base H3; the current guide path rejects FastH3, nonzero request LoRA and latent-mask editing.</a:t>
            </a:r>
          </a:p>
          <a:p>
            <a:r>
              <a:t>Source: https://github.com/vllm-project/vllm-omni/blob/08177216af4b44cef54ec5bdc75c265a9f0cd697/apps/ComfyUI-vLLM-Omni/README.md#timeline-guides-minimax-h3</a:t>
            </a:r>
          </a:p>
          <a:p/>
          <a:p>
            <a:r>
              <a:t>Inpainting and removal [Supported latent-mask template]: Supply a source video and a spatial mask. Preserve the unmasked context and regenerate the selected region: remove an object or describe replacement content. A separate audio mask decides whether source audio is preserved or regenerated.</a:t>
            </a:r>
          </a:p>
          <a:p>
            <a:r>
              <a:t>Source: https://github.com/vllm-project/vllm-omni/blob/08177216af4b44cef54ec5bdc75c265a9f0cd697/apps/ComfyUI-vLLM-Omni/docs/wf05-h3-latent-editing.md</a:t>
            </a:r>
          </a:p>
          <a:p/>
          <a:p>
            <a:r>
              <a:t>Continuation and extension [Supported latent-mask template]: Use a temporal mask to retain an initial part and regenerate the remaining interval, or request a longer duration to add new content after the source. This editing workflow is distinct from the rolling AV-tail implementation in our interactive demo.</a:t>
            </a:r>
          </a:p>
          <a:p>
            <a:r>
              <a:t>Source: https://github.com/vllm-project/vllm-omni/blob/08177216af4b44cef54ec5bdc75c265a9f0cd697/apps/ComfyUI-vLLM-Omni/docs/wf05-h3-latent-editing.md</a:t>
            </a:r>
          </a:p>
          <a:p/>
          <a:p>
            <a:r>
              <a:t>SeedVR2 upscale / restoration [Supported local and remote workflows]: Generate an H3 clip, then restore or upscale its decoded frames with a separate SeedVR2 model. Preserve the generated audio and FPS. The local template uses a ComfyUI SeedVR2 extension; the remote route calls a separate vLLM-Omni SeedVR2 service.</a:t>
            </a:r>
          </a:p>
          <a:p>
            <a:r>
              <a:t>Source: https://github.com/vllm-project/vllm-omni/blob/08177216af4b44cef54ec5bdc75c265a9f0cd697/apps/ComfyUI-vLLM-Omni/docs/wf07-h3-upscale.md</a:t>
            </a:r>
          </a:p>
          <a:p/>
          <a:p>
            <a:r>
              <a:t>H3 second-pass refinement [Backend capability; server-configured]: Generate a base latent, optionally upscale that latent, add noise and run the tail of the H3 denoising schedule before VAE decoding. This can change visual details and audio. It is request-mode only, rejects latent-tail continuation and latent-mask editing, and currently has no dedicated ComfyUI node or template.</a:t>
            </a:r>
          </a:p>
          <a:p>
            <a:r>
              <a:t>Source: https://github.com/vllm-project/vllm-omni/blob/08177216af4b44cef54ec5bdc75c265a9f0cd697/recipes/MiniMaxAI/MiniMax-H3.md</a:t>
            </a:r>
          </a:p>
          <a:p/>
          <a:p>
            <a:r>
              <a:t>Music-driven video [Supported supplied-track template]: Supply a music track and a character/style image. Slice the track, generate one Ref2VA shot per slice with locked source audio, then join the shots and restore the original recording as the final soundtrack. Shots share the reference image but do not carry latent history between requests; cuts are expected.</a:t>
            </a:r>
          </a:p>
          <a:p>
            <a:r>
              <a:t>Source: https://github.com/vllm-project/vllm-omni/blob/08177216af4b44cef54ec5bdc75c265a9f0cd697/apps/ComfyUI-vLLM-Omni/docs/h3-03-music-video.md</a:t>
            </a:r>
          </a:p>
          <a:p/>
          <a:p>
            <a:r>
              <a:t>ControlNet workflows [Draft PRs; not merged]: Use pose, depth or edge hints to constrain motion and composition. The proposed workflow offers Canny, Depth, Pose, HED, MLSD and Inpaint controls. Dependencies and quality validation remain; do not present it as available on main.</a:t>
            </a:r>
          </a:p>
          <a:p>
            <a:r>
              <a:t>Source: https://github.com/vllm-project/vllm-omni/pull/7507</a:t>
            </a:r>
          </a:p>
          <a:p/>
          <a:p>
            <a:r>
              <a:t>Character replacement [Open PR; not merged]: Combine a source video and a new character reference to replace the subject while aiming to retain the original motion and scene. Backend dependencies and quality validation remain.</a:t>
            </a:r>
          </a:p>
          <a:p>
            <a:r>
              <a:t>Source: https://github.com/vllm-project/vllm-omni/pull/9194</a:t>
            </a:r>
          </a:p>
          <a:p/>
          <a:p>
            <a:r>
              <a:t>Multi-anchor workflow [Open template PR; not merged]: Combine an identity reference with several time-indexed image anchors in one ready-to-run graph. Reference and timeline-guide nodes already exist; the pending item is the combined template, not the entire guide capability.</a:t>
            </a:r>
          </a:p>
          <a:p>
            <a:r>
              <a:t>Source: https://github.com/vllm-project/vllm-omni/pull/9420</a:t>
            </a:r>
          </a:p>
          <a:p/>
          <a:p>
            <a:r>
              <a:t>Long-form stories and avatars [RFC proposals]: Compose multiple bounded shots or continuation segments into story, dialogue and repeatable-avatar workflows, with explicit boundary and audio handling. This is a proposed workflow family, not a promise of unlimited single-request generation or real-time performance.</a:t>
            </a:r>
          </a:p>
          <a:p>
            <a:r>
              <a:t>Source: https://github.com/vllm-project/vllm-omni/issues/8251</a:t>
            </a:r>
          </a:p>
          <a:p>
            <a:r>
              <a:t>Presenter requested Simplified Chinese translations after every workflow bullet. English source wording and support status are retained. The Chinese translations clarify the same supported/planned boundary; no new capability claims.</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image is the official vLLM-Omni architecture. The right image is the official ComfyUI extension H3 workflow screenshot. Both are reproduced without modifications from upstream commit 08177216af4b44cef54ec5bdc75c265a9f0cd697. ComfyUI sends requests to the model service; generated video and audio return to the workflow. The screenshot illustrates the interface, not the benchmark configuration or a new result. ComfyUI does not load the H3 weights for this remote-serving integration. The next slide lists supported and proposed workflows. Source images: https://github.com/vllm-project/vllm-omni/blob/08177216af4b44cef54ec5bdc75c265a9f0cd697/docs/source/architecture/vllm-omni-main-architecture.png ; https://github.com/vllm-project/vllm-omni/blob/08177216af4b44cef54ec5bdc75c265a9f0cd697/apps/ComfyUI-vLLM-Omni/docs/images/comfyui-video-generation.jpg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png"/><Relationship Id="rId3" Type="http://schemas.openxmlformats.org/officeDocument/2006/relationships/image" Target="../media/image38.jpg"/><Relationship Id="rId4"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2026-11-01</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938760"/>
            <a:ext cx="32918400" cy="777240"/>
          </a:xfrm>
          <a:prstGeom prst="rect">
            <a:avLst/>
          </a:prstGeom>
          <a:noFill/>
        </p:spPr>
        <p:txBody>
          <a:bodyPr wrap="square" lIns="0" rIns="0" tIns="0" bIns="0">
            <a:spAutoFit/>
          </a:bodyPr>
          <a:lstStyle/>
          <a:p>
            <a:pPr>
              <a:spcBef>
                <a:spcPts val="0"/>
              </a:spcBef>
              <a:spcAft>
                <a:spcPts val="0"/>
              </a:spcAft>
            </a:pPr>
            <a:r>
              <a:rPr sz="3300" b="0">
                <a:solidFill>
                  <a:srgbClr val="000000"/>
                </a:solidFill>
                <a:latin typeface="NVIDIA Sans Medium"/>
              </a:rPr>
              <a:t>AV latents carry the history; attention K/V is recomputed for the new request.</a:t>
            </a:r>
          </a:p>
        </p:txBody>
      </p:sp>
      <p:sp>
        <p:nvSpPr>
          <p:cNvPr id="32" name="Continuation controls"/>
          <p:cNvSpPr txBox="1"/>
          <p:nvPr/>
        </p:nvSpPr>
        <p:spPr>
          <a:xfrm>
            <a:off x="1828800" y="13990320"/>
            <a:ext cx="329184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Target prefix clamping: off  ·  Cumulative AV positions  ·  Fixed-size history</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Generate 124 frames; append 119 new frames at 24 FPS. Repeat with the new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01492" y="0"/>
            <a:ext cx="35773014" cy="20574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Model serving meets visual workflows.</a:t>
            </a:r>
          </a:p>
        </p:txBody>
      </p:sp>
      <p:sp>
        <p:nvSpPr>
          <p:cNvPr id="4" name="Title 3"/>
          <p:cNvSpPr>
            <a:spLocks noGrp="1"/>
          </p:cNvSpPr>
          <p:nvPr>
            <p:ph type="title"/>
          </p:nvPr>
        </p:nvSpPr>
        <p:spPr/>
        <p:txBody>
          <a:bodyPr/>
          <a:lstStyle/>
          <a:p>
            <a:r>
              <a:rPr sz="8800"/>
              <a:t>vLLM-Omni × ComfyUI</a:t>
            </a:r>
          </a:p>
        </p:txBody>
      </p:sp>
      <p:sp>
        <p:nvSpPr>
          <p:cNvPr id="5" name="vLLM-Omni heading"/>
          <p:cNvSpPr txBox="1"/>
          <p:nvPr/>
        </p:nvSpPr>
        <p:spPr>
          <a:xfrm>
            <a:off x="18288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vLLM-Omni</a:t>
            </a:r>
          </a:p>
        </p:txBody>
      </p:sp>
      <p:sp>
        <p:nvSpPr>
          <p:cNvPr id="6" name="vLLM-Omni role"/>
          <p:cNvSpPr txBox="1"/>
          <p:nvPr/>
        </p:nvSpPr>
        <p:spPr>
          <a:xfrm>
            <a:off x="18288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SERVE MODELS</a:t>
            </a:r>
          </a:p>
        </p:txBody>
      </p:sp>
      <p:sp>
        <p:nvSpPr>
          <p:cNvPr id="7" name="ComfyUI heading"/>
          <p:cNvSpPr txBox="1"/>
          <p:nvPr/>
        </p:nvSpPr>
        <p:spPr>
          <a:xfrm>
            <a:off x="210312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ComfyUI</a:t>
            </a:r>
          </a:p>
        </p:txBody>
      </p:sp>
      <p:sp>
        <p:nvSpPr>
          <p:cNvPr id="8" name="ComfyUI role"/>
          <p:cNvSpPr txBox="1"/>
          <p:nvPr/>
        </p:nvSpPr>
        <p:spPr>
          <a:xfrm>
            <a:off x="210312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COMPOSE WORKFLOWS</a:t>
            </a:r>
          </a:p>
        </p:txBody>
      </p:sp>
      <p:pic>
        <p:nvPicPr>
          <p:cNvPr id="9" name="Official vLLM-Omni architecture" descr="vllm-omni-main-architecture.png"/>
          <p:cNvPicPr>
            <a:picLocks noChangeAspect="1"/>
          </p:cNvPicPr>
          <p:nvPr/>
        </p:nvPicPr>
        <p:blipFill>
          <a:blip r:embed="rId2"/>
          <a:stretch>
            <a:fillRect/>
          </a:stretch>
        </p:blipFill>
        <p:spPr>
          <a:xfrm>
            <a:off x="2415232" y="7223760"/>
            <a:ext cx="12543134" cy="10789920"/>
          </a:xfrm>
          <a:prstGeom prst="rect">
            <a:avLst/>
          </a:prstGeom>
        </p:spPr>
      </p:pic>
      <p:pic>
        <p:nvPicPr>
          <p:cNvPr id="10" name="Official ComfyUI H3 workflow" descr="image.jpg"/>
          <p:cNvPicPr>
            <a:picLocks noChangeAspect="1"/>
          </p:cNvPicPr>
          <p:nvPr/>
        </p:nvPicPr>
        <p:blipFill>
          <a:blip r:embed="rId3"/>
          <a:stretch>
            <a:fillRect/>
          </a:stretch>
        </p:blipFill>
        <p:spPr>
          <a:xfrm>
            <a:off x="21031200" y="7518082"/>
            <a:ext cx="13716000" cy="10201275"/>
          </a:xfrm>
          <a:prstGeom prst="rect">
            <a:avLst/>
          </a:prstGeom>
        </p:spPr>
      </p:pic>
      <p:sp>
        <p:nvSpPr>
          <p:cNvPr id="11" name="Request label"/>
          <p:cNvSpPr txBox="1"/>
          <p:nvPr/>
        </p:nvSpPr>
        <p:spPr>
          <a:xfrm>
            <a:off x="15956280" y="9509760"/>
            <a:ext cx="4663440" cy="64008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Medium"/>
              </a:rPr>
              <a:t>Requests</a:t>
            </a:r>
          </a:p>
        </p:txBody>
      </p:sp>
      <p:cxnSp>
        <p:nvCxnSpPr>
          <p:cNvPr id="12" name="ComfyUI requests inference"/>
          <p:cNvCxnSpPr/>
          <p:nvPr/>
        </p:nvCxnSpPr>
        <p:spPr>
          <a:xfrm flipH="1">
            <a:off x="16184880" y="10607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vLLM Omni returns media"/>
          <p:cNvCxnSpPr/>
          <p:nvPr/>
        </p:nvCxnSpPr>
        <p:spPr>
          <a:xfrm>
            <a:off x="16184880" y="12893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Media label"/>
          <p:cNvSpPr txBox="1"/>
          <p:nvPr/>
        </p:nvSpPr>
        <p:spPr>
          <a:xfrm>
            <a:off x="15636240" y="13258800"/>
            <a:ext cx="530352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Medium"/>
              </a:rPr>
              <a:t>Video + audio</a:t>
            </a:r>
          </a:p>
        </p:txBody>
      </p:sp>
      <p:sp>
        <p:nvSpPr>
          <p:cNvPr id="15" name="Serving caption"/>
          <p:cNvSpPr txBox="1"/>
          <p:nvPr/>
        </p:nvSpPr>
        <p:spPr>
          <a:xfrm>
            <a:off x="1828800" y="18288000"/>
            <a:ext cx="1371600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Local or remote inference services</a:t>
            </a:r>
          </a:p>
        </p:txBody>
      </p:sp>
      <p:sp>
        <p:nvSpPr>
          <p:cNvPr id="16" name="Workflow caption"/>
          <p:cNvSpPr txBox="1"/>
          <p:nvPr/>
        </p:nvSpPr>
        <p:spPr>
          <a:xfrm>
            <a:off x="21031200" y="18288000"/>
            <a:ext cx="13716000" cy="73152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Connect inputs, generate, edit and save</a:t>
            </a:r>
          </a:p>
        </p:txBody>
      </p:sp>
      <p:sp>
        <p:nvSpPr>
          <p:cNvPr id="17" name="Official source credit"/>
          <p:cNvSpPr txBox="1"/>
          <p:nvPr/>
        </p:nvSpPr>
        <p:spPr>
          <a:xfrm>
            <a:off x="1828800" y="19339560"/>
            <a:ext cx="32918400" cy="502920"/>
          </a:xfrm>
          <a:prstGeom prst="rect">
            <a:avLst/>
          </a:prstGeom>
          <a:noFill/>
        </p:spPr>
        <p:txBody>
          <a:bodyPr wrap="square" lIns="0" rIns="0" tIns="0" bIns="0">
            <a:spAutoFit/>
          </a:bodyPr>
          <a:lstStyle/>
          <a:p>
            <a:pPr>
              <a:spcBef>
                <a:spcPts val="0"/>
              </a:spcBef>
              <a:spcAft>
                <a:spcPts val="0"/>
              </a:spcAft>
            </a:pPr>
            <a:r>
              <a:rPr sz="2000" b="0">
                <a:solidFill>
                  <a:srgbClr val="313131"/>
                </a:solidFill>
                <a:latin typeface="NVIDIA Sans"/>
              </a:rPr>
              <a:t>Official vLLM-Omni architecture and ComfyUI H3 workflow images · upstream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lang="en-US">
                <a:solidFill>
                  <a:srgbClr val="76B900"/>
                </a:solidFill>
                <a:latin typeface="NVIDIA Sans Medium"/>
              </a:rPr>
              <a:t>Supported today</a:t>
            </a:r>
            <a:r>
              <a:rPr sz="3600" lang="en-US">
                <a:solidFill>
                  <a:srgbClr val="A7A7A7"/>
                </a:solidFill>
                <a:latin typeface="NVIDIA Sans"/>
              </a:rPr>
              <a:t>  ·  </a:t>
            </a:r>
            <a:r>
              <a:rPr sz="3600" lang="zh-CN">
                <a:solidFill>
                  <a:srgbClr val="313131"/>
                </a:solidFill>
                <a:latin typeface="Microsoft YaHei"/>
                <a:ea typeface="Microsoft YaHei"/>
              </a:rPr>
              <a:t>已支持</a:t>
            </a:r>
          </a:p>
        </p:txBody>
      </p:sp>
      <p:sp>
        <p:nvSpPr>
          <p:cNvPr id="7" name="Supported scope"/>
          <p:cNvSpPr txBox="1"/>
          <p:nvPr/>
        </p:nvSpPr>
        <p:spPr>
          <a:xfrm>
            <a:off x="1828800" y="6217920"/>
            <a:ext cx="15544800" cy="914400"/>
          </a:xfrm>
          <a:prstGeom prst="rect">
            <a:avLst/>
          </a:prstGeom>
          <a:noFill/>
        </p:spPr>
        <p:txBody>
          <a:bodyPr wrap="square" lIns="0" rIns="0" tIns="0" bIns="0">
            <a:spAutoFit/>
          </a:bodyPr>
          <a:lstStyle/>
          <a:p>
            <a:pPr>
              <a:spcBef>
                <a:spcPts val="0"/>
              </a:spcBef>
              <a:spcAft>
                <a:spcPts val="700"/>
              </a:spcAft>
            </a:pPr>
            <a:r>
              <a:rPr sz="2500" lang="en-US">
                <a:solidFill>
                  <a:srgbClr val="000000"/>
                </a:solidFill>
                <a:latin typeface="NVIDIA Sans"/>
              </a:rPr>
              <a:t>Available in the checked upstream source</a:t>
            </a:r>
          </a:p>
          <a:p>
            <a:pPr>
              <a:spcBef>
                <a:spcPts val="0"/>
              </a:spcBef>
              <a:spcAft>
                <a:spcPts val="0"/>
              </a:spcAft>
            </a:pPr>
            <a:r>
              <a:rPr sz="2300" lang="zh-CN">
                <a:solidFill>
                  <a:srgbClr val="313131"/>
                </a:solidFill>
                <a:latin typeface="Microsoft YaHei"/>
                <a:ea typeface="Microsoft YaHei"/>
              </a:rPr>
              <a:t>已在核验的上游源码中提供</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lang="en-US">
                <a:solidFill>
                  <a:srgbClr val="000000"/>
                </a:solidFill>
                <a:latin typeface="NVIDIA Sans Medium"/>
              </a:rPr>
              <a:t>Planned support</a:t>
            </a:r>
            <a:r>
              <a:rPr sz="3600" lang="en-US">
                <a:solidFill>
                  <a:srgbClr val="A7A7A7"/>
                </a:solidFill>
                <a:latin typeface="NVIDIA Sans"/>
              </a:rPr>
              <a:t>  ·  </a:t>
            </a:r>
            <a:r>
              <a:rPr sz="3600" lang="zh-CN">
                <a:solidFill>
                  <a:srgbClr val="313131"/>
                </a:solidFill>
                <a:latin typeface="Microsoft YaHei"/>
                <a:ea typeface="Microsoft YaHei"/>
              </a:rPr>
              <a:t>计划支持</a:t>
            </a:r>
          </a:p>
        </p:txBody>
      </p:sp>
      <p:sp>
        <p:nvSpPr>
          <p:cNvPr id="9" name="Planned scope"/>
          <p:cNvSpPr txBox="1"/>
          <p:nvPr/>
        </p:nvSpPr>
        <p:spPr>
          <a:xfrm>
            <a:off x="20116800" y="6217920"/>
            <a:ext cx="14630400" cy="914400"/>
          </a:xfrm>
          <a:prstGeom prst="rect">
            <a:avLst/>
          </a:prstGeom>
          <a:noFill/>
        </p:spPr>
        <p:txBody>
          <a:bodyPr wrap="square" lIns="0" rIns="0" tIns="0" bIns="0">
            <a:spAutoFit/>
          </a:bodyPr>
          <a:lstStyle/>
          <a:p>
            <a:pPr>
              <a:spcBef>
                <a:spcPts val="0"/>
              </a:spcBef>
              <a:spcAft>
                <a:spcPts val="700"/>
              </a:spcAft>
            </a:pPr>
            <a:r>
              <a:rPr sz="2400" lang="en-US">
                <a:solidFill>
                  <a:srgbClr val="000000"/>
                </a:solidFill>
                <a:latin typeface="NVIDIA Sans"/>
              </a:rPr>
              <a:t>Open PRs / RFC proposals · no announced ETA</a:t>
            </a:r>
          </a:p>
          <a:p>
            <a:pPr>
              <a:spcBef>
                <a:spcPts val="0"/>
              </a:spcBef>
              <a:spcAft>
                <a:spcPts val="0"/>
              </a:spcAft>
            </a:pPr>
            <a:r>
              <a:rPr sz="2300" lang="zh-CN">
                <a:solidFill>
                  <a:srgbClr val="313131"/>
                </a:solidFill>
                <a:latin typeface="Microsoft YaHei"/>
                <a:ea typeface="Microsoft YaHei"/>
              </a:rPr>
              <a:t>开放 PR / RFC 提案 · 尚无公布的交付时间</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Generate &amp; guide</a:t>
            </a:r>
            <a:r>
              <a:rPr sz="3000" lang="en-US">
                <a:solidFill>
                  <a:srgbClr val="A7A7A7"/>
                </a:solidFill>
                <a:latin typeface="NVIDIA Sans"/>
              </a:rPr>
              <a:t>  ·  </a:t>
            </a:r>
            <a:r>
              <a:rPr sz="3000" lang="zh-CN">
                <a:solidFill>
                  <a:srgbClr val="313131"/>
                </a:solidFill>
                <a:latin typeface="Microsoft YaHei"/>
                <a:ea typeface="Microsoft YaHei"/>
              </a:rPr>
              <a:t>生成与引导</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Text, first/last frames, mixed references and timeline guides.</a:t>
            </a:r>
          </a:p>
          <a:p>
            <a:pPr>
              <a:spcBef>
                <a:spcPts val="0"/>
              </a:spcBef>
              <a:spcAft>
                <a:spcPts val="0"/>
              </a:spcAft>
            </a:pPr>
            <a:r>
              <a:rPr sz="2600" lang="zh-CN">
                <a:solidFill>
                  <a:srgbClr val="313131"/>
                </a:solidFill>
                <a:latin typeface="Microsoft YaHei"/>
                <a:ea typeface="Microsoft YaHei"/>
              </a:rPr>
              <a:t>文字、首帧/尾帧、混合参考素材与时间轴引导。</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Edit &amp; continue</a:t>
            </a:r>
            <a:r>
              <a:rPr sz="3000" lang="en-US">
                <a:solidFill>
                  <a:srgbClr val="A7A7A7"/>
                </a:solidFill>
                <a:latin typeface="NVIDIA Sans"/>
              </a:rPr>
              <a:t>  ·  </a:t>
            </a:r>
            <a:r>
              <a:rPr sz="3000" lang="zh-CN">
                <a:solidFill>
                  <a:srgbClr val="313131"/>
                </a:solidFill>
                <a:latin typeface="Microsoft YaHei"/>
                <a:ea typeface="Microsoft YaHei"/>
              </a:rPr>
              <a:t>编辑与续接</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Inpainting, object removal and clip continuation.</a:t>
            </a:r>
          </a:p>
          <a:p>
            <a:pPr>
              <a:spcBef>
                <a:spcPts val="0"/>
              </a:spcBef>
              <a:spcAft>
                <a:spcPts val="0"/>
              </a:spcAft>
            </a:pPr>
            <a:r>
              <a:rPr sz="2600" lang="zh-CN">
                <a:solidFill>
                  <a:srgbClr val="313131"/>
                </a:solidFill>
                <a:latin typeface="Microsoft YaHei"/>
                <a:ea typeface="Microsoft YaHei"/>
              </a:rPr>
              <a:t>局部重绘、物体移除与片段续接。</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Upscale &amp; second pass*</a:t>
            </a:r>
            <a:r>
              <a:rPr sz="3000" lang="en-US">
                <a:solidFill>
                  <a:srgbClr val="A7A7A7"/>
                </a:solidFill>
                <a:latin typeface="NVIDIA Sans"/>
              </a:rPr>
              <a:t>  ·  </a:t>
            </a:r>
            <a:r>
              <a:rPr sz="3000" lang="zh-CN">
                <a:solidFill>
                  <a:srgbClr val="313131"/>
                </a:solidFill>
                <a:latin typeface="Microsoft YaHei"/>
                <a:ea typeface="Microsoft YaHei"/>
              </a:rPr>
              <a:t>超分与二次采样</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SeedVR2 restoration; H3 server-side latent refinement.</a:t>
            </a:r>
          </a:p>
          <a:p>
            <a:pPr>
              <a:spcBef>
                <a:spcPts val="0"/>
              </a:spcBef>
              <a:spcAft>
                <a:spcPts val="0"/>
              </a:spcAft>
            </a:pPr>
            <a:r>
              <a:rPr sz="2600" lang="zh-CN">
                <a:solidFill>
                  <a:srgbClr val="313131"/>
                </a:solidFill>
                <a:latin typeface="Microsoft YaHei"/>
                <a:ea typeface="Microsoft YaHei"/>
              </a:rPr>
              <a:t>SeedVR2 画质修复；H3 服务端潜空间细化。</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Music-driven video</a:t>
            </a:r>
            <a:r>
              <a:rPr sz="3000" lang="en-US">
                <a:solidFill>
                  <a:srgbClr val="A7A7A7"/>
                </a:solidFill>
                <a:latin typeface="NVIDIA Sans"/>
              </a:rPr>
              <a:t>  ·  </a:t>
            </a:r>
            <a:r>
              <a:rPr sz="3000" lang="zh-CN">
                <a:solidFill>
                  <a:srgbClr val="313131"/>
                </a:solidFill>
                <a:latin typeface="Microsoft YaHei"/>
                <a:ea typeface="Microsoft YaHei"/>
              </a:rPr>
              <a:t>音乐驱动视频</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Audio-driven shots, assembled with the supplied soundtrack.</a:t>
            </a:r>
          </a:p>
          <a:p>
            <a:pPr>
              <a:spcBef>
                <a:spcPts val="0"/>
              </a:spcBef>
              <a:spcAft>
                <a:spcPts val="0"/>
              </a:spcAft>
            </a:pPr>
            <a:r>
              <a:rPr sz="2600" lang="zh-CN">
                <a:solidFill>
                  <a:srgbClr val="313131"/>
                </a:solidFill>
                <a:latin typeface="Microsoft YaHei"/>
                <a:ea typeface="Microsoft YaHei"/>
              </a:rPr>
              <a:t>由音频驱动分镜，拼接后使用输入的原始音轨。</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ControlNet workflows</a:t>
            </a:r>
            <a:r>
              <a:rPr sz="3000" lang="en-US">
                <a:solidFill>
                  <a:srgbClr val="A7A7A7"/>
                </a:solidFill>
                <a:latin typeface="NVIDIA Sans"/>
              </a:rPr>
              <a:t>  ·  </a:t>
            </a:r>
            <a:r>
              <a:rPr sz="3000" lang="zh-CN">
                <a:solidFill>
                  <a:srgbClr val="313131"/>
                </a:solidFill>
                <a:latin typeface="Microsoft YaHei"/>
                <a:ea typeface="Microsoft YaHei"/>
              </a:rPr>
              <a:t>条件控制工作流</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Pose, depth and edges · Draft PRs</a:t>
            </a:r>
          </a:p>
          <a:p>
            <a:pPr>
              <a:spcBef>
                <a:spcPts val="0"/>
              </a:spcBef>
              <a:spcAft>
                <a:spcPts val="0"/>
              </a:spcAft>
            </a:pPr>
            <a:r>
              <a:rPr sz="2600" lang="zh-CN">
                <a:solidFill>
                  <a:srgbClr val="313131"/>
                </a:solidFill>
                <a:latin typeface="Microsoft YaHei"/>
                <a:ea typeface="Microsoft YaHei"/>
              </a:rPr>
              <a:t>姿态、深度与边缘控制 · 草稿 PR</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Character replacement</a:t>
            </a:r>
            <a:r>
              <a:rPr sz="3000" lang="en-US">
                <a:solidFill>
                  <a:srgbClr val="A7A7A7"/>
                </a:solidFill>
                <a:latin typeface="NVIDIA Sans"/>
              </a:rPr>
              <a:t>  ·  </a:t>
            </a:r>
            <a:r>
              <a:rPr sz="3000" lang="zh-CN">
                <a:solidFill>
                  <a:srgbClr val="313131"/>
                </a:solidFill>
                <a:latin typeface="Microsoft YaHei"/>
                <a:ea typeface="Microsoft YaHei"/>
              </a:rPr>
              <a:t>角色替换</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Source video + new identity · Open PR</a:t>
            </a:r>
          </a:p>
          <a:p>
            <a:pPr>
              <a:spcBef>
                <a:spcPts val="0"/>
              </a:spcBef>
              <a:spcAft>
                <a:spcPts val="0"/>
              </a:spcAft>
            </a:pPr>
            <a:r>
              <a:rPr sz="2600" lang="zh-CN">
                <a:solidFill>
                  <a:srgbClr val="313131"/>
                </a:solidFill>
                <a:latin typeface="Microsoft YaHei"/>
                <a:ea typeface="Microsoft YaHei"/>
              </a:rPr>
              <a:t>原视频 + 新角色身份 · 待合并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Multi-anchor workflow</a:t>
            </a:r>
            <a:r>
              <a:rPr sz="3000" lang="en-US">
                <a:solidFill>
                  <a:srgbClr val="A7A7A7"/>
                </a:solidFill>
                <a:latin typeface="NVIDIA Sans"/>
              </a:rPr>
              <a:t>  ·  </a:t>
            </a:r>
            <a:r>
              <a:rPr sz="3000" lang="zh-CN">
                <a:solidFill>
                  <a:srgbClr val="313131"/>
                </a:solidFill>
                <a:latin typeface="Microsoft YaHei"/>
                <a:ea typeface="Microsoft YaHei"/>
              </a:rPr>
              <a:t>多锚点工作流</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Identity + timed keyframes · Open PR</a:t>
            </a:r>
          </a:p>
          <a:p>
            <a:pPr>
              <a:spcBef>
                <a:spcPts val="0"/>
              </a:spcBef>
              <a:spcAft>
                <a:spcPts val="0"/>
              </a:spcAft>
            </a:pPr>
            <a:r>
              <a:rPr sz="2600" lang="zh-CN">
                <a:solidFill>
                  <a:srgbClr val="313131"/>
                </a:solidFill>
                <a:latin typeface="Microsoft YaHei"/>
                <a:ea typeface="Microsoft YaHei"/>
              </a:rPr>
              <a:t>角色身份 + 指定时刻的关键帧 · 待合并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lang="en-US">
                <a:solidFill>
                  <a:srgbClr val="000000"/>
                </a:solidFill>
                <a:latin typeface="NVIDIA Sans Medium"/>
              </a:rPr>
              <a:t>Long-form stories &amp; avatars</a:t>
            </a:r>
            <a:r>
              <a:rPr sz="3000" lang="en-US">
                <a:solidFill>
                  <a:srgbClr val="A7A7A7"/>
                </a:solidFill>
                <a:latin typeface="NVIDIA Sans"/>
              </a:rPr>
              <a:t>  ·  </a:t>
            </a:r>
            <a:r>
              <a:rPr sz="3000" lang="zh-CN">
                <a:solidFill>
                  <a:srgbClr val="313131"/>
                </a:solidFill>
                <a:latin typeface="Microsoft YaHei"/>
                <a:ea typeface="Microsoft YaHei"/>
              </a:rPr>
              <a:t>长篇叙事与数字人</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700"/>
              </a:spcAft>
            </a:pPr>
            <a:r>
              <a:rPr sz="2800" lang="en-US">
                <a:solidFill>
                  <a:srgbClr val="000000"/>
                </a:solidFill>
                <a:latin typeface="NVIDIA Sans"/>
              </a:rPr>
              <a:t>Segmented production templates · RFC</a:t>
            </a:r>
          </a:p>
          <a:p>
            <a:pPr>
              <a:spcBef>
                <a:spcPts val="0"/>
              </a:spcBef>
              <a:spcAft>
                <a:spcPts val="0"/>
              </a:spcAft>
            </a:pPr>
            <a:r>
              <a:rPr sz="2600" lang="zh-CN">
                <a:solidFill>
                  <a:srgbClr val="313131"/>
                </a:solidFill>
                <a:latin typeface="Microsoft YaHei"/>
                <a:ea typeface="Microsoft YaHei"/>
              </a:rPr>
              <a:t>分段生成与制作模板 · RFC 提案</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105120"/>
            <a:ext cx="32918400" cy="1051560"/>
          </a:xfrm>
          <a:prstGeom prst="rect">
            <a:avLst/>
          </a:prstGeom>
          <a:noFill/>
        </p:spPr>
        <p:txBody>
          <a:bodyPr wrap="square" lIns="0" rIns="0" tIns="0" bIns="0">
            <a:spAutoFit/>
          </a:bodyPr>
          <a:lstStyle/>
          <a:p>
            <a:pPr>
              <a:spcBef>
                <a:spcPts val="0"/>
              </a:spcBef>
              <a:spcAft>
                <a:spcPts val="700"/>
              </a:spcAft>
            </a:pPr>
            <a:r>
              <a:rPr sz="2700" lang="en-US">
                <a:solidFill>
                  <a:srgbClr val="000000"/>
                </a:solidFill>
                <a:latin typeface="NVIDIA Sans"/>
              </a:rPr>
              <a:t>*H3 second pass is server-configured; no dedicated ComfyUI node or template.</a:t>
            </a:r>
          </a:p>
          <a:p>
            <a:pPr>
              <a:spcBef>
                <a:spcPts val="0"/>
              </a:spcBef>
              <a:spcAft>
                <a:spcPts val="0"/>
              </a:spcAft>
            </a:pPr>
            <a:r>
              <a:rPr sz="2500" lang="zh-CN">
                <a:solidFill>
                  <a:srgbClr val="313131"/>
                </a:solidFill>
                <a:latin typeface="Microsoft YaHei"/>
                <a:ea typeface="Microsoft YaHei"/>
              </a:rPr>
              <a:t>*H3 二次采样由服务端配置；暂无独立 ComfyUI 节点或模板。</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23</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27</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28</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29</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30</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33</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38</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39</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40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45</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