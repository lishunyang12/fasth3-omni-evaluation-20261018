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7" r:id="rId89"/>
    <p:sldId id="348" r:id="rId90"/>
    <p:sldId id="364" r:id="rId48"/>
    <p:sldId id="363" r:id="rId47"/>
    <p:sldId id="353" r:id="rId95"/>
    <p:sldId id="354" r:id="rId96"/>
    <p:sldId id="355" r:id="rId97"/>
    <p:sldId id="361" r:id="rId45"/>
    <p:sldId id="368" r:id="rId51"/>
    <p:sldId id="369" r:id="rId49"/>
    <p:sldId id="357" r:id="rId99"/>
    <p:sldId id="370" r:id="rId44"/>
    <p:sldId id="372" r:id="rId42"/>
    <p:sldId id="371" r:id="rId43"/>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2" Type="http://schemas.openxmlformats.org/officeDocument/2006/relationships/slide" Target="slides/slide19.xml"/><Relationship Id="rId43" Type="http://schemas.openxmlformats.org/officeDocument/2006/relationships/slide" Target="slides/slide20.xml"/><Relationship Id="rId44" Type="http://schemas.openxmlformats.org/officeDocument/2006/relationships/slide" Target="slides/slide18.xml"/><Relationship Id="rId45" Type="http://schemas.openxmlformats.org/officeDocument/2006/relationships/slide" Target="slides/slide14.xml"/><Relationship Id="rId47" Type="http://schemas.openxmlformats.org/officeDocument/2006/relationships/slide" Target="slides/slide10.xml"/><Relationship Id="rId48" Type="http://schemas.openxmlformats.org/officeDocument/2006/relationships/slide" Target="slides/slide9.xml"/><Relationship Id="rId49" Type="http://schemas.openxmlformats.org/officeDocument/2006/relationships/slide" Target="slides/slide16.xml"/><Relationship Id="rId51"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9" Type="http://schemas.openxmlformats.org/officeDocument/2006/relationships/slide" Target="slides/slide7.xml"/><Relationship Id="rId90" Type="http://schemas.openxmlformats.org/officeDocument/2006/relationships/slide" Target="slides/slide8.xml"/><Relationship Id="rId95" Type="http://schemas.openxmlformats.org/officeDocument/2006/relationships/slide" Target="slides/slide11.xml"/><Relationship Id="rId96" Type="http://schemas.openxmlformats.org/officeDocument/2006/relationships/slide" Target="slides/slide12.xml"/><Relationship Id="rId97" Type="http://schemas.openxmlformats.org/officeDocument/2006/relationships/slide" Target="slides/slide13.xml"/><Relationship Id="rId99" Type="http://schemas.openxmlformats.org/officeDocument/2006/relationships/slide" Target="slides/slide17.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6.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18. The recorded demonstration follows on slide 20.</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question translated from the recorded demo. The reply is the LLM preview, not a verified transcript of generated speech.</a:t>
            </a:r>
          </a:p>
          <a:p>
            <a:r>
              <a:t>The image is the actual input reference.png read by the demo server from workload.json and sent to H3 as an input reference.</a:t>
            </a:r>
          </a:p>
          <a:p>
            <a:r>
              <a:t>Reference image SHA256: 560c094f9900ea762227f84481ca8a2f73adac69963e0d1a78563bec1844d6b8</a:t>
            </a:r>
          </a:p>
          <a:p>
            <a:r>
              <a:t>The English H3 prompt, model configuration and following recorded video are unchanged.</a:t>
            </a:r>
          </a:p>
          <a:p>
            <a:r>
              <a:t>The slide omits low-level AV latent-tail implementation details.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17 describes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transformer blocks are evaluated at each of 50 baseline steps.</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Baseline: Nsight Systems Breakdown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Original Ref2VA · 50 evaluations · BF16 · dense attention · 8 × SM120 GPUs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6</a:t>
            </a:r>
          </a:p>
        </p:txBody>
      </p:sp>
      <p:sp>
        <p:nvSpPr>
          <p:cNvPr id="5" name="BASELINE E2E card"/>
          <p:cNvSpPr/>
          <p:nvPr/>
        </p:nvSpPr>
        <p:spPr>
          <a:xfrm>
            <a:off x="182880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SELINE E2E label"/>
          <p:cNvSpPr txBox="1"/>
          <p:nvPr/>
        </p:nvSpPr>
        <p:spPr>
          <a:xfrm>
            <a:off x="214884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BASELINE E2E</a:t>
            </a:r>
          </a:p>
        </p:txBody>
      </p:sp>
      <p:sp>
        <p:nvSpPr>
          <p:cNvPr id="7" name="BASELINE E2E value"/>
          <p:cNvSpPr txBox="1"/>
          <p:nvPr/>
        </p:nvSpPr>
        <p:spPr>
          <a:xfrm>
            <a:off x="214884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213.402 s</a:t>
            </a:r>
          </a:p>
        </p:txBody>
      </p:sp>
      <p:sp>
        <p:nvSpPr>
          <p:cNvPr id="8" name="BASELINE E2E detail"/>
          <p:cNvSpPr txBox="1"/>
          <p:nvPr/>
        </p:nvSpPr>
        <p:spPr>
          <a:xfrm>
            <a:off x="214884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Complete-MP4 HTTP median · n = 2</a:t>
            </a:r>
          </a:p>
        </p:txBody>
      </p:sp>
      <p:sp>
        <p:nvSpPr>
          <p:cNvPr id="9" name="PROFILED REQUEST card"/>
          <p:cNvSpPr/>
          <p:nvPr/>
        </p:nvSpPr>
        <p:spPr>
          <a:xfrm>
            <a:off x="1298448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FILED REQUEST label"/>
          <p:cNvSpPr txBox="1"/>
          <p:nvPr/>
        </p:nvSpPr>
        <p:spPr>
          <a:xfrm>
            <a:off x="13304519"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PROFILED REQUEST</a:t>
            </a:r>
          </a:p>
        </p:txBody>
      </p:sp>
      <p:sp>
        <p:nvSpPr>
          <p:cNvPr id="11" name="PROFILED REQUEST value"/>
          <p:cNvSpPr txBox="1"/>
          <p:nvPr/>
        </p:nvSpPr>
        <p:spPr>
          <a:xfrm>
            <a:off x="13304519"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214.968 s</a:t>
            </a:r>
          </a:p>
        </p:txBody>
      </p:sp>
      <p:sp>
        <p:nvSpPr>
          <p:cNvPr id="12" name="PROFILED REQUEST detail"/>
          <p:cNvSpPr txBox="1"/>
          <p:nvPr/>
        </p:nvSpPr>
        <p:spPr>
          <a:xfrm>
            <a:off x="13304519"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Separate Nsight capture · n = 1</a:t>
            </a:r>
          </a:p>
        </p:txBody>
      </p:sp>
      <p:sp>
        <p:nvSpPr>
          <p:cNvPr id="13" name="GENERATED VIDEO card"/>
          <p:cNvSpPr/>
          <p:nvPr/>
        </p:nvSpPr>
        <p:spPr>
          <a:xfrm>
            <a:off x="24140160" y="4754880"/>
            <a:ext cx="10607040" cy="283464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ENERATED VIDEO label"/>
          <p:cNvSpPr txBox="1"/>
          <p:nvPr/>
        </p:nvSpPr>
        <p:spPr>
          <a:xfrm>
            <a:off x="24460200" y="5029200"/>
            <a:ext cx="9966960" cy="548640"/>
          </a:xfrm>
          <a:prstGeom prst="rect">
            <a:avLst/>
          </a:prstGeom>
          <a:noFill/>
        </p:spPr>
        <p:txBody>
          <a:bodyPr wrap="square" lIns="18288" rIns="18288" tIns="0" bIns="0">
            <a:spAutoFit/>
          </a:bodyPr>
          <a:lstStyle/>
          <a:p>
            <a:pPr>
              <a:spcBef>
                <a:spcPts val="0"/>
              </a:spcBef>
              <a:spcAft>
                <a:spcPts val="0"/>
              </a:spcAft>
            </a:pPr>
            <a:r>
              <a:rPr sz="2600" b="1">
                <a:solidFill>
                  <a:srgbClr val="17211A"/>
                </a:solidFill>
                <a:latin typeface="NVIDIA Sans"/>
              </a:rPr>
              <a:t>GENERATED VIDEO</a:t>
            </a:r>
          </a:p>
        </p:txBody>
      </p:sp>
      <p:sp>
        <p:nvSpPr>
          <p:cNvPr id="15" name="GENERATED VIDEO value"/>
          <p:cNvSpPr txBox="1"/>
          <p:nvPr/>
        </p:nvSpPr>
        <p:spPr>
          <a:xfrm>
            <a:off x="24460200" y="5623560"/>
            <a:ext cx="9966960" cy="91440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960 × 544</a:t>
            </a:r>
          </a:p>
        </p:txBody>
      </p:sp>
      <p:sp>
        <p:nvSpPr>
          <p:cNvPr id="16" name="GENERATED VIDEO detail"/>
          <p:cNvSpPr txBox="1"/>
          <p:nvPr/>
        </p:nvSpPr>
        <p:spPr>
          <a:xfrm>
            <a:off x="24460200" y="6720840"/>
            <a:ext cx="9966960" cy="548640"/>
          </a:xfrm>
          <a:prstGeom prst="rect">
            <a:avLst/>
          </a:prstGeom>
          <a:noFill/>
        </p:spPr>
        <p:txBody>
          <a:bodyPr wrap="square" lIns="18288" rIns="18288" tIns="0" bIns="0">
            <a:spAutoFit/>
          </a:bodyPr>
          <a:lstStyle/>
          <a:p>
            <a:pPr>
              <a:spcBef>
                <a:spcPts val="0"/>
              </a:spcBef>
              <a:spcAft>
                <a:spcPts val="0"/>
              </a:spcAft>
            </a:pPr>
            <a:r>
              <a:rPr sz="2500" b="0">
                <a:solidFill>
                  <a:srgbClr val="17211A"/>
                </a:solidFill>
                <a:latin typeface="NVIDIA Sans"/>
              </a:rPr>
              <a:t>124 frames · 24 FPS · 5.167 s</a:t>
            </a:r>
          </a:p>
        </p:txBody>
      </p:sp>
      <p:sp>
        <p:nvSpPr>
          <p:cNvPr id="17" name="Config heading"/>
          <p:cNvSpPr txBox="1"/>
          <p:nvPr/>
        </p:nvSpPr>
        <p:spPr>
          <a:xfrm>
            <a:off x="1828800" y="8275320"/>
            <a:ext cx="13716000" cy="731520"/>
          </a:xfrm>
          <a:prstGeom prst="rect">
            <a:avLst/>
          </a:prstGeom>
          <a:noFill/>
        </p:spPr>
        <p:txBody>
          <a:bodyPr wrap="square" lIns="18288" rIns="18288" tIns="0" bIns="0">
            <a:spAutoFit/>
          </a:bodyPr>
          <a:lstStyle/>
          <a:p>
            <a:pPr>
              <a:spcBef>
                <a:spcPts val="0"/>
              </a:spcBef>
              <a:spcAft>
                <a:spcPts val="0"/>
              </a:spcAft>
            </a:pPr>
            <a:r>
              <a:rPr sz="3500" b="1">
                <a:solidFill>
                  <a:srgbClr val="17211A"/>
                </a:solidFill>
                <a:latin typeface="NVIDIA Sans"/>
              </a:rPr>
              <a:t>Reference configuration</a:t>
            </a:r>
          </a:p>
        </p:txBody>
      </p:sp>
      <p:sp>
        <p:nvSpPr>
          <p:cNvPr id="18" name="Config 0"/>
          <p:cNvSpPr txBox="1"/>
          <p:nvPr/>
        </p:nvSpPr>
        <p:spPr>
          <a:xfrm>
            <a:off x="1828800" y="9326880"/>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PRO 5000 reference · 73,415 MiB / GPU</a:t>
            </a:r>
          </a:p>
        </p:txBody>
      </p:sp>
      <p:sp>
        <p:nvSpPr>
          <p:cNvPr id="19" name="Config 1"/>
          <p:cNvSpPr txBox="1"/>
          <p:nvPr/>
        </p:nvSpPr>
        <p:spPr>
          <a:xfrm>
            <a:off x="1828800" y="10076688"/>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DiT TP1 / Ulysses8 · text TP8 · VAE tiles8</a:t>
            </a:r>
          </a:p>
        </p:txBody>
      </p:sp>
      <p:sp>
        <p:nvSpPr>
          <p:cNvPr id="20" name="Config 2"/>
          <p:cNvSpPr txBox="1"/>
          <p:nvPr/>
        </p:nvSpPr>
        <p:spPr>
          <a:xfrm>
            <a:off x="1828800" y="10826496"/>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Local NCCL · RDMA disabled</a:t>
            </a:r>
          </a:p>
        </p:txBody>
      </p:sp>
      <p:sp>
        <p:nvSpPr>
          <p:cNvPr id="21" name="Config 3"/>
          <p:cNvSpPr txBox="1"/>
          <p:nvPr/>
        </p:nvSpPr>
        <p:spPr>
          <a:xfrm>
            <a:off x="1828800" y="11576304"/>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Native VAE · FP16 decode autocast</a:t>
            </a:r>
          </a:p>
        </p:txBody>
      </p:sp>
      <p:sp>
        <p:nvSpPr>
          <p:cNvPr id="22" name="Config 4"/>
          <p:cNvSpPr txBox="1"/>
          <p:nvPr/>
        </p:nvSpPr>
        <p:spPr>
          <a:xfrm>
            <a:off x="1828800" y="12326111"/>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Exact AdaLN table resident before timing</a:t>
            </a:r>
          </a:p>
        </p:txBody>
      </p:sp>
      <p:sp>
        <p:nvSpPr>
          <p:cNvPr id="23" name="Config 5"/>
          <p:cNvSpPr txBox="1"/>
          <p:nvPr/>
        </p:nvSpPr>
        <p:spPr>
          <a:xfrm>
            <a:off x="1828800" y="13075919"/>
            <a:ext cx="13898880" cy="658368"/>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Fixed inputs / seed 43 · warmup excluded</a:t>
            </a:r>
          </a:p>
        </p:txBody>
      </p:sp>
      <p:sp>
        <p:nvSpPr>
          <p:cNvPr id="24" name="Stage heading"/>
          <p:cNvSpPr txBox="1"/>
          <p:nvPr/>
        </p:nvSpPr>
        <p:spPr>
          <a:xfrm>
            <a:off x="1828800" y="14310360"/>
            <a:ext cx="13990320" cy="73152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CPU stage ranges · profiled request</a:t>
            </a:r>
          </a:p>
        </p:txBody>
      </p:sp>
      <p:sp>
        <p:nvSpPr>
          <p:cNvPr id="25" name="Stage background 0"/>
          <p:cNvSpPr/>
          <p:nvPr/>
        </p:nvSpPr>
        <p:spPr>
          <a:xfrm>
            <a:off x="1828800" y="15224759"/>
            <a:ext cx="13898880" cy="73152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age 0"/>
          <p:cNvSpPr txBox="1"/>
          <p:nvPr/>
        </p:nvSpPr>
        <p:spPr>
          <a:xfrm>
            <a:off x="2011680" y="15361919"/>
            <a:ext cx="9418320" cy="50292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Encoder</a:t>
            </a:r>
          </a:p>
        </p:txBody>
      </p:sp>
      <p:sp>
        <p:nvSpPr>
          <p:cNvPr id="27" name="Stage value 0"/>
          <p:cNvSpPr txBox="1"/>
          <p:nvPr/>
        </p:nvSpPr>
        <p:spPr>
          <a:xfrm>
            <a:off x="11338560" y="1536191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7.272 s</a:t>
            </a:r>
          </a:p>
        </p:txBody>
      </p:sp>
      <p:sp>
        <p:nvSpPr>
          <p:cNvPr id="28" name="Stage background 1"/>
          <p:cNvSpPr/>
          <p:nvPr/>
        </p:nvSpPr>
        <p:spPr>
          <a:xfrm>
            <a:off x="1828800" y="16047719"/>
            <a:ext cx="13898880" cy="7315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1"/>
          <p:cNvSpPr txBox="1"/>
          <p:nvPr/>
        </p:nvSpPr>
        <p:spPr>
          <a:xfrm>
            <a:off x="2011680" y="16184879"/>
            <a:ext cx="941832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DiT</a:t>
            </a:r>
          </a:p>
        </p:txBody>
      </p:sp>
      <p:sp>
        <p:nvSpPr>
          <p:cNvPr id="30" name="Stage value 1"/>
          <p:cNvSpPr txBox="1"/>
          <p:nvPr/>
        </p:nvSpPr>
        <p:spPr>
          <a:xfrm>
            <a:off x="11338560" y="1618487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204.814 s</a:t>
            </a:r>
          </a:p>
        </p:txBody>
      </p:sp>
      <p:sp>
        <p:nvSpPr>
          <p:cNvPr id="31" name="Stage background 2"/>
          <p:cNvSpPr/>
          <p:nvPr/>
        </p:nvSpPr>
        <p:spPr>
          <a:xfrm>
            <a:off x="1828800" y="16870680"/>
            <a:ext cx="13898880" cy="73152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ge 2"/>
          <p:cNvSpPr txBox="1"/>
          <p:nvPr/>
        </p:nvSpPr>
        <p:spPr>
          <a:xfrm>
            <a:off x="2011680" y="17007839"/>
            <a:ext cx="9418320" cy="50292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VAE / audio decode</a:t>
            </a:r>
          </a:p>
        </p:txBody>
      </p:sp>
      <p:sp>
        <p:nvSpPr>
          <p:cNvPr id="33" name="Stage value 2"/>
          <p:cNvSpPr txBox="1"/>
          <p:nvPr/>
        </p:nvSpPr>
        <p:spPr>
          <a:xfrm>
            <a:off x="11338560" y="1700783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1.742 s</a:t>
            </a:r>
          </a:p>
        </p:txBody>
      </p:sp>
      <p:sp>
        <p:nvSpPr>
          <p:cNvPr id="34" name="Stage background 3"/>
          <p:cNvSpPr/>
          <p:nvPr/>
        </p:nvSpPr>
        <p:spPr>
          <a:xfrm>
            <a:off x="1828800" y="17693639"/>
            <a:ext cx="13898880" cy="73152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ge 3"/>
          <p:cNvSpPr txBox="1"/>
          <p:nvPr/>
        </p:nvSpPr>
        <p:spPr>
          <a:xfrm>
            <a:off x="2011680" y="17830799"/>
            <a:ext cx="9418320" cy="50292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Other / response</a:t>
            </a:r>
          </a:p>
        </p:txBody>
      </p:sp>
      <p:sp>
        <p:nvSpPr>
          <p:cNvPr id="36" name="Stage value 3"/>
          <p:cNvSpPr txBox="1"/>
          <p:nvPr/>
        </p:nvSpPr>
        <p:spPr>
          <a:xfrm>
            <a:off x="11338560" y="17830799"/>
            <a:ext cx="41148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1.140 s</a:t>
            </a:r>
          </a:p>
        </p:txBody>
      </p:sp>
      <p:sp>
        <p:nvSpPr>
          <p:cNvPr id="37" name="GPU heading"/>
          <p:cNvSpPr txBox="1"/>
          <p:nvPr/>
        </p:nvSpPr>
        <p:spPr>
          <a:xfrm>
            <a:off x="16824960" y="8275320"/>
            <a:ext cx="17922240" cy="731520"/>
          </a:xfrm>
          <a:prstGeom prst="rect">
            <a:avLst/>
          </a:prstGeom>
          <a:noFill/>
        </p:spPr>
        <p:txBody>
          <a:bodyPr wrap="square" lIns="18288" rIns="18288" tIns="0" bIns="0">
            <a:spAutoFit/>
          </a:bodyPr>
          <a:lstStyle/>
          <a:p>
            <a:pPr>
              <a:spcBef>
                <a:spcPts val="0"/>
              </a:spcBef>
              <a:spcAft>
                <a:spcPts val="0"/>
              </a:spcAft>
            </a:pPr>
            <a:r>
              <a:rPr sz="3500" b="1">
                <a:solidFill>
                  <a:srgbClr val="17211A"/>
                </a:solidFill>
                <a:latin typeface="NVIDIA Sans"/>
              </a:rPr>
              <a:t>GPU work by operator</a:t>
            </a:r>
          </a:p>
        </p:txBody>
      </p:sp>
      <p:sp>
        <p:nvSpPr>
          <p:cNvPr id="38" name="GPU scope"/>
          <p:cNvSpPr txBox="1"/>
          <p:nvPr/>
        </p:nvSpPr>
        <p:spPr>
          <a:xfrm>
            <a:off x="16824960" y="9235440"/>
            <a:ext cx="17922240" cy="64008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Accumulated CUDA durations, averaged over 8 GPUs</a:t>
            </a:r>
          </a:p>
        </p:txBody>
      </p:sp>
      <p:sp>
        <p:nvSpPr>
          <p:cNvPr id="39" name="Operator table header"/>
          <p:cNvSpPr/>
          <p:nvPr/>
        </p:nvSpPr>
        <p:spPr>
          <a:xfrm>
            <a:off x="16824960" y="10104120"/>
            <a:ext cx="17922240" cy="86868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Header Operator"/>
          <p:cNvSpPr txBox="1"/>
          <p:nvPr/>
        </p:nvSpPr>
        <p:spPr>
          <a:xfrm>
            <a:off x="17099280" y="10314432"/>
            <a:ext cx="1024128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Operator</a:t>
            </a:r>
          </a:p>
        </p:txBody>
      </p:sp>
      <p:sp>
        <p:nvSpPr>
          <p:cNvPr id="41" name="Header s / GPU"/>
          <p:cNvSpPr txBox="1"/>
          <p:nvPr/>
        </p:nvSpPr>
        <p:spPr>
          <a:xfrm>
            <a:off x="27614880" y="10314432"/>
            <a:ext cx="36576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s / GPU</a:t>
            </a:r>
          </a:p>
        </p:txBody>
      </p:sp>
      <p:sp>
        <p:nvSpPr>
          <p:cNvPr id="42" name="Header Share"/>
          <p:cNvSpPr txBox="1"/>
          <p:nvPr/>
        </p:nvSpPr>
        <p:spPr>
          <a:xfrm>
            <a:off x="31821119" y="10314432"/>
            <a:ext cx="2743200" cy="50292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Share</a:t>
            </a:r>
          </a:p>
        </p:txBody>
      </p:sp>
      <p:sp>
        <p:nvSpPr>
          <p:cNvPr id="43" name="Operator background 0"/>
          <p:cNvSpPr/>
          <p:nvPr/>
        </p:nvSpPr>
        <p:spPr>
          <a:xfrm>
            <a:off x="16824960" y="11128248"/>
            <a:ext cx="17922240" cy="786384"/>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perator 0"/>
          <p:cNvSpPr txBox="1"/>
          <p:nvPr/>
        </p:nvSpPr>
        <p:spPr>
          <a:xfrm>
            <a:off x="17099280" y="11265407"/>
            <a:ext cx="10332720" cy="59436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NCCL (includes waiting)</a:t>
            </a:r>
          </a:p>
        </p:txBody>
      </p:sp>
      <p:sp>
        <p:nvSpPr>
          <p:cNvPr id="45" name="Operator seconds 0"/>
          <p:cNvSpPr txBox="1"/>
          <p:nvPr/>
        </p:nvSpPr>
        <p:spPr>
          <a:xfrm>
            <a:off x="27614880" y="11265407"/>
            <a:ext cx="36576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122.182</a:t>
            </a:r>
          </a:p>
        </p:txBody>
      </p:sp>
      <p:sp>
        <p:nvSpPr>
          <p:cNvPr id="46" name="Operator share 0"/>
          <p:cNvSpPr txBox="1"/>
          <p:nvPr/>
        </p:nvSpPr>
        <p:spPr>
          <a:xfrm>
            <a:off x="31821119" y="11265407"/>
            <a:ext cx="27432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57.21%</a:t>
            </a:r>
          </a:p>
        </p:txBody>
      </p:sp>
      <p:sp>
        <p:nvSpPr>
          <p:cNvPr id="47" name="Operator 1"/>
          <p:cNvSpPr txBox="1"/>
          <p:nvPr/>
        </p:nvSpPr>
        <p:spPr>
          <a:xfrm>
            <a:off x="17099280" y="12079224"/>
            <a:ext cx="10332720" cy="59436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Attention</a:t>
            </a:r>
          </a:p>
        </p:txBody>
      </p:sp>
      <p:sp>
        <p:nvSpPr>
          <p:cNvPr id="48" name="Operator seconds 1"/>
          <p:cNvSpPr txBox="1"/>
          <p:nvPr/>
        </p:nvSpPr>
        <p:spPr>
          <a:xfrm>
            <a:off x="27614880" y="12079224"/>
            <a:ext cx="36576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47.105</a:t>
            </a:r>
          </a:p>
        </p:txBody>
      </p:sp>
      <p:sp>
        <p:nvSpPr>
          <p:cNvPr id="49" name="Operator share 1"/>
          <p:cNvSpPr txBox="1"/>
          <p:nvPr/>
        </p:nvSpPr>
        <p:spPr>
          <a:xfrm>
            <a:off x="31821119" y="12079224"/>
            <a:ext cx="27432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22.06%</a:t>
            </a:r>
          </a:p>
        </p:txBody>
      </p:sp>
      <p:sp>
        <p:nvSpPr>
          <p:cNvPr id="50" name="Operator background 2"/>
          <p:cNvSpPr/>
          <p:nvPr/>
        </p:nvSpPr>
        <p:spPr>
          <a:xfrm>
            <a:off x="16824960" y="12755880"/>
            <a:ext cx="17922240" cy="786384"/>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perator 2"/>
          <p:cNvSpPr txBox="1"/>
          <p:nvPr/>
        </p:nvSpPr>
        <p:spPr>
          <a:xfrm>
            <a:off x="17099280" y="12893039"/>
            <a:ext cx="10332720" cy="59436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GEMM</a:t>
            </a:r>
          </a:p>
        </p:txBody>
      </p:sp>
      <p:sp>
        <p:nvSpPr>
          <p:cNvPr id="52" name="Operator seconds 2"/>
          <p:cNvSpPr txBox="1"/>
          <p:nvPr/>
        </p:nvSpPr>
        <p:spPr>
          <a:xfrm>
            <a:off x="27614880" y="12893039"/>
            <a:ext cx="36576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39.650</a:t>
            </a:r>
          </a:p>
        </p:txBody>
      </p:sp>
      <p:sp>
        <p:nvSpPr>
          <p:cNvPr id="53" name="Operator share 2"/>
          <p:cNvSpPr txBox="1"/>
          <p:nvPr/>
        </p:nvSpPr>
        <p:spPr>
          <a:xfrm>
            <a:off x="31821119" y="12893039"/>
            <a:ext cx="2743200"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18.57%</a:t>
            </a:r>
          </a:p>
        </p:txBody>
      </p:sp>
      <p:sp>
        <p:nvSpPr>
          <p:cNvPr id="54" name="Operator 3"/>
          <p:cNvSpPr txBox="1"/>
          <p:nvPr/>
        </p:nvSpPr>
        <p:spPr>
          <a:xfrm>
            <a:off x="17099280" y="13706855"/>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Norm / activation / elementwise</a:t>
            </a:r>
          </a:p>
        </p:txBody>
      </p:sp>
      <p:sp>
        <p:nvSpPr>
          <p:cNvPr id="55" name="Operator seconds 3"/>
          <p:cNvSpPr txBox="1"/>
          <p:nvPr/>
        </p:nvSpPr>
        <p:spPr>
          <a:xfrm>
            <a:off x="27614880" y="13706855"/>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2.288</a:t>
            </a:r>
          </a:p>
        </p:txBody>
      </p:sp>
      <p:sp>
        <p:nvSpPr>
          <p:cNvPr id="56" name="Operator share 3"/>
          <p:cNvSpPr txBox="1"/>
          <p:nvPr/>
        </p:nvSpPr>
        <p:spPr>
          <a:xfrm>
            <a:off x="31821119" y="13706855"/>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1.07%</a:t>
            </a:r>
          </a:p>
        </p:txBody>
      </p:sp>
      <p:sp>
        <p:nvSpPr>
          <p:cNvPr id="57" name="Operator background 4"/>
          <p:cNvSpPr/>
          <p:nvPr/>
        </p:nvSpPr>
        <p:spPr>
          <a:xfrm>
            <a:off x="16824960" y="14383512"/>
            <a:ext cx="17922240" cy="786384"/>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perator 4"/>
          <p:cNvSpPr txBox="1"/>
          <p:nvPr/>
        </p:nvSpPr>
        <p:spPr>
          <a:xfrm>
            <a:off x="17099280" y="14520672"/>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Layout / device copies</a:t>
            </a:r>
          </a:p>
        </p:txBody>
      </p:sp>
      <p:sp>
        <p:nvSpPr>
          <p:cNvPr id="59" name="Operator seconds 4"/>
          <p:cNvSpPr txBox="1"/>
          <p:nvPr/>
        </p:nvSpPr>
        <p:spPr>
          <a:xfrm>
            <a:off x="27614880" y="14520672"/>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1.929</a:t>
            </a:r>
          </a:p>
        </p:txBody>
      </p:sp>
      <p:sp>
        <p:nvSpPr>
          <p:cNvPr id="60" name="Operator share 4"/>
          <p:cNvSpPr txBox="1"/>
          <p:nvPr/>
        </p:nvSpPr>
        <p:spPr>
          <a:xfrm>
            <a:off x="31821119" y="14520672"/>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0.90%</a:t>
            </a:r>
          </a:p>
        </p:txBody>
      </p:sp>
      <p:sp>
        <p:nvSpPr>
          <p:cNvPr id="61" name="Operator 5"/>
          <p:cNvSpPr txBox="1"/>
          <p:nvPr/>
        </p:nvSpPr>
        <p:spPr>
          <a:xfrm>
            <a:off x="17099280" y="15334488"/>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CUDA memcpy / memset</a:t>
            </a:r>
          </a:p>
        </p:txBody>
      </p:sp>
      <p:sp>
        <p:nvSpPr>
          <p:cNvPr id="62" name="Operator seconds 5"/>
          <p:cNvSpPr txBox="1"/>
          <p:nvPr/>
        </p:nvSpPr>
        <p:spPr>
          <a:xfrm>
            <a:off x="27614880" y="15334488"/>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0.064</a:t>
            </a:r>
          </a:p>
        </p:txBody>
      </p:sp>
      <p:sp>
        <p:nvSpPr>
          <p:cNvPr id="63" name="Operator share 5"/>
          <p:cNvSpPr txBox="1"/>
          <p:nvPr/>
        </p:nvSpPr>
        <p:spPr>
          <a:xfrm>
            <a:off x="31821119" y="15334488"/>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0.03%</a:t>
            </a:r>
          </a:p>
        </p:txBody>
      </p:sp>
      <p:sp>
        <p:nvSpPr>
          <p:cNvPr id="64" name="Operator background 6"/>
          <p:cNvSpPr/>
          <p:nvPr/>
        </p:nvSpPr>
        <p:spPr>
          <a:xfrm>
            <a:off x="16824960" y="16011143"/>
            <a:ext cx="17922240" cy="786384"/>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perator 6"/>
          <p:cNvSpPr txBox="1"/>
          <p:nvPr/>
        </p:nvSpPr>
        <p:spPr>
          <a:xfrm>
            <a:off x="17099280" y="16148304"/>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Convolution</a:t>
            </a:r>
          </a:p>
        </p:txBody>
      </p:sp>
      <p:sp>
        <p:nvSpPr>
          <p:cNvPr id="66" name="Operator seconds 6"/>
          <p:cNvSpPr txBox="1"/>
          <p:nvPr/>
        </p:nvSpPr>
        <p:spPr>
          <a:xfrm>
            <a:off x="27614880" y="16148304"/>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0.192</a:t>
            </a:r>
          </a:p>
        </p:txBody>
      </p:sp>
      <p:sp>
        <p:nvSpPr>
          <p:cNvPr id="67" name="Operator share 6"/>
          <p:cNvSpPr txBox="1"/>
          <p:nvPr/>
        </p:nvSpPr>
        <p:spPr>
          <a:xfrm>
            <a:off x="31821119" y="16148304"/>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0.09%</a:t>
            </a:r>
          </a:p>
        </p:txBody>
      </p:sp>
      <p:sp>
        <p:nvSpPr>
          <p:cNvPr id="68" name="Operator 7"/>
          <p:cNvSpPr txBox="1"/>
          <p:nvPr/>
        </p:nvSpPr>
        <p:spPr>
          <a:xfrm>
            <a:off x="17099280" y="16962120"/>
            <a:ext cx="10332720" cy="594360"/>
          </a:xfrm>
          <a:prstGeom prst="rect">
            <a:avLst/>
          </a:prstGeom>
          <a:noFill/>
        </p:spPr>
        <p:txBody>
          <a:bodyPr wrap="square" lIns="18288" rIns="18288" tIns="0" bIns="0">
            <a:spAutoFit/>
          </a:bodyPr>
          <a:lstStyle/>
          <a:p>
            <a:pPr>
              <a:spcBef>
                <a:spcPts val="0"/>
              </a:spcBef>
              <a:spcAft>
                <a:spcPts val="0"/>
              </a:spcAft>
            </a:pPr>
            <a:r>
              <a:rPr sz="2700" b="0">
                <a:solidFill>
                  <a:srgbClr val="17211A"/>
                </a:solidFill>
                <a:latin typeface="NVIDIA Sans"/>
              </a:rPr>
              <a:t>Other kernels</a:t>
            </a:r>
          </a:p>
        </p:txBody>
      </p:sp>
      <p:sp>
        <p:nvSpPr>
          <p:cNvPr id="69" name="Operator seconds 7"/>
          <p:cNvSpPr txBox="1"/>
          <p:nvPr/>
        </p:nvSpPr>
        <p:spPr>
          <a:xfrm>
            <a:off x="27614880" y="16962120"/>
            <a:ext cx="36576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0.143</a:t>
            </a:r>
          </a:p>
        </p:txBody>
      </p:sp>
      <p:sp>
        <p:nvSpPr>
          <p:cNvPr id="70" name="Operator share 7"/>
          <p:cNvSpPr txBox="1"/>
          <p:nvPr/>
        </p:nvSpPr>
        <p:spPr>
          <a:xfrm>
            <a:off x="31821119" y="16962120"/>
            <a:ext cx="274320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0.07%</a:t>
            </a:r>
          </a:p>
        </p:txBody>
      </p:sp>
      <p:sp>
        <p:nvSpPr>
          <p:cNvPr id="71" name="NCCL qualification"/>
          <p:cNvSpPr txBox="1"/>
          <p:nvPr/>
        </p:nvSpPr>
        <p:spPr>
          <a:xfrm>
            <a:off x="16824960" y="17922240"/>
            <a:ext cx="17922240" cy="1097280"/>
          </a:xfrm>
          <a:prstGeom prst="rect">
            <a:avLst/>
          </a:prstGeom>
          <a:noFill/>
        </p:spPr>
        <p:txBody>
          <a:bodyPr wrap="square" lIns="18288" rIns="18288" tIns="0" bIns="0">
            <a:spAutoFit/>
          </a:bodyPr>
          <a:lstStyle/>
          <a:p>
            <a:pPr>
              <a:spcBef>
                <a:spcPts val="0"/>
              </a:spcBef>
              <a:spcAft>
                <a:spcPts val="0"/>
              </a:spcAft>
            </a:pPr>
            <a:r>
              <a:rPr sz="2700" b="1">
                <a:solidFill>
                  <a:srgbClr val="17211A"/>
                </a:solidFill>
                <a:latin typeface="NVIDIA Sans"/>
              </a:rPr>
              <a:t>NCCL includes synchronization and waiting.</a:t>
            </a:r>
          </a:p>
          <a:p>
            <a:pPr>
              <a:spcBef>
                <a:spcPts val="0"/>
              </a:spcBef>
              <a:spcAft>
                <a:spcPts val="0"/>
              </a:spcAft>
            </a:pPr>
            <a:r>
              <a:rPr sz="2700" b="1">
                <a:solidFill>
                  <a:srgbClr val="17211A"/>
                </a:solidFill>
                <a:latin typeface="NVIDIA Sans"/>
              </a:rPr>
              <a:t>Shares exclude CPU work / GPU idle gaps.</a:t>
            </a:r>
          </a:p>
        </p:txBody>
      </p:sp>
      <p:sp>
        <p:nvSpPr>
          <p:cNvPr id="72" name="Accounting note"/>
          <p:cNvSpPr txBox="1"/>
          <p:nvPr/>
        </p:nvSpPr>
        <p:spPr>
          <a:xfrm>
            <a:off x="1828800" y="19248120"/>
            <a:ext cx="31729680" cy="54864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Host ranges and accumulated GPU work are different views; neither is a GPU critical-path decomposition.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9</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11</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
Fused packing reduces intermediate copies.
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17 are distinct workloads.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12</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13</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14</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Optimization Path: E2E Speedup</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124 frames / 24 FPS · 8 exclusive GPUs · same inputs and seed 43</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17</a:t>
            </a:r>
          </a:p>
        </p:txBody>
      </p:sp>
      <p:sp>
        <p:nvSpPr>
          <p:cNvPr id="5" name="Table header"/>
          <p:cNvSpPr/>
          <p:nvPr/>
        </p:nvSpPr>
        <p:spPr>
          <a:xfrm>
            <a:off x="1828800" y="4709160"/>
            <a:ext cx="32918400" cy="123444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a:t>
            </a:r>
          </a:p>
          <a:p>
            <a:pPr>
              <a:spcBef>
                <a:spcPts val="0"/>
              </a:spcBef>
              <a:spcAft>
                <a:spcPts val="0"/>
              </a:spcAft>
            </a:pPr>
            <a:r>
              <a:rPr sz="2800" b="1">
                <a:solidFill>
                  <a:srgbClr val="17211A"/>
                </a:solidFill>
                <a:latin typeface="NVIDIA Sans"/>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RTF</a:t>
            </a:r>
          </a:p>
        </p:txBody>
      </p:sp>
      <p:sp>
        <p:nvSpPr>
          <p:cNvPr id="11" name="Row background 0"/>
          <p:cNvSpPr/>
          <p:nvPr/>
        </p:nvSpPr>
        <p:spPr>
          <a:xfrm>
            <a:off x="1828800" y="609904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8.579</a:t>
            </a:r>
          </a:p>
        </p:txBody>
      </p:sp>
      <p:sp>
        <p:nvSpPr>
          <p:cNvPr id="22" name="Row background 2"/>
          <p:cNvSpPr/>
          <p:nvPr/>
        </p:nvSpPr>
        <p:spPr>
          <a:xfrm>
            <a:off x="1828800" y="820216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3.767</a:t>
            </a:r>
          </a:p>
        </p:txBody>
      </p:sp>
      <p:sp>
        <p:nvSpPr>
          <p:cNvPr id="33" name="Row background 4"/>
          <p:cNvSpPr/>
          <p:nvPr/>
        </p:nvSpPr>
        <p:spPr>
          <a:xfrm>
            <a:off x="1828800" y="1030528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1.240</a:t>
            </a:r>
          </a:p>
        </p:txBody>
      </p:sp>
      <p:sp>
        <p:nvSpPr>
          <p:cNvPr id="44" name="Row background 6"/>
          <p:cNvSpPr/>
          <p:nvPr/>
        </p:nvSpPr>
        <p:spPr>
          <a:xfrm>
            <a:off x="1828800" y="12408408"/>
            <a:ext cx="32918400" cy="100584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1.049</a:t>
            </a:r>
          </a:p>
        </p:txBody>
      </p:sp>
      <p:sp>
        <p:nvSpPr>
          <p:cNvPr id="55" name="Row background 8"/>
          <p:cNvSpPr/>
          <p:nvPr/>
        </p:nvSpPr>
        <p:spPr>
          <a:xfrm>
            <a:off x="1828800" y="14511528"/>
            <a:ext cx="32918400" cy="100584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52604F"/>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300" b="1">
                <a:solidFill>
                  <a:srgbClr val="17211A"/>
                </a:solidFill>
                <a:latin typeface="NVIDIA Sans"/>
              </a:rPr>
              <a:t>Final 4.922 s · recheck 4.927 s · 6/6 requests &lt; 5 s · 4.5 s target not reached</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RTF = latency / 5.167 s. Standalone H3; ASR / LLM excluded. Model, schedule and precision changes are not all lossless.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From a Question to a Video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24 FPS · 8 × SM120 GPUs · first window 5.167 s / each continuation adds 4.958 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18</a:t>
            </a:r>
          </a:p>
        </p:txBody>
      </p:sp>
      <p:sp>
        <p:nvSpPr>
          <p:cNvPr id="5" name="Example question"/>
          <p:cNvSpPr/>
          <p:nvPr/>
        </p:nvSpPr>
        <p:spPr>
          <a:xfrm>
            <a:off x="1828800" y="4526280"/>
            <a:ext cx="32918400" cy="224028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ample label"/>
          <p:cNvSpPr txBox="1"/>
          <p:nvPr/>
        </p:nvSpPr>
        <p:spPr>
          <a:xfrm>
            <a:off x="2240280" y="4800600"/>
            <a:ext cx="32004000" cy="548640"/>
          </a:xfrm>
          <a:prstGeom prst="rect">
            <a:avLst/>
          </a:prstGeom>
          <a:noFill/>
        </p:spPr>
        <p:txBody>
          <a:bodyPr wrap="square" lIns="18288" rIns="18288" tIns="0" bIns="0">
            <a:spAutoFit/>
          </a:bodyPr>
          <a:lstStyle/>
          <a:p>
            <a:pPr>
              <a:spcBef>
                <a:spcPts val="0"/>
              </a:spcBef>
              <a:spcAft>
                <a:spcPts val="0"/>
              </a:spcAft>
            </a:pPr>
            <a:r>
              <a:rPr sz="2500" b="1">
                <a:solidFill>
                  <a:srgbClr val="376B18"/>
                </a:solidFill>
                <a:latin typeface="NVIDIA Sans"/>
              </a:rPr>
              <a:t>EXAMPLE · INTRODUCE YOURSELF</a:t>
            </a:r>
          </a:p>
        </p:txBody>
      </p:sp>
      <p:sp>
        <p:nvSpPr>
          <p:cNvPr id="7" name="User question"/>
          <p:cNvSpPr txBox="1"/>
          <p:nvPr/>
        </p:nvSpPr>
        <p:spPr>
          <a:xfrm>
            <a:off x="2240280" y="5486400"/>
            <a:ext cx="32004000" cy="822960"/>
          </a:xfrm>
          <a:prstGeom prst="rect">
            <a:avLst/>
          </a:prstGeom>
          <a:noFill/>
        </p:spPr>
        <p:txBody>
          <a:bodyPr wrap="square" lIns="18288" rIns="18288" tIns="0" bIns="0">
            <a:spAutoFit/>
          </a:bodyPr>
          <a:lstStyle/>
          <a:p>
            <a:pPr>
              <a:spcBef>
                <a:spcPts val="0"/>
              </a:spcBef>
              <a:spcAft>
                <a:spcPts val="0"/>
              </a:spcAft>
            </a:pPr>
            <a:r>
              <a:rPr sz="4300" b="1">
                <a:solidFill>
                  <a:srgbClr val="17211A"/>
                </a:solidFill>
                <a:latin typeface="NVIDIA Sans"/>
              </a:rPr>
              <a:t>“Hi, could you introduce yourself?”</a:t>
            </a:r>
          </a:p>
        </p:txBody>
      </p:sp>
      <p:sp>
        <p:nvSpPr>
          <p:cNvPr id="8" name="Translation note"/>
          <p:cNvSpPr txBox="1"/>
          <p:nvPr/>
        </p:nvSpPr>
        <p:spPr>
          <a:xfrm>
            <a:off x="21488400" y="6858000"/>
            <a:ext cx="13258800" cy="50292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User question translated from the recorded demo</a:t>
            </a:r>
          </a:p>
        </p:txBody>
      </p:sp>
      <p:sp>
        <p:nvSpPr>
          <p:cNvPr id="9" name="Pipeline Microphone"/>
          <p:cNvSpPr/>
          <p:nvPr/>
        </p:nvSpPr>
        <p:spPr>
          <a:xfrm>
            <a:off x="1828800" y="7680960"/>
            <a:ext cx="493776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icrophone"/>
          <p:cNvSpPr txBox="1"/>
          <p:nvPr/>
        </p:nvSpPr>
        <p:spPr>
          <a:xfrm>
            <a:off x="2148840" y="8046720"/>
            <a:ext cx="429768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Microphone</a:t>
            </a:r>
          </a:p>
        </p:txBody>
      </p:sp>
      <p:sp>
        <p:nvSpPr>
          <p:cNvPr id="11" name="Microphone detail"/>
          <p:cNvSpPr txBox="1"/>
          <p:nvPr/>
        </p:nvSpPr>
        <p:spPr>
          <a:xfrm>
            <a:off x="2148840" y="8961120"/>
            <a:ext cx="429768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Spoken question</a:t>
            </a:r>
          </a:p>
        </p:txBody>
      </p:sp>
      <p:sp>
        <p:nvSpPr>
          <p:cNvPr id="12" name="Pipeline arrow 0"/>
          <p:cNvSpPr/>
          <p:nvPr/>
        </p:nvSpPr>
        <p:spPr>
          <a:xfrm>
            <a:off x="68580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ipeline ASR"/>
          <p:cNvSpPr/>
          <p:nvPr/>
        </p:nvSpPr>
        <p:spPr>
          <a:xfrm>
            <a:off x="7680960"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SR"/>
          <p:cNvSpPr txBox="1"/>
          <p:nvPr/>
        </p:nvSpPr>
        <p:spPr>
          <a:xfrm>
            <a:off x="80010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ASR</a:t>
            </a:r>
          </a:p>
        </p:txBody>
      </p:sp>
      <p:sp>
        <p:nvSpPr>
          <p:cNvPr id="15" name="ASR detail"/>
          <p:cNvSpPr txBox="1"/>
          <p:nvPr/>
        </p:nvSpPr>
        <p:spPr>
          <a:xfrm>
            <a:off x="80010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Speech → text</a:t>
            </a:r>
          </a:p>
          <a:p>
            <a:pPr>
              <a:spcBef>
                <a:spcPts val="0"/>
              </a:spcBef>
              <a:spcAft>
                <a:spcPts val="0"/>
              </a:spcAft>
            </a:pPr>
            <a:r>
              <a:rPr sz="2800" b="0">
                <a:solidFill>
                  <a:srgbClr val="17211A"/>
                </a:solidFill>
                <a:latin typeface="NVIDIA Sans"/>
              </a:rPr>
              <a:t>Qwen3-ASR-0.6B</a:t>
            </a:r>
          </a:p>
        </p:txBody>
      </p:sp>
      <p:sp>
        <p:nvSpPr>
          <p:cNvPr id="16" name="Pipeline arrow 1"/>
          <p:cNvSpPr/>
          <p:nvPr/>
        </p:nvSpPr>
        <p:spPr>
          <a:xfrm>
            <a:off x="141732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peline LLM"/>
          <p:cNvSpPr/>
          <p:nvPr/>
        </p:nvSpPr>
        <p:spPr>
          <a:xfrm>
            <a:off x="14996159" y="7680960"/>
            <a:ext cx="64008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LM"/>
          <p:cNvSpPr txBox="1"/>
          <p:nvPr/>
        </p:nvSpPr>
        <p:spPr>
          <a:xfrm>
            <a:off x="15316200" y="8046720"/>
            <a:ext cx="57607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LLM</a:t>
            </a:r>
          </a:p>
        </p:txBody>
      </p:sp>
      <p:sp>
        <p:nvSpPr>
          <p:cNvPr id="19" name="LLM detail"/>
          <p:cNvSpPr txBox="1"/>
          <p:nvPr/>
        </p:nvSpPr>
        <p:spPr>
          <a:xfrm>
            <a:off x="15316200" y="8961120"/>
            <a:ext cx="57607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Text → short reply</a:t>
            </a:r>
          </a:p>
          <a:p>
            <a:pPr>
              <a:spcBef>
                <a:spcPts val="0"/>
              </a:spcBef>
              <a:spcAft>
                <a:spcPts val="0"/>
              </a:spcAft>
            </a:pPr>
            <a:r>
              <a:rPr sz="2800" b="0">
                <a:solidFill>
                  <a:srgbClr val="17211A"/>
                </a:solidFill>
                <a:latin typeface="NVIDIA Sans"/>
              </a:rPr>
              <a:t>Qwen3-4B</a:t>
            </a:r>
          </a:p>
        </p:txBody>
      </p:sp>
      <p:sp>
        <p:nvSpPr>
          <p:cNvPr id="20" name="Pipeline arrow 2"/>
          <p:cNvSpPr/>
          <p:nvPr/>
        </p:nvSpPr>
        <p:spPr>
          <a:xfrm>
            <a:off x="2148840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peline H3"/>
          <p:cNvSpPr/>
          <p:nvPr/>
        </p:nvSpPr>
        <p:spPr>
          <a:xfrm>
            <a:off x="22311360" y="7680960"/>
            <a:ext cx="4206240" cy="25603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p:cNvSpPr txBox="1"/>
          <p:nvPr/>
        </p:nvSpPr>
        <p:spPr>
          <a:xfrm>
            <a:off x="22631400" y="8046720"/>
            <a:ext cx="3566159"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H3</a:t>
            </a:r>
          </a:p>
        </p:txBody>
      </p:sp>
      <p:sp>
        <p:nvSpPr>
          <p:cNvPr id="23" name="Pipeline arrow 3"/>
          <p:cNvSpPr/>
          <p:nvPr/>
        </p:nvSpPr>
        <p:spPr>
          <a:xfrm>
            <a:off x="26609040" y="8732520"/>
            <a:ext cx="731520" cy="4572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peline Playback"/>
          <p:cNvSpPr/>
          <p:nvPr/>
        </p:nvSpPr>
        <p:spPr>
          <a:xfrm>
            <a:off x="27432000" y="7680960"/>
            <a:ext cx="73152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layback"/>
          <p:cNvSpPr txBox="1"/>
          <p:nvPr/>
        </p:nvSpPr>
        <p:spPr>
          <a:xfrm>
            <a:off x="27752040" y="8046720"/>
            <a:ext cx="66751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Playback</a:t>
            </a:r>
          </a:p>
        </p:txBody>
      </p:sp>
      <p:sp>
        <p:nvSpPr>
          <p:cNvPr id="26" name="Playback detail"/>
          <p:cNvSpPr txBox="1"/>
          <p:nvPr/>
        </p:nvSpPr>
        <p:spPr>
          <a:xfrm>
            <a:off x="27752040" y="8961120"/>
            <a:ext cx="6675120" cy="100584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Native audio + video</a:t>
            </a:r>
          </a:p>
          <a:p>
            <a:pPr>
              <a:spcBef>
                <a:spcPts val="0"/>
              </a:spcBef>
              <a:spcAft>
                <a:spcPts val="0"/>
              </a:spcAft>
            </a:pPr>
            <a:r>
              <a:rPr sz="2800" b="0">
                <a:solidFill>
                  <a:srgbClr val="17211A"/>
                </a:solidFill>
                <a:latin typeface="NVIDIA Sans"/>
              </a:rPr>
              <a:t>~5-second windows</a:t>
            </a:r>
          </a:p>
        </p:txBody>
      </p:sp>
      <p:sp>
        <p:nvSpPr>
          <p:cNvPr id="27" name="Reply label"/>
          <p:cNvSpPr txBox="1"/>
          <p:nvPr/>
        </p:nvSpPr>
        <p:spPr>
          <a:xfrm>
            <a:off x="1828800" y="1097280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LLM reply text</a:t>
            </a:r>
          </a:p>
        </p:txBody>
      </p:sp>
      <p:sp>
        <p:nvSpPr>
          <p:cNvPr id="28" name="Reply quote"/>
          <p:cNvSpPr/>
          <p:nvPr/>
        </p:nvSpPr>
        <p:spPr>
          <a:xfrm>
            <a:off x="1828800" y="11887200"/>
            <a:ext cx="17373600" cy="25603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ply"/>
          <p:cNvSpPr txBox="1"/>
          <p:nvPr/>
        </p:nvSpPr>
        <p:spPr>
          <a:xfrm>
            <a:off x="2194560" y="12481560"/>
            <a:ext cx="16642080" cy="164592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“Hi, I’m Miles. I help with</a:t>
            </a:r>
          </a:p>
          <a:p>
            <a:pPr>
              <a:spcBef>
                <a:spcPts val="0"/>
              </a:spcBef>
              <a:spcAft>
                <a:spcPts val="0"/>
              </a:spcAft>
            </a:pPr>
            <a:r>
              <a:rPr sz="3800" b="1">
                <a:solidFill>
                  <a:srgbClr val="17211A"/>
                </a:solidFill>
                <a:latin typeface="NVIDIA Sans"/>
              </a:rPr>
              <a:t>simple, clear answers.”</a:t>
            </a:r>
          </a:p>
        </p:txBody>
      </p:sp>
      <p:sp>
        <p:nvSpPr>
          <p:cNvPr id="30" name="Prompt label"/>
          <p:cNvSpPr txBox="1"/>
          <p:nvPr/>
        </p:nvSpPr>
        <p:spPr>
          <a:xfrm>
            <a:off x="1828800" y="15041880"/>
            <a:ext cx="173736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H3 prompt · English excerpt</a:t>
            </a:r>
          </a:p>
        </p:txBody>
      </p:sp>
      <p:sp>
        <p:nvSpPr>
          <p:cNvPr id="31" name="Prompt explanation"/>
          <p:cNvSpPr txBox="1"/>
          <p:nvPr/>
        </p:nvSpPr>
        <p:spPr>
          <a:xfrm>
            <a:off x="1828800" y="15956280"/>
            <a:ext cx="17373600" cy="233172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The man says exactly this English dialogue</a:t>
            </a:r>
          </a:p>
          <a:p>
            <a:pPr>
              <a:spcBef>
                <a:spcPts val="0"/>
              </a:spcBef>
              <a:spcAft>
                <a:spcPts val="0"/>
              </a:spcAft>
            </a:pPr>
            <a:r>
              <a:rPr sz="2800" b="0">
                <a:solidFill>
                  <a:srgbClr val="17211A"/>
                </a:solidFill>
                <a:latin typeface="NVIDIA Sans"/>
              </a:rPr>
              <a:t>in his reference voice:</a:t>
            </a:r>
          </a:p>
          <a:p>
            <a:pPr>
              <a:spcBef>
                <a:spcPts val="0"/>
              </a:spcBef>
              <a:spcAft>
                <a:spcPts val="0"/>
              </a:spcAft>
            </a:pPr>
            <a:r>
              <a:rPr sz="2800" b="0">
                <a:solidFill>
                  <a:srgbClr val="17211A"/>
                </a:solidFill>
                <a:latin typeface="NVIDIA Sans"/>
              </a:rPr>
              <a:t>"Hi, I'm Miles. I help with simple, clear answers."</a:t>
            </a:r>
          </a:p>
          <a:p>
            <a:pPr>
              <a:spcBef>
                <a:spcPts val="0"/>
              </a:spcBef>
              <a:spcAft>
                <a:spcPts val="0"/>
              </a:spcAft>
            </a:pPr>
            <a:r>
              <a:rPr sz="2800" b="0">
                <a:solidFill>
                  <a:srgbClr val="17211A"/>
                </a:solidFill>
                <a:latin typeface="NVIDIA Sans"/>
              </a:rPr>
              <a:t>… His lips follow the words.</a:t>
            </a:r>
          </a:p>
        </p:txBody>
      </p:sp>
      <p:sp>
        <p:nvSpPr>
          <p:cNvPr id="32" name="Example outcome"/>
          <p:cNvSpPr txBox="1"/>
          <p:nvPr/>
        </p:nvSpPr>
        <p:spPr>
          <a:xfrm>
            <a:off x="1828800" y="18699480"/>
            <a:ext cx="17830800" cy="8229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A text reply becomes a speaking avatar clip.</a:t>
            </a:r>
          </a:p>
        </p:txBody>
      </p:sp>
      <p:sp>
        <p:nvSpPr>
          <p:cNvPr id="33" name="Output label"/>
          <p:cNvSpPr txBox="1"/>
          <p:nvPr/>
        </p:nvSpPr>
        <p:spPr>
          <a:xfrm>
            <a:off x="21488400" y="10972800"/>
            <a:ext cx="1325880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Reference image</a:t>
            </a:r>
          </a:p>
        </p:txBody>
      </p:sp>
      <p:sp>
        <p:nvSpPr>
          <p:cNvPr id="35" name="Frame provenance"/>
          <p:cNvSpPr txBox="1"/>
          <p:nvPr/>
        </p:nvSpPr>
        <p:spPr>
          <a:xfrm>
            <a:off x="21488400" y="19312128"/>
            <a:ext cx="11704320" cy="457200"/>
          </a:xfrm>
          <a:prstGeom prst="rect">
            <a:avLst/>
          </a:prstGeom>
          <a:noFill/>
        </p:spPr>
        <p:txBody>
          <a:bodyPr wrap="square" lIns="18288" rIns="18288" tIns="0" bIns="0">
            <a:spAutoFit/>
          </a:bodyPr>
          <a:lstStyle/>
          <a:p>
            <a:pPr>
              <a:spcBef>
                <a:spcPts val="0"/>
              </a:spcBef>
              <a:spcAft>
                <a:spcPts val="0"/>
              </a:spcAft>
            </a:pPr>
            <a:r>
              <a:rPr sz="2300" b="0">
                <a:solidFill>
                  <a:srgbClr val="52604F"/>
                </a:solidFill>
                <a:latin typeface="NVIDIA Sans"/>
              </a:rPr>
              <a:t>Input portrait supplied to H3</a:t>
            </a:r>
          </a:p>
        </p:txBody>
      </p:sp>
      <p:pic>
        <p:nvPicPr>
          <p:cNvPr id="36" name="Picture 35" descr="reference.png"/>
          <p:cNvPicPr>
            <a:picLocks noChangeAspect="1"/>
          </p:cNvPicPr>
          <p:nvPr/>
        </p:nvPicPr>
        <p:blipFill>
          <a:blip r:embed="rId5"/>
          <a:stretch>
            <a:fillRect/>
          </a:stretch>
        </p:blipFill>
        <p:spPr>
          <a:xfrm>
            <a:off x="21488400" y="11795760"/>
            <a:ext cx="12801600" cy="73152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Continuation: From One Window to the Next</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Reuse recent audio–video context, then append only newly generated frames.</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19</a:t>
            </a:r>
          </a:p>
        </p:txBody>
      </p:sp>
      <p:sp>
        <p:nvSpPr>
          <p:cNvPr id="5" name="Flow card 0"/>
          <p:cNvSpPr/>
          <p:nvPr/>
        </p:nvSpPr>
        <p:spPr>
          <a:xfrm>
            <a:off x="1828800" y="4754880"/>
            <a:ext cx="9144000" cy="57607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low label 0"/>
          <p:cNvSpPr txBox="1"/>
          <p:nvPr/>
        </p:nvSpPr>
        <p:spPr>
          <a:xfrm>
            <a:off x="2148840" y="5166360"/>
            <a:ext cx="8503920" cy="73152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1  KEEP RECENT CONTEXT</a:t>
            </a:r>
          </a:p>
        </p:txBody>
      </p:sp>
      <p:sp>
        <p:nvSpPr>
          <p:cNvPr id="7" name="Flow card 1"/>
          <p:cNvSpPr/>
          <p:nvPr/>
        </p:nvSpPr>
        <p:spPr>
          <a:xfrm>
            <a:off x="12801600" y="4754880"/>
            <a:ext cx="9144000" cy="576072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low label 1"/>
          <p:cNvSpPr txBox="1"/>
          <p:nvPr/>
        </p:nvSpPr>
        <p:spPr>
          <a:xfrm>
            <a:off x="13121640" y="5166360"/>
            <a:ext cx="8503920" cy="73152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2  CONDITION THE NEXT WINDOW</a:t>
            </a:r>
          </a:p>
        </p:txBody>
      </p:sp>
      <p:sp>
        <p:nvSpPr>
          <p:cNvPr id="9" name="Flow card 2"/>
          <p:cNvSpPr/>
          <p:nvPr/>
        </p:nvSpPr>
        <p:spPr>
          <a:xfrm>
            <a:off x="23774400" y="4754880"/>
            <a:ext cx="10972800" cy="576072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low label 2"/>
          <p:cNvSpPr txBox="1"/>
          <p:nvPr/>
        </p:nvSpPr>
        <p:spPr>
          <a:xfrm>
            <a:off x="24094440" y="5166360"/>
            <a:ext cx="10332720" cy="73152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3  GENERATE &amp; APPEND</a:t>
            </a:r>
          </a:p>
        </p:txBody>
      </p:sp>
      <p:sp>
        <p:nvSpPr>
          <p:cNvPr id="11" name="Video history"/>
          <p:cNvSpPr txBox="1"/>
          <p:nvPr/>
        </p:nvSpPr>
        <p:spPr>
          <a:xfrm>
            <a:off x="2194560" y="6263640"/>
            <a:ext cx="841248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Last 2 video latent slices</a:t>
            </a:r>
          </a:p>
        </p:txBody>
      </p:sp>
      <p:sp>
        <p:nvSpPr>
          <p:cNvPr id="12" name="Video latent 0"/>
          <p:cNvSpPr/>
          <p:nvPr/>
        </p:nvSpPr>
        <p:spPr>
          <a:xfrm>
            <a:off x="2194560" y="7086600"/>
            <a:ext cx="3840480" cy="914400"/>
          </a:xfrm>
          <a:prstGeom prst="rect">
            <a:avLst/>
          </a:prstGeom>
          <a:solidFill>
            <a:srgbClr val="C6D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ideo latent label 0"/>
          <p:cNvSpPr txBox="1"/>
          <p:nvPr/>
        </p:nvSpPr>
        <p:spPr>
          <a:xfrm>
            <a:off x="2468880" y="7269480"/>
            <a:ext cx="329184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v[T−1]</a:t>
            </a:r>
          </a:p>
        </p:txBody>
      </p:sp>
      <p:sp>
        <p:nvSpPr>
          <p:cNvPr id="14" name="Video latent 1"/>
          <p:cNvSpPr/>
          <p:nvPr/>
        </p:nvSpPr>
        <p:spPr>
          <a:xfrm>
            <a:off x="6446520" y="7086600"/>
            <a:ext cx="3840480" cy="914400"/>
          </a:xfrm>
          <a:prstGeom prst="rect">
            <a:avLst/>
          </a:prstGeom>
          <a:solidFill>
            <a:srgbClr val="C6D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Video latent label 1"/>
          <p:cNvSpPr txBox="1"/>
          <p:nvPr/>
        </p:nvSpPr>
        <p:spPr>
          <a:xfrm>
            <a:off x="6720840" y="7269480"/>
            <a:ext cx="329184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v[T]</a:t>
            </a:r>
          </a:p>
        </p:txBody>
      </p:sp>
      <p:sp>
        <p:nvSpPr>
          <p:cNvPr id="16" name="Audio context"/>
          <p:cNvSpPr/>
          <p:nvPr/>
        </p:nvSpPr>
        <p:spPr>
          <a:xfrm>
            <a:off x="2194560" y="8321040"/>
            <a:ext cx="8046720" cy="914400"/>
          </a:xfrm>
          <a:prstGeom prst="rect">
            <a:avLst/>
          </a:prstGeom>
          <a:solidFill>
            <a:srgbClr val="DB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udio context label"/>
          <p:cNvSpPr txBox="1"/>
          <p:nvPr/>
        </p:nvSpPr>
        <p:spPr>
          <a:xfrm>
            <a:off x="2468880" y="8503920"/>
            <a:ext cx="7498079"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Aligned audio tail</a:t>
            </a:r>
          </a:p>
        </p:txBody>
      </p:sp>
      <p:sp>
        <p:nvSpPr>
          <p:cNvPr id="18" name="Keep scope"/>
          <p:cNvSpPr txBox="1"/>
          <p:nvPr/>
        </p:nvSpPr>
        <p:spPr>
          <a:xfrm>
            <a:off x="2194560" y="9646920"/>
            <a:ext cx="8412480" cy="594360"/>
          </a:xfrm>
          <a:prstGeom prst="rect">
            <a:avLst/>
          </a:prstGeom>
          <a:noFill/>
        </p:spPr>
        <p:txBody>
          <a:bodyPr wrap="square" lIns="18288" rIns="18288" tIns="0" bIns="0">
            <a:spAutoFit/>
          </a:bodyPr>
          <a:lstStyle/>
          <a:p>
            <a:pPr>
              <a:spcBef>
                <a:spcPts val="0"/>
              </a:spcBef>
              <a:spcAft>
                <a:spcPts val="0"/>
              </a:spcAft>
            </a:pPr>
            <a:r>
              <a:rPr sz="2400" b="0">
                <a:solidFill>
                  <a:srgbClr val="52604F"/>
                </a:solidFill>
                <a:latin typeface="NVIDIA Sans"/>
              </a:rPr>
              <a:t>Keep only recent context after completion</a:t>
            </a:r>
          </a:p>
        </p:txBody>
      </p:sp>
      <p:sp>
        <p:nvSpPr>
          <p:cNvPr id="19" name="Right Arrow 18"/>
          <p:cNvSpPr/>
          <p:nvPr/>
        </p:nvSpPr>
        <p:spPr>
          <a:xfrm>
            <a:off x="11430000" y="7406640"/>
            <a:ext cx="914400" cy="59436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Next conditioning 0"/>
          <p:cNvSpPr txBox="1"/>
          <p:nvPr/>
        </p:nvSpPr>
        <p:spPr>
          <a:xfrm>
            <a:off x="13167360" y="6263640"/>
            <a:ext cx="8412480" cy="86868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Same reference image + voice</a:t>
            </a:r>
          </a:p>
        </p:txBody>
      </p:sp>
      <p:sp>
        <p:nvSpPr>
          <p:cNvPr id="21" name="Next conditioning 1"/>
          <p:cNvSpPr txBox="1"/>
          <p:nvPr/>
        </p:nvSpPr>
        <p:spPr>
          <a:xfrm>
            <a:off x="13167360" y="7315200"/>
            <a:ext cx="8412480" cy="86868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Next English reply / listening prompt</a:t>
            </a:r>
          </a:p>
        </p:txBody>
      </p:sp>
      <p:sp>
        <p:nvSpPr>
          <p:cNvPr id="22" name="Next conditioning 2"/>
          <p:cNvSpPr txBox="1"/>
          <p:nvPr/>
        </p:nvSpPr>
        <p:spPr>
          <a:xfrm>
            <a:off x="13167360" y="8366759"/>
            <a:ext cx="8412480" cy="86868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Recent video + audio context</a:t>
            </a:r>
          </a:p>
        </p:txBody>
      </p:sp>
      <p:sp>
        <p:nvSpPr>
          <p:cNvPr id="23" name="Condition principle"/>
          <p:cNvSpPr txBox="1"/>
          <p:nvPr/>
        </p:nvSpPr>
        <p:spPr>
          <a:xfrm>
            <a:off x="13167360" y="9646920"/>
            <a:ext cx="8412480" cy="594360"/>
          </a:xfrm>
          <a:prstGeom prst="rect">
            <a:avLst/>
          </a:prstGeom>
          <a:noFill/>
        </p:spPr>
        <p:txBody>
          <a:bodyPr wrap="square" lIns="18288" rIns="18288" tIns="0" bIns="0">
            <a:spAutoFit/>
          </a:bodyPr>
          <a:lstStyle/>
          <a:p>
            <a:pPr>
              <a:spcBef>
                <a:spcPts val="0"/>
              </a:spcBef>
              <a:spcAft>
                <a:spcPts val="0"/>
              </a:spcAft>
            </a:pPr>
            <a:r>
              <a:rPr sz="2400" b="1">
                <a:solidFill>
                  <a:srgbClr val="376B18"/>
                </a:solidFill>
                <a:latin typeface="NVIDIA Sans"/>
              </a:rPr>
              <a:t>History guides the next generation</a:t>
            </a:r>
          </a:p>
        </p:txBody>
      </p:sp>
      <p:sp>
        <p:nvSpPr>
          <p:cNvPr id="24" name="Right Arrow 23"/>
          <p:cNvSpPr/>
          <p:nvPr/>
        </p:nvSpPr>
        <p:spPr>
          <a:xfrm>
            <a:off x="22402800" y="7406640"/>
            <a:ext cx="914400" cy="59436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ame count 0"/>
          <p:cNvSpPr txBox="1"/>
          <p:nvPr/>
        </p:nvSpPr>
        <p:spPr>
          <a:xfrm>
            <a:off x="24185880" y="6263640"/>
            <a:ext cx="2743200" cy="96012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124</a:t>
            </a:r>
          </a:p>
        </p:txBody>
      </p:sp>
      <p:sp>
        <p:nvSpPr>
          <p:cNvPr id="26" name="Frame count detail 0"/>
          <p:cNvSpPr txBox="1"/>
          <p:nvPr/>
        </p:nvSpPr>
        <p:spPr>
          <a:xfrm>
            <a:off x="27066240" y="6446520"/>
            <a:ext cx="7223760" cy="77724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frames generated</a:t>
            </a:r>
          </a:p>
        </p:txBody>
      </p:sp>
      <p:sp>
        <p:nvSpPr>
          <p:cNvPr id="27" name="Frame count 1"/>
          <p:cNvSpPr txBox="1"/>
          <p:nvPr/>
        </p:nvSpPr>
        <p:spPr>
          <a:xfrm>
            <a:off x="24185880" y="7498079"/>
            <a:ext cx="2743200" cy="96012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− 5</a:t>
            </a:r>
          </a:p>
        </p:txBody>
      </p:sp>
      <p:sp>
        <p:nvSpPr>
          <p:cNvPr id="28" name="Frame count detail 1"/>
          <p:cNvSpPr txBox="1"/>
          <p:nvPr/>
        </p:nvSpPr>
        <p:spPr>
          <a:xfrm>
            <a:off x="27066240" y="7680959"/>
            <a:ext cx="7223760" cy="77724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overlap frames removed</a:t>
            </a:r>
          </a:p>
        </p:txBody>
      </p:sp>
      <p:sp>
        <p:nvSpPr>
          <p:cNvPr id="29" name="Frame count 2"/>
          <p:cNvSpPr txBox="1"/>
          <p:nvPr/>
        </p:nvSpPr>
        <p:spPr>
          <a:xfrm>
            <a:off x="24185880" y="8732520"/>
            <a:ext cx="2743200" cy="960120"/>
          </a:xfrm>
          <a:prstGeom prst="rect">
            <a:avLst/>
          </a:prstGeom>
          <a:noFill/>
        </p:spPr>
        <p:txBody>
          <a:bodyPr wrap="square" lIns="18288" rIns="18288" tIns="0" bIns="0">
            <a:spAutoFit/>
          </a:bodyPr>
          <a:lstStyle/>
          <a:p>
            <a:pPr>
              <a:spcBef>
                <a:spcPts val="0"/>
              </a:spcBef>
              <a:spcAft>
                <a:spcPts val="0"/>
              </a:spcAft>
            </a:pPr>
            <a:r>
              <a:rPr sz="4800" b="1">
                <a:solidFill>
                  <a:srgbClr val="17211A"/>
                </a:solidFill>
                <a:latin typeface="NVIDIA Sans"/>
              </a:rPr>
              <a:t>119</a:t>
            </a:r>
          </a:p>
        </p:txBody>
      </p:sp>
      <p:sp>
        <p:nvSpPr>
          <p:cNvPr id="30" name="Frame count detail 2"/>
          <p:cNvSpPr txBox="1"/>
          <p:nvPr/>
        </p:nvSpPr>
        <p:spPr>
          <a:xfrm>
            <a:off x="27066240" y="8915400"/>
            <a:ext cx="7223760" cy="77724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new frames appended</a:t>
            </a:r>
          </a:p>
        </p:txBody>
      </p:sp>
      <p:sp>
        <p:nvSpPr>
          <p:cNvPr id="31" name="Timeline heading"/>
          <p:cNvSpPr txBox="1"/>
          <p:nvPr/>
        </p:nvSpPr>
        <p:spPr>
          <a:xfrm>
            <a:off x="1828800" y="11155680"/>
            <a:ext cx="32918400" cy="731520"/>
          </a:xfrm>
          <a:prstGeom prst="rect">
            <a:avLst/>
          </a:prstGeom>
          <a:noFill/>
        </p:spPr>
        <p:txBody>
          <a:bodyPr wrap="square" lIns="18288" rIns="18288" tIns="0" bIns="0">
            <a:spAutoFit/>
          </a:bodyPr>
          <a:lstStyle/>
          <a:p>
            <a:pPr>
              <a:spcBef>
                <a:spcPts val="0"/>
              </a:spcBef>
              <a:spcAft>
                <a:spcPts val="0"/>
              </a:spcAft>
            </a:pPr>
            <a:r>
              <a:rPr sz="3600" b="1">
                <a:solidFill>
                  <a:srgbClr val="17211A"/>
                </a:solidFill>
                <a:latin typeface="NVIDIA Sans"/>
              </a:rPr>
              <a:t>One continuous playback timeline</a:t>
            </a:r>
          </a:p>
        </p:txBody>
      </p:sp>
      <p:sp>
        <p:nvSpPr>
          <p:cNvPr id="32" name="Window label 0"/>
          <p:cNvSpPr txBox="1"/>
          <p:nvPr/>
        </p:nvSpPr>
        <p:spPr>
          <a:xfrm>
            <a:off x="1828800" y="12454128"/>
            <a:ext cx="4297680" cy="59436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Window 0</a:t>
            </a:r>
          </a:p>
        </p:txBody>
      </p:sp>
      <p:sp>
        <p:nvSpPr>
          <p:cNvPr id="33" name="Window 0"/>
          <p:cNvSpPr/>
          <p:nvPr/>
        </p:nvSpPr>
        <p:spPr>
          <a:xfrm>
            <a:off x="6492240" y="12298680"/>
            <a:ext cx="9678494" cy="960120"/>
          </a:xfrm>
          <a:prstGeom prst="rect">
            <a:avLst/>
          </a:prstGeom>
          <a:solidFill>
            <a:srgbClr val="D9E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Window frames 0"/>
          <p:cNvSpPr txBox="1"/>
          <p:nvPr/>
        </p:nvSpPr>
        <p:spPr>
          <a:xfrm>
            <a:off x="7086600" y="12527280"/>
            <a:ext cx="8855534" cy="64008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0–123  ·  124 frames</a:t>
            </a:r>
          </a:p>
        </p:txBody>
      </p:sp>
      <p:sp>
        <p:nvSpPr>
          <p:cNvPr id="35" name="Window label 1"/>
          <p:cNvSpPr txBox="1"/>
          <p:nvPr/>
        </p:nvSpPr>
        <p:spPr>
          <a:xfrm>
            <a:off x="1828800" y="13734288"/>
            <a:ext cx="4297680" cy="59436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Window 1</a:t>
            </a:r>
          </a:p>
        </p:txBody>
      </p:sp>
      <p:sp>
        <p:nvSpPr>
          <p:cNvPr id="36" name="Window 1"/>
          <p:cNvSpPr/>
          <p:nvPr/>
        </p:nvSpPr>
        <p:spPr>
          <a:xfrm>
            <a:off x="15780472" y="13578840"/>
            <a:ext cx="9678494" cy="960120"/>
          </a:xfrm>
          <a:prstGeom prst="rect">
            <a:avLst/>
          </a:prstGeom>
          <a:solidFill>
            <a:srgbClr val="D9E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erlap 1"/>
          <p:cNvSpPr/>
          <p:nvPr/>
        </p:nvSpPr>
        <p:spPr>
          <a:xfrm>
            <a:off x="15780472" y="13578840"/>
            <a:ext cx="390261" cy="960120"/>
          </a:xfrm>
          <a:prstGeom prst="rect">
            <a:avLst/>
          </a:prstGeom>
          <a:solidFill>
            <a:srgbClr val="E5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Window frames 1"/>
          <p:cNvSpPr txBox="1"/>
          <p:nvPr/>
        </p:nvSpPr>
        <p:spPr>
          <a:xfrm>
            <a:off x="16374832" y="13807440"/>
            <a:ext cx="8855534" cy="64008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119–242  ·  124 frames</a:t>
            </a:r>
          </a:p>
        </p:txBody>
      </p:sp>
      <p:sp>
        <p:nvSpPr>
          <p:cNvPr id="39" name="Window label 2"/>
          <p:cNvSpPr txBox="1"/>
          <p:nvPr/>
        </p:nvSpPr>
        <p:spPr>
          <a:xfrm>
            <a:off x="1828800" y="15014448"/>
            <a:ext cx="4297680" cy="59436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Window 2</a:t>
            </a:r>
          </a:p>
        </p:txBody>
      </p:sp>
      <p:sp>
        <p:nvSpPr>
          <p:cNvPr id="40" name="Window 2"/>
          <p:cNvSpPr/>
          <p:nvPr/>
        </p:nvSpPr>
        <p:spPr>
          <a:xfrm>
            <a:off x="25068705" y="14859000"/>
            <a:ext cx="9678494" cy="960120"/>
          </a:xfrm>
          <a:prstGeom prst="rect">
            <a:avLst/>
          </a:prstGeom>
          <a:solidFill>
            <a:srgbClr val="D9E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erlap 2"/>
          <p:cNvSpPr/>
          <p:nvPr/>
        </p:nvSpPr>
        <p:spPr>
          <a:xfrm>
            <a:off x="25068705" y="14859000"/>
            <a:ext cx="390261" cy="960120"/>
          </a:xfrm>
          <a:prstGeom prst="rect">
            <a:avLst/>
          </a:prstGeom>
          <a:solidFill>
            <a:srgbClr val="E5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Window frames 2"/>
          <p:cNvSpPr txBox="1"/>
          <p:nvPr/>
        </p:nvSpPr>
        <p:spPr>
          <a:xfrm>
            <a:off x="25663065" y="15087600"/>
            <a:ext cx="8855534" cy="64008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238–361  ·  124 frames</a:t>
            </a:r>
          </a:p>
        </p:txBody>
      </p:sp>
      <p:sp>
        <p:nvSpPr>
          <p:cNvPr id="43" name="Playback label"/>
          <p:cNvSpPr txBox="1"/>
          <p:nvPr/>
        </p:nvSpPr>
        <p:spPr>
          <a:xfrm>
            <a:off x="1828800" y="16413480"/>
            <a:ext cx="4297680" cy="640080"/>
          </a:xfrm>
          <a:prstGeom prst="rect">
            <a:avLst/>
          </a:prstGeom>
          <a:noFill/>
        </p:spPr>
        <p:txBody>
          <a:bodyPr wrap="square" lIns="18288" rIns="18288" tIns="0" bIns="0">
            <a:spAutoFit/>
          </a:bodyPr>
          <a:lstStyle/>
          <a:p>
            <a:pPr>
              <a:spcBef>
                <a:spcPts val="0"/>
              </a:spcBef>
              <a:spcAft>
                <a:spcPts val="0"/>
              </a:spcAft>
            </a:pPr>
            <a:r>
              <a:rPr sz="2900" b="1">
                <a:solidFill>
                  <a:srgbClr val="17211A"/>
                </a:solidFill>
                <a:latin typeface="NVIDIA Sans"/>
              </a:rPr>
              <a:t>Playback</a:t>
            </a:r>
          </a:p>
        </p:txBody>
      </p:sp>
      <p:sp>
        <p:nvSpPr>
          <p:cNvPr id="44" name="Playback frames 0"/>
          <p:cNvSpPr/>
          <p:nvPr/>
        </p:nvSpPr>
        <p:spPr>
          <a:xfrm>
            <a:off x="6492240" y="16276320"/>
            <a:ext cx="9678494" cy="914400"/>
          </a:xfrm>
          <a:prstGeom prst="rect">
            <a:avLst/>
          </a:prstGeom>
          <a:solidFill>
            <a:srgbClr val="A8CD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layback caption 0"/>
          <p:cNvSpPr txBox="1"/>
          <p:nvPr/>
        </p:nvSpPr>
        <p:spPr>
          <a:xfrm>
            <a:off x="6995159" y="16486632"/>
            <a:ext cx="8946974"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0–123  ·  5.167 s</a:t>
            </a:r>
          </a:p>
        </p:txBody>
      </p:sp>
      <p:sp>
        <p:nvSpPr>
          <p:cNvPr id="46" name="Playback frames 1"/>
          <p:cNvSpPr/>
          <p:nvPr/>
        </p:nvSpPr>
        <p:spPr>
          <a:xfrm>
            <a:off x="16170734" y="16276320"/>
            <a:ext cx="9288232" cy="914400"/>
          </a:xfrm>
          <a:prstGeom prst="rect">
            <a:avLst/>
          </a:prstGeom>
          <a:solidFill>
            <a:srgbClr val="C4D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layback caption 1"/>
          <p:cNvSpPr txBox="1"/>
          <p:nvPr/>
        </p:nvSpPr>
        <p:spPr>
          <a:xfrm>
            <a:off x="16673654" y="16486632"/>
            <a:ext cx="8556712"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124–242  ·  +4.958 s</a:t>
            </a:r>
          </a:p>
        </p:txBody>
      </p:sp>
      <p:sp>
        <p:nvSpPr>
          <p:cNvPr id="48" name="Playback frames 2"/>
          <p:cNvSpPr/>
          <p:nvPr/>
        </p:nvSpPr>
        <p:spPr>
          <a:xfrm>
            <a:off x="25458967" y="16276320"/>
            <a:ext cx="9288232" cy="914400"/>
          </a:xfrm>
          <a:prstGeom prst="rect">
            <a:avLst/>
          </a:prstGeom>
          <a:solidFill>
            <a:srgbClr val="D9E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layback caption 2"/>
          <p:cNvSpPr txBox="1"/>
          <p:nvPr/>
        </p:nvSpPr>
        <p:spPr>
          <a:xfrm>
            <a:off x="25961887" y="16486632"/>
            <a:ext cx="8556712" cy="594360"/>
          </a:xfrm>
          <a:prstGeom prst="rect">
            <a:avLst/>
          </a:prstGeom>
          <a:noFill/>
        </p:spPr>
        <p:txBody>
          <a:bodyPr wrap="square" lIns="18288" rIns="18288" tIns="0" bIns="0">
            <a:spAutoFit/>
          </a:bodyPr>
          <a:lstStyle/>
          <a:p>
            <a:pPr>
              <a:spcBef>
                <a:spcPts val="0"/>
              </a:spcBef>
              <a:spcAft>
                <a:spcPts val="0"/>
              </a:spcAft>
            </a:pPr>
            <a:r>
              <a:rPr sz="2800" b="1">
                <a:solidFill>
                  <a:srgbClr val="17211A"/>
                </a:solidFill>
                <a:latin typeface="NVIDIA Sans"/>
              </a:rPr>
              <a:t>243–361  ·  +4.958 s</a:t>
            </a:r>
          </a:p>
        </p:txBody>
      </p:sp>
      <p:sp>
        <p:nvSpPr>
          <p:cNvPr id="50" name="Overlap key"/>
          <p:cNvSpPr/>
          <p:nvPr/>
        </p:nvSpPr>
        <p:spPr>
          <a:xfrm>
            <a:off x="1828800" y="17693640"/>
            <a:ext cx="457200" cy="457200"/>
          </a:xfrm>
          <a:prstGeom prst="rect">
            <a:avLst/>
          </a:prstGeom>
          <a:solidFill>
            <a:srgbClr val="E5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erlap explanation"/>
          <p:cNvSpPr txBox="1"/>
          <p:nvPr/>
        </p:nvSpPr>
        <p:spPr>
          <a:xfrm>
            <a:off x="2514600" y="17647920"/>
            <a:ext cx="32186880" cy="73152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5-frame overlap removed with matching audio; cumulative AV positions advance by 119 frames.</a:t>
            </a:r>
          </a:p>
        </p:txBody>
      </p:sp>
      <p:sp>
        <p:nvSpPr>
          <p:cNvPr id="52" name="Demo settings"/>
          <p:cNvSpPr txBox="1"/>
          <p:nvPr/>
        </p:nvSpPr>
        <p:spPr>
          <a:xfrm>
            <a:off x="1828800" y="18699480"/>
            <a:ext cx="32186880" cy="731520"/>
          </a:xfrm>
          <a:prstGeom prst="rect">
            <a:avLst/>
          </a:prstGeom>
          <a:noFill/>
        </p:spPr>
        <p:txBody>
          <a:bodyPr wrap="square" lIns="18288" rIns="18288" tIns="0" bIns="0">
            <a:spAutoFit/>
          </a:bodyPr>
          <a:lstStyle/>
          <a:p>
            <a:pPr>
              <a:spcBef>
                <a:spcPts val="0"/>
              </a:spcBef>
              <a:spcAft>
                <a:spcPts val="0"/>
              </a:spcAft>
            </a:pPr>
            <a:r>
              <a:rPr sz="2700" b="0">
                <a:solidFill>
                  <a:srgbClr val="52604F"/>
                </a:solidFill>
                <a:latin typeface="NVIDIA Sans"/>
              </a:rPr>
              <a:t>Demo: video guide = 80% history + 20% seeded noise · audio guide stays clean · target prefix off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20</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