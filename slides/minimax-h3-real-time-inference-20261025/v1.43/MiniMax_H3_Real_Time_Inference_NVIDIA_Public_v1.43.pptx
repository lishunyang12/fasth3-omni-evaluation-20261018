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64" r:id="rId48"/>
    <p:sldId id="363" r:id="rId47"/>
    <p:sldId id="353" r:id="rId95"/>
    <p:sldId id="354" r:id="rId96"/>
    <p:sldId id="355" r:id="rId97"/>
    <p:sldId id="361" r:id="rId45"/>
    <p:sldId id="368" r:id="rId51"/>
    <p:sldId id="369" r:id="rId49"/>
    <p:sldId id="357" r:id="rId99"/>
    <p:sldId id="370" r:id="rId44"/>
    <p:sldId id="371" r:id="rId43"/>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3" Type="http://schemas.openxmlformats.org/officeDocument/2006/relationships/slide" Target="slides/slide20.xml"/><Relationship Id="rId44" Type="http://schemas.openxmlformats.org/officeDocument/2006/relationships/slide" Target="slides/slide19.xml"/><Relationship Id="rId45" Type="http://schemas.openxmlformats.org/officeDocument/2006/relationships/slide" Target="slides/slide15.xml"/><Relationship Id="rId47" Type="http://schemas.openxmlformats.org/officeDocument/2006/relationships/slide" Target="slides/slide11.xml"/><Relationship Id="rId48" Type="http://schemas.openxmlformats.org/officeDocument/2006/relationships/slide" Target="slides/slide10.xml"/><Relationship Id="rId49" Type="http://schemas.openxmlformats.org/officeDocument/2006/relationships/slide" Target="slides/slide17.xml"/><Relationship Id="rId51" Type="http://schemas.openxmlformats.org/officeDocument/2006/relationships/slide" Target="slides/slide16.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8" Type="http://schemas.openxmlformats.org/officeDocument/2006/relationships/slide" Target="slides/slide7.xml"/><Relationship Id="rId89" Type="http://schemas.openxmlformats.org/officeDocument/2006/relationships/slide" Target="slides/slide8.xml"/><Relationship Id="rId90" Type="http://schemas.openxmlformats.org/officeDocument/2006/relationships/slide" Target="slides/slide9.xml"/><Relationship Id="rId95" Type="http://schemas.openxmlformats.org/officeDocument/2006/relationships/slide" Target="slides/slide12.xml"/><Relationship Id="rId96" Type="http://schemas.openxmlformats.org/officeDocument/2006/relationships/slide" Target="slides/slide13.xml"/><Relationship Id="rId97" Type="http://schemas.openxmlformats.org/officeDocument/2006/relationships/slide" Target="slides/slide14.xml"/><Relationship Id="rId99" Type="http://schemas.openxmlformats.org/officeDocument/2006/relationships/slide" Target="slides/slide18.xml"/><Relationship Id="rId102" Type="http://schemas.openxmlformats.org/officeDocument/2006/relationships/slide" Target="slides/slide2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"pass",</a:t>
            </a:r>
          </a:p>
          <a:p>
            <a:r>
              <a:t>  "source_kind": "completed_request_service_logs",</a:t>
            </a:r>
          </a:p>
          <a:p>
            <a:r>
              <a:t>  "matched_nsys_capture": false,</a:t>
            </a:r>
          </a:p>
          <a:p>
            <a:r>
              <a:t>  "samples": 2,</a:t>
            </a:r>
          </a:p>
          <a:p>
            <a:r>
              <a:t>  "median_seconds": 213.40215269569308,</a:t>
            </a:r>
          </a:p>
          <a:p>
            <a:r>
              <a:t>  "individual_seconds": [</a:t>
            </a:r>
          </a:p>
          <a:p>
            <a:r>
              <a:t>    214.70544344000518,</a:t>
            </a:r>
          </a:p>
          <a:p>
            <a:r>
              <a:t>    212.09886195138097</a:t>
            </a:r>
          </a:p>
          <a:p>
            <a:r>
              <a:t>  ],</a:t>
            </a:r>
          </a:p>
          <a:p>
            <a:r>
              <a:t>  "breakdown_aggregation": "Arithmetic mean of the two completed requests; for n=2 the HTTP mean equals the median.",</a:t>
            </a:r>
          </a:p>
          <a:p>
            <a:r>
              <a:t>  "costs": [</a:t>
            </a:r>
          </a:p>
          <a:p>
            <a:r>
              <a:t>    {</a:t>
            </a:r>
          </a:p>
          <a:p>
            <a:r>
              <a:t>      "label": "Model engine",</a:t>
            </a:r>
          </a:p>
          <a:p>
            <a:r>
              <a:t>      "seconds": 211.8995</a:t>
            </a:r>
          </a:p>
          <a:p>
            <a:r>
              <a:t>    },</a:t>
            </a:r>
          </a:p>
          <a:p>
            <a:r>
              <a:t>    {</a:t>
            </a:r>
          </a:p>
          <a:p>
            <a:r>
              <a:t>      "label": "Output-ready wait",</a:t>
            </a:r>
          </a:p>
          <a:p>
            <a:r>
              <a:t>      "seconds": 1.33</a:t>
            </a:r>
          </a:p>
          <a:p>
            <a:r>
              <a:t>    },</a:t>
            </a:r>
          </a:p>
          <a:p>
            <a:r>
              <a:t>    {</a:t>
            </a:r>
          </a:p>
          <a:p>
            <a:r>
              <a:t>      "label": "MP4 encoding",</a:t>
            </a:r>
          </a:p>
          <a:p>
            <a:r>
              <a:t>      "seconds": 0.144845</a:t>
            </a:r>
          </a:p>
          <a:p>
            <a:r>
              <a:t>    },</a:t>
            </a:r>
          </a:p>
          <a:p>
            <a:r>
              <a:t>    {</a:t>
            </a:r>
          </a:p>
          <a:p>
            <a:r>
              <a:t>      "label": "Other HTTP overhead",</a:t>
            </a:r>
          </a:p>
          <a:p>
            <a:r>
              <a:t>      "seconds": 0.0278076956930704</a:t>
            </a:r>
          </a:p>
          <a:p>
            <a:r>
              <a:t>    }</a:t>
            </a:r>
          </a:p>
          <a:p>
            <a:r>
              <a:t>  ],</a:t>
            </a:r>
          </a:p>
          <a:p>
            <a:r>
              <a:t>  "requests": [</a:t>
            </a:r>
          </a:p>
          <a:p>
            <a:r>
              <a:t>    {</a:t>
            </a:r>
          </a:p>
          <a:p>
            <a:r>
              <a:t>      "ordinal": 2,</a:t>
            </a:r>
          </a:p>
          <a:p>
            <a:r>
              <a:t>      "request_id": "video_sync-868b87a90d8059f7-bbb40c18",</a:t>
            </a:r>
          </a:p>
          <a:p>
            <a:r>
              <a:t>      "http_seconds": 214.70544344000518,</a:t>
            </a:r>
          </a:p>
          <a:p>
            <a:r>
              <a:t>      "segments": [</a:t>
            </a:r>
          </a:p>
          <a:p>
            <a:r>
              <a:t>        {</a:t>
            </a:r>
          </a:p>
          <a:p>
            <a:r>
              <a:t>          "label": "Model engine",</a:t>
            </a:r>
          </a:p>
          <a:p>
            <a:r>
              <a:t>          "seconds": 213.175</a:t>
            </a:r>
          </a:p>
          <a:p>
            <a:r>
              <a:t>        },</a:t>
            </a:r>
          </a:p>
          <a:p>
            <a:r>
              <a:t>        {</a:t>
            </a:r>
          </a:p>
          <a:p>
            <a:r>
              <a:t>          "label": "Output-ready wait",</a:t>
            </a:r>
          </a:p>
          <a:p>
            <a:r>
              <a:t>          "seconds": 1.359</a:t>
            </a:r>
          </a:p>
          <a:p>
            <a:r>
              <a:t>        },</a:t>
            </a:r>
          </a:p>
          <a:p>
            <a:r>
              <a:t>        {</a:t>
            </a:r>
          </a:p>
          <a:p>
            <a:r>
              <a:t>          "label": "MP4 encoding",</a:t>
            </a:r>
          </a:p>
          <a:p>
            <a:r>
              <a:t>          "seconds": 0.14473</a:t>
            </a:r>
          </a:p>
          <a:p>
            <a:r>
              <a:t>        },</a:t>
            </a:r>
          </a:p>
          <a:p>
            <a:r>
              <a:t>        {</a:t>
            </a:r>
          </a:p>
          <a:p>
            <a:r>
              <a:t>          "label": "Other HTTP overhead",</a:t>
            </a:r>
          </a:p>
          <a:p>
            <a:r>
              <a:t>          "seconds": 0.02671344000515319</a:t>
            </a:r>
          </a:p>
          <a:p>
            <a:r>
              <a:t>        }</a:t>
            </a:r>
          </a:p>
          <a:p>
            <a:r>
              <a:t>      ],</a:t>
            </a:r>
          </a:p>
          <a:p>
            <a:r>
              <a:t>      "logged_stats": {</a:t>
            </a:r>
          </a:p>
          <a:p>
            <a:r>
              <a:t>        "Field": 0.0,</a:t>
            </a:r>
          </a:p>
          <a:p>
            <a:r>
              <a:t>        "audio_duration_s": 5.175,</a:t>
            </a:r>
          </a:p>
          <a:p>
            <a:r>
              <a:t>        "audio_generated_frames": 165600.0,</a:t>
            </a:r>
          </a:p>
          <a:p>
            <a:r>
              <a:t>        "audio_sample_rate": 32000.0,</a:t>
            </a:r>
          </a:p>
          <a:p>
            <a:r>
              <a:t>        "batch_id": 3.0,</a:t>
            </a:r>
          </a:p>
          <a:p>
            <a:r>
              <a:t>        "batch_size": 1.0,</a:t>
            </a:r>
          </a:p>
          <a:p>
            <a:r>
              <a:t>        "diffusion_engine_exec_time_s": 213.175,</a:t>
            </a:r>
          </a:p>
          <a:p>
            <a:r>
              <a:t>        "height": 544.0,</a:t>
            </a:r>
          </a:p>
          <a:p>
            <a:r>
              <a:t>        "image_num": 1.0,</a:t>
            </a:r>
          </a:p>
          <a:p>
            <a:r>
              <a:t>        "kv_recv_time_s": 0.001,</a:t>
            </a:r>
          </a:p>
          <a:p>
            <a:r>
              <a:t>        "num_inference_steps": 50.0,</a:t>
            </a:r>
          </a:p>
          <a:p>
            <a:r>
              <a:t>        "output_ready_wait_time_s": 1.359,</a:t>
            </a:r>
          </a:p>
          <a:p>
            <a:r>
              <a:t>        "output_unit_count": 1.0,</a:t>
            </a:r>
          </a:p>
          <a:p>
            <a:r>
              <a:t>        "postprocess_time_s": 0.0,</a:t>
            </a:r>
          </a:p>
          <a:p>
            <a:r>
              <a:t>        "resolution": 640.0,</a:t>
            </a:r>
          </a:p>
          <a:p>
            <a:r>
              <a:t>        "scheduler_queue_wait_s": 0.0,</a:t>
            </a:r>
          </a:p>
          <a:p>
            <a:r>
              <a:t>        "serving_time_to_first_output_ms": 214534.76,</a:t>
            </a:r>
          </a:p>
          <a:p>
            <a:r>
              <a:t>        "stage_gen_time_ms": 214534.956,</a:t>
            </a:r>
          </a:p>
          <a:p>
            <a:r>
              <a:t>        "width": 960.0,</a:t>
            </a:r>
          </a:p>
          <a:p>
            <a:r>
              <a:t>        "e2e_requests": 1.0,</a:t>
            </a:r>
          </a:p>
          <a:p>
            <a:r>
              <a:t>        "e2e_wall_time_ms": 211927.035,</a:t>
            </a:r>
          </a:p>
          <a:p>
            <a:r>
              <a:t>        "e2e_avg_time_per_request_ms": 211927.035,</a:t>
            </a:r>
          </a:p>
          <a:p>
            <a:r>
              <a:t>        "e2e_stage_0_wall_time_ms": 211926.966,</a:t>
            </a:r>
          </a:p>
          <a:p>
            <a:r>
              <a:t>        "e2e_total_ms": 211926.966,</a:t>
            </a:r>
          </a:p>
          <a:p>
            <a:r>
              <a:t>        "mp4_encoding_s": 0.14473,</a:t>
            </a:r>
          </a:p>
          <a:p>
            <a:r>
              <a:t>        "request_id": "video_sync-868b87a90d8059f7-bbb40c18"</a:t>
            </a:r>
          </a:p>
          <a:p>
            <a:r>
              <a:t>      },</a:t>
            </a:r>
          </a:p>
          <a:p>
            <a:r>
              <a:t>      "mp4_sha256": "a7581ae1cb28d3503ff4ab8b31124d91f6184df989fef4817560da62e2148a4f",</a:t>
            </a:r>
          </a:p>
          <a:p>
            <a:r>
              <a:t>      "decoded_sha256": {</a:t>
            </a:r>
          </a:p>
          <a:p>
            <a:r>
              <a:t>        "video": "SHA256=9ec38b0f73faf69377395e652b8b7d3cf6617b9bc31c01964d059aabdf535261",</a:t>
            </a:r>
          </a:p>
          <a:p>
            <a:r>
              <a:t>        "audio": "SHA256=2f76428baefb1ffd0af21ef1df7caea4764689ed8bffe0766b1718833ddeb263"</a:t>
            </a:r>
          </a:p>
          <a:p>
            <a:r>
              <a:t>      }</a:t>
            </a:r>
          </a:p>
          <a:p>
            <a:r>
              <a:t>    },</a:t>
            </a:r>
          </a:p>
          <a:p>
            <a:r>
              <a:t>    {</a:t>
            </a:r>
          </a:p>
          <a:p>
            <a:r>
              <a:t>      "ordinal": 3,</a:t>
            </a:r>
          </a:p>
          <a:p>
            <a:r>
              <a:t>      "request_id": "video_sync-b833d9389f8a8a1d-a5279bd6",</a:t>
            </a:r>
          </a:p>
          <a:p>
            <a:r>
              <a:t>      "http_seconds": 212.09886195138097,</a:t>
            </a:r>
          </a:p>
          <a:p>
            <a:r>
              <a:t>      "segments": [</a:t>
            </a:r>
          </a:p>
          <a:p>
            <a:r>
              <a:t>        {</a:t>
            </a:r>
          </a:p>
          <a:p>
            <a:r>
              <a:t>          "label": "Model engine",</a:t>
            </a:r>
          </a:p>
          <a:p>
            <a:r>
              <a:t>          "seconds": 210.624</a:t>
            </a:r>
          </a:p>
          <a:p>
            <a:r>
              <a:t>        },</a:t>
            </a:r>
          </a:p>
          <a:p>
            <a:r>
              <a:t>        {</a:t>
            </a:r>
          </a:p>
          <a:p>
            <a:r>
              <a:t>          "label": "Output-ready wait",</a:t>
            </a:r>
          </a:p>
          <a:p>
            <a:r>
              <a:t>          "seconds": 1.301</a:t>
            </a:r>
          </a:p>
          <a:p>
            <a:r>
              <a:t>        },</a:t>
            </a:r>
          </a:p>
          <a:p>
            <a:r>
              <a:t>        {</a:t>
            </a:r>
          </a:p>
          <a:p>
            <a:r>
              <a:t>          "label": "MP4 encoding",</a:t>
            </a:r>
          </a:p>
          <a:p>
            <a:r>
              <a:t>          "seconds": 0.14496</a:t>
            </a:r>
          </a:p>
          <a:p>
            <a:r>
              <a:t>        },</a:t>
            </a:r>
          </a:p>
          <a:p>
            <a:r>
              <a:t>        {</a:t>
            </a:r>
          </a:p>
          <a:p>
            <a:r>
              <a:t>          "label": "Other HTTP overhead",</a:t>
            </a:r>
          </a:p>
          <a:p>
            <a:r>
              <a:t>          "seconds": 0.02890195138098761</a:t>
            </a:r>
          </a:p>
          <a:p>
            <a:r>
              <a:t>        }</a:t>
            </a:r>
          </a:p>
          <a:p>
            <a:r>
              <a:t>      ],</a:t>
            </a:r>
          </a:p>
          <a:p>
            <a:r>
              <a:t>      "logged_stats": {</a:t>
            </a:r>
          </a:p>
          <a:p>
            <a:r>
              <a:t>        "Field": 0.0,</a:t>
            </a:r>
          </a:p>
          <a:p>
            <a:r>
              <a:t>        "audio_duration_s": 5.175,</a:t>
            </a:r>
          </a:p>
          <a:p>
            <a:r>
              <a:t>        "audio_generated_frames": 165600.0,</a:t>
            </a:r>
          </a:p>
          <a:p>
            <a:r>
              <a:t>        "audio_sample_rate": 32000.0,</a:t>
            </a:r>
          </a:p>
          <a:p>
            <a:r>
              <a:t>        "batch_id": 4.0,</a:t>
            </a:r>
          </a:p>
          <a:p>
            <a:r>
              <a:t>        "batch_size": 1.0,</a:t>
            </a:r>
          </a:p>
          <a:p>
            <a:r>
              <a:t>        "diffusion_engine_exec_time_s": 210.624,</a:t>
            </a:r>
          </a:p>
          <a:p>
            <a:r>
              <a:t>        "height": 544.0,</a:t>
            </a:r>
          </a:p>
          <a:p>
            <a:r>
              <a:t>        "image_num": 1.0,</a:t>
            </a:r>
          </a:p>
          <a:p>
            <a:r>
              <a:t>        "kv_recv_time_s": 0.001,</a:t>
            </a:r>
          </a:p>
          <a:p>
            <a:r>
              <a:t>        "num_inference_steps": 50.0,</a:t>
            </a:r>
          </a:p>
          <a:p>
            <a:r>
              <a:t>        "output_ready_wait_time_s": 1.301,</a:t>
            </a:r>
          </a:p>
          <a:p>
            <a:r>
              <a:t>        "output_unit_count": 1.0,</a:t>
            </a:r>
          </a:p>
          <a:p>
            <a:r>
              <a:t>        "postprocess_time_s": 0.0,</a:t>
            </a:r>
          </a:p>
          <a:p>
            <a:r>
              <a:t>        "resolution": 640.0,</a:t>
            </a:r>
          </a:p>
          <a:p>
            <a:r>
              <a:t>        "scheduler_queue_wait_s": 0.0,</a:t>
            </a:r>
          </a:p>
          <a:p>
            <a:r>
              <a:t>        "serving_time_to_first_output_ms": 211925.254,</a:t>
            </a:r>
          </a:p>
          <a:p>
            <a:r>
              <a:t>        "stage_gen_time_ms": 211925.598,</a:t>
            </a:r>
          </a:p>
          <a:p>
            <a:r>
              <a:t>        "width": 960.0,</a:t>
            </a:r>
          </a:p>
          <a:p>
            <a:r>
              <a:t>        "mp4_encoding_s": 0.14496,</a:t>
            </a:r>
          </a:p>
          <a:p>
            <a:r>
              <a:t>        "request_id": "video_sync-b833d9389f8a8a1d-a5279bd6"</a:t>
            </a:r>
          </a:p>
          <a:p>
            <a:r>
              <a:t>      },</a:t>
            </a:r>
          </a:p>
          <a:p>
            <a:r>
              <a:t>      "mp4_sha256": "a7581ae1cb28d3503ff4ab8b31124d91f6184df989fef4817560da62e2148a4f",</a:t>
            </a:r>
          </a:p>
          <a:p>
            <a:r>
              <a:t>      "decoded_sha256": {</a:t>
            </a:r>
          </a:p>
          <a:p>
            <a:r>
              <a:t>        "video": "SHA256=9ec38b0f73faf69377395e652b8b7d3cf6617b9bc31c01964d059aabdf535261",</a:t>
            </a:r>
          </a:p>
          <a:p>
            <a:r>
              <a:t>        "audio": "SHA256=2f76428baefb1ffd0af21ef1df7caea4764689ed8bffe0766b1718833ddeb263"</a:t>
            </a:r>
          </a:p>
          <a:p>
            <a:r>
              <a:t>      }</a:t>
            </a:r>
          </a:p>
          <a:p>
            <a:r>
              <a:t>    }</a:t>
            </a:r>
          </a:p>
          <a:p>
            <a:r>
              <a:t>  ],</a:t>
            </a:r>
          </a:p>
          <a:p>
            <a:r>
              <a:t>  "configuration": {</a:t>
            </a:r>
          </a:p>
          <a:p>
            <a:r>
              <a:t>    "model": "Original Ref2VA",</a:t>
            </a:r>
          </a:p>
          <a:p>
            <a:r>
              <a:t>    "steps": 50,</a:t>
            </a:r>
          </a:p>
          <a:p>
            <a:r>
              <a:t>    "dit_precision": "BF16",</a:t>
            </a:r>
          </a:p>
          <a:p>
            <a:r>
              <a:t>    "attention": "Dense cuDNN; SDPA token refiner",</a:t>
            </a:r>
          </a:p>
          <a:p>
            <a:r>
              <a:t>    "width": 960,</a:t>
            </a:r>
          </a:p>
          <a:p>
            <a:r>
              <a:t>    "height": 544,</a:t>
            </a:r>
          </a:p>
          <a:p>
            <a:r>
              <a:t>    "frames": 124,</a:t>
            </a:r>
          </a:p>
          <a:p>
            <a:r>
              <a:t>    "fps": 24,</a:t>
            </a:r>
          </a:p>
          <a:p>
            <a:r>
              <a:t>    "seed": 43,</a:t>
            </a:r>
          </a:p>
          <a:p>
            <a:r>
              <a:t>    "gpus": 8,</a:t>
            </a:r>
          </a:p>
          <a:p>
            <a:r>
              <a:t>    "architecture": "SM120",</a:t>
            </a:r>
          </a:p>
          <a:p>
            <a:r>
              <a:t>    "vram_mib_per_gpu": 73415,</a:t>
            </a:r>
          </a:p>
          <a:p>
            <a:r>
              <a:t>    "parallelism": "TP1 / Ulysses8 / text encoder TP8 / VAE tiles8",</a:t>
            </a:r>
          </a:p>
          <a:p>
            <a:r>
              <a:t>    "transport": "Local NCCL; RDMA disabled",</a:t>
            </a:r>
          </a:p>
          <a:p>
            <a:r>
              <a:t>    "decoder": "Native unquantized VAE; FP16 decode autocast",</a:t>
            </a:r>
          </a:p>
          <a:p>
            <a:r>
              <a:t>    "conditioning": "Exact AdaLN projections computed before timing and resident on GPU"</a:t>
            </a:r>
          </a:p>
          <a:p>
            <a:r>
              <a:t>  },</a:t>
            </a:r>
          </a:p>
          <a:p>
            <a:r>
              <a:t>  "validation": {</a:t>
            </a:r>
          </a:p>
          <a:p>
            <a:r>
              <a:t>    "complete_projection_table_all_ranks": true,</a:t>
            </a:r>
          </a:p>
          <a:p>
            <a:r>
              <a:t>    "native_projection_equality_all_ranks": true,</a:t>
            </a:r>
          </a:p>
          <a:p>
            <a:r>
              <a:t>    "formal_outputs_identical": true,</a:t>
            </a:r>
          </a:p>
          <a:p>
            <a:r>
              <a:t>    "breakdown_sums_to_http_mean": true</a:t>
            </a:r>
          </a:p>
          <a:p>
            <a:r>
              <a:t>  },</a:t>
            </a:r>
          </a:p>
          <a:p>
            <a:r>
              <a:t>  "sources": {</a:t>
            </a:r>
          </a:p>
          <a:p>
            <a:r>
              <a:t>    "server_log_sha256": "a5cd344e0e6894ac86b4414654bed2a08fc1740019063c27a2506064bf3ac8e5",</a:t>
            </a:r>
          </a:p>
          <a:p>
            <a:r>
              <a:t>    "stage_sha256": "9df6a5063ca69c1a1b9ef8de693d7aa77f3b65944d2dee7c561ac812515a5bb0",</a:t>
            </a:r>
          </a:p>
          <a:p>
            <a:r>
              <a:t>    "formal_results_sha256": [</a:t>
            </a:r>
          </a:p>
          <a:p>
            <a:r>
              <a:t>      "8fbc48f4453108203fcecab5b57529859588eb6b19c9ea83bf937705ceece3d2",</a:t>
            </a:r>
          </a:p>
          <a:p>
            <a:r>
              <a:t>      "25c6950c73377ffc24f4f19590a9e9d6427b8de03488373816de5498262eeceb"</a:t>
            </a:r>
          </a:p>
          <a:p>
            <a:r>
              <a:t>    ],</a:t>
            </a:r>
          </a:p>
          <a:p>
            <a:r>
              <a:t>    "engine_timing_definition_sha256": "5960dde364fb953bb1f5d8e048b39545073992a6461e302fdbb3c94686cf935d"</a:t>
            </a:r>
          </a:p>
          <a:p>
            <a:r>
              <a:t>  },</a:t>
            </a:r>
          </a:p>
          <a:p>
            <a:r>
              <a:t>  "limitations": [</a:t>
            </a:r>
          </a:p>
          <a:p>
            <a:r>
              <a:t>    "Engine timing includes model execution and engine coordination; prompt encoding, DiT and VAE are not independently measured here.",</a:t>
            </a:r>
          </a:p>
          <a:p>
            <a:r>
              <a:t>    "Output-ready wait follows engine completion and waits for asynchronous D2H/shared-memory output.",</a:t>
            </a:r>
          </a:p>
          <a:p>
            <a:r>
              <a:t>    "Other HTTP overhead is the residual, including request/response handling and sub-millisecond log rounding.",</a:t>
            </a:r>
          </a:p>
          <a:p>
            <a:r>
              <a:t>    "The third request was interrupted and excluded. No new Nsight capture or thermal qualification was completed.",</a:t>
            </a:r>
          </a:p>
          <a:p>
            <a:r>
              <a:t>    "The refreshed baseline uses a separately recorded audiovisual reference; whole-output equality to the archived baseline is not claimed."</a:t>
            </a:r>
          </a:p>
          <a:p>
            <a:r>
              <a:t>  ]</a:t>
            </a:r>
          </a:p>
          <a:p>
            <a:r>
              <a: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interactive demo. Not the historical LightX2V four-step Zhiwei recipe. {"hardware": {"gpus": 8, "architecture": "SM120", "driver_name": "NVIDIA Graphics Device", "recorded_system": "PRO 5000 reference node", "memory_mib_per_gpu": 73415, "no_pro5500_result": true}, "h3": {"task": "Ref2VA", "steps": 8, "dit": "QAD NVFP4", "attention": "native NVFP4 VSA", "sparsity_setting": 0.9, "reference_keep_rate": 0.1, "tensor_parallel": 1, "ulysses": 8, "text_encoder_tp": 8, "vae_patch_parallel": 8, "transport": "BF16 RDMA", "head_bands": [2, 3, 2], "video_vae": "36-layer NVFP4; 216 packed linears; BF16 decode autocast", "audio": "native H3 audio decoder; no separate TTS", "mp4_preencoding": true, "graph_cache": "Cleared at 24 entries between requests; changing dialogue can require warmup"}, "media": {"width": 960, "height": 544, "fps": 24, "first_window_frames": 124, "first_window_seconds": 5.166666666666667, "new_continuation_frames": 119, "new_continuation_seconds": 4.958333333333333, "overlap_frames": 5}, "continuity": {"video_history_noise": 0.2, "target_video_prefix": "off", "reference_image_noise": 0.001, "audio_history_noise": 0, "audio_target_prefix": "off", "position": "cumulative AV positions", "video_history": "0.8 * retained video latent + 0.2 * seeded noise", "lossless": false}, "vad": {"model": "Silero ONNX", "device": "CPU", "sample_rate": 16000, "channels": 1, "packet_ms": 200, "quiet_endpoint_ms": 600, "pre_roll_ms": 800}, "asr": {"model": "Qwen3-ASR-0.6B", "precision": "BF16", "gpu": 6, "shared_with_h3": true, "execution": "Partial transcription during speech; final transcription at endpoint"}, "llm": {"model": "Qwen3-4B", "precision": "BF16", "gpu": 7, "shared_with_h3": true, "thinking": false, "temperature": 0.4, "max_tokens": 160, "output": "Short English replies, streamed"}, "software": {"h3": {"python": "3.12.13", "torch_distribution": "2.13.0", "vllm": "0.32.0", "transformers": "5.19.0", "diffusers": "0.40.0", "flashinfer_python": "0.7.0.post1"}, "asr_llm": {"python": "3.12.13", "torch": "2.13.0+cu132", "vllm": "0.28.0", "transformers": "5.14.1"}}, "playback": {"active_calls": 1, "unplayed_windows_limit": 2, "includes_inflight_generation": true}, "timing": {"avatar_generation": "H3 HTTP request through complete MP4; excludes subsequent CPU idle-audio screening and media delivery", "reply_video_starts": "Estimated microphone speech endpoint to first rendered reply frame, including endpoint detection, ASR, LLM, queueing, generation, transfer and playback wait"}, "captions": "Recognized user speech plus intended current reply text; not word-aligned or verified transcription of H3 audio", "benchmark_difference": "The refreshed baseline and retained ladder use fixed prompt/seed on exclusive eight-GPU H3 with ASR/LLM stopped. Later rows were not rerun under the refreshed baseline policy. The live demo shares GPU 6/7 and carries video/audio history.", "provenance": {"h3_stage_sha256": "9397b6fe46b28481984cb4e2cc96facb438a442af873de22f898f7135664528c", "history_validation_sha256": "62adb582967c64111aed91e39f07ed654a04097ecbd223496818467fbd59be49", "live_overlay_validation_sha256": "50954bb50fd02f16e88db94301e5991601196c882ada7cc9bb0dff16c2b69573"}}</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shows the interaction modules. H3 internals are explained earlier and are intentionally condensed here.</a:t>
            </a:r>
          </a:p>
          <a:p>
            <a:r>
              <a:t>Code retains video[:, :, -2:].clone() and the next overlap audio tail. Packed guide rows are concatenated to the existing visual and audio conditions.</a:t>
            </a:r>
          </a:p>
          <a:p>
            <a:r>
              <a:t>These are condition guides. The selected demo disables exact target-prefix clamping. Video history uses 20% seeded noise; audio history remains clean.</a:t>
            </a:r>
          </a:p>
          <a:p>
            <a:r>
              <a:t>The original reference image and audio are supplied on every request. The next text prompt comes from the streamed LLM reply or a listening prompt.</a:t>
            </a:r>
          </a:p>
          <a:p>
            <a:r>
              <a:t>Every internal window spans 124 frames. Its start is ordinal*119; windows are [0,124), [119,243), [238,362). From the second window onward, trim the first five decoded video frames and the corresponding audio tokens.</a:t>
            </a:r>
          </a:p>
          <a:p>
            <a:r>
              <a:t>Audio boundaries are rounded at cumulative frame positions at 40 Hz, producing an 8- or 9-token audio overlap. Video temporal offset uses window.start*(40/24). The text/reference prefix keeps a separate media origin.</a:t>
            </a:r>
          </a:p>
          <a:p>
            <a:r>
              <a:t>The tail is committed only after successful MP4 generation. Next generation overlaps transfer/playback; at most two unplayed windows include the in-flight request.</a:t>
            </a:r>
          </a:p>
          <a:p>
            <a:r>
              <a:t>The standalone 4.922-second result does not certify sustained live rolling real time. The previously selected 32-window history test had a 4.967-second continuation median for 4.958 seconds of new video.</a:t>
            </a:r>
          </a:p>
          <a:p>
            <a:r>
              <a:t>https://lishunyang12.github.io/fasth3-omni-evaluation-20261018/slides/minimax-h3-real-time-inference-20261025/v1.43/demo-config.html</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18 describes the eight-evaluation QAD pipeline; slide 7 describes the distinct historical four-step avatar. Do not imply all techniques are enabled in both recipes.</a:t>
            </a:r>
          </a:p>
          <a:p>
            <a:r>
              <a:t>Online evidence: https://lishunyang12.github.io/fasth3-omni-evaluation-20261018/reports/h3-liveavatar-long-video-20261014/</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stages 08–12 as one engineering refinement, with the detailed stage measurements retained on the linked data page.</a:t>
            </a:r>
          </a:p>
          <a:p>
            <a:r>
              <a:t>Speedups are ratios of the unrounded medians of adjacent displayed configurations, not ratios of rounded table values or paired per-request speedups.</a:t>
            </a:r>
          </a:p>
          <a:p>
            <a:r>
              <a:t>The 00→01 value is a descriptive ratio across separately recorded baseline policies, not an isolated causal gain from step reduction.</a:t>
            </a:r>
          </a:p>
          <a:p>
            <a:r>
              <a:t>The final 4.922-second result is a standalone 124-frame request and does not establish sustained rolling RTF below one.</a:t>
            </a:r>
          </a:p>
          <a:p>
            <a:r>
              <a:t>https://lishunyang12.github.io/fasth3-omni-evaluation-20261018/slides/minimax-h3-real-time-inference-20261025/v1.43/benchmarks.html</a:t>
            </a:r>
          </a:p>
          <a:p>
            <a:r>
              <a:t>[{"stage": "00", "title": "Baseline \u00b7 original BF16 / dense / 50 evaluations", "median_seconds": 213.40215269569308, "rtf": 41.303642457230914, "previous_stage": null, "speedup": null, "separately_refreshed_baseline": false}, {"stage": "01", "title": "+ PDD \u00b7 50 \u2192 8 evaluations", "median_seconds": 44.32691093347967, "rtf": 8.579402116157354, "previous_stage": "00-base50", "speedup": 4.814279817872727, "separately_refreshed_baseline": true}, {"stage": "02", "title": "+ Trained VSA \u00b7 native 8-step model / runtime", "median_seconds": 25.915374606847763, "rtf": 5.015878956164083, "previous_stage": "01-pdd8", "speedup": 1.7104483962106, "separately_refreshed_baseline": false}, {"stage": "03", "title": "+ QAD NVFP4 DiT / native FP4 attention", "median_seconds": 19.460303778760135, "rtf": 3.766510408792284, "previous_stage": "02-vsa", "speedup": 1.3317045253493416, "separately_refreshed_baseline": false}, {"stage": "04", "title": "+ RDMA / direct layout / V-gate overlap", "median_seconds": 6.832498379051685, "rtf": 1.3224190411067778, "previous_stage": "03-qad-native-fp4", "speedup": 2.84819735024381, "separately_refreshed_baseline": false}, {"stage": "05", "title": "+ 2 / 3 / 2 head pipeline", "median_seconds": 6.407273745164275, "rtf": 1.240117499064053, "previous_stage": "04-ulysses", "speedup": 1.0663659226684887, "separately_refreshed_baseline": false}, {"stage": "06", "title": "+ Compute CUDA graphs", "median_seconds": 6.192990344949067, "rtf": 1.198643292570787, "previous_stage": "05-head-232", "speedup": 1.0346009582252902, "separately_refreshed_baseline": false}, {"stage": "07", "title": "+ 36-layer NVFP4 VAE / MP4 pre-encoding", "median_seconds": 5.419804787263274, "rtf": 1.048994474954182, "previous_stage": "06-cuda-graph", "speedup": 1.1426593001103664, "separately_refreshed_baseline": false}, {"stage": "08\u201312", "title": "+ Output and data-movement optimizations", "median_seconds": 4.9224158665165305, "rtf": 0.9527256515838446, "previous_stage": "07-vae-output", "speedup": 1.1010456926506564, "separately_refreshed_baseline": false}]</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hyperlink" Target="https://lishunyang12.github.io/fasth3-omni-evaluation-20261018/slides/minimax-h3-real-time-inference-20261025/v1.39/continuous-generation.html" TargetMode="External"/><Relationship Id="rId5" Type="http://schemas.openxmlformats.org/officeDocument/2006/relationships/hyperlink" Target="https://lishunyang12.github.io/fasth3-omni-evaluation-20261018/slides/minimax-h3-real-time-inference-20261025/v1.42/demo-config.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Shunyang Li | Benchmarks measured | 27 Oct 2026</a:t>
            </a:r>
          </a:p>
        </p:txBody>
      </p:sp>
      <p:sp>
        <p:nvSpPr>
          <p:cNvPr id="3" name="Text Placeholder 2"/>
          <p:cNvSpPr>
            <a:spLocks noGrp="1"/>
          </p:cNvSpPr>
          <p:nvPr>
            <p:ph type="body" idx="11" sz="quarter"/>
          </p:nvPr>
        </p:nvSpPr>
        <p:spPr>
          <a:xfrm>
            <a:off x="1828800" y="15956280"/>
            <a:ext cx="16459200" cy="1005840"/>
          </a:xfrm>
        </p:spPr>
        <p:txBody>
          <a:bodyPr/>
          <a:lstStyle/>
          <a:p>
            <a:r>
              <a:rPr sz="5800">
                <a:latin typeface="NVIDIA Sans"/>
              </a:rPr>
              <a:t>8× RTX PRO 5000 · vLLM-Omni</a:t>
            </a:r>
          </a:p>
        </p:txBody>
      </p:sp>
      <p:sp>
        <p:nvSpPr>
          <p:cNvPr id="4" name="Text Placeholder 3"/>
          <p:cNvSpPr>
            <a:spLocks noGrp="1"/>
          </p:cNvSpPr>
          <p:nvPr>
            <p:ph type="body" idx="10" sz="quarter"/>
          </p:nvPr>
        </p:nvSpPr>
        <p:spPr/>
        <p:txBody>
          <a:bodyPr/>
          <a:lstStyle/>
          <a:p>
            <a:r>
              <a:t>Toward Real-Time Generation</a:t>
            </a:r>
            <a:br/>
            <a:r>
              <a:t>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18059400" y="2470666"/>
            <a:ext cx="16687800" cy="4572000"/>
          </a:xfrm>
        </p:spPr>
        <p:txBody>
          <a:bodyPr/>
          <a:lstStyle/>
          <a:p>
            <a:r>
              <a:t>01 · Real-Time H3</a:t>
            </a:r>
            <a:br/>
            <a:r>
              <a:t>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A 32B encoder feeds the 33B Omni Transformer and visual/audio VAEs. Fifty transformer blocks are evaluated at each of 50 baseline steps.</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RDMA via NIC*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hlinkClick r:id="rId5"/>
              </a:rPr>
              <a:t>Baseline: Configuration and Breakdown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Original Ref2VA · 50 evaluations · BF16 · dense attention · 8 SM120 GPUs</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6</a:t>
            </a:r>
          </a:p>
        </p:txBody>
      </p:sp>
      <p:sp>
        <p:nvSpPr>
          <p:cNvPr id="5" name="BASELINE LATENCY background"/>
          <p:cNvSpPr/>
          <p:nvPr/>
        </p:nvSpPr>
        <p:spPr>
          <a:xfrm>
            <a:off x="1828800" y="4754880"/>
            <a:ext cx="10607040" cy="283464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ASELINE LATENCY label"/>
          <p:cNvSpPr txBox="1"/>
          <p:nvPr/>
        </p:nvSpPr>
        <p:spPr>
          <a:xfrm>
            <a:off x="2148840" y="5029200"/>
            <a:ext cx="9966960" cy="548640"/>
          </a:xfrm>
          <a:prstGeom prst="rect">
            <a:avLst/>
          </a:prstGeom>
          <a:noFill/>
        </p:spPr>
        <p:txBody>
          <a:bodyPr wrap="square" lIns="18288" rIns="18288" tIns="0" bIns="0">
            <a:spAutoFit/>
          </a:bodyPr>
          <a:lstStyle/>
          <a:p>
            <a:pPr>
              <a:spcBef>
                <a:spcPts val="0"/>
              </a:spcBef>
              <a:spcAft>
                <a:spcPts val="0"/>
              </a:spcAft>
            </a:pPr>
            <a:r>
              <a:rPr sz="2600" b="1">
                <a:solidFill>
                  <a:srgbClr val="17211A"/>
                </a:solidFill>
                <a:latin typeface="NVIDIA Sans"/>
              </a:rPr>
              <a:t>BASELINE LATENCY</a:t>
            </a:r>
          </a:p>
        </p:txBody>
      </p:sp>
      <p:sp>
        <p:nvSpPr>
          <p:cNvPr id="7" name="BASELINE LATENCY value"/>
          <p:cNvSpPr txBox="1"/>
          <p:nvPr/>
        </p:nvSpPr>
        <p:spPr>
          <a:xfrm>
            <a:off x="2148840" y="5623560"/>
            <a:ext cx="9966960" cy="914400"/>
          </a:xfrm>
          <a:prstGeom prst="rect">
            <a:avLst/>
          </a:prstGeom>
          <a:noFill/>
        </p:spPr>
        <p:txBody>
          <a:bodyPr wrap="square" lIns="18288" rIns="18288" tIns="0" bIns="0">
            <a:spAutoFit/>
          </a:bodyPr>
          <a:lstStyle/>
          <a:p>
            <a:pPr>
              <a:spcBef>
                <a:spcPts val="0"/>
              </a:spcBef>
              <a:spcAft>
                <a:spcPts val="0"/>
              </a:spcAft>
            </a:pPr>
            <a:r>
              <a:rPr sz="4800" b="1">
                <a:solidFill>
                  <a:srgbClr val="17211A"/>
                </a:solidFill>
                <a:latin typeface="NVIDIA Sans"/>
              </a:rPr>
              <a:t>213.402 s</a:t>
            </a:r>
          </a:p>
        </p:txBody>
      </p:sp>
      <p:sp>
        <p:nvSpPr>
          <p:cNvPr id="8" name="BASELINE LATENCY detail"/>
          <p:cNvSpPr txBox="1"/>
          <p:nvPr/>
        </p:nvSpPr>
        <p:spPr>
          <a:xfrm>
            <a:off x="2148840" y="6720840"/>
            <a:ext cx="9966960" cy="548640"/>
          </a:xfrm>
          <a:prstGeom prst="rect">
            <a:avLst/>
          </a:prstGeom>
          <a:noFill/>
        </p:spPr>
        <p:txBody>
          <a:bodyPr wrap="square" lIns="18288" rIns="18288" tIns="0" bIns="0">
            <a:spAutoFit/>
          </a:bodyPr>
          <a:lstStyle/>
          <a:p>
            <a:pPr>
              <a:spcBef>
                <a:spcPts val="0"/>
              </a:spcBef>
              <a:spcAft>
                <a:spcPts val="0"/>
              </a:spcAft>
            </a:pPr>
            <a:r>
              <a:rPr sz="2500" b="0">
                <a:solidFill>
                  <a:srgbClr val="17211A"/>
                </a:solidFill>
                <a:latin typeface="NVIDIA Sans"/>
              </a:rPr>
              <a:t>Complete-MP4 HTTP median · n = 2</a:t>
            </a:r>
          </a:p>
        </p:txBody>
      </p:sp>
      <p:sp>
        <p:nvSpPr>
          <p:cNvPr id="9" name="GENERATED VIDEO background"/>
          <p:cNvSpPr/>
          <p:nvPr/>
        </p:nvSpPr>
        <p:spPr>
          <a:xfrm>
            <a:off x="12984480" y="4754880"/>
            <a:ext cx="10607040" cy="283464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ENERATED VIDEO label"/>
          <p:cNvSpPr txBox="1"/>
          <p:nvPr/>
        </p:nvSpPr>
        <p:spPr>
          <a:xfrm>
            <a:off x="13304519" y="5029200"/>
            <a:ext cx="9966960" cy="548640"/>
          </a:xfrm>
          <a:prstGeom prst="rect">
            <a:avLst/>
          </a:prstGeom>
          <a:noFill/>
        </p:spPr>
        <p:txBody>
          <a:bodyPr wrap="square" lIns="18288" rIns="18288" tIns="0" bIns="0">
            <a:spAutoFit/>
          </a:bodyPr>
          <a:lstStyle/>
          <a:p>
            <a:pPr>
              <a:spcBef>
                <a:spcPts val="0"/>
              </a:spcBef>
              <a:spcAft>
                <a:spcPts val="0"/>
              </a:spcAft>
            </a:pPr>
            <a:r>
              <a:rPr sz="2600" b="1">
                <a:solidFill>
                  <a:srgbClr val="17211A"/>
                </a:solidFill>
                <a:latin typeface="NVIDIA Sans"/>
              </a:rPr>
              <a:t>GENERATED VIDEO</a:t>
            </a:r>
          </a:p>
        </p:txBody>
      </p:sp>
      <p:sp>
        <p:nvSpPr>
          <p:cNvPr id="11" name="GENERATED VIDEO value"/>
          <p:cNvSpPr txBox="1"/>
          <p:nvPr/>
        </p:nvSpPr>
        <p:spPr>
          <a:xfrm>
            <a:off x="13304519" y="5623560"/>
            <a:ext cx="9966960" cy="914400"/>
          </a:xfrm>
          <a:prstGeom prst="rect">
            <a:avLst/>
          </a:prstGeom>
          <a:noFill/>
        </p:spPr>
        <p:txBody>
          <a:bodyPr wrap="square" lIns="18288" rIns="18288" tIns="0" bIns="0">
            <a:spAutoFit/>
          </a:bodyPr>
          <a:lstStyle/>
          <a:p>
            <a:pPr>
              <a:spcBef>
                <a:spcPts val="0"/>
              </a:spcBef>
              <a:spcAft>
                <a:spcPts val="0"/>
              </a:spcAft>
            </a:pPr>
            <a:r>
              <a:rPr sz="4800" b="1">
                <a:solidFill>
                  <a:srgbClr val="17211A"/>
                </a:solidFill>
                <a:latin typeface="NVIDIA Sans"/>
              </a:rPr>
              <a:t>960 × 544</a:t>
            </a:r>
          </a:p>
        </p:txBody>
      </p:sp>
      <p:sp>
        <p:nvSpPr>
          <p:cNvPr id="12" name="GENERATED VIDEO detail"/>
          <p:cNvSpPr txBox="1"/>
          <p:nvPr/>
        </p:nvSpPr>
        <p:spPr>
          <a:xfrm>
            <a:off x="13304519" y="6720840"/>
            <a:ext cx="9966960" cy="548640"/>
          </a:xfrm>
          <a:prstGeom prst="rect">
            <a:avLst/>
          </a:prstGeom>
          <a:noFill/>
        </p:spPr>
        <p:txBody>
          <a:bodyPr wrap="square" lIns="18288" rIns="18288" tIns="0" bIns="0">
            <a:spAutoFit/>
          </a:bodyPr>
          <a:lstStyle/>
          <a:p>
            <a:pPr>
              <a:spcBef>
                <a:spcPts val="0"/>
              </a:spcBef>
              <a:spcAft>
                <a:spcPts val="0"/>
              </a:spcAft>
            </a:pPr>
            <a:r>
              <a:rPr sz="2500" b="0">
                <a:solidFill>
                  <a:srgbClr val="17211A"/>
                </a:solidFill>
                <a:latin typeface="NVIDIA Sans"/>
              </a:rPr>
              <a:t>124 frames · 24 FPS · 5.167 s</a:t>
            </a:r>
          </a:p>
        </p:txBody>
      </p:sp>
      <p:sp>
        <p:nvSpPr>
          <p:cNvPr id="13" name="HARDWARE background"/>
          <p:cNvSpPr/>
          <p:nvPr/>
        </p:nvSpPr>
        <p:spPr>
          <a:xfrm>
            <a:off x="24140160" y="4754880"/>
            <a:ext cx="10607040" cy="283464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ARDWARE label"/>
          <p:cNvSpPr txBox="1"/>
          <p:nvPr/>
        </p:nvSpPr>
        <p:spPr>
          <a:xfrm>
            <a:off x="24460200" y="5029200"/>
            <a:ext cx="9966960" cy="548640"/>
          </a:xfrm>
          <a:prstGeom prst="rect">
            <a:avLst/>
          </a:prstGeom>
          <a:noFill/>
        </p:spPr>
        <p:txBody>
          <a:bodyPr wrap="square" lIns="18288" rIns="18288" tIns="0" bIns="0">
            <a:spAutoFit/>
          </a:bodyPr>
          <a:lstStyle/>
          <a:p>
            <a:pPr>
              <a:spcBef>
                <a:spcPts val="0"/>
              </a:spcBef>
              <a:spcAft>
                <a:spcPts val="0"/>
              </a:spcAft>
            </a:pPr>
            <a:r>
              <a:rPr sz="2600" b="1">
                <a:solidFill>
                  <a:srgbClr val="17211A"/>
                </a:solidFill>
                <a:latin typeface="NVIDIA Sans"/>
              </a:rPr>
              <a:t>HARDWARE</a:t>
            </a:r>
          </a:p>
        </p:txBody>
      </p:sp>
      <p:sp>
        <p:nvSpPr>
          <p:cNvPr id="15" name="HARDWARE value"/>
          <p:cNvSpPr txBox="1"/>
          <p:nvPr/>
        </p:nvSpPr>
        <p:spPr>
          <a:xfrm>
            <a:off x="24460200" y="5623560"/>
            <a:ext cx="9966960" cy="914400"/>
          </a:xfrm>
          <a:prstGeom prst="rect">
            <a:avLst/>
          </a:prstGeom>
          <a:noFill/>
        </p:spPr>
        <p:txBody>
          <a:bodyPr wrap="square" lIns="18288" rIns="18288" tIns="0" bIns="0">
            <a:spAutoFit/>
          </a:bodyPr>
          <a:lstStyle/>
          <a:p>
            <a:pPr>
              <a:spcBef>
                <a:spcPts val="0"/>
              </a:spcBef>
              <a:spcAft>
                <a:spcPts val="0"/>
              </a:spcAft>
            </a:pPr>
            <a:r>
              <a:rPr sz="4800" b="1">
                <a:solidFill>
                  <a:srgbClr val="17211A"/>
                </a:solidFill>
                <a:latin typeface="NVIDIA Sans"/>
              </a:rPr>
              <a:t>8 × SM120 GPUs</a:t>
            </a:r>
          </a:p>
        </p:txBody>
      </p:sp>
      <p:sp>
        <p:nvSpPr>
          <p:cNvPr id="16" name="HARDWARE detail"/>
          <p:cNvSpPr txBox="1"/>
          <p:nvPr/>
        </p:nvSpPr>
        <p:spPr>
          <a:xfrm>
            <a:off x="24460200" y="6720840"/>
            <a:ext cx="9966960" cy="548640"/>
          </a:xfrm>
          <a:prstGeom prst="rect">
            <a:avLst/>
          </a:prstGeom>
          <a:noFill/>
        </p:spPr>
        <p:txBody>
          <a:bodyPr wrap="square" lIns="18288" rIns="18288" tIns="0" bIns="0">
            <a:spAutoFit/>
          </a:bodyPr>
          <a:lstStyle/>
          <a:p>
            <a:pPr>
              <a:spcBef>
                <a:spcPts val="0"/>
              </a:spcBef>
              <a:spcAft>
                <a:spcPts val="0"/>
              </a:spcAft>
            </a:pPr>
            <a:r>
              <a:rPr sz="2500" b="0">
                <a:solidFill>
                  <a:srgbClr val="17211A"/>
                </a:solidFill>
                <a:latin typeface="NVIDIA Sans"/>
              </a:rPr>
              <a:t>PRO 5000 reference · 73,415 MiB / GPU</a:t>
            </a:r>
          </a:p>
        </p:txBody>
      </p:sp>
      <p:sp>
        <p:nvSpPr>
          <p:cNvPr id="17" name="Configuration heading"/>
          <p:cNvSpPr txBox="1"/>
          <p:nvPr/>
        </p:nvSpPr>
        <p:spPr>
          <a:xfrm>
            <a:off x="1828800" y="8275320"/>
            <a:ext cx="16002000" cy="731520"/>
          </a:xfrm>
          <a:prstGeom prst="rect">
            <a:avLst/>
          </a:prstGeom>
          <a:noFill/>
        </p:spPr>
        <p:txBody>
          <a:bodyPr wrap="square" lIns="18288" rIns="18288" tIns="0" bIns="0">
            <a:spAutoFit/>
          </a:bodyPr>
          <a:lstStyle/>
          <a:p>
            <a:pPr>
              <a:spcBef>
                <a:spcPts val="0"/>
              </a:spcBef>
              <a:spcAft>
                <a:spcPts val="0"/>
              </a:spcAft>
            </a:pPr>
            <a:r>
              <a:rPr sz="3700" b="1">
                <a:solidFill>
                  <a:srgbClr val="17211A"/>
                </a:solidFill>
                <a:latin typeface="NVIDIA Sans"/>
              </a:rPr>
              <a:t>Reference configuration</a:t>
            </a:r>
          </a:p>
        </p:txBody>
      </p:sp>
      <p:sp>
        <p:nvSpPr>
          <p:cNvPr id="18" name="Configuration 0"/>
          <p:cNvSpPr txBox="1"/>
          <p:nvPr/>
        </p:nvSpPr>
        <p:spPr>
          <a:xfrm>
            <a:off x="1828800" y="9418320"/>
            <a:ext cx="16093440" cy="82296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Original Ref2VA · BF16 DiT · 50 evaluations</a:t>
            </a:r>
          </a:p>
        </p:txBody>
      </p:sp>
      <p:sp>
        <p:nvSpPr>
          <p:cNvPr id="19" name="Configuration 1"/>
          <p:cNvSpPr txBox="1"/>
          <p:nvPr/>
        </p:nvSpPr>
        <p:spPr>
          <a:xfrm>
            <a:off x="1828800" y="10424160"/>
            <a:ext cx="16093440" cy="82296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Dense cuDNN attention; SDPA token refiner</a:t>
            </a:r>
          </a:p>
        </p:txBody>
      </p:sp>
      <p:sp>
        <p:nvSpPr>
          <p:cNvPr id="20" name="Configuration 2"/>
          <p:cNvSpPr txBox="1"/>
          <p:nvPr/>
        </p:nvSpPr>
        <p:spPr>
          <a:xfrm>
            <a:off x="1828800" y="11430000"/>
            <a:ext cx="16093440" cy="82296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DiT TP1 / Ulysses8 · text TP8 · VAE tiles8</a:t>
            </a:r>
          </a:p>
        </p:txBody>
      </p:sp>
      <p:sp>
        <p:nvSpPr>
          <p:cNvPr id="21" name="Configuration 3"/>
          <p:cNvSpPr txBox="1"/>
          <p:nvPr/>
        </p:nvSpPr>
        <p:spPr>
          <a:xfrm>
            <a:off x="1828800" y="12435840"/>
            <a:ext cx="16093440" cy="82296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Local NCCL · native VAE · FP16 decode</a:t>
            </a:r>
          </a:p>
        </p:txBody>
      </p:sp>
      <p:sp>
        <p:nvSpPr>
          <p:cNvPr id="22" name="Configuration 4"/>
          <p:cNvSpPr txBox="1"/>
          <p:nvPr/>
        </p:nvSpPr>
        <p:spPr>
          <a:xfrm>
            <a:off x="1828800" y="13441680"/>
            <a:ext cx="16093440" cy="82296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Exact AdaLN table resident before timing</a:t>
            </a:r>
          </a:p>
        </p:txBody>
      </p:sp>
      <p:sp>
        <p:nvSpPr>
          <p:cNvPr id="23" name="Configuration 5"/>
          <p:cNvSpPr txBox="1"/>
          <p:nvPr/>
        </p:nvSpPr>
        <p:spPr>
          <a:xfrm>
            <a:off x="1828800" y="14447520"/>
            <a:ext cx="16093440" cy="82296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Fixed inputs / seed 43; warmup excluded</a:t>
            </a:r>
          </a:p>
        </p:txBody>
      </p:sp>
      <p:sp>
        <p:nvSpPr>
          <p:cNvPr id="24" name="Breakdown heading"/>
          <p:cNvSpPr txBox="1"/>
          <p:nvPr/>
        </p:nvSpPr>
        <p:spPr>
          <a:xfrm>
            <a:off x="18562320" y="8275320"/>
            <a:ext cx="16184880" cy="731520"/>
          </a:xfrm>
          <a:prstGeom prst="rect">
            <a:avLst/>
          </a:prstGeom>
          <a:noFill/>
        </p:spPr>
        <p:txBody>
          <a:bodyPr wrap="square" lIns="18288" rIns="18288" tIns="0" bIns="0">
            <a:spAutoFit/>
          </a:bodyPr>
          <a:lstStyle/>
          <a:p>
            <a:pPr>
              <a:spcBef>
                <a:spcPts val="0"/>
              </a:spcBef>
              <a:spcAft>
                <a:spcPts val="0"/>
              </a:spcAft>
            </a:pPr>
            <a:r>
              <a:rPr sz="3700" b="1">
                <a:solidFill>
                  <a:srgbClr val="17211A"/>
                </a:solidFill>
                <a:latin typeface="NVIDIA Sans"/>
              </a:rPr>
              <a:t>Request-level latency breakdown</a:t>
            </a:r>
          </a:p>
        </p:txBody>
      </p:sp>
      <p:sp>
        <p:nvSpPr>
          <p:cNvPr id="25" name="Cost background 0"/>
          <p:cNvSpPr/>
          <p:nvPr/>
        </p:nvSpPr>
        <p:spPr>
          <a:xfrm>
            <a:off x="18562320" y="9436608"/>
            <a:ext cx="16184880" cy="1024128"/>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st label 0"/>
          <p:cNvSpPr txBox="1"/>
          <p:nvPr/>
        </p:nvSpPr>
        <p:spPr>
          <a:xfrm>
            <a:off x="18882360" y="9601200"/>
            <a:ext cx="10972800" cy="685800"/>
          </a:xfrm>
          <a:prstGeom prst="rect">
            <a:avLst/>
          </a:prstGeom>
          <a:noFill/>
        </p:spPr>
        <p:txBody>
          <a:bodyPr wrap="square" lIns="18288" rIns="18288" tIns="0" bIns="0">
            <a:spAutoFit/>
          </a:bodyPr>
          <a:lstStyle/>
          <a:p>
            <a:pPr>
              <a:spcBef>
                <a:spcPts val="0"/>
              </a:spcBef>
              <a:spcAft>
                <a:spcPts val="0"/>
              </a:spcAft>
            </a:pPr>
            <a:r>
              <a:rPr sz="3100" b="1">
                <a:solidFill>
                  <a:srgbClr val="17211A"/>
                </a:solidFill>
                <a:latin typeface="NVIDIA Sans"/>
              </a:rPr>
              <a:t>Model engine</a:t>
            </a:r>
          </a:p>
        </p:txBody>
      </p:sp>
      <p:sp>
        <p:nvSpPr>
          <p:cNvPr id="27" name="Cost value 0"/>
          <p:cNvSpPr txBox="1"/>
          <p:nvPr/>
        </p:nvSpPr>
        <p:spPr>
          <a:xfrm>
            <a:off x="30175200" y="9601200"/>
            <a:ext cx="4206240" cy="685800"/>
          </a:xfrm>
          <a:prstGeom prst="rect">
            <a:avLst/>
          </a:prstGeom>
          <a:noFill/>
        </p:spPr>
        <p:txBody>
          <a:bodyPr wrap="square" lIns="18288" rIns="18288" tIns="0" bIns="0">
            <a:spAutoFit/>
          </a:bodyPr>
          <a:lstStyle/>
          <a:p>
            <a:pPr>
              <a:spcBef>
                <a:spcPts val="0"/>
              </a:spcBef>
              <a:spcAft>
                <a:spcPts val="0"/>
              </a:spcAft>
            </a:pPr>
            <a:r>
              <a:rPr sz="3200" b="1">
                <a:solidFill>
                  <a:srgbClr val="17211A"/>
                </a:solidFill>
                <a:latin typeface="NVIDIA Sans"/>
              </a:rPr>
              <a:t>211.899 s</a:t>
            </a:r>
          </a:p>
        </p:txBody>
      </p:sp>
      <p:sp>
        <p:nvSpPr>
          <p:cNvPr id="28" name="Cost background 1"/>
          <p:cNvSpPr/>
          <p:nvPr/>
        </p:nvSpPr>
        <p:spPr>
          <a:xfrm>
            <a:off x="18562320" y="10762488"/>
            <a:ext cx="16184880" cy="1024128"/>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ost label 1"/>
          <p:cNvSpPr txBox="1"/>
          <p:nvPr/>
        </p:nvSpPr>
        <p:spPr>
          <a:xfrm>
            <a:off x="18882360" y="10927080"/>
            <a:ext cx="10972800" cy="685800"/>
          </a:xfrm>
          <a:prstGeom prst="rect">
            <a:avLst/>
          </a:prstGeom>
          <a:noFill/>
        </p:spPr>
        <p:txBody>
          <a:bodyPr wrap="square" lIns="18288" rIns="18288" tIns="0" bIns="0">
            <a:spAutoFit/>
          </a:bodyPr>
          <a:lstStyle/>
          <a:p>
            <a:pPr>
              <a:spcBef>
                <a:spcPts val="0"/>
              </a:spcBef>
              <a:spcAft>
                <a:spcPts val="0"/>
              </a:spcAft>
            </a:pPr>
            <a:r>
              <a:rPr sz="3100" b="0">
                <a:solidFill>
                  <a:srgbClr val="17211A"/>
                </a:solidFill>
                <a:latin typeface="NVIDIA Sans"/>
              </a:rPr>
              <a:t>Output-ready wait</a:t>
            </a:r>
          </a:p>
        </p:txBody>
      </p:sp>
      <p:sp>
        <p:nvSpPr>
          <p:cNvPr id="30" name="Cost value 1"/>
          <p:cNvSpPr txBox="1"/>
          <p:nvPr/>
        </p:nvSpPr>
        <p:spPr>
          <a:xfrm>
            <a:off x="30175200" y="10927080"/>
            <a:ext cx="4206240" cy="685800"/>
          </a:xfrm>
          <a:prstGeom prst="rect">
            <a:avLst/>
          </a:prstGeom>
          <a:noFill/>
        </p:spPr>
        <p:txBody>
          <a:bodyPr wrap="square" lIns="18288" rIns="18288" tIns="0" bIns="0">
            <a:spAutoFit/>
          </a:bodyPr>
          <a:lstStyle/>
          <a:p>
            <a:pPr>
              <a:spcBef>
                <a:spcPts val="0"/>
              </a:spcBef>
              <a:spcAft>
                <a:spcPts val="0"/>
              </a:spcAft>
            </a:pPr>
            <a:r>
              <a:rPr sz="3200" b="1">
                <a:solidFill>
                  <a:srgbClr val="17211A"/>
                </a:solidFill>
                <a:latin typeface="NVIDIA Sans"/>
              </a:rPr>
              <a:t>1.330 s</a:t>
            </a:r>
          </a:p>
        </p:txBody>
      </p:sp>
      <p:sp>
        <p:nvSpPr>
          <p:cNvPr id="31" name="Cost background 2"/>
          <p:cNvSpPr/>
          <p:nvPr/>
        </p:nvSpPr>
        <p:spPr>
          <a:xfrm>
            <a:off x="18562320" y="12088368"/>
            <a:ext cx="16184880" cy="1024128"/>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ost label 2"/>
          <p:cNvSpPr txBox="1"/>
          <p:nvPr/>
        </p:nvSpPr>
        <p:spPr>
          <a:xfrm>
            <a:off x="18882360" y="12252960"/>
            <a:ext cx="10972800" cy="685800"/>
          </a:xfrm>
          <a:prstGeom prst="rect">
            <a:avLst/>
          </a:prstGeom>
          <a:noFill/>
        </p:spPr>
        <p:txBody>
          <a:bodyPr wrap="square" lIns="18288" rIns="18288" tIns="0" bIns="0">
            <a:spAutoFit/>
          </a:bodyPr>
          <a:lstStyle/>
          <a:p>
            <a:pPr>
              <a:spcBef>
                <a:spcPts val="0"/>
              </a:spcBef>
              <a:spcAft>
                <a:spcPts val="0"/>
              </a:spcAft>
            </a:pPr>
            <a:r>
              <a:rPr sz="3100" b="0">
                <a:solidFill>
                  <a:srgbClr val="17211A"/>
                </a:solidFill>
                <a:latin typeface="NVIDIA Sans"/>
              </a:rPr>
              <a:t>MP4 encoding</a:t>
            </a:r>
          </a:p>
        </p:txBody>
      </p:sp>
      <p:sp>
        <p:nvSpPr>
          <p:cNvPr id="33" name="Cost value 2"/>
          <p:cNvSpPr txBox="1"/>
          <p:nvPr/>
        </p:nvSpPr>
        <p:spPr>
          <a:xfrm>
            <a:off x="30175200" y="12252960"/>
            <a:ext cx="4206240" cy="685800"/>
          </a:xfrm>
          <a:prstGeom prst="rect">
            <a:avLst/>
          </a:prstGeom>
          <a:noFill/>
        </p:spPr>
        <p:txBody>
          <a:bodyPr wrap="square" lIns="18288" rIns="18288" tIns="0" bIns="0">
            <a:spAutoFit/>
          </a:bodyPr>
          <a:lstStyle/>
          <a:p>
            <a:pPr>
              <a:spcBef>
                <a:spcPts val="0"/>
              </a:spcBef>
              <a:spcAft>
                <a:spcPts val="0"/>
              </a:spcAft>
            </a:pPr>
            <a:r>
              <a:rPr sz="3200" b="1">
                <a:solidFill>
                  <a:srgbClr val="17211A"/>
                </a:solidFill>
                <a:latin typeface="NVIDIA Sans"/>
              </a:rPr>
              <a:t>0.145 s</a:t>
            </a:r>
          </a:p>
        </p:txBody>
      </p:sp>
      <p:sp>
        <p:nvSpPr>
          <p:cNvPr id="34" name="Cost background 3"/>
          <p:cNvSpPr/>
          <p:nvPr/>
        </p:nvSpPr>
        <p:spPr>
          <a:xfrm>
            <a:off x="18562320" y="13414248"/>
            <a:ext cx="16184880" cy="1024128"/>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ost label 3"/>
          <p:cNvSpPr txBox="1"/>
          <p:nvPr/>
        </p:nvSpPr>
        <p:spPr>
          <a:xfrm>
            <a:off x="18882360" y="13578840"/>
            <a:ext cx="10972800" cy="685800"/>
          </a:xfrm>
          <a:prstGeom prst="rect">
            <a:avLst/>
          </a:prstGeom>
          <a:noFill/>
        </p:spPr>
        <p:txBody>
          <a:bodyPr wrap="square" lIns="18288" rIns="18288" tIns="0" bIns="0">
            <a:spAutoFit/>
          </a:bodyPr>
          <a:lstStyle/>
          <a:p>
            <a:pPr>
              <a:spcBef>
                <a:spcPts val="0"/>
              </a:spcBef>
              <a:spcAft>
                <a:spcPts val="0"/>
              </a:spcAft>
            </a:pPr>
            <a:r>
              <a:rPr sz="3100" b="0">
                <a:solidFill>
                  <a:srgbClr val="17211A"/>
                </a:solidFill>
                <a:latin typeface="NVIDIA Sans"/>
              </a:rPr>
              <a:t>Other HTTP overhead</a:t>
            </a:r>
          </a:p>
        </p:txBody>
      </p:sp>
      <p:sp>
        <p:nvSpPr>
          <p:cNvPr id="36" name="Cost value 3"/>
          <p:cNvSpPr txBox="1"/>
          <p:nvPr/>
        </p:nvSpPr>
        <p:spPr>
          <a:xfrm>
            <a:off x="30175200" y="13578840"/>
            <a:ext cx="4206240" cy="685800"/>
          </a:xfrm>
          <a:prstGeom prst="rect">
            <a:avLst/>
          </a:prstGeom>
          <a:noFill/>
        </p:spPr>
        <p:txBody>
          <a:bodyPr wrap="square" lIns="18288" rIns="18288" tIns="0" bIns="0">
            <a:spAutoFit/>
          </a:bodyPr>
          <a:lstStyle/>
          <a:p>
            <a:pPr>
              <a:spcBef>
                <a:spcPts val="0"/>
              </a:spcBef>
              <a:spcAft>
                <a:spcPts val="0"/>
              </a:spcAft>
            </a:pPr>
            <a:r>
              <a:rPr sz="3200" b="1">
                <a:solidFill>
                  <a:srgbClr val="17211A"/>
                </a:solidFill>
                <a:latin typeface="NVIDIA Sans"/>
              </a:rPr>
              <a:t>0.028 s</a:t>
            </a:r>
          </a:p>
        </p:txBody>
      </p:sp>
      <p:sp>
        <p:nvSpPr>
          <p:cNvPr id="37" name="Breakdown scope"/>
          <p:cNvSpPr txBox="1"/>
          <p:nvPr/>
        </p:nvSpPr>
        <p:spPr>
          <a:xfrm>
            <a:off x="18562320" y="15087600"/>
            <a:ext cx="16184880" cy="1234440"/>
          </a:xfrm>
          <a:prstGeom prst="rect">
            <a:avLst/>
          </a:prstGeom>
          <a:noFill/>
        </p:spPr>
        <p:txBody>
          <a:bodyPr wrap="square" lIns="18288" rIns="18288" tIns="0" bIns="0">
            <a:spAutoFit/>
          </a:bodyPr>
          <a:lstStyle/>
          <a:p>
            <a:pPr>
              <a:spcBef>
                <a:spcPts val="0"/>
              </a:spcBef>
              <a:spcAft>
                <a:spcPts val="0"/>
              </a:spcAft>
            </a:pPr>
            <a:r>
              <a:rPr sz="2600" b="0">
                <a:solidFill>
                  <a:srgbClr val="52604F"/>
                </a:solidFill>
                <a:latin typeface="NVIDIA Sans"/>
              </a:rPr>
              <a:t>Model engine includes prompt encoding, DiT, VAE and coordination.</a:t>
            </a:r>
          </a:p>
        </p:txBody>
      </p:sp>
      <p:sp>
        <p:nvSpPr>
          <p:cNvPr id="38" name="Recorded samples"/>
          <p:cNvSpPr txBox="1"/>
          <p:nvPr/>
        </p:nvSpPr>
        <p:spPr>
          <a:xfrm>
            <a:off x="1828800" y="17190720"/>
            <a:ext cx="32918400" cy="731520"/>
          </a:xfrm>
          <a:prstGeom prst="rect">
            <a:avLst/>
          </a:prstGeom>
          <a:noFill/>
        </p:spPr>
        <p:txBody>
          <a:bodyPr wrap="square" lIns="18288" rIns="18288" tIns="0" bIns="0">
            <a:spAutoFit/>
          </a:bodyPr>
          <a:lstStyle/>
          <a:p>
            <a:pPr>
              <a:spcBef>
                <a:spcPts val="0"/>
              </a:spcBef>
              <a:spcAft>
                <a:spcPts val="0"/>
              </a:spcAft>
            </a:pPr>
            <a:r>
              <a:rPr sz="2900" b="1">
                <a:solidFill>
                  <a:srgbClr val="17211A"/>
                </a:solidFill>
                <a:latin typeface="NVIDIA Sans"/>
              </a:rPr>
              <a:t>Completed requests: 214.705 s and 212.099 s · third request interrupted and excluded</a:t>
            </a:r>
          </a:p>
        </p:txBody>
      </p:sp>
      <p:sp>
        <p:nvSpPr>
          <p:cNvPr id="39" name="Accounting"/>
          <p:cNvSpPr txBox="1"/>
          <p:nvPr/>
        </p:nvSpPr>
        <p:spPr>
          <a:xfrm>
            <a:off x="1828800" y="18288000"/>
            <a:ext cx="32918400" cy="822960"/>
          </a:xfrm>
          <a:prstGeom prst="rect">
            <a:avLst/>
          </a:prstGeom>
          <a:noFill/>
        </p:spPr>
        <p:txBody>
          <a:bodyPr wrap="square" lIns="18288" rIns="18288" tIns="0" bIns="0">
            <a:spAutoFit/>
          </a:bodyPr>
          <a:lstStyle/>
          <a:p>
            <a:pPr>
              <a:spcBef>
                <a:spcPts val="0"/>
              </a:spcBef>
              <a:spcAft>
                <a:spcPts val="0"/>
              </a:spcAft>
            </a:pPr>
            <a:r>
              <a:rPr sz="2700" b="0">
                <a:solidFill>
                  <a:srgbClr val="52604F"/>
                </a:solidFill>
                <a:latin typeface="NVIDIA Sans"/>
              </a:rPr>
              <a:t>Breakdown = mean of the same two requests, using service logs and HTTP timing. No new Nsight capture.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a:hlinkClick r:id="rId4"/>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111111"/>
                </a:solidFill>
                <a:latin typeface="NVIDIA Sans Medium"/>
                <a:hlinkClick r:id="rId5"/>
              </a:rPr>
              <a:t>Five-Second Avatar: Live Conversation</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555555"/>
                </a:solidFill>
                <a:latin typeface="NVIDIA Sans"/>
              </a:rPr>
              <a:t>Demo focus · reference identity, expression, native speech and continuity</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111111"/>
                </a:solidFill>
                <a:latin typeface="NVIDIA Sans"/>
              </a:rPr>
              <a:t>7</a:t>
            </a:r>
          </a:p>
        </p:txBody>
      </p:sp>
      <p:sp>
        <p:nvSpPr>
          <p:cNvPr id="5" name="Demo panel 0"/>
          <p:cNvSpPr/>
          <p:nvPr/>
        </p:nvSpPr>
        <p:spPr>
          <a:xfrm>
            <a:off x="1828800" y="5120640"/>
            <a:ext cx="32918400" cy="329184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emo title 0"/>
          <p:cNvSpPr txBox="1"/>
          <p:nvPr/>
        </p:nvSpPr>
        <p:spPr>
          <a:xfrm>
            <a:off x="2468880" y="553212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01 · Natural presence</a:t>
            </a:r>
          </a:p>
        </p:txBody>
      </p:sp>
      <p:sp>
        <p:nvSpPr>
          <p:cNvPr id="7" name="Demo body 0"/>
          <p:cNvSpPr txBox="1"/>
          <p:nvPr/>
        </p:nvSpPr>
        <p:spPr>
          <a:xfrm>
            <a:off x="2468880" y="6629400"/>
            <a:ext cx="31089600" cy="1463040"/>
          </a:xfrm>
          <a:prstGeom prst="rect">
            <a:avLst/>
          </a:prstGeom>
          <a:noFill/>
        </p:spPr>
        <p:txBody>
          <a:bodyPr wrap="square" lIns="0" rIns="0" tIns="0" bIns="0">
            <a:spAutoFit/>
          </a:bodyPr>
          <a:lstStyle/>
          <a:p>
            <a:pPr>
              <a:spcAft>
                <a:spcPts val="800"/>
              </a:spcAft>
            </a:pPr>
            <a:r>
              <a:rPr sz="3700">
                <a:solidFill>
                  <a:srgbClr val="111111"/>
                </a:solidFill>
                <a:latin typeface="NVIDIA Sans"/>
              </a:rPr>
              <a:t>Listen with natural presence.
Microphone stays active; live captions show the question.</a:t>
            </a:r>
          </a:p>
        </p:txBody>
      </p:sp>
      <p:sp>
        <p:nvSpPr>
          <p:cNvPr id="8" name="Demo panel 1"/>
          <p:cNvSpPr/>
          <p:nvPr/>
        </p:nvSpPr>
        <p:spPr>
          <a:xfrm>
            <a:off x="1828800" y="9052559"/>
            <a:ext cx="32918400" cy="329184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emo title 1"/>
          <p:cNvSpPr txBox="1"/>
          <p:nvPr/>
        </p:nvSpPr>
        <p:spPr>
          <a:xfrm>
            <a:off x="2468880" y="9464039"/>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02 · Speech and expression</a:t>
            </a:r>
          </a:p>
        </p:txBody>
      </p:sp>
      <p:sp>
        <p:nvSpPr>
          <p:cNvPr id="10" name="Demo body 1"/>
          <p:cNvSpPr txBox="1"/>
          <p:nvPr/>
        </p:nvSpPr>
        <p:spPr>
          <a:xfrm>
            <a:off x="2468880" y="10561319"/>
            <a:ext cx="31089600" cy="1463040"/>
          </a:xfrm>
          <a:prstGeom prst="rect">
            <a:avLst/>
          </a:prstGeom>
          <a:noFill/>
        </p:spPr>
        <p:txBody>
          <a:bodyPr wrap="square" lIns="0" rIns="0" tIns="0" bIns="0">
            <a:spAutoFit/>
          </a:bodyPr>
          <a:lstStyle/>
          <a:p>
            <a:pPr>
              <a:spcAft>
                <a:spcPts val="800"/>
              </a:spcAft>
            </a:pPr>
            <a:r>
              <a:rPr sz="3700">
                <a:solidFill>
                  <a:srgbClr val="111111"/>
                </a:solidFill>
                <a:latin typeface="NVIDIA Sans"/>
              </a:rPr>
              <a:t>Generate a short answer as native audio and video.
Show generation time and actual reply-video start time.</a:t>
            </a:r>
          </a:p>
        </p:txBody>
      </p:sp>
      <p:sp>
        <p:nvSpPr>
          <p:cNvPr id="11" name="Demo panel 2"/>
          <p:cNvSpPr/>
          <p:nvPr/>
        </p:nvSpPr>
        <p:spPr>
          <a:xfrm>
            <a:off x="1828800" y="12984480"/>
            <a:ext cx="32918400" cy="329184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mo title 2"/>
          <p:cNvSpPr txBox="1"/>
          <p:nvPr/>
        </p:nvSpPr>
        <p:spPr>
          <a:xfrm>
            <a:off x="2468880" y="13395959"/>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03 · Continuous generation</a:t>
            </a:r>
          </a:p>
        </p:txBody>
      </p:sp>
      <p:sp>
        <p:nvSpPr>
          <p:cNvPr id="13" name="Demo body 2"/>
          <p:cNvSpPr txBox="1"/>
          <p:nvPr/>
        </p:nvSpPr>
        <p:spPr>
          <a:xfrm>
            <a:off x="2468880" y="14493240"/>
            <a:ext cx="31089600" cy="1463040"/>
          </a:xfrm>
          <a:prstGeom prst="rect">
            <a:avLst/>
          </a:prstGeom>
          <a:noFill/>
        </p:spPr>
        <p:txBody>
          <a:bodyPr wrap="square" lIns="0" rIns="0" tIns="0" bIns="0">
            <a:spAutoFit/>
          </a:bodyPr>
          <a:lstStyle/>
          <a:p>
            <a:pPr>
              <a:spcAft>
                <a:spcPts val="800"/>
              </a:spcAft>
            </a:pPr>
            <a:r>
              <a:rPr sz="3700">
                <a:solidFill>
                  <a:srgbClr val="111111"/>
                </a:solidFill>
                <a:latin typeface="NVIDIA Sans"/>
              </a:rPr>
              <a:t>Carry video and audio history across windows.
Inspect the face, mouth and transitions while speaking.</a:t>
            </a:r>
          </a:p>
        </p:txBody>
      </p:sp>
      <p:sp>
        <p:nvSpPr>
          <p:cNvPr id="14" name="Demo metrics"/>
          <p:cNvSpPr txBox="1"/>
          <p:nvPr/>
        </p:nvSpPr>
        <p:spPr>
          <a:xfrm>
            <a:off x="1828800" y="17373600"/>
            <a:ext cx="32918400" cy="731520"/>
          </a:xfrm>
          <a:prstGeom prst="rect">
            <a:avLst/>
          </a:prstGeom>
          <a:noFill/>
        </p:spPr>
        <p:txBody>
          <a:bodyPr wrap="square" lIns="0" rIns="0" tIns="0" bIns="0">
            <a:spAutoFit/>
          </a:bodyPr>
          <a:lstStyle/>
          <a:p>
            <a:pPr>
              <a:spcAft>
                <a:spcPts val="800"/>
              </a:spcAft>
            </a:pPr>
            <a:r>
              <a:rPr sz="3400">
                <a:solidFill>
                  <a:srgbClr val="111111"/>
                </a:solidFill>
                <a:latin typeface="NVIDIA Sans Medium"/>
              </a:rPr>
              <a:t>960 × 544 · 24 FPS · 8 steps · 8 SM120 GPUs · QAD NVFP4 / native FP4 VSA</a:t>
            </a:r>
          </a:p>
        </p:txBody>
      </p:sp>
      <p:sp>
        <p:nvSpPr>
          <p:cNvPr id="15" name="Demo caveat"/>
          <p:cNvSpPr txBox="1"/>
          <p:nvPr/>
        </p:nvSpPr>
        <p:spPr>
          <a:xfrm>
            <a:off x="1828800" y="18333720"/>
            <a:ext cx="32918400" cy="1280160"/>
          </a:xfrm>
          <a:prstGeom prst="rect">
            <a:avLst/>
          </a:prstGeom>
          <a:noFill/>
        </p:spPr>
        <p:txBody>
          <a:bodyPr wrap="square" lIns="0" rIns="0" tIns="0" bIns="0">
            <a:spAutoFit/>
          </a:bodyPr>
          <a:lstStyle/>
          <a:p>
            <a:pPr>
              <a:spcAft>
                <a:spcPts val="800"/>
              </a:spcAft>
            </a:pPr>
            <a:r>
              <a:rPr sz="2700">
                <a:solidFill>
                  <a:srgbClr val="555555"/>
                </a:solidFill>
                <a:latin typeface="NVIDIA Sans"/>
              </a:rPr>
              <a:t>119 new frames / 4.958 s per continuation · 20% history noise · video prefix off.
ASR and LLM share GPUs 6 / 7. Pipeline and continuation are on slide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Retained single-GPU study at 1344 × 768 · Separate from the eight-GPU roadmap</a:t>
            </a:r>
          </a:p>
        </p:txBody>
      </p:sp>
      <p:sp>
        <p:nvSpPr>
          <p:cNvPr id="4" name="Title 3"/>
          <p:cNvSpPr>
            <a:spLocks noGrp="1"/>
          </p:cNvSpPr>
          <p:nvPr>
            <p:ph type="title"/>
          </p:nvPr>
        </p:nvSpPr>
        <p:spPr/>
        <p:txBody>
          <a:bodyPr/>
          <a:lstStyle/>
          <a:p>
            <a:r>
              <a:t>Prior Study: Quantization Quality</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sample; no general quality claim · LPIPS lower / SSIM higher means closer to BF16</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11</a:t>
            </a:fld>
            <a:endParaRPr lang="en-US"/>
          </a:p>
        </p:txBody>
      </p:sp>
      <p:sp>
        <p:nvSpPr>
          <p:cNvPr id="7" name="BF16 Reference"/>
          <p:cNvSpPr txBox="1"/>
          <p:nvPr/>
        </p:nvSpPr>
        <p:spPr>
          <a:xfrm>
            <a:off x="164592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6858000"/>
            <a:ext cx="8046720" cy="4598125"/>
          </a:xfrm>
          <a:prstGeom prst="rect">
            <a:avLst/>
          </a:prstGeom>
          <a:ln w="9525">
            <a:solidFill>
              <a:srgbClr val="A7A7A7"/>
            </a:solidFill>
          </a:ln>
        </p:spPr>
      </p:pic>
      <p:sp>
        <p:nvSpPr>
          <p:cNvPr id="9" name="BF16 weights"/>
          <p:cNvSpPr txBox="1"/>
          <p:nvPr/>
        </p:nvSpPr>
        <p:spPr>
          <a:xfrm>
            <a:off x="164592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BF16 weights</a:t>
            </a:r>
          </a:p>
          <a:p>
            <a:pPr algn="ctr">
              <a:lnSpc>
                <a:spcPct val="108000"/>
              </a:lnSpc>
              <a:spcBef>
                <a:spcPts val="0"/>
              </a:spcBef>
              <a:spcAft>
                <a:spcPts val="1000"/>
              </a:spcAft>
            </a:pPr>
            <a:r>
              <a:rPr sz="2900" b="0">
                <a:solidFill>
                  <a:srgbClr val="313131"/>
                </a:solidFill>
                <a:latin typeface="NVIDIA Sans"/>
              </a:rPr>
              <a:t>cuDNN BF16 attention</a:t>
            </a:r>
          </a:p>
        </p:txBody>
      </p:sp>
      <p:sp>
        <p:nvSpPr>
          <p:cNvPr id="10" name="Request: 152.58 s*"/>
          <p:cNvSpPr txBox="1"/>
          <p:nvPr/>
        </p:nvSpPr>
        <p:spPr>
          <a:xfrm>
            <a:off x="164592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152.58 s*</a:t>
            </a:r>
          </a:p>
        </p:txBody>
      </p:sp>
      <p:sp>
        <p:nvSpPr>
          <p:cNvPr id="11" name="LPIPS 0.0000  |  SSIM 1.0000"/>
          <p:cNvSpPr txBox="1"/>
          <p:nvPr/>
        </p:nvSpPr>
        <p:spPr>
          <a:xfrm>
            <a:off x="164592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0.0000  |  SSIM 1.0000</a:t>
            </a:r>
          </a:p>
        </p:txBody>
      </p:sp>
      <p:sp>
        <p:nvSpPr>
          <p:cNvPr id="12" name="Online NVFP4"/>
          <p:cNvSpPr txBox="1"/>
          <p:nvPr/>
        </p:nvSpPr>
        <p:spPr>
          <a:xfrm>
            <a:off x="1005840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6858000"/>
            <a:ext cx="8046720" cy="4598125"/>
          </a:xfrm>
          <a:prstGeom prst="rect">
            <a:avLst/>
          </a:prstGeom>
          <a:ln w="9525">
            <a:solidFill>
              <a:srgbClr val="A7A7A7"/>
            </a:solidFill>
          </a:ln>
        </p:spPr>
      </p:pic>
      <p:sp>
        <p:nvSpPr>
          <p:cNvPr id="14" name="Fresh BF16-derived NVFP4"/>
          <p:cNvSpPr txBox="1"/>
          <p:nvPr/>
        </p:nvSpPr>
        <p:spPr>
          <a:xfrm>
            <a:off x="1005840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Fresh BF16-derived NVFP4</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15" name="Request: 89.12 s*"/>
          <p:cNvSpPr txBox="1"/>
          <p:nvPr/>
        </p:nvSpPr>
        <p:spPr>
          <a:xfrm>
            <a:off x="1005840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89.12 s*</a:t>
            </a:r>
          </a:p>
        </p:txBody>
      </p:sp>
      <p:sp>
        <p:nvSpPr>
          <p:cNvPr id="16" name="LPIPS 0.2313  |  SSIM 0.5488"/>
          <p:cNvSpPr txBox="1"/>
          <p:nvPr/>
        </p:nvSpPr>
        <p:spPr>
          <a:xfrm>
            <a:off x="1005840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0.2313  |  SSIM 0.5488</a:t>
            </a:r>
          </a:p>
        </p:txBody>
      </p:sp>
      <p:sp>
        <p:nvSpPr>
          <p:cNvPr id="17" name="QAD NVFP4"/>
          <p:cNvSpPr txBox="1"/>
          <p:nvPr/>
        </p:nvSpPr>
        <p:spPr>
          <a:xfrm>
            <a:off x="1847088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6858000"/>
            <a:ext cx="8046720" cy="4598125"/>
          </a:xfrm>
          <a:prstGeom prst="rect">
            <a:avLst/>
          </a:prstGeom>
          <a:ln w="9525">
            <a:solidFill>
              <a:srgbClr val="A7A7A7"/>
            </a:solidFill>
          </a:ln>
        </p:spPr>
      </p:pic>
      <p:sp>
        <p:nvSpPr>
          <p:cNvPr id="19" name="QAD weights + native scales"/>
          <p:cNvSpPr txBox="1"/>
          <p:nvPr/>
        </p:nvSpPr>
        <p:spPr>
          <a:xfrm>
            <a:off x="1847088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QAD weights + native scales</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20" name="Request: 84.47 s*"/>
          <p:cNvSpPr txBox="1"/>
          <p:nvPr/>
        </p:nvSpPr>
        <p:spPr>
          <a:xfrm>
            <a:off x="1847088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84.47 s*</a:t>
            </a:r>
          </a:p>
        </p:txBody>
      </p:sp>
      <p:sp>
        <p:nvSpPr>
          <p:cNvPr id="21" name="LPIPS 0.2177  |  SSIM 0.6225"/>
          <p:cNvSpPr txBox="1"/>
          <p:nvPr/>
        </p:nvSpPr>
        <p:spPr>
          <a:xfrm>
            <a:off x="1847088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0.2177  |  SSIM 0.6225</a:t>
            </a:r>
          </a:p>
        </p:txBody>
      </p:sp>
      <p:sp>
        <p:nvSpPr>
          <p:cNvPr id="22" name="QAD + Optimized FP4"/>
          <p:cNvSpPr txBox="1"/>
          <p:nvPr/>
        </p:nvSpPr>
        <p:spPr>
          <a:xfrm>
            <a:off x="2688336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6858000"/>
            <a:ext cx="8046720" cy="4598125"/>
          </a:xfrm>
          <a:prstGeom prst="rect">
            <a:avLst/>
          </a:prstGeom>
          <a:ln w="9525">
            <a:solidFill>
              <a:srgbClr val="A7A7A7"/>
            </a:solidFill>
          </a:ln>
        </p:spPr>
      </p:pic>
      <p:sp>
        <p:nvSpPr>
          <p:cNvPr id="24" name="Same QAD encoder / decoder"/>
          <p:cNvSpPr txBox="1"/>
          <p:nvPr/>
        </p:nvSpPr>
        <p:spPr>
          <a:xfrm>
            <a:off x="2688336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Unified prefix / video attention</a:t>
            </a:r>
            <a:br>
              <a:rPr sz="2900" b="0">
                <a:solidFill>
                  <a:srgbClr val="313131"/>
                </a:solidFill>
                <a:latin typeface="NVIDIA Sans"/>
              </a:rPr>
            </a:br>
            <a:r>
              <a:rPr sz="2900" b="0">
                <a:solidFill>
                  <a:srgbClr val="313131"/>
                </a:solidFill>
                <a:latin typeface="NVIDIA Sans"/>
              </a:rPr>
              <a:t>Device-aware SM scheduling</a:t>
            </a:r>
          </a:p>
        </p:txBody>
      </p:sp>
      <p:sp>
        <p:nvSpPr>
          <p:cNvPr id="25" name="Request: 69.95 s*"/>
          <p:cNvSpPr txBox="1"/>
          <p:nvPr/>
        </p:nvSpPr>
        <p:spPr>
          <a:xfrm>
            <a:off x="2688336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69.95 s*</a:t>
            </a:r>
          </a:p>
        </p:txBody>
      </p:sp>
      <p:sp>
        <p:nvSpPr>
          <p:cNvPr id="26" name="LPIPS 0.2169  |  SSIM 0.6222"/>
          <p:cNvSpPr txBox="1"/>
          <p:nvPr/>
        </p:nvSpPr>
        <p:spPr>
          <a:xfrm>
            <a:off x="2688336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0.2169  |  SSIM 0.6222</a:t>
            </a:r>
          </a:p>
        </p:txBody>
      </p:sp>
      <p:sp>
        <p:nvSpPr>
          <p:cNvPr id="27" name="Quantized arms include DiT, language encoder and video decoder."/>
          <p:cNvSpPr txBox="1"/>
          <p:nvPr/>
        </p:nvSpPr>
        <p:spPr>
          <a:xfrm>
            <a:off x="1828800" y="16459200"/>
            <a:ext cx="3291840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76B900"/>
                </a:solidFill>
                <a:latin typeface="NVIDIA Sans Medium"/>
              </a:rPr>
              <a:t>Quantized arms include DiT, language encoder and video decoder.</a:t>
            </a:r>
          </a:p>
        </p:txBody>
      </p:sp>
      <p:sp>
        <p:nvSpPr>
          <p:cNvPr id="28" name="1344 × 768 · 124 frames at 24 FPS · 8 steps · Seed 1234 · VSA tile128"/>
          <p:cNvSpPr txBox="1"/>
          <p:nvPr/>
        </p:nvSpPr>
        <p:spPr>
          <a:xfrm>
            <a:off x="1828800" y="17510760"/>
            <a:ext cx="32918400" cy="7315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1344 × 768 · 124 frames at 24 FPS · 8 steps · Seed 1234 · VSA tile128</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*Single requests with CPU offload. GPUs: BF16 0; Online / QAD 3; Native FP4 1.</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111111"/>
                </a:solidFill>
                <a:latin typeface="NVIDIA Sans Medium"/>
              </a:rPr>
              <a:t>Three Ideas Behind Faster Generation</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555555"/>
                </a:solidFill>
                <a:latin typeface="NVIDIA Sans"/>
              </a:rPr>
              <a:t>Technical overview · detailed algorithms and source excerpts remain available on hidden slides</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111111"/>
                </a:solidFill>
                <a:latin typeface="NVIDIA Sans"/>
              </a:rPr>
              <a:t>12</a:t>
            </a:r>
          </a:p>
        </p:txBody>
      </p:sp>
      <p:sp>
        <p:nvSpPr>
          <p:cNvPr id="5" name="Overview panel 0"/>
          <p:cNvSpPr/>
          <p:nvPr/>
        </p:nvSpPr>
        <p:spPr>
          <a:xfrm>
            <a:off x="1828800" y="502920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Less model work</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Few-step distillation reduces evaluations.</a:t>
            </a:r>
          </a:p>
          <a:p>
            <a:pPr>
              <a:spcAft>
                <a:spcPts val="800"/>
              </a:spcAft>
            </a:pPr>
            <a:r>
              <a:rPr sz="3500">
                <a:solidFill>
                  <a:srgbClr val="111111"/>
                </a:solidFill>
                <a:latin typeface="NVIDIA Sans"/>
              </a:rPr>
              <a:t>Sparse attention concentrates work on selected regions.</a:t>
            </a:r>
          </a:p>
          <a:p>
            <a:pPr>
              <a:spcAft>
                <a:spcPts val="800"/>
              </a:spcAft>
            </a:pPr>
            <a:r>
              <a:rPr sz="3500">
                <a:solidFill>
                  <a:srgbClr val="111111"/>
                </a:solidFill>
                <a:latin typeface="NVIDIA Sans"/>
              </a:rPr>
              <a:t>Quantized inference lowers arithmetic and memory cost.</a:t>
            </a:r>
          </a:p>
        </p:txBody>
      </p:sp>
      <p:sp>
        <p:nvSpPr>
          <p:cNvPr id="8" name="Overview panel 1"/>
          <p:cNvSpPr/>
          <p:nvPr/>
        </p:nvSpPr>
        <p:spPr>
          <a:xfrm>
            <a:off x="1828800" y="928116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Overlap across eight GPUs</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Ulysses distributes attention across heads.</a:t>
            </a:r>
          </a:p>
          <a:p>
            <a:pPr>
              <a:spcAft>
                <a:spcPts val="800"/>
              </a:spcAft>
            </a:pPr>
            <a:r>
              <a:rPr sz="3500">
                <a:solidFill>
                  <a:srgbClr val="111111"/>
                </a:solidFill>
                <a:latin typeface="NVIDIA Sans"/>
              </a:rPr>
              <a:t>RDMA carries the exchanges.</a:t>
            </a:r>
          </a:p>
          <a:p>
            <a:pPr>
              <a:spcAft>
                <a:spcPts val="800"/>
              </a:spcAft>
            </a:pPr>
            <a:r>
              <a:rPr sz="3500">
                <a:solidFill>
                  <a:srgbClr val="111111"/>
                </a:solidFill>
                <a:latin typeface="NVIDIA Sans"/>
              </a:rPr>
              <a:t>Head bands overlap transfer with attention compute.</a:t>
            </a:r>
          </a:p>
        </p:txBody>
      </p:sp>
      <p:sp>
        <p:nvSpPr>
          <p:cNvPr id="11" name="Overview panel 2"/>
          <p:cNvSpPr/>
          <p:nvPr/>
        </p:nvSpPr>
        <p:spPr>
          <a:xfrm>
            <a:off x="1828800" y="1353312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Keep the output path moving</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CUDA Graph replays stable head-band compute.
Fused packing reduces intermediate copies.
NVFP4 VAE and MP4 pre-encoding reduce output cost.</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555555"/>
                </a:solidFill>
                <a:latin typeface="NVIDIA Sans"/>
              </a:rPr>
              <a:t>These are optimization families. Use each demo’s own recipe and measurements; the four-step avatar and slide 18 are distinct workloads.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13</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14</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15</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16</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17</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Optimization Path: E2E Speedup</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960 × 544 · 124 frames / 24 FPS · 8 exclusive GPUs · same inputs and seed 43</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18</a:t>
            </a:r>
          </a:p>
        </p:txBody>
      </p:sp>
      <p:sp>
        <p:nvSpPr>
          <p:cNvPr id="5" name="Table header"/>
          <p:cNvSpPr/>
          <p:nvPr/>
        </p:nvSpPr>
        <p:spPr>
          <a:xfrm>
            <a:off x="1828800" y="4709160"/>
            <a:ext cx="32918400" cy="1234440"/>
          </a:xfrm>
          <a:prstGeom prst="rect">
            <a:avLst/>
          </a:prstGeom>
          <a:solidFill>
            <a:srgbClr val="E3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892040"/>
            <a:ext cx="173736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Stage</a:t>
            </a:r>
          </a:p>
        </p:txBody>
      </p:sp>
      <p:sp>
        <p:nvSpPr>
          <p:cNvPr id="7" name="Header Cumulative change"/>
          <p:cNvSpPr txBox="1"/>
          <p:nvPr/>
        </p:nvSpPr>
        <p:spPr>
          <a:xfrm>
            <a:off x="4160520" y="4892040"/>
            <a:ext cx="1645920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Cumulative change</a:t>
            </a:r>
          </a:p>
        </p:txBody>
      </p:sp>
      <p:sp>
        <p:nvSpPr>
          <p:cNvPr id="8" name="Header Median (s)"/>
          <p:cNvSpPr txBox="1"/>
          <p:nvPr/>
        </p:nvSpPr>
        <p:spPr>
          <a:xfrm>
            <a:off x="21076919" y="4892040"/>
            <a:ext cx="356616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Median (s)</a:t>
            </a:r>
          </a:p>
        </p:txBody>
      </p:sp>
      <p:sp>
        <p:nvSpPr>
          <p:cNvPr id="9" name="Header E2E speedup&#10;vs. previous"/>
          <p:cNvSpPr txBox="1"/>
          <p:nvPr/>
        </p:nvSpPr>
        <p:spPr>
          <a:xfrm>
            <a:off x="25100280" y="4892040"/>
            <a:ext cx="603504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E2E speedup</a:t>
            </a:r>
          </a:p>
          <a:p>
            <a:pPr>
              <a:spcBef>
                <a:spcPts val="0"/>
              </a:spcBef>
              <a:spcAft>
                <a:spcPts val="0"/>
              </a:spcAft>
            </a:pPr>
            <a:r>
              <a:rPr sz="2800" b="1">
                <a:solidFill>
                  <a:srgbClr val="17211A"/>
                </a:solidFill>
                <a:latin typeface="NVIDIA Sans"/>
              </a:rPr>
              <a:t>vs. previous</a:t>
            </a:r>
          </a:p>
        </p:txBody>
      </p:sp>
      <p:sp>
        <p:nvSpPr>
          <p:cNvPr id="10" name="Header RTF"/>
          <p:cNvSpPr txBox="1"/>
          <p:nvPr/>
        </p:nvSpPr>
        <p:spPr>
          <a:xfrm>
            <a:off x="31683960" y="4892040"/>
            <a:ext cx="292608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RTF</a:t>
            </a:r>
          </a:p>
        </p:txBody>
      </p:sp>
      <p:sp>
        <p:nvSpPr>
          <p:cNvPr id="11" name="Row background 0"/>
          <p:cNvSpPr/>
          <p:nvPr/>
        </p:nvSpPr>
        <p:spPr>
          <a:xfrm>
            <a:off x="1828800" y="609904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0 Stage"/>
          <p:cNvSpPr txBox="1"/>
          <p:nvPr/>
        </p:nvSpPr>
        <p:spPr>
          <a:xfrm>
            <a:off x="1965960" y="62910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00</a:t>
            </a:r>
          </a:p>
        </p:txBody>
      </p:sp>
      <p:sp>
        <p:nvSpPr>
          <p:cNvPr id="13" name="Stage 00 Cumulative change"/>
          <p:cNvSpPr txBox="1"/>
          <p:nvPr/>
        </p:nvSpPr>
        <p:spPr>
          <a:xfrm>
            <a:off x="4160520" y="62910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Baseline · original BF16 / dense / 50 evaluations</a:t>
            </a:r>
          </a:p>
        </p:txBody>
      </p:sp>
      <p:sp>
        <p:nvSpPr>
          <p:cNvPr id="14" name="Stage 00 Median (s)"/>
          <p:cNvSpPr txBox="1"/>
          <p:nvPr/>
        </p:nvSpPr>
        <p:spPr>
          <a:xfrm>
            <a:off x="21076919" y="62910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213.402</a:t>
            </a:r>
          </a:p>
        </p:txBody>
      </p:sp>
      <p:sp>
        <p:nvSpPr>
          <p:cNvPr id="15" name="Stage 00 E2E speedup&#10;vs. previous"/>
          <p:cNvSpPr txBox="1"/>
          <p:nvPr/>
        </p:nvSpPr>
        <p:spPr>
          <a:xfrm>
            <a:off x="25100280" y="62910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a:t>
            </a:r>
          </a:p>
        </p:txBody>
      </p:sp>
      <p:sp>
        <p:nvSpPr>
          <p:cNvPr id="16" name="Stage 00 RTF"/>
          <p:cNvSpPr txBox="1"/>
          <p:nvPr/>
        </p:nvSpPr>
        <p:spPr>
          <a:xfrm>
            <a:off x="31683960" y="62910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41.304</a:t>
            </a:r>
          </a:p>
        </p:txBody>
      </p:sp>
      <p:sp>
        <p:nvSpPr>
          <p:cNvPr id="17" name="Stage 01 Stage"/>
          <p:cNvSpPr txBox="1"/>
          <p:nvPr/>
        </p:nvSpPr>
        <p:spPr>
          <a:xfrm>
            <a:off x="1965960" y="734263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01</a:t>
            </a:r>
          </a:p>
        </p:txBody>
      </p:sp>
      <p:sp>
        <p:nvSpPr>
          <p:cNvPr id="18" name="Stage 01 Cumulative change"/>
          <p:cNvSpPr txBox="1"/>
          <p:nvPr/>
        </p:nvSpPr>
        <p:spPr>
          <a:xfrm>
            <a:off x="4160520" y="734263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PDD · 50 → 8 evaluations</a:t>
            </a:r>
          </a:p>
        </p:txBody>
      </p:sp>
      <p:sp>
        <p:nvSpPr>
          <p:cNvPr id="19" name="Stage 01 Median (s)"/>
          <p:cNvSpPr txBox="1"/>
          <p:nvPr/>
        </p:nvSpPr>
        <p:spPr>
          <a:xfrm>
            <a:off x="21076919" y="734263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44.327</a:t>
            </a:r>
          </a:p>
        </p:txBody>
      </p:sp>
      <p:sp>
        <p:nvSpPr>
          <p:cNvPr id="20" name="Stage 01 E2E speedup&#10;vs. previous"/>
          <p:cNvSpPr txBox="1"/>
          <p:nvPr/>
        </p:nvSpPr>
        <p:spPr>
          <a:xfrm>
            <a:off x="25100280" y="734263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4.814×†</a:t>
            </a:r>
          </a:p>
        </p:txBody>
      </p:sp>
      <p:sp>
        <p:nvSpPr>
          <p:cNvPr id="21" name="Stage 01 RTF"/>
          <p:cNvSpPr txBox="1"/>
          <p:nvPr/>
        </p:nvSpPr>
        <p:spPr>
          <a:xfrm>
            <a:off x="31683960" y="734263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8.579</a:t>
            </a:r>
          </a:p>
        </p:txBody>
      </p:sp>
      <p:sp>
        <p:nvSpPr>
          <p:cNvPr id="22" name="Row background 2"/>
          <p:cNvSpPr/>
          <p:nvPr/>
        </p:nvSpPr>
        <p:spPr>
          <a:xfrm>
            <a:off x="1828800" y="820216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02 Stage"/>
          <p:cNvSpPr txBox="1"/>
          <p:nvPr/>
        </p:nvSpPr>
        <p:spPr>
          <a:xfrm>
            <a:off x="1965960" y="83941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02</a:t>
            </a:r>
          </a:p>
        </p:txBody>
      </p:sp>
      <p:sp>
        <p:nvSpPr>
          <p:cNvPr id="24" name="Stage 02 Cumulative change"/>
          <p:cNvSpPr txBox="1"/>
          <p:nvPr/>
        </p:nvSpPr>
        <p:spPr>
          <a:xfrm>
            <a:off x="4160520" y="83941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Trained VSA · native 8-step model / runtime</a:t>
            </a:r>
          </a:p>
        </p:txBody>
      </p:sp>
      <p:sp>
        <p:nvSpPr>
          <p:cNvPr id="25" name="Stage 02 Median (s)"/>
          <p:cNvSpPr txBox="1"/>
          <p:nvPr/>
        </p:nvSpPr>
        <p:spPr>
          <a:xfrm>
            <a:off x="21076919" y="83941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25.915</a:t>
            </a:r>
          </a:p>
        </p:txBody>
      </p:sp>
      <p:sp>
        <p:nvSpPr>
          <p:cNvPr id="26" name="Stage 02 E2E speedup&#10;vs. previous"/>
          <p:cNvSpPr txBox="1"/>
          <p:nvPr/>
        </p:nvSpPr>
        <p:spPr>
          <a:xfrm>
            <a:off x="25100280" y="83941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1.710×</a:t>
            </a:r>
          </a:p>
        </p:txBody>
      </p:sp>
      <p:sp>
        <p:nvSpPr>
          <p:cNvPr id="27" name="Stage 02 RTF"/>
          <p:cNvSpPr txBox="1"/>
          <p:nvPr/>
        </p:nvSpPr>
        <p:spPr>
          <a:xfrm>
            <a:off x="31683960" y="83941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5.016</a:t>
            </a:r>
          </a:p>
        </p:txBody>
      </p:sp>
      <p:sp>
        <p:nvSpPr>
          <p:cNvPr id="28" name="Stage 03 Stage"/>
          <p:cNvSpPr txBox="1"/>
          <p:nvPr/>
        </p:nvSpPr>
        <p:spPr>
          <a:xfrm>
            <a:off x="1965960" y="944575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03</a:t>
            </a:r>
          </a:p>
        </p:txBody>
      </p:sp>
      <p:sp>
        <p:nvSpPr>
          <p:cNvPr id="29" name="Stage 03 Cumulative change"/>
          <p:cNvSpPr txBox="1"/>
          <p:nvPr/>
        </p:nvSpPr>
        <p:spPr>
          <a:xfrm>
            <a:off x="4160520" y="944575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QAD NVFP4 DiT / native FP4 attention</a:t>
            </a:r>
          </a:p>
        </p:txBody>
      </p:sp>
      <p:sp>
        <p:nvSpPr>
          <p:cNvPr id="30" name="Stage 03 Median (s)"/>
          <p:cNvSpPr txBox="1"/>
          <p:nvPr/>
        </p:nvSpPr>
        <p:spPr>
          <a:xfrm>
            <a:off x="21076919" y="944575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19.460</a:t>
            </a:r>
          </a:p>
        </p:txBody>
      </p:sp>
      <p:sp>
        <p:nvSpPr>
          <p:cNvPr id="31" name="Stage 03 E2E speedup&#10;vs. previous"/>
          <p:cNvSpPr txBox="1"/>
          <p:nvPr/>
        </p:nvSpPr>
        <p:spPr>
          <a:xfrm>
            <a:off x="25100280" y="944575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1.332×</a:t>
            </a:r>
          </a:p>
        </p:txBody>
      </p:sp>
      <p:sp>
        <p:nvSpPr>
          <p:cNvPr id="32" name="Stage 03 RTF"/>
          <p:cNvSpPr txBox="1"/>
          <p:nvPr/>
        </p:nvSpPr>
        <p:spPr>
          <a:xfrm>
            <a:off x="31683960" y="944575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3.767</a:t>
            </a:r>
          </a:p>
        </p:txBody>
      </p:sp>
      <p:sp>
        <p:nvSpPr>
          <p:cNvPr id="33" name="Row background 4"/>
          <p:cNvSpPr/>
          <p:nvPr/>
        </p:nvSpPr>
        <p:spPr>
          <a:xfrm>
            <a:off x="1828800" y="1030528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04 Stage"/>
          <p:cNvSpPr txBox="1"/>
          <p:nvPr/>
        </p:nvSpPr>
        <p:spPr>
          <a:xfrm>
            <a:off x="1965960" y="1049731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04</a:t>
            </a:r>
          </a:p>
        </p:txBody>
      </p:sp>
      <p:sp>
        <p:nvSpPr>
          <p:cNvPr id="35" name="Stage 04 Cumulative change"/>
          <p:cNvSpPr txBox="1"/>
          <p:nvPr/>
        </p:nvSpPr>
        <p:spPr>
          <a:xfrm>
            <a:off x="4160520" y="1049731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RDMA / direct layout / V-gate overlap</a:t>
            </a:r>
          </a:p>
        </p:txBody>
      </p:sp>
      <p:sp>
        <p:nvSpPr>
          <p:cNvPr id="36" name="Stage 04 Median (s)"/>
          <p:cNvSpPr txBox="1"/>
          <p:nvPr/>
        </p:nvSpPr>
        <p:spPr>
          <a:xfrm>
            <a:off x="21076919" y="1049731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6.832</a:t>
            </a:r>
          </a:p>
        </p:txBody>
      </p:sp>
      <p:sp>
        <p:nvSpPr>
          <p:cNvPr id="37" name="Stage 04 E2E speedup&#10;vs. previous"/>
          <p:cNvSpPr txBox="1"/>
          <p:nvPr/>
        </p:nvSpPr>
        <p:spPr>
          <a:xfrm>
            <a:off x="25100280" y="1049731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2.848×</a:t>
            </a:r>
          </a:p>
        </p:txBody>
      </p:sp>
      <p:sp>
        <p:nvSpPr>
          <p:cNvPr id="38" name="Stage 04 RTF"/>
          <p:cNvSpPr txBox="1"/>
          <p:nvPr/>
        </p:nvSpPr>
        <p:spPr>
          <a:xfrm>
            <a:off x="31683960" y="1049731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1.322</a:t>
            </a:r>
          </a:p>
        </p:txBody>
      </p:sp>
      <p:sp>
        <p:nvSpPr>
          <p:cNvPr id="39" name="Stage 05 Stage"/>
          <p:cNvSpPr txBox="1"/>
          <p:nvPr/>
        </p:nvSpPr>
        <p:spPr>
          <a:xfrm>
            <a:off x="1965960" y="115488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05</a:t>
            </a:r>
          </a:p>
        </p:txBody>
      </p:sp>
      <p:sp>
        <p:nvSpPr>
          <p:cNvPr id="40" name="Stage 05 Cumulative change"/>
          <p:cNvSpPr txBox="1"/>
          <p:nvPr/>
        </p:nvSpPr>
        <p:spPr>
          <a:xfrm>
            <a:off x="4160520" y="115488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+ 2 / 3 / 2 head pipeline</a:t>
            </a:r>
          </a:p>
        </p:txBody>
      </p:sp>
      <p:sp>
        <p:nvSpPr>
          <p:cNvPr id="41" name="Stage 05 Median (s)"/>
          <p:cNvSpPr txBox="1"/>
          <p:nvPr/>
        </p:nvSpPr>
        <p:spPr>
          <a:xfrm>
            <a:off x="21076919" y="115488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6.407</a:t>
            </a:r>
          </a:p>
        </p:txBody>
      </p:sp>
      <p:sp>
        <p:nvSpPr>
          <p:cNvPr id="42" name="Stage 05 E2E speedup&#10;vs. previous"/>
          <p:cNvSpPr txBox="1"/>
          <p:nvPr/>
        </p:nvSpPr>
        <p:spPr>
          <a:xfrm>
            <a:off x="25100280" y="115488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1.066×</a:t>
            </a:r>
          </a:p>
        </p:txBody>
      </p:sp>
      <p:sp>
        <p:nvSpPr>
          <p:cNvPr id="43" name="Stage 05 RTF"/>
          <p:cNvSpPr txBox="1"/>
          <p:nvPr/>
        </p:nvSpPr>
        <p:spPr>
          <a:xfrm>
            <a:off x="31683960" y="115488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1.240</a:t>
            </a:r>
          </a:p>
        </p:txBody>
      </p:sp>
      <p:sp>
        <p:nvSpPr>
          <p:cNvPr id="44" name="Row background 6"/>
          <p:cNvSpPr/>
          <p:nvPr/>
        </p:nvSpPr>
        <p:spPr>
          <a:xfrm>
            <a:off x="1828800" y="1240840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06 Stage"/>
          <p:cNvSpPr txBox="1"/>
          <p:nvPr/>
        </p:nvSpPr>
        <p:spPr>
          <a:xfrm>
            <a:off x="1965960" y="1260043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06</a:t>
            </a:r>
          </a:p>
        </p:txBody>
      </p:sp>
      <p:sp>
        <p:nvSpPr>
          <p:cNvPr id="46" name="Stage 06 Cumulative change"/>
          <p:cNvSpPr txBox="1"/>
          <p:nvPr/>
        </p:nvSpPr>
        <p:spPr>
          <a:xfrm>
            <a:off x="4160520" y="1260043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Compute CUDA graphs</a:t>
            </a:r>
          </a:p>
        </p:txBody>
      </p:sp>
      <p:sp>
        <p:nvSpPr>
          <p:cNvPr id="47" name="Stage 06 Median (s)"/>
          <p:cNvSpPr txBox="1"/>
          <p:nvPr/>
        </p:nvSpPr>
        <p:spPr>
          <a:xfrm>
            <a:off x="21076919" y="1260043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6.193</a:t>
            </a:r>
          </a:p>
        </p:txBody>
      </p:sp>
      <p:sp>
        <p:nvSpPr>
          <p:cNvPr id="48" name="Stage 06 E2E speedup&#10;vs. previous"/>
          <p:cNvSpPr txBox="1"/>
          <p:nvPr/>
        </p:nvSpPr>
        <p:spPr>
          <a:xfrm>
            <a:off x="25100280" y="1260043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1.035×</a:t>
            </a:r>
          </a:p>
        </p:txBody>
      </p:sp>
      <p:sp>
        <p:nvSpPr>
          <p:cNvPr id="49" name="Stage 06 RTF"/>
          <p:cNvSpPr txBox="1"/>
          <p:nvPr/>
        </p:nvSpPr>
        <p:spPr>
          <a:xfrm>
            <a:off x="31683960" y="1260043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1.199</a:t>
            </a:r>
          </a:p>
        </p:txBody>
      </p:sp>
      <p:sp>
        <p:nvSpPr>
          <p:cNvPr id="50" name="Stage 07 Stage"/>
          <p:cNvSpPr txBox="1"/>
          <p:nvPr/>
        </p:nvSpPr>
        <p:spPr>
          <a:xfrm>
            <a:off x="1965960" y="136519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07</a:t>
            </a:r>
          </a:p>
        </p:txBody>
      </p:sp>
      <p:sp>
        <p:nvSpPr>
          <p:cNvPr id="51" name="Stage 07 Cumulative change"/>
          <p:cNvSpPr txBox="1"/>
          <p:nvPr/>
        </p:nvSpPr>
        <p:spPr>
          <a:xfrm>
            <a:off x="4160520" y="136519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+ 36-layer NVFP4 VAE / MP4 pre-encoding</a:t>
            </a:r>
          </a:p>
        </p:txBody>
      </p:sp>
      <p:sp>
        <p:nvSpPr>
          <p:cNvPr id="52" name="Stage 07 Median (s)"/>
          <p:cNvSpPr txBox="1"/>
          <p:nvPr/>
        </p:nvSpPr>
        <p:spPr>
          <a:xfrm>
            <a:off x="21076919" y="136519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5.420</a:t>
            </a:r>
          </a:p>
        </p:txBody>
      </p:sp>
      <p:sp>
        <p:nvSpPr>
          <p:cNvPr id="53" name="Stage 07 E2E speedup&#10;vs. previous"/>
          <p:cNvSpPr txBox="1"/>
          <p:nvPr/>
        </p:nvSpPr>
        <p:spPr>
          <a:xfrm>
            <a:off x="25100280" y="136519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1.143×</a:t>
            </a:r>
          </a:p>
        </p:txBody>
      </p:sp>
      <p:sp>
        <p:nvSpPr>
          <p:cNvPr id="54" name="Stage 07 RTF"/>
          <p:cNvSpPr txBox="1"/>
          <p:nvPr/>
        </p:nvSpPr>
        <p:spPr>
          <a:xfrm>
            <a:off x="31683960" y="136519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1.049</a:t>
            </a:r>
          </a:p>
        </p:txBody>
      </p:sp>
      <p:sp>
        <p:nvSpPr>
          <p:cNvPr id="55" name="Row background 8"/>
          <p:cNvSpPr/>
          <p:nvPr/>
        </p:nvSpPr>
        <p:spPr>
          <a:xfrm>
            <a:off x="1828800" y="14511528"/>
            <a:ext cx="32918400" cy="100584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08–12 Stage"/>
          <p:cNvSpPr txBox="1"/>
          <p:nvPr/>
        </p:nvSpPr>
        <p:spPr>
          <a:xfrm>
            <a:off x="1965960" y="14703551"/>
            <a:ext cx="173736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08–12</a:t>
            </a:r>
          </a:p>
        </p:txBody>
      </p:sp>
      <p:sp>
        <p:nvSpPr>
          <p:cNvPr id="57" name="Stage 08–12 Cumulative change"/>
          <p:cNvSpPr txBox="1"/>
          <p:nvPr/>
        </p:nvSpPr>
        <p:spPr>
          <a:xfrm>
            <a:off x="4160520" y="14703551"/>
            <a:ext cx="1645920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 Output and data-movement optimizations</a:t>
            </a:r>
          </a:p>
        </p:txBody>
      </p:sp>
      <p:sp>
        <p:nvSpPr>
          <p:cNvPr id="58" name="Stage 08–12 Median (s)"/>
          <p:cNvSpPr txBox="1"/>
          <p:nvPr/>
        </p:nvSpPr>
        <p:spPr>
          <a:xfrm>
            <a:off x="21076919" y="14703551"/>
            <a:ext cx="356616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4.922</a:t>
            </a:r>
          </a:p>
        </p:txBody>
      </p:sp>
      <p:sp>
        <p:nvSpPr>
          <p:cNvPr id="59" name="Stage 08–12 E2E speedup&#10;vs. previous"/>
          <p:cNvSpPr txBox="1"/>
          <p:nvPr/>
        </p:nvSpPr>
        <p:spPr>
          <a:xfrm>
            <a:off x="25100280" y="14703551"/>
            <a:ext cx="603504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1.101×</a:t>
            </a:r>
          </a:p>
        </p:txBody>
      </p:sp>
      <p:sp>
        <p:nvSpPr>
          <p:cNvPr id="60" name="Stage 08–12 RTF"/>
          <p:cNvSpPr txBox="1"/>
          <p:nvPr/>
        </p:nvSpPr>
        <p:spPr>
          <a:xfrm>
            <a:off x="31683960" y="14703551"/>
            <a:ext cx="292608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0.953</a:t>
            </a:r>
          </a:p>
        </p:txBody>
      </p:sp>
      <p:sp>
        <p:nvSpPr>
          <p:cNvPr id="61" name="Grouped details"/>
          <p:cNvSpPr txBox="1"/>
          <p:nvPr/>
        </p:nvSpPr>
        <p:spPr>
          <a:xfrm>
            <a:off x="1828800" y="1586484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52604F"/>
                </a:solidFill>
                <a:latin typeface="NVIDIA Sans"/>
              </a:rPr>
              <a:t>08–12: fused tile / AAC preparation, direct I/O packing, compact routing and Q/K/V copy removal.</a:t>
            </a:r>
          </a:p>
        </p:txBody>
      </p:sp>
      <p:sp>
        <p:nvSpPr>
          <p:cNvPr id="62" name="Ratio definition"/>
          <p:cNvSpPr txBox="1"/>
          <p:nvPr/>
        </p:nvSpPr>
        <p:spPr>
          <a:xfrm>
            <a:off x="1828800" y="16642080"/>
            <a:ext cx="32918400" cy="64008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E2E speedup = previous displayed median ÷ current median. 08–12 compares the final result with stage 07.</a:t>
            </a:r>
          </a:p>
        </p:txBody>
      </p:sp>
      <p:sp>
        <p:nvSpPr>
          <p:cNvPr id="63" name="Final result"/>
          <p:cNvSpPr txBox="1"/>
          <p:nvPr/>
        </p:nvSpPr>
        <p:spPr>
          <a:xfrm>
            <a:off x="1828800" y="17465040"/>
            <a:ext cx="32918400" cy="731520"/>
          </a:xfrm>
          <a:prstGeom prst="rect">
            <a:avLst/>
          </a:prstGeom>
          <a:noFill/>
        </p:spPr>
        <p:txBody>
          <a:bodyPr wrap="square" lIns="18288" rIns="18288" tIns="0" bIns="0">
            <a:spAutoFit/>
          </a:bodyPr>
          <a:lstStyle/>
          <a:p>
            <a:pPr>
              <a:spcBef>
                <a:spcPts val="0"/>
              </a:spcBef>
              <a:spcAft>
                <a:spcPts val="0"/>
              </a:spcAft>
            </a:pPr>
            <a:r>
              <a:rPr sz="3300" b="1">
                <a:solidFill>
                  <a:srgbClr val="17211A"/>
                </a:solidFill>
                <a:latin typeface="NVIDIA Sans"/>
              </a:rPr>
              <a:t>Final 4.922 s · recheck 4.927 s · 6/6 requests &lt; 5 s · 4.5 s target not reached</a:t>
            </a:r>
          </a:p>
        </p:txBody>
      </p:sp>
      <p:sp>
        <p:nvSpPr>
          <p:cNvPr id="64" name="Baseline qualification"/>
          <p:cNvSpPr txBox="1"/>
          <p:nvPr/>
        </p:nvSpPr>
        <p:spPr>
          <a:xfrm>
            <a:off x="1828800" y="18333720"/>
            <a:ext cx="32918400" cy="594360"/>
          </a:xfrm>
          <a:prstGeom prst="rect">
            <a:avLst/>
          </a:prstGeom>
          <a:noFill/>
        </p:spPr>
        <p:txBody>
          <a:bodyPr wrap="square" lIns="18288" rIns="18288" tIns="0" bIns="0">
            <a:spAutoFit/>
          </a:bodyPr>
          <a:lstStyle/>
          <a:p>
            <a:pPr>
              <a:spcBef>
                <a:spcPts val="0"/>
              </a:spcBef>
              <a:spcAft>
                <a:spcPts val="0"/>
              </a:spcAft>
            </a:pPr>
            <a:r>
              <a:rPr sz="2500" b="0">
                <a:solidFill>
                  <a:srgbClr val="52604F"/>
                </a:solidFill>
                <a:latin typeface="NVIDIA Sans"/>
              </a:rPr>
              <a:t>† Recorded median ratio; baseline refreshed separately (n = 2). Stages 01–12 retain n = 3 each; no isolated 50→8-step gain claimed.</a:t>
            </a:r>
          </a:p>
        </p:txBody>
      </p:sp>
      <p:sp>
        <p:nvSpPr>
          <p:cNvPr id="65" name="Scope"/>
          <p:cNvSpPr txBox="1"/>
          <p:nvPr/>
        </p:nvSpPr>
        <p:spPr>
          <a:xfrm>
            <a:off x="1828800" y="1901952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52604F"/>
                </a:solidFill>
                <a:latin typeface="NVIDIA Sans"/>
              </a:rPr>
              <a:t>RTF = latency / 5.167 s. Standalone H3; ASR / LLM excluded. Model, schedule and precision changes are not all lossless.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Live Avatar: Pipeline and Continuation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960 × 544 · 24 FPS · 8 × SM120 GPUs · 124-frame first chunk / 119 new frames per continuation</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19</a:t>
            </a:r>
          </a:p>
        </p:txBody>
      </p:sp>
      <p:sp>
        <p:nvSpPr>
          <p:cNvPr id="5" name="Pipeline Microphone"/>
          <p:cNvSpPr/>
          <p:nvPr/>
        </p:nvSpPr>
        <p:spPr>
          <a:xfrm>
            <a:off x="1828800" y="4709160"/>
            <a:ext cx="4937760" cy="265176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icrophone"/>
          <p:cNvSpPr txBox="1"/>
          <p:nvPr/>
        </p:nvSpPr>
        <p:spPr>
          <a:xfrm>
            <a:off x="2148840" y="5074920"/>
            <a:ext cx="429768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Microphone</a:t>
            </a:r>
          </a:p>
        </p:txBody>
      </p:sp>
      <p:sp>
        <p:nvSpPr>
          <p:cNvPr id="7" name="Microphone detail"/>
          <p:cNvSpPr txBox="1"/>
          <p:nvPr/>
        </p:nvSpPr>
        <p:spPr>
          <a:xfrm>
            <a:off x="2148840" y="5989320"/>
            <a:ext cx="4297680" cy="100584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CPU Silero VAD</a:t>
            </a:r>
          </a:p>
          <a:p>
            <a:pPr>
              <a:spcBef>
                <a:spcPts val="0"/>
              </a:spcBef>
              <a:spcAft>
                <a:spcPts val="0"/>
              </a:spcAft>
            </a:pPr>
            <a:r>
              <a:rPr sz="2700" b="0">
                <a:solidFill>
                  <a:srgbClr val="17211A"/>
                </a:solidFill>
                <a:latin typeface="NVIDIA Sans"/>
              </a:rPr>
              <a:t>600 ms quiet endpoint</a:t>
            </a:r>
          </a:p>
        </p:txBody>
      </p:sp>
      <p:sp>
        <p:nvSpPr>
          <p:cNvPr id="8" name="Pipeline arrow 0"/>
          <p:cNvSpPr/>
          <p:nvPr/>
        </p:nvSpPr>
        <p:spPr>
          <a:xfrm>
            <a:off x="6858000" y="580644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ipeline ASR"/>
          <p:cNvSpPr/>
          <p:nvPr/>
        </p:nvSpPr>
        <p:spPr>
          <a:xfrm>
            <a:off x="7680960" y="4709160"/>
            <a:ext cx="6400800" cy="265176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SR"/>
          <p:cNvSpPr txBox="1"/>
          <p:nvPr/>
        </p:nvSpPr>
        <p:spPr>
          <a:xfrm>
            <a:off x="8001000" y="5074920"/>
            <a:ext cx="57607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ASR</a:t>
            </a:r>
          </a:p>
        </p:txBody>
      </p:sp>
      <p:sp>
        <p:nvSpPr>
          <p:cNvPr id="11" name="ASR detail"/>
          <p:cNvSpPr txBox="1"/>
          <p:nvPr/>
        </p:nvSpPr>
        <p:spPr>
          <a:xfrm>
            <a:off x="8001000" y="5989320"/>
            <a:ext cx="5760720" cy="100584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Qwen3-ASR-0.6B</a:t>
            </a:r>
          </a:p>
          <a:p>
            <a:pPr>
              <a:spcBef>
                <a:spcPts val="0"/>
              </a:spcBef>
              <a:spcAft>
                <a:spcPts val="0"/>
              </a:spcAft>
            </a:pPr>
            <a:r>
              <a:rPr sz="2700" b="0">
                <a:solidFill>
                  <a:srgbClr val="17211A"/>
                </a:solidFill>
                <a:latin typeface="NVIDIA Sans"/>
              </a:rPr>
              <a:t>BF16 · shared GPU 6</a:t>
            </a:r>
          </a:p>
        </p:txBody>
      </p:sp>
      <p:sp>
        <p:nvSpPr>
          <p:cNvPr id="12" name="Pipeline arrow 1"/>
          <p:cNvSpPr/>
          <p:nvPr/>
        </p:nvSpPr>
        <p:spPr>
          <a:xfrm>
            <a:off x="14173200" y="580644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ipeline LLM"/>
          <p:cNvSpPr/>
          <p:nvPr/>
        </p:nvSpPr>
        <p:spPr>
          <a:xfrm>
            <a:off x="14996159" y="4709160"/>
            <a:ext cx="6400800" cy="265176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LM"/>
          <p:cNvSpPr txBox="1"/>
          <p:nvPr/>
        </p:nvSpPr>
        <p:spPr>
          <a:xfrm>
            <a:off x="15316200" y="5074920"/>
            <a:ext cx="57607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LLM</a:t>
            </a:r>
          </a:p>
        </p:txBody>
      </p:sp>
      <p:sp>
        <p:nvSpPr>
          <p:cNvPr id="15" name="LLM detail"/>
          <p:cNvSpPr txBox="1"/>
          <p:nvPr/>
        </p:nvSpPr>
        <p:spPr>
          <a:xfrm>
            <a:off x="15316200" y="5989320"/>
            <a:ext cx="5760720" cy="100584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Qwen3-4B</a:t>
            </a:r>
          </a:p>
          <a:p>
            <a:pPr>
              <a:spcBef>
                <a:spcPts val="0"/>
              </a:spcBef>
              <a:spcAft>
                <a:spcPts val="0"/>
              </a:spcAft>
            </a:pPr>
            <a:r>
              <a:rPr sz="2700" b="0">
                <a:solidFill>
                  <a:srgbClr val="17211A"/>
                </a:solidFill>
                <a:latin typeface="NVIDIA Sans"/>
              </a:rPr>
              <a:t>BF16 · shared GPU 7</a:t>
            </a:r>
          </a:p>
        </p:txBody>
      </p:sp>
      <p:sp>
        <p:nvSpPr>
          <p:cNvPr id="16" name="Pipeline arrow 2"/>
          <p:cNvSpPr/>
          <p:nvPr/>
        </p:nvSpPr>
        <p:spPr>
          <a:xfrm>
            <a:off x="21488400" y="580644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ipeline H3"/>
          <p:cNvSpPr/>
          <p:nvPr/>
        </p:nvSpPr>
        <p:spPr>
          <a:xfrm>
            <a:off x="22311360" y="4709160"/>
            <a:ext cx="4206240" cy="265176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3"/>
          <p:cNvSpPr txBox="1"/>
          <p:nvPr/>
        </p:nvSpPr>
        <p:spPr>
          <a:xfrm>
            <a:off x="22631400" y="5074920"/>
            <a:ext cx="3566159"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H3</a:t>
            </a:r>
          </a:p>
        </p:txBody>
      </p:sp>
      <p:sp>
        <p:nvSpPr>
          <p:cNvPr id="19" name="Pipeline arrow 3"/>
          <p:cNvSpPr/>
          <p:nvPr/>
        </p:nvSpPr>
        <p:spPr>
          <a:xfrm>
            <a:off x="26609040" y="580644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ipeline Playback"/>
          <p:cNvSpPr/>
          <p:nvPr/>
        </p:nvSpPr>
        <p:spPr>
          <a:xfrm>
            <a:off x="27432000" y="4709160"/>
            <a:ext cx="7315200" cy="265176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layback"/>
          <p:cNvSpPr txBox="1"/>
          <p:nvPr/>
        </p:nvSpPr>
        <p:spPr>
          <a:xfrm>
            <a:off x="27752040" y="5074920"/>
            <a:ext cx="66751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Playback</a:t>
            </a:r>
          </a:p>
        </p:txBody>
      </p:sp>
      <p:sp>
        <p:nvSpPr>
          <p:cNvPr id="22" name="Playback detail"/>
          <p:cNvSpPr txBox="1"/>
          <p:nvPr/>
        </p:nvSpPr>
        <p:spPr>
          <a:xfrm>
            <a:off x="27752040" y="5989320"/>
            <a:ext cx="6675120" cy="100584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Native audio + video</a:t>
            </a:r>
          </a:p>
          <a:p>
            <a:pPr>
              <a:spcBef>
                <a:spcPts val="0"/>
              </a:spcBef>
              <a:spcAft>
                <a:spcPts val="0"/>
              </a:spcAft>
            </a:pPr>
            <a:r>
              <a:rPr sz="2700" b="0">
                <a:solidFill>
                  <a:srgbClr val="17211A"/>
                </a:solidFill>
                <a:latin typeface="NVIDIA Sans"/>
              </a:rPr>
              <a:t>Live captions</a:t>
            </a:r>
          </a:p>
        </p:txBody>
      </p:sp>
      <p:sp>
        <p:nvSpPr>
          <p:cNvPr id="23" name="Continuation heading"/>
          <p:cNvSpPr txBox="1"/>
          <p:nvPr/>
        </p:nvSpPr>
        <p:spPr>
          <a:xfrm>
            <a:off x="1828800" y="8001000"/>
            <a:ext cx="32918400" cy="777240"/>
          </a:xfrm>
          <a:prstGeom prst="rect">
            <a:avLst/>
          </a:prstGeom>
          <a:noFill/>
        </p:spPr>
        <p:txBody>
          <a:bodyPr wrap="square" lIns="18288" rIns="18288" tIns="0" bIns="0">
            <a:spAutoFit/>
          </a:bodyPr>
          <a:lstStyle/>
          <a:p>
            <a:pPr>
              <a:spcBef>
                <a:spcPts val="0"/>
              </a:spcBef>
              <a:spcAft>
                <a:spcPts val="0"/>
              </a:spcAft>
            </a:pPr>
            <a:r>
              <a:rPr sz="4000" b="1">
                <a:solidFill>
                  <a:srgbClr val="17211A"/>
                </a:solidFill>
                <a:latin typeface="NVIDIA Sans"/>
              </a:rPr>
              <a:t>Carry the previous chunk’s AV latent tail into the next request</a:t>
            </a:r>
          </a:p>
        </p:txBody>
      </p:sp>
      <p:sp>
        <p:nvSpPr>
          <p:cNvPr id="24" name="Continuation node 0"/>
          <p:cNvSpPr/>
          <p:nvPr/>
        </p:nvSpPr>
        <p:spPr>
          <a:xfrm>
            <a:off x="1828800" y="9281160"/>
            <a:ext cx="8229600" cy="297180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ntinuation title 0"/>
          <p:cNvSpPr txBox="1"/>
          <p:nvPr/>
        </p:nvSpPr>
        <p:spPr>
          <a:xfrm>
            <a:off x="2103120" y="9646920"/>
            <a:ext cx="7680960" cy="7315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1  RETAIN THE TAIL</a:t>
            </a:r>
          </a:p>
        </p:txBody>
      </p:sp>
      <p:sp>
        <p:nvSpPr>
          <p:cNvPr id="26" name="Continuation body 0"/>
          <p:cNvSpPr txBox="1"/>
          <p:nvPr/>
        </p:nvSpPr>
        <p:spPr>
          <a:xfrm>
            <a:off x="2103120" y="10561320"/>
            <a:ext cx="7680960" cy="12801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Last 2 video latent slices</a:t>
            </a:r>
          </a:p>
          <a:p>
            <a:pPr>
              <a:spcBef>
                <a:spcPts val="0"/>
              </a:spcBef>
              <a:spcAft>
                <a:spcPts val="0"/>
              </a:spcAft>
            </a:pPr>
            <a:r>
              <a:rPr sz="2800" b="0">
                <a:solidFill>
                  <a:srgbClr val="17211A"/>
                </a:solidFill>
                <a:latin typeface="NVIDIA Sans"/>
              </a:rPr>
              <a:t>+ matching audio latent tail</a:t>
            </a:r>
          </a:p>
        </p:txBody>
      </p:sp>
      <p:sp>
        <p:nvSpPr>
          <p:cNvPr id="27" name="Continuation arrow 0"/>
          <p:cNvSpPr/>
          <p:nvPr/>
        </p:nvSpPr>
        <p:spPr>
          <a:xfrm>
            <a:off x="10195560" y="105613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ontinuation node 1"/>
          <p:cNvSpPr/>
          <p:nvPr/>
        </p:nvSpPr>
        <p:spPr>
          <a:xfrm>
            <a:off x="11064240" y="9281160"/>
            <a:ext cx="9144000" cy="297180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ontinuation title 1"/>
          <p:cNvSpPr txBox="1"/>
          <p:nvPr/>
        </p:nvSpPr>
        <p:spPr>
          <a:xfrm>
            <a:off x="11338560" y="9646920"/>
            <a:ext cx="8595360" cy="7315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2  APPEND TO CONDITIONING</a:t>
            </a:r>
          </a:p>
        </p:txBody>
      </p:sp>
      <p:sp>
        <p:nvSpPr>
          <p:cNvPr id="30" name="Continuation body 1"/>
          <p:cNvSpPr txBox="1"/>
          <p:nvPr/>
        </p:nvSpPr>
        <p:spPr>
          <a:xfrm>
            <a:off x="11338560" y="10561320"/>
            <a:ext cx="8595360" cy="12801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Original reference + next reply text</a:t>
            </a:r>
          </a:p>
          <a:p>
            <a:pPr>
              <a:spcBef>
                <a:spcPts val="0"/>
              </a:spcBef>
              <a:spcAft>
                <a:spcPts val="0"/>
              </a:spcAft>
            </a:pPr>
            <a:r>
              <a:rPr sz="2800" b="0">
                <a:solidFill>
                  <a:srgbClr val="17211A"/>
                </a:solidFill>
                <a:latin typeface="NVIDIA Sans"/>
              </a:rPr>
              <a:t>+ carried video / audio guides</a:t>
            </a:r>
          </a:p>
        </p:txBody>
      </p:sp>
      <p:sp>
        <p:nvSpPr>
          <p:cNvPr id="31" name="Continuation arrow 1"/>
          <p:cNvSpPr/>
          <p:nvPr/>
        </p:nvSpPr>
        <p:spPr>
          <a:xfrm>
            <a:off x="20345400" y="105613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ontinuation node 2"/>
          <p:cNvSpPr/>
          <p:nvPr/>
        </p:nvSpPr>
        <p:spPr>
          <a:xfrm>
            <a:off x="21214080" y="9281160"/>
            <a:ext cx="6035040" cy="297180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ontinuation title 2"/>
          <p:cNvSpPr txBox="1"/>
          <p:nvPr/>
        </p:nvSpPr>
        <p:spPr>
          <a:xfrm>
            <a:off x="21488400" y="9646920"/>
            <a:ext cx="5486400" cy="7315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3  GENERATE</a:t>
            </a:r>
          </a:p>
        </p:txBody>
      </p:sp>
      <p:sp>
        <p:nvSpPr>
          <p:cNvPr id="34" name="Continuation body 2"/>
          <p:cNvSpPr txBox="1"/>
          <p:nvPr/>
        </p:nvSpPr>
        <p:spPr>
          <a:xfrm>
            <a:off x="21488400" y="10561320"/>
            <a:ext cx="5486400" cy="12801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124 frames</a:t>
            </a:r>
          </a:p>
          <a:p>
            <a:pPr>
              <a:spcBef>
                <a:spcPts val="0"/>
              </a:spcBef>
              <a:spcAft>
                <a:spcPts val="0"/>
              </a:spcAft>
            </a:pPr>
            <a:r>
              <a:rPr sz="2800" b="0">
                <a:solidFill>
                  <a:srgbClr val="17211A"/>
                </a:solidFill>
                <a:latin typeface="NVIDIA Sans"/>
              </a:rPr>
              <a:t>5 overlap + 119 new</a:t>
            </a:r>
          </a:p>
        </p:txBody>
      </p:sp>
      <p:sp>
        <p:nvSpPr>
          <p:cNvPr id="35" name="Continuation arrow 2"/>
          <p:cNvSpPr/>
          <p:nvPr/>
        </p:nvSpPr>
        <p:spPr>
          <a:xfrm>
            <a:off x="27386279" y="105613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ontinuation node 3"/>
          <p:cNvSpPr/>
          <p:nvPr/>
        </p:nvSpPr>
        <p:spPr>
          <a:xfrm>
            <a:off x="28254960" y="9281160"/>
            <a:ext cx="6492240" cy="297180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ontinuation title 3"/>
          <p:cNvSpPr txBox="1"/>
          <p:nvPr/>
        </p:nvSpPr>
        <p:spPr>
          <a:xfrm>
            <a:off x="28529280" y="9646920"/>
            <a:ext cx="5943600" cy="7315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4  APPEND TO PLAYBACK</a:t>
            </a:r>
          </a:p>
        </p:txBody>
      </p:sp>
      <p:sp>
        <p:nvSpPr>
          <p:cNvPr id="38" name="Continuation body 3"/>
          <p:cNvSpPr txBox="1"/>
          <p:nvPr/>
        </p:nvSpPr>
        <p:spPr>
          <a:xfrm>
            <a:off x="28529280" y="10561320"/>
            <a:ext cx="5943600" cy="12801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Trim 5 frames + matching audio</a:t>
            </a:r>
          </a:p>
          <a:p>
            <a:pPr>
              <a:spcBef>
                <a:spcPts val="0"/>
              </a:spcBef>
              <a:spcAft>
                <a:spcPts val="0"/>
              </a:spcAft>
            </a:pPr>
            <a:r>
              <a:rPr sz="2800" b="0">
                <a:solidFill>
                  <a:srgbClr val="17211A"/>
                </a:solidFill>
                <a:latin typeface="NVIDIA Sans"/>
              </a:rPr>
              <a:t>119 new frames = 4.958 s</a:t>
            </a:r>
          </a:p>
        </p:txBody>
      </p:sp>
      <p:sp>
        <p:nvSpPr>
          <p:cNvPr id="39" name="History settings"/>
          <p:cNvSpPr txBox="1"/>
          <p:nvPr/>
        </p:nvSpPr>
        <p:spPr>
          <a:xfrm>
            <a:off x="1828800" y="12801600"/>
            <a:ext cx="32918400" cy="685800"/>
          </a:xfrm>
          <a:prstGeom prst="rect">
            <a:avLst/>
          </a:prstGeom>
          <a:noFill/>
        </p:spPr>
        <p:txBody>
          <a:bodyPr wrap="square" lIns="18288" rIns="18288" tIns="0" bIns="0">
            <a:spAutoFit/>
          </a:bodyPr>
          <a:lstStyle/>
          <a:p>
            <a:pPr>
              <a:spcBef>
                <a:spcPts val="0"/>
              </a:spcBef>
              <a:spcAft>
                <a:spcPts val="0"/>
              </a:spcAft>
            </a:pPr>
            <a:r>
              <a:rPr sz="2900" b="1">
                <a:solidFill>
                  <a:srgbClr val="17211A"/>
                </a:solidFill>
                <a:latin typeface="NVIDIA Sans"/>
              </a:rPr>
              <a:t>Video guide = 0.8 × history + 0.2 × seeded noise  ·  Audio guide stays clean  ·  Target prefix off</a:t>
            </a:r>
          </a:p>
        </p:txBody>
      </p:sp>
      <p:sp>
        <p:nvSpPr>
          <p:cNvPr id="40" name="Clock heading"/>
          <p:cNvSpPr txBox="1"/>
          <p:nvPr/>
        </p:nvSpPr>
        <p:spPr>
          <a:xfrm>
            <a:off x="1828800" y="13853160"/>
            <a:ext cx="32918400" cy="640080"/>
          </a:xfrm>
          <a:prstGeom prst="rect">
            <a:avLst/>
          </a:prstGeom>
          <a:noFill/>
        </p:spPr>
        <p:txBody>
          <a:bodyPr wrap="square" lIns="18288" rIns="18288" tIns="0" bIns="0">
            <a:spAutoFit/>
          </a:bodyPr>
          <a:lstStyle/>
          <a:p>
            <a:pPr>
              <a:spcBef>
                <a:spcPts val="0"/>
              </a:spcBef>
              <a:spcAft>
                <a:spcPts val="0"/>
              </a:spcAft>
            </a:pPr>
            <a:r>
              <a:rPr sz="3200" b="1">
                <a:solidFill>
                  <a:srgbClr val="17211A"/>
                </a:solidFill>
                <a:latin typeface="NVIDIA Sans"/>
              </a:rPr>
              <a:t>Cumulative AV positions advance by 119 frames per chunk</a:t>
            </a:r>
          </a:p>
        </p:txBody>
      </p:sp>
      <p:sp>
        <p:nvSpPr>
          <p:cNvPr id="41" name="Chunk label 0"/>
          <p:cNvSpPr txBox="1"/>
          <p:nvPr/>
        </p:nvSpPr>
        <p:spPr>
          <a:xfrm>
            <a:off x="1828800" y="14950440"/>
            <a:ext cx="4114800" cy="594360"/>
          </a:xfrm>
          <a:prstGeom prst="rect">
            <a:avLst/>
          </a:prstGeom>
          <a:noFill/>
        </p:spPr>
        <p:txBody>
          <a:bodyPr wrap="square" lIns="18288" rIns="18288" tIns="0" bIns="0">
            <a:spAutoFit/>
          </a:bodyPr>
          <a:lstStyle/>
          <a:p>
            <a:pPr>
              <a:spcBef>
                <a:spcPts val="0"/>
              </a:spcBef>
              <a:spcAft>
                <a:spcPts val="0"/>
              </a:spcAft>
            </a:pPr>
            <a:r>
              <a:rPr sz="2900" b="1">
                <a:solidFill>
                  <a:srgbClr val="17211A"/>
                </a:solidFill>
                <a:latin typeface="NVIDIA Sans"/>
              </a:rPr>
              <a:t>Chunk 0</a:t>
            </a:r>
          </a:p>
        </p:txBody>
      </p:sp>
      <p:sp>
        <p:nvSpPr>
          <p:cNvPr id="42" name="Timeline chunk 0"/>
          <p:cNvSpPr/>
          <p:nvPr/>
        </p:nvSpPr>
        <p:spPr>
          <a:xfrm>
            <a:off x="6400800" y="14904720"/>
            <a:ext cx="9020732" cy="86868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imeline text 0"/>
          <p:cNvSpPr txBox="1"/>
          <p:nvPr/>
        </p:nvSpPr>
        <p:spPr>
          <a:xfrm>
            <a:off x="6903720" y="15069312"/>
            <a:ext cx="8380652" cy="548640"/>
          </a:xfrm>
          <a:prstGeom prst="rect">
            <a:avLst/>
          </a:prstGeom>
          <a:noFill/>
        </p:spPr>
        <p:txBody>
          <a:bodyPr wrap="square" lIns="18288" rIns="18288" tIns="0" bIns="0">
            <a:spAutoFit/>
          </a:bodyPr>
          <a:lstStyle/>
          <a:p>
            <a:pPr>
              <a:spcBef>
                <a:spcPts val="0"/>
              </a:spcBef>
              <a:spcAft>
                <a:spcPts val="0"/>
              </a:spcAft>
            </a:pPr>
            <a:r>
              <a:rPr sz="2600" b="0">
                <a:solidFill>
                  <a:srgbClr val="17211A"/>
                </a:solidFill>
                <a:latin typeface="NVIDIA Sans"/>
              </a:rPr>
              <a:t>0–123  ·  124 frames / 5.167 s</a:t>
            </a:r>
          </a:p>
        </p:txBody>
      </p:sp>
      <p:sp>
        <p:nvSpPr>
          <p:cNvPr id="44" name="Chunk label 1"/>
          <p:cNvSpPr txBox="1"/>
          <p:nvPr/>
        </p:nvSpPr>
        <p:spPr>
          <a:xfrm>
            <a:off x="1828800" y="16093440"/>
            <a:ext cx="4114800" cy="594360"/>
          </a:xfrm>
          <a:prstGeom prst="rect">
            <a:avLst/>
          </a:prstGeom>
          <a:noFill/>
        </p:spPr>
        <p:txBody>
          <a:bodyPr wrap="square" lIns="18288" rIns="18288" tIns="0" bIns="0">
            <a:spAutoFit/>
          </a:bodyPr>
          <a:lstStyle/>
          <a:p>
            <a:pPr>
              <a:spcBef>
                <a:spcPts val="0"/>
              </a:spcBef>
              <a:spcAft>
                <a:spcPts val="0"/>
              </a:spcAft>
            </a:pPr>
            <a:r>
              <a:rPr sz="2900" b="1">
                <a:solidFill>
                  <a:srgbClr val="17211A"/>
                </a:solidFill>
                <a:latin typeface="NVIDIA Sans"/>
              </a:rPr>
              <a:t>Chunk 1</a:t>
            </a:r>
          </a:p>
        </p:txBody>
      </p:sp>
      <p:sp>
        <p:nvSpPr>
          <p:cNvPr id="45" name="Timeline chunk 1"/>
          <p:cNvSpPr/>
          <p:nvPr/>
        </p:nvSpPr>
        <p:spPr>
          <a:xfrm>
            <a:off x="15057793" y="16047720"/>
            <a:ext cx="9020732" cy="86868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rimmed overlap 1"/>
          <p:cNvSpPr/>
          <p:nvPr/>
        </p:nvSpPr>
        <p:spPr>
          <a:xfrm>
            <a:off x="15057793" y="16047720"/>
            <a:ext cx="363739" cy="868680"/>
          </a:xfrm>
          <a:prstGeom prst="rect">
            <a:avLst/>
          </a:prstGeom>
          <a:solidFill>
            <a:srgbClr val="E5A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imeline text 1"/>
          <p:cNvSpPr txBox="1"/>
          <p:nvPr/>
        </p:nvSpPr>
        <p:spPr>
          <a:xfrm>
            <a:off x="15560713" y="16212312"/>
            <a:ext cx="8380652" cy="548640"/>
          </a:xfrm>
          <a:prstGeom prst="rect">
            <a:avLst/>
          </a:prstGeom>
          <a:noFill/>
        </p:spPr>
        <p:txBody>
          <a:bodyPr wrap="square" lIns="18288" rIns="18288" tIns="0" bIns="0">
            <a:spAutoFit/>
          </a:bodyPr>
          <a:lstStyle/>
          <a:p>
            <a:pPr>
              <a:spcBef>
                <a:spcPts val="0"/>
              </a:spcBef>
              <a:spcAft>
                <a:spcPts val="0"/>
              </a:spcAft>
            </a:pPr>
            <a:r>
              <a:rPr sz="2600" b="0">
                <a:solidFill>
                  <a:srgbClr val="17211A"/>
                </a:solidFill>
                <a:latin typeface="NVIDIA Sans"/>
              </a:rPr>
              <a:t>119–242  ·  119 new frames</a:t>
            </a:r>
          </a:p>
        </p:txBody>
      </p:sp>
      <p:sp>
        <p:nvSpPr>
          <p:cNvPr id="48" name="Chunk label 2"/>
          <p:cNvSpPr txBox="1"/>
          <p:nvPr/>
        </p:nvSpPr>
        <p:spPr>
          <a:xfrm>
            <a:off x="1828800" y="17236440"/>
            <a:ext cx="4114800" cy="594360"/>
          </a:xfrm>
          <a:prstGeom prst="rect">
            <a:avLst/>
          </a:prstGeom>
          <a:noFill/>
        </p:spPr>
        <p:txBody>
          <a:bodyPr wrap="square" lIns="18288" rIns="18288" tIns="0" bIns="0">
            <a:spAutoFit/>
          </a:bodyPr>
          <a:lstStyle/>
          <a:p>
            <a:pPr>
              <a:spcBef>
                <a:spcPts val="0"/>
              </a:spcBef>
              <a:spcAft>
                <a:spcPts val="0"/>
              </a:spcAft>
            </a:pPr>
            <a:r>
              <a:rPr sz="2900" b="1">
                <a:solidFill>
                  <a:srgbClr val="17211A"/>
                </a:solidFill>
                <a:latin typeface="NVIDIA Sans"/>
              </a:rPr>
              <a:t>Chunk 2</a:t>
            </a:r>
          </a:p>
        </p:txBody>
      </p:sp>
      <p:sp>
        <p:nvSpPr>
          <p:cNvPr id="49" name="Timeline chunk 2"/>
          <p:cNvSpPr/>
          <p:nvPr/>
        </p:nvSpPr>
        <p:spPr>
          <a:xfrm>
            <a:off x="23714787" y="17190720"/>
            <a:ext cx="9020732" cy="86868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rimmed overlap 2"/>
          <p:cNvSpPr/>
          <p:nvPr/>
        </p:nvSpPr>
        <p:spPr>
          <a:xfrm>
            <a:off x="23714787" y="17190720"/>
            <a:ext cx="363739" cy="868680"/>
          </a:xfrm>
          <a:prstGeom prst="rect">
            <a:avLst/>
          </a:prstGeom>
          <a:solidFill>
            <a:srgbClr val="E5A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imeline text 2"/>
          <p:cNvSpPr txBox="1"/>
          <p:nvPr/>
        </p:nvSpPr>
        <p:spPr>
          <a:xfrm>
            <a:off x="24217707" y="17355312"/>
            <a:ext cx="8380652" cy="548640"/>
          </a:xfrm>
          <a:prstGeom prst="rect">
            <a:avLst/>
          </a:prstGeom>
          <a:noFill/>
        </p:spPr>
        <p:txBody>
          <a:bodyPr wrap="square" lIns="18288" rIns="18288" tIns="0" bIns="0">
            <a:spAutoFit/>
          </a:bodyPr>
          <a:lstStyle/>
          <a:p>
            <a:pPr>
              <a:spcBef>
                <a:spcPts val="0"/>
              </a:spcBef>
              <a:spcAft>
                <a:spcPts val="0"/>
              </a:spcAft>
            </a:pPr>
            <a:r>
              <a:rPr sz="2600" b="0">
                <a:solidFill>
                  <a:srgbClr val="17211A"/>
                </a:solidFill>
                <a:latin typeface="NVIDIA Sans"/>
              </a:rPr>
              <a:t>238–361  ·  119 new frames</a:t>
            </a:r>
          </a:p>
        </p:txBody>
      </p:sp>
      <p:sp>
        <p:nvSpPr>
          <p:cNvPr id="52" name="Timeline key"/>
          <p:cNvSpPr txBox="1"/>
          <p:nvPr/>
        </p:nvSpPr>
        <p:spPr>
          <a:xfrm>
            <a:off x="1828800" y="18516600"/>
            <a:ext cx="32918400" cy="594360"/>
          </a:xfrm>
          <a:prstGeom prst="rect">
            <a:avLst/>
          </a:prstGeom>
          <a:noFill/>
        </p:spPr>
        <p:txBody>
          <a:bodyPr wrap="square" lIns="18288" rIns="18288" tIns="0" bIns="0">
            <a:spAutoFit/>
          </a:bodyPr>
          <a:lstStyle/>
          <a:p>
            <a:pPr>
              <a:spcBef>
                <a:spcPts val="0"/>
              </a:spcBef>
              <a:spcAft>
                <a:spcPts val="0"/>
              </a:spcAft>
            </a:pPr>
            <a:r>
              <a:rPr sz="2600" b="0">
                <a:solidFill>
                  <a:srgbClr val="52604F"/>
                </a:solidFill>
                <a:latin typeface="NVIDIA Sans"/>
              </a:rPr>
              <a:t>Orange = 5-frame overlap removed before playback. Only the small AV tail is retained between requests.</a:t>
            </a:r>
          </a:p>
        </p:txBody>
      </p:sp>
      <p:sp>
        <p:nvSpPr>
          <p:cNvPr id="53" name="Demo caveat"/>
          <p:cNvSpPr txBox="1"/>
          <p:nvPr/>
        </p:nvSpPr>
        <p:spPr>
          <a:xfrm>
            <a:off x="1828800" y="19202400"/>
            <a:ext cx="32918400" cy="502920"/>
          </a:xfrm>
          <a:prstGeom prst="rect">
            <a:avLst/>
          </a:prstGeom>
          <a:noFill/>
        </p:spPr>
        <p:txBody>
          <a:bodyPr wrap="square" lIns="18288" rIns="18288" tIns="0" bIns="0">
            <a:spAutoFit/>
          </a:bodyPr>
          <a:lstStyle/>
          <a:p>
            <a:pPr>
              <a:spcBef>
                <a:spcPts val="0"/>
              </a:spcBef>
              <a:spcAft>
                <a:spcPts val="0"/>
              </a:spcAft>
            </a:pPr>
            <a:r>
              <a:rPr sz="2500" b="0">
                <a:solidFill>
                  <a:srgbClr val="52604F"/>
                </a:solidFill>
                <a:latin typeface="NVIDIA Sans"/>
              </a:rPr>
              <a:t>History conditioning changes generated content. Live ASR / LLM share GPUs 6 / 7; slide 18 measures standalone H3.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Live Avatar: Recorded Conversation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74.55 seconds · user-recorded microphone conversation · native H3 audio + video</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20</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Play the recorded interaction · fullscreen avatar, live captions and timing overlays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