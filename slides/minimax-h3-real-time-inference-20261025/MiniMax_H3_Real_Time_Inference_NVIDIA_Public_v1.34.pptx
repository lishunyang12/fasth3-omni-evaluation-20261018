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quantized clips use vLLM-Omni. Same reference image, prompt, seed 1234, eight evaluations, 1344x768 and 124 frames at 24fps. Quantized scope includes DiT, language encoder and video decoder; vision tower and audio VAE retain higher precision.</a:t>
            </a:r>
          </a:p>
          <a:p>
            <a:r>
              <a:t>Online independently quantizes original weights with RTN NVFP4 and current-input activation scaling. It uses no QAD weights, QAD scale tables or calibration dataset. QAD preserves packed checkpoint weights and activation scales.</a:t>
            </a:r>
          </a:p>
          <a:p>
            <a:r>
              <a:t>Online and QAD use the native OmniRef sparse FP4 attention kernel, including K smoothing and two-level P quantization. The protected prefix uses FP8 Q/K and BF16 PV. VSA tile128 routing, top-k and coarse correction retain their original precision. The fourth clip uses the same QAD weights with the alternative CAKE Sage INT8 Q/K and FP8 V attention path.</a:t>
            </a:r>
          </a:p>
          <a:p>
            <a:r>
              <a:t>The native attention adapter was bit-exact to the pinned upstream function on two ragged-layout test cases; this does not establish full-model numerical parity.</a:t>
            </a:r>
          </a:p>
          <a:p>
            <a:r>
              <a:t>Request times include CPU offload, generation, first-use work and MP4 encoding; exclude model loading and offline weight packing. Quantized arms ran on GPU 3; BF16 is retained from GPU 0 of the same machine. One first request each, no full-model warmup. These are not steady-state production speedups.</a:t>
            </a:r>
          </a:p>
          <a:p>
            <a:r>
              <a:t>LPIPS AlexNet v0.1 and RGB Gaussian SSIM use all 124 decoded frames at original resolution, matched by frame index. Lower LPIPS and higher SSIM indicate similarity to this BF16 sample. Divergent motion affects the metrics. This single scene does not establish general quality or isolate DiT distillation from the separately trained decoder. Audio is not scored.</a:t>
            </a:r>
          </a:p>
          <a:p>
            <a:r>
              <a:t>All four videos start together and are muted. PDF uses frame 60 from each video. Three sampled frames from each new video were visually checked for gross corruption; this is not a comprehensive temporal artifact assessment.</a:t>
            </a:r>
          </a:p>
          <a:p>
            <a:r>
              <a:t>Photo: James Lo / Unsplash, https://unsplash.com/photos/crowded-street-market-at-night-with-lanterns-prZR_BQiZzU.</a:t>
            </a:r>
          </a:p>
          <a:p>
            <a:r>
              <a:t>Correction: v1.30 through v1.32 used an incorrect QAD activation-scale override and a narrower quantization scope. These three regenerated quantized clips supersede that comparison.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Compare full quantization scopes inside vLLM-Omni with the same scene, prompt and seed</a:t>
            </a:r>
          </a:p>
        </p:txBody>
      </p:sp>
      <p:sp>
        <p:nvSpPr>
          <p:cNvPr id="4" name="Title 3"/>
          <p:cNvSpPr>
            <a:spLocks noGrp="1"/>
          </p:cNvSpPr>
          <p:nvPr>
            <p:ph type="title"/>
          </p:nvPr>
        </p:nvSpPr>
        <p:spPr/>
        <p:txBody>
          <a:bodyPr/>
          <a:lstStyle/>
          <a:p>
            <a:r>
              <a:t>Quantization: Crowded Night Market</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matched sample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2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BF16 weights</a:t>
            </a:r>
          </a:p>
          <a:p>
            <a:pPr algn="ctr">
              <a:lnSpc>
                <a:spcPct val="108000"/>
              </a:lnSpc>
              <a:spcBef>
                <a:spcPts val="0"/>
              </a:spcBef>
              <a:spcAft>
                <a:spcPts val="12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2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2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2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Fresh BF16-derived NVFP4</a:t>
            </a:r>
          </a:p>
          <a:p>
            <a:pPr algn="ctr">
              <a:lnSpc>
                <a:spcPct val="108000"/>
              </a:lnSpc>
              <a:spcBef>
                <a:spcPts val="0"/>
              </a:spcBef>
              <a:spcAft>
                <a:spcPts val="12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2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2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2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QAD weights + native scales</a:t>
            </a:r>
          </a:p>
          <a:p>
            <a:pPr algn="ctr">
              <a:lnSpc>
                <a:spcPct val="108000"/>
              </a:lnSpc>
              <a:spcBef>
                <a:spcPts val="0"/>
              </a:spcBef>
              <a:spcAft>
                <a:spcPts val="12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2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200"/>
              </a:spcAft>
            </a:pPr>
            <a:r>
              <a:rPr sz="2800" b="0">
                <a:solidFill>
                  <a:srgbClr val="313131"/>
                </a:solidFill>
                <a:latin typeface="NVIDIA Sans"/>
              </a:rPr>
              <a:t>LPIPS 0.2177  |  SSIM 0.6225</a:t>
            </a:r>
          </a:p>
        </p:txBody>
      </p:sp>
      <p:sp>
        <p:nvSpPr>
          <p:cNvPr id="22" name="QAD + SageAttention"/>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200"/>
              </a:spcAft>
            </a:pPr>
            <a:r>
              <a:rPr sz="3600" b="1">
                <a:solidFill>
                  <a:srgbClr val="76B900"/>
                </a:solidFill>
                <a:latin typeface="NVIDIA Sans Medium"/>
              </a:rPr>
              <a:t>QAD + SageAttention</a:t>
            </a:r>
          </a:p>
        </p:txBody>
      </p:sp>
      <p:pic>
        <p:nvPicPr>
          <p:cNvPr id="23" name="QAD + SageAttention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Same QAD encoder / decoder</a:t>
            </a:r>
          </a:p>
          <a:p>
            <a:pPr algn="ctr">
              <a:lnSpc>
                <a:spcPct val="108000"/>
              </a:lnSpc>
              <a:spcBef>
                <a:spcPts val="0"/>
              </a:spcBef>
              <a:spcAft>
                <a:spcPts val="1200"/>
              </a:spcAft>
            </a:pPr>
            <a:r>
              <a:rPr sz="2900" b="0">
                <a:solidFill>
                  <a:srgbClr val="313131"/>
                </a:solidFill>
                <a:latin typeface="NVIDIA Sans"/>
              </a:rPr>
              <a:t>CAKE: INT8 Q/K, FP8 V</a:t>
            </a:r>
          </a:p>
        </p:txBody>
      </p:sp>
      <p:sp>
        <p:nvSpPr>
          <p:cNvPr id="25" name="Request: 72.82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200"/>
              </a:spcAft>
            </a:pPr>
            <a:r>
              <a:rPr sz="3200" b="1">
                <a:solidFill>
                  <a:srgbClr val="313131"/>
                </a:solidFill>
                <a:latin typeface="NVIDIA Sans Medium"/>
              </a:rPr>
              <a:t>Request: 72.82 s*</a:t>
            </a:r>
          </a:p>
        </p:txBody>
      </p:sp>
      <p:sp>
        <p:nvSpPr>
          <p:cNvPr id="26" name="LPIPS 0.2032  |  SSIM 0.6304"/>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200"/>
              </a:spcAft>
            </a:pPr>
            <a:r>
              <a:rPr sz="2800" b="0">
                <a:solidFill>
                  <a:srgbClr val="313131"/>
                </a:solidFill>
                <a:latin typeface="NVIDIA Sans"/>
              </a:rPr>
              <a:t>LPIPS 0.2032  |  SSIM 0.6304</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3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1344 × 768 · 124 frames at 24 FPS · 8 steps · Seed 1234 · VSA tile128</a:t>
            </a:r>
          </a:p>
        </p:txBody>
      </p:sp>
      <p:sp>
        <p:nvSpPr>
          <p:cNvPr id="29" name="*First request with CPU offload. Quantized arms on GPU 3; BF16 retained from GPU 0."/>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200"/>
              </a:spcAft>
            </a:pPr>
            <a:r>
              <a:rPr sz="2600" b="0">
                <a:solidFill>
                  <a:srgbClr val="313131"/>
                </a:solidFill>
                <a:latin typeface="NVIDIA Sans"/>
              </a:rPr>
              <a:t>*First request with CPU offload. Quantized arms on GPU 3; BF16 retained from GPU 0.</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69164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Shard by heads, then restore token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slide-12-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73600" y="4311623"/>
            <a:ext cx="17373600" cy="11127790"/>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777240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so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so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
        <p:nvSpPr>
          <p:cNvPr id="12" name="Shared PCIe uplink is the tighter raw bound"/>
          <p:cNvSpPr txBox="1"/>
          <p:nvPr/>
        </p:nvSpPr>
        <p:spPr>
          <a:xfrm>
            <a:off x="1828800" y="13258800"/>
            <a:ext cx="15636240" cy="822960"/>
          </a:xfrm>
          <a:prstGeom prst="rect">
            <a:avLst/>
          </a:prstGeom>
          <a:noFill/>
        </p:spPr>
        <p:txBody>
          <a:bodyPr wrap="square" lIns="0" rIns="0" tIns="0" bIns="0">
            <a:spAutoFit/>
          </a:bodyPr>
          <a:lstStyle/>
          <a:p>
            <a:pPr algn="l">
              <a:lnSpc>
                <a:spcPct val="108000"/>
              </a:lnSpc>
              <a:spcBef>
                <a:spcPts val="0"/>
              </a:spcBef>
              <a:spcAft>
                <a:spcPts val="1200"/>
              </a:spcAft>
            </a:pPr>
            <a:r>
              <a:rPr sz="3300" b="1">
                <a:solidFill>
                  <a:srgbClr val="76B900"/>
                </a:solidFill>
                <a:latin typeface="NVIDIA Sans Medium"/>
              </a:rPr>
              <a:t>Shared PCIe uplink is the tighter raw bound</a:t>
            </a:r>
          </a:p>
        </p:txBody>
      </p:sp>
      <p:sp>
        <p:nvSpPr>
          <p:cNvPr id="13" name="SHM, layout and scheduling add further cost."/>
          <p:cNvSpPr txBox="1"/>
          <p:nvPr/>
        </p:nvSpPr>
        <p:spPr>
          <a:xfrm>
            <a:off x="1828800" y="14310360"/>
            <a:ext cx="15636240" cy="2377440"/>
          </a:xfrm>
          <a:prstGeom prst="rect">
            <a:avLst/>
          </a:prstGeom>
          <a:noFill/>
        </p:spPr>
        <p:txBody>
          <a:bodyPr wrap="square" lIns="0" rIns="0" tIns="0" bIns="0">
            <a:spAutoFit/>
          </a:bodyPr>
          <a:lstStyle/>
          <a:p>
            <a:pPr algn="l">
              <a:lnSpc>
                <a:spcPct val="108000"/>
              </a:lnSpc>
              <a:spcBef>
                <a:spcPts val="0"/>
              </a:spcBef>
              <a:spcAft>
                <a:spcPts val="1200"/>
              </a:spcAft>
            </a:pPr>
            <a:r>
              <a:rPr sz="3100" b="0">
                <a:solidFill>
                  <a:srgbClr val="313131"/>
                </a:solidFill>
                <a:latin typeface="NVIDIA Sans"/>
              </a:rPr>
              <a:t>SHM, layout and scheduling add further cost.</a:t>
            </a:r>
          </a:p>
          <a:p>
            <a:pPr algn="l">
              <a:lnSpc>
                <a:spcPct val="108000"/>
              </a:lnSpc>
              <a:spcBef>
                <a:spcPts val="0"/>
              </a:spcBef>
              <a:spcAft>
                <a:spcPts val="1200"/>
              </a:spcAft>
            </a:pPr>
            <a:r>
              <a:rPr sz="3100" b="0">
                <a:solidFill>
                  <a:srgbClr val="313131"/>
                </a:solidFill>
                <a:latin typeface="NVIDIA Sans"/>
              </a:rPr>
              <a:t>Next: hide waits with 2 / 3 / 2 head bands,</a:t>
            </a:r>
          </a:p>
          <a:p>
            <a:pPr algn="l">
              <a:lnSpc>
                <a:spcPct val="108000"/>
              </a:lnSpc>
              <a:spcBef>
                <a:spcPts val="0"/>
              </a:spcBef>
              <a:spcAft>
                <a:spcPts val="1200"/>
              </a:spcAft>
            </a:pPr>
            <a:r>
              <a:rPr sz="3100" b="0">
                <a:solidFill>
                  <a:srgbClr val="313131"/>
                </a:solidFill>
                <a:latin typeface="NVIDIA Sans"/>
              </a:rPr>
              <a:t>then reduce compute launch cost with graphs.</a:t>
            </a:r>
          </a:p>
        </p:txBody>
      </p:sp>
      <p:sp>
        <p:nvSpPr>
          <p:cNvPr id="14" name="Measured: communication + layout + scheduling; not E2E."/>
          <p:cNvSpPr txBox="1"/>
          <p:nvPr/>
        </p:nvSpPr>
        <p:spPr>
          <a:xfrm>
            <a:off x="17922240" y="17053560"/>
            <a:ext cx="16824960" cy="64008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Measured: communication + layout + scheduling; not E2E.</a:t>
            </a:r>
          </a:p>
        </p:txBody>
      </p:sp>
      <p:sp>
        <p:nvSpPr>
          <p:cNvPr id="15" name="Separate Q/K-first candidate: 96/96 rank checks exact"/>
          <p:cNvSpPr txBox="1"/>
          <p:nvPr/>
        </p:nvSpPr>
        <p:spPr>
          <a:xfrm>
            <a:off x="17922240" y="17785080"/>
            <a:ext cx="16824960" cy="114300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Separate Q/K-first candidate: 96/96 rank checks exact</a:t>
            </a:r>
          </a:p>
          <a:p>
            <a:pPr algn="l">
              <a:lnSpc>
                <a:spcPct val="108000"/>
              </a:lnSpc>
              <a:spcBef>
                <a:spcPts val="0"/>
              </a:spcBef>
              <a:spcAft>
                <a:spcPts val="1200"/>
              </a:spcAft>
            </a:pPr>
            <a:r>
              <a:rPr sz="2700" b="0">
                <a:solidFill>
                  <a:srgbClr val="313131"/>
                </a:solidFill>
                <a:latin typeface="NVIDIA Sans"/>
              </a:rPr>
              <a:t>on four GPUs; full eight-GPU H3 validation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Original source: head-shard exchange before attention; inverse exchange before output projection</a:t>
            </a:r>
          </a:p>
        </p:txBody>
      </p:sp>
      <p:sp>
        <p:nvSpPr>
          <p:cNvPr id="4" name="Title 3"/>
          <p:cNvSpPr>
            <a:spLocks noGrp="1"/>
          </p:cNvSpPr>
          <p:nvPr>
            <p:ph type="title"/>
          </p:nvPr>
        </p:nvSpPr>
        <p:spPr/>
        <p:txBody>
          <a:bodyPr/>
          <a:lstStyle/>
          <a:p>
            <a: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
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VSA, QAD/Sage and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