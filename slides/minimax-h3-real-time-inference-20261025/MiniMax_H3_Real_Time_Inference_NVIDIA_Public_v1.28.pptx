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11.svg" ContentType="image/svg+xml"/>
  <Override PartName="/ppt/media/h3vector12.svg" ContentType="image/svg+xml"/>
  <Override PartName="/ppt/media/h3vector13.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media/h3vector6.svg" ContentType="image/svg+xml"/>
  <Override PartName="/ppt/media/h3vector7.svg" ContentType="image/svg+xml"/>
  <Override PartName="/ppt/media/h3vector8.svg" ContentType="image/svg+xml"/>
  <Override PartName="/ppt/media/h3vector9.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6" r:id="rId88"/>
    <p:sldId id="347" r:id="rId89"/>
    <p:sldId id="348" r:id="rId90"/>
    <p:sldId id="364" r:id="rId48"/>
    <p:sldId id="363" r:id="rId47"/>
    <p:sldId id="353" r:id="rId95"/>
    <p:sldId id="354" r:id="rId96"/>
    <p:sldId id="355" r:id="rId97"/>
    <p:sldId id="361" r:id="rId45"/>
    <p:sldId id="367" r:id="rId44"/>
    <p:sldId id="368" r:id="rId51"/>
    <p:sldId id="369" r:id="rId49"/>
    <p:sldId id="370" r:id="rId43"/>
    <p:sldId id="357" r:id="rId99"/>
    <p:sldId id="358" r:id="rId100"/>
    <p:sldId id="359" r:id="rId101"/>
    <p:sldId id="360" r:id="rId102"/>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43" Type="http://schemas.openxmlformats.org/officeDocument/2006/relationships/slide" Target="slides/slide20.xml"/><Relationship Id="rId44" Type="http://schemas.openxmlformats.org/officeDocument/2006/relationships/slide" Target="slides/slide17.xml"/><Relationship Id="rId45" Type="http://schemas.openxmlformats.org/officeDocument/2006/relationships/slide" Target="slides/slide16.xml"/><Relationship Id="rId47" Type="http://schemas.openxmlformats.org/officeDocument/2006/relationships/slide" Target="slides/slide11.xml"/><Relationship Id="rId48" Type="http://schemas.openxmlformats.org/officeDocument/2006/relationships/slide" Target="slides/slide10.xml"/><Relationship Id="rId49" Type="http://schemas.openxmlformats.org/officeDocument/2006/relationships/slide" Target="slides/slide19.xml"/><Relationship Id="rId51" Type="http://schemas.openxmlformats.org/officeDocument/2006/relationships/slide" Target="slides/slide18.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xml"/><Relationship Id="rId83" Type="http://schemas.openxmlformats.org/officeDocument/2006/relationships/slide" Target="slides/slide2.xml"/><Relationship Id="rId84" Type="http://schemas.openxmlformats.org/officeDocument/2006/relationships/slide" Target="slides/slide3.xml"/><Relationship Id="rId85" Type="http://schemas.openxmlformats.org/officeDocument/2006/relationships/slide" Target="slides/slide4.xml"/><Relationship Id="rId86" Type="http://schemas.openxmlformats.org/officeDocument/2006/relationships/slide" Target="slides/slide5.xml"/><Relationship Id="rId87" Type="http://schemas.openxmlformats.org/officeDocument/2006/relationships/slide" Target="slides/slide6.xml"/><Relationship Id="rId88" Type="http://schemas.openxmlformats.org/officeDocument/2006/relationships/slide" Target="slides/slide7.xml"/><Relationship Id="rId89" Type="http://schemas.openxmlformats.org/officeDocument/2006/relationships/slide" Target="slides/slide8.xml"/><Relationship Id="rId90" Type="http://schemas.openxmlformats.org/officeDocument/2006/relationships/slide" Target="slides/slide9.xml"/><Relationship Id="rId95" Type="http://schemas.openxmlformats.org/officeDocument/2006/relationships/slide" Target="slides/slide13.xml"/><Relationship Id="rId96" Type="http://schemas.openxmlformats.org/officeDocument/2006/relationships/slide" Target="slides/slide14.xml"/><Relationship Id="rId97" Type="http://schemas.openxmlformats.org/officeDocument/2006/relationships/slide" Target="slides/slide15.xml"/><Relationship Id="rId99" Type="http://schemas.openxmlformats.org/officeDocument/2006/relationships/slide" Target="slides/slide21.xml"/><Relationship Id="rId100" Type="http://schemas.openxmlformats.org/officeDocument/2006/relationships/slide" Target="slides/slide22.xml"/><Relationship Id="rId101" Type="http://schemas.openxmlformats.org/officeDocument/2006/relationships/slide" Target="slides/slide23.xml"/><Relationship Id="rId102" Type="http://schemas.openxmlformats.org/officeDocument/2006/relationships/slide" Target="slides/slide24.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Suitability follows from the inspected qad_head_compute_graph.py implementation, not a claim that every H3 or RDMA operation is graph-safe. The existing prototype is opt-in, inference-only, on a dedicated compute stream. It validates production SP8 geometry, tile128 multi-region metadata, mask-free non-joint attention, registered BF16 input/output views, and fixed addresses. A request runs 50 blocks x 8 model evaluations, giving 400 repeated attention calls per band when the profile, route plan, runtime and backend stay unchanged. Weights/GEMMs are outside this compute island, allowing reuse across blocks.</a:t>
            </a:r>
          </a:p>
          <a:p>
            <a:r>
              <a:t>Sparse Top-K selection is input-dependent, but values/selected indices may change while tensor shapes and launch structure remain fixed. Input-ready wait is enqueued before replay and output-ready recorded afterward; correctness requires stable buffer lifetime and safe reuse. Tensor values are refreshed in registered storage before replay. Cached entries retain runtime, route plan, geometry and callable objects.</a:t>
            </a:r>
          </a:p>
          <a:p>
            <a:r>
              <a:t>Actual cache identity includes runtime identity, compute stream, band position/start/head count, receive/send data pointers, shapes, strides, dtype/device, route-plan identity, complete reference/video/padding metadata, sparsity/keep rate, provider/precision/backend settings and callable identities. Two equal-sized bands A/C need not share GraphExec because their registered addresses differ. S and Kmax shorthand on slides denotes geometry encoded in buffers/plan and metadata.</a:t>
            </a:r>
          </a:p>
          <a:p>
            <a:r>
              <a:t>The actual prototype warms exact shape/JIT, synchronizes, captures a private pool and explicitly first-replays on a miss; full cache raises an error. Eager fallback and qualifying recurring profiles in vLLM are proposed production policy, not behavior already implemented by this prototype. Different resolution/frame/reference/head profile must not replay an incompatible graph.</a:t>
            </a:r>
          </a:p>
          <a:p>
            <a:r>
              <a:t>The same CUDA Graph mechanism is common in LLM inference; decode often dispatches batch/token-count profiles, while this H3 compute island dispatches video/reference geometry and head-band slots. This is a workload distinction, not a different graph algorithm. Kernel-dominated large bands may gain little. Capture/instantiate time and private-pool memory must amortize across replays. In the separate four-arm prototype, the 1/2/3/1 cold install after external JIT took 38.663 ms and added 1222 MiB reserved memory; these are experiment-specific costs, not a forecast for 2/3/2.</a:t>
            </a:r>
          </a:p>
          <a:p>
            <a:r>
              <a:t>https://docs.nvidia.com/cuda/cuda-programming-guide/04-special-topics/cuda-graphs.html</a:t>
            </a:r>
          </a:p>
          <a:p>
            <a:r>
              <a:t>https://docs.pytorch.org/docs/stable/notes/cuda</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describes the public OmniRef QAD training recipe, not training performed by this project. PR #1989 was open at inspection. The frozen teacher is the same eight-forward OmniRef checkpoint without student quantization. Student trainable master weights must be FP32: the code rejects BF16 masters because small updates would round away. The NVFP4 linear forward casts current master weights to BF16, quantizes weights and activations, and executes FlashInfer mm_fp4. The backward uses straight-through dense linear gradients. FP4 fine attention is modeled by a differentiable emulator. Teacher and loss computation are removed for inference. Few-step distillation and QAD address separate costs: fewer model evaluations versus quantized numerical error. https://github.com/hao-ai-lab/FastVideo/blob/ea3275dfd1ce48cbb01f9fc7f28e918e857a0536/fastvideo/train/models/minimax_h3/omniref_pdd.py</a:t>
            </a:r>
          </a:p>
          <a:p>
            <a:r>
              <a:t>https://github.com/hao-ai-lab/FastVideo/blob/ea3275dfd1ce48cbb01f9fc7f28e918e857a0536/fastvideo/layers/quantization/nvfp4_qad.py</a:t>
            </a:r>
          </a:p>
          <a:p>
            <a:r>
              <a:t>Precision map merged from the former standalone What Runs in Four Bits slide. Only attention and FFN projection parameters train; the VSA gates remain frozen while executing NVFP4. The public QAD recipe calibrates selected FFN activation global scales; this differs from the direct Online NVFP4 comparison, which has no calibration table. Designated boundary modules remain FP32.</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videos are embedded as separate MP4 objects on this same slide, left to right: BF16 reference, Online NVFP4 without QAD training, and published QAD NVFP4. The video frames are not cropped or stretched. Videos start together at slide entry and are muted by default. Same request JSON: two family reference views, prompt, seed 1234, 1344x768, 124 frames at 24 FPS, eight transformer evaluations, cuDNN BF16 VSA and original video/audio decoders. Online NVFP4 quantizes untouched BF16 checkpoint 88d512c5 weights. No calibration dataset or table is loaded. Every DiT projection computes its activation global scale as 2688/max(abs(current_input)) on each forward; weights use their own tensor amax. Per-16 E4M3 block scales are computed dynamically. Weights are quantized once and cached before loading; activations are dynamically quantized on each forward. This is PTQ, without teacher supervision or QAD weight updates. It does not use the FP4 attention emulator. BF16 and Online NVFP4 use the original BF16 text encoder; the retained published QAD run uses its checkpoint encoder. Therefore this is a checkpoint-level visual comparison, not an isolated DiT QAD ablation. The original BF16 run uses HSDP, whereas quantized runs do not. No latency attribution or universal quality claim is made. The PDF contains frame-24 posters; video playback is in the PPTX or local HTML preview. https://github.com/hao-ai-lab/FastVideo/blob/ea3275dfd1ce48cbb01f9fc7f28e918e857a0536/examples/train/configs/knowledge_distillation/minimax_h3/omniref_nvfp4_qad.yaml</a:t>
            </a:r>
          </a:p>
          <a:p>
            <a:r>
              <a:t>Measured decoded-video similarity: {"online_nvfp4": {"lpips_alex_v0_1": {"mean": 0.2977905738497934, "std_population": 0.1439843131812286, "min": 0.09652196615934372, "max": 0.5121737718582153, "frames": 124}, "ssim_rgb": {"mean": 0.5777637524457234, "std_population": 0.13019779426300312, "min": 0.4346516289486761, "max": 0.8592144454339667, "frames": 124}}, "qad_nvfp4": {"lpips_alex_v0_1": {"mean": 0.2501977474819268, "std_population": 0.1342112506959792, "min": 0.08768212795257568, "max": 0.44881367683410645, "frames": 124}, "ssim_rgb": {"mean": 0.6437721022708937, "std_population": 0.13355167661847192, "min": 0.5014632406551502, "max": 0.8743636803808933, "frames": 124}}}</a:t>
            </a:r>
          </a:p>
          <a:p>
            <a:r>
              <a:t>LPIPS: pretrained AlexNet v0.1, FP32 RGB [-1,1]. SSIM: RGB, Gaussian 11x11 sigma 1.5, population covariance, data range 255. All 124 frames at original 1344x768; same frame-index alignment; no resize. Single-prompt checkpoint similarity, not general video quality. Request curl time_total is recorded in video-generation-times.json and displayed above. The online request was the first inference after startup, whereas retained runs used already-active servers. Timings exclude model loading and prepacking, include encoding/download; do not infer a quantization speedup.</a:t>
            </a:r>
          </a:p>
          <a:p>
            <a:r>
              <a:t>Direct Online NVFP4 uses the algorithm on the untouched BF16 checkpoint without numerical tuning. Amax scaling is part of the quantization algorithm. Videos and previously reported request times and LPIPS/SSIM are unchanged in v1.26.</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The first row marks the selected eight-GPU RTX PRO 5000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measured baseline is MiniMax H3 Base Ref2VA at 960x544, 124 frames, 24 FPS, 50 denoising steps, BF16, and eight RTX PRO 5000 GPUs with USP8. Communication uses local NCCL; RDMA is disabled. The media duration is exactly 124 / 24 = 5.1667 seconds, shown as 5.167 seconds. The four top-level rows are mutually exclusive accounting buckets. The locked endpoint cohort contains three steady requests at 247.956, 246.201 and 248.298 seconds; its median is 247.956 seconds and RTF 47.992. The separately rerun matched Nsight request took 252.773 seconds, or RTF 48.924, after a 253.075-second warmup. Its warmup and measured outputs share one SHA-256 and fully decode. The matched trace reaches 60,827 MiB during the measured request and 61,299 MiB across the sampled run. The table is a hierarchy. NCCL communication includes DiT collectives and collectives in encoder, VAE and other work. It is reported separately from tensor compute and AdaLN host-to-device weight staging/layout. The four top-level cost centers are mutually exclusive and sum to 100 percent. The matched request passed the eight-device, kernel-count, attribution, transport and exclusive-accounting gates, and its CUDA kernel and memory totals match independent nsys stats exactly. The share denominator is kernel, memcpy and memset duration summed across all eight GPUs. The time column divides each category by eight and reports mean operation time per GPU. An interval-union check found no same-GPU overlap among the classified kernel/copy activities, and per-rank activity totals are 247.86 to 248.69 seconds, close to the measured E2E. NCCL kernel duration includes synchronization and peer waiting, so the DiT collective share of 46.4 percent is serialized collective residency rather than pure transfer time or an achieved-bandwidth measurement. The repeated loop issues 10,000 SendRecv kernels per rank: four per DiT block across 50 steps and 50 blocks. DiT host-to-device copies contribute 295.3 aggregate GPU-seconds and 8.94 TB of CUPTI logical bytes. More than 99.998 percent of that H-to-D time comes from staging AdaLN projection BF16 weight and bias on exact-cache misses. The run uses the default 256 MiB runtime output cache and does not configure a complete offline schedule sidecar. Ordinary Attention, MLP and QKV weights remain resident after initialization. This page stops at measured Base50 evidence. Optimization methods begin on the following slides.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defines the sampling terms used by the rest of the deck. A latent state x(t) is the current compressed video and audio representation. The DiT reads that state, its time coordinate and the prompt or reference conditioning, then predicts a data-ward velocity. The Euler solver uses that velocity to construct the next latent. Conventional sampling is sequential because the next DiT call requires the state produced by the previous update. NFE means network function evaluation; one NFE is one complete DiT forward, not one Transformer block. Base H3 uses 50 sequential NFEs. Each NFE traverses the 50-block main Transformer trunk, so the repeated trunk workload is 50 times 50, or 2,500 main-block passes. Under USP8, each of eight ranks executes its local shard, which is why a system trace can show 20,000 rank-local attention launches. Prompt and reference encoding happen before the repeated loop, and VAE decoding happens after it. H3 uses separate shifted Euler schedules for video and audio; x(t) and delta-t on this page deliberately abstract those two modality-specific updates, which share one joint DiT forward. Sources: https://research.nvidia.com/labs/genair/pdd/ ; https://github.com/MiniMax-AI/MiniMax-H3/blob/main/transformer/config.json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paraphrased from VSA Figure 1 and Section 3: https://arxiv.org/html/2505.13389v4 . H3 uses logical tiles of 128; do not substitute the paper default block geometry. The displayed figure is the cited VSA figure. H3 adaptation fixes the fine gate at one.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Actual Nsight Systems GUI screenshot of FastH3_QAD36L_8xPRO5000_960x544_PCIe_GPU_NIC.nsys-rep. This is the pre-head-pipeline RDMA baseline; it already overlaps V/g projection with the first exchange. Q/K/V/G and O are otherwise whole-head operands. Exposed transport is defined using event-sync return to closing barrier CPU launch, intersected with productive CUDA kernels, excluding pack/unpack/copy/barrier kernels. Mean over eight GPUs: phase 3.761780366 s, exposed 3.244157462 s, covered 13.760%. Includes host posting/CQ polling/flush; not exact NIC wire time or E2E attribution. Screenshot does not show the proposed 2/3/2 schedule. Nsight reported possible incomplete CUDA/NVTX/OSRT collection; expected windows reconcile.</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Stages group representative kernels rather than counting individual launches. The timeline is a conceptual launch-bound example on the same illustrative time scale. Matching kernel widths indicate unchanged work; the diagram is not an Nsight capture, and does not quantify the measured request gain. No retained paired Nsight screenshots isolate the graph-only change. RDMA and input/output readiness events are outside this prototype capture; graphs do not directly raise link bandwidth. Capture body: unpack QKV, original fine/coarse VSA, pack O_BUNDLE.</a:t>
            </a:r>
          </a:p>
          <a:p>
            <a:r>
              <a:t>Historical selected-profile 8-GPU head pipeline 1/2/3/1: warmed local HTTP request to complete MP4 mean 13.249868 s without compute graph versus 11.993609333333334 s with graph, three measured requests per cohort, fixed 960x544 / 362 frames / 8 steps / one reference. Model load and one per-shape warmup excluded. This is retained cohort evidence, not a newly randomized run or a new 2/3/2 measurement.</a:t>
            </a:r>
          </a:p>
          <a:p>
            <a:r>
              <a:t>Separate single-GPU four-arm component experiment on saved real layer-0 input: 12 counterbalanced rounds x 20 repeats, 5 warmup repeats. Seven-head eager 11.703171412150065 ms, graph 11.658073425292969 ms (0.385% reduction); bands 1/2/3/1 eager 12.323460133870443 ms, graph 12.040123176574706 ms (2.299% reduction). Excludes RDMA, gate, W_O, other DiT, encoder, VAE and HTTP. Bit-exact output checks passed before and after. Even banded graph compute remains 2.879% slower than unbanded eager compute; total pipeline gain depends on communication overlap. Evidence: cuda-graph-evidence.json.</a:t>
            </a:r>
          </a:p>
          <a:p>
            <a:r>
              <a:t>https://docs.nvidia.com/cuda/cuda-programming-guide/04-special-topics/cuda-graphs.html</a:t>
            </a:r>
          </a:p>
          <a:p>
            <a:r>
              <a:t>https://docs.pytorch.org/docs/stable/notes/cuda</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parallelism starts with a token shard on every GPU. For this measured 362-frame profile, the aligned sequence has 56,960 tokens, so USP8 gives each rank 7,120 tokens and all 56 attention heads. After the local Q, K, V and learned VSA gate projections, Ulysses runs an all-to-all that gathers the full sequence while scattering heads. The local tensor changes from [B, S/8, 56, 128] to [B, S, 7, 128]. Each rank can now compute full-sequence attention locally for its own seven heads. A reverse all-to-all on O restores [B, S/8, 56, 128], and output projection, residual and MLP continue on the local token shard. The element count is preserved: (S/8) times 56 equals S times 7. USP reduces the per-rank activation and head workload; it does not reduce the global attention math. New Q, K, V and gate tensors are produced in every attention block, so this exchange repeats block by block. The 56,960-token shape belongs to the measured 960 by 544, 362-frame communication study; it is not the 124-frame Base50 shape.</a:t>
            </a:r>
          </a:p>
          <a:p/>
          <a:p>
            <a:r>
              <a:t>v1.21: Title changed to Ulysses. The original website SVG and PNG are embedded without artwork edits. The schematic is the website P=4, S=15104 Q/K/V/O example, not the P=8, S=56960 measured H3 configuration described at left. The illustration does not include the extra learned VSA gate slot in the measured H3 profile. Retained website source: https://grateful-requirements-dictionaries-impacts.trycloudflare.com/scaling/ulysses.svg. The old tunnel is currently unavailable; original local website files were recovered.</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a:p>
            <a:r>
              <a:t>CPU-to-CPU capacity uses C=256 GB/s as the raw one-way aggregate model input (4 links x 16 lanes x 32 Gb/s / 8). Installed link configuration and effective payload rate are not established. https://docs.amd.com/v/u/en-US/58462_amd-epyc-9005-tg-architecture-overview</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a:p>
            <a:r>
              <a:t>C=256 GB/s is a one-way raw aggregate capacity assumption, not the installed measured payload bandwidth. Uniform all-to-all yields B&lt;=7C/16=112 GB/s, so the shared Gen5 x16 uplink bound (36.8 GB/s) is tighter in this model. Real SHM, memory and interconnect costs can reduce observed throughput. The curves remain the retained communication microbenchmarks, not E2E.</a:t>
            </a:r>
          </a:p>
          <a:p/>
          <a:p>
            <a:r>
              <a:t>Merged prior p17 validation:</a:t>
            </a:r>
          </a:p>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a:p/>
          <a:p>
            <a:r>
              <a:t>Merged prior p18 interpretation:</a:t>
            </a:r>
          </a:p>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a:p/>
          <a:p>
            <a:r>
              <a:t>Current model clarification: C=256 GB/s is only the raw one-way aggregate xGMI assumption; installed effective capacity is unknown. Under that assumption the 36.8 GB/s shared PCIe uplink bound is tighter. This does not exclude memory/SHM/xGMI implementation costs as contributors to the measured gap.</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page as an evidence ledger, not as a performance ladder. Green means the exact locked benchmark. Blue means a result qualified inside its own study but not comparable with the green row. Orange is the acceptance work still required before we publish a cumulative optimization story.</a:t>
            </a:r>
          </a:p>
          <a:p/>
          <a:p>
            <a:r>
              <a:t>Row A is the only current result on the locked MiniMax H3 Base Ref2VA request: 960 by 544, 124 frames at 24 FPS, 5.1667 seconds of media, the Miles reference image and voice, the locked prompt, seed 43, 50 denoising steps, BF16 dense attention, eight RTX PRO 5000 GPUs, TP1 and USP8, local NCCL, and no RDMA. After initialization and one warmup, three formal requests took 247.956, 246.201, and 248.298 seconds. The median is 247.956 seconds, or RTF 47.992. All three formal outputs and the warmup share the same MP4 SHA-256 and fully decode. The 70.84 GiB value is the maximum sampled whole-device reading across ranks over cold initialization and steady requests. It is not a PyTorch allocator high-water mark, and the ranks are materially imbalanced. Slide 6 reports the same run as 60,813 MiB steady and 72,539 MiB during cold initialization.</a:t>
            </a:r>
          </a:p>
          <a:p/>
          <a:p>
            <a:r>
              <a:t>Row B is a different 15.083-second request: 960 by 544, 362 frames, one Zhiwei image, no external voice, an eight-forward NVFP4-QAD 36-layer decoder with VSA, and three samples per arm. Its original NCCL control averaged 17.681 seconds, while the final production arm averaged 14.974 seconds, changing RTF from 1.172 to 0.993. All three final requests met the 15.083-second media-duration budget. This is not sustained-stream evidence; the worst final request was 14.999848 seconds, only 0.152 milliseconds below a nominal 15.000-second threshold. The RDMA path also changes direct Ulysses layout handling, so its delta must not be described as isolated network transport.</a:t>
            </a:r>
          </a:p>
          <a:p/>
          <a:p>
            <a:r>
              <a:t>Row C is internally paired but historical. Both arms use the same 960 by 544, 243-frame input and seed in that study. The original Base50 arm took 263.847 seconds; a distinct four-step Turbo, MXFP8, dense-Sage, NVFP4-VAE, TP1/SP8 and RDMA production stack took 6.958 seconds. RTF moves from 26.059 to 0.687. There is one formal sample per arm, and many material axes change together. This proves endpoint feasibility for that study, not a PDD8, VSA, QAD, Sage, or RDMA ablation.</a:t>
            </a:r>
          </a:p>
          <a:p/>
          <a:p>
            <a:r>
              <a:t>Row D is the portrait live-avatar workload: 576 by 1024, a 124-frame request window with five-frame overlap, and therefore 119 new frames or 4.958 seconds of new media per continuation. It uses a four-step MXFP8 stack, BF16 Sage on the first sensitive attention path, NVFP4 video VAE, USP8 and RDMA. The initial request took 4.644 seconds. Five continuations have a 4.459-second median and RTF 0.899. The n label 1 + 5 means one initial request plus five continuation requests; it is not six steady samples. This is useful live-feasibility evidence, but it has no matched Base50 arm, no long-run P95, and no complete perceptual or lip-sync qualification.</a:t>
            </a:r>
          </a:p>
          <a:p/>
          <a:p>
            <a:r>
              <a:t>The orange row is the publication gate. Keep the row-A image, audio, prompt, seed, geometry, frame count, request mode, hardware placement, timing boundary and memory method fixed. Measure Base50, PDD8, PDD8 plus VSA, the selected QAD or Sage path, and the RDMA plus overlap path with at least three steady requests per stage. Record end-to-end latency, RTF, peak GPU memory under one method, output exactness or a stated quality metric, and matched Nsight cost centers and overlap. Only then may these stages be connected as a cumulative waterfall.</a:t>
            </a:r>
          </a:p>
          <a:p/>
          <a:p>
            <a:r>
              <a:t>The four-GPU real-RDMA precheck on the previous slide is correctness-only and is therefore absent from the performance rows. It did not run the full eight-GPU H3 model, measure end-to-end latency, or measure overlap. The 87.11 percent overlap value belongs to the separate 362-frame QAD trace and must not be attached to the Base50 row. A successful 1344 by 768 PDD8/VSA BF16 study is also component evidence only and does not fill a stage in the locked 544P chain.</a:t>
            </a:r>
          </a:p>
          <a:p/>
          <a:p>
            <a:r>
              <a:t>Visible footer note: the 70.84 GiB value is the whole-device nvidia-smi maximum across cold and steady execution, not allocator high-water. Rows B through D are independent evidence, not a staged sequence.</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focuses on ComfyUI workflows backed by vLLM-Omni multi-GPU serving, beginning with the public MiniMax H3 character-replacement work in PR #9194.</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part two. It uses the official vLLM-Omni architecture and the public PR #9194 ComfyUI character-replacement workflow. The pull request is open as of October 24, 2026.</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GPU owns seven attention heads after Ulysses redistribution. Selected band slices [0:2], [2:5], [5:7]. Each band receives Q/K/V for the complete global sequence before executing fine/coarse VSA. Stream events gate readiness and buffer reuse. Returned O bands restore all 56 heads for each token in the local token shard before full W_O; there is no independent full output projection per head band. Shared NIC direction capacity still applies; the communication lane here serializes operations and illustrates overlap with compute. The schedule is conceptual with illustrative durations, not a prediction of latency. 2/3/2 is selected for the updated presentation and has not been benchmarked here. Historical measurements used 1/2/3/1 and are labeled separately.</a:t>
            </a:r>
          </a:p>
          <a:p>
            <a:r>
              <a:t>v1.27 visual revision: consistent blue input transfers, gray output transfers, green compute bands with visible separation, three readiness arrows and an explicit complete-output dependency. Timing coordinates and logical ordering are unchanged.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h3vector6.svg"/><Relationship Id="rId5" Type="http://schemas.openxmlformats.org/officeDocument/2006/relationships/image" Target="../media/image19.png"/><Relationship Id="rId6" Type="http://schemas.openxmlformats.org/officeDocument/2006/relationships/image" Target="../media/h3vector7.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 Id="rId8" Type="http://schemas.openxmlformats.org/officeDocument/2006/relationships/image" Target="../media/image20.png"/><Relationship Id="rId9" Type="http://schemas.openxmlformats.org/officeDocument/2006/relationships/image" Target="../media/h3vector8.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 Id="rId3" Type="http://schemas.openxmlformats.org/officeDocument/2006/relationships/image" Target="../media/image3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h3vector9.svg"/><Relationship Id="rId5" Type="http://schemas.openxmlformats.org/officeDocument/2006/relationships/image" Target="../media/image33.png"/><Relationship Id="rId6" Type="http://schemas.openxmlformats.org/officeDocument/2006/relationships/image" Target="../media/h3vector11.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h3vector12.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 Id="rId3" Type="http://schemas.openxmlformats.org/officeDocument/2006/relationships/image" Target="../media/image35.png"/><Relationship Id="rId4" Type="http://schemas.openxmlformats.org/officeDocument/2006/relationships/image" Target="../media/h3vector13.sv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26.pn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rPr>
                <a:solidFill>
                  <a:srgbClr val="313131"/>
                </a:solidFill>
              </a:rPr>
              <a:t>Shunyang Li | Public technical brief | October 2026</a:t>
            </a:r>
          </a:p>
        </p:txBody>
      </p:sp>
      <p:sp>
        <p:nvSpPr>
          <p:cNvPr id="3" name="Text Placeholder 2"/>
          <p:cNvSpPr>
            <a:spLocks noGrp="1"/>
          </p:cNvSpPr>
          <p:nvPr>
            <p:ph type="body" idx="11" sz="quarter"/>
          </p:nvPr>
        </p:nvSpPr>
        <p:spPr/>
        <p:txBody>
          <a:bodyPr/>
          <a:lstStyle/>
          <a:p>
            <a:r>
              <a:rPr sz="7700">
                <a:latin typeface="NVIDIA Sans"/>
              </a:rPr>
              <a:t>8× RTX PRO 5000 · vLLM-Omni</a:t>
            </a:r>
          </a:p>
        </p:txBody>
      </p:sp>
      <p:sp>
        <p:nvSpPr>
          <p:cNvPr id="4" name="Text Placeholder 3"/>
          <p:cNvSpPr>
            <a:spLocks noGrp="1"/>
          </p:cNvSpPr>
          <p:nvPr>
            <p:ph type="body" idx="10" sz="quarter"/>
          </p:nvPr>
        </p:nvSpPr>
        <p:spPr/>
        <p:txBody>
          <a:bodyPr/>
          <a:lstStyle/>
          <a:p>
            <a:r>
              <a:t>Real-Time Video Generation
With 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and ComfyUI Applications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01 · Real-Time H3
Generation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A 124-frame clip at 24 FPS is real time only when end-to-end latency stays below 5.167 s (RTF &lt; 1)</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p:txBody>
          <a:bodyPr/>
          <a:lstStyle/>
          <a:p>
            <a:r>
              <a:t>32B encoder → 33B dense Omni Transformer → visual/audio VAE. Fifty blocks × 50 steps keep compute and memory pressure high; about 13B AdaLN parameters can be cached</a:t>
            </a:r>
          </a:p>
        </p:txBody>
      </p:sp>
      <p:sp>
        <p:nvSpPr>
          <p:cNvPr id="8" name="Text Placeholder 7"/>
          <p:cNvSpPr>
            <a:spLocks noGrp="1"/>
          </p:cNvSpPr>
          <p:nvPr>
            <p:ph type="body" idx="55" sz="quarter"/>
          </p:nvPr>
        </p:nvSpPr>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All discrete SM120 cards pair fifth-generation Tensor Cores with GDDR7 and PCIe Gen5; none provides GPU-to-GPU NVLink</a:t>
            </a:r>
          </a:p>
        </p:txBody>
      </p:sp>
      <p:sp>
        <p:nvSpPr>
          <p:cNvPr id="3" name="Title 2"/>
          <p:cNvSpPr>
            <a:spLocks noGrp="1"/>
          </p:cNvSpPr>
          <p:nvPr>
            <p:ph type="title"/>
          </p:nvPr>
        </p:nvSpPr>
        <p:spPr/>
        <p:txBody>
          <a:bodyPr/>
          <a:lstStyle/>
          <a:p>
            <a:r>
              <a:t>SM120 Brings FP4 Compute; PCIe Limits Scale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5000 ×8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110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72 GB GDDR7 ECC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48 GB variant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Planned: NIC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6000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188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GPU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170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32 GB GDDR7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SM121 · 48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128 GB unified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LPDDR5X</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NVLink-C2C in SoC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200 Gb/s ConnectX-7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 Planned system path; GPUDirect RDMA requires a compatible NIC and PCIe topology · Sources: NVIDIA product specs, CUDA GPU table, GPUDirect RDMA guide</a:t>
            </a:r>
            <a:endParaRPr lang="en-US"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NCCL occupies 49.2% of the average GPU timeline</a:t>
            </a:r>
          </a:p>
        </p:txBody>
      </p:sp>
      <p:sp>
        <p:nvSpPr>
          <p:cNvPr id="3" name="Title 2"/>
          <p:cNvSpPr>
            <a:spLocks noGrp="1"/>
          </p:cNvSpPr>
          <p:nvPr>
            <p:ph type="title"/>
          </p:nvPr>
        </p:nvSpPr>
        <p:spPr/>
        <p:txBody>
          <a:bodyPr/>
          <a:lstStyle/>
          <a:p>
            <a:r>
              <a:t>Latency Breakdown</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6</a:t>
            </a:fld>
            <a:endParaRPr lang="en-US"/>
          </a:p>
        </p:txBody>
      </p:sp>
      <p:graphicFrame>
        <p:nvGraphicFramePr>
          <p:cNvPr id="5" name="Official NVIDIA Baselin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18394801">
                  <a:extLst>
                    <a:ext uri="{9D8B030D-6E8A-4147-A177-3AD203B41FA5}">
                      <a16:colId xmlns:a16="http://schemas.microsoft.com/office/drawing/2014/main" val="1714626306"/>
                    </a:ext>
                  </a:extLst>
                </a:gridCol>
                <a:gridCol w="6217920">
                  <a:extLst>
                    <a:ext uri="{9D8B030D-6E8A-4147-A177-3AD203B41FA5}">
                      <a16:colId xmlns:a16="http://schemas.microsoft.com/office/drawing/2014/main" val="1697748500"/>
                    </a:ext>
                  </a:extLst>
                </a:gridCol>
                <a:gridCol w="3657600">
                  <a:extLst>
                    <a:ext uri="{9D8B030D-6E8A-4147-A177-3AD203B41FA5}">
                      <a16:colId xmlns:a16="http://schemas.microsoft.com/office/drawing/2014/main" val="3872581152"/>
                    </a:ext>
                  </a:extLst>
                </a:gridCol>
              </a:tblGrid>
              <a:tr h="91440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Stage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Average GPU Time*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Share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96012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Mean GPU timeline*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27432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250.0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NCCL communication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123.0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DiT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116.1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46.4%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Encoder, VAE, and other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7.0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Tensor compute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84.5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33.8%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2690260899"/>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Attention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45.3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18.1%</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618141472"/>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GEMM / MLP</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39.2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864763436"/>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AdaLN weight staging + device layout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38.5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404130746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Encoder, VAE, and other GPU work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1617734848"/>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Base Ref2VA · 960×544 · 124f @ 24 FPS · 50 steps · BF16 · 8× RTX PRO 5000 · default AdaLN offload · local NCCL / RDMA off · *sum across 8 GPU timelines ÷ 8</a:t>
            </a:r>
            <a:endParaRPr lang="en-US" dirty="0"/>
          </a:p>
        </p:txBody>
      </p:sp>
      <p:sp>
        <p:nvSpPr>
          <p:cNvPr id="7" name="Official NVIDIA Green Bullets (Template Slide 11)">
            <a:extLst>
              <a:ext uri="{FF2B5EF4-FFF2-40B4-BE49-F238E27FC236}">
                <a16:creationId xmlns:a16="http://schemas.microsoft.com/office/drawing/2014/main" id="{F4CEAB82-3270-2922-8769-7E63216D0A3E}"/>
              </a:ext>
            </a:extLst>
          </p:cNvPr>
          <p:cNvSpPr>
            <a:spLocks noGrp="1"/>
          </p:cNvSpPr>
          <p:nvPr>
            <p:ph type="body" sz="quarter" idx="13"/>
          </p:nvPr>
        </p:nvSpPr>
        <p:spPr>
          <a:xfrm>
            <a:off x="1828800" y="5943600"/>
            <a:ext cx="32918399" cy="12801600"/>
          </a:xfrm>
        </p:spPr>
        <p:txBody>
          <a:bodyPr wrap="square" anchor="t" lIns="2331720" rIns="2331719" tIns="10744200" bIns="0"/>
          <a:lstStyle/>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Of the 38.5 s average, 36.9 s is AdaLN projection weight staging from CPU; layout is 1.5 s</a:t>
            </a:r>
          </a:p>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This run uses the default runtime cache, not a complete precomputed schedule sidecar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State and direction</a:t>
            </a:r>
          </a:p>
          <a:p>
            <a:pPr lvl="1" algn="l"/>
            <a:r>
              <a:rPr b="0">
                <a:solidFill>
                  <a:srgbClr val="313131"/>
                </a:solidFill>
                <a:latin typeface="NVIDIA Sans"/>
              </a:rPr>
              <a:t>x(t) is the current latent; the DiT predicts a data-ward velocity</a:t>
            </a:r>
          </a:p>
          <a:p>
            <a:pPr algn="l"/>
            <a:r>
              <a:rPr b="1">
                <a:solidFill>
                  <a:srgbClr val="313131"/>
                </a:solidFill>
                <a:latin typeface="NVIDIA Sans Medium"/>
              </a:rPr>
              <a:t>Solver update</a:t>
            </a:r>
          </a:p>
          <a:p>
            <a:pPr lvl="1" algn="l"/>
            <a:r>
              <a:rPr b="0">
                <a:solidFill>
                  <a:srgbClr val="313131"/>
                </a:solidFill>
                <a:latin typeface="NVIDIA Sans"/>
              </a:rPr>
              <a:t>Euler advances x(t) by a small interval along that velocity</a:t>
            </a:r>
          </a:p>
          <a:p>
            <a:pPr lvl="1" algn="l"/>
            <a:r>
              <a:rPr b="0">
                <a:solidFill>
                  <a:srgbClr val="313131"/>
                </a:solidFill>
                <a:latin typeface="NVIDIA Sans"/>
              </a:rPr>
              <a:t>The next DiT call needs the new latent, so conventional steps run in sequence</a:t>
            </a:r>
          </a:p>
          <a:p>
            <a:pPr algn="l"/>
            <a:r>
              <a:rPr b="1">
                <a:solidFill>
                  <a:srgbClr val="76B900"/>
                </a:solidFill>
                <a:latin typeface="NVIDIA Sans Medium"/>
              </a:rPr>
              <a:t>Network function evaluation (NFE)</a:t>
            </a:r>
          </a:p>
          <a:p>
            <a:pPr lvl="1" algn="l"/>
            <a:r>
              <a:rPr b="0">
                <a:solidFill>
                  <a:srgbClr val="313131"/>
                </a:solidFill>
                <a:latin typeface="NVIDIA Sans"/>
              </a:rPr>
              <a:t>One NFE is one complete DiT forward</a:t>
            </a:r>
          </a:p>
          <a:p>
            <a:pPr algn="l"/>
            <a:r>
              <a:rPr b="1">
                <a:solidFill>
                  <a:srgbClr val="313131"/>
                </a:solidFill>
                <a:latin typeface="NVIDIA Sans Medium"/>
              </a:rPr>
              <a:t>Base H3</a:t>
            </a:r>
          </a:p>
          <a:p>
            <a:pPr lvl="1" algn="l"/>
            <a:r>
              <a:rPr b="0">
                <a:solidFill>
                  <a:srgbClr val="313131"/>
                </a:solidFill>
                <a:latin typeface="NVIDIA Sans"/>
              </a:rPr>
              <a:t>50 NFE × 50 main blocks = 2,500 main-block passes</a:t>
            </a:r>
          </a:p>
        </p:txBody>
      </p:sp>
      <p:sp>
        <p:nvSpPr>
          <p:cNvPr id="3" name="Text Placeholder 2"/>
          <p:cNvSpPr>
            <a:spLocks noGrp="1"/>
          </p:cNvSpPr>
          <p:nvPr>
            <p:ph type="body" idx="14" sz="quarter"/>
          </p:nvPr>
        </p:nvSpPr>
        <p:spPr>
          <a:xfrm>
            <a:off x="1828800" y="5806440"/>
            <a:ext cx="13716000" cy="1417320"/>
          </a:xfrm>
        </p:spPr>
        <p:txBody>
          <a:bodyPr/>
          <a:lstStyle/>
          <a:p>
            <a:r>
              <a:t>H3 follows a learned velocity field from noise toward clean video and audio latents</a:t>
            </a:r>
          </a:p>
        </p:txBody>
      </p:sp>
      <p:sp>
        <p:nvSpPr>
          <p:cNvPr id="4" name="Title 3"/>
          <p:cNvSpPr>
            <a:spLocks noGrp="1"/>
          </p:cNvSpPr>
          <p:nvPr>
            <p:ph type="title"/>
          </p:nvPr>
        </p:nvSpPr>
        <p:spPr>
          <a:xfrm>
            <a:off x="1828800" y="1828800"/>
            <a:ext cx="13716000" cy="3840480"/>
          </a:xfrm>
        </p:spPr>
        <p:txBody>
          <a:bodyPr/>
          <a:lstStyle/>
          <a:p>
            <a:r>
              <a:t>How Denoising Works</a:t>
            </a:r>
          </a:p>
        </p:txBody>
      </p:sp>
      <p:sp>
        <p:nvSpPr>
          <p:cNvPr id="5" name="Text Placeholder 4"/>
          <p:cNvSpPr>
            <a:spLocks noGrp="1"/>
          </p:cNvSpPr>
          <p:nvPr>
            <p:ph type="body" idx="52" sz="quarter"/>
          </p:nvPr>
        </p:nvSpPr>
        <p:spPr/>
        <p:txBody>
          <a:bodyPr/>
          <a:lstStyle/>
          <a:p>
            <a:r>
              <a:t>A chain of dependent solver updates turns noise into clean latents</a:t>
            </a:r>
          </a:p>
        </p:txBody>
      </p:sp>
      <p:sp>
        <p:nvSpPr>
          <p:cNvPr id="6" name="Text Placeholder 5"/>
          <p:cNvSpPr>
            <a:spLocks noGrp="1"/>
          </p:cNvSpPr>
          <p:nvPr>
            <p:ph type="body" idx="51" sz="quarter"/>
          </p:nvPr>
        </p:nvSpPr>
        <p:spPr/>
        <p:txBody>
          <a:bodyPr/>
          <a:lstStyle/>
          <a:p>
            <a:r>
              <a:t>Classical Flow-Matching Sampling</a:t>
            </a:r>
          </a:p>
        </p:txBody>
      </p:sp>
      <p:pic>
        <p:nvPicPr>
          <p:cNvPr id="7" name="Picture Placeholder 6" descr="denoising-basics-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MiniMax H3 Base configuration · NVIDIA FastGen-PDD sampling background (arXiv:2607.26004) · author abstraction</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7</a:t>
            </a:fld>
            <a:endParaRPr lang="en-US"/>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50 → 8 DiT calls; 2,500 → 400 repeated block passes (−84%)</a:t>
            </a:r>
          </a:p>
        </p:txBody>
      </p:sp>
      <p:sp>
        <p:nvSpPr>
          <p:cNvPr id="3" name="Text Placeholder 2"/>
          <p:cNvSpPr>
            <a:spLocks noGrp="1"/>
          </p:cNvSpPr>
          <p:nvPr>
            <p:ph type="body" idx="14" sz="quarter"/>
          </p:nvPr>
        </p:nvSpPr>
        <p:spPr>
          <a:xfrm>
            <a:off x="1828800" y="5806440"/>
            <a:ext cx="13716000" cy="1417320"/>
          </a:xfrm>
        </p:spPr>
        <p:txBody>
          <a:bodyPr/>
          <a:lstStyle/>
          <a:p>
            <a:r>
              <a:t>PDD predicts four denoising intervals per DiT call: 50 calls → 8</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Predict important regions cheaply</a:t>
            </a:r>
          </a:p>
          <a:p>
            <a:pPr lvl="1" algn="l"/>
            <a:r>
              <a:rPr b="0">
                <a:solidFill>
                  <a:srgbClr val="313131"/>
                </a:solidFill>
                <a:latin typeface="NVIDIA Sans"/>
              </a:rPr>
              <a:t>Pool spatiotemporal cubes and run global attention on the shorter sequence</a:t>
            </a:r>
          </a:p>
          <a:p>
            <a:pPr algn="l"/>
            <a:r>
              <a:rPr b="1">
                <a:solidFill>
                  <a:srgbClr val="76B900"/>
                </a:solidFill>
                <a:latin typeface="NVIDIA Sans Medium"/>
              </a:rPr>
              <a:t>Select content-dependent blocks</a:t>
            </a:r>
          </a:p>
          <a:p>
            <a:pPr lvl="1" algn="l"/>
            <a:r>
              <a:rPr b="0">
                <a:solidFill>
                  <a:srgbClr val="313131"/>
                </a:solidFill>
                <a:latin typeface="NVIDIA Sans"/>
              </a:rPr>
              <a:t>Per-query Top-K cube scores choose which K/V regions to visit</a:t>
            </a:r>
          </a:p>
          <a:p>
            <a:pPr algn="l"/>
            <a:r>
              <a:rPr b="1">
                <a:solidFill>
                  <a:srgbClr val="76B900"/>
                </a:solidFill>
                <a:latin typeface="NVIDIA Sans Medium"/>
              </a:rPr>
              <a:t>Spend fine attention on selected detail</a:t>
            </a:r>
          </a:p>
          <a:p>
            <a:pPr lvl="1" algn="l"/>
            <a:r>
              <a:rPr b="0">
                <a:solidFill>
                  <a:srgbClr val="313131"/>
                </a:solidFill>
                <a:latin typeface="NVIDIA Sans"/>
              </a:rPr>
              <a:t>Compute token attention inside the chosen blocks; skip the rest</a:t>
            </a:r>
          </a:p>
          <a:p>
            <a:pPr algn="l"/>
            <a:r>
              <a:rPr b="1">
                <a:solidFill>
                  <a:srgbClr val="76B900"/>
                </a:solidFill>
                <a:latin typeface="NVIDIA Sans Medium"/>
              </a:rPr>
              <a:t>Keep global context and local detail</a:t>
            </a:r>
          </a:p>
          <a:p>
            <a:pPr lvl="1" algn="l"/>
            <a:r>
              <a:rPr b="0">
                <a:solidFill>
                  <a:srgbClr val="313131"/>
                </a:solidFill>
                <a:latin typeface="NVIDIA Sans"/>
              </a:rPr>
              <a:t>Learned gates combine coarse and fine outputs</a:t>
            </a:r>
          </a:p>
        </p:txBody>
      </p:sp>
      <p:sp>
        <p:nvSpPr>
          <p:cNvPr id="3" name="Text Placeholder 2"/>
          <p:cNvSpPr>
            <a:spLocks noGrp="1"/>
          </p:cNvSpPr>
          <p:nvPr>
            <p:ph type="body" idx="14" sz="quarter"/>
          </p:nvPr>
        </p:nvSpPr>
        <p:spPr>
          <a:xfrm>
            <a:off x="1828800" y="5806440"/>
            <a:ext cx="13716000" cy="1417320"/>
          </a:xfrm>
        </p:spPr>
        <p:txBody>
          <a:bodyPr/>
          <a:lstStyle/>
          <a:p>
            <a:r>
              <a:t>Coarse attention finds relevant cubes; fine attention resolves token-level detail</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p:txBody>
          <a:bodyPr/>
          <a:lstStyle/>
          <a:p>
            <a:r>
              <a:t>Global coarse context + selected fine detail · FastH3 adaptation: G_f = 1</a:t>
            </a:r>
          </a:p>
        </p:txBody>
      </p:sp>
      <p:sp>
        <p:nvSpPr>
          <p:cNvPr id="6" name="Text Placeholder 5"/>
          <p:cNvSpPr>
            <a:spLocks noGrp="1"/>
          </p:cNvSpPr>
          <p:nvPr>
            <p:ph type="body" idx="51" sz="quarter"/>
          </p:nvPr>
        </p:nvSpPr>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 Figure 1 and Section 3 · H3 uses logical tiles of 128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9</a:t>
            </a:fld>
            <a:endParaRPr lang="en-US"/>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An eight-forward student learns to compensate for quantization error before deployment</a:t>
            </a:r>
          </a:p>
        </p:txBody>
      </p:sp>
      <p:sp>
        <p:nvSpPr>
          <p:cNvPr id="4" name="Title 3"/>
          <p:cNvSpPr>
            <a:spLocks noGrp="1"/>
          </p:cNvSpPr>
          <p:nvPr>
            <p:ph type="title"/>
          </p:nvPr>
        </p:nvSpPr>
        <p:spPr/>
        <p:txBody>
          <a:bodyPr/>
          <a:lstStyle/>
          <a:p>
            <a:r>
              <a:t>FastH3 Omni: Quantization-Aware Distillation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FastVideo PR #1989 · public OmniRef recipe @ ea3275d · implementation analysis, not a reproduced training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10</a:t>
            </a:fld>
            <a:endParaRPr lang="en-US"/>
          </a:p>
        </p:txBody>
      </p:sp>
      <p:pic>
        <p:nvPicPr>
          <p:cNvPr id="7" name="QAD training and execution precision" descr="qad-training-and-precisi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63056" y="5029200"/>
            <a:ext cx="31849887" cy="11338559"/>
          </a:xfrm>
          <a:prstGeom prst="rect">
            <a:avLst/>
          </a:prstGeom>
          <a:ln w="9525">
            <a:solidFill>
              <a:srgbClr val="A7A7A7"/>
            </a:solidFill>
          </a:ln>
        </p:spPr>
      </p:pic>
      <p:sp>
        <p:nvSpPr>
          <p:cNvPr id="8" name="Few-step + four-bit inference"/>
          <p:cNvSpPr txBox="1"/>
          <p:nvPr/>
        </p:nvSpPr>
        <p:spPr>
          <a:xfrm>
            <a:off x="182880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Few-step + four-bit inference</a:t>
            </a:r>
          </a:p>
        </p:txBody>
      </p:sp>
      <p:sp>
        <p:nvSpPr>
          <p:cNvPr id="9" name="Eight model evaluations reduce sampling work. NVFP4 linears reduce numerical precision."/>
          <p:cNvSpPr txBox="1"/>
          <p:nvPr/>
        </p:nvSpPr>
        <p:spPr>
          <a:xfrm>
            <a:off x="182880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Eight model evaluations reduce sampling work. NVFP4 linears reduce numerical precision.</a:t>
            </a:r>
          </a:p>
        </p:txBody>
      </p:sp>
      <p:sp>
        <p:nvSpPr>
          <p:cNvPr id="10" name="Train through quantization"/>
          <p:cNvSpPr txBox="1"/>
          <p:nvPr/>
        </p:nvSpPr>
        <p:spPr>
          <a:xfrm>
            <a:off x="1307592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Train through quantization</a:t>
            </a:r>
          </a:p>
        </p:txBody>
      </p:sp>
      <p:sp>
        <p:nvSpPr>
          <p:cNvPr id="11" name="FP32 master weights update through STE gradients while the forward executes NVFP4."/>
          <p:cNvSpPr txBox="1"/>
          <p:nvPr/>
        </p:nvSpPr>
        <p:spPr>
          <a:xfrm>
            <a:off x="1307592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FP32 master weights update through STE gradients while the forward executes NVFP4.</a:t>
            </a:r>
          </a:p>
        </p:txBody>
      </p:sp>
      <p:sp>
        <p:nvSpPr>
          <p:cNvPr id="12" name="Deploy the student only"/>
          <p:cNvSpPr txBox="1"/>
          <p:nvPr/>
        </p:nvSpPr>
        <p:spPr>
          <a:xfrm>
            <a:off x="2432304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Deploy the student only</a:t>
            </a:r>
          </a:p>
        </p:txBody>
      </p:sp>
      <p:sp>
        <p:nvSpPr>
          <p:cNvPr id="13" name="Teacher supervision and reconstruction losses recover quality during training; inference omits them."/>
          <p:cNvSpPr txBox="1"/>
          <p:nvPr/>
        </p:nvSpPr>
        <p:spPr>
          <a:xfrm>
            <a:off x="2432304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Teacher supervision and reconstruction losses recover quality during training; inference omits them.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BF16 reference · Direct Online NVFP4 · Published QAD checkpoint</a:t>
            </a:r>
          </a:p>
        </p:txBody>
      </p:sp>
      <p:sp>
        <p:nvSpPr>
          <p:cNvPr id="4" name="Title 3"/>
          <p:cNvSpPr>
            <a:spLocks noGrp="1"/>
          </p:cNvSpPr>
          <p:nvPr>
            <p:ph type="title"/>
          </p:nvPr>
        </p:nvSpPr>
        <p:spPr/>
        <p:txBody>
          <a:bodyPr/>
          <a:lstStyle/>
          <a:p>
            <a:r>
              <a:t>Quantization: Three-Way Video Comparison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Matched request · cuDNN BF16 attention + original VAE · checkpoint comparison, including encoder precision</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11</a:t>
            </a:fld>
            <a:endParaRPr lang="en-US"/>
          </a:p>
        </p:txBody>
      </p:sp>
      <p:sp>
        <p:nvSpPr>
          <p:cNvPr id="7" name="BF16 Reference"/>
          <p:cNvSpPr txBox="1"/>
          <p:nvPr/>
        </p:nvSpPr>
        <p:spPr>
          <a:xfrm>
            <a:off x="1828800" y="5715000"/>
            <a:ext cx="10515600" cy="914400"/>
          </a:xfrm>
          <a:prstGeom prst="rect">
            <a:avLst/>
          </a:prstGeom>
          <a:noFill/>
        </p:spPr>
        <p:txBody>
          <a:bodyPr wrap="square" lIns="0" rIns="0" tIns="0" bIns="0">
            <a:spAutoFit/>
          </a:bodyPr>
          <a:lstStyle/>
          <a:p>
            <a:pPr algn="ctr">
              <a:lnSpc>
                <a:spcPct val="108000"/>
              </a:lnSpc>
              <a:spcBef>
                <a:spcPts val="0"/>
              </a:spcBef>
              <a:spcAft>
                <a:spcPts val="1200"/>
              </a:spcAft>
            </a:pPr>
            <a:r>
              <a:rPr sz="44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828800" y="7315200"/>
            <a:ext cx="10515600" cy="6008914"/>
          </a:xfrm>
          <a:prstGeom prst="rect">
            <a:avLst/>
          </a:prstGeom>
          <a:ln w="9525">
            <a:solidFill>
              <a:srgbClr val="A7A7A7"/>
            </a:solidFill>
          </a:ln>
        </p:spPr>
      </p:pic>
      <p:sp>
        <p:nvSpPr>
          <p:cNvPr id="9" name="Original BF16 weights"/>
          <p:cNvSpPr txBox="1"/>
          <p:nvPr/>
        </p:nvSpPr>
        <p:spPr>
          <a:xfrm>
            <a:off x="1828800" y="13827034"/>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200" b="0">
                <a:solidFill>
                  <a:srgbClr val="313131"/>
                </a:solidFill>
                <a:latin typeface="NVIDIA Sans"/>
              </a:rPr>
              <a:t>Original BF16 weights</a:t>
            </a:r>
          </a:p>
        </p:txBody>
      </p:sp>
      <p:sp>
        <p:nvSpPr>
          <p:cNvPr id="10" name="Request E2E: 48.12 s*"/>
          <p:cNvSpPr txBox="1"/>
          <p:nvPr/>
        </p:nvSpPr>
        <p:spPr>
          <a:xfrm>
            <a:off x="1828800" y="14904720"/>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400" b="1">
                <a:solidFill>
                  <a:srgbClr val="313131"/>
                </a:solidFill>
                <a:latin typeface="NVIDIA Sans Medium"/>
              </a:rPr>
              <a:t>Request E2E: 48.12 s*</a:t>
            </a:r>
          </a:p>
        </p:txBody>
      </p:sp>
      <p:sp>
        <p:nvSpPr>
          <p:cNvPr id="11" name="LPIPS ↓ 0.0000  |  SSIM ↑ 1.0000"/>
          <p:cNvSpPr txBox="1"/>
          <p:nvPr/>
        </p:nvSpPr>
        <p:spPr>
          <a:xfrm>
            <a:off x="1828800" y="15910559"/>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LPIPS ↓ 0.0000  |  SSIM ↑ 1.0000</a:t>
            </a:r>
          </a:p>
        </p:txBody>
      </p:sp>
      <p:sp>
        <p:nvSpPr>
          <p:cNvPr id="12" name="Online NVFP4"/>
          <p:cNvSpPr txBox="1"/>
          <p:nvPr/>
        </p:nvSpPr>
        <p:spPr>
          <a:xfrm>
            <a:off x="13030200" y="5715000"/>
            <a:ext cx="10515600" cy="914400"/>
          </a:xfrm>
          <a:prstGeom prst="rect">
            <a:avLst/>
          </a:prstGeom>
          <a:noFill/>
        </p:spPr>
        <p:txBody>
          <a:bodyPr wrap="square" lIns="0" rIns="0" tIns="0" bIns="0">
            <a:spAutoFit/>
          </a:bodyPr>
          <a:lstStyle/>
          <a:p>
            <a:pPr algn="ctr">
              <a:lnSpc>
                <a:spcPct val="108000"/>
              </a:lnSpc>
              <a:spcBef>
                <a:spcPts val="0"/>
              </a:spcBef>
              <a:spcAft>
                <a:spcPts val="1200"/>
              </a:spcAft>
            </a:pPr>
            <a:r>
              <a:rPr sz="44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3030200" y="7315200"/>
            <a:ext cx="10515600" cy="6008914"/>
          </a:xfrm>
          <a:prstGeom prst="rect">
            <a:avLst/>
          </a:prstGeom>
          <a:ln w="9525">
            <a:solidFill>
              <a:srgbClr val="A7A7A7"/>
            </a:solidFill>
          </a:ln>
        </p:spPr>
      </p:pic>
      <p:sp>
        <p:nvSpPr>
          <p:cNvPr id="14" name="No calibration · No QAD"/>
          <p:cNvSpPr txBox="1"/>
          <p:nvPr/>
        </p:nvSpPr>
        <p:spPr>
          <a:xfrm>
            <a:off x="13030200" y="13827034"/>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200" b="0">
                <a:solidFill>
                  <a:srgbClr val="313131"/>
                </a:solidFill>
                <a:latin typeface="NVIDIA Sans"/>
              </a:rPr>
              <a:t>No calibration / fine-tuning / QAD</a:t>
            </a:r>
          </a:p>
        </p:txBody>
      </p:sp>
      <p:sp>
        <p:nvSpPr>
          <p:cNvPr id="15" name="Request E2E: 32.44 s*"/>
          <p:cNvSpPr txBox="1"/>
          <p:nvPr/>
        </p:nvSpPr>
        <p:spPr>
          <a:xfrm>
            <a:off x="13030200" y="14904720"/>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400" b="1">
                <a:solidFill>
                  <a:srgbClr val="313131"/>
                </a:solidFill>
                <a:latin typeface="NVIDIA Sans Medium"/>
              </a:rPr>
              <a:t>Request E2E: 32.44 s*</a:t>
            </a:r>
          </a:p>
        </p:txBody>
      </p:sp>
      <p:sp>
        <p:nvSpPr>
          <p:cNvPr id="16" name="LPIPS ↓ 0.2978  |  SSIM ↑ 0.5778"/>
          <p:cNvSpPr txBox="1"/>
          <p:nvPr/>
        </p:nvSpPr>
        <p:spPr>
          <a:xfrm>
            <a:off x="13030200" y="15910559"/>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LPIPS ↓ 0.2978  |  SSIM ↑ 0.5778</a:t>
            </a:r>
          </a:p>
        </p:txBody>
      </p:sp>
      <p:sp>
        <p:nvSpPr>
          <p:cNvPr id="17" name="QAD NVFP4"/>
          <p:cNvSpPr txBox="1"/>
          <p:nvPr/>
        </p:nvSpPr>
        <p:spPr>
          <a:xfrm>
            <a:off x="24231600" y="5715000"/>
            <a:ext cx="10515600" cy="914400"/>
          </a:xfrm>
          <a:prstGeom prst="rect">
            <a:avLst/>
          </a:prstGeom>
          <a:noFill/>
        </p:spPr>
        <p:txBody>
          <a:bodyPr wrap="square" lIns="0" rIns="0" tIns="0" bIns="0">
            <a:spAutoFit/>
          </a:bodyPr>
          <a:lstStyle/>
          <a:p>
            <a:pPr algn="ctr">
              <a:lnSpc>
                <a:spcPct val="108000"/>
              </a:lnSpc>
              <a:spcBef>
                <a:spcPts val="0"/>
              </a:spcBef>
              <a:spcAft>
                <a:spcPts val="1200"/>
              </a:spcAft>
            </a:pPr>
            <a:r>
              <a:rPr sz="44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24231600" y="7315200"/>
            <a:ext cx="10515600" cy="6008914"/>
          </a:xfrm>
          <a:prstGeom prst="rect">
            <a:avLst/>
          </a:prstGeom>
          <a:ln w="9525">
            <a:solidFill>
              <a:srgbClr val="A7A7A7"/>
            </a:solidFill>
          </a:ln>
        </p:spPr>
      </p:pic>
      <p:sp>
        <p:nvSpPr>
          <p:cNvPr id="19" name="Published QAD checkpoint"/>
          <p:cNvSpPr txBox="1"/>
          <p:nvPr/>
        </p:nvSpPr>
        <p:spPr>
          <a:xfrm>
            <a:off x="24231600" y="13827034"/>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200" b="0">
                <a:solidFill>
                  <a:srgbClr val="313131"/>
                </a:solidFill>
                <a:latin typeface="NVIDIA Sans"/>
              </a:rPr>
              <a:t>Published QAD checkpoint</a:t>
            </a:r>
          </a:p>
        </p:txBody>
      </p:sp>
      <p:sp>
        <p:nvSpPr>
          <p:cNvPr id="20" name="Request E2E: 28.40 s*"/>
          <p:cNvSpPr txBox="1"/>
          <p:nvPr/>
        </p:nvSpPr>
        <p:spPr>
          <a:xfrm>
            <a:off x="24231600" y="14904720"/>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400" b="1">
                <a:solidFill>
                  <a:srgbClr val="313131"/>
                </a:solidFill>
                <a:latin typeface="NVIDIA Sans Medium"/>
              </a:rPr>
              <a:t>Request E2E: 28.40 s*</a:t>
            </a:r>
          </a:p>
        </p:txBody>
      </p:sp>
      <p:sp>
        <p:nvSpPr>
          <p:cNvPr id="21" name="LPIPS ↓ 0.2502  |  SSIM ↑ 0.6438"/>
          <p:cNvSpPr txBox="1"/>
          <p:nvPr/>
        </p:nvSpPr>
        <p:spPr>
          <a:xfrm>
            <a:off x="24231600" y="15910559"/>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LPIPS ↓ 0.2502  |  SSIM ↑ 0.6438</a:t>
            </a:r>
          </a:p>
        </p:txBody>
      </p:sp>
      <p:sp>
        <p:nvSpPr>
          <p:cNvPr id="22" name="1344 × 768  ·  124 frames @ 24 FPS  ·  8 steps  ·  Seed 1234"/>
          <p:cNvSpPr txBox="1"/>
          <p:nvPr/>
        </p:nvSpPr>
        <p:spPr>
          <a:xfrm>
            <a:off x="1828800" y="17190720"/>
            <a:ext cx="32918400" cy="822960"/>
          </a:xfrm>
          <a:prstGeom prst="rect">
            <a:avLst/>
          </a:prstGeom>
          <a:noFill/>
        </p:spPr>
        <p:txBody>
          <a:bodyPr wrap="square" lIns="0" rIns="0" tIns="0" bIns="0">
            <a:spAutoFit/>
          </a:bodyPr>
          <a:lstStyle/>
          <a:p>
            <a:pPr algn="ctr">
              <a:lnSpc>
                <a:spcPct val="108000"/>
              </a:lnSpc>
              <a:spcBef>
                <a:spcPts val="0"/>
              </a:spcBef>
              <a:spcAft>
                <a:spcPts val="1200"/>
              </a:spcAft>
            </a:pPr>
            <a:r>
              <a:rPr sz="3400" b="0">
                <a:solidFill>
                  <a:srgbClr val="313131"/>
                </a:solidFill>
                <a:latin typeface="NVIDIA Sans"/>
              </a:rPr>
              <a:t>1344 × 768  ·  124 frames @ 24 FPS  ·  8 steps  ·  Seed 1234</a:t>
            </a:r>
          </a:p>
        </p:txBody>
      </p:sp>
      <p:sp>
        <p:nvSpPr>
          <p:cNvPr id="23" name="*Single requests; warmup / encoder / HSDP differ. Metrics: all frames vs. BF16."/>
          <p:cNvSpPr txBox="1"/>
          <p:nvPr/>
        </p:nvSpPr>
        <p:spPr>
          <a:xfrm>
            <a:off x="1828800" y="18288000"/>
            <a:ext cx="32918400" cy="82296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*Single requests; warmup / encoder / HSDP differ. Metrics: all frames vs. BF16.</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Start with token shards</a:t>
            </a:r>
          </a:p>
          <a:p>
            <a:pPr lvl="1" algn="l"/>
            <a:r>
              <a:rPr b="0">
                <a:solidFill>
                  <a:srgbClr val="313131"/>
                </a:solidFill>
                <a:latin typeface="NVIDIA Sans"/>
              </a:rPr>
              <a:t>Eight GPUs split 56,960 tokens; each rank keeps 7,120 tokens and all 56 heads</a:t>
            </a:r>
          </a:p>
          <a:p>
            <a:pPr algn="l"/>
            <a:r>
              <a:rPr b="1">
                <a:solidFill>
                  <a:srgbClr val="76B900"/>
                </a:solidFill>
                <a:latin typeface="NVIDIA Sans Medium"/>
              </a:rPr>
              <a:t>Swap the sharding axis</a:t>
            </a:r>
          </a:p>
          <a:p>
            <a:pPr lvl="1" algn="l"/>
            <a:r>
              <a:rPr b="0">
                <a:solidFill>
                  <a:srgbClr val="313131"/>
                </a:solidFill>
                <a:latin typeface="NVIDIA Sans"/>
              </a:rPr>
              <a:t>Q/K/V/G all-to-all changes [S/8, 56] into [S, 7]</a:t>
            </a:r>
          </a:p>
          <a:p>
            <a:pPr algn="l"/>
            <a:r>
              <a:rPr b="1">
                <a:solidFill>
                  <a:srgbClr val="76B900"/>
                </a:solidFill>
                <a:latin typeface="NVIDIA Sans Medium"/>
              </a:rPr>
              <a:t>Do the expensive part locally</a:t>
            </a:r>
          </a:p>
          <a:p>
            <a:pPr lvl="1" algn="l"/>
            <a:r>
              <a:rPr b="0">
                <a:solidFill>
                  <a:srgbClr val="313131"/>
                </a:solidFill>
                <a:latin typeface="NVIDIA Sans"/>
              </a:rPr>
              <a:t>Each GPU sees the full sequence for its own seven heads</a:t>
            </a:r>
          </a:p>
          <a:p>
            <a:pPr algn="l"/>
            <a:r>
              <a:rPr b="1">
                <a:solidFill>
                  <a:srgbClr val="76B900"/>
                </a:solidFill>
                <a:latin typeface="NVIDIA Sans Medium"/>
              </a:rPr>
              <a:t>Switch back for the block</a:t>
            </a:r>
          </a:p>
          <a:p>
            <a:pPr lvl="1" algn="l"/>
            <a:r>
              <a:rPr b="0">
                <a:solidFill>
                  <a:srgbClr val="313131"/>
                </a:solidFill>
                <a:latin typeface="NVIDIA Sans"/>
              </a:rPr>
              <a:t>The O all-to-all restores token shards for projection, residual, and MLP</a:t>
            </a:r>
          </a:p>
        </p:txBody>
      </p:sp>
      <p:sp>
        <p:nvSpPr>
          <p:cNvPr id="3" name="Text Placeholder 2"/>
          <p:cNvSpPr>
            <a:spLocks noGrp="1"/>
          </p:cNvSpPr>
          <p:nvPr>
            <p:ph type="body" idx="14" sz="quarter"/>
          </p:nvPr>
        </p:nvSpPr>
        <p:spPr>
          <a:xfrm>
            <a:off x="1828800" y="5806440"/>
            <a:ext cx="13716000" cy="1417320"/>
          </a:xfrm>
        </p:spPr>
        <p:txBody>
          <a:bodyPr/>
          <a:lstStyle/>
          <a:p>
            <a:r>
              <a:t>Each GPU swaps a token shard for seven full-sequence heads</a:t>
            </a:r>
          </a:p>
        </p:txBody>
      </p:sp>
      <p:sp>
        <p:nvSpPr>
          <p:cNvPr id="4" name="Title 3"/>
          <p:cNvSpPr>
            <a:spLocks noGrp="1"/>
          </p:cNvSpPr>
          <p:nvPr>
            <p:ph type="title"/>
          </p:nvPr>
        </p:nvSpPr>
        <p:spPr>
          <a:xfrm>
            <a:off x="1828800" y="1828800"/>
            <a:ext cx="13716000" cy="3840480"/>
          </a:xfrm>
        </p:spPr>
        <p:txBody>
          <a:bodyPr/>
          <a:lstStyle/>
          <a:p>
            <a:r>
              <a:t>Ulysses</a:t>
            </a:r>
          </a:p>
        </p:txBody>
      </p:sp>
      <p:sp>
        <p:nvSpPr>
          <p:cNvPr id="5" name="Text Placeholder 4"/>
          <p:cNvSpPr>
            <a:spLocks noGrp="1"/>
          </p:cNvSpPr>
          <p:nvPr>
            <p:ph type="body" idx="52" sz="quarter"/>
          </p:nvPr>
        </p:nvSpPr>
        <p:spPr>
          <a:xfrm>
            <a:off x="17373600" y="16824960"/>
            <a:ext cx="17373600" cy="1097280"/>
          </a:xfrm>
        </p:spPr>
        <p:txBody>
          <a:bodyPr/>
          <a:lstStyle/>
          <a:p>
            <a:r>
              <a:t>Original website illustration: P = 4
Measured H3 configuration at left: P = 8</a:t>
            </a:r>
          </a:p>
        </p:txBody>
      </p:sp>
      <p:sp>
        <p:nvSpPr>
          <p:cNvPr id="6" name="Text Placeholder 5"/>
          <p:cNvSpPr>
            <a:spLocks noGrp="1"/>
          </p:cNvSpPr>
          <p:nvPr>
            <p:ph type="body" idx="51" sz="quarter"/>
          </p:nvPr>
        </p:nvSpPr>
        <p:spPr>
          <a:xfrm>
            <a:off x="17373600" y="16002000"/>
            <a:ext cx="17373600" cy="685800"/>
          </a:xfrm>
        </p:spPr>
        <p:txBody>
          <a:bodyPr/>
          <a:lstStyle/>
          <a:p>
            <a:r>
              <a:t>Sequence shards → head shards → sequence shards</a:t>
            </a:r>
          </a:p>
        </p:txBody>
      </p:sp>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retained scaling website · Ulysses illustration P=4 · H3 profile at left P=8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12</a:t>
            </a:fld>
            <a:endParaRPr lang="en-US"/>
          </a:p>
        </p:txBody>
      </p:sp>
      <p:pic>
        <p:nvPicPr>
          <p:cNvPr id="10" name="Original website Ulysses schematic — P=4 illustration" descr="Original website Ulysses schematic — P=4 illustration">
            <a:hlinkClick r:id="rId6"/>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373600" y="4310538"/>
            <a:ext cx="17373600" cy="11129962"/>
          </a:xfrm>
          <a:prstGeom prst="rect">
            <a:avLst/>
          </a:prstGeom>
          <a:ln w="9525">
            <a:solidFill>
              <a:srgbClr val="A7A7A7"/>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5943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AMD EPYC 9005 architecture · xGMI raw capacity assumption</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13</a:t>
            </a:fld>
            <a:endParaRPr lang="en-US"/>
          </a:p>
        </p:txBody>
      </p:sp>
      <p:pic>
        <p:nvPicPr>
          <p:cNvPr id="9" name="Topology with one-way capacity model" descr="topology-bandwidth.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828800" y="4800600"/>
            <a:ext cx="32918400" cy="13167359"/>
          </a:xfrm>
          <a:prstGeom prst="rect">
            <a:avLst/>
          </a:prstGeom>
          <a:ln w="9525">
            <a:solidFill>
              <a:srgbClr val="A7A7A7"/>
            </a:solidFill>
          </a:ln>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Matched eight-GPU Q/K/V/O exchanges · FI RDMA is 2.33–2.47× faster across three sequence lengths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14</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sp>
        <p:nvSpPr>
          <p:cNvPr id="7" name="Bandwidth bounds — native template text"/>
          <p:cNvSpPr>
            <a:spLocks noGrp="1"/>
          </p:cNvSpPr>
          <p:nvPr>
            <p:ph type="body" idx="20" sz="quarter"/>
          </p:nvPr>
        </p:nvSpPr>
        <p:spPr>
          <a:xfrm>
            <a:off x="1828800" y="5303520"/>
            <a:ext cx="15636240" cy="7772400"/>
          </a:xfrm>
        </p:spPr>
        <p:txBody>
          <a:bodyPr wrap="square" lIns="0" rIns="0" tIns="0" bIns="0"/>
          <a:lstStyle/>
          <a:p>
            <a:pPr algn="l"/>
            <a:r>
              <a:rPr b="1">
                <a:solidFill>
                  <a:srgbClr val="76B900"/>
                </a:solidFill>
                <a:latin typeface="NVIDIA Sans Medium"/>
              </a:rPr>
              <a:t>Local NCCL: one P2P peer, six SHM peers</a:t>
            </a:r>
          </a:p>
          <a:p>
            <a:pPr lvl="1" algn="l"/>
            <a:r>
              <a:rPr b="0">
                <a:solidFill>
                  <a:srgbClr val="313131"/>
                </a:solidFill>
                <a:latin typeface="NVIDIA Sans"/>
              </a:rPr>
              <a:t>Cross-subtree payload uses host memory</a:t>
            </a:r>
          </a:p>
          <a:p>
            <a:pPr lvl="1" algn="l"/>
            <a:r>
              <a:rPr b="0">
                <a:solidFill>
                  <a:srgbClr val="313131"/>
                </a:solidFill>
                <a:latin typeface="NVIDIA Sans"/>
              </a:rPr>
              <a:t>Two GPUs share one 63.0 GB/s uplink</a:t>
            </a:r>
          </a:p>
          <a:p>
            <a:pPr lvl="1" algn="l"/>
            <a:r>
              <a:rPr b="0">
                <a:solidFill>
                  <a:srgbClr val="313131"/>
                </a:solidFill>
                <a:latin typeface="NVIDIA Sans"/>
              </a:rPr>
              <a:t>2 × B × 6/7 ≤ 63.0  →  B ≤ 36.8 GB/s</a:t>
            </a:r>
          </a:p>
          <a:p>
            <a:pPr algn="l"/>
            <a:r>
              <a:rPr b="1">
                <a:solidFill>
                  <a:srgbClr val="76B900"/>
                </a:solidFill>
                <a:latin typeface="NVIDIA Sans Medium"/>
              </a:rPr>
              <a:t>Cross-NUMA: C = 256 GB/s (raw model)</a:t>
            </a:r>
          </a:p>
          <a:p>
            <a:pPr lvl="1" algn="l"/>
            <a:r>
              <a:rPr b="0">
                <a:solidFill>
                  <a:srgbClr val="313131"/>
                </a:solidFill>
                <a:latin typeface="NVIDIA Sans"/>
              </a:rPr>
              <a:t>4 × B × 4/7 ≤ 256 → B ≤ 112 GB/s</a:t>
            </a:r>
          </a:p>
          <a:p>
            <a:pPr lvl="1" algn="l"/>
            <a:r>
              <a:rPr b="0">
                <a:solidFill>
                  <a:srgbClr val="313131"/>
                </a:solidFill>
                <a:latin typeface="NVIDIA Sans"/>
              </a:rPr>
              <a:t>Local ceiling: min(36.8, 112) = 36.8</a:t>
            </a:r>
          </a:p>
          <a:p>
            <a:pPr algn="l"/>
            <a:r>
              <a:rPr b="1">
                <a:solidFill>
                  <a:srgbClr val="76B900"/>
                </a:solidFill>
                <a:latin typeface="NVIDIA Sans Medium"/>
              </a:rPr>
              <a:t>FI RDMA: one nearest 400G port per GPU</a:t>
            </a:r>
          </a:p>
          <a:p>
            <a:pPr lvl="1" algn="l"/>
            <a:r>
              <a:rPr b="0">
                <a:solidFill>
                  <a:srgbClr val="313131"/>
                </a:solidFill>
                <a:latin typeface="NVIDIA Sans"/>
              </a:rPr>
              <a:t>Bypasses host buffers and CPU-facing uplinks</a:t>
            </a:r>
          </a:p>
          <a:p>
            <a:pPr lvl="1" algn="l"/>
            <a:r>
              <a:rPr b="0">
                <a:solidFill>
                  <a:srgbClr val="313131"/>
                </a:solidFill>
                <a:latin typeface="NVIDIA Sans"/>
              </a:rPr>
              <a:t>B ≤ min(63.0, 128/2, 50) = 50 GB/s</a:t>
            </a:r>
          </a:p>
        </p:txBody>
      </p:sp>
      <p:sp>
        <p:nvSpPr>
          <p:cNvPr id="10" name="Bandwidth variable definitions"/>
          <p:cNvSpPr>
            <a:spLocks noGrp="1"/>
          </p:cNvSpPr>
          <p:nvPr>
            <p:ph type="body" idx="52" sz="quarter"/>
          </p:nvPr>
        </p:nvSpPr>
        <p:spPr>
          <a:xfrm>
            <a:off x="1828800" y="17465040"/>
            <a:ext cx="15636240" cy="1143000"/>
          </a:xfrm>
        </p:spPr>
        <p:txBody>
          <a:bodyPr/>
          <a:lstStyle/>
          <a:p>
            <a:r>
              <a:t>B: off-rank TX per GPU · C: raw xGMI model input
Necessary link bounds; effective capacity can be lower</a:t>
            </a:r>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922240" y="5224272"/>
            <a:ext cx="16824960" cy="11497056"/>
          </a:xfrm>
          <a:prstGeom prst="rect">
            <a:avLst/>
          </a:prstGeom>
          <a:ln w="9525">
            <a:solidFill>
              <a:srgbClr val="A7A7A7"/>
            </a:solidFill>
          </a:ln>
        </p:spPr>
      </p:pic>
      <p:sp>
        <p:nvSpPr>
          <p:cNvPr id="12" name="Shared PCIe uplink is the tighter raw bound"/>
          <p:cNvSpPr txBox="1"/>
          <p:nvPr/>
        </p:nvSpPr>
        <p:spPr>
          <a:xfrm>
            <a:off x="1828800" y="13258800"/>
            <a:ext cx="15636240" cy="822960"/>
          </a:xfrm>
          <a:prstGeom prst="rect">
            <a:avLst/>
          </a:prstGeom>
          <a:noFill/>
        </p:spPr>
        <p:txBody>
          <a:bodyPr wrap="square" lIns="0" rIns="0" tIns="0" bIns="0">
            <a:spAutoFit/>
          </a:bodyPr>
          <a:lstStyle/>
          <a:p>
            <a:pPr algn="l">
              <a:lnSpc>
                <a:spcPct val="108000"/>
              </a:lnSpc>
              <a:spcBef>
                <a:spcPts val="0"/>
              </a:spcBef>
              <a:spcAft>
                <a:spcPts val="1200"/>
              </a:spcAft>
            </a:pPr>
            <a:r>
              <a:rPr sz="3300" b="1">
                <a:solidFill>
                  <a:srgbClr val="76B900"/>
                </a:solidFill>
                <a:latin typeface="NVIDIA Sans Medium"/>
              </a:rPr>
              <a:t>Shared PCIe uplink is the tighter raw bound</a:t>
            </a:r>
          </a:p>
        </p:txBody>
      </p:sp>
      <p:sp>
        <p:nvSpPr>
          <p:cNvPr id="13" name="SHM, layout and scheduling add further cost."/>
          <p:cNvSpPr txBox="1"/>
          <p:nvPr/>
        </p:nvSpPr>
        <p:spPr>
          <a:xfrm>
            <a:off x="1828800" y="14310360"/>
            <a:ext cx="15636240" cy="2377440"/>
          </a:xfrm>
          <a:prstGeom prst="rect">
            <a:avLst/>
          </a:prstGeom>
          <a:noFill/>
        </p:spPr>
        <p:txBody>
          <a:bodyPr wrap="square" lIns="0" rIns="0" tIns="0" bIns="0">
            <a:spAutoFit/>
          </a:bodyPr>
          <a:lstStyle/>
          <a:p>
            <a:pPr algn="l">
              <a:lnSpc>
                <a:spcPct val="108000"/>
              </a:lnSpc>
              <a:spcBef>
                <a:spcPts val="0"/>
              </a:spcBef>
              <a:spcAft>
                <a:spcPts val="1200"/>
              </a:spcAft>
            </a:pPr>
            <a:r>
              <a:rPr sz="3100" b="0">
                <a:solidFill>
                  <a:srgbClr val="313131"/>
                </a:solidFill>
                <a:latin typeface="NVIDIA Sans"/>
              </a:rPr>
              <a:t>SHM, layout and scheduling add further cost.</a:t>
            </a:r>
          </a:p>
          <a:p>
            <a:pPr algn="l">
              <a:lnSpc>
                <a:spcPct val="108000"/>
              </a:lnSpc>
              <a:spcBef>
                <a:spcPts val="0"/>
              </a:spcBef>
              <a:spcAft>
                <a:spcPts val="1200"/>
              </a:spcAft>
            </a:pPr>
            <a:r>
              <a:rPr sz="3100" b="0">
                <a:solidFill>
                  <a:srgbClr val="313131"/>
                </a:solidFill>
                <a:latin typeface="NVIDIA Sans"/>
              </a:rPr>
              <a:t>Next: hide waits with 2 / 3 / 2 head bands,</a:t>
            </a:r>
          </a:p>
          <a:p>
            <a:pPr algn="l">
              <a:lnSpc>
                <a:spcPct val="108000"/>
              </a:lnSpc>
              <a:spcBef>
                <a:spcPts val="0"/>
              </a:spcBef>
              <a:spcAft>
                <a:spcPts val="1200"/>
              </a:spcAft>
            </a:pPr>
            <a:r>
              <a:rPr sz="3100" b="0">
                <a:solidFill>
                  <a:srgbClr val="313131"/>
                </a:solidFill>
                <a:latin typeface="NVIDIA Sans"/>
              </a:rPr>
              <a:t>then reduce compute launch cost with graphs.</a:t>
            </a:r>
          </a:p>
        </p:txBody>
      </p:sp>
      <p:sp>
        <p:nvSpPr>
          <p:cNvPr id="14" name="Measured: communication + layout + scheduling; not E2E."/>
          <p:cNvSpPr txBox="1"/>
          <p:nvPr/>
        </p:nvSpPr>
        <p:spPr>
          <a:xfrm>
            <a:off x="17922240" y="17053560"/>
            <a:ext cx="16824960" cy="64008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Measured: communication + layout + scheduling; not E2E.</a:t>
            </a:r>
          </a:p>
        </p:txBody>
      </p:sp>
      <p:sp>
        <p:nvSpPr>
          <p:cNvPr id="15" name="Separate Q/K-first candidate: 96/96 rank checks exact"/>
          <p:cNvSpPr txBox="1"/>
          <p:nvPr/>
        </p:nvSpPr>
        <p:spPr>
          <a:xfrm>
            <a:off x="17922240" y="17785080"/>
            <a:ext cx="16824960" cy="114300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Separate Q/K-first candidate: 96/96 rank checks exact</a:t>
            </a:r>
          </a:p>
          <a:p>
            <a:pPr algn="l">
              <a:lnSpc>
                <a:spcPct val="108000"/>
              </a:lnSpc>
              <a:spcBef>
                <a:spcPts val="0"/>
              </a:spcBef>
              <a:spcAft>
                <a:spcPts val="1200"/>
              </a:spcAft>
            </a:pPr>
            <a:r>
              <a:rPr sz="2700" b="0">
                <a:solidFill>
                  <a:srgbClr val="313131"/>
                </a:solidFill>
                <a:latin typeface="NVIDIA Sans"/>
              </a:rPr>
              <a:t>on four GPUs; full eight-GPU H3 validation pending.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5577840"/>
            <a:ext cx="23042880" cy="11155680"/>
          </a:xfrm>
        </p:spPr>
        <p:txBody>
          <a:bodyPr wrap="none" lIns="0" rIns="0" tIns="0" bIns="0"/>
          <a:lstStyle/>
          <a:p>
            <a:pPr>
              <a:spcAft>
                <a:spcPts val="1800"/>
              </a:spcAft>
            </a:pPr>
            <a:r>
              <a:rPr sz="3800" b="0">
                <a:solidFill>
                  <a:srgbClr val="A7A7A7"/>
                </a:solidFill>
                <a:latin typeface="Roboto Mono"/>
              </a:rPr>
              <a:t># comm.py:44–62 · original Q/K/V branch</a:t>
            </a:r>
          </a:p>
          <a:p>
            <a:pPr>
              <a:spcAft>
                <a:spcPts val="1800"/>
              </a:spcAft>
            </a:pPr>
            <a:r>
              <a:rPr sz="3800" b="0">
                <a:solidFill>
                  <a:srgbClr val="313131"/>
                </a:solidFill>
                <a:latin typeface="Roboto Mono"/>
              </a:rPr>
              <a:t>input_t = (</a:t>
            </a:r>
          </a:p>
          <a:p>
            <a:pPr>
              <a:spcAft>
                <a:spcPts val="1800"/>
              </a:spcAft>
            </a:pPr>
            <a:r>
              <a:rPr sz="3800" b="0">
                <a:solidFill>
                  <a:srgbClr val="313131"/>
                </a:solidFill>
                <a:latin typeface="Roboto Mono"/>
              </a:rPr>
              <a:t>    input.reshape(bs, shard_seqlen,</a:t>
            </a:r>
          </a:p>
          <a:p>
            <a:pPr>
              <a:spcAft>
                <a:spcPts val="1800"/>
              </a:spcAft>
            </a:pPr>
            <a:r>
              <a:rPr sz="3800" b="0">
                <a:solidFill>
                  <a:srgbClr val="313131"/>
                </a:solidFill>
                <a:latin typeface="Roboto Mono"/>
              </a:rPr>
              <a:t>                  seq_world_size, shard_hc, hs)</a:t>
            </a:r>
          </a:p>
          <a:p>
            <a:pPr>
              <a:spcAft>
                <a:spcPts val="1800"/>
              </a:spcAft>
            </a:pPr>
            <a:r>
              <a:rPr sz="3800" b="0">
                <a:solidFill>
                  <a:srgbClr val="313131"/>
                </a:solidFill>
                <a:latin typeface="Roboto Mono"/>
              </a:rPr>
              <a:t>    .transpose(0, 2).contiguous()</a:t>
            </a:r>
          </a:p>
          <a:p>
            <a:pPr>
              <a:spcAft>
                <a:spcPts val="1800"/>
              </a:spcAft>
            </a:pPr>
            <a:r>
              <a:rPr sz="3800" b="0">
                <a:solidFill>
                  <a:srgbClr val="313131"/>
                </a:solidFill>
                <a:latin typeface="Roboto Mono"/>
              </a:rPr>
              <a:t>)</a:t>
            </a:r>
          </a:p>
          <a:p>
            <a:pPr>
              <a:spcAft>
                <a:spcPts val="1800"/>
              </a:spcAft>
            </a:pPr>
            <a:r>
              <a:rPr sz="3800" b="0">
                <a:solidFill>
                  <a:srgbClr val="313131"/>
                </a:solidFill>
                <a:latin typeface="Roboto Mono"/>
              </a:rPr>
              <a:t>output = torch.empty_like(input_t)</a:t>
            </a:r>
          </a:p>
          <a:p>
            <a:pPr>
              <a:spcAft>
                <a:spcPts val="1800"/>
              </a:spcAft>
            </a:pPr>
            <a:r>
              <a:rPr sz="3800" b="1">
                <a:solidFill>
                  <a:srgbClr val="76B900"/>
                </a:solidFill>
                <a:latin typeface="Roboto Mono"/>
              </a:rPr>
              <a:t>dist.all_to_all_single(output, input_t, group=group)</a:t>
            </a:r>
          </a:p>
          <a:p>
            <a:pPr>
              <a:spcAft>
                <a:spcPts val="1800"/>
              </a:spcAft>
            </a:pPr>
            <a:r>
              <a:rPr sz="3800" b="0">
                <a:solidFill>
                  <a:srgbClr val="313131"/>
                </a:solidFill>
                <a:latin typeface="Roboto Mono"/>
              </a:rPr>
              <a:t>output = output.reshape(seqlen, bs, shard_hc, hs)</a:t>
            </a:r>
          </a:p>
          <a:p>
            <a:pPr>
              <a:spcAft>
                <a:spcPts val="1800"/>
              </a:spcAft>
            </a:pPr>
            <a:r>
              <a:rPr sz="3800" b="0">
                <a:solidFill>
                  <a:srgbClr val="313131"/>
                </a:solidFill>
                <a:latin typeface="Roboto Mono"/>
              </a:rPr>
              <a:t>output = (output.transpose(0, 1).contiguous()</a:t>
            </a:r>
          </a:p>
          <a:p>
            <a:pPr>
              <a:spcAft>
                <a:spcPts val="1800"/>
              </a:spcAft>
            </a:pPr>
            <a:r>
              <a:rPr sz="3800" b="0">
                <a:solidFill>
                  <a:srgbClr val="313131"/>
                </a:solidFill>
                <a:latin typeface="Roboto Mono"/>
              </a:rPr>
              <a:t>          .reshape(bs, seqlen, shard_hc, hs))</a:t>
            </a:r>
          </a:p>
        </p:txBody>
      </p:sp>
      <p:sp>
        <p:nvSpPr>
          <p:cNvPr id="3" name="Text Placeholder 2"/>
          <p:cNvSpPr>
            <a:spLocks noGrp="1"/>
          </p:cNvSpPr>
          <p:nvPr>
            <p:ph type="body" idx="14" sz="quarter"/>
          </p:nvPr>
        </p:nvSpPr>
        <p:spPr/>
        <p:txBody>
          <a:bodyPr/>
          <a:lstStyle/>
          <a:p>
            <a:r>
              <a:t>Q/K/V: pack head shards → NCCL all-to-all → restore sequence layout</a:t>
            </a:r>
          </a:p>
        </p:txBody>
      </p:sp>
      <p:sp>
        <p:nvSpPr>
          <p:cNvPr id="4" name="Title 3"/>
          <p:cNvSpPr>
            <a:spLocks noGrp="1"/>
          </p:cNvSpPr>
          <p:nvPr>
            <p:ph type="title"/>
          </p:nvPr>
        </p:nvSpPr>
        <p:spPr/>
        <p:txBody>
          <a:bodyPr/>
          <a:lstStyle/>
          <a:p>
            <a:r>
              <a:t>Original vLLM-Omni Ulysses</a:t>
            </a:r>
          </a:p>
        </p:txBody>
      </p:sp>
      <p:sp>
        <p:nvSpPr>
          <p:cNvPr id="5" name="Original Ulysses source notes"/>
          <p:cNvSpPr>
            <a:spLocks noGrp="1"/>
          </p:cNvSpPr>
          <p:nvPr>
            <p:ph type="body" idx="20" sz="quarter"/>
          </p:nvPr>
        </p:nvSpPr>
        <p:spPr>
          <a:xfrm>
            <a:off x="25603200" y="5577840"/>
            <a:ext cx="9144000" cy="11887200"/>
          </a:xfrm>
        </p:spPr>
        <p:txBody>
          <a:bodyPr wrap="square" lIns="0" rIns="0" tIns="0" bIns="0"/>
          <a:lstStyle/>
          <a:p>
            <a:pPr algn="l"/>
            <a:r>
              <a:rPr b="1">
                <a:solidFill>
                  <a:srgbClr val="76B900"/>
                </a:solidFill>
                <a:latin typeface="NVIDIA Sans Medium"/>
              </a:rPr>
              <a:t>Four exchanges per dense block</a:t>
            </a:r>
          </a:p>
          <a:p>
            <a:pPr lvl="1" algn="l"/>
            <a:r>
              <a:rPr b="0">
                <a:solidFill>
                  <a:srgbClr val="313131"/>
                </a:solidFill>
                <a:latin typeface="NVIDIA Sans"/>
              </a:rPr>
              <a:t>Q / K / V: scatter heads</a:t>
            </a:r>
          </a:p>
          <a:p>
            <a:pPr lvl="1" algn="l"/>
            <a:r>
              <a:rPr b="0">
                <a:solidFill>
                  <a:srgbClr val="313131"/>
                </a:solidFill>
                <a:latin typeface="NVIDIA Sans"/>
              </a:rPr>
              <a:t>O: scatter sequence</a:t>
            </a:r>
          </a:p>
          <a:p>
            <a:pPr algn="l"/>
            <a:r>
              <a:rPr b="1">
                <a:solidFill>
                  <a:srgbClr val="76B900"/>
                </a:solidFill>
                <a:latin typeface="NVIDIA Sans Medium"/>
              </a:rPr>
              <a:t>NCCL selects the route</a:t>
            </a:r>
          </a:p>
          <a:p>
            <a:pPr lvl="1" algn="l"/>
            <a:r>
              <a:rPr b="0">
                <a:solidFill>
                  <a:srgbClr val="313131"/>
                </a:solidFill>
                <a:latin typeface="NVIDIA Sans"/>
              </a:rPr>
              <a:t>P2P / SHM / NET depend on topology and configuration</a:t>
            </a:r>
          </a:p>
          <a:p>
            <a:pPr algn="l"/>
            <a:r>
              <a:rPr b="1">
                <a:solidFill>
                  <a:srgbClr val="76B900"/>
                </a:solidFill>
                <a:latin typeface="NVIDIA Sans Medium"/>
              </a:rPr>
              <a:t>At batch = 1</a:t>
            </a:r>
          </a:p>
          <a:p>
            <a:pPr lvl="1" algn="l"/>
            <a:r>
              <a:rPr b="0">
                <a:solidFill>
                  <a:srgbClr val="313131"/>
                </a:solidFill>
                <a:latin typeface="NVIDIA Sans"/>
              </a:rPr>
              <a:t>Q/K/V output transpose is a view; contiguous() does not always copy</a:t>
            </a:r>
          </a:p>
        </p:txBody>
      </p:sp>
      <p:sp>
        <p:nvSpPr>
          <p:cNvPr id="6" name="Ulysses call-chain source"/>
          <p:cNvSpPr>
            <a:spLocks noGrp="1"/>
          </p:cNvSpPr>
          <p:nvPr>
            <p:ph type="body" idx="52" sz="quarter"/>
          </p:nvPr>
        </p:nvSpPr>
        <p:spPr>
          <a:xfrm>
            <a:off x="1828800" y="16916400"/>
            <a:ext cx="32918400" cy="1417320"/>
          </a:xfrm>
        </p:spPr>
        <p:txBody>
          <a:bodyPr/>
          <a:lstStyle/>
          <a:p>
            <a:r>
              <a:t>ulysses.py:538–547 → SeqAllToAll4D.forward → all_to_all_4D → PyTorch NCCL
O reverses the exchange at ulysses.py:721 · pinned source: 63487a7f22db</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Base50 checkout 63487a7f22db · comm.py:44–62 · line wrapping adjusted;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15</a:t>
            </a:fld>
            <a:endParaRPr lang="en-US"/>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Faster transfers leave a dependency bubble when all heads move as one group</a:t>
            </a:r>
          </a:p>
        </p:txBody>
      </p:sp>
      <p:sp>
        <p:nvSpPr>
          <p:cNvPr id="4" name="Title 3"/>
          <p:cNvSpPr>
            <a:spLocks noGrp="1"/>
          </p:cNvSpPr>
          <p:nvPr>
            <p:ph type="title"/>
          </p:nvPr>
        </p:nvSpPr>
        <p:spPr/>
        <p:txBody>
          <a:bodyPr/>
          <a:lstStyle/>
          <a:p>
            <a:r>
              <a:t>RDMA Still Leaves Ulysses Waiting</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Nsight Systems 2025.3.2 · retained FI RDMA baseline · 8 × RTX PRO 5000 · 960 × 544 · 362 frames · 8 steps</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16</a:t>
            </a:fld>
            <a:endParaRPr lang="en-US"/>
          </a:p>
        </p:txBody>
      </p:sp>
      <p:pic>
        <p:nvPicPr>
          <p:cNvPr id="7" name="Actual Nsight Systems RDMA baseline" descr="nsys-rdma-baseline.png"/>
          <p:cNvPicPr>
            <a:picLocks noChangeAspect="1"/>
          </p:cNvPicPr>
          <p:nvPr/>
        </p:nvPicPr>
        <p:blipFill>
          <a:blip r:embed="rId3"/>
          <a:stretch>
            <a:fillRect/>
          </a:stretch>
        </p:blipFill>
        <p:spPr>
          <a:xfrm>
            <a:off x="2145650" y="5303520"/>
            <a:ext cx="22226299" cy="10698480"/>
          </a:xfrm>
          <a:prstGeom prst="rect">
            <a:avLst/>
          </a:prstGeom>
          <a:ln w="9525">
            <a:solidFill>
              <a:srgbClr val="A7A7A7"/>
            </a:solidFill>
          </a:ln>
        </p:spPr>
      </p:pic>
      <p:sp>
        <p:nvSpPr>
          <p:cNvPr id="8" name="Annotation: exposed communication waits"/>
          <p:cNvSpPr/>
          <p:nvPr/>
        </p:nvSpPr>
        <p:spPr>
          <a:xfrm>
            <a:off x="10853714" y="6530942"/>
            <a:ext cx="3433465" cy="2421671"/>
          </a:xfrm>
          <a:prstGeom prst="rect">
            <a:avLst/>
          </a:prstGeom>
          <a:noFill/>
          <a:ln w="9525">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y bubbles remain"/>
          <p:cNvSpPr txBox="1"/>
          <p:nvPr/>
        </p:nvSpPr>
        <p:spPr>
          <a:xfrm>
            <a:off x="25786080" y="5486400"/>
            <a:ext cx="8961120" cy="1005840"/>
          </a:xfrm>
          <a:prstGeom prst="rect">
            <a:avLst/>
          </a:prstGeom>
          <a:noFill/>
        </p:spPr>
        <p:txBody>
          <a:bodyPr wrap="square" lIns="0" rIns="0" tIns="0" bIns="0">
            <a:spAutoFit/>
          </a:bodyPr>
          <a:lstStyle/>
          <a:p>
            <a:pPr algn="l">
              <a:lnSpc>
                <a:spcPct val="108000"/>
              </a:lnSpc>
              <a:spcBef>
                <a:spcPts val="0"/>
              </a:spcBef>
              <a:spcAft>
                <a:spcPts val="1200"/>
              </a:spcAft>
            </a:pPr>
            <a:r>
              <a:rPr sz="4000" b="1">
                <a:solidFill>
                  <a:srgbClr val="76B900"/>
                </a:solidFill>
                <a:latin typeface="NVIDIA Sans Medium"/>
              </a:rPr>
              <a:t>Why bubbles remain</a:t>
            </a:r>
          </a:p>
        </p:txBody>
      </p:sp>
      <p:sp>
        <p:nvSpPr>
          <p:cNvPr id="10" name="Attention waits for complete Q/K/V."/>
          <p:cNvSpPr txBox="1"/>
          <p:nvPr/>
        </p:nvSpPr>
        <p:spPr>
          <a:xfrm>
            <a:off x="25786080" y="6858000"/>
            <a:ext cx="8961120" cy="3657600"/>
          </a:xfrm>
          <a:prstGeom prst="rect">
            <a:avLst/>
          </a:prstGeom>
          <a:noFill/>
        </p:spPr>
        <p:txBody>
          <a:bodyPr wrap="square" lIns="0" rIns="0" tIns="0" bIns="0">
            <a:spAutoFit/>
          </a:bodyPr>
          <a:lstStyle/>
          <a:p>
            <a:pPr algn="l">
              <a:lnSpc>
                <a:spcPct val="108000"/>
              </a:lnSpc>
              <a:spcBef>
                <a:spcPts val="0"/>
              </a:spcBef>
              <a:spcAft>
                <a:spcPts val="1200"/>
              </a:spcAft>
            </a:pPr>
            <a:r>
              <a:rPr sz="3600" b="0">
                <a:solidFill>
                  <a:srgbClr val="313131"/>
                </a:solidFill>
                <a:latin typeface="NVIDIA Sans"/>
              </a:rPr>
              <a:t>Attention waits for complete Q/K/V.</a:t>
            </a:r>
          </a:p>
          <a:p>
            <a:pPr algn="l">
              <a:lnSpc>
                <a:spcPct val="108000"/>
              </a:lnSpc>
              <a:spcBef>
                <a:spcPts val="0"/>
              </a:spcBef>
              <a:spcAft>
                <a:spcPts val="1200"/>
              </a:spcAft>
            </a:pPr>
            <a:r>
              <a:rPr sz="3600" b="0">
                <a:solidFill>
                  <a:srgbClr val="313131"/>
                </a:solidFill>
                <a:latin typeface="NVIDIA Sans"/>
              </a:rPr>
              <a:t>Output projection waits for the returned O.</a:t>
            </a:r>
          </a:p>
        </p:txBody>
      </p:sp>
      <p:sp>
        <p:nvSpPr>
          <p:cNvPr id="11" name="3.24 s / GPU"/>
          <p:cNvSpPr txBox="1"/>
          <p:nvPr/>
        </p:nvSpPr>
        <p:spPr>
          <a:xfrm>
            <a:off x="25786080" y="11338560"/>
            <a:ext cx="8961120" cy="1097280"/>
          </a:xfrm>
          <a:prstGeom prst="rect">
            <a:avLst/>
          </a:prstGeom>
          <a:noFill/>
        </p:spPr>
        <p:txBody>
          <a:bodyPr wrap="square" lIns="0" rIns="0" tIns="0" bIns="0">
            <a:spAutoFit/>
          </a:bodyPr>
          <a:lstStyle/>
          <a:p>
            <a:pPr algn="l">
              <a:lnSpc>
                <a:spcPct val="108000"/>
              </a:lnSpc>
              <a:spcBef>
                <a:spcPts val="0"/>
              </a:spcBef>
              <a:spcAft>
                <a:spcPts val="1200"/>
              </a:spcAft>
            </a:pPr>
            <a:r>
              <a:rPr sz="4800" b="1">
                <a:solidFill>
                  <a:srgbClr val="76B900"/>
                </a:solidFill>
                <a:latin typeface="NVIDIA Sans Medium"/>
              </a:rPr>
              <a:t>3.24 s / GPU</a:t>
            </a:r>
          </a:p>
        </p:txBody>
      </p:sp>
      <p:sp>
        <p:nvSpPr>
          <p:cNvPr id="12" name="Exposed transport phase"/>
          <p:cNvSpPr txBox="1"/>
          <p:nvPr/>
        </p:nvSpPr>
        <p:spPr>
          <a:xfrm>
            <a:off x="25786080" y="12710160"/>
            <a:ext cx="8961120" cy="2377440"/>
          </a:xfrm>
          <a:prstGeom prst="rect">
            <a:avLst/>
          </a:prstGeom>
          <a:noFill/>
        </p:spPr>
        <p:txBody>
          <a:bodyPr wrap="square" lIns="0" rIns="0" tIns="0" bIns="0">
            <a:spAutoFit/>
          </a:bodyPr>
          <a:lstStyle/>
          <a:p>
            <a:pPr algn="l">
              <a:lnSpc>
                <a:spcPct val="108000"/>
              </a:lnSpc>
              <a:spcBef>
                <a:spcPts val="0"/>
              </a:spcBef>
              <a:spcAft>
                <a:spcPts val="1200"/>
              </a:spcAft>
            </a:pPr>
            <a:r>
              <a:rPr sz="3200" b="0">
                <a:solidFill>
                  <a:srgbClr val="313131"/>
                </a:solidFill>
                <a:latin typeface="NVIDIA Sans"/>
              </a:rPr>
              <a:t>Exposed transport phase</a:t>
            </a:r>
          </a:p>
          <a:p>
            <a:pPr algn="l">
              <a:lnSpc>
                <a:spcPct val="108000"/>
              </a:lnSpc>
              <a:spcBef>
                <a:spcPts val="0"/>
              </a:spcBef>
              <a:spcAft>
                <a:spcPts val="1200"/>
              </a:spcAft>
            </a:pPr>
            <a:r>
              <a:rPr sz="3200" b="0">
                <a:solidFill>
                  <a:srgbClr val="313131"/>
                </a:solidFill>
                <a:latin typeface="NVIDIA Sans"/>
              </a:rPr>
              <a:t>8-GPU mean, full DiT trace</a:t>
            </a:r>
          </a:p>
        </p:txBody>
      </p:sp>
      <p:sp>
        <p:nvSpPr>
          <p:cNvPr id="13" name="Compute-lane gaps overlap communication phases; NIC work need not appear as a CUDA kernel."/>
          <p:cNvSpPr txBox="1"/>
          <p:nvPr/>
        </p:nvSpPr>
        <p:spPr>
          <a:xfrm>
            <a:off x="1828800" y="16550640"/>
            <a:ext cx="32918400" cy="91440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313131"/>
                </a:solidFill>
                <a:latin typeface="NVIDIA Sans Medium"/>
              </a:rPr>
              <a:t>Compute-lane gaps overlap communication phases; NIC work need not appear as a CUDA kernel.</a:t>
            </a:r>
          </a:p>
        </p:txBody>
      </p:sp>
      <p:sp>
        <p:nvSpPr>
          <p:cNvPr id="14" name="Transport phase includes host posting / CQ polling / flush. This is a profiled baseline, not a 2/3/2 result."/>
          <p:cNvSpPr txBox="1"/>
          <p:nvPr/>
        </p:nvSpPr>
        <p:spPr>
          <a:xfrm>
            <a:off x="1828800" y="17830800"/>
            <a:ext cx="32918400" cy="91440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Transport phase includes host posting / CQ polling / flush. This is a profiled baseline, not a 2/3/2 result.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Use 2 → 3 → 2 heads per GPU to overlap communication and attention</a:t>
            </a:r>
          </a:p>
        </p:txBody>
      </p:sp>
      <p:sp>
        <p:nvSpPr>
          <p:cNvPr id="4" name="Title 3"/>
          <p:cNvSpPr>
            <a:spLocks noGrp="1"/>
          </p:cNvSpPr>
          <p:nvPr>
            <p:ph type="title"/>
          </p:nvPr>
        </p:nvSpPr>
        <p:spPr/>
        <p:txBody>
          <a:bodyPr/>
          <a:lstStyle/>
          <a:p>
            <a:r>
              <a:t>Pipeline Ulysses by Head Bands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Selected schedule: 2 / 3 / 2 · dependency schematic, not a measured Nsight timeline</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17</a:t>
            </a:fld>
            <a:endParaRPr lang="en-US"/>
          </a:p>
        </p:txBody>
      </p:sp>
      <p:sp>
        <p:nvSpPr>
          <p:cNvPr id="8" name="Start earlier"/>
          <p:cNvSpPr txBox="1"/>
          <p:nvPr/>
        </p:nvSpPr>
        <p:spPr>
          <a:xfrm>
            <a:off x="182880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Start earlier</a:t>
            </a:r>
          </a:p>
        </p:txBody>
      </p:sp>
      <p:sp>
        <p:nvSpPr>
          <p:cNvPr id="9" name="Run the first two heads as soon as their full-sequence inputs arrive."/>
          <p:cNvSpPr txBox="1"/>
          <p:nvPr/>
        </p:nvSpPr>
        <p:spPr>
          <a:xfrm>
            <a:off x="182880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Run the first two heads as soon as their full-sequence inputs arrive.</a:t>
            </a:r>
          </a:p>
        </p:txBody>
      </p:sp>
      <p:sp>
        <p:nvSpPr>
          <p:cNvPr id="10" name="Overlap across bands"/>
          <p:cNvSpPr txBox="1"/>
          <p:nvPr/>
        </p:nvSpPr>
        <p:spPr>
          <a:xfrm>
            <a:off x="1307592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Overlap across bands</a:t>
            </a:r>
          </a:p>
        </p:txBody>
      </p:sp>
      <p:sp>
        <p:nvSpPr>
          <p:cNvPr id="11" name="Transfer the next band while current-band attention executes."/>
          <p:cNvSpPr txBox="1"/>
          <p:nvPr/>
        </p:nvSpPr>
        <p:spPr>
          <a:xfrm>
            <a:off x="1307592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Transfer the next band while current-band attention executes.</a:t>
            </a:r>
          </a:p>
        </p:txBody>
      </p:sp>
      <p:sp>
        <p:nvSpPr>
          <p:cNvPr id="12" name="Then reduce launch cost"/>
          <p:cNvSpPr txBox="1"/>
          <p:nvPr/>
        </p:nvSpPr>
        <p:spPr>
          <a:xfrm>
            <a:off x="2432304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Then reduce launch cost</a:t>
            </a:r>
          </a:p>
        </p:txBody>
      </p:sp>
      <p:sp>
        <p:nvSpPr>
          <p:cNvPr id="13" name="Repeated small compute islands motivate CUDA Graph replay."/>
          <p:cNvSpPr txBox="1"/>
          <p:nvPr/>
        </p:nvSpPr>
        <p:spPr>
          <a:xfrm>
            <a:off x="2432304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Repeated small compute islands motivate CUDA Graph replay.</a:t>
            </a:r>
          </a:p>
        </p:txBody>
      </p:sp>
      <p:pic>
        <p:nvPicPr>
          <p:cNvPr id="14" name="Three-band Ulysses dependency schedule" descr="head-pipeline-232.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28800" y="5326380"/>
            <a:ext cx="32918400" cy="11109959"/>
          </a:xfrm>
          <a:prstGeom prst="rect">
            <a:avLst/>
          </a:prstGeom>
          <a:ln w="9525">
            <a:solidFill>
              <a:srgbClr val="A7A7A7"/>
            </a:solidFill>
          </a:ln>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After head pipelining, replay each stable compute band with one graph launch</a:t>
            </a:r>
          </a:p>
        </p:txBody>
      </p:sp>
      <p:sp>
        <p:nvSpPr>
          <p:cNvPr id="4" name="Title 3"/>
          <p:cNvSpPr>
            <a:spLocks noGrp="1"/>
          </p:cNvSpPr>
          <p:nvPr>
            <p:ph type="title"/>
          </p:nvPr>
        </p:nvSpPr>
        <p:spPr/>
        <p:txBody>
          <a:bodyPr/>
          <a:lstStyle/>
          <a:p>
            <a:r>
              <a:t>CUDA Graph: Reduce Submission Gaps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Sources: H3 compute-graph prototype and retained measurements · NVIDIA CUDA Programming Guide · conceptual timeline</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18</a:t>
            </a:fld>
            <a:endParaRPr lang="en-US"/>
          </a:p>
        </p:txBody>
      </p:sp>
      <p:pic>
        <p:nvPicPr>
          <p:cNvPr id="7" name="CUDA Graph before and after submission timeline" descr="cuda-graph-before-after.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28800" y="4937760"/>
            <a:ext cx="32918400" cy="10698480"/>
          </a:xfrm>
          <a:prstGeom prst="rect">
            <a:avLst/>
          </a:prstGeom>
          <a:ln w="9525">
            <a:solidFill>
              <a:srgbClr val="A7A7A7"/>
            </a:solidFill>
          </a:ln>
        </p:spPr>
      </p:pic>
      <p:sp>
        <p:nvSpPr>
          <p:cNvPr id="8" name="Historical 1 / 2 / 3 / 1 · measured separately"/>
          <p:cNvSpPr txBox="1"/>
          <p:nvPr/>
        </p:nvSpPr>
        <p:spPr>
          <a:xfrm>
            <a:off x="1828800" y="16047720"/>
            <a:ext cx="32918400" cy="731520"/>
          </a:xfrm>
          <a:prstGeom prst="rect">
            <a:avLst/>
          </a:prstGeom>
          <a:noFill/>
        </p:spPr>
        <p:txBody>
          <a:bodyPr wrap="square" lIns="0" rIns="0" tIns="0" bIns="0">
            <a:spAutoFit/>
          </a:bodyPr>
          <a:lstStyle/>
          <a:p>
            <a:pPr algn="l">
              <a:lnSpc>
                <a:spcPct val="108000"/>
              </a:lnSpc>
              <a:spcBef>
                <a:spcPts val="0"/>
              </a:spcBef>
              <a:spcAft>
                <a:spcPts val="1200"/>
              </a:spcAft>
            </a:pPr>
            <a:r>
              <a:rPr sz="3000" b="1">
                <a:solidFill>
                  <a:srgbClr val="313131"/>
                </a:solidFill>
                <a:latin typeface="NVIDIA Sans Medium"/>
              </a:rPr>
              <a:t>Historical 1 / 2 / 3 / 1 · measured separately</a:t>
            </a:r>
          </a:p>
        </p:txBody>
      </p:sp>
      <p:sp>
        <p:nvSpPr>
          <p:cNvPr id="9" name="8-GPU request: 13.250 → 11.994 s  (−9.48%)"/>
          <p:cNvSpPr txBox="1"/>
          <p:nvPr/>
        </p:nvSpPr>
        <p:spPr>
          <a:xfrm>
            <a:off x="1828800" y="16962120"/>
            <a:ext cx="1645920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8-GPU request: 13.250 → 11.994 s  (−9.48%)</a:t>
            </a:r>
          </a:p>
        </p:txBody>
      </p:sp>
      <p:sp>
        <p:nvSpPr>
          <p:cNvPr id="10" name="Compute only: 12.323 → 12.040 ms  (−2.30%)"/>
          <p:cNvSpPr txBox="1"/>
          <p:nvPr/>
        </p:nvSpPr>
        <p:spPr>
          <a:xfrm>
            <a:off x="18653760" y="16962120"/>
            <a:ext cx="1609344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Compute only: 12.323 → 12.040 ms  (−2.30%)</a:t>
            </a:r>
          </a:p>
        </p:txBody>
      </p:sp>
      <p:sp>
        <p:nvSpPr>
          <p:cNvPr id="11" name="Warmed request cohorts; full output MP4 included."/>
          <p:cNvSpPr txBox="1"/>
          <p:nvPr/>
        </p:nvSpPr>
        <p:spPr>
          <a:xfrm>
            <a:off x="1828800" y="17922240"/>
            <a:ext cx="16459200" cy="640080"/>
          </a:xfrm>
          <a:prstGeom prst="rect">
            <a:avLst/>
          </a:prstGeom>
          <a:noFill/>
        </p:spPr>
        <p:txBody>
          <a:bodyPr wrap="square" lIns="0" rIns="0" tIns="0" bIns="0">
            <a:spAutoFit/>
          </a:bodyPr>
          <a:lstStyle/>
          <a:p>
            <a:pPr algn="l">
              <a:lnSpc>
                <a:spcPct val="108000"/>
              </a:lnSpc>
              <a:spcBef>
                <a:spcPts val="0"/>
              </a:spcBef>
              <a:spcAft>
                <a:spcPts val="1200"/>
              </a:spcAft>
            </a:pPr>
            <a:r>
              <a:rPr sz="2600" b="0">
                <a:solidFill>
                  <a:srgbClr val="313131"/>
                </a:solidFill>
                <a:latin typeface="NVIDIA Sans"/>
              </a:rPr>
              <a:t>Warmed request cohorts; full output MP4 included.</a:t>
            </a:r>
          </a:p>
        </p:txBody>
      </p:sp>
      <p:sp>
        <p:nvSpPr>
          <p:cNvPr id="12" name="Single GPU · unpack + VSA + pack · no RDMA"/>
          <p:cNvSpPr txBox="1"/>
          <p:nvPr/>
        </p:nvSpPr>
        <p:spPr>
          <a:xfrm>
            <a:off x="18653760" y="17922240"/>
            <a:ext cx="16093440" cy="640080"/>
          </a:xfrm>
          <a:prstGeom prst="rect">
            <a:avLst/>
          </a:prstGeom>
          <a:noFill/>
        </p:spPr>
        <p:txBody>
          <a:bodyPr wrap="square" lIns="0" rIns="0" tIns="0" bIns="0">
            <a:spAutoFit/>
          </a:bodyPr>
          <a:lstStyle/>
          <a:p>
            <a:pPr algn="l">
              <a:lnSpc>
                <a:spcPct val="108000"/>
              </a:lnSpc>
              <a:spcBef>
                <a:spcPts val="0"/>
              </a:spcBef>
              <a:spcAft>
                <a:spcPts val="1200"/>
              </a:spcAft>
            </a:pPr>
            <a:r>
              <a:rPr sz="2600" b="0">
                <a:solidFill>
                  <a:srgbClr val="313131"/>
                </a:solidFill>
                <a:latin typeface="NVIDIA Sans"/>
              </a:rPr>
              <a:t>Single GPU · unpack + VSA + pack · no RDMA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Fixed video geometry and stable buffers make repeated head-band compute reusable</a:t>
            </a:r>
          </a:p>
        </p:txBody>
      </p:sp>
      <p:sp>
        <p:nvSpPr>
          <p:cNvPr id="4" name="Title 3"/>
          <p:cNvSpPr>
            <a:spLocks noGrp="1"/>
          </p:cNvSpPr>
          <p:nvPr>
            <p:ph type="title"/>
          </p:nvPr>
        </p:nvSpPr>
        <p:spPr/>
        <p:txBody>
          <a:bodyPr/>
          <a:lstStyle/>
          <a:p>
            <a:r>
              <a:t>Why CUDA Graph Fits H3</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H3 prototype capture/key audit · 50 DiT blocks × 8 evaluations · proposed production profile dispatch</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19</a:t>
            </a:fld>
            <a:endParaRPr lang="en-US"/>
          </a:p>
        </p:txBody>
      </p:sp>
      <p:sp>
        <p:nvSpPr>
          <p:cNvPr id="7" name="Repeated work"/>
          <p:cNvSpPr txBox="1"/>
          <p:nvPr/>
        </p:nvSpPr>
        <p:spPr>
          <a:xfrm>
            <a:off x="1828800" y="5303520"/>
            <a:ext cx="15544800" cy="777240"/>
          </a:xfrm>
          <a:prstGeom prst="rect">
            <a:avLst/>
          </a:prstGeom>
          <a:noFill/>
        </p:spPr>
        <p:txBody>
          <a:bodyPr wrap="square" lIns="0" rIns="0" tIns="0" bIns="0">
            <a:spAutoFit/>
          </a:bodyPr>
          <a:lstStyle/>
          <a:p>
            <a:pPr algn="l">
              <a:lnSpc>
                <a:spcPct val="108000"/>
              </a:lnSpc>
              <a:spcBef>
                <a:spcPts val="0"/>
              </a:spcBef>
              <a:spcAft>
                <a:spcPts val="1200"/>
              </a:spcAft>
            </a:pPr>
            <a:r>
              <a:rPr sz="3700" b="1">
                <a:solidFill>
                  <a:srgbClr val="76B900"/>
                </a:solidFill>
                <a:latin typeface="NVIDIA Sans Medium"/>
              </a:rPr>
              <a:t>Repeated work</a:t>
            </a:r>
          </a:p>
        </p:txBody>
      </p:sp>
      <p:sp>
        <p:nvSpPr>
          <p:cNvPr id="8" name="50 blocks × 8 steps = 400 calls per band"/>
          <p:cNvSpPr txBox="1"/>
          <p:nvPr/>
        </p:nvSpPr>
        <p:spPr>
          <a:xfrm>
            <a:off x="1828800" y="6263640"/>
            <a:ext cx="15544800" cy="155448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50 blocks × 8 steps = 400 calls per band</a:t>
            </a:r>
          </a:p>
          <a:p>
            <a:pPr algn="l">
              <a:lnSpc>
                <a:spcPct val="108000"/>
              </a:lnSpc>
              <a:spcBef>
                <a:spcPts val="0"/>
              </a:spcBef>
              <a:spcAft>
                <a:spcPts val="1200"/>
              </a:spcAft>
            </a:pPr>
            <a:r>
              <a:rPr sz="3000" b="0">
                <a:solidFill>
                  <a:srgbClr val="313131"/>
                </a:solidFill>
                <a:latin typeface="NVIDIA Sans"/>
              </a:rPr>
              <a:t>for one unchanged execution profile.</a:t>
            </a:r>
          </a:p>
        </p:txBody>
      </p:sp>
      <p:sp>
        <p:nvSpPr>
          <p:cNvPr id="9" name="Stable shapes and buffers"/>
          <p:cNvSpPr txBox="1"/>
          <p:nvPr/>
        </p:nvSpPr>
        <p:spPr>
          <a:xfrm>
            <a:off x="1828800" y="8229600"/>
            <a:ext cx="15544800" cy="777240"/>
          </a:xfrm>
          <a:prstGeom prst="rect">
            <a:avLst/>
          </a:prstGeom>
          <a:noFill/>
        </p:spPr>
        <p:txBody>
          <a:bodyPr wrap="square" lIns="0" rIns="0" tIns="0" bIns="0">
            <a:spAutoFit/>
          </a:bodyPr>
          <a:lstStyle/>
          <a:p>
            <a:pPr algn="l">
              <a:lnSpc>
                <a:spcPct val="108000"/>
              </a:lnSpc>
              <a:spcBef>
                <a:spcPts val="0"/>
              </a:spcBef>
              <a:spcAft>
                <a:spcPts val="1200"/>
              </a:spcAft>
            </a:pPr>
            <a:r>
              <a:rPr sz="3700" b="1">
                <a:solidFill>
                  <a:srgbClr val="76B900"/>
                </a:solidFill>
                <a:latin typeface="NVIDIA Sans Medium"/>
              </a:rPr>
              <a:t>Stable shapes and buffers</a:t>
            </a:r>
          </a:p>
        </p:txBody>
      </p:sp>
      <p:sp>
        <p:nvSpPr>
          <p:cNvPr id="10" name="Refresh Q/K/V values in registered storage."/>
          <p:cNvSpPr txBox="1"/>
          <p:nvPr/>
        </p:nvSpPr>
        <p:spPr>
          <a:xfrm>
            <a:off x="1828800" y="9189720"/>
            <a:ext cx="15544800" cy="155448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Refresh Q/K/V values in registered storage.</a:t>
            </a:r>
          </a:p>
          <a:p>
            <a:pPr algn="l">
              <a:lnSpc>
                <a:spcPct val="108000"/>
              </a:lnSpc>
              <a:spcBef>
                <a:spcPts val="0"/>
              </a:spcBef>
              <a:spcAft>
                <a:spcPts val="1200"/>
              </a:spcAft>
            </a:pPr>
            <a:r>
              <a:rPr sz="3000" b="0">
                <a:solidFill>
                  <a:srgbClr val="313131"/>
                </a:solidFill>
                <a:latin typeface="NVIDIA Sans"/>
              </a:rPr>
              <a:t>Keep geometry, addresses and launch structure fixed.</a:t>
            </a:r>
          </a:p>
        </p:txBody>
      </p:sp>
      <p:sp>
        <p:nvSpPr>
          <p:cNvPr id="11" name="More launches after head splitting"/>
          <p:cNvSpPr txBox="1"/>
          <p:nvPr/>
        </p:nvSpPr>
        <p:spPr>
          <a:xfrm>
            <a:off x="1828800" y="11155680"/>
            <a:ext cx="15544800" cy="777240"/>
          </a:xfrm>
          <a:prstGeom prst="rect">
            <a:avLst/>
          </a:prstGeom>
          <a:noFill/>
        </p:spPr>
        <p:txBody>
          <a:bodyPr wrap="square" lIns="0" rIns="0" tIns="0" bIns="0">
            <a:spAutoFit/>
          </a:bodyPr>
          <a:lstStyle/>
          <a:p>
            <a:pPr algn="l">
              <a:lnSpc>
                <a:spcPct val="108000"/>
              </a:lnSpc>
              <a:spcBef>
                <a:spcPts val="0"/>
              </a:spcBef>
              <a:spcAft>
                <a:spcPts val="1200"/>
              </a:spcAft>
            </a:pPr>
            <a:r>
              <a:rPr sz="3700" b="1">
                <a:solidFill>
                  <a:srgbClr val="76B900"/>
                </a:solidFill>
                <a:latin typeface="NVIDIA Sans Medium"/>
              </a:rPr>
              <a:t>More launches after head splitting</a:t>
            </a:r>
          </a:p>
        </p:txBody>
      </p:sp>
      <p:sp>
        <p:nvSpPr>
          <p:cNvPr id="12" name="Capture unpack → VSA → pack together."/>
          <p:cNvSpPr txBox="1"/>
          <p:nvPr/>
        </p:nvSpPr>
        <p:spPr>
          <a:xfrm>
            <a:off x="1828800" y="12115800"/>
            <a:ext cx="15544800" cy="155448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Capture unpack → VSA → pack together.</a:t>
            </a:r>
          </a:p>
          <a:p>
            <a:pPr algn="l">
              <a:lnSpc>
                <a:spcPct val="108000"/>
              </a:lnSpc>
              <a:spcBef>
                <a:spcPts val="0"/>
              </a:spcBef>
              <a:spcAft>
                <a:spcPts val="1200"/>
              </a:spcAft>
            </a:pPr>
            <a:r>
              <a:rPr sz="3000" b="0">
                <a:solidFill>
                  <a:srgbClr val="313131"/>
                </a:solidFill>
                <a:latin typeface="NVIDIA Sans"/>
              </a:rPr>
              <a:t>Amortize capture over repeated band execution.</a:t>
            </a:r>
          </a:p>
        </p:txBody>
      </p:sp>
      <p:pic>
        <p:nvPicPr>
          <p:cNvPr id="13" name="CUDA Graph capture scope and eager boundaries" descr="cuda-graph-capture-scop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562724" y="5303520"/>
            <a:ext cx="16184070" cy="10972800"/>
          </a:xfrm>
          <a:prstGeom prst="rect">
            <a:avLst/>
          </a:prstGeom>
          <a:ln w="9525">
            <a:solidFill>
              <a:srgbClr val="A7A7A7"/>
            </a:solidFill>
          </a:ln>
        </p:spPr>
      </p:pic>
      <p:sp>
        <p:nvSpPr>
          <p:cNvPr id="14" name="Reuse has conditions"/>
          <p:cNvSpPr txBox="1"/>
          <p:nvPr/>
        </p:nvSpPr>
        <p:spPr>
          <a:xfrm>
            <a:off x="1828800" y="14721840"/>
            <a:ext cx="15544800" cy="731520"/>
          </a:xfrm>
          <a:prstGeom prst="rect">
            <a:avLst/>
          </a:prstGeom>
          <a:noFill/>
        </p:spPr>
        <p:txBody>
          <a:bodyPr wrap="square" lIns="0" rIns="0" tIns="0" bIns="0">
            <a:spAutoFit/>
          </a:bodyPr>
          <a:lstStyle/>
          <a:p>
            <a:pPr algn="l">
              <a:lnSpc>
                <a:spcPct val="108000"/>
              </a:lnSpc>
              <a:spcBef>
                <a:spcPts val="0"/>
              </a:spcBef>
              <a:spcAft>
                <a:spcPts val="1200"/>
              </a:spcAft>
            </a:pPr>
            <a:r>
              <a:rPr sz="3700" b="1">
                <a:solidFill>
                  <a:srgbClr val="76B900"/>
                </a:solidFill>
                <a:latin typeface="NVIDIA Sans Medium"/>
              </a:rPr>
              <a:t>Reuse has conditions</a:t>
            </a:r>
          </a:p>
        </p:txBody>
      </p:sp>
      <p:sp>
        <p:nvSpPr>
          <p:cNvPr id="15" name="New geometry needs a separately qualified graph."/>
          <p:cNvSpPr txBox="1"/>
          <p:nvPr/>
        </p:nvSpPr>
        <p:spPr>
          <a:xfrm>
            <a:off x="1828800" y="15681959"/>
            <a:ext cx="15544800" cy="192024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New geometry needs a separately qualified graph.</a:t>
            </a:r>
          </a:p>
          <a:p>
            <a:pPr algn="l">
              <a:lnSpc>
                <a:spcPct val="108000"/>
              </a:lnSpc>
              <a:spcBef>
                <a:spcPts val="0"/>
              </a:spcBef>
              <a:spcAft>
                <a:spcPts val="1200"/>
              </a:spcAft>
            </a:pPr>
            <a:r>
              <a:rPr sz="2900" b="0">
                <a:solidFill>
                  <a:srgbClr val="313131"/>
                </a:solidFill>
                <a:latin typeface="NVIDIA Sans"/>
              </a:rPr>
              <a:t>Budget capture time and private-pool memory.</a:t>
            </a:r>
          </a:p>
          <a:p>
            <a:pPr algn="l">
              <a:lnSpc>
                <a:spcPct val="108000"/>
              </a:lnSpc>
              <a:spcBef>
                <a:spcPts val="0"/>
              </a:spcBef>
              <a:spcAft>
                <a:spcPts val="1200"/>
              </a:spcAft>
            </a:pPr>
            <a:r>
              <a:rPr sz="2900" b="0">
                <a:solidFill>
                  <a:srgbClr val="313131"/>
                </a:solidFill>
                <a:latin typeface="NVIDIA Sans"/>
              </a:rPr>
              <a:t>Compute-bound kernels may gain little.</a:t>
            </a:r>
          </a:p>
        </p:txBody>
      </p:sp>
      <p:sp>
        <p:nvSpPr>
          <p:cNvPr id="16" name="H3: stable video / head profiles     ·     LLM decode: often batch / token profiles"/>
          <p:cNvSpPr txBox="1"/>
          <p:nvPr/>
        </p:nvSpPr>
        <p:spPr>
          <a:xfrm>
            <a:off x="1828800" y="18196560"/>
            <a:ext cx="32918400" cy="685800"/>
          </a:xfrm>
          <a:prstGeom prst="rect">
            <a:avLst/>
          </a:prstGeom>
          <a:noFill/>
        </p:spPr>
        <p:txBody>
          <a:bodyPr wrap="square" lIns="0" rIns="0" tIns="0" bIns="0">
            <a:spAutoFit/>
          </a:bodyPr>
          <a:lstStyle/>
          <a:p>
            <a:pPr algn="l">
              <a:lnSpc>
                <a:spcPct val="108000"/>
              </a:lnSpc>
              <a:spcBef>
                <a:spcPts val="0"/>
              </a:spcBef>
              <a:spcAft>
                <a:spcPts val="1200"/>
              </a:spcAft>
            </a:pPr>
            <a:r>
              <a:rPr sz="2800" b="1">
                <a:solidFill>
                  <a:srgbClr val="313131"/>
                </a:solidFill>
                <a:latin typeface="NVIDIA Sans Medium"/>
              </a:rPr>
              <a:t>H3: stable video / head profiles     ·     LLM decode: often batch / token profiles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Only Base50 uses the locked 960×544, 124-frame request; each optimized result uses a different workload</a:t>
            </a:r>
          </a:p>
        </p:txBody>
      </p:sp>
      <p:sp>
        <p:nvSpPr>
          <p:cNvPr id="3" name="Title 2"/>
          <p:cNvSpPr>
            <a:spLocks noGrp="1"/>
          </p:cNvSpPr>
          <p:nvPr>
            <p:ph type="title"/>
          </p:nvPr>
        </p:nvSpPr>
        <p:spPr/>
        <p:txBody>
          <a:bodyPr/>
          <a:lstStyle/>
          <a:p>
            <a:r>
              <a:t>Real-Time Demonstrated; Attribution Pending</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20</a:t>
            </a:fld>
            <a:endParaRPr lang="en-US"/>
          </a:p>
        </p:txBody>
      </p:sp>
      <p:graphicFrame>
        <p:nvGraphicFramePr>
          <p:cNvPr id="5" name="Official NVIDIA Results Evidenc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73"/>
        </p:xfrm>
        <a:graphic>
          <a:graphicData uri="http://schemas.openxmlformats.org/drawingml/2006/table">
            <a:tbl>
              <a:tblPr>
                <a:tableStyleId>{68D230F3-CF80-4859-8CE7-A43EE81993B5}</a:tableStyleId>
              </a:tblPr>
              <a:tblGrid>
                <a:gridCol w="457200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8686800">
                  <a:extLst>
                    <a:ext uri="{9D8B030D-6E8A-4147-A177-3AD203B41FA5}">
                      <a16:colId xmlns:a16="http://schemas.microsoft.com/office/drawing/2014/main" val="3872581152"/>
                    </a:ext>
                  </a:extLst>
                </a:gridCol>
                <a:gridCol w="6781921">
                  <a:extLst>
                    <a:ext uri="{9D8B030D-6E8A-4147-A177-3AD203B41FA5}">
                      <a16:colId xmlns:a16="http://schemas.microsoft.com/office/drawing/2014/main" val="254391404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Status</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Workload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System</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Result / Limit</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Measured baseline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124f · 5.167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Base50 · BF16 · USP8 · NCCL</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247.956 s · RTF 47.992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15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362f · 15.083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QAD · VSA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14.974 s mean · RTF 0.993</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10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243f · 10.125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Turbo · MXFP8 · 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6.958 s · RTF 0.687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Portrait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576×1024 · 119 new frames · 4.958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MXFP8 · Sage · FP4 VAE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4.459 s median · RTF 0.899</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921337">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Required matched test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Lock image, audio, prompt, seed, shape, and request mode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VSA → QAD/Sage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At least 3 runs per stage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690260899"/>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Sources: [A] Base50 r4 · [B] QAD 15 s cohort · [C] paired 10 s study · [D] portrait production · compare only within a row; timing and memory methods differ</a:t>
            </a:r>
            <a:endParaRPr lang="en-US" dirty="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02 · ComfyUI Apps
With vLLM-Omni</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Open PR #9194 adds character replacement, continuation-aware references, and chainable LoRA controls</a:t>
            </a:r>
          </a:p>
        </p:txBody>
      </p:sp>
      <p:sp>
        <p:nvSpPr>
          <p:cNvPr id="3" name="Title 2"/>
          <p:cNvSpPr>
            <a:spLocks noGrp="1"/>
          </p:cNvSpPr>
          <p:nvPr>
            <p:ph type="title"/>
          </p:nvPr>
        </p:nvSpPr>
        <p:spPr/>
        <p:txBody>
          <a:bodyPr/>
          <a:lstStyle/>
          <a:p>
            <a:r>
              <a:t>vLLM-Omni Brings Multi-GPU H3 to ComfyUI</a:t>
            </a:r>
          </a:p>
        </p:txBody>
      </p:sp>
      <p:sp>
        <p:nvSpPr>
          <p:cNvPr id="4" name="Text Placeholder 3"/>
          <p:cNvSpPr>
            <a:spLocks noGrp="1"/>
          </p:cNvSpPr>
          <p:nvPr>
            <p:ph type="body" idx="52" sz="quarter"/>
          </p:nvPr>
        </p:nvSpPr>
        <p:spPr/>
        <p:txBody>
          <a:bodyPr/>
          <a:lstStyle/>
          <a:p>
            <a:r>
              <a:t>ComfyUI authors the workflow; vLLM-Omni runs scheduling, model execution, and multi-GPU deployment</a:t>
            </a:r>
          </a:p>
        </p:txBody>
      </p:sp>
      <p:sp>
        <p:nvSpPr>
          <p:cNvPr id="5" name="Text Placeholder 4"/>
          <p:cNvSpPr>
            <a:spLocks noGrp="1"/>
          </p:cNvSpPr>
          <p:nvPr>
            <p:ph type="body" idx="51" sz="quarter"/>
          </p:nvPr>
        </p:nvSpPr>
        <p:spPr/>
        <p:txBody>
          <a:bodyPr/>
          <a:lstStyle/>
          <a:p>
            <a:r>
              <a:t>Official vLLM-Omni Architecture</a:t>
            </a:r>
          </a:p>
        </p:txBody>
      </p:sp>
      <p:pic>
        <p:nvPicPr>
          <p:cNvPr id="6" name="Picture Placeholder 5" descr="vllm-omni-architecture-official-16x9.png"/>
          <p:cNvPicPr>
            <a:picLocks noGrp="1" noChangeAspect="1"/>
          </p:cNvPicPr>
          <p:nvPr>
            <p:ph type="pic" idx="53" sz="quarter"/>
          </p:nvPr>
        </p:nvPicPr>
        <p:blipFill>
          <a:blip r:embed="rId3"/>
          <a:srcRect l="37" r="37"/>
          <a:stretch>
            <a:fillRect/>
          </a:stretch>
        </p:blipFill>
        <p:spPr>
          <a:ln w="9525">
            <a:solidFill>
              <a:srgbClr val="A7A7A7"/>
            </a:solidFill>
          </a:ln>
        </p:spPr>
      </p:pic>
      <p:sp>
        <p:nvSpPr>
          <p:cNvPr id="7" name="Text Placeholder 6"/>
          <p:cNvSpPr>
            <a:spLocks noGrp="1"/>
          </p:cNvSpPr>
          <p:nvPr>
            <p:ph type="body" idx="54" sz="quarter"/>
          </p:nvPr>
        </p:nvSpPr>
        <p:spPr/>
        <p:txBody>
          <a:bodyPr/>
          <a:lstStyle/>
          <a:p>
            <a:r>
              <a:t>The workflow supports single- and multi-character replacement, source-derived duration, long-video continuation, and LoRA controls</a:t>
            </a:r>
          </a:p>
        </p:txBody>
      </p:sp>
      <p:sp>
        <p:nvSpPr>
          <p:cNvPr id="8" name="Text Placeholder 7"/>
          <p:cNvSpPr>
            <a:spLocks noGrp="1"/>
          </p:cNvSpPr>
          <p:nvPr>
            <p:ph type="body" idx="55" sz="quarter"/>
          </p:nvPr>
        </p:nvSpPr>
        <p:spPr/>
        <p:txBody>
          <a:bodyPr/>
          <a:lstStyle/>
          <a:p>
            <a:r>
              <a:t>ComfyUI Workflow · PR #9194</a:t>
            </a:r>
          </a:p>
        </p:txBody>
      </p:sp>
      <p:pic>
        <p:nvPicPr>
          <p:cNvPr id="9" name="Picture Placeholder 8" descr="pr9194_comfyui_single_character_workflow-16x9.png"/>
          <p:cNvPicPr>
            <a:picLocks noGrp="1" noChangeAspect="1"/>
          </p:cNvPicPr>
          <p:nvPr>
            <p:ph type="pic" idx="56" sz="quarter"/>
          </p:nvPr>
        </p:nvPicPr>
        <p:blipFill>
          <a:blip r:embed="rId4"/>
          <a:srcRect l="28" r="28"/>
          <a:stretch>
            <a:fillRect/>
          </a:stretch>
        </p:blipFill>
        <p:spPr>
          <a:ln w="9525">
            <a:solidFill>
              <a:srgbClr val="A7A7A7"/>
            </a:solidFill>
          </a:ln>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vLLM-Omni v0.26 public deck, slide 22 · vLLM-Omni PR #9194 (open)</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22</a:t>
            </a:fld>
            <a:endParaRPr lang="en-US"/>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