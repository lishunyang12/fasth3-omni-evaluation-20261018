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7" r:id="rId44"/>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16.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8.xml"/><Relationship Id="rId51" Type="http://schemas.openxmlformats.org/officeDocument/2006/relationships/slide" Target="slides/slide1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9.xml"/><Relationship Id="rId100" Type="http://schemas.openxmlformats.org/officeDocument/2006/relationships/slide" Target="slides/slide20.xml"/><Relationship Id="rId101" Type="http://schemas.openxmlformats.org/officeDocument/2006/relationships/slide" Target="slides/slide21.xml"/><Relationship Id="rId102" Type="http://schemas.openxmlformats.org/officeDocument/2006/relationships/slide" Target="slides/slide2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newly generated matching crowded-night-market clips. The user selected the James Lo night-market reference before any outputs were generated. Prompt requests a five-second uninterrupted wide shot with many pedestrians, shops and lanterns, slow forward camera movement, independent crowd motion and a small shopping-bag handoff. These are requested actions, not a claim that every action is realized. Inspect the generated outputs separately. Same single reference image, prompt, seed 1234, 1344x768, 124 frames at 24fps and eight evaluations. Single idle GPU 0, identical layerwise CPU-offload configuration, original BF16 encoder, original video/audio VAE and cuDNN BF16 VSA. QAD DiT revision 0087718b2c8fe4b7e2d0a97463dc38da13f7703f; BF16 source 88d512c5e7cc38dda499fbb65688ce58611f9c80. QAD encoder replaced by the common original BF16 encoder for this controlled comparison. Online NVFP4 uses direct RTN of untouched BF16 weights with current-input tensor amax and per-16 E4M3 scales; no calibration table, QAD weights or learned QAD scales. Weight prepacking is cached before loading; activations are quantized dynamically each forward.</a:t>
            </a:r>
          </a:p>
          <a:p>
            <a:r>
              <a:t>All three videos are embedded side by side, started together and muted. PDF uses frame 60 for all posters. Request time includes the first generation after startup, CPU offload, possible first-use JIT, encoding and complete MP4 receipt; excludes loading and prepacking. It is not a production speed benchmark. LPIPS AlexNet v0.1 and RGB Gaussian SSIM use all 124 original-resolution decoded frames. Audio is not scored. Crowd motion can diverge even with the same seed; framewise differences do not isolate detail preservation, action correctness or temporal stability. This single sample does not establish general QAD superiority.</a:t>
            </a:r>
          </a:p>
          <a:p>
            <a:r>
              <a:t>Reference photograph: James Lo, Unsplash, https://unsplash.com/photos/crowded-street-market-at-night-with-lanterns-prZR_BQiZzU . Downloaded from the author's public Unsplash image at width 2400, quality 95, without editing. The source file and SHA256 are in video-provenance.json.</a:t>
            </a:r>
          </a:p>
          <a:p/>
          <a:p>
            <a:r>
              <a:t>Visual review: sampled frames 0, 24, 48, 72, 96 and 120 retain dense crowds, shops and lanterns in all three outputs. Foreground pedestrians move and occlude one another. A specific bag handoff and camera travel distance were not verified.</a:t>
            </a:r>
          </a:p>
          <a:p>
            <a:r>
              <a:t>Measured values: {"online_nvfp4": {"lpips_alex_v0_1": {"mean": 0.20293374329565034, "std_population": 0.025967516105094113, "min": 0.10791829973459244, "max": 0.24780380725860596, "frames": 124}, "ssim_rgb": {"mean": 0.5856079840882614, "std_population": 0.06557552277576059, "min": 0.4950069698834845, "max": 0.7241507284598728, "frames": 124}}, "qad_nvfp4": {"lpips_alex_v0_1": {"mean": 0.1864361187983905, "std_population": 0.03237268742291045, "min": 0.0830867737531662, "max": 0.26430436968803406, "frames": 124}, "ssim_rgb": {"mean": 0.6437654416671673, "std_population": 0.05560447690054216, "min": 0.5207953646026361, "max": 0.8245423213251488, "frames": 124}}}</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a:p>
            <a:r>
              <a:t>v1.29 annotations are native transparent overlays; the embedded Nsight screenshot bytes remain unchanged. Region 1 covers source pixels x525..732,y74..248, spanning sparse transport/control activity with little productive compute before the main attention region. Region 2 covers x1118..1174,y74..248, the exposed tail around O return. These are visually selected illustrative regions, not independently measured duration brackets; neither implies all GPU activity is absent. Guide lines extend from external labels to GPU-lane boxes. The 3.24 s value remains the full-trace exposed transport aggregate and is not the duration of these two boxes. The baseline is FI RDMA, not an NCCL trace or a CUDA Graph before/after comparison.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crowd detail, shop textures and occlusions in one densely populated scene</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Reference photo: James Lo / Unsplash · one matched sample · common cuDNN BF16 attention · frame-aligned similarity</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6537960"/>
            <a:ext cx="10515600" cy="6008914"/>
          </a:xfrm>
          <a:prstGeom prst="rect">
            <a:avLst/>
          </a:prstGeom>
          <a:ln w="9525">
            <a:solidFill>
              <a:srgbClr val="A7A7A7"/>
            </a:solidFill>
          </a:ln>
        </p:spPr>
      </p:pic>
      <p:sp>
        <p:nvSpPr>
          <p:cNvPr id="9" name="Original BF16 weights"/>
          <p:cNvSpPr txBox="1"/>
          <p:nvPr/>
        </p:nvSpPr>
        <p:spPr>
          <a:xfrm>
            <a:off x="18288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Original BF16 weights</a:t>
            </a:r>
          </a:p>
        </p:txBody>
      </p:sp>
      <p:sp>
        <p:nvSpPr>
          <p:cNvPr id="10" name="Request: 152.58 s*"/>
          <p:cNvSpPr txBox="1"/>
          <p:nvPr/>
        </p:nvSpPr>
        <p:spPr>
          <a:xfrm>
            <a:off x="18288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152.58 s*</a:t>
            </a:r>
          </a:p>
        </p:txBody>
      </p:sp>
      <p:sp>
        <p:nvSpPr>
          <p:cNvPr id="11" name="LPIPS 0.0000  |  SSIM 1.0000"/>
          <p:cNvSpPr txBox="1"/>
          <p:nvPr/>
        </p:nvSpPr>
        <p:spPr>
          <a:xfrm>
            <a:off x="18288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0.0000  |  SSIM 1.0000</a:t>
            </a:r>
          </a:p>
        </p:txBody>
      </p:sp>
      <p:sp>
        <p:nvSpPr>
          <p:cNvPr id="12" name="Online NVFP4"/>
          <p:cNvSpPr txBox="1"/>
          <p:nvPr/>
        </p:nvSpPr>
        <p:spPr>
          <a:xfrm>
            <a:off x="130302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6537960"/>
            <a:ext cx="10515600" cy="6008914"/>
          </a:xfrm>
          <a:prstGeom prst="rect">
            <a:avLst/>
          </a:prstGeom>
          <a:ln w="9525">
            <a:solidFill>
              <a:srgbClr val="A7A7A7"/>
            </a:solidFill>
          </a:ln>
        </p:spPr>
      </p:pic>
      <p:sp>
        <p:nvSpPr>
          <p:cNvPr id="14" name="Direct algorithm · No calibration / QAD"/>
          <p:cNvSpPr txBox="1"/>
          <p:nvPr/>
        </p:nvSpPr>
        <p:spPr>
          <a:xfrm>
            <a:off x="130302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Direct algorithm · No calibration / QAD</a:t>
            </a:r>
          </a:p>
        </p:txBody>
      </p:sp>
      <p:sp>
        <p:nvSpPr>
          <p:cNvPr id="15" name="Request: 103.14 s*"/>
          <p:cNvSpPr txBox="1"/>
          <p:nvPr/>
        </p:nvSpPr>
        <p:spPr>
          <a:xfrm>
            <a:off x="130302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103.14 s*</a:t>
            </a:r>
          </a:p>
        </p:txBody>
      </p:sp>
      <p:sp>
        <p:nvSpPr>
          <p:cNvPr id="16" name="LPIPS 0.2029  |  SSIM 0.5856"/>
          <p:cNvSpPr txBox="1"/>
          <p:nvPr/>
        </p:nvSpPr>
        <p:spPr>
          <a:xfrm>
            <a:off x="130302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0.2029  |  SSIM 0.5856</a:t>
            </a:r>
          </a:p>
        </p:txBody>
      </p:sp>
      <p:sp>
        <p:nvSpPr>
          <p:cNvPr id="17" name="QAD NVFP4"/>
          <p:cNvSpPr txBox="1"/>
          <p:nvPr/>
        </p:nvSpPr>
        <p:spPr>
          <a:xfrm>
            <a:off x="242316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6537960"/>
            <a:ext cx="10515600" cy="6008914"/>
          </a:xfrm>
          <a:prstGeom prst="rect">
            <a:avLst/>
          </a:prstGeom>
          <a:ln w="9525">
            <a:solidFill>
              <a:srgbClr val="A7A7A7"/>
            </a:solidFill>
          </a:ln>
        </p:spPr>
      </p:pic>
      <p:sp>
        <p:nvSpPr>
          <p:cNvPr id="19" name="Published QAD DiT weights"/>
          <p:cNvSpPr txBox="1"/>
          <p:nvPr/>
        </p:nvSpPr>
        <p:spPr>
          <a:xfrm>
            <a:off x="242316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Published QAD DiT weights</a:t>
            </a:r>
          </a:p>
        </p:txBody>
      </p:sp>
      <p:sp>
        <p:nvSpPr>
          <p:cNvPr id="20" name="Request: 102.53 s*"/>
          <p:cNvSpPr txBox="1"/>
          <p:nvPr/>
        </p:nvSpPr>
        <p:spPr>
          <a:xfrm>
            <a:off x="242316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102.53 s*</a:t>
            </a:r>
          </a:p>
        </p:txBody>
      </p:sp>
      <p:sp>
        <p:nvSpPr>
          <p:cNvPr id="21" name="LPIPS 0.1864  |  SSIM 0.6438"/>
          <p:cNvSpPr txBox="1"/>
          <p:nvPr/>
        </p:nvSpPr>
        <p:spPr>
          <a:xfrm>
            <a:off x="242316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0.1864  |  SSIM 0.6438</a:t>
            </a:r>
          </a:p>
        </p:txBody>
      </p:sp>
      <p:sp>
        <p:nvSpPr>
          <p:cNvPr id="22" name="Inspect small figures, merchandise, lanterns and detail through occlusions."/>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76B900"/>
                </a:solidFill>
                <a:latin typeface="NVIDIA Sans Medium"/>
              </a:rPr>
              <a:t>Inspect small figures, merchandise, lanterns and detail through occlusions.</a:t>
            </a:r>
          </a:p>
        </p:txBody>
      </p:sp>
      <p:sp>
        <p:nvSpPr>
          <p:cNvPr id="23" name="1344 × 768 · 124 frames at 24 FPS · 8 steps · Seed 1234 · Same BF16 encoder and VAE"/>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Same BF16 encoder and VAE</a:t>
            </a:r>
          </a:p>
        </p:txBody>
      </p:sp>
      <p:sp>
        <p:nvSpPr>
          <p:cNvPr id="24" name="*Single-GPU CPU offload; first request. LPIPS lower and SSIM higher mean closer to BF16."/>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*Single-GPU CPU offload; first request. LPIPS lower and SSIM higher mean closer to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1" y="4800599"/>
            <a:ext cx="32918397"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so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so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Whole-head dependencies expose communication waits before attention and output projection</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Actual Nsight Systems RDMA baseline" descr="image.png"/>
          <p:cNvPicPr>
            <a:picLocks noChangeAspect="1"/>
          </p:cNvPicPr>
          <p:nvPr/>
        </p:nvPicPr>
        <p:blipFill>
          <a:blip r:embed="rId3"/>
          <a:stretch>
            <a:fillRect/>
          </a:stretch>
        </p:blipFill>
        <p:spPr>
          <a:xfrm>
            <a:off x="1828800" y="6448225"/>
            <a:ext cx="24688800" cy="11883788"/>
          </a:xfrm>
          <a:prstGeom prst="rect">
            <a:avLst/>
          </a:prstGeom>
          <a:ln w="9525">
            <a:solidFill>
              <a:srgbClr val="A7A7A7"/>
            </a:solidFill>
          </a:ln>
        </p:spPr>
      </p:pic>
      <p:sp>
        <p:nvSpPr>
          <p:cNvPr id="8" name="Bubble 1: input-readiness phase, little productive compute"/>
          <p:cNvSpPr/>
          <p:nvPr/>
        </p:nvSpPr>
        <p:spPr>
          <a:xfrm>
            <a:off x="11501650" y="7811636"/>
            <a:ext cx="3813866"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bble 2: exposed O-return tail"/>
          <p:cNvSpPr/>
          <p:nvPr/>
        </p:nvSpPr>
        <p:spPr>
          <a:xfrm>
            <a:off x="22427365" y="7811636"/>
            <a:ext cx="1031770"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1 · Input-readiness bubble"/>
          <p:cNvSpPr txBox="1"/>
          <p:nvPr/>
        </p:nvSpPr>
        <p:spPr>
          <a:xfrm>
            <a:off x="9875520" y="5257800"/>
            <a:ext cx="850392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1 · Input-readiness bubble</a:t>
            </a:r>
          </a:p>
        </p:txBody>
      </p:sp>
      <p:sp>
        <p:nvSpPr>
          <p:cNvPr id="11" name="2 · O-return tail"/>
          <p:cNvSpPr txBox="1"/>
          <p:nvPr/>
        </p:nvSpPr>
        <p:spPr>
          <a:xfrm>
            <a:off x="21305520" y="5257800"/>
            <a:ext cx="59436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2 · O-return tail</a:t>
            </a:r>
          </a:p>
        </p:txBody>
      </p:sp>
      <p:sp>
        <p:nvSpPr>
          <p:cNvPr id="12" name="Bubble label guide"/>
          <p:cNvSpPr/>
          <p:nvPr/>
        </p:nvSpPr>
        <p:spPr>
          <a:xfrm>
            <a:off x="13408584"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bble label guide"/>
          <p:cNvSpPr/>
          <p:nvPr/>
        </p:nvSpPr>
        <p:spPr>
          <a:xfrm>
            <a:off x="22943251"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1 · Inputs not ready"/>
          <p:cNvSpPr txBox="1"/>
          <p:nvPr/>
        </p:nvSpPr>
        <p:spPr>
          <a:xfrm>
            <a:off x="27523440" y="54864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1 · Inputs not ready</a:t>
            </a:r>
          </a:p>
        </p:txBody>
      </p:sp>
      <p:sp>
        <p:nvSpPr>
          <p:cNvPr id="15" name="Attention needs the full"/>
          <p:cNvSpPr txBox="1"/>
          <p:nvPr/>
        </p:nvSpPr>
        <p:spPr>
          <a:xfrm>
            <a:off x="27523440" y="67208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Attention needs the full</a:t>
            </a:r>
          </a:p>
          <a:p>
            <a:pPr algn="l">
              <a:lnSpc>
                <a:spcPct val="108000"/>
              </a:lnSpc>
              <a:spcBef>
                <a:spcPts val="0"/>
              </a:spcBef>
              <a:spcAft>
                <a:spcPts val="1200"/>
              </a:spcAft>
            </a:pPr>
            <a:r>
              <a:rPr sz="2900" b="0">
                <a:solidFill>
                  <a:srgbClr val="313131"/>
                </a:solidFill>
                <a:latin typeface="NVIDIA Sans"/>
              </a:rPr>
              <a:t>Q/K/V for its head group.</a:t>
            </a:r>
          </a:p>
        </p:txBody>
      </p:sp>
      <p:sp>
        <p:nvSpPr>
          <p:cNvPr id="16" name="2 · O return pending"/>
          <p:cNvSpPr txBox="1"/>
          <p:nvPr/>
        </p:nvSpPr>
        <p:spPr>
          <a:xfrm>
            <a:off x="27523440" y="91440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2 · O return pending</a:t>
            </a:r>
          </a:p>
        </p:txBody>
      </p:sp>
      <p:sp>
        <p:nvSpPr>
          <p:cNvPr id="17" name="Output projection waits"/>
          <p:cNvSpPr txBox="1"/>
          <p:nvPr/>
        </p:nvSpPr>
        <p:spPr>
          <a:xfrm>
            <a:off x="27523440" y="103784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Output projection waits</a:t>
            </a:r>
          </a:p>
          <a:p>
            <a:pPr algn="l">
              <a:lnSpc>
                <a:spcPct val="108000"/>
              </a:lnSpc>
              <a:spcBef>
                <a:spcPts val="0"/>
              </a:spcBef>
              <a:spcAft>
                <a:spcPts val="1200"/>
              </a:spcAft>
            </a:pPr>
            <a:r>
              <a:rPr sz="2900" b="0">
                <a:solidFill>
                  <a:srgbClr val="313131"/>
                </a:solidFill>
                <a:latin typeface="NVIDIA Sans"/>
              </a:rPr>
              <a:t>for the returned O.</a:t>
            </a:r>
          </a:p>
        </p:txBody>
      </p:sp>
      <p:sp>
        <p:nvSpPr>
          <p:cNvPr id="18" name="Next: pipeline heads"/>
          <p:cNvSpPr txBox="1"/>
          <p:nvPr/>
        </p:nvSpPr>
        <p:spPr>
          <a:xfrm>
            <a:off x="27523440" y="128016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Next: pipeline heads</a:t>
            </a:r>
          </a:p>
        </p:txBody>
      </p:sp>
      <p:sp>
        <p:nvSpPr>
          <p:cNvPr id="19" name="Compute one band while"/>
          <p:cNvSpPr txBox="1"/>
          <p:nvPr/>
        </p:nvSpPr>
        <p:spPr>
          <a:xfrm>
            <a:off x="27523440" y="140360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Compute one band while</a:t>
            </a:r>
          </a:p>
          <a:p>
            <a:pPr algn="l">
              <a:lnSpc>
                <a:spcPct val="108000"/>
              </a:lnSpc>
              <a:spcBef>
                <a:spcPts val="0"/>
              </a:spcBef>
              <a:spcAft>
                <a:spcPts val="1200"/>
              </a:spcAft>
            </a:pPr>
            <a:r>
              <a:rPr sz="2900" b="0">
                <a:solidFill>
                  <a:srgbClr val="313131"/>
                </a:solidFill>
                <a:latin typeface="NVIDIA Sans"/>
              </a:rPr>
              <a:t>transferring the next.</a:t>
            </a:r>
          </a:p>
        </p:txBody>
      </p:sp>
      <p:sp>
        <p:nvSpPr>
          <p:cNvPr id="20" name="3.24 s / GPU"/>
          <p:cNvSpPr txBox="1"/>
          <p:nvPr/>
        </p:nvSpPr>
        <p:spPr>
          <a:xfrm>
            <a:off x="27523440" y="16459200"/>
            <a:ext cx="7223760" cy="822960"/>
          </a:xfrm>
          <a:prstGeom prst="rect">
            <a:avLst/>
          </a:prstGeom>
          <a:noFill/>
        </p:spPr>
        <p:txBody>
          <a:bodyPr wrap="square" lIns="0" rIns="0" tIns="0" bIns="0">
            <a:spAutoFit/>
          </a:bodyPr>
          <a:lstStyle/>
          <a:p>
            <a:pPr algn="l">
              <a:lnSpc>
                <a:spcPct val="108000"/>
              </a:lnSpc>
              <a:spcBef>
                <a:spcPts val="0"/>
              </a:spcBef>
              <a:spcAft>
                <a:spcPts val="1200"/>
              </a:spcAft>
            </a:pPr>
            <a:r>
              <a:rPr sz="3900" b="1">
                <a:solidFill>
                  <a:srgbClr val="76B900"/>
                </a:solidFill>
                <a:latin typeface="NVIDIA Sans Medium"/>
              </a:rPr>
              <a:t>3.24 s / GPU</a:t>
            </a:r>
          </a:p>
        </p:txBody>
      </p:sp>
      <p:sp>
        <p:nvSpPr>
          <p:cNvPr id="21" name="Exposed phase · full DiT"/>
          <p:cNvSpPr txBox="1"/>
          <p:nvPr/>
        </p:nvSpPr>
        <p:spPr>
          <a:xfrm>
            <a:off x="27523440" y="17465040"/>
            <a:ext cx="7223760" cy="109728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Exposed phase · full DiT</a:t>
            </a:r>
          </a:p>
          <a:p>
            <a:pPr algn="l">
              <a:lnSpc>
                <a:spcPct val="108000"/>
              </a:lnSpc>
              <a:spcBef>
                <a:spcPts val="0"/>
              </a:spcBef>
              <a:spcAft>
                <a:spcPts val="1200"/>
              </a:spcAft>
            </a:pPr>
            <a:r>
              <a:rPr sz="2500" b="0">
                <a:solidFill>
                  <a:srgbClr val="313131"/>
                </a:solidFill>
                <a:latin typeface="NVIDIA Sans"/>
              </a:rPr>
              <a:t>Mean across eight GPUs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VSA, QAD/Sage and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