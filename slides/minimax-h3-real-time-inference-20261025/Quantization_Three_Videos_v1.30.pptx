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63" r:id="rId47"/>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7" Type="http://schemas.openxmlformats.org/officeDocument/2006/relationships/slide" Target="slides/slide1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newly generated matching dynamic-action clips. Prompt: two straight punches, pivot, waist-height side kick, recovery to guard, cloth and belt dynamics, slow lateral camera arc. Selected for articulated motion before seeing outputs. Same two reference images, prompt, seed 1234, 1344x768, 124 frames at 24fps and eight evaluations. Single idle GPU 0, identical layerwise CPU-offload configuration, identical original BF16 encoder and original video/audio VAE, identical cuDNN BF16 VSA. Published QAD DiT is revision 0087718b2c8fe4b7e2d0a97463dc38da13f7703f; source BF16 is 88d512c5e7cc38dda499fbb65688ce58611f9c80. The QAD encoder is explicitly replaced by the common original BF16 encoder for this comparison. Online NVFP4 remains direct RTN of untouched BF16 weights with current-input tensor amax and per-16 E4M3 scales; no calibration table, QAD weights or learned QAD scales are used in that arm. Weight prepacking is cached before loading, activations are quantized dynamically on every forward.</a:t>
            </a:r>
          </a:p>
          <a:p>
            <a:r>
              <a:t>All three videos are embedded side by side, started together and muted. PDF uses the same frame index 60 for all posters. Request times include the first generation after startup, encoding and complete MP4 transfer, excluding model loading and prepacking. They include CPU-offload costs and possible first-use JIT, and are not representative of the previous four-GPU production timings. Full-frame LPIPS AlexNet v0.1 and RGB Gaussian SSIM are recomputed on all124 decoded original-resolution frames. Audio is not scored. A static dark background can dominate full-frame scores; these are checkpoint similarity metrics and do not by themselves measure temporal stability, physical action correctness or general perceptual quality. Motion trajectories can diverge even for the same seed. No outcome was assumed from the prompt.</a:t>
            </a:r>
          </a:p>
          <a:p>
            <a:r>
              <a:t>Measured values: {"online_nvfp4": {"lpips_alex_v0_1": {"mean": 0.04186826251867798, "std_population": 0.025374898582460087, "min": 0.008706730790436268, "max": 0.10916323214769363, "frames": 124}, "ssim_rgb": {"mean": 0.9454475520047675, "std_population": 0.016676196513861805, "min": 0.9092317327232791, "max": 0.9800593967178822, "frames": 124}}, "qad_nvfp4": {"lpips_alex_v0_1": {"mean": 0.03694349149572513, "std_population": 0.02413766988705653, "min": 0.008445855230093002, "max": 0.10601461678743362, "frames": 124}, "ssim_rgb": {"mean": 0.9497315785220294, "std_population": 0.018061974326140488, "min": 0.911523032934331, "max": 0.9796215969945749, "frames": 124}}}</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Compare limb contours, pose transitions and cloth detail in the same martial-arts action sequence</a:t>
            </a:r>
          </a:p>
        </p:txBody>
      </p:sp>
      <p:sp>
        <p:nvSpPr>
          <p:cNvPr id="4" name="Title 3"/>
          <p:cNvSpPr>
            <a:spLocks noGrp="1"/>
          </p:cNvSpPr>
          <p:nvPr>
            <p:ph type="title"/>
          </p:nvPr>
        </p:nvSpPr>
        <p:spPr/>
        <p:txBody>
          <a:bodyPr/>
          <a:lstStyle/>
          <a:p>
            <a:r>
              <a:t>Quantization: Dynamic Motion Comparison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One dynamic sample, frame-aligned metrics · common cuDNN BF16 attention · no claim of general quality or production speedup</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828800" y="5303520"/>
            <a:ext cx="10515600" cy="86868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828800" y="6537960"/>
            <a:ext cx="10515600" cy="6008914"/>
          </a:xfrm>
          <a:prstGeom prst="rect">
            <a:avLst/>
          </a:prstGeom>
          <a:ln w="9525">
            <a:solidFill>
              <a:srgbClr val="A7A7A7"/>
            </a:solidFill>
          </a:ln>
        </p:spPr>
      </p:pic>
      <p:sp>
        <p:nvSpPr>
          <p:cNvPr id="9" name="Original BF16 weights"/>
          <p:cNvSpPr txBox="1"/>
          <p:nvPr/>
        </p:nvSpPr>
        <p:spPr>
          <a:xfrm>
            <a:off x="1828800" y="12893040"/>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Original BF16 weights</a:t>
            </a:r>
          </a:p>
        </p:txBody>
      </p:sp>
      <p:sp>
        <p:nvSpPr>
          <p:cNvPr id="10" name="Request: 123.49 s*"/>
          <p:cNvSpPr txBox="1"/>
          <p:nvPr/>
        </p:nvSpPr>
        <p:spPr>
          <a:xfrm>
            <a:off x="1828800" y="1394460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123.49 s*</a:t>
            </a:r>
          </a:p>
        </p:txBody>
      </p:sp>
      <p:sp>
        <p:nvSpPr>
          <p:cNvPr id="11" name="LPIPS 0.0000  |  SSIM 1.0000"/>
          <p:cNvSpPr txBox="1"/>
          <p:nvPr/>
        </p:nvSpPr>
        <p:spPr>
          <a:xfrm>
            <a:off x="1828800" y="14996159"/>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LPIPS 0.0000  |  SSIM 1.0000</a:t>
            </a:r>
          </a:p>
        </p:txBody>
      </p:sp>
      <p:sp>
        <p:nvSpPr>
          <p:cNvPr id="12" name="Online NVFP4"/>
          <p:cNvSpPr txBox="1"/>
          <p:nvPr/>
        </p:nvSpPr>
        <p:spPr>
          <a:xfrm>
            <a:off x="13030200" y="5303520"/>
            <a:ext cx="10515600" cy="86868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3030200" y="6537960"/>
            <a:ext cx="10515600" cy="6008914"/>
          </a:xfrm>
          <a:prstGeom prst="rect">
            <a:avLst/>
          </a:prstGeom>
          <a:ln w="9525">
            <a:solidFill>
              <a:srgbClr val="A7A7A7"/>
            </a:solidFill>
          </a:ln>
        </p:spPr>
      </p:pic>
      <p:sp>
        <p:nvSpPr>
          <p:cNvPr id="14" name="Direct algorithm · No calibration / QAD"/>
          <p:cNvSpPr txBox="1"/>
          <p:nvPr/>
        </p:nvSpPr>
        <p:spPr>
          <a:xfrm>
            <a:off x="13030200" y="12893040"/>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Direct algorithm · No calibration / QAD</a:t>
            </a:r>
          </a:p>
        </p:txBody>
      </p:sp>
      <p:sp>
        <p:nvSpPr>
          <p:cNvPr id="15" name="Request: 79.79 s*"/>
          <p:cNvSpPr txBox="1"/>
          <p:nvPr/>
        </p:nvSpPr>
        <p:spPr>
          <a:xfrm>
            <a:off x="13030200" y="1394460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79.79 s*</a:t>
            </a:r>
          </a:p>
        </p:txBody>
      </p:sp>
      <p:sp>
        <p:nvSpPr>
          <p:cNvPr id="16" name="LPIPS 0.0419  |  SSIM 0.9454"/>
          <p:cNvSpPr txBox="1"/>
          <p:nvPr/>
        </p:nvSpPr>
        <p:spPr>
          <a:xfrm>
            <a:off x="13030200" y="14996159"/>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LPIPS 0.0419  |  SSIM 0.9454</a:t>
            </a:r>
          </a:p>
        </p:txBody>
      </p:sp>
      <p:sp>
        <p:nvSpPr>
          <p:cNvPr id="17" name="QAD NVFP4"/>
          <p:cNvSpPr txBox="1"/>
          <p:nvPr/>
        </p:nvSpPr>
        <p:spPr>
          <a:xfrm>
            <a:off x="24231600" y="5303520"/>
            <a:ext cx="10515600" cy="86868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24231600" y="6537960"/>
            <a:ext cx="10515600" cy="6008914"/>
          </a:xfrm>
          <a:prstGeom prst="rect">
            <a:avLst/>
          </a:prstGeom>
          <a:ln w="9525">
            <a:solidFill>
              <a:srgbClr val="A7A7A7"/>
            </a:solidFill>
          </a:ln>
        </p:spPr>
      </p:pic>
      <p:sp>
        <p:nvSpPr>
          <p:cNvPr id="19" name="Published QAD DiT weights"/>
          <p:cNvSpPr txBox="1"/>
          <p:nvPr/>
        </p:nvSpPr>
        <p:spPr>
          <a:xfrm>
            <a:off x="24231600" y="12893040"/>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Published QAD DiT weights</a:t>
            </a:r>
          </a:p>
        </p:txBody>
      </p:sp>
      <p:sp>
        <p:nvSpPr>
          <p:cNvPr id="20" name="Request: 77.84 s*"/>
          <p:cNvSpPr txBox="1"/>
          <p:nvPr/>
        </p:nvSpPr>
        <p:spPr>
          <a:xfrm>
            <a:off x="24231600" y="1394460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77.84 s*</a:t>
            </a:r>
          </a:p>
        </p:txBody>
      </p:sp>
      <p:sp>
        <p:nvSpPr>
          <p:cNvPr id="21" name="LPIPS 0.0369  |  SSIM 0.9497"/>
          <p:cNvSpPr txBox="1"/>
          <p:nvPr/>
        </p:nvSpPr>
        <p:spPr>
          <a:xfrm>
            <a:off x="24231600" y="14996159"/>
            <a:ext cx="10515600" cy="77724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LPIPS 0.0369  |  SSIM 0.9497</a:t>
            </a:r>
          </a:p>
        </p:txBody>
      </p:sp>
      <p:sp>
        <p:nvSpPr>
          <p:cNvPr id="22" name="Inspect hand and foot contours, pose transitions and moving cloth folds."/>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76B900"/>
                </a:solidFill>
                <a:latin typeface="NVIDIA Sans Medium"/>
              </a:rPr>
              <a:t>Inspect hand and foot contours, pose transitions and moving cloth folds.</a:t>
            </a:r>
          </a:p>
        </p:txBody>
      </p:sp>
      <p:sp>
        <p:nvSpPr>
          <p:cNvPr id="23" name="1344 × 768 · 124 frames at 24 FPS · 8 steps · Seed 1234 · Same BF16 encoder and VAE"/>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200"/>
              </a:spcAft>
            </a:pPr>
            <a:r>
              <a:rPr sz="2900" b="0">
                <a:solidFill>
                  <a:srgbClr val="313131"/>
                </a:solidFill>
                <a:latin typeface="NVIDIA Sans"/>
              </a:rPr>
              <a:t>1344 × 768 · 124 frames at 24 FPS · 8 steps · Seed 1234 · Same BF16 encoder and VAE</a:t>
            </a:r>
          </a:p>
        </p:txBody>
      </p:sp>
      <p:sp>
        <p:nvSpPr>
          <p:cNvPr id="24" name="*Single-GPU CPU offload; first request. LPIPS lower and SSIM higher mean closer to BF16."/>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200"/>
              </a:spcAft>
            </a:pPr>
            <a:r>
              <a:rPr sz="2600" b="0">
                <a:solidFill>
                  <a:srgbClr val="313131"/>
                </a:solidFill>
                <a:latin typeface="NVIDIA Sans"/>
              </a:rPr>
              <a:t>*Single-GPU CPU offload; first request. LPIPS lower and SSIM higher mean closer to BF16.</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childTnLst>
        </p:cTn>
      </p:par>
    </p:tnLst>
  </p:timing>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