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57" r:id="rId99"/>
    <p:sldId id="370" r:id="rId44"/>
    <p:sldId id="372" r:id="rId42"/>
    <p:sldId id="371" r:id="rId43"/>
    <p:sldId id="373" r:id="rId4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0" Type="http://schemas.openxmlformats.org/officeDocument/2006/relationships/slide" Target="slides/slide4.xml"/><Relationship Id="rId41" Type="http://schemas.openxmlformats.org/officeDocument/2006/relationships/slide" Target="slides/slide20.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17.xml"/><Relationship Id="rId45" Type="http://schemas.openxmlformats.org/officeDocument/2006/relationships/slide" Target="slides/slide13.xml"/><Relationship Id="rId47" Type="http://schemas.openxmlformats.org/officeDocument/2006/relationships/slide" Target="slides/slide9.xml"/><Relationship Id="rId48" Type="http://schemas.openxmlformats.org/officeDocument/2006/relationships/slide" Target="slides/slide8.xml"/><Relationship Id="rId49" Type="http://schemas.openxmlformats.org/officeDocument/2006/relationships/slide" Target="slides/slide15.xml"/><Relationship Id="rId51" Type="http://schemas.openxmlformats.org/officeDocument/2006/relationships/slide" Target="slides/slide14.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5" Type="http://schemas.openxmlformats.org/officeDocument/2006/relationships/slide" Target="slides/slide2.xml"/><Relationship Id="rId86" Type="http://schemas.openxmlformats.org/officeDocument/2006/relationships/slide" Target="slides/slide3.xml"/><Relationship Id="rId87" Type="http://schemas.openxmlformats.org/officeDocument/2006/relationships/slide" Target="slides/slide5.xml"/><Relationship Id="rId89" Type="http://schemas.openxmlformats.org/officeDocument/2006/relationships/slide" Target="slides/slide6.xml"/><Relationship Id="rId90" Type="http://schemas.openxmlformats.org/officeDocument/2006/relationships/slide" Target="slides/slide7.xml"/><Relationship Id="rId95" Type="http://schemas.openxmlformats.org/officeDocument/2006/relationships/slide" Target="slides/slide10.xml"/><Relationship Id="rId96" Type="http://schemas.openxmlformats.org/officeDocument/2006/relationships/slide" Target="slides/slide11.xml"/><Relationship Id="rId97" Type="http://schemas.openxmlformats.org/officeDocument/2006/relationships/slide" Target="slides/slide12.xml"/><Relationship Id="rId99" Type="http://schemas.openxmlformats.org/officeDocument/2006/relationships/slide" Target="slides/slide16.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17. The recorded demonstration follows on slide 19.</a:t>
            </a:r>
          </a:p>
          <a:p>
            <a:r>
              <a:t>Updated visual: actual last frame of request 0 and actual first retained frame of request 1 from the same validated interactive-demo session. The right image is already overlap-trimmed; it is not a raw generated prefix. Media ordinal 0 has 124 frames, ordinal 1 has 119 emitted frames. The timeline illustrates removal of the five-frame overlapping start, with aligned audio trimming. Static frames do not establish seamless motion or guarantee long-term quality. See continuation-frames.json for extraction provenance.</a:t>
            </a:r>
          </a:p>
          <a:p/>
          <a:p>
            <a:r>
              <a:t>Presentation emphasis: Explain the experience-level purpose first: each window should feel like part of one conversation. The images and timeline show context reuse and overlap trimming. This does not establish indefinitely stable generation or eliminate all seams.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Meng Wang | DevTech Compute APAC, NVIDIA</a:t>
            </a:r>
          </a:p>
        </p:txBody>
      </p:sp>
      <p:sp>
        <p:nvSpPr>
          <p:cNvPr id="4" name="Text Placeholder 3"/>
          <p:cNvSpPr>
            <a:spLocks noGrp="1"/>
          </p:cNvSpPr>
          <p:nvPr>
            <p:ph type="body" idx="10" sz="quarter"/>
          </p:nvPr>
        </p:nvSpPr>
        <p:spPr/>
        <p:txBody>
          <a:bodyPr/>
          <a:lstStyle/>
          <a:p>
            <a:r>
              <a:t>SM12x Inference</a:t>
            </a:r>
            <a:br/>
            <a:r>
              <a:t>Optimization with</a:t>
            </a:r>
            <a:br/>
            <a:r>
              <a:t>vLLM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8</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9</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10</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11</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12</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13</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14</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16</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17</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18</a:t>
            </a:r>
          </a:p>
        </p:txBody>
      </p:sp>
      <p:sp>
        <p:nvSpPr>
          <p:cNvPr id="3" name="Text Placeholder 2"/>
          <p:cNvSpPr>
            <a:spLocks noGrp="1"/>
          </p:cNvSpPr>
          <p:nvPr>
            <p:ph type="body" idx="13" sz="quarter"/>
          </p:nvPr>
        </p:nvSpPr>
        <p:spPr/>
        <p:txBody>
          <a:bodyPr/>
          <a:lstStyle/>
          <a:p>
            <a:r>
              <a:t>The previous ending guides the next clip. Only new content is appended.</a:t>
            </a:r>
          </a:p>
        </p:txBody>
      </p:sp>
      <p:sp>
        <p:nvSpPr>
          <p:cNvPr id="4" name="Title 3"/>
          <p:cNvSpPr>
            <a:spLocks noGrp="1"/>
          </p:cNvSpPr>
          <p:nvPr>
            <p:ph type="title"/>
          </p:nvPr>
        </p:nvSpPr>
        <p:spPr/>
        <p:txBody>
          <a:bodyPr/>
          <a:lstStyle/>
          <a:p>
            <a:r>
              <a:t>Continuation Makes Clips Feel Continuous</a:t>
            </a:r>
          </a:p>
        </p:txBody>
      </p:sp>
      <p:sp>
        <p:nvSpPr>
          <p:cNvPr id="5" name="Chunk A heading"/>
          <p:cNvSpPr txBox="1"/>
          <p:nvPr/>
        </p:nvSpPr>
        <p:spPr>
          <a:xfrm>
            <a:off x="182880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A  /  LAST FRAME</a:t>
            </a:r>
          </a:p>
        </p:txBody>
      </p:sp>
      <p:sp>
        <p:nvSpPr>
          <p:cNvPr id="6" name="Chunk B heading"/>
          <p:cNvSpPr txBox="1"/>
          <p:nvPr/>
        </p:nvSpPr>
        <p:spPr>
          <a:xfrm>
            <a:off x="1888236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B  /  FIRST RETAINED FRAME</a:t>
            </a:r>
          </a:p>
        </p:txBody>
      </p:sp>
      <p:pic>
        <p:nvPicPr>
          <p:cNvPr id="7" name="Actual last frame of Chunk A" descr="clip-a-ending.png"/>
          <p:cNvPicPr>
            <a:picLocks noChangeAspect="1"/>
          </p:cNvPicPr>
          <p:nvPr/>
        </p:nvPicPr>
        <p:blipFill>
          <a:blip r:embed="rId3"/>
          <a:stretch>
            <a:fillRect/>
          </a:stretch>
        </p:blipFill>
        <p:spPr>
          <a:xfrm>
            <a:off x="1828800" y="5806440"/>
            <a:ext cx="15864840" cy="8990076"/>
          </a:xfrm>
          <a:prstGeom prst="rect">
            <a:avLst/>
          </a:prstGeom>
        </p:spPr>
      </p:pic>
      <p:pic>
        <p:nvPicPr>
          <p:cNvPr id="8" name="Actual first retained frame of Chunk B" descr="clip-b-start.png"/>
          <p:cNvPicPr>
            <a:picLocks noChangeAspect="1"/>
          </p:cNvPicPr>
          <p:nvPr/>
        </p:nvPicPr>
        <p:blipFill>
          <a:blip r:embed="rId4"/>
          <a:stretch>
            <a:fillRect/>
          </a:stretch>
        </p:blipFill>
        <p:spPr>
          <a:xfrm>
            <a:off x="18882360" y="5806440"/>
            <a:ext cx="15864840" cy="8990076"/>
          </a:xfrm>
          <a:prstGeom prst="rect">
            <a:avLst/>
          </a:prstGeom>
        </p:spPr>
      </p:pic>
      <p:sp>
        <p:nvSpPr>
          <p:cNvPr id="9" name="Playback heading"/>
          <p:cNvSpPr txBox="1"/>
          <p:nvPr/>
        </p:nvSpPr>
        <p:spPr>
          <a:xfrm>
            <a:off x="1828800" y="15681959"/>
            <a:ext cx="11887200" cy="59436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CONTINUOUS PLAYBACK</a:t>
            </a:r>
          </a:p>
        </p:txBody>
      </p:sp>
      <p:sp>
        <p:nvSpPr>
          <p:cNvPr id="10" name="Discarded B prefix"/>
          <p:cNvSpPr/>
          <p:nvPr/>
        </p:nvSpPr>
        <p:spPr>
          <a:xfrm>
            <a:off x="17949333" y="15727680"/>
            <a:ext cx="677333" cy="502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rim label"/>
          <p:cNvSpPr txBox="1"/>
          <p:nvPr/>
        </p:nvSpPr>
        <p:spPr>
          <a:xfrm>
            <a:off x="19175306" y="15663672"/>
            <a:ext cx="155448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B’s overlapping start</a:t>
            </a:r>
          </a:p>
        </p:txBody>
      </p:sp>
      <p:sp>
        <p:nvSpPr>
          <p:cNvPr id="14" name="Playback A"/>
          <p:cNvSpPr/>
          <p:nvPr/>
        </p:nvSpPr>
        <p:spPr>
          <a:xfrm>
            <a:off x="1828800" y="16642080"/>
            <a:ext cx="16797866" cy="1234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ayback B"/>
          <p:cNvSpPr/>
          <p:nvPr/>
        </p:nvSpPr>
        <p:spPr>
          <a:xfrm>
            <a:off x="18626666" y="16642080"/>
            <a:ext cx="16120533" cy="1234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Join marker"/>
          <p:cNvSpPr/>
          <p:nvPr/>
        </p:nvSpPr>
        <p:spPr>
          <a:xfrm>
            <a:off x="18599234" y="16642080"/>
            <a:ext cx="54864"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ayback A label"/>
          <p:cNvSpPr txBox="1"/>
          <p:nvPr/>
        </p:nvSpPr>
        <p:spPr>
          <a:xfrm>
            <a:off x="2286000" y="16962120"/>
            <a:ext cx="15883466"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Chunk A · 5.167 s</a:t>
            </a:r>
          </a:p>
        </p:txBody>
      </p:sp>
      <p:sp>
        <p:nvSpPr>
          <p:cNvPr id="18" name="Playback B label"/>
          <p:cNvSpPr txBox="1"/>
          <p:nvPr/>
        </p:nvSpPr>
        <p:spPr>
          <a:xfrm>
            <a:off x="19083866" y="16962120"/>
            <a:ext cx="15206133" cy="731520"/>
          </a:xfrm>
          <a:prstGeom prst="rect">
            <a:avLst/>
          </a:prstGeom>
          <a:noFill/>
        </p:spPr>
        <p:txBody>
          <a:bodyPr wrap="square" lIns="0" rIns="0" tIns="0" bIns="0">
            <a:spAutoFit/>
          </a:bodyPr>
          <a:lstStyle/>
          <a:p>
            <a:pPr>
              <a:spcBef>
                <a:spcPts val="0"/>
              </a:spcBef>
              <a:spcAft>
                <a:spcPts val="0"/>
              </a:spcAft>
            </a:pPr>
            <a:r>
              <a:rPr sz="3400" b="0">
                <a:solidFill>
                  <a:srgbClr val="FFFFFF"/>
                </a:solidFill>
                <a:latin typeface="NVIDIA Sans Medium"/>
              </a:rPr>
              <a:t>Chunk B · +4.958 s</a:t>
            </a:r>
          </a:p>
        </p:txBody>
      </p:sp>
      <p:sp>
        <p:nvSpPr>
          <p:cNvPr id="19" name="Context principle"/>
          <p:cNvSpPr txBox="1"/>
          <p:nvPr/>
        </p:nvSpPr>
        <p:spPr>
          <a:xfrm>
            <a:off x="1828800" y="18608040"/>
            <a:ext cx="32918400" cy="73152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Recent audio–video context conditions the next generation; matching audio is trimmed with the overlap.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313131"/>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19</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