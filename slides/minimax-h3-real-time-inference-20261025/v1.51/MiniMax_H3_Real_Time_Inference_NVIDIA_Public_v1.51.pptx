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media/h3vector1.svg" ContentType="image/svg+xml"/>
  <Override PartName="/ppt/media/h3vector10.svg" ContentType="image/svg+xml"/>
  <Override PartName="/ppt/media/h3vector11.svg" ContentType="image/svg+xml"/>
  <Override PartName="/ppt/media/h3vector12.svg" ContentType="image/svg+xml"/>
  <Override PartName="/ppt/media/h3vector13.svg" ContentType="image/svg+xml"/>
  <Override PartName="/ppt/media/h3vector14.svg" ContentType="image/svg+xml"/>
  <Override PartName="/ppt/media/h3vector15.svg" ContentType="image/svg+xml"/>
  <Override PartName="/ppt/media/h3vector16.svg" ContentType="image/svg+xml"/>
  <Override PartName="/ppt/media/h3vector2.svg" ContentType="image/svg+xml"/>
  <Override PartName="/ppt/media/h3vector3.svg" ContentType="image/svg+xml"/>
  <Override PartName="/ppt/media/h3vector4.svg" ContentType="image/svg+xml"/>
  <Override PartName="/ppt/media/h3vector5.svg" ContentType="image/svg+xml"/>
  <Override PartName="/ppt/media/h3vector6.svg" ContentType="image/svg+xml"/>
  <Override PartName="/ppt/media/h3vector7.svg" ContentType="image/svg+xml"/>
  <Override PartName="/ppt/media/h3vector8.svg" ContentType="image/svg+xml"/>
  <Override PartName="/ppt/media/h3vector9.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3" r:id="rId85"/>
    <p:sldId id="344" r:id="rId86"/>
    <p:sldId id="374" r:id="rId40"/>
    <p:sldId id="345" r:id="rId87"/>
    <p:sldId id="347" r:id="rId89"/>
    <p:sldId id="348" r:id="rId90"/>
    <p:sldId id="364" r:id="rId48"/>
    <p:sldId id="363" r:id="rId47"/>
    <p:sldId id="353" r:id="rId95"/>
    <p:sldId id="354" r:id="rId96"/>
    <p:sldId id="355" r:id="rId97"/>
    <p:sldId id="361" r:id="rId45"/>
    <p:sldId id="368" r:id="rId51"/>
    <p:sldId id="369" r:id="rId49"/>
    <p:sldId id="357" r:id="rId99"/>
    <p:sldId id="370" r:id="rId44"/>
    <p:sldId id="372" r:id="rId42"/>
    <p:sldId id="371" r:id="rId43"/>
    <p:sldId id="373" r:id="rId41"/>
    <p:sldId id="360" r:id="rId102"/>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40" Type="http://schemas.openxmlformats.org/officeDocument/2006/relationships/slide" Target="slides/slide4.xml"/><Relationship Id="rId41" Type="http://schemas.openxmlformats.org/officeDocument/2006/relationships/slide" Target="slides/slide20.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17.xml"/><Relationship Id="rId45" Type="http://schemas.openxmlformats.org/officeDocument/2006/relationships/slide" Target="slides/slide13.xml"/><Relationship Id="rId47" Type="http://schemas.openxmlformats.org/officeDocument/2006/relationships/slide" Target="slides/slide9.xml"/><Relationship Id="rId48" Type="http://schemas.openxmlformats.org/officeDocument/2006/relationships/slide" Target="slides/slide8.xml"/><Relationship Id="rId49" Type="http://schemas.openxmlformats.org/officeDocument/2006/relationships/slide" Target="slides/slide15.xml"/><Relationship Id="rId51" Type="http://schemas.openxmlformats.org/officeDocument/2006/relationships/slide" Target="slides/slide14.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1.xml"/><Relationship Id="rId85" Type="http://schemas.openxmlformats.org/officeDocument/2006/relationships/slide" Target="slides/slide2.xml"/><Relationship Id="rId86" Type="http://schemas.openxmlformats.org/officeDocument/2006/relationships/slide" Target="slides/slide3.xml"/><Relationship Id="rId87" Type="http://schemas.openxmlformats.org/officeDocument/2006/relationships/slide" Target="slides/slide5.xml"/><Relationship Id="rId89" Type="http://schemas.openxmlformats.org/officeDocument/2006/relationships/slide" Target="slides/slide6.xml"/><Relationship Id="rId90" Type="http://schemas.openxmlformats.org/officeDocument/2006/relationships/slide" Target="slides/slide7.xml"/><Relationship Id="rId95" Type="http://schemas.openxmlformats.org/officeDocument/2006/relationships/slide" Target="slides/slide10.xml"/><Relationship Id="rId96" Type="http://schemas.openxmlformats.org/officeDocument/2006/relationships/slide" Target="slides/slide11.xml"/><Relationship Id="rId97" Type="http://schemas.openxmlformats.org/officeDocument/2006/relationships/slide" Target="slides/slide12.xml"/><Relationship Id="rId99" Type="http://schemas.openxmlformats.org/officeDocument/2006/relationships/slide" Target="slides/slide16.xml"/><Relationship Id="rId102" Type="http://schemas.openxmlformats.org/officeDocument/2006/relationships/slide" Target="slides/slide21.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rgbClr val="A7A7A7"/>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rgbClr val="A7A7A7"/>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rgbClr val="A7A7A7"/>
              </a:solidFill>
              <a:ln>
                <a:noFill/>
              </a:ln>
              <a:effectLst/>
            </c:spPr>
            <c:extLst>
              <c:ext xmlns:c16="http://schemas.microsoft.com/office/drawing/2014/chart" uri="{C3380CC4-5D6E-409C-BE32-E72D297353CC}">
                <c16:uniqueId val="{00000005-9282-4C7D-93A0-078375DDFF91}"/>
              </c:ext>
            </c:extLst>
          </c:dPt>
          <c:dPt>
            <c:idx val="3"/>
            <c:spPr>
              <a:solidFill>
                <a:srgbClr val="A7A7A7"/>
              </a:solidFill>
              <a:ln>
                <a:noFill/>
              </a:ln>
            </c:spPr>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rgbClr val="A7A7A7"/>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rgbClr val="A7A7A7">
                  <a:alpha val="50000"/>
                </a:srgb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describes the public OmniRef QAD training recipe, not training performed by this project. PR #1989 was open at inspection. The frozen teacher is the same eight-forward OmniRef checkpoint without student quantization. Student trainable master weights must be FP32: the code rejects BF16 masters because small updates would round away. The NVFP4 linear forward casts current master weights to BF16, quantizes weights and activations, and executes FlashInfer mm_fp4. The backward uses straight-through dense linear gradients. FP4 fine attention is modeled by a differentiable emulator. Teacher and loss computation are removed for inference. Few-step distillation and QAD address separate costs: fewer model evaluations versus quantized numerical error. https://github.com/hao-ai-lab/FastVideo/blob/ea3275dfd1ce48cbb01f9fc7f28e918e857a0536/fastvideo/train/models/minimax_h3/omniref_pdd.py</a:t>
            </a:r>
          </a:p>
          <a:p>
            <a:r>
              <a:t>https://github.com/hao-ai-lab/FastVideo/blob/ea3275dfd1ce48cbb01f9fc7f28e918e857a0536/fastvideo/layers/quantization/nvfp4_qad.py</a:t>
            </a:r>
          </a:p>
          <a:p>
            <a:r>
              <a:t>Precision map merged from the former standalone What Runs in Four Bits slide. Only attention and FFN projection parameters train; the VSA gates remain frozen while executing NVFP4. The public QAD recipe calibrates selected FFN activation global scales; this differs from the direct Online NVFP4 comparison, which has no calibration table. Designated boundary modules remain FP32.</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variants share scene, prompt, seed 1234, 1344x768, 124 frames at 24 fps, eight evaluations, and vLLM-Omni. Quantized arms include NVFP4 linears in the DiT, language encoder and video decoder. The vision tower and audio VAE retain higher precision. Online independently quantizes BF16 weights and uses current-input activation scales. QAD preserves checkpoint weights and linear activation scales.</a:t>
            </a:r>
          </a:p>
          <a:p>
            <a:r>
              <a:t>The fourth column replaces the previous alternative-attention result with optimized native FP4. It uses the same QAD encoder and decoder. Prefix attention precision differs from the protected-prefix QAD baseline; this is an experimental variant, not a claim of exact equivalence to baseline QAD.</a:t>
            </a:r>
          </a:p>
          <a:p>
            <a:r>
              <a:t>LPIPS AlexNet v0.1 and RGB Gaussian SSIM average all 124 decoded frames at original resolution, matched by frame index. The optimized MP4 is SHA-256 identical to the previously scored unified-prefix clip, with the same BF16 reference. Framewise similarity is affected by divergent motion; one scene and seed cannot establish general quality or temporal consistency. Audio is not evaluated.</a:t>
            </a:r>
          </a:p>
          <a:p>
            <a:r>
              <a:t>Request times are single requests with layerwise CPU offload, generation and MP4 encoding, excluding model loading. BF16 is retained from GPU 0, Online and baseline QAD from GPU 3, and optimized QAD ran on GPU 1 of the same machine. First-use work varies; these timings do not establish controlled production speedups.</a:t>
            </a:r>
          </a:p>
          <a:p>
            <a:r>
              <a:t>Four videos are embedded, muted and start together. PDF shows frame 60. Photo: James Lo / Unsplash, https://unsplash.com/photos/crowded-street-market-at-night-with-lanterns-prZR_BQiZzU.</a:t>
            </a:r>
          </a:p>
          <a:p/>
          <a:p>
            <a:r>
              <a:t>Presentation emphasis: Display only the method names and BF16-relative ratios rounded to one decimal. Exact source timings: BF16 152.576882 s; Online NVFP4 89.120574 s; QAD 84.467848 s; QAD + Native FP4 69.949291 s. These descriptive cross-run ratios are not controlled production speedups. Inspect quality on the representative workload before adopting a precision change. Source: v1.38/measurements.json. No new measurements.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checkout is clean and its HEAD equals the Base50 r4 launch.json head. Original source path: vllm_omni/diffusion/distributed/comm.py, lines 16-117. The slide shows the Q/K/V branch expressions from lines 44,46,51,57,60; line wrapping is adjusted and guards are omitted. This is an excerpt, not a standalone executable function. Copyright (c) Microsoft Corporation and Jiarui Fang, Apache-2.0. Q/K/V call sites: diffusion/attention/parallel/ulysses.py:538-544; optional VSA gate at 545-548 adds an exchange when present. The dense Base50 case uses four Q/K/V/O exchanges, not the gate-bearing QAD five-slot case. O reverse is ulysses.py:721. SeqAllToAll4D.forward delegates at comm.py:117. The inverse branch is comm.py:64-99. Factory picks Ulysses at factory.py:80-88. Attention defaults are scatter_idx=2,gather_idx=1,use_sync=False at layer.py:68-70. With --no-ulysses-a2a-permute, Base50 chooses this ordinary NCCL path. The baseline source contains no FlashInfer Ulysses adapter; the backend environment label alone is not the code-path proof. The group is created through torch.distributed.new_group, inheriting NCCL. all_to_all_single is a PyTorch API, not a specification of PCIe/RDMA. NCCL transport selection occurs below this code. For contiguous B1 inputs, QKV input packing copies, while its final singleton-dimension transpose is already contiguous. For tested H/P=7, O input packing and output reorder both copy. Eager Q/K/V/O therefore has five materializing relayouts; this does not measure their latency and full-model compilation may change the physical execution. NCCL 2.29.7 default P2P cutoff PATH_PXB is in src/graph/paths.cc:298; AMD &lt;=2 GPUs is a separate exception at line304. Intra-host NET preference is controlled by NCCL_NET_DISABLE_INTRA at paths.cc:493-498. SHM/direct/direct at shm.cc:119 denotes mapped host buffers without the optional CE staging mode, not direct GPU-to-GPU P2P. Sources: https://github.com/NVIDIA/nccl/blob/v2.29.7-1/src/graph/paths.cc#L298 https://github.com/NVIDIA/nccl/blob/v2.29.7-1/src/transport/shm.cc#L119</a:t>
            </a:r>
          </a:p>
          <a:p>
            <a:r>
              <a:t>v1.29 shows the original QKV branch and original query / output call sites directly on one coding-layout slide. Only line wrapping, outer parentheses and omitted guards differ from the source. Source snapshot: h3-nccl-rdma-20261026/source/{comm.py,ulysses.py}. The application code delegates to PyTorch/NCCL; it is not NCCL library internals. Bottom notes use separate boxes with explicit room for wrapped lines.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a:p/>
          <a:p>
            <a:r>
              <a:t>Presentation emphasis: Cover title, speaker and date supplied by the presenter. The H3 study remains the case study supporting the talk.</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baseline is MiniMax H3 Base Ref2VA at 960x544: 124 frames / 24 FPS = 5.167 s. It uses 50 denoising steps, BF16, eight GPUs with USP8, local NCCL, and no RDMA.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a:p/>
          <a:p>
            <a:r>
              <a:t>Presentation emphasis: Start with the user-visible deadline. For this workload, 5.167 seconds of output requires E2E latency below 5.167 seconds. Model size motivates the problem; the deadline defines success.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table intentionally shows only GPU identity, SM count, memory, power, and interconnect. The latest user instruction removed the proposed shared-features and throttling paragraphs.</a:t>
            </a:r>
          </a:p>
          <a:p>
            <a:r>
              <a:t>The selected reference configuration is eight RTX PRO 5000 cards with 72 GB each. Power entries are product specifications, not measured draw or a claim about the benchmark node power cap. RTX PRO 5000 maximum total board power is 300 W per NVIDIA; do not label it 350 W.</a:t>
            </a:r>
          </a:p>
          <a:p>
            <a:r>
              <a:t>RTX PRO 6000 here denotes Workstation / Server editions at a maximum 600 W; the Max-Q edition is not part of this row. GeForce RTX 5090 is 575 W total graphics power.</a:t>
            </a:r>
          </a:p>
          <a:p>
            <a:r>
              <a:t>DGX Spark is retained as the comparison row from the previous deck. It is explicitly labeled SM121, not SM120. Its 140 W is GB10 CPU-plus-GPU SoC TDP, not GPU-only power and not the 240 W power supply rating. NVLink-C2C is CPU-to-GPU inside the SoC, not NVLink between separate GPUs.</a:t>
            </a:r>
          </a:p>
          <a:p>
            <a:r>
              <a:t>SM counts are retained from the validated hardware table: 110, 188, 170, 48. PRO 5000 has 14,080 CUDA cores / 128 per SM = 110.</a:t>
            </a:r>
          </a:p>
          <a:p>
            <a:r>
              <a:t>Specification sources, checked 30 Oct 2026:</a:t>
            </a:r>
          </a:p>
          <a:p>
            <a:r>
              <a:t>https://www.nvidia.com/en-us/products/workstations/professional-desktop-gpus/rtx-pro-5000/</a:t>
            </a:r>
          </a:p>
          <a:p>
            <a:r>
              <a:t>https://www.nvidia.com/content/dam/en-zz/Solutions/products/workstations/professional-desktop-gpus/rtx-pro-5000-blackwell/workstation-datasheet-blackwell-rtx-pro-5000-5488550-nvidia.pdf</a:t>
            </a:r>
          </a:p>
          <a:p>
            <a:r>
              <a:t>https://www.nvidia.com/en-us/products/workstations/professional-desktop-gpus/rtx-pro-6000/</a:t>
            </a:r>
          </a:p>
          <a:p>
            <a:r>
              <a:t>https://www.nvidia.com/en-us/geforce/graphics-cards/50-series/rtx-5090/</a:t>
            </a:r>
          </a:p>
          <a:p>
            <a:r>
              <a:t>https://www.nvidia.com/en-us/products/workstations/dgx-spark/</a:t>
            </a:r>
          </a:p>
          <a:p>
            <a:r>
              <a:t>https://www.nvidia.com/content/dam/en-zz/Solutions/dgx-spark/nvidia-gb10-superchip-whitepaper.pdf</a:t>
            </a:r>
          </a:p>
          <a:p>
            <a:r>
              <a:t>https://developer.nvidia.com/cuda/gpus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Nsight analysis, now synchronized into slide 5. No new benchmark run.</a:t>
            </a:r>
          </a:p>
          <a:p>
            <a:r>
              <a:t>Baseline E2E remains the two unprofiled-request median. The profile is a separate request.</a:t>
            </a:r>
          </a:p>
          <a:p>
            <a:r>
              <a:t>Operator denominator is the sum of kernel, CUDA memcpy and memset durations across eight GPUs. Mean seconds per GPU is the sum divided by eight.</a:t>
            </a:r>
          </a:p>
          <a:p>
            <a:r>
              <a:t>CUDA operation durations may overlap across streams. Do not call NCCL share the fraction of E2E latency or pure network transfer time.</a:t>
            </a:r>
          </a:p>
          <a:p>
            <a:r>
              <a:t>NVTX values are host range spans; Other / response is the residual to the profiled HTTP duration. They are not GPU stage critical-path times.</a:t>
            </a:r>
          </a:p>
          <a:p>
            <a:r>
              <a:t>https://lishunyang12.github.io/fasth3-omni-evaluation-20261018/slides/minimax-h3-real-time-inference-20261025/v1.47/baseline-breakdown.html</a:t>
            </a:r>
          </a:p>
          <a:p>
            <a:r>
              <a:t>{"status": "pass", "profiled_http_seconds": 214.9683357188478, "unprofiled_median_seconds": 213.40215269569308, "unprofiled_samples": 2, "unprofiled_individual_seconds": [214.70544344000518, 212.09886195138097], "configuration": {"model": "Original Ref2VA", "steps": 50, "dit_precision": "BF16", "attention": "Dense cuDNN; SDPA token refiner", "width": 960, "height": 544, "frames": 124, "fps": 24, "seed": 43, "gpus": 8, "architecture": "SM120", "vram_mib_per_gpu": 73415, "parallelism": "TP1 / Ulysses8 / text encoder TP8 / VAE tiles8", "transport": "Local NCCL; RDMA disabled", "decoder": "Native unquantized VAE; FP16 decode autocast", "conditioning": "Exact AdaLN projections computed before timing and resident on GPU"}, "operator_breakdown": {"status": "pass", "devices": 8, "denominator_ns": 1708417910041, "denominator": "Sum of kernel, CUDA memcpy and CUDA memset durations across all eight GPUs in the single profiled request interval.", "rows": [{"category": "GEMM", "mean_seconds_per_gpu": 39.6496529745, "aggregate_gpu_seconds": 317.197223796, "share_percent": 18.566723161336306, "instances": 107147, "average_duration_us": 2960.392953568462}, {"category": "Attention", "mean_seconds_per_gpu": 47.105474658375, "aggregate_gpu_seconds": 376.843797267, "share_percent": 22.0580570510383, "instances": 25196, "average_duration_us": 14956.492985672328}, {"category": "NCCL", "mean_seconds_per_gpu": 122.1817823255, "aggregate_gpu_seconds": 977.454258604, "share_percent": 57.21400208105652, "instances": 81648, "average_duration_us": 11971.564013864394}, {"category": "Norm / activation / elementwise", "mean_seconds_per_gpu": 2.287662046625, "aggregate_gpu_seconds": 18.301296373, "share_percent": 1.0712423620377984, "instances": 311644, "average_duration_us": 58.72500793533647}, {"category": "Layout / device copies", "mean_seconds_per_gpu": 1.928634855875, "aggregate_gpu_seconds": 15.429078847, "share_percent": 0.9031208790494195, "instances": 251038, "average_duration_us": 61.46112878130005}, {"category": "CUDA memcpy / memset", "mean_seconds_per_gpu": 0.063794294625, "aggregate_gpu_seconds": 0.510354357, "share_percent": 0.02987292242726208, "instances": 65897, "average_duration_us": 7.744728242560359}, {"category": "Convolution", "mean_seconds_per_gpu": 0.191801648, "aggregate_gpu_seconds": 1.534413184, "share_percent": 0.08981486174908901, "instances": 6962, "average_duration_us": 220.3983315139328}, {"category": "Other kernels", "mean_seconds_per_gpu": 0.143435951625, "aggregate_gpu_seconds": 1.147487613, "share_percent": 0.06716668130530554, "instances": 58546, "average_duration_us": 19.59976109384074}], "per_device": [{"device_id": 0, "category": "GEMM", "seconds": 39.349302567, "share_percent": 18.441661416136995, "instances": 13556}, {"device_id": 0, "category": "Attention", "seconds": 47.023767948, "share_percent": 22.038418737700297, "instances": 3181}, {"device_id": 0, "category": "NCCL", "seconds": 122.327233876, "share_percent": 57.330556882746485, "instances": 10206}, {"device_id": 0, "category": "Norm / activation / elementwise", "seconds": 2.300393544, "share_percent": 1.0781151404165736, "instances": 39657}, {"device_id": 0, "category": "Layout / device copies", "seconds": 1.950553105, "share_percent": 0.9141569885605011, "instances": 39010}, {"device_id": 0, "category": "CUDA memcpy / memset", "seconds": 0.068656516, "share_percent": 0.03217694188931906, "instances": 8385}, {"device_id": 0, "category": "Convolution", "seconds": 0.203745672, "share_percent": 0.09548857166221865, "instances": 935}, {"device_id": 0, "category": "Other kernels", "seconds": 0.148134048, "share_percent": 0.06942532088761394, "instances": 7460}, {"device_id": 1, "category": "GEMM", "seconds": 39.736427713, "share_percent": 18.606852435769365, "instances": 13510}, {"device_id": 1, "category": "Attention", "seconds": 47.20268323, "share_percent": 22.102977343019607, "instances": 3181}, {"device_id": 1, "category": "NCCL", "seconds": 121.966562735, "share_percent": 57.111672224267416, "instances": 10206}, {"device_id": 1, "category": "Norm / activation / elementwise", "seconds": 2.313585791, "share_percent": 1.0833522761923102, "instances": 39594}, {"device_id": 1, "category": "Layout / device copies", "seconds": 1.941813325, "share_percent": 0.9092672913892859, "instances": 31016}, {"device_id": 1, "category": "CUDA memcpy / memset", "seconds": 0.062922296, "share_percent": 0.029463792896732177, "instances": 8289}, {"device_id": 1, "category": "Convolution", "seconds": 0.190943112, "share_percent": 0.08941041037386074, "instances": 861}, {"device_id": 1, "category": "Other kernels", "seconds": 0.143092906, "share_percent": 0.06700422609142498, "instances": 7298}, {"device_id": 2, "category": "GEMM", "seconds": 39.936509611, "share_percent": 18.699310143212678, "instances": 13510}, {"device_id": 2, "category": "Attention", "seconds": 47.335441913, "share_percent": 22.16368224761973, "instances": 3181}, {"device_id": 2, "category": "NCCL", "seconds": 121.664765441, "share_percent": 56.96660035247171, "instances": 10206}, {"device_id": 2, "category": "Norm / activation / elementwise", "seconds": 2.294844114, "share_percent": 1.0745055648576896, "instances": 39544}, {"device_id": 2, "category": "Layout / device copies", "seconds": 1.943414633, "share_percent": 0.909957162338376, "instances": 30916}, {"device_id": 2, "category": "CUDA memcpy / memset", "seconds": 0.062230861, "share_percent": 0.02913810399689108, "instances": 8289}, {"device_id": 2, "category": "Convolution", "seconds": 0.191443308, "share_percent": 0.08963872471590663, "instances": 861}, {"device_id": 2, "category": "Other kernels", "seconds": 0.14345147, "share_percent": 0.06716770078702432, "instances": 7298}, {"device_id": 3, "category": "GEMM", "seconds": 39.701020186, "share_percent": 18.589400361101337, "instances": 13560}, {"device_id": 3, "category": "Attention", "seconds": 47.086809952, "share_percent": 22.04768436236524, "instances": 3181}, {"device_id": 3, "category": "NCCL", "seconds": 122.135225576, "share_percent": 57.18796634919521, "instances": 10206}, {"device_id": 3, "category": "Norm / activation / elementwise", "seconds": 2.304492532, "share_percent": 1.0790436645157735, "instances": 39594}, {"device_id": 3, "category": "Layout / device copies", "seconds": 1.942294512, "share_percent": 0.9094499368928117, "instances": 31066}, {"device_id": 3, "category": "CUDA memcpy / memset", "seconds": 0.065829689, "share_percent": 0.030823753110992377, "instances": 8289}, {"device_id": 3, "category": "Convolution", "seconds": 0.189714518, "share_percent": 0.08883094471861958, "instances": 861}, {"device_id": 3, "category": "Other kernels", "seconds": 0.1426648, "share_percent": 0.06680062810002195, "instances": 7298}, {"device_id": 4, "category": "GEMM", "seconds": 39.342634796, "share_percent": 18.41847185312396, "instances": 13510}, {"device_id": 4, "category": "Attention", "seconds": 46.486953183, "share_percent": 21.763123979323044, "instances": 3181}, {"device_id": 4, "category": "NCCL", "seconds": 123.154218693, "share_percent": 57.655327924837266, "instances": 10206}, {"device_id": 4, "category": "Norm / activation / elementwise", "seconds": 2.289910042, "share_percent": 1.0720340382248887, "instances": 39544}, {"device_id": 4, "category": "Layout / device copies", "seconds": 1.935071961, "share_percent": 0.9059146300763654, "instances": 30916}, {"device_id": 4, "category": "CUDA memcpy / memset", "seconds": 0.064936529, "share_percent": 0.030400394834452452, "instances": 8289}, {"device_id": 4, "category": "Convolution", "seconds": 0.188304185, "share_percent": 0.08815564461383174, "instances": 861}, {"device_id": 4, "category": "Other kernels", "seconds": 0.142199614, "share_percent": 0.06657153496619342, "instances": 7298}, {"device_id": 5, "category": "GEMM", "seconds": 39.761582064, "share_percent": 18.616278784742278, "instances": 13510}, {"device_id": 5, "category": "Attention", "seconds": 47.16373082, "share_percent": 22.081947344560305, "instances": 3181}, {"device_id": 5, "category": "NCCL", "seconds": 122.027848167, "share_percent": 57.13315021828237, "instances": 10206}, {"device_id": 5, "category": "Norm / activation / elementwise", "seconds": 2.296869648, "share_percent": 1.0753889427879395, "instances": 39544}, {"device_id": 5, "category": "Layout / device copies", "seconds": 1.9395993, "share_percent": 0.9081158099134878, "instances": 30916}, {"device_id": 5, "category": "CUDA memcpy / memset", "seconds": 0.064032573, "share_percent": 0.029979899400221235, "instances": 8289}, {"device_id": 5, "category": "Convolution", "seconds": 0.189154744, "share_percent": 0.08856180425850764, "instances": 861}, {"device_id": 5, "category": "Other kernels", "seconds": 0.142198915, "share_percent": 0.06657719605489866, "instances": 7298}, {"device_id": 6, "category": "GEMM", "seconds": 39.658986799, "share_percent": 18.570204761375553, "instances": 13510}, {"device_id": 6, "category": "Attention", "seconds": 47.041026134, "share_percent": 22.02682312387329, "instances": 3181}, {"device_id": 6, "category": "NCCL", "seconds": 122.240622724, "share_percent": 57.23881463860232, "instances": 10206}, {"device_id": 6, "category": "Norm / activation / elementwise", "seconds": 2.291372957, "share_percent": 1.072928696132033, "instances": 39544}, {"device_id": 6, "category": "Layout / device copies", "seconds": 1.937248232, "share_percent": 0.9071108277218994, "instances": 30916}, {"device_id": 6, "category": "CUDA memcpy / memset", "seconds": 0.060336094, "share_percent": 0.028252199829518973, "instances": 8289}, {"device_id": 6, "category": "Convolution", "seconds": 0.19014962, "share_percent": 0.08903700431365506, "instances": 861}, {"device_id": 6, "category": "Other kernels", "seconds": 0.142721121, "share_percent": 0.0668287481517275, "instances": 7298}, {"device_id": 7, "category": "GEMM", "seconds": 39.71076006, "share_percent": 18.591507972557494, "instances": 12481}, {"device_id": 7, "category": "Attention", "seconds": 47.503384087, "share_percent": 22.239804593075856, "instances": 2929}, {"device_id": 7, "category": "NCCL", "seconds": 121.937781392, "share_percent": 57.087983999300484, "instances": 10206}, {"device_id": 7, "category": "Norm / activation / elementwise", "seconds": 2.209827745, "share_percent": 1.0345818130167073, "instances": 34623}, {"device_id": 7, "category": "Layout / device copies", "seconds": 1.839083779, "share_percent": 0.8610094767216516, "instances": 26282}, {"device_id": 7, "category": "CUDA memcpy / memset", "seconds": 0.061409799, "share_percent": 0.028750413388628885, "instances": 7778}, {"device_id": 7, "category": "Convolution", "seconds": 0.190958025, "share_percent": 0.08940140251275093, "instances": 861}, {"device_id": 7, "category": "Other kernels", "seconds": 0.143024739, "share_percent": 0.06696032942642838, "instances": 7298}], "stage_categories": [{"stage": "explicit_vae", "category": "Attention", "mean_seconds_per_gpu": 0.073424998125}, {"stage": "explicit_vae", "category": "CUDA memcpy / memset", "mean_seconds_per_gpu": 0.005660434375}, {"stage": "explicit_vae", "category": "Convolution", "mean_seconds_per_gpu": 0.005351867875}, {"stage": "explicit_vae", "category": "GEMM", "mean_seconds_per_gpu": 0.597402368}, {"stage": "explicit_vae", "category": "Layout / device copies", "mean_seconds_per_gpu": 0.206106582}, {"stage": "explicit_vae", "category": "NCCL", "mean_seconds_per_gpu": 0.56345313075}, {"stage": "explicit_vae", "category": "Norm / activation / elementwise", "mean_seconds_per_gpu": 0.180928999875}, {"stage": "explicit_vae", "category": "Other kernels", "mean_seconds_per_gpu": 0.0268907705}, {"stage": "non_dit_scoped", "category": "Attention", "mean_seconds_per_gpu": 0.667262048625}, {"stage": "non_dit_scoped", "category": "CUDA memcpy / memset", "mean_seconds_per_gpu": 0.036150056875}, {"stage": "non_dit_scoped", "category": "Convolution", "mean_seconds_per_gpu": 0.186449780125}, {"stage": "non_dit_scoped", "category": "GEMM", "mean_seconds_per_gpu": 0.372183022375}, {"stage": "non_dit_scoped", "category": "Layout / device copies", "mean_seconds_per_gpu": 0.201084648125}, {"stage": "non_dit_scoped", "category": "NCCL", "mean_seconds_per_gpu": 6.031570317375}, {"stage": "non_dit_scoped", "category": "Norm / activation / elementwise", "mean_seconds_per_gpu": 0.180157481375}, {"stage": "non_dit_scoped", "category": "Other kernels", "mean_seconds_per_gpu": 0.0417612915}, {"stage": "pipeline_diffuse", "category": "Attention", "mean_seconds_per_gpu": 46.364787611625}, {"stage": "pipeline_diffuse", "category": "CUDA memcpy / memset", "mean_seconds_per_gpu": 0.021551229625}, {"stage": "pipeline_diffuse", "category": "GEMM", "mean_seconds_per_gpu": 38.680067584125}, {"stage": "pipeline_diffuse", "category": "Layout / device copies", "mean_seconds_per_gpu": 1.52144362575}, {"stage": "pipeline_diffuse", "category": "NCCL", "mean_seconds_per_gpu": 115.586758877375}, {"stage": "pipeline_diffuse", "category": "Norm / activation / elementwise", "mean_seconds_per_gpu": 1.926575565375}, {"stage": "pipeline_diffuse", "category": "Other kernels", "mean_seconds_per_gpu": 0.074783889625}, {"stage": "unattributed", "category": "CUDA memcpy / memset", "mean_seconds_per_gpu": 0.00043257375}], "classification": {"method": "Explicit first-match kernel-name rules across all stages; original NVTX stage attribution retained.", "rules": [{"id": "nccl", "category": "NCCL", "pattern": "(?:nccl|msccl)"}, {"id": "attention", "category": "Attention", "pattern": "(?:flash[_:]?(?:attn|attention)|flash_(?:fwd|bwd)|flashattention|fmha|fused.?multi.?head.?attention|scaled.?dot.?product|memory.?efficient.?attention|(?:^|[_:])sdpa(?:[_:&lt;]|$)|cudnn[^\\n]*sdpa|(?:^|[_:])attention(?:[_:&lt;]|$)|(?:^|[_:])attn(?:[_:&lt;]|$))"}, {"id": "convolution", "category": "Convolution", "pattern": "(?:xmma_(?:fprop|dgrad|wgrad)_implicit_gemm|implicit_convolve|(?:^|[_:])conv(?:[123]d|olution|_fwd|_dgrad|_wgrad)|(?:^|[_:])(?:im2col|col2im|vol2col)|cudnn[^\\n]*convolve)"}, {"id": "gemm", "category": "GEMM", "pattern": "(?:gemm|gemv|matmul|cutlass::Kernel|cutlass_kernel|wgmma|tensorop|cublas|triton[^\\n]*(?:persistent_mm|scaled_mm|addmm)|(?:^|[_:])b?mm(?:[_:&lt;]|$)|(?:^|[_:])addmm(?:[_:&lt;]|$))"}, {"id": "layout", "category": "Layout / device copies", "pattern": "(?:memcpy|memmove|copy_kernel|direct_copy|copy_if|copy_device|CatArrayBatchedCopy|concat|concatenate|transpose|permute|nchwToNhwc|nhwcToNchw|tensorTransformGeneric|contiguous|gather_kernel|scatter_kernel|_scatter_gather_elementwise_kernel|indexFunc|index_(?:select|put)|indexSelect(?:Small|Large)Index|index_elementwise|pack_kernel|unpack_kernel|split_with_sizes_copy|ConvertTo|convert_kernel|cast_kernel|typecast|FillFunctor|fill_kernel)"}, {"id": "pointwise", "category": "Norm / activation / elementwise", "pattern": "(?:rms.?norm|layer.?norm|group.?norm|batch.?norm|act_and_mul|silu|swiglu|geglu|gelu|glu_kernel|fused.?mlp|elementwise|indexed_gate|norm_indexed|norm_scale|rope|rotary|softmax|reduce_kernel|Reduce(?:\\.cuh|\\.cu)|vectorized.*?kernel|unrolled.*?kernel)"}], "unmatched_category": "Other kernels", "fused_kernel_accounting": "The complete fused kernel duration stays in its matched category. Attention is not split into internal matrix products; fused GEMM epilogues stay in GEMM. Explicit implicit-GEMM convolution kernels are classified as Convolution."}, "validation": {"source_strict_acceptance": true, "independent_nsys_totals": true, "categories_partition_total": true, "per_device_matches_grouped_names": true}, "limitations": ["Aggregate GPU operation durations overlap across devices and streams; these are not additive E2E critical-path times.", "NCCL duration includes synchronization and waiting; it is not a direct bandwidth or network-transfer measurement.", "Kernel categories are explicit name-based classifications; unmatched names remain visible in Other kernels.", "The denominator excludes CPU-only work and GPU idle gaps."], "sources": {"summary_sha256": "0b663cbdd2f3a9e5e0d453d5f355fd348f99c62bd7240da048001ea53805ba0b", "classifier_sha256": "4e739e27c44cb983d50eeb909ea9d954d654ea3f96f2a45192610b8feadb9af2"}}, "host_nvtx_stage_envelopes": [{"stage": "Encoder", "seconds": 7.271786674}, {"stage": "DiT", "seconds": 204.813919985}, {"stage": "VAE / audio decode", "seconds": 1.742411768}, {"stage": "Other / response", "seconds": 1.1402172918477902}], "host_nvtx_ranges": [{"label": "H3.encoder.text_and_vision", "start_ns": 350352756, "end_ns": 7622139430}, {"label": "H3.DiT.50_steps", "start_ns": 8149580399, "end_ns": 212963500384}, {"label": "H3.decode", "start_ns": 212964276362, "end_ns": 214706688130}], "validation": {"matched_model_inputs_and_precision": true, "complete_projection_tables": true, "native_projections_exact": true, "output_matches_unprofiled_reference": true, "strict_nsys_counts_and_attribution": true, "independent_nsys_totals": true, "all_eight_devices": true}, "capture_requests": [{"ordinal": 0, "phase": "initialize", "e2e_seconds": 273.27750528045, "mp4_sha256": "1b33831db7a24ace2e96365b63356b8052a2abe1932b92e894fbf5db0a4f0900", "decoded_sha256": {"video": "SHA256=e7b6a5d5a15abebfc0981dba0d0c8f6759336ebce40a0e1c36a4d5d187cc45a1", "audio": "SHA256=cee8b1b9dad71362550dcd3967d1d7405bd1d49a8406245427744fefe5a0bf65"}}, {"ordinal": 1, "phase": "warmup", "e2e_seconds": 254.3866053307429, "mp4_sha256": "a7581ae1cb28d3503ff4ab8b31124d91f6184df989fef4817560da62e2148a4f", "decoded_sha256": {"video": "SHA256=9ec38b0f73faf69377395e652b8b7d3cf6617b9bc31c01964d059aabdf535261", "audio": "SHA256=2f76428baefb1ffd0af21ef1df7caea4764689ed8bffe0766b1718833ddeb263"}}, {"ordinal": 2, "phase": "profiled", "e2e_seconds": 214.9683357188478, "mp4_sha256": "a7581ae1cb28d3503ff4ab8b31124d91f6184df989fef4817560da62e2148a4f", "decoded_sha256": {"video": "SHA256=9ec38b0f73faf69377395e652b8b7d3cf6617b9bc31c01964d059aabdf535261", "audio": "SHA256=2f76428baefb1ffd0af21ef1df7caea4764689ed8bffe0766b1718833ddeb263"}}], "report": {"filename": "H3_Base50_Exact_Precomputed_8GPU.nsys-rep", "bytes": 1581264986, "sha256": "e8bd92874b2a86af889cecb257e71032d2694df438cdf3991bf6bf0c8616c401"}, "provenance": {"nsys_version": "NVIDIA Nsight Systems version 2025.3.2.474-253236389321v0", "graph_trace": "node", "gpu_metrics_hz": 1000, "nic_metrics": false, "sqlite_sha256": "384899be27cf0bb9b20e15ebc570f8715d32f09222967fc0560cf76f1702fbdf", "source_stage_sha256": "9df6a5063ca69c1a1b9ef8de693d7aa77f3b65944d2dee7c561ac812515a5bb0", "server_log_sha256": "bc276ee5c53f8c1a531209370f6d210d87160b8fe0a8395aa025858a6e3ee58f", "strict_analysis_sha256": "0b663cbdd2f3a9e5e0d453d5f355fd348f99c62bd7240da048001ea53805ba0b", "analysis_program_sha256": "6d4eb0bbf672d842c9ccb1e8668712106b2a0f37ee0433555d5b12662716b58a"}, "limitations": ["The profiled request is separate from the two unprofiled timing requests; profiler overhead must not replace the 213.402 s benchmark median.", "NVTX host stage envelopes describe CPU range duration, not synchronized GPU critical-path intervals.", "The GPU category denominator sums CUDA operation durations across all GPUs, including communication waiting; it excludes CPU time and idle gaps.", "No optimization-ladder cohorts were rerun."]}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table intentionally shows only GPU identity, SM count, memory, power, and interconnect. The latest user instruction removed the proposed shared-features and throttling paragraphs.</a:t>
            </a:r>
          </a:p>
          <a:p>
            <a:r>
              <a:t>The selected reference configuration is eight RTX PRO 5000 cards with 72 GB each. Power entries are product specifications, not measured draw or a claim about the benchmark node power cap. RTX PRO 5000 maximum total board power is 300 W per NVIDIA; do not label it 350 W.</a:t>
            </a:r>
          </a:p>
          <a:p>
            <a:r>
              <a:t>RTX PRO 6000 here denotes Workstation / Server editions at a maximum 600 W; the Max-Q edition is not part of this row. GeForce RTX 5090 is 575 W total graphics power.</a:t>
            </a:r>
          </a:p>
          <a:p>
            <a:r>
              <a:t>DGX Spark is retained as the comparison row from the previous deck. It is explicitly labeled SM121, not SM120. Its 140 W is GB10 CPU-plus-GPU SoC TDP, not GPU-only power and not the 240 W power supply rating. NVLink-C2C is CPU-to-GPU inside the SoC, not NVLink between separate GPUs.</a:t>
            </a:r>
          </a:p>
          <a:p>
            <a:r>
              <a:t>SM counts are retained from the validated hardware table: 110, 188, 170, 48. PRO 5000 has 14,080 CUDA cores / 128 per SM = 110.</a:t>
            </a:r>
          </a:p>
          <a:p>
            <a:r>
              <a:t>Specification sources, checked 30 Oct 2026:</a:t>
            </a:r>
          </a:p>
          <a:p>
            <a:r>
              <a:t>https://www.nvidia.com/en-us/products/workstations/professional-desktop-gpus/rtx-pro-5000/</a:t>
            </a:r>
          </a:p>
          <a:p>
            <a:r>
              <a:t>https://www.nvidia.com/content/dam/en-zz/Solutions/products/workstations/professional-desktop-gpus/rtx-pro-5000-blackwell/workstation-datasheet-blackwell-rtx-pro-5000-5488550-nvidia.pdf</a:t>
            </a:r>
          </a:p>
          <a:p>
            <a:r>
              <a:t>https://www.nvidia.com/en-us/products/workstations/professional-desktop-gpus/rtx-pro-6000/</a:t>
            </a:r>
          </a:p>
          <a:p>
            <a:r>
              <a:t>https://www.nvidia.com/en-us/geforce/graphics-cards/50-series/rtx-5090/</a:t>
            </a:r>
          </a:p>
          <a:p>
            <a:r>
              <a:t>https://www.nvidia.com/en-us/products/workstations/dgx-spark/</a:t>
            </a:r>
          </a:p>
          <a:p>
            <a:r>
              <a:t>https://www.nvidia.com/content/dam/en-zz/Solutions/dgx-spark/nvidia-gb10-superchip-whitepaper.pdf</a:t>
            </a:r>
          </a:p>
          <a:p>
            <a:r>
              <a:t>https://developer.nvidia.com/cuda/gpus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generation starts from noise. Base H3 runs the full DiT once for each denoising update, so the model runs 50 times. Parallel Decoding Distillation uses Base H3 as the teacher and trains a student to predict several fine-interval updates in one DiT evaluation. The released H3 Ref2VA PDD adapter uses a new 32-interval schedule and predicts four interval velocities per evaluation, so 32 divided by 4 equals eight DiT evaluations. This is not the same as selecting eight of the original 50 solver steps. Each H3 evaluation still crosses 50 DiT blocks, so repeated block executions fall from 50 times 50, or 2,500, to 8 times 50, or 400. That is 84 percent fewer repeated block calls, reducing repeated attention, GEMM/MLP, and USP communication together. The 84 percent figure is workload arithmetic, not measured end-to-end speedup; encoders, VAE, data movement, memory, and matched quality still require end-to-end validation. NVIDIA Figure 2 shows the generic N=12, L=4 mechanism; the H3 N=32, L=4 schedule is labeled outside the paper figure.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paraphrased from VSA Figure 1 and Section 3: https://arxiv.org/html/2505.13389v4 . H3 uses logical tiles of 128; do not substitute the paper default block geometry. The displayed figure is the cited VSA figure. H3 adaptation fixes the fine gate at one.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User-requested takeaways after the recorded demo. These summarize the experiment and future directions; they do not add benchmark results.</a:t>
            </a:r>
          </a:p>
          <a:p>
            <a:r>
              <a:t>Communication optimization is described as lossless when the numerical workload is retained. GPU/NIC topology, bottlenecks, available bandwidth and transfer volume must be considered together.</a:t>
            </a:r>
          </a:p>
          <a:p>
            <a:r>
              <a:t>Quantization quality must be evaluated per model and workload. No universal quality claim is made.</a:t>
            </a:r>
          </a:p>
          <a:p>
            <a:r>
              <a:t>The final point is future work: autoregressive diffusion for lower response latency, and prompt enhancement for richer interactions. Neither is presented as a completed improvement in the recorded demo.</a:t>
            </a:r>
          </a:p>
          <a:p/>
          <a:p>
            <a:r>
              <a:t>Presentation emphasis: Close with reusable decisions: inspect topology; qualify quantization per workload; move from fast generation toward responsive, continuous interaction. The last point is future work, not a claim about the recorded demo.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Stages group representative kernels rather than counting individual launches. The timeline is a conceptual launch-bound example on the same illustrative time scale. Matching kernel widths indicate unchanged work; the diagram is not an Nsight capture, and does not quantify the measured request gain. No retained paired Nsight screenshots isolate the graph-only change. RDMA and input/output readiness events are outside this prototype capture; graphs do not directly raise link bandwidth. Capture body: unpack QKV, original fine/coarse VSA, pack O_BUNDLE.</a:t>
            </a:r>
          </a:p>
          <a:p>
            <a:r>
              <a:t>Historical selected-profile 8-GPU head pipeline 1/2/3/1: warmed local HTTP request to complete MP4 mean 13.249868 s without compute graph versus 11.993609333333334 s with graph, three measured requests per cohort, fixed 960x544 / 362 frames / 8 steps / one reference. Model load and one per-shape warmup excluded. This is retained cohort evidence, not a newly randomized run or a new 2/3/2 measurement.</a:t>
            </a:r>
          </a:p>
          <a:p>
            <a:r>
              <a:t>Separate single-GPU four-arm component experiment on saved real layer-0 input: 12 counterbalanced rounds x 20 repeats, 5 warmup repeats. Seven-head eager 11.703171412150065 ms, graph 11.658073425292969 ms (0.385% reduction); bands 1/2/3/1 eager 12.323460133870443 ms, graph 12.040123176574706 ms (2.299% reduction). Excludes RDMA, gate, W_O, other DiT, encoder, VAE and HTTP. Bit-exact output checks passed before and after. Even banded graph compute remains 2.879% slower than unbanded eager compute; total pipeline gain depends on communication overlap. Evidence: cuda-graph-evidence.json.</a:t>
            </a:r>
          </a:p>
          <a:p>
            <a:r>
              <a:t>https://docs.nvidia.com/cuda/cuda-programming-guide/04-special-topics/cuda-graphs.html</a:t>
            </a:r>
          </a:p>
          <a:p>
            <a:r>
              <a:t>https://docs.pytorch.org/docs/stable/notes/cuda</a:t>
            </a:r>
          </a:p>
          <a:p/>
          <a:p>
            <a:r>
              <a:t>Merged suitability and scope from v1.28 page 19:</a:t>
            </a:r>
          </a:p>
          <a:p>
            <a:r>
              <a:t>Suitability follows from the inspected qad_head_compute_graph.py implementation, not a claim that every H3 or RDMA operation is graph-safe. The existing prototype is opt-in, inference-only, on a dedicated compute stream. It validates production SP8 geometry, tile128 multi-region metadata, mask-free non-joint attention, registered BF16 input/output views, and fixed addresses. A request runs 50 blocks x 8 model evaluations, giving 400 repeated attention calls per band when the profile, route plan, runtime and backend stay unchanged. Weights/GEMMs are outside this compute island, allowing reuse across blocks.</a:t>
            </a:r>
          </a:p>
          <a:p>
            <a:r>
              <a:t>Sparse Top-K selection is input-dependent, but values/selected indices may change while tensor shapes and launch structure remain fixed. Input-ready wait is enqueued before replay and output-ready recorded afterward; correctness requires stable buffer lifetime and safe reuse. Tensor values are refreshed in registered storage before replay. Cached entries retain runtime, route plan, geometry and callable objects.</a:t>
            </a:r>
          </a:p>
          <a:p>
            <a:r>
              <a:t>Actual cache identity includes runtime identity, compute stream, band position/start/head count, receive/send data pointers, shapes, strides, dtype/device, route-plan identity, complete reference/video/padding metadata, sparsity/keep rate, provider/precision/backend settings and callable identities. Two equal-sized bands A/C need not share GraphExec because their registered addresses differ. S and Kmax shorthand on slides denotes geometry encoded in buffers/plan and metadata.</a:t>
            </a:r>
          </a:p>
          <a:p>
            <a:r>
              <a:t>The actual prototype warms exact shape/JIT, synchronizes, captures a private pool and explicitly first-replays on a miss; full cache raises an error. Eager fallback and qualifying recurring profiles in vLLM are proposed production policy, not behavior already implemented by this prototype. Different resolution/frame/reference/head profile must not replay an incompatible graph.</a:t>
            </a:r>
          </a:p>
          <a:p>
            <a:r>
              <a:t>The same CUDA Graph mechanism is common in LLM inference; decode often dispatches batch/token-count profiles, while this H3 compute island dispatches video/reference geometry and head-band slots. This is a workload distinction, not a different graph algorithm. Kernel-dominated large bands may gain little. Capture/instantiate time and private-pool memory must amortize across replays. In the separate four-arm prototype, the 1/2/3/1 cold install after external JIT took 38.663 ms and added 1222 MiB reserved memory; these are experiment-specific costs, not a forecast for 2/3/2.</a:t>
            </a:r>
          </a:p>
          <a:p>
            <a:r>
              <a:t>https://docs.nvidia.com/cuda/cuda-programming-guide/04-special-topics/cuda-graphs.html</a:t>
            </a:r>
          </a:p>
          <a:p>
            <a:r>
              <a:t>https://docs.pytorch.org/docs/stable/notes/cuda</a:t>
            </a:r>
          </a:p>
          <a:p>
            <a:r>
              <a:t>Key causal distinction: head pipelining exposes useful transfer/attention overlap; graph replay amortizes the extra per-band compute submissions. Illustrative timeline retains the same kernel-stage widths in both modes; it is not measured Nsight evidence and does not attribute the entire 9.48% request delta to GPU idle time. All detailed production scope, LLM comparison, cache-key requirements and cold-cost evidence remain in speaker notes.</a:t>
            </a:r>
          </a:p>
          <a:p/>
          <a:p>
            <a:r>
              <a:t>v1.30 clarifies why combine these optimizations. Graph replay is possible before splitting heads. In the controlled four-arm experiment, Graph reduced all-seven-head compute by 0.385% and 1/2/3/1 banded compute by 2.299%. Splitting by itself added 5.30% compute time; split-plus-Graph remained 2.879% slower than all-head eager compute. Therefore these component results support a stronger Graph benefit after splitting, not a claim that the combined path always wins. End-to-end benefit relies on useful communication overlap. The retained 8-GPU 1/2/3/1 warmed request cohorts are 13.249868 seconds without compute Graph and 11.993609333 seconds with it, a 9.481% reduction (three requests each, not newly randomized). No matched full-model four-arm experiment establishes the combined path against all-head Graph.</a:t>
            </a:r>
          </a:p>
          <a:p>
            <a:r>
              <a:t>Graph batches submission; it does not fuse the GPU kernels. QKV linear projection is outside this compute island. Capture includes unpack QKV, original fine/coarse VSA including routing/Top-K, and pack O_BUNDLE. Host mlx5 RDMA, readiness events, local gate/assembly and full W_O remain outside the current prototype. Do not generalize this scope to all RDMA APIs.</a:t>
            </a:r>
          </a:p>
          <a:p>
            <a:r>
              <a:t>The CPU schedule submits each compute band before continuing host-driven RDMA, so reducing submission work can also allow earlier host progress. This is a mechanistic explanation, not measured attribution of the entire request delta. If CPU submission is already ahead of GPU execution, Graph can add little benefit.</a:t>
            </a:r>
          </a:p>
          <a:p>
            <a:r>
              <a:t>Nsight timing semantics: enqueue occurs during the CPU launch API, so a GPU kernel may begin before that API returns. The conceptual drawing now marks enqueue points before each GPU start. CPU API return is not the dependency that gates GPU execution. Kernel widths are preserved across eager and graph diagrams; the diagram is not a measured before/after trace.</a:t>
            </a:r>
          </a:p>
          <a:p>
            <a:r>
              <a:t>Suitability is conditional on a stable profile: request geometry, S, Kmax, reference/padding metadata, band slot, backend, dtype, shape, stride and registered buffer pointers. Different data and sparse indices can be supplied without changing launch structure. Equal-sized bands can still require distinct graphs because pointers differ. Fifty blocks times eight evaluations give 400 uses per band when runtime/route/backend/profile remain unchanged. H3 has a repeated geometry within a request, whereas continuously batched LLM decoding often varies batch size, KV length and active requests; both can use Graph after their profiles and buffers are qualified.</a:t>
            </a:r>
          </a:p>
          <a:p>
            <a:r>
              <a:t>Caveats: capture/JIT/first-replay costs and private graph pools must be amortized. Historical four-band cold install after external geometry JIT cost 38.663 ms and increased reserved memory by 1222 MiB in this experiment. A shape/cache miss warms, synchronizes and captures; the retained 32-entry cache raises when full. An eager production fallback is proposed, not implemented. CPU work is not replayed. Correct readiness, collective order, stream joins and buffer lifetime remain necessary. The retained qualification is inference-only, tile 128, mask-free, nonjoint and SP8. The selected 2/3/2 schedule needs its own qualification and end-to-end measurements.</a:t>
            </a:r>
          </a:p>
          <a:p>
            <a:r>
              <a:t>Official timing semantics: https://docs.nvidia.com/nsight-systems/AnalysisGuide/</a:t>
            </a:r>
          </a:p>
          <a:p>
            <a:r>
              <a:t>Graph semantics: https://docs.pytorch.org/docs/stable/notes/cuda ; https://docs.nvidia.com/cuda/cuda-programming-guide/04-special-topics/cuda-graphs.html</a:t>
            </a:r>
          </a:p>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explains the actual rolling demo implementation as a schematic, not a new benchmark or a guarantee of seamless long-term quality.</a:t>
            </a:r>
          </a:p>
          <a:p>
            <a:r>
              <a:t>Each request generates 124 frames at 24 FPS. Window starts are 0, 119, 238. The first request emits all 124 frames. Subsequent requests remove five overlapping frames and corresponding decoded audio, yielding 119 new frames.</a:t>
            </a:r>
          </a:p>
          <a:p>
            <a:r>
              <a:t>The previous completed request retains only its last two video latent slices and an aligned audio latent tail. These are appended to existing visual/audio conditioning for the next request.</a:t>
            </a:r>
          </a:p>
          <a:p>
            <a:r>
              <a:t>The reference image and voice remain inputs. The next prompt may contain a new English reply or quiet listening instructions.</a:t>
            </a:r>
          </a:p>
          <a:p>
            <a:r>
              <a:t>In the interactive demo the video guide mixes 80 percent retained history and 20 percent seeded noise. The audio guide stays clean. Target video and audio prefix clamping are off.</a:t>
            </a:r>
          </a:p>
          <a:p>
            <a:r>
              <a:t>Cumulative AV positions continue across windows. Audio overlap uses rounded cumulative boundaries, resulting in eight or nine latent tokens; the slide simplifies this as matching audio.</a:t>
            </a:r>
          </a:p>
          <a:p>
            <a:r>
              <a:t>New state is committed only after successful MP4 generation. The diagram is fixed-size state handoff across requests; the runtime does not retain the whole video.</a:t>
            </a:r>
          </a:p>
          <a:p>
            <a:r>
              <a:t>The interaction example stays on slide 17. The recorded demonstration follows on slide 19.</a:t>
            </a:r>
          </a:p>
          <a:p>
            <a:r>
              <a:t>Updated visual: actual last frame of request 0 and actual first retained frame of request 1 from the same validated interactive-demo session. The right image is already overlap-trimmed; it is not a raw generated prefix. Media ordinal 0 has 124 frames, ordinal 1 has 119 emitted frames. The timeline illustrates removal of the five-frame overlapping start, with aligned audio trimming. Static frames do not establish seamless motion or guarantee long-term quality. See continuation-frames.json for extraction provenance.</a:t>
            </a:r>
          </a:p>
          <a:p/>
          <a:p>
            <a:r>
              <a:t>Presentation emphasis: Explain the experience-level purpose first: each window should feel like part of one conversation. The images and timeline show context reuse and overlap trimming. This does not establish indefinitely stable generation or eliminate all seams.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User-requested closed conversation loop: a user pictogram on the left sends speech through Qwen3-ASR-0.6B, Qwen3-4B, and H3; a generated avatar frame appears on the right and generated voice returns to the user.</a:t>
            </a:r>
          </a:p>
          <a:p>
            <a:r>
              <a:t>The recorded ASR is Qwen3-ASR-0.6B, not 0.5B. Model identity is verified against demo-config.json. Qwen3-4B produces short replies; the server combines the reply with fixed English scene/speaking instructions to form the H3 prompt.</a:t>
            </a:r>
          </a:p>
          <a:p>
            <a:r>
              <a:t>The question is the English translation of the recorded user question. The right speech bubble and prompt excerpt are intended LLM reply text, not verified transcription of generated H3 audio.</a:t>
            </a:r>
          </a:p>
          <a:p>
            <a:r>
              <a:t>The upper portrait is the actual reference image passed into H3. The right frame is media/clip-a-ending.png, a previously generated frame from the validated interactive demo session, not a new render for this question. The figure illustrates the data flow, not frame-accurate word/audio alignment.</a:t>
            </a:r>
          </a:p>
          <a:p>
            <a:r>
              <a:t>Output is H3 native video and audio; there is no separate TTS. The return arrow denotes audio playback to the user, not model feedback. First window 5.167 s; continuation adds 4.958 s after overlap trimming.</a:t>
            </a:r>
          </a:p>
          <a:p>
            <a:r>
              <a:t>Existing video/audio recordings and all benchmark measurements remain unchanged.</a:t>
            </a:r>
          </a:p>
          <a:p/>
          <a:p>
            <a:r>
              <a:t>Presentation emphasis: The user experiences the complete loop. The standalone generation result is one component of response latency. Walk through the concrete spoken example, then show the recorded experience; do not assign unmeasured latency to the full loop.</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High-level explanation only. Slide 16 describes the eight-evaluation QAD pipeline; slide 6 describes the distinct historical four-step avatar. Do not imply all techniques are enabled in both recipes.</a:t>
            </a:r>
          </a:p>
          <a:p>
            <a:r>
              <a:t>Online evidence: https://lishunyang12.github.io/fasth3-omni-evaluation-20261018/reports/h3-liveavatar-long-video-20261014/</a:t>
            </a:r>
          </a:p>
          <a:p/>
          <a:p>
            <a:r>
              <a:t>Presentation emphasis: Use the three lessons to interpret the evidence, rather than walking through every implementation. The measured baseline NCCL work includes waiting and overlap. RDMA/layout/overlap is a grouped intervention, not an isolated RDMA result. The four-step avatar and eight-step ladder remain distinct workloads. Hidden slides retain the implementation details.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functional topology, no payload overlays. Four CX8 devices each serve two GPUs. GPU-to-switch and shared switch-to-CPU links are PCIe Gen5 x16: 63.015 GB/s per direction after line encoding and before packet overhead. Switch-to-NIC is Gen6 x16: 128 GB/s nominal per direction shared by two NIC functions. Each GPU is mapped to a 400 Gb/s RoCE port: 50 GB/s nominal one-way. Each CX8 has 800 Gb/s aggregate network capacity for its two GPUs, or 100 GB/s send and independently 100 GB/s receive. The eight ports total 400 GB/s nominal send, not guaranteed effective throughput. Protocol, fabric and receiver constraints remain. The former 256 GB/s xGMI platform maximum is removed: it was not this host's verified configured capacity. A new CPU sequential remote-memory-read experiment measured 113.02-135.71 GB/s medians across 8/16/32/56 threads and both directions. This workload includes DRAM, fabric and CPU limitations; it is not GPU-path capacity or an xGMI counter measurement. Kernel 5.15 lacks an exposed HSMP interface on this host, and privileged configuration access is unavailable. Sources: https://developer.nvidia.com/blog/nvidia-connectx-8-supernics-advance-ai-platform-architecture-with-pcie-gen6-connectivity/ https://docs.amd.com/v/u/en-US/58462_amd-epyc-9005-tg-architecture-overview</a:t>
            </a:r>
          </a:p>
          <a:p>
            <a:r>
              <a:t>CPU-to-CPU capacity uses C=256 GB/s as the raw one-way aggregate model input (4 links x 16 lanes x 32 Gb/s / 8). Installed link configuration and effective payload rate are not established. https://docs.amd.com/v/u/en-US/58462_amd-epyc-9005-tg-architecture-overview</a:t>
            </a:r>
          </a:p>
          <a:p>
            <a:r>
              <a:t>Topology redrawn as SVG in v1.32. Separate GPU, NIC and host-uplink wiring; capacities and device mapping retained. Blue lines show the NIC/fabric branch. The fabric rail represents logical connectivity, not a single measured physical link. xGMI 256 GB/s remains an unverified raw-capacity model input.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gray bars now use original vLLM-Omni all_to_all_4D, AST-extracted without modifications from clean checkout 63487a7f22db603adefcdac378cfe2a26f6bcb7c, matching the recorded Base50 source HEAD. The original function is replayed eagerly; this is not a full-model torch.compile or E2E run. PyTorch 2.13.0+cu132, NCCL 2.29.7, 8 GPUs, B1 H56 D128 BF16. Q/K/V scatter heads and O gathers heads. The comparison explicitly adds NCCL_NET_DISABLE_INTRA=1 with NCCL_IB_DISABLE=1, NCCL_P2P_DISABLE=0, NCCL_SHM_DISABLE=0. This additional local-only control was NOT recorded in the historical Base50 launch. Fresh original-source audit finds all 56 directed pairs: eight within-subtree P2P/CUMEM, 16 within-NUMA cross-subtree SHM/direct/direct, 32 cross-NUMA SHM/direct/direct. All eight physical mlx5_0..7 TX/RX counters remained unchanged during 20 Q/K/V/O repeats. The separate IB-disable-only replay selected NET/Socket for cross-NUMA; it must not be called a pure P2P/SHM run. Historical Base50 per-pair routes remain unrecorded. Connection logs establish routes, not channel byte/time fractions. Each local two-GPU subtree must carry six of seven peer payloads over its CPU uplink; 2*B*6/7 &lt;=63.015 gives B&lt;=36.759. The socket cut requires 4*B*4/7&lt;=C, so B&lt;=7*C/16. C is unmeasured; raw xGMI platform maximum is not usable C. SHM staging can add further memory/protocol overhead. All-RDMA uses nearest GPU-affine ports and bypasses the CPU-facing payload route. The necessary RDMA bound is min(63.015,128/2,50)=50 GB/s/GPU, with no network oversubscription assumed; all values are one-way. These capacity bounds do not explain or predict the entire measured improvement. Original NCCL includes its eager output allocations and relayouts; FI uses reusable registered outputs and ordinary-input staging. Both include synchronization and CPU-to-GPU-completion timing. No GEMM/attention, no graphs, unlocked clocks, resident services preserved. The timing is rank maximum per sample, then pooled median across three rounds with alternating route order. Original-source and route audit: local-nccl-20261026/source-evidence.json, route-audits.json. [{"sequence": 15104, "route": "nccl", "samples": 90, "median_ms": 5.5599215, "p10_ms": 5.464282000000001, "p90_ms": 5.776382, "round_medians_ms": [5.5446314999999995, 5.5613515, 5.569026], "TX_bytes_per_GPU": 94732288, "effective_TX_GBps_per_GPU": 17.038421855416484}, {"sequence": 15104, "route": "rdma", "samples": 90, "median_ms": 2.3746525, "p10_ms": 2.3610830000000003, "p90_ms": 2.387686, "round_medians_ms": [2.3754575, 2.3743675, 2.3743375], "TX_bytes_per_GPU": 94732288, "effective_TX_GBps_per_GPU": 39.893116150678885}, {"sequence": 32768, "route": "nccl", "samples": 90, "median_ms": 12.123344, "p10_ms": 11.8987111, "p90_ms": 12.4382989, "round_medians_ms": [12.0223615, 12.136538999999999, 12.241837499999999], "TX_bytes_per_GPU": 205520896, "effective_TX_GBps_per_GPU": 16.952492315651526}, {"sequence": 32768, "route": "rdma", "samples": 90, "median_ms": 4.9158825, "p10_ms": 4.904389, "p90_ms": 4.929872, "round_medians_ms": [4.916513, 4.918573, 4.9130175000000005], "TX_bytes_per_GPU": 205520896, "effective_TX_GBps_per_GPU": 41.80752814982864}, {"sequence": 65536, "route": "nccl", "samples": 90, "median_ms": 22.4714855, "p10_ms": 21.618092100000002, "p90_ms": 23.0818239, "round_medians_ms": [22.239369500000002, 22.4875045, 22.560588000000003], "TX_bytes_per_GPU": 411041792, "effective_TX_GBps_per_GPU": 18.2917053703459}, {"sequence": 65536, "route": "rdma", "samples": 90, "median_ms": 9.6350585, "p10_ms": 9.622725099999998, "p90_ms": 9.661646, "round_medians_ms": [9.634298000000001, 9.639059, 9.631359], "TX_bytes_per_GPU": 411041792, "effective_TX_GBps_per_GPU": 42.661058259272636}]</a:t>
            </a:r>
          </a:p>
          <a:p>
            <a:r>
              <a:t>Conclusion update: The local-NCCL to FI-RDMA speedups are 2.341361, 2.466158 and 2.332262 for S=15104/32768/65536. The comparison validates the complete tested communication implementations, not a pure link substitution. To support B=36.759, the socket cut needs C=84.0205 GB/s. CPU remote-read results above this value do not establish the GPU/SHM path capacity, especially with simultaneous bidirectional traffic. Neither PCIe saturation nor xGMI saturation is isolated. Do not claim xGMI saturation is the cause of the observed improvement.</a:t>
            </a:r>
          </a:p>
          <a:p>
            <a:r>
              <a:t>C=256 GB/s is a one-way raw aggregate capacity assumption, not the installed measured payload bandwidth. Uniform all-to-all yields B&lt;=7C/16=112 GB/s, so the shared Gen5 x16 uplink bound (36.8 GB/s) is tighter in this model. Real SHM, memory and interconnect costs can reduce observed throughput. The curves remain the retained communication microbenchmarks, not E2E.</a:t>
            </a:r>
          </a:p>
          <a:p/>
          <a:p>
            <a:r>
              <a:t>Merged prior p17 validation:</a:t>
            </a:r>
          </a:p>
          <a:p>
            <a:r>
              <a:t>The transport precheck used four physical ranks and the real RDMA route with synthetic, rank-distinct BF16 inputs. Its 96 passing rank-cases are 24 distributed configurations observed on four ranks: two row counts, three head widths, two stream priorities and two phases. It retained the production eight-slot layout, transported physical peer slots zero through three and zero-filled the other receive slots. Q and K were exchanged while V contained NaNs; only after that exchange did a producer stream publish V and record a CUDA event, which the communication stream waited on before reading V. This proves ordering and synchronization, not concurrent V projection or overlap gain. The captured graph contains only fixed-address split-QKV unpack, which remained byte-exact after inputs changed and the graph replayed. The all-RDMA collective stays outside CUDA Graph capture and explicitly refuses capture because it posts mlx5 work requests and polls completion queues from the host. Whole output return and two row-chunk returns, including the repeated coarse tail, matched independent references byte for byte. These are transport and layout exactness results; full attention, W_O, end-to-end latency, peak memory and candidate overlap were not measured. The complete eight-GPU H3 candidate therefore remains pending. Evidence bundle: real-rdma-four-gpu-20261024-v2/summary.json.</a:t>
            </a:r>
          </a:p>
          <a:p/>
          <a:p>
            <a:r>
              <a:t>Merged prior p18 interpretation:</a:t>
            </a:r>
          </a:p>
          <a:p>
            <a:r>
              <a:t>Recommended presentation closing: On this eight-GPU PCIe platform, use the tested GPU-affine FI RDMA path for Ulysses. Against the controlled local NCCL replay of the original Ulysses code, the complete FI implementation improves communication throughput from 17.0-18.3 to 39.9-42.7 GB/s/GPU and reduces Q/K/V/O time by a factor of 2.33-2.47. The local-only environment adds NCCL_NET_DISABLE_INTRA=1; it is not a rerun of historical Base50 E2E. Route logs establish P2P/SHM versus nearest-port RDMA selection. They do not establish per-link utilization or attribute percentages of performance. The optimistic PCIe shared-uplink bound is 36.76 GB/s/GPU. The xGMI cut would need at least 84.02 GB/s to support that bound, but the relevant GPU/SHM capacity is unmeasured. The CPU remote-memory experiment is supporting platform context only. Do not infer that CPU interconnect is harmless or saturated. Further tuning should reduce input staging via direct production into registered buffers, followed by full-H3 validation of correctness, E2E latency and compute/communication overlap. Previous isolated producer-direct communication experiments showed possible improvement, but those are not an E2E result. The immediately preceding validation slide concerns a separate overlap/graph/tiled-O candidate, whose full eight-GPU H3 acceptance remains pending. No claim is made that NCCL inherently cannot use RDMA or that the observed implementation speedup is solely due to network bandwidth.</a:t>
            </a:r>
          </a:p>
          <a:p/>
          <a:p>
            <a:r>
              <a:t>Current model clarification: C=256 GB/s is only the raw one-way aggregate xGMI assumption; installed effective capacity is unknown. Under that assumption the 36.8 GB/s shared PCIe uplink bound is tighter. This does not exclude memory/SHM/xGMI implementation costs as contributors to the measured gap.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stages 08–12 as one engineering refinement, with the detailed stage measurements retained on the linked data page.</a:t>
            </a:r>
          </a:p>
          <a:p>
            <a:r>
              <a:t>Speedups are ratios of the unrounded medians of adjacent displayed configurations, not ratios of rounded table values or paired per-request speedups.</a:t>
            </a:r>
          </a:p>
          <a:p>
            <a:r>
              <a:t>The 00→01 value is a descriptive ratio across separately recorded baseline policies, not an isolated causal gain from step reduction.</a:t>
            </a:r>
          </a:p>
          <a:p>
            <a:r>
              <a:t>The final 4.922-second result is a standalone 124-frame request and does not establish sustained rolling RTF below one.</a:t>
            </a:r>
          </a:p>
          <a:p>
            <a:r>
              <a:t>https://lishunyang12.github.io/fasth3-omni-evaluation-20261018/slides/minimax-h3-real-time-inference-20261025/v1.43/benchmarks.html</a:t>
            </a:r>
          </a:p>
          <a:p>
            <a:r>
              <a:t>[{"stage": "00", "title": "Baseline \u00b7 original BF16 / dense / 50 evaluations", "median_seconds": 213.40215269569308, "rtf": 41.303642457230914, "previous_stage": null, "speedup": null, "separately_refreshed_baseline": false}, {"stage": "01", "title": "+ PDD \u00b7 50 \u2192 8 evaluations", "median_seconds": 44.32691093347967, "rtf": 8.579402116157354, "previous_stage": "00-base50", "speedup": 4.814279817872727, "separately_refreshed_baseline": true}, {"stage": "02", "title": "+ Trained VSA \u00b7 native 8-step model / runtime", "median_seconds": 25.915374606847763, "rtf": 5.015878956164083, "previous_stage": "01-pdd8", "speedup": 1.7104483962106, "separately_refreshed_baseline": false}, {"stage": "03", "title": "+ QAD NVFP4 DiT / native FP4 attention", "median_seconds": 19.460303778760135, "rtf": 3.766510408792284, "previous_stage": "02-vsa", "speedup": 1.3317045253493416, "separately_refreshed_baseline": false}, {"stage": "04", "title": "+ RDMA / direct layout / V-gate overlap", "median_seconds": 6.832498379051685, "rtf": 1.3224190411067778, "previous_stage": "03-qad-native-fp4", "speedup": 2.84819735024381, "separately_refreshed_baseline": false}, {"stage": "05", "title": "+ 2 / 3 / 2 head pipeline", "median_seconds": 6.407273745164275, "rtf": 1.240117499064053, "previous_stage": "04-ulysses", "speedup": 1.0663659226684887, "separately_refreshed_baseline": false}, {"stage": "06", "title": "+ Compute CUDA graphs", "median_seconds": 6.192990344949067, "rtf": 1.198643292570787, "previous_stage": "05-head-232", "speedup": 1.0346009582252902, "separately_refreshed_baseline": false}, {"stage": "07", "title": "+ 36-layer NVFP4 VAE / MP4 pre-encoding", "median_seconds": 5.419804787263274, "rtf": 1.048994474954182, "previous_stage": "06-cuda-graph", "speedup": 1.1426593001103664, "separately_refreshed_baseline": false}, {"stage": "08\u201312", "title": "+ Output and data-movement optimizations", "median_seconds": 4.9224158665165305, "rtf": 0.9527256515838446, "previous_stage": "07-vae-output", "speedup": 1.1010456926506564, "separately_refreshed_baseline": false}]</a:t>
            </a:r>
          </a:p>
          <a:p/>
          <a:p>
            <a:r>
              <a:t>Presentation emphasis: Use the table as evidence for how the bottleneck shifts. Highlight the grouped communication change and the output-path work that completes the path below five seconds. Do not narrate every row. Final 4.922 s is standalone H3 latency; it does not establish the full conversational response latency. Keep the separately refreshed baseline qualification.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closing slide from NVIDIA Corporate PPT Template Starter Guide v1, page 22.</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GPU owns seven attention heads after Ulysses redistribution. Selected band slices [0:2], [2:5], [5:7]. Each band receives Q/K/V for the complete global sequence before executing fine/coarse VSA. Stream events gate readiness and buffer reuse. Returned O bands restore all 56 heads for each token in the local token shard before full W_O; there is no independent full output projection per head band. Shared NIC direction capacity still applies; the communication lane here serializes operations and illustrates overlap with compute. The schedule is conceptual with illustrative durations, not a prediction of latency. 2/3/2 is selected for the updated presentation and has not been benchmarked here. Historical measurements used 1/2/3/1 and are labeled separately.</a:t>
            </a:r>
          </a:p>
          <a:p>
            <a:r>
              <a:t>v1.27 visual revision: consistent blue input transfers, gray output transfers, green compute bands with visible separation, three readiness arrows and an explicit complete-output dependency. Timing coordinates and logical ordering are unchanged.</a:t>
            </a:r>
          </a:p>
          <a:p>
            <a:r>
              <a:t>Pipeline changes dependency granularity to hide transfers behind productive work. It also repeats the compute submission sequence for every band. CUDA Graph is the following optimization: replay each qualified band compute island to reduce CPU/driver submission overhead. It neither changes link bandwidth nor replaces the head-pipeline readiness dependencies.</a:t>
            </a:r>
          </a:p>
          <a:p>
            <a:r>
              <a:t>Head-band caveats: smaller bands can lose kernel efficiency and add launches, events and communication calls. Each band still needs full-sequence QKV; all O bands must restore the full 56-head local-token representation before W_O. Rank ordering, input readiness and buffer lifetime must remain correct. Compute and transfers can compete for HBM/PCIe/NIC resources. Overlap must repay the extra scheduling and split-kernel cost. CUDA Graph can already be used before banding; banding increases repeated submissions and strengthens its motivation. The displayed 2/3/2 remains a selected schematic, without a matched full-model benchmark in this release.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hyperlink" Target="https://lishunyang12.github.io/fasth3-omni-evaluation-20261018/slides/minimax-h3-real-time-inference-20261025/v1.39/latency-breakdown.html" TargetMode="External"/><Relationship Id="rId4" Type="http://schemas.openxmlformats.org/officeDocument/2006/relationships/hyperlink" Target="https://lishunyang12.github.io/fasth3-omni-evaluation-20261018/slides/minimax-h3-real-time-inference-20261025/v1.40/baseline-breakdown.html" TargetMode="External"/><Relationship Id="rId5" Type="http://schemas.openxmlformats.org/officeDocument/2006/relationships/hyperlink" Target="https://lishunyang12.github.io/fasth3-omni-evaluation-20261018/slides/minimax-h3-real-time-inference-20261025/v1.42/baseline-breakdown.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h3vector6.svg"/><Relationship Id="rId5" Type="http://schemas.openxmlformats.org/officeDocument/2006/relationships/image" Target="../media/image19.png"/><Relationship Id="rId6" Type="http://schemas.openxmlformats.org/officeDocument/2006/relationships/image" Target="../media/h3vector7.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3.pn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14.png"/><Relationship Id="rId9" Type="http://schemas.microsoft.com/office/2007/relationships/media" Target="../media/media3.mp4"/><Relationship Id="rId10" Type="http://schemas.openxmlformats.org/officeDocument/2006/relationships/video" Target="../media/media3.mp4"/><Relationship Id="rId11" Type="http://schemas.openxmlformats.org/officeDocument/2006/relationships/image" Target="../media/image28.png"/><Relationship Id="rId12" Type="http://schemas.microsoft.com/office/2007/relationships/media" Target="../media/media4.mp4"/><Relationship Id="rId13" Type="http://schemas.openxmlformats.org/officeDocument/2006/relationships/video" Target="../media/media4.mp4"/><Relationship Id="rId14" Type="http://schemas.openxmlformats.org/officeDocument/2006/relationships/image" Target="../media/image3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8.png"/><Relationship Id="rId5" Type="http://schemas.openxmlformats.org/officeDocument/2006/relationships/image" Target="../media/h3vector1.svg"/><Relationship Id="rId6" Type="http://schemas.openxmlformats.org/officeDocument/2006/relationships/hyperlink" Target="https://grateful-requirements-dictionaries-impacts.trycloudflare.com/scaling/ulysses.svg" TargetMode="External"/><Relationship Id="rId7" Type="http://schemas.openxmlformats.org/officeDocument/2006/relationships/image" Target="../media/image22.png"/><Relationship Id="rId8" Type="http://schemas.openxmlformats.org/officeDocument/2006/relationships/image" Target="../media/h3vector13.svg"/><Relationship Id="rId9" Type="http://schemas.openxmlformats.org/officeDocument/2006/relationships/hyperlink" Target="https://lishunyang12.github.io/fasth3-omni-evaluation-20261018/reports/h3-liveavatar-long-video-2026101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h3vector2.svg"/><Relationship Id="rId7" Type="http://schemas.openxmlformats.org/officeDocument/2006/relationships/image" Target="../media/h3vector5.svg"/><Relationship Id="rId8" Type="http://schemas.openxmlformats.org/officeDocument/2006/relationships/image" Target="../media/image20.png"/><Relationship Id="rId9" Type="http://schemas.openxmlformats.org/officeDocument/2006/relationships/image" Target="../media/h3vector8.svg"/><Relationship Id="rId10" Type="http://schemas.openxmlformats.org/officeDocument/2006/relationships/image" Target="../media/image25.png"/><Relationship Id="rId11" Type="http://schemas.openxmlformats.org/officeDocument/2006/relationships/image" Target="../media/h3vector14.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h3vector3.svg"/><Relationship Id="rId5" Type="http://schemas.openxmlformats.org/officeDocument/2006/relationships/image" Target="../media/image11.png"/><Relationship Id="rId6" Type="http://schemas.openxmlformats.org/officeDocument/2006/relationships/image" Target="../media/h3vector4.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h3vector9.svg"/><Relationship Id="rId5" Type="http://schemas.openxmlformats.org/officeDocument/2006/relationships/image" Target="../media/image33.png"/><Relationship Id="rId6" Type="http://schemas.openxmlformats.org/officeDocument/2006/relationships/image" Target="../media/h3vector11.svg"/><Relationship Id="rId7" Type="http://schemas.openxmlformats.org/officeDocument/2006/relationships/image" Target="../media/image32.png"/><Relationship Id="rId8" Type="http://schemas.openxmlformats.org/officeDocument/2006/relationships/image" Target="../media/h3vector15.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 Id="rId3" Type="http://schemas.openxmlformats.org/officeDocument/2006/relationships/image" Target="../media/image34.png"/><Relationship Id="rId4" Type="http://schemas.openxmlformats.org/officeDocument/2006/relationships/image" Target="../media/h3vector12.svg"/><Relationship Id="rId5" Type="http://schemas.openxmlformats.org/officeDocument/2006/relationships/image" Target="../media/image21.png"/><Relationship Id="rId6" Type="http://schemas.openxmlformats.org/officeDocument/2006/relationships/image" Target="../media/h3vector10.svg"/><Relationship Id="rId7" Type="http://schemas.openxmlformats.org/officeDocument/2006/relationships/image" Target="../media/image35.png"/><Relationship Id="rId8" Type="http://schemas.openxmlformats.org/officeDocument/2006/relationships/image" Target="../media/h3vector16.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 Id="rId3" Type="http://schemas.openxmlformats.org/officeDocument/2006/relationships/hyperlink" Target="https://lishunyang12.github.io/fasth3-omni-evaluation-20261018/slides/minimax-h3-real-time-inference-20261025/v1.39/benchmarks.html" TargetMode="External"/><Relationship Id="rId4" Type="http://schemas.openxmlformats.org/officeDocument/2006/relationships/hyperlink" Target="https://lishunyang12.github.io/fasth3-omni-evaluation-20261018/slides/minimax-h3-real-time-inference-20261025/v1.42/benchmarks.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hyperlink" Target="https://lishunyang12.github.io/fasth3-omni-evaluation-20261018/slides/minimax-h3-real-time-inference-20261025/v1.42/demo-config.html" TargetMode="External"/><Relationship Id="rId4" Type="http://schemas.openxmlformats.org/officeDocument/2006/relationships/image" Target="../media/image27.jpg"/><Relationship Id="rId5" Type="http://schemas.openxmlformats.org/officeDocument/2006/relationships/image" Target="../media/image36.png"/><Relationship Id="rId6"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2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a:xfrm>
            <a:off x="1828800" y="17190720"/>
            <a:ext cx="16459200" cy="1051560"/>
          </a:xfrm>
        </p:spPr>
        <p:txBody>
          <a:bodyPr/>
          <a:lstStyle/>
          <a:p>
            <a:r>
              <a:rPr>
                <a:solidFill>
                  <a:srgbClr val="313131"/>
                </a:solidFill>
              </a:rPr>
              <a:t>2026-08-23</a:t>
            </a:r>
          </a:p>
        </p:txBody>
      </p:sp>
      <p:sp>
        <p:nvSpPr>
          <p:cNvPr id="3" name="Text Placeholder 2"/>
          <p:cNvSpPr>
            <a:spLocks noGrp="1"/>
          </p:cNvSpPr>
          <p:nvPr>
            <p:ph type="body" idx="11" sz="quarter"/>
          </p:nvPr>
        </p:nvSpPr>
        <p:spPr>
          <a:xfrm>
            <a:off x="1828800" y="15956280"/>
            <a:ext cx="16459200" cy="1005840"/>
          </a:xfrm>
        </p:spPr>
        <p:txBody>
          <a:bodyPr/>
          <a:lstStyle/>
          <a:p>
            <a:r>
              <a:rPr sz="4000">
                <a:latin typeface="NVIDIA Sans"/>
              </a:rPr>
              <a:t>Li Shunyang Devtech Compute NVIDIA</a:t>
            </a:r>
          </a:p>
        </p:txBody>
      </p:sp>
      <p:sp>
        <p:nvSpPr>
          <p:cNvPr id="4" name="Text Placeholder 3"/>
          <p:cNvSpPr>
            <a:spLocks noGrp="1"/>
          </p:cNvSpPr>
          <p:nvPr>
            <p:ph type="body" idx="10" sz="quarter"/>
          </p:nvPr>
        </p:nvSpPr>
        <p:spPr/>
        <p:txBody>
          <a:bodyPr/>
          <a:lstStyle/>
          <a:p>
            <a:r>
              <a:t>Toward Real-time</a:t>
            </a:r>
            <a:br/>
            <a:r>
              <a:t>Generation with</a:t>
            </a:r>
            <a:br/>
            <a:r>
              <a:t>MiniMax H3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Generate about five seconds of audio and video within the same time budget.</a:t>
            </a:r>
          </a:p>
        </p:txBody>
      </p:sp>
      <p:sp>
        <p:nvSpPr>
          <p:cNvPr id="3" name="Title 2"/>
          <p:cNvSpPr>
            <a:spLocks noGrp="1"/>
          </p:cNvSpPr>
          <p:nvPr>
            <p:ph type="title"/>
          </p:nvPr>
        </p:nvSpPr>
        <p:spPr/>
        <p:txBody>
          <a:bodyPr/>
          <a:lstStyle/>
          <a:p>
            <a:r>
              <a:t>Real Time Is an End-to-End Budget</a:t>
            </a:r>
          </a:p>
        </p:txBody>
      </p:sp>
      <p:sp>
        <p:nvSpPr>
          <p:cNvPr id="4" name="Text Placeholder 3"/>
          <p:cNvSpPr>
            <a:spLocks noGrp="1"/>
          </p:cNvSpPr>
          <p:nvPr>
            <p:ph type="body" idx="52" sz="quarter"/>
          </p:nvPr>
        </p:nvSpPr>
        <p:spPr>
          <a:xfrm>
            <a:off x="1828799" y="16510765"/>
            <a:ext cx="16114094" cy="1142250"/>
          </a:xfrm>
        </p:spPr>
        <p:txBody>
          <a:bodyPr/>
          <a:lstStyle/>
          <a:p>
            <a:r>
              <a:t>RTF = latency ÷ media duration; the 124-frame deadline is 5.167 s. H3 has the largest dense backbone in this peer set; Wan2.2 has 27B total and 14B active parameters</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a:xfrm>
            <a:off x="18633106" y="16510765"/>
            <a:ext cx="16114093" cy="1142250"/>
          </a:xfrm>
        </p:spPr>
        <p:txBody>
          <a:bodyPr/>
          <a:lstStyle/>
          <a:p>
            <a:r>
              <a:t>The backbone is only part of the budget. Encoding, communication and audio–video output all contribute to latency.</a:t>
            </a:r>
          </a:p>
        </p:txBody>
      </p:sp>
      <p:sp>
        <p:nvSpPr>
          <p:cNvPr id="8" name="Text Placeholder 7"/>
          <p:cNvSpPr>
            <a:spLocks noGrp="1"/>
          </p:cNvSpPr>
          <p:nvPr>
            <p:ph type="body" idx="55" sz="quarter"/>
          </p:nvPr>
        </p:nvSpPr>
        <p:spPr>
          <a:xfrm>
            <a:off x="18633106" y="15884910"/>
            <a:ext cx="16114093" cy="859536"/>
          </a:xfrm>
        </p:spPr>
        <p:txBody>
          <a:bodyPr/>
          <a:lstStyle/>
          <a:p>
            <a:r>
              <a:t>Model Capability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a:ln w="9525">
            <a:solidFill>
              <a:srgbClr val="A7A7A7"/>
            </a:solidFill>
          </a:ln>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sz="2000" b="0">
                <a:solidFill>
                  <a:srgbClr val="A7A7A7"/>
                </a:solidFill>
                <a:latin typeface="NVIDIA Sans"/>
              </a:rPr>
              <a:t>Sources: MiniMax H3, Wan2.2, LTX-2.5 and HunyuanVideo-1.5 official releases · author 960×544 Ref2VA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3</a:t>
            </a:r>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SM120 Cards</a:t>
            </a:r>
          </a:p>
        </p:txBody>
      </p:sp>
      <p:graphicFrame>
        <p:nvGraphicFramePr>
          <p:cNvPr id="5" name="SM120 specifications"/>
          <p:cNvGraphicFramePr>
            <a:graphicFrameLocks noGrp="1"/>
          </p:cNvGraphicFramePr>
          <p:nvPr/>
        </p:nvGraphicFramePr>
        <p:xfrm>
          <a:off x="1828800" y="5852160"/>
          <a:ext cx="32918400" cy="11338560"/>
        </p:xfrm>
        <a:graphic>
          <a:graphicData uri="http://schemas.openxmlformats.org/drawingml/2006/table">
            <a:tbl>
              <a:tblPr firstRow="1" bandRow="1">
                <a:tableStyleId>{5C22544A-7EE6-4342-B048-85BDC9FD1C3A}</a:tableStyleId>
              </a:tblPr>
              <a:tblGrid>
                <a:gridCol w="9144000"/>
                <a:gridCol w="2926080"/>
                <a:gridCol w="6400800"/>
                <a:gridCol w="4023360"/>
                <a:gridCol w="10424160"/>
              </a:tblGrid>
              <a:tr h="1097280">
                <a:tc>
                  <a:txBody>
                    <a:bodyPr/>
                    <a:lstStyle/>
                    <a:p>
                      <a:pPr>
                        <a:spcBef>
                          <a:spcPts val="0"/>
                        </a:spcBef>
                        <a:spcAft>
                          <a:spcPts val="0"/>
                        </a:spcAft>
                      </a:pPr>
                      <a:r>
                        <a:rPr sz="3600" b="0">
                          <a:solidFill>
                            <a:srgbClr val="76B900"/>
                          </a:solidFill>
                          <a:latin typeface="NVIDIA Sans Medium"/>
                        </a:rPr>
                        <a:t>GPU</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SMs</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Memory</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Power</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Interconnect</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RTX PRO 5000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110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72 GB</a:t>
                      </a:r>
                    </a:p>
                    <a:p>
                      <a:pPr>
                        <a:spcBef>
                          <a:spcPts val="0"/>
                        </a:spcBef>
                        <a:spcAft>
                          <a:spcPts val="0"/>
                        </a:spcAft>
                      </a:pPr>
                      <a:r>
                        <a:rPr sz="3400" b="0">
                          <a:solidFill>
                            <a:srgbClr val="000000"/>
                          </a:solidFill>
                          <a:latin typeface="NVIDIA Sans"/>
                        </a:rPr>
                        <a:t>GDDR7 ECC</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300 W</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GPU NVLink</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RTX PRO 6000</a:t>
                      </a:r>
                    </a:p>
                    <a:p>
                      <a:pPr>
                        <a:spcBef>
                          <a:spcPts val="0"/>
                        </a:spcBef>
                        <a:spcAft>
                          <a:spcPts val="0"/>
                        </a:spcAft>
                      </a:pPr>
                      <a:r>
                        <a:rPr sz="3400" b="0">
                          <a:solidFill>
                            <a:srgbClr val="000000"/>
                          </a:solidFill>
                          <a:latin typeface="NVIDIA Sans Medium"/>
                        </a:rPr>
                        <a:t>Workstation / Server</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188</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96 GB</a:t>
                      </a:r>
                    </a:p>
                    <a:p>
                      <a:pPr>
                        <a:spcBef>
                          <a:spcPts val="0"/>
                        </a:spcBef>
                        <a:spcAft>
                          <a:spcPts val="0"/>
                        </a:spcAft>
                      </a:pPr>
                      <a:r>
                        <a:rPr sz="3400" b="0">
                          <a:solidFill>
                            <a:srgbClr val="000000"/>
                          </a:solidFill>
                          <a:latin typeface="NVIDIA Sans"/>
                        </a:rPr>
                        <a:t>GDDR7 ECC</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600 W</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GPU NVLink</a:t>
                      </a:r>
                    </a:p>
                  </a:txBody>
                  <a:tcPr anchor="ctr" marL="320040" marR="164592" marT="109728" marB="109728">
                    <a:solidFill>
                      <a:srgbClr val="F7F7F7"/>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GeForce RTX 5090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170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32 GB</a:t>
                      </a:r>
                    </a:p>
                    <a:p>
                      <a:pPr>
                        <a:spcBef>
                          <a:spcPts val="0"/>
                        </a:spcBef>
                        <a:spcAft>
                          <a:spcPts val="0"/>
                        </a:spcAft>
                      </a:pPr>
                      <a:r>
                        <a:rPr sz="3400" b="0">
                          <a:solidFill>
                            <a:srgbClr val="000000"/>
                          </a:solidFill>
                          <a:latin typeface="NVIDIA Sans"/>
                        </a:rPr>
                        <a:t>GDDR7</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575 W</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NVLink</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DGX Spark</a:t>
                      </a:r>
                    </a:p>
                    <a:p>
                      <a:pPr>
                        <a:spcBef>
                          <a:spcPts val="0"/>
                        </a:spcBef>
                        <a:spcAft>
                          <a:spcPts val="0"/>
                        </a:spcAft>
                      </a:pPr>
                      <a:r>
                        <a:rPr sz="3400" b="0">
                          <a:solidFill>
                            <a:srgbClr val="000000"/>
                          </a:solidFill>
                          <a:latin typeface="NVIDIA Sans Medium"/>
                        </a:rPr>
                        <a:t>GB10 · SM121</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48</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128 GB</a:t>
                      </a:r>
                    </a:p>
                    <a:p>
                      <a:pPr>
                        <a:spcBef>
                          <a:spcPts val="0"/>
                        </a:spcBef>
                        <a:spcAft>
                          <a:spcPts val="0"/>
                        </a:spcAft>
                      </a:pPr>
                      <a:r>
                        <a:rPr sz="3400" b="0">
                          <a:solidFill>
                            <a:srgbClr val="000000"/>
                          </a:solidFill>
                          <a:latin typeface="NVIDIA Sans"/>
                        </a:rPr>
                        <a:t>Unified LPDDR5X</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140 W</a:t>
                      </a:r>
                    </a:p>
                    <a:p>
                      <a:pPr>
                        <a:spcBef>
                          <a:spcPts val="0"/>
                        </a:spcBef>
                        <a:spcAft>
                          <a:spcPts val="0"/>
                        </a:spcAft>
                      </a:pPr>
                      <a:r>
                        <a:rPr sz="3400" b="0">
                          <a:solidFill>
                            <a:srgbClr val="000000"/>
                          </a:solidFill>
                          <a:latin typeface="NVIDIA Sans"/>
                        </a:rPr>
                        <a:t>SoC</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CPU–GPU NVLink-C2C</a:t>
                      </a:r>
                    </a:p>
                    <a:p>
                      <a:pPr>
                        <a:spcBef>
                          <a:spcPts val="0"/>
                        </a:spcBef>
                        <a:spcAft>
                          <a:spcPts val="0"/>
                        </a:spcAft>
                      </a:pPr>
                      <a:r>
                        <a:rPr sz="3400" b="0">
                          <a:solidFill>
                            <a:srgbClr val="000000"/>
                          </a:solidFill>
                          <a:latin typeface="NVIDIA Sans"/>
                        </a:rPr>
                        <a:t>200 Gb/s ConnectX-7</a:t>
                      </a:r>
                    </a:p>
                  </a:txBody>
                  <a:tcPr anchor="ctr" marL="320040" marR="164592" marT="109728" marB="109728">
                    <a:solidFill>
                      <a:srgbClr val="F7F7F7"/>
                    </a:solidFill>
                    <a:lnL w="0">
                      <a:noFill/>
                    </a:lnL>
                    <a:lnR w="0">
                      <a:noFill/>
                    </a:lnR>
                    <a:lnT w="0">
                      <a:noFill/>
                    </a:lnT>
                    <a:lnB w="0">
                      <a:noFill/>
                    </a:lnB>
                  </a:tcPr>
                </a:tc>
              </a:tr>
            </a:tbl>
          </a:graphicData>
        </a:graphic>
      </p:graphicFrame>
      <p:sp>
        <p:nvSpPr>
          <p:cNvPr id="6" name="Table heading rule"/>
          <p:cNvSpPr/>
          <p:nvPr/>
        </p:nvSpPr>
        <p:spPr>
          <a:xfrm>
            <a:off x="1828800" y="6931152"/>
            <a:ext cx="32918400" cy="22860"/>
          </a:xfrm>
          <a:prstGeom prst="rect">
            <a:avLst/>
          </a:prstGeom>
          <a:solidFill>
            <a:srgbClr val="A7A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4</a:t>
            </a:r>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SM120 Cards</a:t>
            </a:r>
          </a:p>
        </p:txBody>
      </p:sp>
      <p:graphicFrame>
        <p:nvGraphicFramePr>
          <p:cNvPr id="5" name="SM120 specifications"/>
          <p:cNvGraphicFramePr>
            <a:graphicFrameLocks noGrp="1"/>
          </p:cNvGraphicFramePr>
          <p:nvPr/>
        </p:nvGraphicFramePr>
        <p:xfrm>
          <a:off x="1828800" y="5852160"/>
          <a:ext cx="28620720" cy="11338560"/>
        </p:xfrm>
        <a:graphic>
          <a:graphicData uri="http://schemas.openxmlformats.org/drawingml/2006/table">
            <a:tbl>
              <a:tblPr firstRow="1" bandRow="1">
                <a:tableStyleId>{5C22544A-7EE6-4342-B048-85BDC9FD1C3A}</a:tableStyleId>
              </a:tblPr>
              <a:tblGrid>
                <a:gridCol w="7950200"/>
                <a:gridCol w="2544064"/>
                <a:gridCol w="5565140"/>
                <a:gridCol w="3498088"/>
                <a:gridCol w="9063228"/>
              </a:tblGrid>
              <a:tr h="1097280">
                <a:tc>
                  <a:txBody>
                    <a:bodyPr/>
                    <a:lstStyle/>
                    <a:p>
                      <a:pPr>
                        <a:spcBef>
                          <a:spcPts val="0"/>
                        </a:spcBef>
                        <a:spcAft>
                          <a:spcPts val="0"/>
                        </a:spcAft>
                      </a:pPr>
                      <a:r>
                        <a:rPr sz="3600" b="0">
                          <a:solidFill>
                            <a:srgbClr val="76B900"/>
                          </a:solidFill>
                          <a:latin typeface="NVIDIA Sans Medium"/>
                        </a:rPr>
                        <a:t>GPU</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SMs</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Memory</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Power</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600" b="0">
                          <a:solidFill>
                            <a:srgbClr val="76B900"/>
                          </a:solidFill>
                          <a:latin typeface="NVIDIA Sans Medium"/>
                        </a:rPr>
                        <a:t>Interconnect</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RTX PRO 5000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110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72 GB</a:t>
                      </a:r>
                    </a:p>
                    <a:p>
                      <a:pPr>
                        <a:spcBef>
                          <a:spcPts val="0"/>
                        </a:spcBef>
                        <a:spcAft>
                          <a:spcPts val="0"/>
                        </a:spcAft>
                      </a:pPr>
                      <a:r>
                        <a:rPr sz="3400" b="0">
                          <a:solidFill>
                            <a:srgbClr val="000000"/>
                          </a:solidFill>
                          <a:latin typeface="NVIDIA Sans"/>
                        </a:rPr>
                        <a:t>GDDR7 ECC</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300 W</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GPU NVLink</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RTX PRO 6000</a:t>
                      </a:r>
                    </a:p>
                    <a:p>
                      <a:pPr>
                        <a:spcBef>
                          <a:spcPts val="0"/>
                        </a:spcBef>
                        <a:spcAft>
                          <a:spcPts val="0"/>
                        </a:spcAft>
                      </a:pPr>
                      <a:r>
                        <a:rPr sz="3400" b="0">
                          <a:solidFill>
                            <a:srgbClr val="000000"/>
                          </a:solidFill>
                          <a:latin typeface="NVIDIA Sans Medium"/>
                        </a:rPr>
                        <a:t>Workstation / Server</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188</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96 GB</a:t>
                      </a:r>
                    </a:p>
                    <a:p>
                      <a:pPr>
                        <a:spcBef>
                          <a:spcPts val="0"/>
                        </a:spcBef>
                        <a:spcAft>
                          <a:spcPts val="0"/>
                        </a:spcAft>
                      </a:pPr>
                      <a:r>
                        <a:rPr sz="3400" b="0">
                          <a:solidFill>
                            <a:srgbClr val="000000"/>
                          </a:solidFill>
                          <a:latin typeface="NVIDIA Sans"/>
                        </a:rPr>
                        <a:t>GDDR7 ECC</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600 W</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GPU NVLink</a:t>
                      </a:r>
                    </a:p>
                  </a:txBody>
                  <a:tcPr anchor="ctr" marL="320040" marR="164592" marT="109728" marB="109728">
                    <a:solidFill>
                      <a:srgbClr val="F7F7F7"/>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GeForce RTX 5090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170</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32 GB</a:t>
                      </a:r>
                    </a:p>
                    <a:p>
                      <a:pPr>
                        <a:spcBef>
                          <a:spcPts val="0"/>
                        </a:spcBef>
                        <a:spcAft>
                          <a:spcPts val="0"/>
                        </a:spcAft>
                      </a:pPr>
                      <a:r>
                        <a:rPr sz="3400" b="0">
                          <a:solidFill>
                            <a:srgbClr val="000000"/>
                          </a:solidFill>
                          <a:latin typeface="NVIDIA Sans"/>
                        </a:rPr>
                        <a:t>GDDR7</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575 W</a:t>
                      </a:r>
                    </a:p>
                  </a:txBody>
                  <a:tcPr anchor="ctr" marL="320040" marR="164592" marT="109728" marB="109728">
                    <a:solidFill>
                      <a:srgbClr val="FFFFFF"/>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PCIe Gen5 ×16</a:t>
                      </a:r>
                    </a:p>
                    <a:p>
                      <a:pPr>
                        <a:spcBef>
                          <a:spcPts val="0"/>
                        </a:spcBef>
                        <a:spcAft>
                          <a:spcPts val="0"/>
                        </a:spcAft>
                      </a:pPr>
                      <a:r>
                        <a:rPr sz="3400" b="0">
                          <a:solidFill>
                            <a:srgbClr val="000000"/>
                          </a:solidFill>
                          <a:latin typeface="NVIDIA Sans"/>
                        </a:rPr>
                        <a:t>No NVLink</a:t>
                      </a:r>
                    </a:p>
                  </a:txBody>
                  <a:tcPr anchor="ctr" marL="320040" marR="164592" marT="109728" marB="109728">
                    <a:solidFill>
                      <a:srgbClr val="FFFFFF"/>
                    </a:solidFill>
                    <a:lnL w="0">
                      <a:noFill/>
                    </a:lnL>
                    <a:lnR w="0">
                      <a:noFill/>
                    </a:lnR>
                    <a:lnT w="0">
                      <a:noFill/>
                    </a:lnT>
                    <a:lnB w="0">
                      <a:noFill/>
                    </a:lnB>
                  </a:tcPr>
                </a:tc>
              </a:tr>
              <a:tr h="2560320">
                <a:tc>
                  <a:txBody>
                    <a:bodyPr/>
                    <a:lstStyle/>
                    <a:p>
                      <a:pPr>
                        <a:spcBef>
                          <a:spcPts val="0"/>
                        </a:spcBef>
                        <a:spcAft>
                          <a:spcPts val="0"/>
                        </a:spcAft>
                      </a:pPr>
                      <a:r>
                        <a:rPr sz="3400" b="0">
                          <a:solidFill>
                            <a:srgbClr val="000000"/>
                          </a:solidFill>
                          <a:latin typeface="NVIDIA Sans Medium"/>
                        </a:rPr>
                        <a:t>DGX Spark</a:t>
                      </a:r>
                    </a:p>
                    <a:p>
                      <a:pPr>
                        <a:spcBef>
                          <a:spcPts val="0"/>
                        </a:spcBef>
                        <a:spcAft>
                          <a:spcPts val="0"/>
                        </a:spcAft>
                      </a:pPr>
                      <a:r>
                        <a:rPr sz="3400" b="0">
                          <a:solidFill>
                            <a:srgbClr val="000000"/>
                          </a:solidFill>
                          <a:latin typeface="NVIDIA Sans Medium"/>
                        </a:rPr>
                        <a:t>GB10 · SM121</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48</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128 GB</a:t>
                      </a:r>
                    </a:p>
                    <a:p>
                      <a:pPr>
                        <a:spcBef>
                          <a:spcPts val="0"/>
                        </a:spcBef>
                        <a:spcAft>
                          <a:spcPts val="0"/>
                        </a:spcAft>
                      </a:pPr>
                      <a:r>
                        <a:rPr sz="3400" b="0">
                          <a:solidFill>
                            <a:srgbClr val="000000"/>
                          </a:solidFill>
                          <a:latin typeface="NVIDIA Sans"/>
                        </a:rPr>
                        <a:t>Unified LPDDR5X</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140 W</a:t>
                      </a:r>
                    </a:p>
                    <a:p>
                      <a:pPr>
                        <a:spcBef>
                          <a:spcPts val="0"/>
                        </a:spcBef>
                        <a:spcAft>
                          <a:spcPts val="0"/>
                        </a:spcAft>
                      </a:pPr>
                      <a:r>
                        <a:rPr sz="3400" b="0">
                          <a:solidFill>
                            <a:srgbClr val="000000"/>
                          </a:solidFill>
                          <a:latin typeface="NVIDIA Sans"/>
                        </a:rPr>
                        <a:t>SoC</a:t>
                      </a:r>
                    </a:p>
                  </a:txBody>
                  <a:tcPr anchor="ctr" marL="320040" marR="164592" marT="109728" marB="109728">
                    <a:solidFill>
                      <a:srgbClr val="F7F7F7"/>
                    </a:solidFill>
                    <a:lnL w="0">
                      <a:noFill/>
                    </a:lnL>
                    <a:lnR w="0">
                      <a:noFill/>
                    </a:lnR>
                    <a:lnT w="0">
                      <a:noFill/>
                    </a:lnT>
                    <a:lnB w="0">
                      <a:noFill/>
                    </a:lnB>
                  </a:tcPr>
                </a:tc>
                <a:tc>
                  <a:txBody>
                    <a:bodyPr/>
                    <a:lstStyle/>
                    <a:p>
                      <a:pPr>
                        <a:spcBef>
                          <a:spcPts val="0"/>
                        </a:spcBef>
                        <a:spcAft>
                          <a:spcPts val="0"/>
                        </a:spcAft>
                      </a:pPr>
                      <a:r>
                        <a:rPr sz="3400" b="0">
                          <a:solidFill>
                            <a:srgbClr val="000000"/>
                          </a:solidFill>
                          <a:latin typeface="NVIDIA Sans"/>
                        </a:rPr>
                        <a:t>CPU–GPU NVLink-C2C</a:t>
                      </a:r>
                    </a:p>
                    <a:p>
                      <a:pPr>
                        <a:spcBef>
                          <a:spcPts val="0"/>
                        </a:spcBef>
                        <a:spcAft>
                          <a:spcPts val="0"/>
                        </a:spcAft>
                      </a:pPr>
                      <a:r>
                        <a:rPr sz="3400" b="0">
                          <a:solidFill>
                            <a:srgbClr val="000000"/>
                          </a:solidFill>
                          <a:latin typeface="NVIDIA Sans"/>
                        </a:rPr>
                        <a:t>200 Gb/s ConnectX-7</a:t>
                      </a:r>
                    </a:p>
                  </a:txBody>
                  <a:tcPr anchor="ctr" marL="320040" marR="164592" marT="109728" marB="109728">
                    <a:solidFill>
                      <a:srgbClr val="F7F7F7"/>
                    </a:solidFill>
                    <a:lnL w="0">
                      <a:noFill/>
                    </a:lnL>
                    <a:lnR w="0">
                      <a:noFill/>
                    </a:lnR>
                    <a:lnT w="0">
                      <a:noFill/>
                    </a:lnT>
                    <a:lnB w="0">
                      <a:noFill/>
                    </a:lnB>
                  </a:tcPr>
                </a:tc>
              </a:tr>
            </a:tbl>
          </a:graphicData>
        </a:graphic>
      </p:graphicFrame>
      <p:sp>
        <p:nvSpPr>
          <p:cNvPr id="6" name="Table heading rule"/>
          <p:cNvSpPr/>
          <p:nvPr/>
        </p:nvSpPr>
        <p:spPr>
          <a:xfrm>
            <a:off x="1828800" y="6931152"/>
            <a:ext cx="28620720" cy="22860"/>
          </a:xfrm>
          <a:prstGeom prst="rect">
            <a:avLst/>
          </a:prstGeom>
          <a:solidFill>
            <a:srgbClr val="A7A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RO 5000 selection frame"/>
          <p:cNvSpPr/>
          <p:nvPr/>
        </p:nvSpPr>
        <p:spPr>
          <a:xfrm>
            <a:off x="1737360" y="6958584"/>
            <a:ext cx="28803600" cy="2551176"/>
          </a:xfrm>
          <a:prstGeom prst="rect">
            <a:avLst/>
          </a:prstGeom>
          <a:noFill/>
          <a:ln w="63500">
            <a:solidFill>
              <a:srgbClr val="76B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ight GPU emphasis"/>
          <p:cNvSpPr txBox="1"/>
          <p:nvPr/>
        </p:nvSpPr>
        <p:spPr>
          <a:xfrm>
            <a:off x="30952440" y="7360920"/>
            <a:ext cx="3749039" cy="1965960"/>
          </a:xfrm>
          <a:prstGeom prst="rect">
            <a:avLst/>
          </a:prstGeom>
          <a:noFill/>
        </p:spPr>
        <p:txBody>
          <a:bodyPr wrap="square" lIns="0" rIns="0" tIns="0" bIns="0">
            <a:spAutoFit/>
          </a:bodyPr>
          <a:lstStyle/>
          <a:p>
            <a:pPr>
              <a:spcBef>
                <a:spcPts val="0"/>
              </a:spcBef>
              <a:spcAft>
                <a:spcPts val="0"/>
              </a:spcAft>
            </a:pPr>
            <a:r>
              <a:rPr sz="13200" b="0">
                <a:solidFill>
                  <a:srgbClr val="76B900"/>
                </a:solidFill>
                <a:latin typeface="NVIDIA Sans Medium"/>
              </a:rPr>
              <a:t>×8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5</a:t>
            </a:r>
          </a:p>
        </p:txBody>
      </p:sp>
      <p:sp>
        <p:nvSpPr>
          <p:cNvPr id="3" name="Text Placeholder 2"/>
          <p:cNvSpPr>
            <a:spLocks noGrp="1"/>
          </p:cNvSpPr>
          <p:nvPr>
            <p:ph type="body" idx="13" sz="quarter"/>
          </p:nvPr>
        </p:nvSpPr>
        <p:spPr/>
        <p:txBody>
          <a:bodyPr/>
          <a:lstStyle/>
          <a:p>
            <a:r>
              <a:t>E2E: 213.402 s  ·  Generated video: 960 × 544, 5.167 s</a:t>
            </a:r>
          </a:p>
        </p:txBody>
      </p:sp>
      <p:sp>
        <p:nvSpPr>
          <p:cNvPr id="4" name="Title 3"/>
          <p:cNvSpPr>
            <a:spLocks noGrp="1"/>
          </p:cNvSpPr>
          <p:nvPr>
            <p:ph type="title"/>
          </p:nvPr>
        </p:nvSpPr>
        <p:spPr/>
        <p:txBody>
          <a:bodyPr/>
          <a:lstStyle/>
          <a:p>
            <a:r>
              <a:t>Baseline: Latency Breakdown</a:t>
            </a:r>
          </a:p>
        </p:txBody>
      </p:sp>
      <p:sp>
        <p:nvSpPr>
          <p:cNvPr id="5" name="Config heading"/>
          <p:cNvSpPr txBox="1"/>
          <p:nvPr/>
        </p:nvSpPr>
        <p:spPr>
          <a:xfrm>
            <a:off x="1828800" y="5349240"/>
            <a:ext cx="12344400" cy="914400"/>
          </a:xfrm>
          <a:prstGeom prst="rect">
            <a:avLst/>
          </a:prstGeom>
          <a:noFill/>
        </p:spPr>
        <p:txBody>
          <a:bodyPr wrap="square" lIns="0" rIns="0" tIns="0" bIns="0">
            <a:spAutoFit/>
          </a:bodyPr>
          <a:lstStyle/>
          <a:p>
            <a:pPr>
              <a:spcBef>
                <a:spcPts val="0"/>
              </a:spcBef>
              <a:spcAft>
                <a:spcPts val="0"/>
              </a:spcAft>
            </a:pPr>
            <a:r>
              <a:rPr sz="4400" b="0">
                <a:solidFill>
                  <a:srgbClr val="000000"/>
                </a:solidFill>
                <a:latin typeface="NVIDIA Sans Medium"/>
              </a:rPr>
              <a:t>Reference configuration</a:t>
            </a:r>
          </a:p>
        </p:txBody>
      </p:sp>
      <p:sp>
        <p:nvSpPr>
          <p:cNvPr id="6" name="Reference configuration bullets"/>
          <p:cNvSpPr txBox="1"/>
          <p:nvPr/>
        </p:nvSpPr>
        <p:spPr>
          <a:xfrm>
            <a:off x="1828800" y="7315200"/>
            <a:ext cx="12344400" cy="10607040"/>
          </a:xfrm>
          <a:prstGeom prst="rect">
            <a:avLst/>
          </a:prstGeom>
          <a:noFill/>
        </p:spPr>
        <p:txBody>
          <a:bodyPr wrap="square" lIns="0" rIns="0" tIns="0" bIns="0">
            <a:spAutoFit/>
          </a:bodyPr>
          <a:lstStyle/>
          <a:p>
            <a:pPr marL="384048" indent="-310896">
              <a:spcBef>
                <a:spcPts val="0"/>
              </a:spcBef>
              <a:spcAft>
                <a:spcPts val="2200"/>
              </a:spcAft>
              <a:buFont typeface="NVIDIA Sans"/>
              <a:buChar char="•"/>
            </a:pPr>
            <a:r>
              <a:rPr sz="3800" b="0">
                <a:solidFill>
                  <a:srgbClr val="000000"/>
                </a:solidFill>
                <a:latin typeface="NVIDIA Sans"/>
              </a:rPr>
              <a:t>8 × PRO 5000 GPUs (SM120)</a:t>
            </a:r>
          </a:p>
          <a:p>
            <a:pPr marL="384048" indent="-310896">
              <a:spcBef>
                <a:spcPts val="0"/>
              </a:spcBef>
              <a:spcAft>
                <a:spcPts val="2200"/>
              </a:spcAft>
              <a:buFont typeface="NVIDIA Sans"/>
              <a:buChar char="•"/>
            </a:pPr>
            <a:r>
              <a:rPr sz="3800" b="0">
                <a:solidFill>
                  <a:srgbClr val="000000"/>
                </a:solidFill>
                <a:latin typeface="NVIDIA Sans"/>
              </a:rPr>
              <a:t>Original Ref2VA</a:t>
            </a:r>
          </a:p>
          <a:p>
            <a:pPr marL="384048" indent="-310896">
              <a:spcBef>
                <a:spcPts val="0"/>
              </a:spcBef>
              <a:spcAft>
                <a:spcPts val="2200"/>
              </a:spcAft>
              <a:buFont typeface="NVIDIA Sans"/>
              <a:buChar char="•"/>
            </a:pPr>
            <a:r>
              <a:rPr sz="3800" b="0">
                <a:solidFill>
                  <a:srgbClr val="000000"/>
                </a:solidFill>
                <a:latin typeface="NVIDIA Sans"/>
              </a:rPr>
              <a:t>50 steps · BF16 · dense attention</a:t>
            </a:r>
          </a:p>
          <a:p>
            <a:pPr marL="384048" indent="-310896">
              <a:spcBef>
                <a:spcPts val="0"/>
              </a:spcBef>
              <a:spcAft>
                <a:spcPts val="2200"/>
              </a:spcAft>
              <a:buFont typeface="NVIDIA Sans"/>
              <a:buChar char="•"/>
            </a:pPr>
            <a:r>
              <a:rPr sz="3800" b="0">
                <a:solidFill>
                  <a:srgbClr val="000000"/>
                </a:solidFill>
                <a:latin typeface="NVIDIA Sans"/>
              </a:rPr>
              <a:t>DiT TP1 / Ulysses8</a:t>
            </a:r>
          </a:p>
          <a:p>
            <a:pPr marL="384048" indent="-310896">
              <a:spcBef>
                <a:spcPts val="0"/>
              </a:spcBef>
              <a:spcAft>
                <a:spcPts val="2200"/>
              </a:spcAft>
              <a:buFont typeface="NVIDIA Sans"/>
              <a:buChar char="•"/>
            </a:pPr>
            <a:r>
              <a:rPr sz="3800" b="0">
                <a:solidFill>
                  <a:srgbClr val="000000"/>
                </a:solidFill>
                <a:latin typeface="NVIDIA Sans"/>
              </a:rPr>
              <a:t>Text encoder TP8 · VAE tiles8</a:t>
            </a:r>
          </a:p>
          <a:p>
            <a:pPr marL="384048" indent="-310896">
              <a:spcBef>
                <a:spcPts val="0"/>
              </a:spcBef>
              <a:spcAft>
                <a:spcPts val="2200"/>
              </a:spcAft>
              <a:buFont typeface="NVIDIA Sans"/>
              <a:buChar char="•"/>
            </a:pPr>
            <a:r>
              <a:rPr sz="3800" b="0">
                <a:solidFill>
                  <a:srgbClr val="000000"/>
                </a:solidFill>
                <a:latin typeface="NVIDIA Sans"/>
              </a:rPr>
              <a:t>Native VAE · FP16 decode</a:t>
            </a:r>
          </a:p>
        </p:txBody>
      </p:sp>
      <p:sp>
        <p:nvSpPr>
          <p:cNvPr id="7" name="GPU heading"/>
          <p:cNvSpPr txBox="1"/>
          <p:nvPr/>
        </p:nvSpPr>
        <p:spPr>
          <a:xfrm>
            <a:off x="15087600" y="5349240"/>
            <a:ext cx="19659600" cy="914400"/>
          </a:xfrm>
          <a:prstGeom prst="rect">
            <a:avLst/>
          </a:prstGeom>
          <a:noFill/>
        </p:spPr>
        <p:txBody>
          <a:bodyPr wrap="square" lIns="0" rIns="0" tIns="0" bIns="0">
            <a:spAutoFit/>
          </a:bodyPr>
          <a:lstStyle/>
          <a:p>
            <a:pPr>
              <a:spcBef>
                <a:spcPts val="0"/>
              </a:spcBef>
              <a:spcAft>
                <a:spcPts val="0"/>
              </a:spcAft>
            </a:pPr>
            <a:r>
              <a:rPr sz="4400" b="0">
                <a:solidFill>
                  <a:srgbClr val="000000"/>
                </a:solidFill>
                <a:latin typeface="NVIDIA Sans Medium"/>
              </a:rPr>
              <a:t>GPU work by operator</a:t>
            </a:r>
          </a:p>
        </p:txBody>
      </p:sp>
      <p:sp>
        <p:nvSpPr>
          <p:cNvPr id="8" name="GPU time column"/>
          <p:cNvSpPr txBox="1"/>
          <p:nvPr/>
        </p:nvSpPr>
        <p:spPr>
          <a:xfrm>
            <a:off x="26791920" y="6537960"/>
            <a:ext cx="4937760" cy="54864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Mean s / GPU</a:t>
            </a:r>
          </a:p>
        </p:txBody>
      </p:sp>
      <p:sp>
        <p:nvSpPr>
          <p:cNvPr id="9" name="GPU share column"/>
          <p:cNvSpPr txBox="1"/>
          <p:nvPr/>
        </p:nvSpPr>
        <p:spPr>
          <a:xfrm>
            <a:off x="31912560" y="6537960"/>
            <a:ext cx="2834640" cy="548640"/>
          </a:xfrm>
          <a:prstGeom prst="rect">
            <a:avLst/>
          </a:prstGeom>
          <a:noFill/>
        </p:spPr>
        <p:txBody>
          <a:bodyPr wrap="square" lIns="0" rIns="0" tIns="0" bIns="0">
            <a:spAutoFit/>
          </a:bodyPr>
          <a:lstStyle/>
          <a:p>
            <a:pPr algn="r">
              <a:spcBef>
                <a:spcPts val="0"/>
              </a:spcBef>
              <a:spcAft>
                <a:spcPts val="0"/>
              </a:spcAft>
            </a:pPr>
            <a:r>
              <a:rPr sz="2400" b="0">
                <a:solidFill>
                  <a:srgbClr val="313131"/>
                </a:solidFill>
                <a:latin typeface="NVIDIA Sans"/>
              </a:rPr>
              <a:t>Share</a:t>
            </a:r>
          </a:p>
        </p:txBody>
      </p:sp>
      <p:sp>
        <p:nvSpPr>
          <p:cNvPr id="10" name="GPU category 0"/>
          <p:cNvSpPr txBox="1"/>
          <p:nvPr/>
        </p:nvSpPr>
        <p:spPr>
          <a:xfrm>
            <a:off x="15087600" y="7589520"/>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NCCL · includes waiting</a:t>
            </a:r>
          </a:p>
        </p:txBody>
      </p:sp>
      <p:sp>
        <p:nvSpPr>
          <p:cNvPr id="11" name="GPU seconds 0"/>
          <p:cNvSpPr txBox="1"/>
          <p:nvPr/>
        </p:nvSpPr>
        <p:spPr>
          <a:xfrm>
            <a:off x="27157680" y="7589520"/>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122.182</a:t>
            </a:r>
          </a:p>
        </p:txBody>
      </p:sp>
      <p:sp>
        <p:nvSpPr>
          <p:cNvPr id="12" name="GPU share 0"/>
          <p:cNvSpPr txBox="1"/>
          <p:nvPr/>
        </p:nvSpPr>
        <p:spPr>
          <a:xfrm>
            <a:off x="31729680" y="7589520"/>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57.21%</a:t>
            </a:r>
          </a:p>
        </p:txBody>
      </p:sp>
      <p:sp>
        <p:nvSpPr>
          <p:cNvPr id="13" name="GPU bar track 0"/>
          <p:cNvSpPr/>
          <p:nvPr/>
        </p:nvSpPr>
        <p:spPr>
          <a:xfrm>
            <a:off x="15087600" y="8485632"/>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PU bar 0"/>
          <p:cNvSpPr/>
          <p:nvPr/>
        </p:nvSpPr>
        <p:spPr>
          <a:xfrm>
            <a:off x="15087600" y="8485632"/>
            <a:ext cx="11248043" cy="9144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PU category 1"/>
          <p:cNvSpPr txBox="1"/>
          <p:nvPr/>
        </p:nvSpPr>
        <p:spPr>
          <a:xfrm>
            <a:off x="15087600" y="8979408"/>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Attention</a:t>
            </a:r>
          </a:p>
        </p:txBody>
      </p:sp>
      <p:sp>
        <p:nvSpPr>
          <p:cNvPr id="16" name="GPU seconds 1"/>
          <p:cNvSpPr txBox="1"/>
          <p:nvPr/>
        </p:nvSpPr>
        <p:spPr>
          <a:xfrm>
            <a:off x="27157680" y="8979408"/>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47.105</a:t>
            </a:r>
          </a:p>
        </p:txBody>
      </p:sp>
      <p:sp>
        <p:nvSpPr>
          <p:cNvPr id="17" name="GPU share 1"/>
          <p:cNvSpPr txBox="1"/>
          <p:nvPr/>
        </p:nvSpPr>
        <p:spPr>
          <a:xfrm>
            <a:off x="31729680" y="8979408"/>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22.06%</a:t>
            </a:r>
          </a:p>
        </p:txBody>
      </p:sp>
      <p:sp>
        <p:nvSpPr>
          <p:cNvPr id="18" name="GPU bar track 1"/>
          <p:cNvSpPr/>
          <p:nvPr/>
        </p:nvSpPr>
        <p:spPr>
          <a:xfrm>
            <a:off x="15087600" y="9875520"/>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PU bar 1"/>
          <p:cNvSpPr/>
          <p:nvPr/>
        </p:nvSpPr>
        <p:spPr>
          <a:xfrm>
            <a:off x="15087600" y="9875520"/>
            <a:ext cx="4336525"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PU category 2"/>
          <p:cNvSpPr txBox="1"/>
          <p:nvPr/>
        </p:nvSpPr>
        <p:spPr>
          <a:xfrm>
            <a:off x="15087600" y="10369296"/>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GEMM</a:t>
            </a:r>
          </a:p>
        </p:txBody>
      </p:sp>
      <p:sp>
        <p:nvSpPr>
          <p:cNvPr id="21" name="GPU seconds 2"/>
          <p:cNvSpPr txBox="1"/>
          <p:nvPr/>
        </p:nvSpPr>
        <p:spPr>
          <a:xfrm>
            <a:off x="27157680" y="10369296"/>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39.650</a:t>
            </a:r>
          </a:p>
        </p:txBody>
      </p:sp>
      <p:sp>
        <p:nvSpPr>
          <p:cNvPr id="22" name="GPU share 2"/>
          <p:cNvSpPr txBox="1"/>
          <p:nvPr/>
        </p:nvSpPr>
        <p:spPr>
          <a:xfrm>
            <a:off x="31729680" y="10369296"/>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18.57%</a:t>
            </a:r>
          </a:p>
        </p:txBody>
      </p:sp>
      <p:sp>
        <p:nvSpPr>
          <p:cNvPr id="23" name="GPU bar track 2"/>
          <p:cNvSpPr/>
          <p:nvPr/>
        </p:nvSpPr>
        <p:spPr>
          <a:xfrm>
            <a:off x="15087600" y="11265408"/>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PU bar 2"/>
          <p:cNvSpPr/>
          <p:nvPr/>
        </p:nvSpPr>
        <p:spPr>
          <a:xfrm>
            <a:off x="15087600" y="11265408"/>
            <a:ext cx="3650143"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PU category 3"/>
          <p:cNvSpPr txBox="1"/>
          <p:nvPr/>
        </p:nvSpPr>
        <p:spPr>
          <a:xfrm>
            <a:off x="15087600" y="11759184"/>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Norm / activation / elementwise</a:t>
            </a:r>
          </a:p>
        </p:txBody>
      </p:sp>
      <p:sp>
        <p:nvSpPr>
          <p:cNvPr id="26" name="GPU seconds 3"/>
          <p:cNvSpPr txBox="1"/>
          <p:nvPr/>
        </p:nvSpPr>
        <p:spPr>
          <a:xfrm>
            <a:off x="27157680" y="11759184"/>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2.288</a:t>
            </a:r>
          </a:p>
        </p:txBody>
      </p:sp>
      <p:sp>
        <p:nvSpPr>
          <p:cNvPr id="27" name="GPU share 3"/>
          <p:cNvSpPr txBox="1"/>
          <p:nvPr/>
        </p:nvSpPr>
        <p:spPr>
          <a:xfrm>
            <a:off x="31729680" y="11759184"/>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1.07%</a:t>
            </a:r>
          </a:p>
        </p:txBody>
      </p:sp>
      <p:sp>
        <p:nvSpPr>
          <p:cNvPr id="28" name="GPU bar track 3"/>
          <p:cNvSpPr/>
          <p:nvPr/>
        </p:nvSpPr>
        <p:spPr>
          <a:xfrm>
            <a:off x="15087600" y="12655296"/>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PU bar 3"/>
          <p:cNvSpPr/>
          <p:nvPr/>
        </p:nvSpPr>
        <p:spPr>
          <a:xfrm>
            <a:off x="15087600" y="12655296"/>
            <a:ext cx="210601"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PU category 4"/>
          <p:cNvSpPr txBox="1"/>
          <p:nvPr/>
        </p:nvSpPr>
        <p:spPr>
          <a:xfrm>
            <a:off x="15087600" y="13149072"/>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Layout / device copies</a:t>
            </a:r>
          </a:p>
        </p:txBody>
      </p:sp>
      <p:sp>
        <p:nvSpPr>
          <p:cNvPr id="31" name="GPU seconds 4"/>
          <p:cNvSpPr txBox="1"/>
          <p:nvPr/>
        </p:nvSpPr>
        <p:spPr>
          <a:xfrm>
            <a:off x="27157680" y="13149072"/>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1.929</a:t>
            </a:r>
          </a:p>
        </p:txBody>
      </p:sp>
      <p:sp>
        <p:nvSpPr>
          <p:cNvPr id="32" name="GPU share 4"/>
          <p:cNvSpPr txBox="1"/>
          <p:nvPr/>
        </p:nvSpPr>
        <p:spPr>
          <a:xfrm>
            <a:off x="31729680" y="13149072"/>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0.90%</a:t>
            </a:r>
          </a:p>
        </p:txBody>
      </p:sp>
      <p:sp>
        <p:nvSpPr>
          <p:cNvPr id="33" name="GPU bar track 4"/>
          <p:cNvSpPr/>
          <p:nvPr/>
        </p:nvSpPr>
        <p:spPr>
          <a:xfrm>
            <a:off x="15087600" y="14045184"/>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PU bar 4"/>
          <p:cNvSpPr/>
          <p:nvPr/>
        </p:nvSpPr>
        <p:spPr>
          <a:xfrm>
            <a:off x="15087600" y="14045184"/>
            <a:ext cx="177549"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PU category 5"/>
          <p:cNvSpPr txBox="1"/>
          <p:nvPr/>
        </p:nvSpPr>
        <p:spPr>
          <a:xfrm>
            <a:off x="15087600" y="14538960"/>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CUDA memcpy / memset</a:t>
            </a:r>
          </a:p>
        </p:txBody>
      </p:sp>
      <p:sp>
        <p:nvSpPr>
          <p:cNvPr id="36" name="GPU seconds 5"/>
          <p:cNvSpPr txBox="1"/>
          <p:nvPr/>
        </p:nvSpPr>
        <p:spPr>
          <a:xfrm>
            <a:off x="27157680" y="14538960"/>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0.064</a:t>
            </a:r>
          </a:p>
        </p:txBody>
      </p:sp>
      <p:sp>
        <p:nvSpPr>
          <p:cNvPr id="37" name="GPU share 5"/>
          <p:cNvSpPr txBox="1"/>
          <p:nvPr/>
        </p:nvSpPr>
        <p:spPr>
          <a:xfrm>
            <a:off x="31729680" y="14538960"/>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0.03%</a:t>
            </a:r>
          </a:p>
        </p:txBody>
      </p:sp>
      <p:sp>
        <p:nvSpPr>
          <p:cNvPr id="38" name="GPU bar track 5"/>
          <p:cNvSpPr/>
          <p:nvPr/>
        </p:nvSpPr>
        <p:spPr>
          <a:xfrm>
            <a:off x="15087600" y="15435072"/>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GPU bar 5"/>
          <p:cNvSpPr/>
          <p:nvPr/>
        </p:nvSpPr>
        <p:spPr>
          <a:xfrm>
            <a:off x="15087600" y="15435072"/>
            <a:ext cx="5872"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GPU category 6"/>
          <p:cNvSpPr txBox="1"/>
          <p:nvPr/>
        </p:nvSpPr>
        <p:spPr>
          <a:xfrm>
            <a:off x="15087600" y="15928848"/>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Convolution</a:t>
            </a:r>
          </a:p>
        </p:txBody>
      </p:sp>
      <p:sp>
        <p:nvSpPr>
          <p:cNvPr id="41" name="GPU seconds 6"/>
          <p:cNvSpPr txBox="1"/>
          <p:nvPr/>
        </p:nvSpPr>
        <p:spPr>
          <a:xfrm>
            <a:off x="27157680" y="15928848"/>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0.192</a:t>
            </a:r>
          </a:p>
        </p:txBody>
      </p:sp>
      <p:sp>
        <p:nvSpPr>
          <p:cNvPr id="42" name="GPU share 6"/>
          <p:cNvSpPr txBox="1"/>
          <p:nvPr/>
        </p:nvSpPr>
        <p:spPr>
          <a:xfrm>
            <a:off x="31729680" y="15928848"/>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0.09%</a:t>
            </a:r>
          </a:p>
        </p:txBody>
      </p:sp>
      <p:sp>
        <p:nvSpPr>
          <p:cNvPr id="43" name="GPU bar track 6"/>
          <p:cNvSpPr/>
          <p:nvPr/>
        </p:nvSpPr>
        <p:spPr>
          <a:xfrm>
            <a:off x="15087600" y="16824960"/>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GPU bar 6"/>
          <p:cNvSpPr/>
          <p:nvPr/>
        </p:nvSpPr>
        <p:spPr>
          <a:xfrm>
            <a:off x="15087600" y="16824960"/>
            <a:ext cx="17657"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GPU category 7"/>
          <p:cNvSpPr txBox="1"/>
          <p:nvPr/>
        </p:nvSpPr>
        <p:spPr>
          <a:xfrm>
            <a:off x="15087600" y="17318736"/>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Other kernels</a:t>
            </a:r>
          </a:p>
        </p:txBody>
      </p:sp>
      <p:sp>
        <p:nvSpPr>
          <p:cNvPr id="46" name="GPU seconds 7"/>
          <p:cNvSpPr txBox="1"/>
          <p:nvPr/>
        </p:nvSpPr>
        <p:spPr>
          <a:xfrm>
            <a:off x="27157680" y="17318736"/>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0.143</a:t>
            </a:r>
          </a:p>
        </p:txBody>
      </p:sp>
      <p:sp>
        <p:nvSpPr>
          <p:cNvPr id="47" name="GPU share 7"/>
          <p:cNvSpPr txBox="1"/>
          <p:nvPr/>
        </p:nvSpPr>
        <p:spPr>
          <a:xfrm>
            <a:off x="31729680" y="17318736"/>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0.07%</a:t>
            </a:r>
          </a:p>
        </p:txBody>
      </p:sp>
      <p:sp>
        <p:nvSpPr>
          <p:cNvPr id="48" name="GPU bar track 7"/>
          <p:cNvSpPr/>
          <p:nvPr/>
        </p:nvSpPr>
        <p:spPr>
          <a:xfrm>
            <a:off x="15087600" y="18214848"/>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GPU bar 7"/>
          <p:cNvSpPr/>
          <p:nvPr/>
        </p:nvSpPr>
        <p:spPr>
          <a:xfrm>
            <a:off x="15087600" y="18214848"/>
            <a:ext cx="13204"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ccounting note"/>
          <p:cNvSpPr txBox="1"/>
          <p:nvPr/>
        </p:nvSpPr>
        <p:spPr>
          <a:xfrm>
            <a:off x="1828800" y="19110960"/>
            <a:ext cx="32918400" cy="54864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Nsight GPU work includes overlap and waiting; shares exclude CPU work and idle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20" sz="quarter"/>
          </p:nvPr>
        </p:nvSpPr>
        <p:spPr>
          <a:xfrm>
            <a:off x="1828800" y="7452360"/>
            <a:ext cx="13716000" cy="11109960"/>
          </a:xfrm>
        </p:spPr>
        <p:txBody>
          <a:bodyPr wrap="square" lIns="0" rIns="0" tIns="0" bIns="0"/>
          <a:lstStyle/>
          <a:p>
            <a:pPr lvl="1" algn="l"/>
            <a:r>
              <a:rPr b="0">
                <a:solidFill>
                  <a:srgbClr val="313131"/>
                </a:solidFill>
                <a:latin typeface="NVIDIA Sans"/>
              </a:rPr>
              <a:t>Base H3 calls the full DiT 50 times. Each call predicts one short interval, updates the latent, and provides the starting point for the next call</a:t>
            </a:r>
          </a:p>
          <a:p>
            <a:pPr lvl="1" algn="l"/>
            <a:r>
              <a:rPr b="0">
                <a:solidFill>
                  <a:srgbClr val="313131"/>
                </a:solidFill>
                <a:latin typeface="NVIDIA Sans"/>
              </a:rPr>
              <a:t>PDD uses Base H3 as the teacher and trains a student on groups of four adjacent denoising intervals</a:t>
            </a:r>
          </a:p>
          <a:p>
            <a:pPr lvl="1" algn="l"/>
            <a:r>
              <a:rPr b="0">
                <a:solidFill>
                  <a:srgbClr val="313131"/>
                </a:solidFill>
                <a:latin typeface="NVIDIA Sans"/>
              </a:rPr>
              <a:t>One student call predicts four consecutive directions from the same noisy latent</a:t>
            </a:r>
          </a:p>
          <a:p>
            <a:pPr lvl="1" algn="l"/>
            <a:r>
              <a:rPr b="0">
                <a:solidFill>
                  <a:srgbClr val="313131"/>
                </a:solidFill>
                <a:latin typeface="NVIDIA Sans"/>
              </a:rPr>
              <a:t>The solver combines those directions, advances the latent, and invokes the student again</a:t>
            </a:r>
          </a:p>
          <a:p>
            <a:pPr lvl="1" algn="l"/>
            <a:r>
              <a:rPr b="0">
                <a:solidFill>
                  <a:srgbClr val="313131"/>
                </a:solidFill>
                <a:latin typeface="NVIDIA Sans"/>
              </a:rPr>
              <a:t>The released H3 schedule covers 32 fine intervals in eight student calls</a:t>
            </a:r>
          </a:p>
          <a:p>
            <a:pPr lvl="1" algn="l"/>
            <a:r>
              <a:rPr b="1">
                <a:solidFill>
                  <a:srgbClr val="76B900"/>
                </a:solidFill>
                <a:latin typeface="NVIDIA Sans Medium"/>
              </a:rPr>
              <a:t>DiT calls fall from 50 to 8; block passes fall from 2,500 to 400 (−84%)</a:t>
            </a:r>
          </a:p>
        </p:txBody>
      </p:sp>
      <p:sp>
        <p:nvSpPr>
          <p:cNvPr id="3" name="Text Placeholder 2"/>
          <p:cNvSpPr>
            <a:spLocks noGrp="1"/>
          </p:cNvSpPr>
          <p:nvPr>
            <p:ph type="body" idx="14" sz="quarter"/>
          </p:nvPr>
        </p:nvSpPr>
        <p:spPr>
          <a:xfrm>
            <a:off x="1828800" y="5806440"/>
            <a:ext cx="13716000" cy="1691640"/>
          </a:xfrm>
        </p:spPr>
        <p:txBody>
          <a:bodyPr/>
          <a:lstStyle/>
          <a:p>
            <a:r>
              <a:t>PDD predicts four intervals per call, reducing 50 calls to eight</a:t>
            </a:r>
          </a:p>
        </p:txBody>
      </p:sp>
      <p:sp>
        <p:nvSpPr>
          <p:cNvPr id="4" name="Title 3"/>
          <p:cNvSpPr>
            <a:spLocks noGrp="1"/>
          </p:cNvSpPr>
          <p:nvPr>
            <p:ph type="title"/>
          </p:nvPr>
        </p:nvSpPr>
        <p:spPr>
          <a:xfrm>
            <a:off x="1828800" y="1828800"/>
            <a:ext cx="13716000" cy="3840480"/>
          </a:xfrm>
        </p:spPr>
        <p:txBody>
          <a:bodyPr/>
          <a:lstStyle/>
          <a:p>
            <a:r>
              <a:t>Few-Step Distillation</a:t>
            </a:r>
          </a:p>
        </p:txBody>
      </p:sp>
      <p:sp>
        <p:nvSpPr>
          <p:cNvPr id="5" name="Text Placeholder 4"/>
          <p:cNvSpPr>
            <a:spLocks noGrp="1"/>
          </p:cNvSpPr>
          <p:nvPr>
            <p:ph type="body" idx="52" sz="quarter"/>
          </p:nvPr>
        </p:nvSpPr>
        <p:spPr/>
        <p:txBody>
          <a:bodyPr/>
          <a:lstStyle/>
          <a:p>
            <a:r>
              <a:t>Paper example: N = 12, L = 4 · H3 PDD8: N = 32, L = 4</a:t>
            </a:r>
          </a:p>
        </p:txBody>
      </p:sp>
      <p:sp>
        <p:nvSpPr>
          <p:cNvPr id="6" name="Text Placeholder 5"/>
          <p:cNvSpPr>
            <a:spLocks noGrp="1"/>
          </p:cNvSpPr>
          <p:nvPr>
            <p:ph type="body" idx="51" sz="quarter"/>
          </p:nvPr>
        </p:nvSpPr>
        <p:spPr>
          <a:xfrm>
            <a:off x="19552660" y="17241080"/>
            <a:ext cx="15194539" cy="859536"/>
          </a:xfrm>
        </p:spPr>
        <p:txBody>
          <a:bodyPr/>
          <a:lstStyle/>
          <a:p>
            <a:r>
              <a:t>N = fine intervals · L = intervals predicted in parallel</a:t>
            </a:r>
          </a:p>
        </p:txBody>
      </p:sp>
      <p:pic>
        <p:nvPicPr>
          <p:cNvPr id="7" name="Picture Placeholder 6" descr="pdd-nvidia-figure2-pd-sketch-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Sources: NVIDIA FastGen-PDD, Fig. 2 (arXiv:2607.26004) · Alibaba-PAI MiniMax-H3 Ref2VA Acc-8Step @ 335001f</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20" sz="quarter"/>
          </p:nvPr>
        </p:nvSpPr>
        <p:spPr>
          <a:xfrm>
            <a:off x="1828800" y="7772400"/>
            <a:ext cx="13716000" cy="10789920"/>
          </a:xfrm>
        </p:spPr>
        <p:txBody>
          <a:bodyPr wrap="square" lIns="0" rIns="0" tIns="0" bIns="0"/>
          <a:lstStyle/>
          <a:p>
            <a:pPr algn="l"/>
            <a:r>
              <a:rPr b="1">
                <a:solidFill>
                  <a:srgbClr val="76B900"/>
                </a:solidFill>
                <a:latin typeface="NVIDIA Sans Medium"/>
              </a:rPr>
              <a:t>Predict important regions cheaply</a:t>
            </a:r>
          </a:p>
          <a:p>
            <a:pPr lvl="1" algn="l"/>
            <a:r>
              <a:rPr b="0">
                <a:solidFill>
                  <a:srgbClr val="313131"/>
                </a:solidFill>
                <a:latin typeface="NVIDIA Sans"/>
              </a:rPr>
              <a:t>Pool spatiotemporal cubes and run global attention on the shorter sequence</a:t>
            </a:r>
          </a:p>
          <a:p>
            <a:pPr algn="l"/>
            <a:r>
              <a:rPr b="1">
                <a:solidFill>
                  <a:srgbClr val="76B900"/>
                </a:solidFill>
                <a:latin typeface="NVIDIA Sans Medium"/>
              </a:rPr>
              <a:t>Select content-dependent blocks</a:t>
            </a:r>
          </a:p>
          <a:p>
            <a:pPr lvl="1" algn="l"/>
            <a:r>
              <a:rPr b="0">
                <a:solidFill>
                  <a:srgbClr val="313131"/>
                </a:solidFill>
                <a:latin typeface="NVIDIA Sans"/>
              </a:rPr>
              <a:t>Per-query Top-K cube scores choose which K/V regions to visit</a:t>
            </a:r>
          </a:p>
          <a:p>
            <a:pPr algn="l"/>
            <a:r>
              <a:rPr b="1">
                <a:solidFill>
                  <a:srgbClr val="76B900"/>
                </a:solidFill>
                <a:latin typeface="NVIDIA Sans Medium"/>
              </a:rPr>
              <a:t>Spend fine attention on selected detail</a:t>
            </a:r>
          </a:p>
          <a:p>
            <a:pPr lvl="1" algn="l"/>
            <a:r>
              <a:rPr b="0">
                <a:solidFill>
                  <a:srgbClr val="313131"/>
                </a:solidFill>
                <a:latin typeface="NVIDIA Sans"/>
              </a:rPr>
              <a:t>Compute token attention inside the chosen blocks; skip the rest</a:t>
            </a:r>
          </a:p>
          <a:p>
            <a:pPr algn="l"/>
            <a:r>
              <a:rPr b="1">
                <a:solidFill>
                  <a:srgbClr val="76B900"/>
                </a:solidFill>
                <a:latin typeface="NVIDIA Sans Medium"/>
              </a:rPr>
              <a:t>Keep global context and local detail</a:t>
            </a:r>
          </a:p>
          <a:p>
            <a:pPr lvl="1" algn="l"/>
            <a:r>
              <a:rPr b="0">
                <a:solidFill>
                  <a:srgbClr val="313131"/>
                </a:solidFill>
                <a:latin typeface="NVIDIA Sans"/>
              </a:rPr>
              <a:t>Learned gates combine coarse and fine outputs</a:t>
            </a:r>
          </a:p>
        </p:txBody>
      </p:sp>
      <p:sp>
        <p:nvSpPr>
          <p:cNvPr id="3" name="Text Placeholder 2"/>
          <p:cNvSpPr>
            <a:spLocks noGrp="1"/>
          </p:cNvSpPr>
          <p:nvPr>
            <p:ph type="body" idx="14" sz="quarter"/>
          </p:nvPr>
        </p:nvSpPr>
        <p:spPr>
          <a:xfrm>
            <a:off x="1828800" y="5806440"/>
            <a:ext cx="13716000" cy="1645920"/>
          </a:xfrm>
        </p:spPr>
        <p:txBody>
          <a:bodyPr/>
          <a:lstStyle/>
          <a:p>
            <a:r>
              <a:t>Coarse attention finds relevant cubes; fine attention resolves token-level detail</a:t>
            </a:r>
          </a:p>
        </p:txBody>
      </p:sp>
      <p:sp>
        <p:nvSpPr>
          <p:cNvPr id="4" name="Title 3"/>
          <p:cNvSpPr>
            <a:spLocks noGrp="1"/>
          </p:cNvSpPr>
          <p:nvPr>
            <p:ph type="title"/>
          </p:nvPr>
        </p:nvSpPr>
        <p:spPr>
          <a:xfrm>
            <a:off x="1828800" y="1828800"/>
            <a:ext cx="13716000" cy="3840480"/>
          </a:xfrm>
        </p:spPr>
        <p:txBody>
          <a:bodyPr/>
          <a:lstStyle/>
          <a:p>
            <a:r>
              <a:t>Sparse Attention</a:t>
            </a:r>
          </a:p>
        </p:txBody>
      </p:sp>
      <p:sp>
        <p:nvSpPr>
          <p:cNvPr id="5" name="Text Placeholder 4"/>
          <p:cNvSpPr>
            <a:spLocks noGrp="1"/>
          </p:cNvSpPr>
          <p:nvPr>
            <p:ph type="body" idx="52" sz="quarter"/>
          </p:nvPr>
        </p:nvSpPr>
        <p:spPr>
          <a:xfrm>
            <a:off x="19552660" y="18059400"/>
            <a:ext cx="15194539" cy="1051560"/>
          </a:xfrm>
        </p:spPr>
        <p:txBody>
          <a:bodyPr/>
          <a:lstStyle/>
          <a:p>
            <a:pPr algn="ctr"/>
            <a:r>
              <a:t>Elementwise products · global coarse + selected fine</a:t>
            </a:r>
            <a:br/>
            <a:r>
              <a:t>FastH3 sets G_f = 1</a:t>
            </a:r>
          </a:p>
        </p:txBody>
      </p:sp>
      <p:sp>
        <p:nvSpPr>
          <p:cNvPr id="6" name="Text Placeholder 5"/>
          <p:cNvSpPr>
            <a:spLocks noGrp="1"/>
          </p:cNvSpPr>
          <p:nvPr>
            <p:ph type="body" idx="51" sz="quarter"/>
          </p:nvPr>
        </p:nvSpPr>
        <p:spPr>
          <a:xfrm>
            <a:off x="19552660" y="17190720"/>
            <a:ext cx="15194539" cy="822960"/>
          </a:xfrm>
        </p:spPr>
        <p:txBody>
          <a:bodyPr/>
          <a:lstStyle/>
          <a:p>
            <a:r>
              <a:rPr sz="3600" b="1">
                <a:solidFill>
                  <a:srgbClr val="76B900"/>
                </a:solidFill>
                <a:latin typeface="NVIDIA Sans Medium"/>
              </a:rPr>
              <a:t>O = O_c * G_c + O_f * G_f</a:t>
            </a:r>
          </a:p>
        </p:txBody>
      </p:sp>
      <p:pic>
        <p:nvPicPr>
          <p:cNvPr id="7" name="Picture Placeholder 6" descr="vsa-figure1-architecture-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 Video Sparse Attention, arXiv:2505.13389 · Figure 1 and Section 3 · H3 uses logical tiles of 128</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7</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An eight-forward student learns to compensate for quantization error before deployment</a:t>
            </a:r>
          </a:p>
        </p:txBody>
      </p:sp>
      <p:sp>
        <p:nvSpPr>
          <p:cNvPr id="4" name="Title 3"/>
          <p:cNvSpPr>
            <a:spLocks noGrp="1"/>
          </p:cNvSpPr>
          <p:nvPr>
            <p:ph type="title"/>
          </p:nvPr>
        </p:nvSpPr>
        <p:spPr/>
        <p:txBody>
          <a:bodyPr/>
          <a:lstStyle/>
          <a:p>
            <a:r>
              <a:t>FastH3 Omni: Quantization-Aware Distillation</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Source: FastVideo PR #1989 · public OmniRef recipe @ ea3275d · implementation analysis, not a reproduced training result</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8</a:t>
            </a:fld>
            <a:endParaRPr lang="en-US"/>
          </a:p>
        </p:txBody>
      </p:sp>
      <p:pic>
        <p:nvPicPr>
          <p:cNvPr id="7" name="QAD training and execution precision" descr="qad-training-and-precision.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63056" y="5029200"/>
            <a:ext cx="31849887" cy="11338559"/>
          </a:xfrm>
          <a:prstGeom prst="rect">
            <a:avLst/>
          </a:prstGeom>
          <a:ln w="9525">
            <a:solidFill>
              <a:srgbClr val="A7A7A7"/>
            </a:solidFill>
          </a:ln>
        </p:spPr>
      </p:pic>
      <p:sp>
        <p:nvSpPr>
          <p:cNvPr id="8" name="Few-step + four-bit inference"/>
          <p:cNvSpPr txBox="1"/>
          <p:nvPr/>
        </p:nvSpPr>
        <p:spPr>
          <a:xfrm>
            <a:off x="182880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Few-step + four-bit inference</a:t>
            </a:r>
          </a:p>
        </p:txBody>
      </p:sp>
      <p:sp>
        <p:nvSpPr>
          <p:cNvPr id="9" name="Eight model evaluations reduce sampling work. NVFP4 linears reduce numerical precision."/>
          <p:cNvSpPr txBox="1"/>
          <p:nvPr/>
        </p:nvSpPr>
        <p:spPr>
          <a:xfrm>
            <a:off x="182880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Eight model evaluations reduce sampling work. NVFP4 linears reduce numerical precision.</a:t>
            </a:r>
          </a:p>
        </p:txBody>
      </p:sp>
      <p:sp>
        <p:nvSpPr>
          <p:cNvPr id="10" name="Train through quantization"/>
          <p:cNvSpPr txBox="1"/>
          <p:nvPr/>
        </p:nvSpPr>
        <p:spPr>
          <a:xfrm>
            <a:off x="1307592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Train through quantization</a:t>
            </a:r>
          </a:p>
        </p:txBody>
      </p:sp>
      <p:sp>
        <p:nvSpPr>
          <p:cNvPr id="11" name="FP32 master weights update through STE gradients while the forward executes NVFP4."/>
          <p:cNvSpPr txBox="1"/>
          <p:nvPr/>
        </p:nvSpPr>
        <p:spPr>
          <a:xfrm>
            <a:off x="1307592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FP32 master weights update through STE gradients while the forward executes NVFP4.</a:t>
            </a:r>
          </a:p>
        </p:txBody>
      </p:sp>
      <p:sp>
        <p:nvSpPr>
          <p:cNvPr id="12" name="Deploy the student only"/>
          <p:cNvSpPr txBox="1"/>
          <p:nvPr/>
        </p:nvSpPr>
        <p:spPr>
          <a:xfrm>
            <a:off x="2432304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Deploy the student only</a:t>
            </a:r>
          </a:p>
        </p:txBody>
      </p:sp>
      <p:sp>
        <p:nvSpPr>
          <p:cNvPr id="13" name="Teacher supervision and reconstruction losses recover quality during training; inference omits them."/>
          <p:cNvSpPr txBox="1"/>
          <p:nvPr/>
        </p:nvSpPr>
        <p:spPr>
          <a:xfrm>
            <a:off x="2432304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Teacher supervision and reconstruction losses recover quality during training; inference omits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Single-GPU comparison · speed relative to BF16</a:t>
            </a:r>
          </a:p>
        </p:txBody>
      </p:sp>
      <p:sp>
        <p:nvSpPr>
          <p:cNvPr id="4" name="Title 3"/>
          <p:cNvSpPr>
            <a:spLocks noGrp="1"/>
          </p:cNvSpPr>
          <p:nvPr>
            <p:ph type="title"/>
          </p:nvPr>
        </p:nvSpPr>
        <p:spPr/>
        <p:txBody>
          <a:bodyPr/>
          <a:lstStyle/>
          <a:p>
            <a:r>
              <a:t>Quantization: Speed Needs a Quality Check</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Photo: James Lo / Unsplash · one scene and seed</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9</a:t>
            </a:fld>
            <a:endParaRPr lang="en-US"/>
          </a:p>
        </p:txBody>
      </p:sp>
      <p:sp>
        <p:nvSpPr>
          <p:cNvPr id="7" name="BF16 Reference"/>
          <p:cNvSpPr txBox="1"/>
          <p:nvPr/>
        </p:nvSpPr>
        <p:spPr>
          <a:xfrm>
            <a:off x="1645920" y="69494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000000"/>
                </a:solidFill>
                <a:latin typeface="NVIDIA Sans Medium"/>
              </a:rPr>
              <a:t>BF16 Reference</a:t>
            </a:r>
          </a:p>
        </p:txBody>
      </p:sp>
      <p:pic>
        <p:nvPicPr>
          <p:cNvPr id="8" name="BF16 Reference embedded 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45920" y="8229600"/>
            <a:ext cx="8046720" cy="4598125"/>
          </a:xfrm>
          <a:prstGeom prst="rect">
            <a:avLst/>
          </a:prstGeom>
          <a:ln w="9525">
            <a:solidFill>
              <a:srgbClr val="A7A7A7"/>
            </a:solidFill>
          </a:ln>
        </p:spPr>
      </p:pic>
      <p:sp>
        <p:nvSpPr>
          <p:cNvPr id="10" name="Request: 152.58 s*"/>
          <p:cNvSpPr txBox="1"/>
          <p:nvPr/>
        </p:nvSpPr>
        <p:spPr>
          <a:xfrm>
            <a:off x="1645920" y="14036040"/>
            <a:ext cx="8046720" cy="1051560"/>
          </a:xfrm>
          <a:prstGeom prst="rect">
            <a:avLst/>
          </a:prstGeom>
          <a:noFill/>
        </p:spPr>
        <p:txBody>
          <a:bodyPr wrap="square" lIns="0" rIns="0" tIns="0" bIns="0">
            <a:spAutoFit/>
          </a:bodyPr>
          <a:lstStyle/>
          <a:p>
            <a:pPr algn="ctr">
              <a:lnSpc>
                <a:spcPct val="108000"/>
              </a:lnSpc>
              <a:spcBef>
                <a:spcPts val="0"/>
              </a:spcBef>
              <a:spcAft>
                <a:spcPts val="1000"/>
              </a:spcAft>
            </a:pPr>
            <a:r>
              <a:rPr sz="5200" b="1">
                <a:solidFill>
                  <a:srgbClr val="313131"/>
                </a:solidFill>
                <a:latin typeface="NVIDIA Sans Medium"/>
              </a:rPr>
              <a:t>Baseline</a:t>
            </a:r>
          </a:p>
        </p:txBody>
      </p:sp>
      <p:sp>
        <p:nvSpPr>
          <p:cNvPr id="12" name="Online NVFP4"/>
          <p:cNvSpPr txBox="1"/>
          <p:nvPr/>
        </p:nvSpPr>
        <p:spPr>
          <a:xfrm>
            <a:off x="10058400" y="69494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000000"/>
                </a:solidFill>
                <a:latin typeface="NVIDIA Sans Medium"/>
              </a:rPr>
              <a:t>Online NVFP4</a:t>
            </a:r>
          </a:p>
        </p:txBody>
      </p:sp>
      <p:pic>
        <p:nvPicPr>
          <p:cNvPr id="13" name="Online NVFP4 embedded video">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10058400" y="8229600"/>
            <a:ext cx="8046720" cy="4598125"/>
          </a:xfrm>
          <a:prstGeom prst="rect">
            <a:avLst/>
          </a:prstGeom>
          <a:ln w="9525">
            <a:solidFill>
              <a:srgbClr val="A7A7A7"/>
            </a:solidFill>
          </a:ln>
        </p:spPr>
      </p:pic>
      <p:sp>
        <p:nvSpPr>
          <p:cNvPr id="15" name="Request: 89.12 s*"/>
          <p:cNvSpPr txBox="1"/>
          <p:nvPr/>
        </p:nvSpPr>
        <p:spPr>
          <a:xfrm>
            <a:off x="10058400" y="14036040"/>
            <a:ext cx="8046720" cy="1051560"/>
          </a:xfrm>
          <a:prstGeom prst="rect">
            <a:avLst/>
          </a:prstGeom>
          <a:noFill/>
        </p:spPr>
        <p:txBody>
          <a:bodyPr wrap="square" lIns="0" rIns="0" tIns="0" bIns="0">
            <a:spAutoFit/>
          </a:bodyPr>
          <a:lstStyle/>
          <a:p>
            <a:pPr algn="ctr">
              <a:lnSpc>
                <a:spcPct val="108000"/>
              </a:lnSpc>
              <a:spcBef>
                <a:spcPts val="0"/>
              </a:spcBef>
              <a:spcAft>
                <a:spcPts val="1000"/>
              </a:spcAft>
            </a:pPr>
            <a:r>
              <a:rPr sz="5200" b="1">
                <a:solidFill>
                  <a:srgbClr val="76B900"/>
                </a:solidFill>
                <a:latin typeface="NVIDIA Sans Medium"/>
              </a:rPr>
              <a:t>1.7× faster</a:t>
            </a:r>
          </a:p>
        </p:txBody>
      </p:sp>
      <p:sp>
        <p:nvSpPr>
          <p:cNvPr id="17" name="QAD NVFP4"/>
          <p:cNvSpPr txBox="1"/>
          <p:nvPr/>
        </p:nvSpPr>
        <p:spPr>
          <a:xfrm>
            <a:off x="18470880" y="69494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76B900"/>
                </a:solidFill>
                <a:latin typeface="NVIDIA Sans Medium"/>
              </a:rPr>
              <a:t>QAD NVFP4</a:t>
            </a:r>
          </a:p>
        </p:txBody>
      </p:sp>
      <p:pic>
        <p:nvPicPr>
          <p:cNvPr id="18" name="QAD NVFP4 embedded video">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18470880" y="8229600"/>
            <a:ext cx="8046720" cy="4598125"/>
          </a:xfrm>
          <a:prstGeom prst="rect">
            <a:avLst/>
          </a:prstGeom>
          <a:ln w="9525">
            <a:solidFill>
              <a:srgbClr val="A7A7A7"/>
            </a:solidFill>
          </a:ln>
        </p:spPr>
      </p:pic>
      <p:sp>
        <p:nvSpPr>
          <p:cNvPr id="20" name="Request: 84.47 s*"/>
          <p:cNvSpPr txBox="1"/>
          <p:nvPr/>
        </p:nvSpPr>
        <p:spPr>
          <a:xfrm>
            <a:off x="18470880" y="14036040"/>
            <a:ext cx="8046720" cy="1051560"/>
          </a:xfrm>
          <a:prstGeom prst="rect">
            <a:avLst/>
          </a:prstGeom>
          <a:noFill/>
        </p:spPr>
        <p:txBody>
          <a:bodyPr wrap="square" lIns="0" rIns="0" tIns="0" bIns="0">
            <a:spAutoFit/>
          </a:bodyPr>
          <a:lstStyle/>
          <a:p>
            <a:pPr algn="ctr">
              <a:lnSpc>
                <a:spcPct val="108000"/>
              </a:lnSpc>
              <a:spcBef>
                <a:spcPts val="0"/>
              </a:spcBef>
              <a:spcAft>
                <a:spcPts val="1000"/>
              </a:spcAft>
            </a:pPr>
            <a:r>
              <a:rPr sz="5200" b="1">
                <a:solidFill>
                  <a:srgbClr val="76B900"/>
                </a:solidFill>
                <a:latin typeface="NVIDIA Sans Medium"/>
              </a:rPr>
              <a:t>1.8× faster</a:t>
            </a:r>
          </a:p>
        </p:txBody>
      </p:sp>
      <p:sp>
        <p:nvSpPr>
          <p:cNvPr id="22" name="QAD + Optimized FP4"/>
          <p:cNvSpPr txBox="1"/>
          <p:nvPr/>
        </p:nvSpPr>
        <p:spPr>
          <a:xfrm>
            <a:off x="26883360" y="69494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76B900"/>
                </a:solidFill>
                <a:latin typeface="NVIDIA Sans Medium"/>
              </a:rPr>
              <a:t>QAD + Native FP4</a:t>
            </a:r>
          </a:p>
        </p:txBody>
      </p:sp>
      <p:pic>
        <p:nvPicPr>
          <p:cNvPr id="23" name="QAD + Optimized FP4 embedded video">
            <a:hlinkClick r:id="" action="ppaction://media"/>
          </p:cNvPr>
          <p:cNvPicPr>
            <a:picLocks noChangeAspect="1"/>
          </p:cNvPicPr>
          <p:nvPr>
            <a:videoFile r:link="rId13"/>
            <p:extLst>
              <p:ext uri="{DAA4B4D4-6D71-4841-9C94-3DE7FCFB9230}">
                <p14:media xmlns:p14="http://schemas.microsoft.com/office/powerpoint/2010/main" r:embed="rId12"/>
              </p:ext>
            </p:extLst>
          </p:nvPr>
        </p:nvPicPr>
        <p:blipFill>
          <a:blip r:embed="rId14"/>
          <a:stretch>
            <a:fillRect/>
          </a:stretch>
        </p:blipFill>
        <p:spPr>
          <a:xfrm>
            <a:off x="26883360" y="8229600"/>
            <a:ext cx="8046720" cy="4598125"/>
          </a:xfrm>
          <a:prstGeom prst="rect">
            <a:avLst/>
          </a:prstGeom>
          <a:ln w="9525">
            <a:solidFill>
              <a:srgbClr val="A7A7A7"/>
            </a:solidFill>
          </a:ln>
        </p:spPr>
      </p:pic>
      <p:sp>
        <p:nvSpPr>
          <p:cNvPr id="25" name="Request: 69.95 s*"/>
          <p:cNvSpPr txBox="1"/>
          <p:nvPr/>
        </p:nvSpPr>
        <p:spPr>
          <a:xfrm>
            <a:off x="26883360" y="14036040"/>
            <a:ext cx="8046720" cy="1051560"/>
          </a:xfrm>
          <a:prstGeom prst="rect">
            <a:avLst/>
          </a:prstGeom>
          <a:noFill/>
        </p:spPr>
        <p:txBody>
          <a:bodyPr wrap="square" lIns="0" rIns="0" tIns="0" bIns="0">
            <a:spAutoFit/>
          </a:bodyPr>
          <a:lstStyle/>
          <a:p>
            <a:pPr algn="ctr">
              <a:lnSpc>
                <a:spcPct val="108000"/>
              </a:lnSpc>
              <a:spcBef>
                <a:spcPts val="0"/>
              </a:spcBef>
              <a:spcAft>
                <a:spcPts val="1000"/>
              </a:spcAft>
            </a:pPr>
            <a:r>
              <a:rPr sz="5200" b="1">
                <a:solidFill>
                  <a:srgbClr val="76B900"/>
                </a:solidFill>
                <a:latin typeface="NVIDIA Sans Medium"/>
              </a:rPr>
              <a:t>2.2× faster</a:t>
            </a:r>
          </a:p>
        </p:txBody>
      </p:sp>
      <p:sp>
        <p:nvSpPr>
          <p:cNvPr id="29" name="*Single requests with CPU offload. GPUs: BF16 0; Online / QAD 3; optimized 1."/>
          <p:cNvSpPr txBox="1"/>
          <p:nvPr/>
        </p:nvSpPr>
        <p:spPr>
          <a:xfrm>
            <a:off x="1828800" y="18425160"/>
            <a:ext cx="32918400" cy="685800"/>
          </a:xfrm>
          <a:prstGeom prst="rect">
            <a:avLst/>
          </a:prstGeom>
          <a:noFill/>
        </p:spPr>
        <p:txBody>
          <a:bodyPr wrap="square" lIns="0" rIns="0" tIns="0" bIns="0">
            <a:spAutoFit/>
          </a:bodyPr>
          <a:lstStyle/>
          <a:p>
            <a:pPr algn="ctr">
              <a:lnSpc>
                <a:spcPct val="108000"/>
              </a:lnSpc>
              <a:spcBef>
                <a:spcPts val="0"/>
              </a:spcBef>
              <a:spcAft>
                <a:spcPts val="1000"/>
              </a:spcAft>
            </a:pPr>
            <a:r>
              <a:rPr sz="2600" b="0">
                <a:solidFill>
                  <a:srgbClr val="313131"/>
                </a:solidFill>
                <a:latin typeface="NVIDIA Sans"/>
              </a:rPr>
              <a:t>Retained single-request timings with CPU offload; first-use work varies.</a:t>
            </a:r>
          </a:p>
        </p:txBody>
      </p:sp>
    </p:spTree>
  </p:cSld>
  <p:clrMapOvr>
    <a:masterClrMapping/>
  </p:clrMapOvr>
  <p:timing>
    <p:tnLst>
      <p:par>
        <p:cTn id="1" dur="indefinite" restart="never" nodeType="tmRoot">
          <p:childTnLst>
            <p:video>
              <p:cMediaNode vol="0">
                <p:cTn id="2" fill="hold" display="0">
                  <p:stCondLst>
                    <p:cond delay="0"/>
                  </p:stCondLst>
                </p:cTn>
                <p:tgtEl>
                  <p:spTgt spid="8"/>
                </p:tgtEl>
              </p:cMediaNode>
            </p:video>
            <p:video>
              <p:cMediaNode vol="0">
                <p:cTn id="3" fill="hold" display="0">
                  <p:stCondLst>
                    <p:cond delay="0"/>
                  </p:stCondLst>
                </p:cTn>
                <p:tgtEl>
                  <p:spTgt spid="13"/>
                </p:tgtEl>
              </p:cMediaNode>
            </p:video>
            <p:video>
              <p:cMediaNode vol="0">
                <p:cTn id="4" fill="hold" display="0">
                  <p:stCondLst>
                    <p:cond delay="0"/>
                  </p:stCondLst>
                </p:cTn>
                <p:tgtEl>
                  <p:spTgt spid="18"/>
                </p:tgtEl>
              </p:cMediaNode>
            </p:video>
            <p:video>
              <p:cMediaNode vol="0">
                <p:cTn id="5" fill="hold" display="0">
                  <p:stCondLst>
                    <p:cond delay="0"/>
                  </p:stCondLst>
                </p:cTn>
                <p:tgtEl>
                  <p:spTgt spid="23"/>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a:hlinkClick r:id="rId9"/>
          </p:cNvPr>
          <p:cNvSpPr txBox="1"/>
          <p:nvPr/>
        </p:nvSpPr>
        <p:spPr>
          <a:xfrm>
            <a:off x="1828800" y="914400"/>
            <a:ext cx="32918400" cy="2103120"/>
          </a:xfrm>
          <a:prstGeom prst="rect">
            <a:avLst/>
          </a:prstGeom>
          <a:noFill/>
        </p:spPr>
        <p:txBody>
          <a:bodyPr wrap="square" lIns="0" rIns="0" tIns="0" bIns="0">
            <a:spAutoFit/>
          </a:bodyPr>
          <a:lstStyle/>
          <a:p>
            <a:pPr>
              <a:spcAft>
                <a:spcPts val="800"/>
              </a:spcAft>
            </a:pPr>
            <a:r>
              <a:rPr sz="7600">
                <a:solidFill>
                  <a:srgbClr val="000000"/>
                </a:solidFill>
                <a:latin typeface="NVIDIA Sans Medium"/>
              </a:rPr>
              <a:t>Three Lessons for Real-Time Inference</a:t>
            </a:r>
          </a:p>
        </p:txBody>
      </p:sp>
      <p:sp>
        <p:nvSpPr>
          <p:cNvPr id="3" name="Subtitle"/>
          <p:cNvSpPr txBox="1"/>
          <p:nvPr/>
        </p:nvSpPr>
        <p:spPr>
          <a:xfrm>
            <a:off x="1828800" y="3200400"/>
            <a:ext cx="32918400" cy="914400"/>
          </a:xfrm>
          <a:prstGeom prst="rect">
            <a:avLst/>
          </a:prstGeom>
          <a:noFill/>
        </p:spPr>
        <p:txBody>
          <a:bodyPr wrap="square" lIns="0" rIns="0" tIns="0" bIns="0">
            <a:spAutoFit/>
          </a:bodyPr>
          <a:lstStyle/>
          <a:p>
            <a:pPr>
              <a:spcAft>
                <a:spcPts val="800"/>
              </a:spcAft>
            </a:pPr>
            <a:r>
              <a:rPr sz="3400">
                <a:solidFill>
                  <a:srgbClr val="313131"/>
                </a:solidFill>
                <a:latin typeface="NVIDIA Sans"/>
              </a:rPr>
              <a:t>Choose the optimization that changes the end-to-end bottleneck.</a:t>
            </a:r>
          </a:p>
        </p:txBody>
      </p:sp>
      <p:sp>
        <p:nvSpPr>
          <p:cNvPr id="4" name="Slide number"/>
          <p:cNvSpPr txBox="1"/>
          <p:nvPr/>
        </p:nvSpPr>
        <p:spPr>
          <a:xfrm>
            <a:off x="914400" y="19385280"/>
            <a:ext cx="914400" cy="640080"/>
          </a:xfrm>
          <a:prstGeom prst="rect">
            <a:avLst/>
          </a:prstGeom>
          <a:noFill/>
        </p:spPr>
        <p:txBody>
          <a:bodyPr wrap="square" lIns="0" rIns="0" tIns="0" bIns="0">
            <a:spAutoFit/>
          </a:bodyPr>
          <a:lstStyle/>
          <a:p>
            <a:pPr>
              <a:spcAft>
                <a:spcPts val="800"/>
              </a:spcAft>
            </a:pPr>
            <a:r>
              <a:rPr sz="2000">
                <a:solidFill>
                  <a:srgbClr val="000000"/>
                </a:solidFill>
                <a:latin typeface="NVIDIA Sans"/>
              </a:rPr>
              <a:t>10</a:t>
            </a:r>
          </a:p>
        </p:txBody>
      </p:sp>
      <p:sp>
        <p:nvSpPr>
          <p:cNvPr id="5" name="Overview panel 0"/>
          <p:cNvSpPr/>
          <p:nvPr/>
        </p:nvSpPr>
        <p:spPr>
          <a:xfrm>
            <a:off x="1828800" y="502920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erview title 0"/>
          <p:cNvSpPr txBox="1"/>
          <p:nvPr/>
        </p:nvSpPr>
        <p:spPr>
          <a:xfrm>
            <a:off x="2468880" y="544068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Reduce work with a quality budget</a:t>
            </a:r>
          </a:p>
        </p:txBody>
      </p:sp>
      <p:sp>
        <p:nvSpPr>
          <p:cNvPr id="7" name="Overview body 0"/>
          <p:cNvSpPr txBox="1"/>
          <p:nvPr/>
        </p:nvSpPr>
        <p:spPr>
          <a:xfrm>
            <a:off x="2468880" y="644652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Fewer steps, sparse attention and lower precision reduce work.</a:t>
            </a:r>
            <a:br/>
            <a:r>
              <a:rPr sz="3500">
                <a:solidFill>
                  <a:srgbClr val="000000"/>
                </a:solidFill>
                <a:latin typeface="NVIDIA Sans"/>
              </a:rPr>
              <a:t>Evaluate the quality tradeoff on the workload people will use.</a:t>
            </a:r>
          </a:p>
        </p:txBody>
      </p:sp>
      <p:sp>
        <p:nvSpPr>
          <p:cNvPr id="8" name="Overview panel 1"/>
          <p:cNvSpPr/>
          <p:nvPr/>
        </p:nvSpPr>
        <p:spPr>
          <a:xfrm>
            <a:off x="1828800" y="928116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erview title 1"/>
          <p:cNvSpPr txBox="1"/>
          <p:nvPr/>
        </p:nvSpPr>
        <p:spPr>
          <a:xfrm>
            <a:off x="2468880" y="969264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Treat topology as part of the system</a:t>
            </a:r>
          </a:p>
        </p:txBody>
      </p:sp>
      <p:sp>
        <p:nvSpPr>
          <p:cNvPr id="10" name="Overview body 1"/>
          <p:cNvSpPr txBox="1"/>
          <p:nvPr/>
        </p:nvSpPr>
        <p:spPr>
          <a:xfrm>
            <a:off x="2468880" y="1069848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Communication can dominate GPU time.</a:t>
            </a:r>
            <a:br/>
            <a:r>
              <a:rPr sz="3500">
                <a:solidFill>
                  <a:srgbClr val="000000"/>
                </a:solidFill>
                <a:latin typeface="NVIDIA Sans"/>
              </a:rPr>
              <a:t>Match data movement to the physical links before tuning kernels.</a:t>
            </a:r>
          </a:p>
        </p:txBody>
      </p:sp>
      <p:sp>
        <p:nvSpPr>
          <p:cNvPr id="11" name="Overview panel 2"/>
          <p:cNvSpPr/>
          <p:nvPr/>
        </p:nvSpPr>
        <p:spPr>
          <a:xfrm>
            <a:off x="1828800" y="1353312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erview title 2"/>
          <p:cNvSpPr txBox="1"/>
          <p:nvPr/>
        </p:nvSpPr>
        <p:spPr>
          <a:xfrm>
            <a:off x="2468880" y="1394460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Follow the bottleneck as it moves</a:t>
            </a:r>
          </a:p>
        </p:txBody>
      </p:sp>
      <p:sp>
        <p:nvSpPr>
          <p:cNvPr id="13" name="Overview body 2"/>
          <p:cNvSpPr txBox="1"/>
          <p:nvPr/>
        </p:nvSpPr>
        <p:spPr>
          <a:xfrm>
            <a:off x="2468880" y="1495044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Decode, copies and output become more important as the model accelerates.</a:t>
            </a:r>
            <a:br/>
            <a:r>
              <a:rPr sz="3500">
                <a:solidFill>
                  <a:srgbClr val="000000"/>
                </a:solidFill>
                <a:latin typeface="NVIDIA Sans"/>
              </a:rPr>
              <a:t>Re-profile after each major speedup; judge progress by end-to-end latency.</a:t>
            </a:r>
          </a:p>
        </p:txBody>
      </p:sp>
      <p:sp>
        <p:nvSpPr>
          <p:cNvPr id="14" name="Overview scope"/>
          <p:cNvSpPr txBox="1"/>
          <p:nvPr/>
        </p:nvSpPr>
        <p:spPr>
          <a:xfrm>
            <a:off x="1828800" y="18516600"/>
            <a:ext cx="32918400" cy="1051560"/>
          </a:xfrm>
          <a:prstGeom prst="rect">
            <a:avLst/>
          </a:prstGeom>
          <a:noFill/>
        </p:spPr>
        <p:txBody>
          <a:bodyPr wrap="square" lIns="0" rIns="0" tIns="0" bIns="0">
            <a:spAutoFit/>
          </a:bodyPr>
          <a:lstStyle/>
          <a:p>
            <a:pPr>
              <a:spcAft>
                <a:spcPts val="800"/>
              </a:spcAft>
            </a:pPr>
            <a:r>
              <a:rPr sz="2700">
                <a:solidFill>
                  <a:srgbClr val="313131"/>
                </a:solidFill>
                <a:latin typeface="NVIDIA Sans"/>
              </a:rPr>
              <a:t>Read every speedup with its workload and configuration.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4" sz="quarter"/>
          </p:nvPr>
        </p:nvSpPr>
        <p:spPr/>
        <p:txBody>
          <a:bodyPr/>
          <a:lstStyle/>
          <a:p>
            <a:r>
              <a:t>Two CPU sockets · four ConnectX-8 cards · two GPUs per PCIe subtree</a:t>
            </a:r>
          </a:p>
        </p:txBody>
      </p:sp>
      <p:sp>
        <p:nvSpPr>
          <p:cNvPr id="3" name="Title 2"/>
          <p:cNvSpPr>
            <a:spLocks noGrp="1"/>
          </p:cNvSpPr>
          <p:nvPr>
            <p:ph type="title"/>
          </p:nvPr>
        </p:nvSpPr>
        <p:spPr/>
        <p:txBody>
          <a:bodyPr/>
          <a:lstStyle/>
          <a:p>
            <a:r>
              <a:t>Eight-GPU Topology</a:t>
            </a:r>
          </a:p>
        </p:txBody>
      </p:sp>
      <p:sp>
        <p:nvSpPr>
          <p:cNvPr id="5" name="Text Placeholder 4"/>
          <p:cNvSpPr>
            <a:spLocks noGrp="1"/>
          </p:cNvSpPr>
          <p:nvPr>
            <p:ph type="body" idx="51" sz="quarter"/>
          </p:nvPr>
        </p:nvSpPr>
        <p:spPr>
          <a:xfrm>
            <a:off x="1828800" y="18425160"/>
            <a:ext cx="32918400" cy="822960"/>
          </a:xfrm>
        </p:spPr>
        <p:txBody>
          <a:bodyPr/>
          <a:lstStyle/>
          <a:p>
            <a:r>
              <a:t>One-way link capacities · network ports support simultaneous TX and RX</a:t>
            </a:r>
          </a:p>
        </p:txBody>
      </p:sp>
      <p:sp>
        <p:nvSpPr>
          <p:cNvPr id="7"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sz="2000" b="0">
                <a:solidFill>
                  <a:srgbClr val="A7A7A7"/>
                </a:solidFill>
                <a:latin typeface="NVIDIA Sans"/>
              </a:rPr>
              <a:t>Sources: local PCIe / port audit · NVIDIA ConnectX-8 · AMD EPYC 9005 architecture · xGMI raw capacity assumption</a:t>
            </a:r>
            <a:endParaRPr lang="en-US" dirty="0"/>
          </a:p>
        </p:txBody>
      </p:sp>
      <p:sp>
        <p:nvSpPr>
          <p:cNvPr id="8"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a:xfrm>
            <a:off x="914400" y="19431000"/>
            <a:ext cx="868680" cy="640080"/>
          </a:xfrm>
        </p:spPr>
        <p:txBody>
          <a:bodyPr/>
          <a:lstStyle/>
          <a:p>
            <a:pPr>
              <a:lnSpc>
                <a:spcPct val="90000"/>
              </a:lnSpc>
            </a:pPr>
            <a:fld id="{5D6728F8-03AC-4059-94FB-90617981AE50}" type="slidenum">
              <a:rPr lang="en-US" smtClean="0"/>
              <a:pPr/>
              <a:t>11</a:t>
            </a:fld>
            <a:endParaRPr lang="en-US"/>
          </a:p>
        </p:txBody>
      </p:sp>
      <p:pic>
        <p:nvPicPr>
          <p:cNvPr id="9" name="Topology with one-way capacity model" descr="slide-13-diagram.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828800" y="4800600"/>
            <a:ext cx="32918400" cy="13167359"/>
          </a:xfrm>
          <a:prstGeom prst="rect">
            <a:avLst/>
          </a:prstGeom>
          <a:ln w="9525">
            <a:solidFill>
              <a:srgbClr val="A7A7A7"/>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3" sz="quarter"/>
          </p:nvPr>
        </p:nvSpPr>
        <p:spPr>
          <a:xfrm>
            <a:off x="1828800" y="3383280"/>
            <a:ext cx="32918400" cy="1005840"/>
          </a:xfrm>
        </p:spPr>
        <p:txBody>
          <a:bodyPr/>
          <a:lstStyle/>
          <a:p>
            <a:r>
              <a:t>Prior communication study · FI RDMA is 2.33–2.47× faster on matched Q/K/V/O exchanges</a:t>
            </a:r>
          </a:p>
        </p:txBody>
      </p:sp>
      <p:sp>
        <p:nvSpPr>
          <p:cNvPr id="3" name="Title 2"/>
          <p:cNvSpPr>
            <a:spLocks noGrp="1"/>
          </p:cNvSpPr>
          <p:nvPr>
            <p:ph type="title"/>
          </p:nvPr>
        </p:nvSpPr>
        <p:spPr>
          <a:xfrm>
            <a:off x="1828800" y="914400"/>
            <a:ext cx="32918400" cy="2468880"/>
          </a:xfrm>
        </p:spPr>
        <p:txBody>
          <a:bodyPr/>
          <a:lstStyle/>
          <a:p>
            <a:r>
              <a:t>Local NCCL to RDMA</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12</a:t>
            </a:fld>
            <a:endParaRPr lang="en-US"/>
          </a:p>
        </p:txBody>
      </p:sp>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2026-10-26 · local-only NCCL control · 3 rounds × 30 samples · communication microbenchmark, not E2E</a:t>
            </a:r>
            <a:endParaRPr lang="en-US" dirty="0"/>
          </a:p>
        </p:txBody>
      </p:sp>
      <p:pic>
        <p:nvPicPr>
          <p:cNvPr id="11" name="Original Ulysses local NCCL versus FI RDMA — matched sequence microbenchmark" descr="sequence-comparison.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653760" y="5257800"/>
            <a:ext cx="16093440" cy="10997184"/>
          </a:xfrm>
          <a:prstGeom prst="rect">
            <a:avLst/>
          </a:prstGeom>
          <a:ln w="9525">
            <a:solidFill>
              <a:srgbClr val="A7A7A7"/>
            </a:solidFill>
          </a:ln>
        </p:spPr>
      </p:pic>
      <p:sp>
        <p:nvSpPr>
          <p:cNvPr id="12" name="Local NCCL · shared PCIe uplink"/>
          <p:cNvSpPr txBox="1"/>
          <p:nvPr/>
        </p:nvSpPr>
        <p:spPr>
          <a:xfrm>
            <a:off x="1828800" y="530352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Local NCCL · shared PCIe uplink</a:t>
            </a:r>
          </a:p>
        </p:txBody>
      </p:sp>
      <p:sp>
        <p:nvSpPr>
          <p:cNvPr id="13" name="1 P2P peer + 6 SHM peers per rank"/>
          <p:cNvSpPr txBox="1"/>
          <p:nvPr/>
        </p:nvSpPr>
        <p:spPr>
          <a:xfrm>
            <a:off x="1828800" y="63093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1 P2P peer + 6 SHM peers per rank</a:t>
            </a:r>
          </a:p>
        </p:txBody>
      </p:sp>
      <p:sp>
        <p:nvSpPr>
          <p:cNvPr id="14" name="Cross-subtree payload uses host memory"/>
          <p:cNvSpPr txBox="1"/>
          <p:nvPr/>
        </p:nvSpPr>
        <p:spPr>
          <a:xfrm>
            <a:off x="1828800" y="69951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Cross-subtree payload uses host memory</a:t>
            </a:r>
          </a:p>
        </p:txBody>
      </p:sp>
      <p:sp>
        <p:nvSpPr>
          <p:cNvPr id="15" name="Two GPUs share one 63.0 GB/s uplink"/>
          <p:cNvSpPr txBox="1"/>
          <p:nvPr/>
        </p:nvSpPr>
        <p:spPr>
          <a:xfrm>
            <a:off x="1828800" y="76809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Two GPUs share one 63.0 GB/s uplink</a:t>
            </a:r>
          </a:p>
        </p:txBody>
      </p:sp>
      <p:sp>
        <p:nvSpPr>
          <p:cNvPr id="16" name="2 × B × 6/7 ≤ 63.0; B ≤ 36.8 GB/s"/>
          <p:cNvSpPr txBox="1"/>
          <p:nvPr/>
        </p:nvSpPr>
        <p:spPr>
          <a:xfrm>
            <a:off x="1828800" y="83667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2 × B × 6/7 &lt;= 63.0; B &lt;= 36.8 GB/s</a:t>
            </a:r>
          </a:p>
        </p:txBody>
      </p:sp>
      <p:sp>
        <p:nvSpPr>
          <p:cNvPr id="17" name="Cross-NUMA · raw xGMI model"/>
          <p:cNvSpPr txBox="1"/>
          <p:nvPr/>
        </p:nvSpPr>
        <p:spPr>
          <a:xfrm>
            <a:off x="1828800" y="94640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Cross-NUMA · raw xGMI model</a:t>
            </a:r>
          </a:p>
        </p:txBody>
      </p:sp>
      <p:sp>
        <p:nvSpPr>
          <p:cNvPr id="18" name="C = 256 GB/s; installed capacity is unverified"/>
          <p:cNvSpPr txBox="1"/>
          <p:nvPr/>
        </p:nvSpPr>
        <p:spPr>
          <a:xfrm>
            <a:off x="1828800" y="104698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000" b="0">
                <a:solidFill>
                  <a:srgbClr val="313131"/>
                </a:solidFill>
                <a:latin typeface="NVIDIA Sans"/>
              </a:rPr>
              <a:t>C = 256 GB/s; installed capacity is unverified</a:t>
            </a:r>
          </a:p>
        </p:txBody>
      </p:sp>
      <p:sp>
        <p:nvSpPr>
          <p:cNvPr id="19" name="4 × B × 4/7 ≤ 256; B ≤ 112 GB/s"/>
          <p:cNvSpPr txBox="1"/>
          <p:nvPr/>
        </p:nvSpPr>
        <p:spPr>
          <a:xfrm>
            <a:off x="1828800" y="111556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4 × B × 4/7 &lt;= 256; B &lt;= 112 GB/s</a:t>
            </a:r>
          </a:p>
        </p:txBody>
      </p:sp>
      <p:sp>
        <p:nvSpPr>
          <p:cNvPr id="20" name="FI RDMA · nearest GPU-affine port"/>
          <p:cNvSpPr txBox="1"/>
          <p:nvPr/>
        </p:nvSpPr>
        <p:spPr>
          <a:xfrm>
            <a:off x="1828800" y="122072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FI RDMA · nearest GPU-affine port</a:t>
            </a:r>
          </a:p>
        </p:txBody>
      </p:sp>
      <p:sp>
        <p:nvSpPr>
          <p:cNvPr id="21" name="One nearest 400G port per GPU"/>
          <p:cNvSpPr txBox="1"/>
          <p:nvPr/>
        </p:nvSpPr>
        <p:spPr>
          <a:xfrm>
            <a:off x="1828800" y="132130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One nearest 400G port per GPU</a:t>
            </a:r>
          </a:p>
        </p:txBody>
      </p:sp>
      <p:sp>
        <p:nvSpPr>
          <p:cNvPr id="22" name="Bypasses host buffers and CPU uplinks"/>
          <p:cNvSpPr txBox="1"/>
          <p:nvPr/>
        </p:nvSpPr>
        <p:spPr>
          <a:xfrm>
            <a:off x="1828800" y="138988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Bypasses host buffers and CPU uplinks</a:t>
            </a:r>
          </a:p>
        </p:txBody>
      </p:sp>
      <p:sp>
        <p:nvSpPr>
          <p:cNvPr id="23" name="B ≤ min(63.0, 128/2, 50) = 50 GB/s"/>
          <p:cNvSpPr txBox="1"/>
          <p:nvPr/>
        </p:nvSpPr>
        <p:spPr>
          <a:xfrm>
            <a:off x="1828800" y="145846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B &lt;= min(63.0, 128/2, 50) = 50 GB/s</a:t>
            </a:r>
          </a:p>
        </p:txBody>
      </p:sp>
      <p:sp>
        <p:nvSpPr>
          <p:cNvPr id="24" name="Shared uplink sets the tighter raw bound"/>
          <p:cNvSpPr txBox="1"/>
          <p:nvPr/>
        </p:nvSpPr>
        <p:spPr>
          <a:xfrm>
            <a:off x="1828800" y="158648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300" b="1">
                <a:solidFill>
                  <a:srgbClr val="76B900"/>
                </a:solidFill>
                <a:latin typeface="NVIDIA Sans Medium"/>
              </a:rPr>
              <a:t>Shared uplink sets the tighter raw bound</a:t>
            </a:r>
          </a:p>
        </p:txBody>
      </p:sp>
      <p:sp>
        <p:nvSpPr>
          <p:cNvPr id="25" name="Local bound: min(36.8, 112) = 36.8 GB/s"/>
          <p:cNvSpPr txBox="1"/>
          <p:nvPr/>
        </p:nvSpPr>
        <p:spPr>
          <a:xfrm>
            <a:off x="1828800" y="16779240"/>
            <a:ext cx="15544800" cy="1554480"/>
          </a:xfrm>
          <a:prstGeom prst="rect">
            <a:avLst/>
          </a:prstGeom>
          <a:noFill/>
        </p:spPr>
        <p:txBody>
          <a:bodyPr wrap="square" lIns="0" rIns="0" tIns="0" bIns="0">
            <a:spAutoFit/>
          </a:bodyPr>
          <a:lstStyle/>
          <a:p>
            <a:pPr algn="l">
              <a:lnSpc>
                <a:spcPct val="112000"/>
              </a:lnSpc>
              <a:spcBef>
                <a:spcPts val="0"/>
              </a:spcBef>
              <a:spcAft>
                <a:spcPts val="0"/>
              </a:spcAft>
            </a:pPr>
            <a:r>
              <a:rPr sz="2900" b="0">
                <a:solidFill>
                  <a:srgbClr val="313131"/>
                </a:solidFill>
                <a:latin typeface="NVIDIA Sans"/>
              </a:rPr>
              <a:t>Local bound: min(36.8, 112) = 36.8 GB/s</a:t>
            </a:r>
          </a:p>
          <a:p>
            <a:pPr algn="l">
              <a:lnSpc>
                <a:spcPct val="112000"/>
              </a:lnSpc>
              <a:spcBef>
                <a:spcPts val="0"/>
              </a:spcBef>
              <a:spcAft>
                <a:spcPts val="0"/>
              </a:spcAft>
            </a:pPr>
            <a:r>
              <a:rPr sz="2900" b="0">
                <a:solidFill>
                  <a:srgbClr val="313131"/>
                </a:solidFill>
                <a:latin typeface="NVIDIA Sans"/>
              </a:rPr>
              <a:t>SHM, layout and scheduling add further cost</a:t>
            </a:r>
          </a:p>
          <a:p>
            <a:pPr algn="l">
              <a:lnSpc>
                <a:spcPct val="112000"/>
              </a:lnSpc>
              <a:spcBef>
                <a:spcPts val="0"/>
              </a:spcBef>
              <a:spcAft>
                <a:spcPts val="0"/>
              </a:spcAft>
            </a:pPr>
            <a:r>
              <a:rPr sz="2900" b="0">
                <a:solidFill>
                  <a:srgbClr val="313131"/>
                </a:solidFill>
                <a:latin typeface="NVIDIA Sans"/>
              </a:rPr>
              <a:t>Next: 2 / 3 / 2 head bands and graph replay</a:t>
            </a:r>
          </a:p>
        </p:txBody>
      </p:sp>
      <p:sp>
        <p:nvSpPr>
          <p:cNvPr id="26" name="Measured: communication + layout + scheduling"/>
          <p:cNvSpPr txBox="1"/>
          <p:nvPr/>
        </p:nvSpPr>
        <p:spPr>
          <a:xfrm>
            <a:off x="18653760" y="16596359"/>
            <a:ext cx="16093440" cy="685800"/>
          </a:xfrm>
          <a:prstGeom prst="rect">
            <a:avLst/>
          </a:prstGeom>
          <a:noFill/>
        </p:spPr>
        <p:txBody>
          <a:bodyPr wrap="square" lIns="0" rIns="0" tIns="0" bIns="0">
            <a:spAutoFit/>
          </a:bodyPr>
          <a:lstStyle/>
          <a:p>
            <a:pPr algn="l">
              <a:lnSpc>
                <a:spcPct val="112000"/>
              </a:lnSpc>
              <a:spcBef>
                <a:spcPts val="0"/>
              </a:spcBef>
              <a:spcAft>
                <a:spcPts val="0"/>
              </a:spcAft>
            </a:pPr>
            <a:r>
              <a:rPr sz="2900" b="0">
                <a:solidFill>
                  <a:srgbClr val="313131"/>
                </a:solidFill>
                <a:latin typeface="NVIDIA Sans"/>
              </a:rPr>
              <a:t>Measured: communication + layout + scheduling</a:t>
            </a:r>
          </a:p>
        </p:txBody>
      </p:sp>
      <p:sp>
        <p:nvSpPr>
          <p:cNvPr id="27" name="Separate Q/K-first candidate: 96/96 checks exact"/>
          <p:cNvSpPr txBox="1"/>
          <p:nvPr/>
        </p:nvSpPr>
        <p:spPr>
          <a:xfrm>
            <a:off x="18653760" y="17419320"/>
            <a:ext cx="16093440" cy="1097280"/>
          </a:xfrm>
          <a:prstGeom prst="rect">
            <a:avLst/>
          </a:prstGeom>
          <a:noFill/>
        </p:spPr>
        <p:txBody>
          <a:bodyPr wrap="square" lIns="0" rIns="0" tIns="0" bIns="0">
            <a:spAutoFit/>
          </a:bodyPr>
          <a:lstStyle/>
          <a:p>
            <a:pPr algn="l">
              <a:lnSpc>
                <a:spcPct val="112000"/>
              </a:lnSpc>
              <a:spcBef>
                <a:spcPts val="0"/>
              </a:spcBef>
              <a:spcAft>
                <a:spcPts val="0"/>
              </a:spcAft>
            </a:pPr>
            <a:r>
              <a:rPr sz="2800" b="0">
                <a:solidFill>
                  <a:srgbClr val="313131"/>
                </a:solidFill>
                <a:latin typeface="NVIDIA Sans"/>
              </a:rPr>
              <a:t>Separate Q/K-first candidate: 96/96 checks exact</a:t>
            </a:r>
          </a:p>
          <a:p>
            <a:pPr algn="l">
              <a:lnSpc>
                <a:spcPct val="112000"/>
              </a:lnSpc>
              <a:spcBef>
                <a:spcPts val="0"/>
              </a:spcBef>
              <a:spcAft>
                <a:spcPts val="0"/>
              </a:spcAft>
            </a:pPr>
            <a:r>
              <a:rPr sz="2800" b="0">
                <a:solidFill>
                  <a:srgbClr val="313131"/>
                </a:solidFill>
                <a:latin typeface="NVIDIA Sans"/>
              </a:rPr>
              <a:t>on four GPUs; full eight-GPU H3 remains pending</a:t>
            </a:r>
          </a:p>
        </p:txBody>
      </p:sp>
      <p:sp>
        <p:nvSpPr>
          <p:cNvPr id="28" name="B: off-rank TX per GPU · C: raw one-way xGMI capacity · necessary link bounds, not measured E2E"/>
          <p:cNvSpPr txBox="1"/>
          <p:nvPr/>
        </p:nvSpPr>
        <p:spPr>
          <a:xfrm>
            <a:off x="1828800" y="18653760"/>
            <a:ext cx="32918400" cy="594360"/>
          </a:xfrm>
          <a:prstGeom prst="rect">
            <a:avLst/>
          </a:prstGeom>
          <a:noFill/>
        </p:spPr>
        <p:txBody>
          <a:bodyPr wrap="square" lIns="0" rIns="0" tIns="0" bIns="0">
            <a:spAutoFit/>
          </a:bodyPr>
          <a:lstStyle/>
          <a:p>
            <a:pPr algn="ctr">
              <a:lnSpc>
                <a:spcPct val="112000"/>
              </a:lnSpc>
              <a:spcBef>
                <a:spcPts val="0"/>
              </a:spcBef>
              <a:spcAft>
                <a:spcPts val="0"/>
              </a:spcAft>
            </a:pPr>
            <a:r>
              <a:rPr sz="2500" b="0">
                <a:solidFill>
                  <a:srgbClr val="313131"/>
                </a:solidFill>
                <a:latin typeface="NVIDIA Sans"/>
              </a:rPr>
              <a:t>B: off-rank TX per GPU · C: raw one-way xGMI capacity · necessary link bounds, not measured E2E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914400"/>
          </a:xfrm>
        </p:spPr>
        <p:txBody>
          <a:bodyPr/>
          <a:lstStyle/>
          <a:p>
            <a:r>
              <a:rPr>
                <a:latin typeface="NVIDIA Sans"/>
              </a:rPr>
              <a:t>Original source: head-shard exchange before attention; inverse exchange before output projection</a:t>
            </a:r>
          </a:p>
        </p:txBody>
      </p:sp>
      <p:sp>
        <p:nvSpPr>
          <p:cNvPr id="4" name="Title 3"/>
          <p:cNvSpPr>
            <a:spLocks noGrp="1"/>
          </p:cNvSpPr>
          <p:nvPr>
            <p:ph type="title"/>
          </p:nvPr>
        </p:nvSpPr>
        <p:spPr>
          <a:xfrm>
            <a:off x="1828800" y="914400"/>
            <a:ext cx="32918400" cy="2468880"/>
          </a:xfrm>
        </p:spPr>
        <p:txBody>
          <a:bodyPr/>
          <a:lstStyle/>
          <a:p>
            <a:r>
              <a:rPr>
                <a:latin typeface="NVIDIA Sans Medium"/>
              </a:rPr>
              <a:t>vLLM-Omni Ulysses: NCCL Implementation</a:t>
            </a:r>
          </a:p>
        </p:txBody>
      </p:sp>
      <p:sp>
        <p:nvSpPr>
          <p:cNvPr id="7"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Source: vLLM-Omni 63487a7f22db · comm.py:44–60; ulysses.py:538–544, 721 · wrapped excerpt; guards omitted · Apache-2.0</a:t>
            </a:r>
            <a:endParaRPr lang="en-US" dirty="0"/>
          </a:p>
        </p:txBody>
      </p:sp>
      <p:sp>
        <p:nvSpPr>
          <p:cNvPr id="8"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13</a:t>
            </a:fld>
            <a:endParaRPr lang="en-US"/>
          </a:p>
        </p:txBody>
      </p:sp>
      <p:sp>
        <p:nvSpPr>
          <p:cNvPr id="9" name="Q / K / V branch · comm.py"/>
          <p:cNvSpPr txBox="1"/>
          <p:nvPr/>
        </p:nvSpPr>
        <p:spPr>
          <a:xfrm>
            <a:off x="1828800" y="5120640"/>
            <a:ext cx="20574000" cy="73152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Q / K / V branch · comm.py</a:t>
            </a:r>
          </a:p>
        </p:txBody>
      </p:sp>
      <p:sp>
        <p:nvSpPr>
          <p:cNvPr id="10" name="Original all_to_all_4D QKV branch"/>
          <p:cNvSpPr txBox="1"/>
          <p:nvPr/>
        </p:nvSpPr>
        <p:spPr>
          <a:xfrm>
            <a:off x="1828800" y="6126480"/>
            <a:ext cx="20574000" cy="8412480"/>
          </a:xfrm>
          <a:prstGeom prst="rect">
            <a:avLst/>
          </a:prstGeom>
          <a:noFill/>
        </p:spPr>
        <p:txBody>
          <a:bodyPr wrap="none" lIns="0" rIns="0" tIns="0" bIns="0">
            <a:spAutoFit/>
          </a:bodyPr>
          <a:lstStyle/>
          <a:p>
            <a:pPr algn="l">
              <a:lnSpc>
                <a:spcPct val="108000"/>
              </a:lnSpc>
              <a:spcBef>
                <a:spcPts val="0"/>
              </a:spcBef>
              <a:spcAft>
                <a:spcPts val="0"/>
              </a:spcAft>
            </a:pPr>
            <a:r>
              <a:rPr sz="3200" b="0">
                <a:solidFill>
                  <a:srgbClr val="313131"/>
                </a:solidFill>
                <a:latin typeface="Roboto Mono"/>
              </a:rPr>
              <a:t>input_t = (</a:t>
            </a:r>
          </a:p>
          <a:p>
            <a:pPr algn="l">
              <a:lnSpc>
                <a:spcPct val="108000"/>
              </a:lnSpc>
              <a:spcBef>
                <a:spcPts val="0"/>
              </a:spcBef>
              <a:spcAft>
                <a:spcPts val="0"/>
              </a:spcAft>
            </a:pPr>
            <a:r>
              <a:rPr sz="3200" b="0">
                <a:solidFill>
                  <a:srgbClr val="313131"/>
                </a:solidFill>
                <a:latin typeface="Roboto Mono"/>
              </a:rPr>
              <a:t>    input.reshape(bs, shard_seqlen,</a:t>
            </a:r>
          </a:p>
          <a:p>
            <a:pPr algn="l">
              <a:lnSpc>
                <a:spcPct val="108000"/>
              </a:lnSpc>
              <a:spcBef>
                <a:spcPts val="0"/>
              </a:spcBef>
              <a:spcAft>
                <a:spcPts val="0"/>
              </a:spcAft>
            </a:pPr>
            <a:r>
              <a:rPr sz="3200" b="0">
                <a:solidFill>
                  <a:srgbClr val="313131"/>
                </a:solidFill>
                <a:latin typeface="Roboto Mono"/>
              </a:rPr>
              <a:t>                  seq_world_size, shard_hc, hs)</a:t>
            </a:r>
          </a:p>
          <a:p>
            <a:pPr algn="l">
              <a:lnSpc>
                <a:spcPct val="108000"/>
              </a:lnSpc>
              <a:spcBef>
                <a:spcPts val="0"/>
              </a:spcBef>
              <a:spcAft>
                <a:spcPts val="0"/>
              </a:spcAft>
            </a:pPr>
            <a:r>
              <a:rPr sz="3200" b="0">
                <a:solidFill>
                  <a:srgbClr val="313131"/>
                </a:solidFill>
                <a:latin typeface="Roboto Mono"/>
              </a:rPr>
              <a:t>    .transpose(0, 2).contiguous()</a:t>
            </a:r>
          </a:p>
          <a:p>
            <a:pPr algn="l">
              <a:lnSpc>
                <a:spcPct val="108000"/>
              </a:lnSpc>
              <a:spcBef>
                <a:spcPts val="0"/>
              </a:spcBef>
              <a:spcAft>
                <a:spcPts val="0"/>
              </a:spcAft>
            </a:pPr>
            <a:r>
              <a:rPr sz="3200" b="0">
                <a:solidFill>
                  <a:srgbClr val="313131"/>
                </a:solidFill>
                <a:latin typeface="Roboto Mono"/>
              </a:rPr>
              <a:t>)</a:t>
            </a:r>
          </a:p>
          <a:p>
            <a:pPr algn="l">
              <a:lnSpc>
                <a:spcPct val="108000"/>
              </a:lnSpc>
              <a:spcBef>
                <a:spcPts val="0"/>
              </a:spcBef>
              <a:spcAft>
                <a:spcPts val="0"/>
              </a:spcAft>
            </a:pPr>
            <a:r>
              <a:rPr sz="3200" b="0">
                <a:solidFill>
                  <a:srgbClr val="313131"/>
                </a:solidFill>
                <a:latin typeface="Roboto Mono"/>
              </a:rPr>
              <a:t>output = torch.empty_like(input_t)</a:t>
            </a:r>
          </a:p>
          <a:p>
            <a:pPr algn="l">
              <a:lnSpc>
                <a:spcPct val="108000"/>
              </a:lnSpc>
              <a:spcBef>
                <a:spcPts val="0"/>
              </a:spcBef>
              <a:spcAft>
                <a:spcPts val="0"/>
              </a:spcAft>
            </a:pPr>
            <a:r>
              <a:rPr sz="3200" b="0">
                <a:solidFill>
                  <a:srgbClr val="76B900"/>
                </a:solidFill>
                <a:latin typeface="Roboto Mono"/>
              </a:rPr>
              <a:t>dist.all_to_all_single(</a:t>
            </a:r>
          </a:p>
          <a:p>
            <a:pPr algn="l">
              <a:lnSpc>
                <a:spcPct val="108000"/>
              </a:lnSpc>
              <a:spcBef>
                <a:spcPts val="0"/>
              </a:spcBef>
              <a:spcAft>
                <a:spcPts val="0"/>
              </a:spcAft>
            </a:pPr>
            <a:r>
              <a:rPr sz="3200" b="0">
                <a:solidFill>
                  <a:srgbClr val="313131"/>
                </a:solidFill>
                <a:latin typeface="Roboto Mono"/>
              </a:rPr>
              <a:t>    output, input_t, group=group</a:t>
            </a:r>
          </a:p>
          <a:p>
            <a:pPr algn="l">
              <a:lnSpc>
                <a:spcPct val="108000"/>
              </a:lnSpc>
              <a:spcBef>
                <a:spcPts val="0"/>
              </a:spcBef>
              <a:spcAft>
                <a:spcPts val="0"/>
              </a:spcAft>
            </a:pPr>
            <a:r>
              <a:rPr sz="3200" b="0">
                <a:solidFill>
                  <a:srgbClr val="313131"/>
                </a:solidFill>
                <a:latin typeface="Roboto Mono"/>
              </a:rPr>
              <a:t>)</a:t>
            </a:r>
          </a:p>
          <a:p>
            <a:pPr algn="l">
              <a:lnSpc>
                <a:spcPct val="108000"/>
              </a:lnSpc>
              <a:spcBef>
                <a:spcPts val="0"/>
              </a:spcBef>
              <a:spcAft>
                <a:spcPts val="0"/>
              </a:spcAft>
            </a:pPr>
            <a:r>
              <a:rPr sz="3200" b="0">
                <a:solidFill>
                  <a:srgbClr val="313131"/>
                </a:solidFill>
                <a:latin typeface="Roboto Mono"/>
              </a:rPr>
              <a:t>output = output.reshape(seqlen, bs, shard_hc, hs)</a:t>
            </a:r>
          </a:p>
          <a:p>
            <a:pPr algn="l">
              <a:lnSpc>
                <a:spcPct val="108000"/>
              </a:lnSpc>
              <a:spcBef>
                <a:spcPts val="0"/>
              </a:spcBef>
              <a:spcAft>
                <a:spcPts val="0"/>
              </a:spcAft>
            </a:pPr>
            <a:r>
              <a:rPr sz="3200" b="0">
                <a:solidFill>
                  <a:srgbClr val="313131"/>
                </a:solidFill>
                <a:latin typeface="Roboto Mono"/>
              </a:rPr>
              <a:t>output = (</a:t>
            </a:r>
          </a:p>
          <a:p>
            <a:pPr algn="l">
              <a:lnSpc>
                <a:spcPct val="108000"/>
              </a:lnSpc>
              <a:spcBef>
                <a:spcPts val="0"/>
              </a:spcBef>
              <a:spcAft>
                <a:spcPts val="0"/>
              </a:spcAft>
            </a:pPr>
            <a:r>
              <a:rPr sz="3200" b="0">
                <a:solidFill>
                  <a:srgbClr val="313131"/>
                </a:solidFill>
                <a:latin typeface="Roboto Mono"/>
              </a:rPr>
              <a:t>    output.transpose(0, 1).contiguous()</a:t>
            </a:r>
          </a:p>
          <a:p>
            <a:pPr algn="l">
              <a:lnSpc>
                <a:spcPct val="108000"/>
              </a:lnSpc>
              <a:spcBef>
                <a:spcPts val="0"/>
              </a:spcBef>
              <a:spcAft>
                <a:spcPts val="0"/>
              </a:spcAft>
            </a:pPr>
            <a:r>
              <a:rPr sz="3200" b="0">
                <a:solidFill>
                  <a:srgbClr val="313131"/>
                </a:solidFill>
                <a:latin typeface="Roboto Mono"/>
              </a:rPr>
              <a:t>    .reshape(bs, seqlen, shard_hc, hs)</a:t>
            </a:r>
          </a:p>
          <a:p>
            <a:pPr algn="l">
              <a:lnSpc>
                <a:spcPct val="108000"/>
              </a:lnSpc>
              <a:spcBef>
                <a:spcPts val="0"/>
              </a:spcBef>
              <a:spcAft>
                <a:spcPts val="0"/>
              </a:spcAft>
            </a:pPr>
            <a:r>
              <a:rPr sz="3200" b="0">
                <a:solidFill>
                  <a:srgbClr val="313131"/>
                </a:solidFill>
                <a:latin typeface="Roboto Mono"/>
              </a:rPr>
              <a:t>)</a:t>
            </a:r>
          </a:p>
        </p:txBody>
      </p:sp>
      <p:sp>
        <p:nvSpPr>
          <p:cNvPr id="11" name="Ulysses entry · Q / K / V"/>
          <p:cNvSpPr txBox="1"/>
          <p:nvPr/>
        </p:nvSpPr>
        <p:spPr>
          <a:xfrm>
            <a:off x="23591520" y="5120640"/>
            <a:ext cx="11155680" cy="73152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Ulysses entry · Q / K / V</a:t>
            </a:r>
          </a:p>
        </p:txBody>
      </p:sp>
      <p:sp>
        <p:nvSpPr>
          <p:cNvPr id="12" name="Original query call site"/>
          <p:cNvSpPr txBox="1"/>
          <p:nvPr/>
        </p:nvSpPr>
        <p:spPr>
          <a:xfrm>
            <a:off x="23591520" y="6126480"/>
            <a:ext cx="11155680" cy="2926080"/>
          </a:xfrm>
          <a:prstGeom prst="rect">
            <a:avLst/>
          </a:prstGeom>
          <a:noFill/>
        </p:spPr>
        <p:txBody>
          <a:bodyPr wrap="none" lIns="0" rIns="0" tIns="0" bIns="0">
            <a:spAutoFit/>
          </a:bodyPr>
          <a:lstStyle/>
          <a:p>
            <a:pPr algn="l">
              <a:lnSpc>
                <a:spcPct val="108000"/>
              </a:lnSpc>
              <a:spcBef>
                <a:spcPts val="0"/>
              </a:spcBef>
              <a:spcAft>
                <a:spcPts val="0"/>
              </a:spcAft>
            </a:pPr>
            <a:r>
              <a:rPr sz="2700" b="0">
                <a:solidFill>
                  <a:srgbClr val="313131"/>
                </a:solidFill>
                <a:latin typeface="Roboto Mono"/>
              </a:rPr>
              <a:t>query = SeqAllToAll4D.apply(</a:t>
            </a:r>
          </a:p>
          <a:p>
            <a:pPr algn="l">
              <a:lnSpc>
                <a:spcPct val="108000"/>
              </a:lnSpc>
              <a:spcBef>
                <a:spcPts val="0"/>
              </a:spcBef>
              <a:spcAft>
                <a:spcPts val="0"/>
              </a:spcAft>
            </a:pPr>
            <a:r>
              <a:rPr sz="2700" b="0">
                <a:solidFill>
                  <a:srgbClr val="313131"/>
                </a:solidFill>
                <a:latin typeface="Roboto Mono"/>
              </a:rPr>
              <a:t>    self._ulysses_pg, query,</a:t>
            </a:r>
          </a:p>
          <a:p>
            <a:pPr algn="l">
              <a:lnSpc>
                <a:spcPct val="108000"/>
              </a:lnSpc>
              <a:spcBef>
                <a:spcPts val="0"/>
              </a:spcBef>
              <a:spcAft>
                <a:spcPts val="0"/>
              </a:spcAft>
            </a:pPr>
            <a:r>
              <a:rPr sz="2700" b="0">
                <a:solidFill>
                  <a:srgbClr val="313131"/>
                </a:solidFill>
                <a:latin typeface="Roboto Mono"/>
              </a:rPr>
              <a:t>    self._scatter_idx,</a:t>
            </a:r>
          </a:p>
          <a:p>
            <a:pPr algn="l">
              <a:lnSpc>
                <a:spcPct val="108000"/>
              </a:lnSpc>
              <a:spcBef>
                <a:spcPts val="0"/>
              </a:spcBef>
              <a:spcAft>
                <a:spcPts val="0"/>
              </a:spcAft>
            </a:pPr>
            <a:r>
              <a:rPr sz="2700" b="0">
                <a:solidFill>
                  <a:srgbClr val="313131"/>
                </a:solidFill>
                <a:latin typeface="Roboto Mono"/>
              </a:rPr>
              <a:t>    self._gather_idx, self._use_sync</a:t>
            </a:r>
          </a:p>
          <a:p>
            <a:pPr algn="l">
              <a:lnSpc>
                <a:spcPct val="108000"/>
              </a:lnSpc>
              <a:spcBef>
                <a:spcPts val="0"/>
              </a:spcBef>
              <a:spcAft>
                <a:spcPts val="0"/>
              </a:spcAft>
            </a:pPr>
            <a:r>
              <a:rPr sz="2700" b="0">
                <a:solidFill>
                  <a:srgbClr val="313131"/>
                </a:solidFill>
                <a:latin typeface="Roboto Mono"/>
              </a:rPr>
              <a:t>)</a:t>
            </a:r>
          </a:p>
        </p:txBody>
      </p:sp>
      <p:sp>
        <p:nvSpPr>
          <p:cNvPr id="13" name="Key and value use the same call."/>
          <p:cNvSpPr txBox="1"/>
          <p:nvPr/>
        </p:nvSpPr>
        <p:spPr>
          <a:xfrm>
            <a:off x="23591520" y="9235440"/>
            <a:ext cx="11155680" cy="594360"/>
          </a:xfrm>
          <a:prstGeom prst="rect">
            <a:avLst/>
          </a:prstGeom>
          <a:noFill/>
        </p:spPr>
        <p:txBody>
          <a:bodyPr wrap="square" lIns="0" rIns="0" tIns="0" bIns="0">
            <a:spAutoFit/>
          </a:bodyPr>
          <a:lstStyle/>
          <a:p>
            <a:pPr algn="l">
              <a:lnSpc>
                <a:spcPct val="108000"/>
              </a:lnSpc>
              <a:spcBef>
                <a:spcPts val="0"/>
              </a:spcBef>
              <a:spcAft>
                <a:spcPts val="1200"/>
              </a:spcAft>
            </a:pPr>
            <a:r>
              <a:rPr sz="2700" b="0">
                <a:solidFill>
                  <a:srgbClr val="313131"/>
                </a:solidFill>
                <a:latin typeface="NVIDIA Sans"/>
              </a:rPr>
              <a:t>Key and value use the same call.</a:t>
            </a:r>
          </a:p>
        </p:txBody>
      </p:sp>
      <p:sp>
        <p:nvSpPr>
          <p:cNvPr id="14" name="Ulysses exit · reverse O"/>
          <p:cNvSpPr txBox="1"/>
          <p:nvPr/>
        </p:nvSpPr>
        <p:spPr>
          <a:xfrm>
            <a:off x="23591520" y="10287000"/>
            <a:ext cx="11155680" cy="73152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Ulysses exit · reverse O</a:t>
            </a:r>
          </a:p>
        </p:txBody>
      </p:sp>
      <p:sp>
        <p:nvSpPr>
          <p:cNvPr id="15" name="Original output reverse call site"/>
          <p:cNvSpPr txBox="1"/>
          <p:nvPr/>
        </p:nvSpPr>
        <p:spPr>
          <a:xfrm>
            <a:off x="23591520" y="11292840"/>
            <a:ext cx="11155680" cy="3200400"/>
          </a:xfrm>
          <a:prstGeom prst="rect">
            <a:avLst/>
          </a:prstGeom>
          <a:noFill/>
        </p:spPr>
        <p:txBody>
          <a:bodyPr wrap="none" lIns="0" rIns="0" tIns="0" bIns="0">
            <a:spAutoFit/>
          </a:bodyPr>
          <a:lstStyle/>
          <a:p>
            <a:pPr algn="l">
              <a:lnSpc>
                <a:spcPct val="108000"/>
              </a:lnSpc>
              <a:spcBef>
                <a:spcPts val="0"/>
              </a:spcBef>
              <a:spcAft>
                <a:spcPts val="0"/>
              </a:spcAft>
            </a:pPr>
            <a:r>
              <a:rPr sz="2700" b="0">
                <a:solidFill>
                  <a:srgbClr val="313131"/>
                </a:solidFill>
                <a:latin typeface="Roboto Mono"/>
              </a:rPr>
              <a:t>return SeqAllToAll4D.apply(</a:t>
            </a:r>
          </a:p>
          <a:p>
            <a:pPr algn="l">
              <a:lnSpc>
                <a:spcPct val="108000"/>
              </a:lnSpc>
              <a:spcBef>
                <a:spcPts val="0"/>
              </a:spcBef>
              <a:spcAft>
                <a:spcPts val="0"/>
              </a:spcAft>
            </a:pPr>
            <a:r>
              <a:rPr sz="2700" b="0">
                <a:solidFill>
                  <a:srgbClr val="313131"/>
                </a:solidFill>
                <a:latin typeface="Roboto Mono"/>
              </a:rPr>
              <a:t>    ctx.ulysses_pg, attn_output,</a:t>
            </a:r>
          </a:p>
          <a:p>
            <a:pPr algn="l">
              <a:lnSpc>
                <a:spcPct val="108000"/>
              </a:lnSpc>
              <a:spcBef>
                <a:spcPts val="0"/>
              </a:spcBef>
              <a:spcAft>
                <a:spcPts val="0"/>
              </a:spcAft>
            </a:pPr>
            <a:r>
              <a:rPr sz="2700" b="0">
                <a:solidFill>
                  <a:srgbClr val="313131"/>
                </a:solidFill>
                <a:latin typeface="Roboto Mono"/>
              </a:rPr>
              <a:t>    ctx.gather_idx, ctx.scatter_idx,</a:t>
            </a:r>
          </a:p>
          <a:p>
            <a:pPr algn="l">
              <a:lnSpc>
                <a:spcPct val="108000"/>
              </a:lnSpc>
              <a:spcBef>
                <a:spcPts val="0"/>
              </a:spcBef>
              <a:spcAft>
                <a:spcPts val="0"/>
              </a:spcAft>
            </a:pPr>
            <a:r>
              <a:rPr sz="2700" b="0">
                <a:solidFill>
                  <a:srgbClr val="313131"/>
                </a:solidFill>
                <a:latin typeface="Roboto Mono"/>
              </a:rPr>
              <a:t>    ctx.use_sync</a:t>
            </a:r>
          </a:p>
          <a:p>
            <a:pPr algn="l">
              <a:lnSpc>
                <a:spcPct val="108000"/>
              </a:lnSpc>
              <a:spcBef>
                <a:spcPts val="0"/>
              </a:spcBef>
              <a:spcAft>
                <a:spcPts val="0"/>
              </a:spcAft>
            </a:pPr>
            <a:r>
              <a:rPr sz="2700" b="0">
                <a:solidFill>
                  <a:srgbClr val="313131"/>
                </a:solidFill>
                <a:latin typeface="Roboto Mono"/>
              </a:rPr>
              <a:t>)</a:t>
            </a:r>
          </a:p>
        </p:txBody>
      </p:sp>
      <p:sp>
        <p:nvSpPr>
          <p:cNvPr id="16" name="Dense Base50: four exchanges"/>
          <p:cNvSpPr txBox="1"/>
          <p:nvPr/>
        </p:nvSpPr>
        <p:spPr>
          <a:xfrm>
            <a:off x="182880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Dense Base50: four exchanges</a:t>
            </a:r>
          </a:p>
        </p:txBody>
      </p:sp>
      <p:sp>
        <p:nvSpPr>
          <p:cNvPr id="17" name="Q / K / V, then O. A VSA gate adds"/>
          <p:cNvSpPr txBox="1"/>
          <p:nvPr/>
        </p:nvSpPr>
        <p:spPr>
          <a:xfrm>
            <a:off x="182880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Q / K / V, then O. A VSA gate adds</a:t>
            </a:r>
          </a:p>
          <a:p>
            <a:pPr algn="l">
              <a:lnSpc>
                <a:spcPct val="108000"/>
              </a:lnSpc>
              <a:spcBef>
                <a:spcPts val="0"/>
              </a:spcBef>
              <a:spcAft>
                <a:spcPts val="1200"/>
              </a:spcAft>
            </a:pPr>
            <a:r>
              <a:rPr sz="2800" b="0">
                <a:solidFill>
                  <a:srgbClr val="313131"/>
                </a:solidFill>
                <a:latin typeface="NVIDIA Sans"/>
              </a:rPr>
              <a:t>another exchange when present.</a:t>
            </a:r>
          </a:p>
        </p:txBody>
      </p:sp>
      <p:sp>
        <p:nvSpPr>
          <p:cNvPr id="18" name="Layout work surrounds transport"/>
          <p:cNvSpPr txBox="1"/>
          <p:nvPr/>
        </p:nvSpPr>
        <p:spPr>
          <a:xfrm>
            <a:off x="1307592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Layout work surrounds transport</a:t>
            </a:r>
          </a:p>
        </p:txBody>
      </p:sp>
      <p:sp>
        <p:nvSpPr>
          <p:cNvPr id="19" name="Pack input, allocate output, restore layout."/>
          <p:cNvSpPr txBox="1"/>
          <p:nvPr/>
        </p:nvSpPr>
        <p:spPr>
          <a:xfrm>
            <a:off x="1307592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Pack input, allocate output, restore layout.</a:t>
            </a:r>
          </a:p>
          <a:p>
            <a:pPr algn="l">
              <a:lnSpc>
                <a:spcPct val="108000"/>
              </a:lnSpc>
              <a:spcBef>
                <a:spcPts val="0"/>
              </a:spcBef>
              <a:spcAft>
                <a:spcPts val="1200"/>
              </a:spcAft>
            </a:pPr>
            <a:r>
              <a:rPr sz="2800" b="0">
                <a:solidFill>
                  <a:srgbClr val="313131"/>
                </a:solidFill>
                <a:latin typeface="NVIDIA Sans"/>
              </a:rPr>
              <a:t>At B = 1, Q/K/V output can be a view.</a:t>
            </a:r>
          </a:p>
        </p:txBody>
      </p:sp>
      <p:sp>
        <p:nvSpPr>
          <p:cNvPr id="20" name="NCCL selects the physical route"/>
          <p:cNvSpPr txBox="1"/>
          <p:nvPr/>
        </p:nvSpPr>
        <p:spPr>
          <a:xfrm>
            <a:off x="2432304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NCCL selects the physical route</a:t>
            </a:r>
          </a:p>
        </p:txBody>
      </p:sp>
      <p:sp>
        <p:nvSpPr>
          <p:cNvPr id="21" name="P2P / SHM / NET depend on"/>
          <p:cNvSpPr txBox="1"/>
          <p:nvPr/>
        </p:nvSpPr>
        <p:spPr>
          <a:xfrm>
            <a:off x="2432304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P2P / SHM / NET depend on</a:t>
            </a:r>
          </a:p>
          <a:p>
            <a:pPr algn="l">
              <a:lnSpc>
                <a:spcPct val="108000"/>
              </a:lnSpc>
              <a:spcBef>
                <a:spcPts val="0"/>
              </a:spcBef>
              <a:spcAft>
                <a:spcPts val="1200"/>
              </a:spcAft>
            </a:pPr>
            <a:r>
              <a:rPr sz="2800" b="0">
                <a:solidFill>
                  <a:srgbClr val="313131"/>
                </a:solidFill>
                <a:latin typeface="NVIDIA Sans"/>
              </a:rPr>
              <a:t>topology and runtime settings.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Use bands of 2, 3 and 2 heads per GPU to overlap communication with attention</a:t>
            </a:r>
          </a:p>
        </p:txBody>
      </p:sp>
      <p:sp>
        <p:nvSpPr>
          <p:cNvPr id="4" name="Title 3"/>
          <p:cNvSpPr>
            <a:spLocks noGrp="1"/>
          </p:cNvSpPr>
          <p:nvPr>
            <p:ph type="title"/>
          </p:nvPr>
        </p:nvSpPr>
        <p:spPr/>
        <p:txBody>
          <a:bodyPr/>
          <a:lstStyle/>
          <a:p>
            <a:r>
              <a:t>Pipeline Ulysses by Head Bands</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Selected schedule: 2 / 3 / 2 · dependency schematic, not a measured Nsight timeline</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14</a:t>
            </a:fld>
            <a:endParaRPr lang="en-US"/>
          </a:p>
        </p:txBody>
      </p:sp>
      <p:sp>
        <p:nvSpPr>
          <p:cNvPr id="8" name="Start earlier"/>
          <p:cNvSpPr txBox="1"/>
          <p:nvPr/>
        </p:nvSpPr>
        <p:spPr>
          <a:xfrm>
            <a:off x="182880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Start earlier</a:t>
            </a:r>
          </a:p>
        </p:txBody>
      </p:sp>
      <p:sp>
        <p:nvSpPr>
          <p:cNvPr id="9" name="Run the first two heads as soon as their full-sequence inputs arrive."/>
          <p:cNvSpPr txBox="1"/>
          <p:nvPr/>
        </p:nvSpPr>
        <p:spPr>
          <a:xfrm>
            <a:off x="182880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Run the first two heads as soon as their full-sequence inputs arrive.</a:t>
            </a:r>
          </a:p>
        </p:txBody>
      </p:sp>
      <p:sp>
        <p:nvSpPr>
          <p:cNvPr id="10" name="Overlap across bands"/>
          <p:cNvSpPr txBox="1"/>
          <p:nvPr/>
        </p:nvSpPr>
        <p:spPr>
          <a:xfrm>
            <a:off x="1307592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Overlap across bands</a:t>
            </a:r>
          </a:p>
        </p:txBody>
      </p:sp>
      <p:sp>
        <p:nvSpPr>
          <p:cNvPr id="11" name="Transfer the next band while current-band attention executes."/>
          <p:cNvSpPr txBox="1"/>
          <p:nvPr/>
        </p:nvSpPr>
        <p:spPr>
          <a:xfrm>
            <a:off x="1307592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Transfer the next band while current-band attention executes.</a:t>
            </a:r>
          </a:p>
        </p:txBody>
      </p:sp>
      <p:sp>
        <p:nvSpPr>
          <p:cNvPr id="12" name="Then reduce launch cost"/>
          <p:cNvSpPr txBox="1"/>
          <p:nvPr/>
        </p:nvSpPr>
        <p:spPr>
          <a:xfrm>
            <a:off x="2432304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Pipeline adds repeated submissions</a:t>
            </a:r>
          </a:p>
        </p:txBody>
      </p:sp>
      <p:sp>
        <p:nvSpPr>
          <p:cNvPr id="13" name="Repeated small compute islands motivate CUDA Graph replay."/>
          <p:cNvSpPr txBox="1"/>
          <p:nvPr/>
        </p:nvSpPr>
        <p:spPr>
          <a:xfrm>
            <a:off x="2432304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Each band adds compute submissions.</a:t>
            </a:r>
            <a:br>
              <a:rPr sz="3000" b="0">
                <a:solidFill>
                  <a:srgbClr val="313131"/>
                </a:solidFill>
                <a:latin typeface="NVIDIA Sans"/>
              </a:rPr>
            </a:br>
            <a:r>
              <a:rPr sz="3000" b="0">
                <a:solidFill>
                  <a:srgbClr val="313131"/>
                </a:solidFill>
                <a:latin typeface="NVIDIA Sans"/>
              </a:rPr>
              <a:t>Graph replay becomes more valuable.</a:t>
            </a:r>
          </a:p>
        </p:txBody>
      </p:sp>
      <p:pic>
        <p:nvPicPr>
          <p:cNvPr id="14" name="Three-band Ulysses dependency schedule" descr="slide-17-diagram.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28801" y="5326380"/>
            <a:ext cx="32918397" cy="11109958"/>
          </a:xfrm>
          <a:prstGeom prst="rect">
            <a:avLst/>
          </a:prstGeom>
          <a:ln w="9525">
            <a:solidFill>
              <a:srgbClr val="A7A7A7"/>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Graph replay works before banding; smaller bands increase repeated compute submission work</a:t>
            </a:r>
          </a:p>
        </p:txBody>
      </p:sp>
      <p:sp>
        <p:nvSpPr>
          <p:cNvPr id="4" name="Title 3"/>
          <p:cNvSpPr>
            <a:spLocks noGrp="1"/>
          </p:cNvSpPr>
          <p:nvPr>
            <p:ph type="title"/>
          </p:nvPr>
        </p:nvSpPr>
        <p:spPr/>
        <p:txBody>
          <a:bodyPr/>
          <a:lstStyle/>
          <a:p>
            <a:r>
              <a:t>Head Bands Make CUDA Graph More Valuable</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Retained four-arm measurements · 12 counterbalanced rounds × 20 repeats · conceptual timeline · no matched 2 / 3 / 2 result</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15</a:t>
            </a:fld>
            <a:endParaRPr lang="en-US"/>
          </a:p>
        </p:txBody>
      </p:sp>
      <p:pic>
        <p:nvPicPr>
          <p:cNvPr id="7" name="CUDA Graph after Ulysses head pipelining" descr="cuda-graph-pipeline.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28800" y="5121920"/>
            <a:ext cx="22311360" cy="10330159"/>
          </a:xfrm>
          <a:prstGeom prst="rect">
            <a:avLst/>
          </a:prstGeom>
          <a:ln w="9525">
            <a:solidFill>
              <a:srgbClr val="A7A7A7"/>
            </a:solidFill>
          </a:ln>
        </p:spPr>
      </p:pic>
      <p:sp>
        <p:nvSpPr>
          <p:cNvPr id="8" name="Banding strengthens the need"/>
          <p:cNvSpPr txBox="1"/>
          <p:nvPr/>
        </p:nvSpPr>
        <p:spPr>
          <a:xfrm>
            <a:off x="25146000" y="525780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Banding strengthens the need</a:t>
            </a:r>
          </a:p>
        </p:txBody>
      </p:sp>
      <p:sp>
        <p:nvSpPr>
          <p:cNvPr id="9" name="Each band repeats unpack, Top-K,"/>
          <p:cNvSpPr txBox="1"/>
          <p:nvPr/>
        </p:nvSpPr>
        <p:spPr>
          <a:xfrm>
            <a:off x="25146000" y="630936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Each band repeats unpack, Top-K,</a:t>
            </a:r>
          </a:p>
          <a:p>
            <a:pPr algn="l">
              <a:lnSpc>
                <a:spcPct val="108000"/>
              </a:lnSpc>
              <a:spcBef>
                <a:spcPts val="0"/>
              </a:spcBef>
              <a:spcAft>
                <a:spcPts val="1200"/>
              </a:spcAft>
            </a:pPr>
            <a:r>
              <a:rPr sz="2800" b="0">
                <a:solidFill>
                  <a:srgbClr val="313131"/>
                </a:solidFill>
                <a:latin typeface="NVIDIA Sans"/>
              </a:rPr>
              <a:t>attention and pack submissions.</a:t>
            </a:r>
          </a:p>
        </p:txBody>
      </p:sp>
      <p:sp>
        <p:nvSpPr>
          <p:cNvPr id="10" name="A stable workload fits replay"/>
          <p:cNvSpPr txBox="1"/>
          <p:nvPr/>
        </p:nvSpPr>
        <p:spPr>
          <a:xfrm>
            <a:off x="25146000" y="832104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A stable workload fits replay</a:t>
            </a:r>
          </a:p>
        </p:txBody>
      </p:sp>
      <p:sp>
        <p:nvSpPr>
          <p:cNvPr id="11" name="Fixed shapes and registered buffers;"/>
          <p:cNvSpPr txBox="1"/>
          <p:nvPr/>
        </p:nvSpPr>
        <p:spPr>
          <a:xfrm>
            <a:off x="25146000" y="937260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Fixed shapes and registered buffers;</a:t>
            </a:r>
          </a:p>
          <a:p>
            <a:pPr algn="l">
              <a:lnSpc>
                <a:spcPct val="108000"/>
              </a:lnSpc>
              <a:spcBef>
                <a:spcPts val="0"/>
              </a:spcBef>
              <a:spcAft>
                <a:spcPts val="1200"/>
              </a:spcAft>
            </a:pPr>
            <a:r>
              <a:rPr sz="2800" b="0">
                <a:solidFill>
                  <a:srgbClr val="313131"/>
                </a:solidFill>
                <a:latin typeface="NVIDIA Sans"/>
              </a:rPr>
              <a:t>tensor values may change.</a:t>
            </a:r>
          </a:p>
        </p:txBody>
      </p:sp>
      <p:sp>
        <p:nvSpPr>
          <p:cNvPr id="12" name="400 calls amortize capture"/>
          <p:cNvSpPr txBox="1"/>
          <p:nvPr/>
        </p:nvSpPr>
        <p:spPr>
          <a:xfrm>
            <a:off x="25146000" y="1138428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400 calls amortize capture</a:t>
            </a:r>
          </a:p>
        </p:txBody>
      </p:sp>
      <p:sp>
        <p:nvSpPr>
          <p:cNvPr id="13" name="Each band repeats over 50 blocks"/>
          <p:cNvSpPr txBox="1"/>
          <p:nvPr/>
        </p:nvSpPr>
        <p:spPr>
          <a:xfrm>
            <a:off x="25146000" y="1243584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Each band repeats over 50 blocks</a:t>
            </a:r>
          </a:p>
          <a:p>
            <a:pPr algn="l">
              <a:lnSpc>
                <a:spcPct val="108000"/>
              </a:lnSpc>
              <a:spcBef>
                <a:spcPts val="0"/>
              </a:spcBef>
              <a:spcAft>
                <a:spcPts val="1200"/>
              </a:spcAft>
            </a:pPr>
            <a:r>
              <a:rPr sz="2800" b="0">
                <a:solidFill>
                  <a:srgbClr val="313131"/>
                </a:solidFill>
                <a:latin typeface="NVIDIA Sans"/>
              </a:rPr>
              <a:t>and eight model evaluations.</a:t>
            </a:r>
          </a:p>
        </p:txBody>
      </p:sp>
      <p:sp>
        <p:nvSpPr>
          <p:cNvPr id="14" name="Capture compute only. RDMA, readiness"/>
          <p:cNvSpPr txBox="1"/>
          <p:nvPr/>
        </p:nvSpPr>
        <p:spPr>
          <a:xfrm>
            <a:off x="25146000" y="14356080"/>
            <a:ext cx="9601200" cy="1463040"/>
          </a:xfrm>
          <a:prstGeom prst="rect">
            <a:avLst/>
          </a:prstGeom>
          <a:noFill/>
        </p:spPr>
        <p:txBody>
          <a:bodyPr wrap="square" lIns="0" rIns="0" tIns="0" bIns="0">
            <a:spAutoFit/>
          </a:bodyPr>
          <a:lstStyle/>
          <a:p>
            <a:pPr algn="l">
              <a:lnSpc>
                <a:spcPct val="108000"/>
              </a:lnSpc>
              <a:spcBef>
                <a:spcPts val="0"/>
              </a:spcBef>
              <a:spcAft>
                <a:spcPts val="1200"/>
              </a:spcAft>
            </a:pPr>
            <a:r>
              <a:rPr sz="2500" b="0">
                <a:solidFill>
                  <a:srgbClr val="313131"/>
                </a:solidFill>
                <a:latin typeface="NVIDIA Sans"/>
              </a:rPr>
              <a:t>Capture compute only. RDMA, readiness</a:t>
            </a:r>
          </a:p>
          <a:p>
            <a:pPr algn="l">
              <a:lnSpc>
                <a:spcPct val="108000"/>
              </a:lnSpc>
              <a:spcBef>
                <a:spcPts val="0"/>
              </a:spcBef>
              <a:spcAft>
                <a:spcPts val="1200"/>
              </a:spcAft>
            </a:pPr>
            <a:r>
              <a:rPr sz="2500" b="0">
                <a:solidFill>
                  <a:srgbClr val="313131"/>
                </a:solidFill>
                <a:latin typeface="NVIDIA Sans"/>
              </a:rPr>
              <a:t>events and full W_O stay outside.</a:t>
            </a:r>
          </a:p>
        </p:txBody>
      </p:sp>
      <p:sp>
        <p:nvSpPr>
          <p:cNvPr id="15" name="Single-GPU compute experiment · historical 1 / 2 / 3 / 1 · no communication"/>
          <p:cNvSpPr txBox="1"/>
          <p:nvPr/>
        </p:nvSpPr>
        <p:spPr>
          <a:xfrm>
            <a:off x="1828800" y="15910559"/>
            <a:ext cx="32918400" cy="594360"/>
          </a:xfrm>
          <a:prstGeom prst="rect">
            <a:avLst/>
          </a:prstGeom>
          <a:noFill/>
        </p:spPr>
        <p:txBody>
          <a:bodyPr wrap="square" lIns="0" rIns="0" tIns="0" bIns="0">
            <a:spAutoFit/>
          </a:bodyPr>
          <a:lstStyle/>
          <a:p>
            <a:pPr algn="l">
              <a:lnSpc>
                <a:spcPct val="108000"/>
              </a:lnSpc>
              <a:spcBef>
                <a:spcPts val="0"/>
              </a:spcBef>
              <a:spcAft>
                <a:spcPts val="1200"/>
              </a:spcAft>
            </a:pPr>
            <a:r>
              <a:rPr sz="2600" b="0">
                <a:solidFill>
                  <a:srgbClr val="313131"/>
                </a:solidFill>
                <a:latin typeface="NVIDIA Sans"/>
              </a:rPr>
              <a:t>Single-GPU compute experiment · historical 1 / 2 / 3 / 1 · no communication</a:t>
            </a:r>
          </a:p>
        </p:txBody>
      </p:sp>
      <p:graphicFrame>
        <p:nvGraphicFramePr>
          <p:cNvPr id="16" name="Table 15"/>
          <p:cNvGraphicFramePr>
            <a:graphicFrameLocks noGrp="1"/>
          </p:cNvGraphicFramePr>
          <p:nvPr/>
        </p:nvGraphicFramePr>
        <p:xfrm>
          <a:off x="1828800" y="16687800"/>
          <a:ext cx="20665439" cy="2286000"/>
        </p:xfrm>
        <a:graphic>
          <a:graphicData uri="http://schemas.openxmlformats.org/drawingml/2006/table">
            <a:tbl>
              <a:tblPr firstRow="1" bandRow="1">
                <a:tableStyleId>{68D230F3-CF80-4859-8CE7-A43EE81993B5}</a:tableStyleId>
              </a:tblPr>
              <a:tblGrid>
                <a:gridCol w="7498079"/>
                <a:gridCol w="4389120"/>
                <a:gridCol w="4389120"/>
                <a:gridCol w="4389120"/>
              </a:tblGrid>
              <a:tr h="762000">
                <a:tc>
                  <a:txBody>
                    <a:bodyPr wrap="square"/>
                    <a:lstStyle/>
                    <a:p>
                      <a:pPr algn="ctr">
                        <a:lnSpc>
                          <a:spcPct val="100000"/>
                        </a:lnSpc>
                        <a:spcBef>
                          <a:spcPts val="0"/>
                        </a:spcBef>
                        <a:spcAft>
                          <a:spcPts val="0"/>
                        </a:spcAft>
                      </a:pPr>
                      <a:r>
                        <a:rPr sz="3600" b="0" i="0">
                          <a:solidFill>
                            <a:srgbClr val="76B900"/>
                          </a:solidFill>
                          <a:latin typeface="NVIDIA Sans Medium"/>
                        </a:rPr>
                        <a:t>Head layout</a:t>
                      </a:r>
                    </a:p>
                  </a:txBody>
                  <a:tcPr marL="36576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Eager ms</a:t>
                      </a:r>
                    </a:p>
                  </a:txBody>
                  <a:tcPr marL="18288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Graph ms</a:t>
                      </a:r>
                    </a:p>
                  </a:txBody>
                  <a:tcPr marL="18288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Reduction</a:t>
                      </a:r>
                    </a:p>
                  </a:txBody>
                  <a:tcPr marL="182880" marR="182880" marT="91440" marB="91440" anchor="ctr"/>
                </a:tc>
              </a:tr>
              <a:tr h="762000">
                <a:tc>
                  <a:txBody>
                    <a:bodyPr wrap="square"/>
                    <a:lstStyle/>
                    <a:p>
                      <a:pPr algn="l">
                        <a:lnSpc>
                          <a:spcPct val="100000"/>
                        </a:lnSpc>
                        <a:spcBef>
                          <a:spcPts val="0"/>
                        </a:spcBef>
                        <a:spcAft>
                          <a:spcPts val="0"/>
                        </a:spcAft>
                      </a:pPr>
                      <a:r>
                        <a:rPr sz="2800" b="0" i="0">
                          <a:solidFill>
                            <a:srgbClr val="000000"/>
                          </a:solidFill>
                          <a:latin typeface="NVIDIA Sans Medium"/>
                        </a:rPr>
                        <a:t>All 7 heads</a:t>
                      </a:r>
                    </a:p>
                  </a:txBody>
                  <a:tcPr marL="36576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11.703</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11.658</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0.39%</a:t>
                      </a:r>
                    </a:p>
                  </a:txBody>
                  <a:tcPr marL="182880" marR="182880" marT="91440" marB="91440" anchor="ctr"/>
                </a:tc>
              </a:tr>
              <a:tr h="762000">
                <a:tc>
                  <a:txBody>
                    <a:bodyPr wrap="square"/>
                    <a:lstStyle/>
                    <a:p>
                      <a:pPr algn="l">
                        <a:lnSpc>
                          <a:spcPct val="100000"/>
                        </a:lnSpc>
                        <a:spcBef>
                          <a:spcPts val="0"/>
                        </a:spcBef>
                        <a:spcAft>
                          <a:spcPts val="0"/>
                        </a:spcAft>
                      </a:pPr>
                      <a:r>
                        <a:rPr sz="2800" b="0" i="0">
                          <a:solidFill>
                            <a:srgbClr val="000000"/>
                          </a:solidFill>
                          <a:latin typeface="NVIDIA Sans Medium"/>
                        </a:rPr>
                        <a:t>Bands 1 / 2 / 3 / 1</a:t>
                      </a:r>
                    </a:p>
                  </a:txBody>
                  <a:tcPr marL="36576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12.323</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12.040</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2.30%</a:t>
                      </a:r>
                    </a:p>
                  </a:txBody>
                  <a:tcPr marL="182880" marR="182880" marT="91440" marB="91440" anchor="ctr"/>
                </a:tc>
              </a:tr>
            </a:tbl>
          </a:graphicData>
        </a:graphic>
      </p:graphicFrame>
      <p:sp>
        <p:nvSpPr>
          <p:cNvPr id="17" name="Banding still adds compute cost."/>
          <p:cNvSpPr txBox="1"/>
          <p:nvPr/>
        </p:nvSpPr>
        <p:spPr>
          <a:xfrm>
            <a:off x="23774400" y="16733520"/>
            <a:ext cx="10972800" cy="20574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Banding still adds compute cost.</a:t>
            </a:r>
          </a:p>
          <a:p>
            <a:pPr algn="l">
              <a:lnSpc>
                <a:spcPct val="108000"/>
              </a:lnSpc>
              <a:spcBef>
                <a:spcPts val="0"/>
              </a:spcBef>
              <a:spcAft>
                <a:spcPts val="1200"/>
              </a:spcAft>
            </a:pPr>
            <a:r>
              <a:rPr sz="2800" b="0">
                <a:solidFill>
                  <a:srgbClr val="313131"/>
                </a:solidFill>
                <a:latin typeface="NVIDIA Sans"/>
              </a:rPr>
              <a:t>End-to-end gains require enough</a:t>
            </a:r>
          </a:p>
          <a:p>
            <a:pPr algn="l">
              <a:lnSpc>
                <a:spcPct val="108000"/>
              </a:lnSpc>
              <a:spcBef>
                <a:spcPts val="0"/>
              </a:spcBef>
              <a:spcAft>
                <a:spcPts val="1200"/>
              </a:spcAft>
            </a:pPr>
            <a:r>
              <a:rPr sz="2800" b="0">
                <a:solidFill>
                  <a:srgbClr val="313131"/>
                </a:solidFill>
                <a:latin typeface="NVIDIA Sans"/>
              </a:rPr>
              <a:t>communication overlap to repay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able header"/>
          <p:cNvSpPr/>
          <p:nvPr/>
        </p:nvSpPr>
        <p:spPr>
          <a:xfrm>
            <a:off x="1828800" y="4709160"/>
            <a:ext cx="32918400" cy="1234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ader Stage"/>
          <p:cNvSpPr txBox="1"/>
          <p:nvPr/>
        </p:nvSpPr>
        <p:spPr>
          <a:xfrm>
            <a:off x="1965960" y="4892040"/>
            <a:ext cx="173736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Stage</a:t>
            </a:r>
          </a:p>
        </p:txBody>
      </p:sp>
      <p:sp>
        <p:nvSpPr>
          <p:cNvPr id="7" name="Header Cumulative change"/>
          <p:cNvSpPr txBox="1"/>
          <p:nvPr/>
        </p:nvSpPr>
        <p:spPr>
          <a:xfrm>
            <a:off x="4160520" y="4892040"/>
            <a:ext cx="1645920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Cumulative change</a:t>
            </a:r>
          </a:p>
        </p:txBody>
      </p:sp>
      <p:sp>
        <p:nvSpPr>
          <p:cNvPr id="8" name="Header Median (s)"/>
          <p:cNvSpPr txBox="1"/>
          <p:nvPr/>
        </p:nvSpPr>
        <p:spPr>
          <a:xfrm>
            <a:off x="21076919" y="4892040"/>
            <a:ext cx="356616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Median (s)</a:t>
            </a:r>
          </a:p>
        </p:txBody>
      </p:sp>
      <p:sp>
        <p:nvSpPr>
          <p:cNvPr id="9" name="Header E2E speedup&#10;vs. previous"/>
          <p:cNvSpPr txBox="1"/>
          <p:nvPr/>
        </p:nvSpPr>
        <p:spPr>
          <a:xfrm>
            <a:off x="25100280" y="4892040"/>
            <a:ext cx="603504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E2E speedup</a:t>
            </a:r>
          </a:p>
          <a:p>
            <a:pPr>
              <a:spcBef>
                <a:spcPts val="0"/>
              </a:spcBef>
              <a:spcAft>
                <a:spcPts val="0"/>
              </a:spcAft>
            </a:pPr>
            <a:r>
              <a:rPr sz="2800" b="0">
                <a:solidFill>
                  <a:srgbClr val="76B900"/>
                </a:solidFill>
                <a:latin typeface="NVIDIA Sans Medium"/>
              </a:rPr>
              <a:t>vs. previous</a:t>
            </a:r>
          </a:p>
        </p:txBody>
      </p:sp>
      <p:sp>
        <p:nvSpPr>
          <p:cNvPr id="10" name="Header RTF"/>
          <p:cNvSpPr txBox="1"/>
          <p:nvPr/>
        </p:nvSpPr>
        <p:spPr>
          <a:xfrm>
            <a:off x="31683960" y="4892040"/>
            <a:ext cx="292608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RTF</a:t>
            </a:r>
          </a:p>
        </p:txBody>
      </p:sp>
      <p:sp>
        <p:nvSpPr>
          <p:cNvPr id="11" name="Row background 0"/>
          <p:cNvSpPr/>
          <p:nvPr/>
        </p:nvSpPr>
        <p:spPr>
          <a:xfrm>
            <a:off x="1828800" y="609904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age 00 Stage"/>
          <p:cNvSpPr txBox="1"/>
          <p:nvPr/>
        </p:nvSpPr>
        <p:spPr>
          <a:xfrm>
            <a:off x="1965960" y="629107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00</a:t>
            </a:r>
          </a:p>
        </p:txBody>
      </p:sp>
      <p:sp>
        <p:nvSpPr>
          <p:cNvPr id="13" name="Stage 00 Cumulative change"/>
          <p:cNvSpPr txBox="1"/>
          <p:nvPr/>
        </p:nvSpPr>
        <p:spPr>
          <a:xfrm>
            <a:off x="4160520" y="629107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Baseline · original BF16 / dense / 50 evaluations</a:t>
            </a:r>
          </a:p>
        </p:txBody>
      </p:sp>
      <p:sp>
        <p:nvSpPr>
          <p:cNvPr id="14" name="Stage 00 Median (s)"/>
          <p:cNvSpPr txBox="1"/>
          <p:nvPr/>
        </p:nvSpPr>
        <p:spPr>
          <a:xfrm>
            <a:off x="21076919" y="629107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213.402</a:t>
            </a:r>
          </a:p>
        </p:txBody>
      </p:sp>
      <p:sp>
        <p:nvSpPr>
          <p:cNvPr id="15" name="Stage 00 E2E speedup&#10;vs. previous"/>
          <p:cNvSpPr txBox="1"/>
          <p:nvPr/>
        </p:nvSpPr>
        <p:spPr>
          <a:xfrm>
            <a:off x="25100280" y="629107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a:t>
            </a:r>
          </a:p>
        </p:txBody>
      </p:sp>
      <p:sp>
        <p:nvSpPr>
          <p:cNvPr id="16" name="Stage 00 RTF"/>
          <p:cNvSpPr txBox="1"/>
          <p:nvPr/>
        </p:nvSpPr>
        <p:spPr>
          <a:xfrm>
            <a:off x="31683960" y="629107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41.304</a:t>
            </a:r>
          </a:p>
        </p:txBody>
      </p:sp>
      <p:sp>
        <p:nvSpPr>
          <p:cNvPr id="17" name="Stage 01 Stage"/>
          <p:cNvSpPr txBox="1"/>
          <p:nvPr/>
        </p:nvSpPr>
        <p:spPr>
          <a:xfrm>
            <a:off x="1965960" y="7342631"/>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01</a:t>
            </a:r>
          </a:p>
        </p:txBody>
      </p:sp>
      <p:sp>
        <p:nvSpPr>
          <p:cNvPr id="18" name="Stage 01 Cumulative change"/>
          <p:cNvSpPr txBox="1"/>
          <p:nvPr/>
        </p:nvSpPr>
        <p:spPr>
          <a:xfrm>
            <a:off x="4160520" y="7342631"/>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PDD · 50 → 8 evaluations</a:t>
            </a:r>
          </a:p>
        </p:txBody>
      </p:sp>
      <p:sp>
        <p:nvSpPr>
          <p:cNvPr id="19" name="Stage 01 Median (s)"/>
          <p:cNvSpPr txBox="1"/>
          <p:nvPr/>
        </p:nvSpPr>
        <p:spPr>
          <a:xfrm>
            <a:off x="21076919" y="7342631"/>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44.327</a:t>
            </a:r>
          </a:p>
        </p:txBody>
      </p:sp>
      <p:sp>
        <p:nvSpPr>
          <p:cNvPr id="20" name="Stage 01 E2E speedup&#10;vs. previous"/>
          <p:cNvSpPr txBox="1"/>
          <p:nvPr/>
        </p:nvSpPr>
        <p:spPr>
          <a:xfrm>
            <a:off x="25100280" y="7342631"/>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4.814×†</a:t>
            </a:r>
          </a:p>
        </p:txBody>
      </p:sp>
      <p:sp>
        <p:nvSpPr>
          <p:cNvPr id="21" name="Stage 01 RTF"/>
          <p:cNvSpPr txBox="1"/>
          <p:nvPr/>
        </p:nvSpPr>
        <p:spPr>
          <a:xfrm>
            <a:off x="31683960" y="7342631"/>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8.579</a:t>
            </a:r>
          </a:p>
        </p:txBody>
      </p:sp>
      <p:sp>
        <p:nvSpPr>
          <p:cNvPr id="22" name="Row background 2"/>
          <p:cNvSpPr/>
          <p:nvPr/>
        </p:nvSpPr>
        <p:spPr>
          <a:xfrm>
            <a:off x="1828800" y="820216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ge 02 Stage"/>
          <p:cNvSpPr txBox="1"/>
          <p:nvPr/>
        </p:nvSpPr>
        <p:spPr>
          <a:xfrm>
            <a:off x="1965960" y="839419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02</a:t>
            </a:r>
          </a:p>
        </p:txBody>
      </p:sp>
      <p:sp>
        <p:nvSpPr>
          <p:cNvPr id="24" name="Stage 02 Cumulative change"/>
          <p:cNvSpPr txBox="1"/>
          <p:nvPr/>
        </p:nvSpPr>
        <p:spPr>
          <a:xfrm>
            <a:off x="4160520" y="839419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Trained VSA · native 8-step model / runtime</a:t>
            </a:r>
          </a:p>
        </p:txBody>
      </p:sp>
      <p:sp>
        <p:nvSpPr>
          <p:cNvPr id="25" name="Stage 02 Median (s)"/>
          <p:cNvSpPr txBox="1"/>
          <p:nvPr/>
        </p:nvSpPr>
        <p:spPr>
          <a:xfrm>
            <a:off x="21076919" y="839419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25.915</a:t>
            </a:r>
          </a:p>
        </p:txBody>
      </p:sp>
      <p:sp>
        <p:nvSpPr>
          <p:cNvPr id="26" name="Stage 02 E2E speedup&#10;vs. previous"/>
          <p:cNvSpPr txBox="1"/>
          <p:nvPr/>
        </p:nvSpPr>
        <p:spPr>
          <a:xfrm>
            <a:off x="25100280" y="839419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1.710×</a:t>
            </a:r>
          </a:p>
        </p:txBody>
      </p:sp>
      <p:sp>
        <p:nvSpPr>
          <p:cNvPr id="27" name="Stage 02 RTF"/>
          <p:cNvSpPr txBox="1"/>
          <p:nvPr/>
        </p:nvSpPr>
        <p:spPr>
          <a:xfrm>
            <a:off x="31683960" y="839419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5.016</a:t>
            </a:r>
          </a:p>
        </p:txBody>
      </p:sp>
      <p:sp>
        <p:nvSpPr>
          <p:cNvPr id="28" name="Stage 03 Stage"/>
          <p:cNvSpPr txBox="1"/>
          <p:nvPr/>
        </p:nvSpPr>
        <p:spPr>
          <a:xfrm>
            <a:off x="1965960" y="944575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03</a:t>
            </a:r>
          </a:p>
        </p:txBody>
      </p:sp>
      <p:sp>
        <p:nvSpPr>
          <p:cNvPr id="29" name="Stage 03 Cumulative change"/>
          <p:cNvSpPr txBox="1"/>
          <p:nvPr/>
        </p:nvSpPr>
        <p:spPr>
          <a:xfrm>
            <a:off x="4160520" y="944575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QAD NVFP4 DiT / native FP4 attention</a:t>
            </a:r>
          </a:p>
        </p:txBody>
      </p:sp>
      <p:sp>
        <p:nvSpPr>
          <p:cNvPr id="30" name="Stage 03 Median (s)"/>
          <p:cNvSpPr txBox="1"/>
          <p:nvPr/>
        </p:nvSpPr>
        <p:spPr>
          <a:xfrm>
            <a:off x="21076919" y="944575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19.460</a:t>
            </a:r>
          </a:p>
        </p:txBody>
      </p:sp>
      <p:sp>
        <p:nvSpPr>
          <p:cNvPr id="31" name="Stage 03 E2E speedup&#10;vs. previous"/>
          <p:cNvSpPr txBox="1"/>
          <p:nvPr/>
        </p:nvSpPr>
        <p:spPr>
          <a:xfrm>
            <a:off x="25100280" y="944575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1.332×</a:t>
            </a:r>
          </a:p>
        </p:txBody>
      </p:sp>
      <p:sp>
        <p:nvSpPr>
          <p:cNvPr id="32" name="Stage 03 RTF"/>
          <p:cNvSpPr txBox="1"/>
          <p:nvPr/>
        </p:nvSpPr>
        <p:spPr>
          <a:xfrm>
            <a:off x="31683960" y="944575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3.767</a:t>
            </a:r>
          </a:p>
        </p:txBody>
      </p:sp>
      <p:sp>
        <p:nvSpPr>
          <p:cNvPr id="33" name="Row background 4"/>
          <p:cNvSpPr/>
          <p:nvPr/>
        </p:nvSpPr>
        <p:spPr>
          <a:xfrm>
            <a:off x="1828800" y="1030528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tage 04 Stage"/>
          <p:cNvSpPr txBox="1"/>
          <p:nvPr/>
        </p:nvSpPr>
        <p:spPr>
          <a:xfrm>
            <a:off x="1965960" y="1049731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04</a:t>
            </a:r>
          </a:p>
        </p:txBody>
      </p:sp>
      <p:sp>
        <p:nvSpPr>
          <p:cNvPr id="35" name="Stage 04 Cumulative change"/>
          <p:cNvSpPr txBox="1"/>
          <p:nvPr/>
        </p:nvSpPr>
        <p:spPr>
          <a:xfrm>
            <a:off x="4160520" y="1049731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RDMA / direct layout / V-gate overlap</a:t>
            </a:r>
          </a:p>
        </p:txBody>
      </p:sp>
      <p:sp>
        <p:nvSpPr>
          <p:cNvPr id="36" name="Stage 04 Median (s)"/>
          <p:cNvSpPr txBox="1"/>
          <p:nvPr/>
        </p:nvSpPr>
        <p:spPr>
          <a:xfrm>
            <a:off x="21076919" y="1049731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6.832</a:t>
            </a:r>
          </a:p>
        </p:txBody>
      </p:sp>
      <p:sp>
        <p:nvSpPr>
          <p:cNvPr id="37" name="Stage 04 E2E speedup&#10;vs. previous"/>
          <p:cNvSpPr txBox="1"/>
          <p:nvPr/>
        </p:nvSpPr>
        <p:spPr>
          <a:xfrm>
            <a:off x="25100280" y="1049731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2.848×</a:t>
            </a:r>
          </a:p>
        </p:txBody>
      </p:sp>
      <p:sp>
        <p:nvSpPr>
          <p:cNvPr id="38" name="Stage 04 RTF"/>
          <p:cNvSpPr txBox="1"/>
          <p:nvPr/>
        </p:nvSpPr>
        <p:spPr>
          <a:xfrm>
            <a:off x="31683960" y="1049731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1.322</a:t>
            </a:r>
          </a:p>
        </p:txBody>
      </p:sp>
      <p:sp>
        <p:nvSpPr>
          <p:cNvPr id="39" name="Stage 05 Stage"/>
          <p:cNvSpPr txBox="1"/>
          <p:nvPr/>
        </p:nvSpPr>
        <p:spPr>
          <a:xfrm>
            <a:off x="1965960" y="1154887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05</a:t>
            </a:r>
          </a:p>
        </p:txBody>
      </p:sp>
      <p:sp>
        <p:nvSpPr>
          <p:cNvPr id="40" name="Stage 05 Cumulative change"/>
          <p:cNvSpPr txBox="1"/>
          <p:nvPr/>
        </p:nvSpPr>
        <p:spPr>
          <a:xfrm>
            <a:off x="4160520" y="1154887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+ 2 / 3 / 2 head pipeline</a:t>
            </a:r>
          </a:p>
        </p:txBody>
      </p:sp>
      <p:sp>
        <p:nvSpPr>
          <p:cNvPr id="41" name="Stage 05 Median (s)"/>
          <p:cNvSpPr txBox="1"/>
          <p:nvPr/>
        </p:nvSpPr>
        <p:spPr>
          <a:xfrm>
            <a:off x="21076919" y="1154887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6.407</a:t>
            </a:r>
          </a:p>
        </p:txBody>
      </p:sp>
      <p:sp>
        <p:nvSpPr>
          <p:cNvPr id="42" name="Stage 05 E2E speedup&#10;vs. previous"/>
          <p:cNvSpPr txBox="1"/>
          <p:nvPr/>
        </p:nvSpPr>
        <p:spPr>
          <a:xfrm>
            <a:off x="25100280" y="1154887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1.066×</a:t>
            </a:r>
          </a:p>
        </p:txBody>
      </p:sp>
      <p:sp>
        <p:nvSpPr>
          <p:cNvPr id="43" name="Stage 05 RTF"/>
          <p:cNvSpPr txBox="1"/>
          <p:nvPr/>
        </p:nvSpPr>
        <p:spPr>
          <a:xfrm>
            <a:off x="31683960" y="1154887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1.240</a:t>
            </a:r>
          </a:p>
        </p:txBody>
      </p:sp>
      <p:sp>
        <p:nvSpPr>
          <p:cNvPr id="44" name="Row background 6"/>
          <p:cNvSpPr/>
          <p:nvPr/>
        </p:nvSpPr>
        <p:spPr>
          <a:xfrm>
            <a:off x="1828800" y="1240840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age 06 Stage"/>
          <p:cNvSpPr txBox="1"/>
          <p:nvPr/>
        </p:nvSpPr>
        <p:spPr>
          <a:xfrm>
            <a:off x="1965960" y="1260043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06</a:t>
            </a:r>
          </a:p>
        </p:txBody>
      </p:sp>
      <p:sp>
        <p:nvSpPr>
          <p:cNvPr id="46" name="Stage 06 Cumulative change"/>
          <p:cNvSpPr txBox="1"/>
          <p:nvPr/>
        </p:nvSpPr>
        <p:spPr>
          <a:xfrm>
            <a:off x="4160520" y="1260043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Compute CUDA graphs</a:t>
            </a:r>
          </a:p>
        </p:txBody>
      </p:sp>
      <p:sp>
        <p:nvSpPr>
          <p:cNvPr id="47" name="Stage 06 Median (s)"/>
          <p:cNvSpPr txBox="1"/>
          <p:nvPr/>
        </p:nvSpPr>
        <p:spPr>
          <a:xfrm>
            <a:off x="21076919" y="1260043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6.193</a:t>
            </a:r>
          </a:p>
        </p:txBody>
      </p:sp>
      <p:sp>
        <p:nvSpPr>
          <p:cNvPr id="48" name="Stage 06 E2E speedup&#10;vs. previous"/>
          <p:cNvSpPr txBox="1"/>
          <p:nvPr/>
        </p:nvSpPr>
        <p:spPr>
          <a:xfrm>
            <a:off x="25100280" y="1260043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1.035×</a:t>
            </a:r>
          </a:p>
        </p:txBody>
      </p:sp>
      <p:sp>
        <p:nvSpPr>
          <p:cNvPr id="49" name="Stage 06 RTF"/>
          <p:cNvSpPr txBox="1"/>
          <p:nvPr/>
        </p:nvSpPr>
        <p:spPr>
          <a:xfrm>
            <a:off x="31683960" y="1260043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1.199</a:t>
            </a:r>
          </a:p>
        </p:txBody>
      </p:sp>
      <p:sp>
        <p:nvSpPr>
          <p:cNvPr id="50" name="Stage 07 Stage"/>
          <p:cNvSpPr txBox="1"/>
          <p:nvPr/>
        </p:nvSpPr>
        <p:spPr>
          <a:xfrm>
            <a:off x="1965960" y="1365199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07</a:t>
            </a:r>
          </a:p>
        </p:txBody>
      </p:sp>
      <p:sp>
        <p:nvSpPr>
          <p:cNvPr id="51" name="Stage 07 Cumulative change"/>
          <p:cNvSpPr txBox="1"/>
          <p:nvPr/>
        </p:nvSpPr>
        <p:spPr>
          <a:xfrm>
            <a:off x="4160520" y="1365199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+ 36-layer NVFP4 VAE / MP4 pre-encoding</a:t>
            </a:r>
          </a:p>
        </p:txBody>
      </p:sp>
      <p:sp>
        <p:nvSpPr>
          <p:cNvPr id="52" name="Stage 07 Median (s)"/>
          <p:cNvSpPr txBox="1"/>
          <p:nvPr/>
        </p:nvSpPr>
        <p:spPr>
          <a:xfrm>
            <a:off x="21076919" y="1365199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5.420</a:t>
            </a:r>
          </a:p>
        </p:txBody>
      </p:sp>
      <p:sp>
        <p:nvSpPr>
          <p:cNvPr id="53" name="Stage 07 E2E speedup&#10;vs. previous"/>
          <p:cNvSpPr txBox="1"/>
          <p:nvPr/>
        </p:nvSpPr>
        <p:spPr>
          <a:xfrm>
            <a:off x="25100280" y="1365199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1.143×</a:t>
            </a:r>
          </a:p>
        </p:txBody>
      </p:sp>
      <p:sp>
        <p:nvSpPr>
          <p:cNvPr id="54" name="Stage 07 RTF"/>
          <p:cNvSpPr txBox="1"/>
          <p:nvPr/>
        </p:nvSpPr>
        <p:spPr>
          <a:xfrm>
            <a:off x="31683960" y="1365199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1.049</a:t>
            </a:r>
          </a:p>
        </p:txBody>
      </p:sp>
      <p:sp>
        <p:nvSpPr>
          <p:cNvPr id="55" name="Row background 8"/>
          <p:cNvSpPr/>
          <p:nvPr/>
        </p:nvSpPr>
        <p:spPr>
          <a:xfrm>
            <a:off x="1828800" y="1451152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Stage 08–12 Stage"/>
          <p:cNvSpPr txBox="1"/>
          <p:nvPr/>
        </p:nvSpPr>
        <p:spPr>
          <a:xfrm>
            <a:off x="1965960" y="14703551"/>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08–12</a:t>
            </a:r>
          </a:p>
        </p:txBody>
      </p:sp>
      <p:sp>
        <p:nvSpPr>
          <p:cNvPr id="57" name="Stage 08–12 Cumulative change"/>
          <p:cNvSpPr txBox="1"/>
          <p:nvPr/>
        </p:nvSpPr>
        <p:spPr>
          <a:xfrm>
            <a:off x="4160520" y="14703551"/>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 Output and data-movement optimizations</a:t>
            </a:r>
          </a:p>
        </p:txBody>
      </p:sp>
      <p:sp>
        <p:nvSpPr>
          <p:cNvPr id="58" name="Stage 08–12 Median (s)"/>
          <p:cNvSpPr txBox="1"/>
          <p:nvPr/>
        </p:nvSpPr>
        <p:spPr>
          <a:xfrm>
            <a:off x="21076919" y="14703551"/>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4.922</a:t>
            </a:r>
          </a:p>
        </p:txBody>
      </p:sp>
      <p:sp>
        <p:nvSpPr>
          <p:cNvPr id="59" name="Stage 08–12 E2E speedup&#10;vs. previous"/>
          <p:cNvSpPr txBox="1"/>
          <p:nvPr/>
        </p:nvSpPr>
        <p:spPr>
          <a:xfrm>
            <a:off x="25100280" y="14703551"/>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1.101×</a:t>
            </a:r>
          </a:p>
        </p:txBody>
      </p:sp>
      <p:sp>
        <p:nvSpPr>
          <p:cNvPr id="60" name="Stage 08–12 RTF"/>
          <p:cNvSpPr txBox="1"/>
          <p:nvPr/>
        </p:nvSpPr>
        <p:spPr>
          <a:xfrm>
            <a:off x="31683960" y="14703551"/>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0.953</a:t>
            </a:r>
          </a:p>
        </p:txBody>
      </p:sp>
      <p:sp>
        <p:nvSpPr>
          <p:cNvPr id="61" name="Grouped details"/>
          <p:cNvSpPr txBox="1"/>
          <p:nvPr/>
        </p:nvSpPr>
        <p:spPr>
          <a:xfrm>
            <a:off x="1828800" y="15864840"/>
            <a:ext cx="32918400" cy="640080"/>
          </a:xfrm>
          <a:prstGeom prst="rect">
            <a:avLst/>
          </a:prstGeom>
          <a:noFill/>
        </p:spPr>
        <p:txBody>
          <a:bodyPr wrap="square" lIns="18288" rIns="18288" tIns="0" bIns="0">
            <a:spAutoFit/>
          </a:bodyPr>
          <a:lstStyle/>
          <a:p>
            <a:pPr>
              <a:spcBef>
                <a:spcPts val="0"/>
              </a:spcBef>
              <a:spcAft>
                <a:spcPts val="0"/>
              </a:spcAft>
            </a:pPr>
            <a:r>
              <a:rPr sz="2800" b="0">
                <a:solidFill>
                  <a:srgbClr val="313131"/>
                </a:solidFill>
                <a:latin typeface="NVIDIA Sans"/>
              </a:rPr>
              <a:t>08–12: fused tile / AAC preparation, direct I/O packing, compact routing and Q/K/V copy removal.</a:t>
            </a:r>
          </a:p>
        </p:txBody>
      </p:sp>
      <p:sp>
        <p:nvSpPr>
          <p:cNvPr id="62" name="Ratio definition"/>
          <p:cNvSpPr txBox="1"/>
          <p:nvPr/>
        </p:nvSpPr>
        <p:spPr>
          <a:xfrm>
            <a:off x="1828800" y="16642080"/>
            <a:ext cx="32918400" cy="64008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Medium"/>
              </a:rPr>
              <a:t>E2E speedup = previous displayed median ÷ current median. 08–12 compares the final result with stage 07.</a:t>
            </a:r>
          </a:p>
        </p:txBody>
      </p:sp>
      <p:sp>
        <p:nvSpPr>
          <p:cNvPr id="63" name="Final result"/>
          <p:cNvSpPr txBox="1"/>
          <p:nvPr/>
        </p:nvSpPr>
        <p:spPr>
          <a:xfrm>
            <a:off x="1828800" y="17465040"/>
            <a:ext cx="32918400" cy="731520"/>
          </a:xfrm>
          <a:prstGeom prst="rect">
            <a:avLst/>
          </a:prstGeom>
          <a:noFill/>
        </p:spPr>
        <p:txBody>
          <a:bodyPr wrap="square" lIns="18288" rIns="18288" tIns="0" bIns="0">
            <a:spAutoFit/>
          </a:bodyPr>
          <a:lstStyle/>
          <a:p>
            <a:pPr>
              <a:spcBef>
                <a:spcPts val="0"/>
              </a:spcBef>
              <a:spcAft>
                <a:spcPts val="0"/>
              </a:spcAft>
            </a:pPr>
            <a:r>
              <a:rPr sz="3600" b="0">
                <a:solidFill>
                  <a:srgbClr val="76B900"/>
                </a:solidFill>
                <a:latin typeface="NVIDIA Sans Medium"/>
              </a:rPr>
              <a:t>Final median: 4.922 s · recheck: 4.927 s · 6/6 measured requests below 5 s</a:t>
            </a:r>
          </a:p>
        </p:txBody>
      </p:sp>
      <p:sp>
        <p:nvSpPr>
          <p:cNvPr id="64" name="Baseline qualification"/>
          <p:cNvSpPr txBox="1"/>
          <p:nvPr/>
        </p:nvSpPr>
        <p:spPr>
          <a:xfrm>
            <a:off x="1828800" y="18333720"/>
            <a:ext cx="32918400" cy="594360"/>
          </a:xfrm>
          <a:prstGeom prst="rect">
            <a:avLst/>
          </a:prstGeom>
          <a:noFill/>
        </p:spPr>
        <p:txBody>
          <a:bodyPr wrap="square" lIns="18288" rIns="18288" tIns="0" bIns="0">
            <a:spAutoFit/>
          </a:bodyPr>
          <a:lstStyle/>
          <a:p>
            <a:pPr>
              <a:spcBef>
                <a:spcPts val="0"/>
              </a:spcBef>
              <a:spcAft>
                <a:spcPts val="0"/>
              </a:spcAft>
            </a:pPr>
            <a:r>
              <a:rPr sz="2500" b="0">
                <a:solidFill>
                  <a:srgbClr val="313131"/>
                </a:solidFill>
                <a:latin typeface="NVIDIA Sans"/>
              </a:rPr>
              <a:t>† Recorded median ratio; baseline refreshed separately (n = 2). Stages 01–12 retain n = 3 each; no isolated 50→8-step gain claimed.</a:t>
            </a:r>
          </a:p>
        </p:txBody>
      </p:sp>
      <p:sp>
        <p:nvSpPr>
          <p:cNvPr id="65" name="Scope"/>
          <p:cNvSpPr txBox="1"/>
          <p:nvPr/>
        </p:nvSpPr>
        <p:spPr>
          <a:xfrm>
            <a:off x="1828800" y="19019520"/>
            <a:ext cx="32918400" cy="548640"/>
          </a:xfrm>
          <a:prstGeom prst="rect">
            <a:avLst/>
          </a:prstGeom>
          <a:noFill/>
        </p:spPr>
        <p:txBody>
          <a:bodyPr wrap="square" lIns="18288" rIns="18288" tIns="0" bIns="0">
            <a:spAutoFit/>
          </a:bodyPr>
          <a:lstStyle/>
          <a:p>
            <a:pPr>
              <a:spcBef>
                <a:spcPts val="0"/>
              </a:spcBef>
              <a:spcAft>
                <a:spcPts val="0"/>
              </a:spcAft>
            </a:pPr>
            <a:r>
              <a:rPr sz="2500" b="0">
                <a:solidFill>
                  <a:srgbClr val="313131"/>
                </a:solidFill>
                <a:latin typeface="NVIDIA Sans"/>
              </a:rPr>
              <a:t>RTF = latency / 5.167 s. Standalone H3; ASR / LLM excluded. Model, schedule and precision changes are not all lossless.</a:t>
            </a:r>
          </a:p>
        </p:txBody>
      </p:sp>
      <p:sp>
        <p:nvSpPr>
          <p:cNvPr id="66" name="Slide Number Placeholder 65"/>
          <p:cNvSpPr>
            <a:spLocks noGrp="1"/>
          </p:cNvSpPr>
          <p:nvPr>
            <p:ph type="sldNum" idx="16" sz="quarter"/>
          </p:nvPr>
        </p:nvSpPr>
        <p:spPr/>
        <p:txBody>
          <a:bodyPr/>
          <a:p>
            <a:r>
              <a:rPr/>
              <a:t>16</a:t>
            </a:r>
          </a:p>
        </p:txBody>
      </p:sp>
      <p:sp>
        <p:nvSpPr>
          <p:cNvPr id="67" name="Text Placeholder 66"/>
          <p:cNvSpPr>
            <a:spLocks noGrp="1"/>
          </p:cNvSpPr>
          <p:nvPr>
            <p:ph type="body" idx="13" sz="quarter"/>
          </p:nvPr>
        </p:nvSpPr>
        <p:spPr/>
        <p:txBody>
          <a:bodyPr/>
          <a:lstStyle/>
          <a:p>
            <a:r>
              <a:rPr/>
              <a:t>960 × 544 · 5.167 s output · 8 GPUs · standalone H3</a:t>
            </a:r>
          </a:p>
        </p:txBody>
      </p:sp>
      <p:sp>
        <p:nvSpPr>
          <p:cNvPr id="68" name="Title 67"/>
          <p:cNvSpPr>
            <a:spLocks noGrp="1"/>
          </p:cNvSpPr>
          <p:nvPr>
            <p:ph type="title"/>
          </p:nvPr>
        </p:nvSpPr>
        <p:spPr/>
        <p:txBody>
          <a:bodyPr/>
          <a:lstStyle/>
          <a:p>
            <a:r>
              <a:rPr/>
              <a:t>Real Time Comes from the Whole Pipeline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17</a:t>
            </a:r>
          </a:p>
        </p:txBody>
      </p:sp>
      <p:sp>
        <p:nvSpPr>
          <p:cNvPr id="3" name="Text Placeholder 2"/>
          <p:cNvSpPr>
            <a:spLocks noGrp="1"/>
          </p:cNvSpPr>
          <p:nvPr>
            <p:ph type="body" idx="13" sz="quarter"/>
          </p:nvPr>
        </p:nvSpPr>
        <p:spPr/>
        <p:txBody>
          <a:bodyPr/>
          <a:lstStyle/>
          <a:p>
            <a:r>
              <a:t>Speech, reasoning and audio–video generation share the response budget.</a:t>
            </a:r>
          </a:p>
        </p:txBody>
      </p:sp>
      <p:sp>
        <p:nvSpPr>
          <p:cNvPr id="4" name="Title 3"/>
          <p:cNvSpPr>
            <a:spLocks noGrp="1"/>
          </p:cNvSpPr>
          <p:nvPr>
            <p:ph type="title"/>
          </p:nvPr>
        </p:nvSpPr>
        <p:spPr/>
        <p:txBody>
          <a:bodyPr/>
          <a:lstStyle/>
          <a:p>
            <a:r>
              <a:t>Real-Time Interaction Needs the Full Loop</a:t>
            </a:r>
          </a:p>
        </p:txBody>
      </p:sp>
      <p:sp>
        <p:nvSpPr>
          <p:cNvPr id="5" name="Spoken question"/>
          <p:cNvSpPr/>
          <p:nvPr/>
        </p:nvSpPr>
        <p:spPr>
          <a:xfrm>
            <a:off x="1828800" y="5486400"/>
            <a:ext cx="5577840" cy="2057400"/>
          </a:xfrm>
          <a:prstGeom prst="roundRect">
            <a:avLst>
              <a:gd name="adj" fmla="val 12000"/>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poken question tail"/>
          <p:cNvSpPr/>
          <p:nvPr/>
        </p:nvSpPr>
        <p:spPr>
          <a:xfrm rot="10800000">
            <a:off x="3781044" y="7507224"/>
            <a:ext cx="502920" cy="411480"/>
          </a:xfrm>
          <a:prstGeom prst="triangle">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poken question text"/>
          <p:cNvSpPr txBox="1"/>
          <p:nvPr/>
        </p:nvSpPr>
        <p:spPr>
          <a:xfrm>
            <a:off x="2084832" y="5715000"/>
            <a:ext cx="5065775" cy="1737360"/>
          </a:xfrm>
          <a:prstGeom prst="rect">
            <a:avLst/>
          </a:prstGeom>
          <a:noFill/>
        </p:spPr>
        <p:txBody>
          <a:bodyPr wrap="square" lIns="0" rIns="0" tIns="0" bIns="0">
            <a:spAutoFit/>
          </a:bodyPr>
          <a:lstStyle/>
          <a:p>
            <a:pPr algn="ctr">
              <a:spcBef>
                <a:spcPts val="0"/>
              </a:spcBef>
              <a:spcAft>
                <a:spcPts val="0"/>
              </a:spcAft>
            </a:pPr>
            <a:r>
              <a:rPr sz="3600" b="0">
                <a:solidFill>
                  <a:srgbClr val="000000"/>
                </a:solidFill>
                <a:latin typeface="NVIDIA Sans Medium"/>
              </a:rPr>
              <a:t>“Hi, could you</a:t>
            </a:r>
          </a:p>
          <a:p>
            <a:pPr algn="ctr">
              <a:spcBef>
                <a:spcPts val="0"/>
              </a:spcBef>
              <a:spcAft>
                <a:spcPts val="0"/>
              </a:spcAft>
            </a:pPr>
            <a:r>
              <a:rPr sz="3600" b="0">
                <a:solidFill>
                  <a:srgbClr val="000000"/>
                </a:solidFill>
                <a:latin typeface="NVIDIA Sans Medium"/>
              </a:rPr>
              <a:t>introduce yourself?”</a:t>
            </a:r>
          </a:p>
        </p:txBody>
      </p:sp>
      <p:sp>
        <p:nvSpPr>
          <p:cNvPr id="8" name="User head"/>
          <p:cNvSpPr/>
          <p:nvPr/>
        </p:nvSpPr>
        <p:spPr>
          <a:xfrm>
            <a:off x="3182112" y="8823960"/>
            <a:ext cx="1170432" cy="1170432"/>
          </a:xfrm>
          <a:prstGeom prst="ellipse">
            <a:avLst/>
          </a:prstGeom>
          <a:noFill/>
          <a:ln w="508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User torso"/>
          <p:cNvCxnSpPr/>
          <p:nvPr/>
        </p:nvCxnSpPr>
        <p:spPr>
          <a:xfrm>
            <a:off x="3767328" y="10040112"/>
            <a:ext cx="0" cy="1938528"/>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 name="User left arm"/>
          <p:cNvCxnSpPr/>
          <p:nvPr/>
        </p:nvCxnSpPr>
        <p:spPr>
          <a:xfrm flipH="1">
            <a:off x="2788920" y="10561320"/>
            <a:ext cx="978408" cy="100584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User speaking arm"/>
          <p:cNvCxnSpPr/>
          <p:nvPr/>
        </p:nvCxnSpPr>
        <p:spPr>
          <a:xfrm>
            <a:off x="3767328" y="10561320"/>
            <a:ext cx="841248" cy="521208"/>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User microphone arm"/>
          <p:cNvCxnSpPr/>
          <p:nvPr/>
        </p:nvCxnSpPr>
        <p:spPr>
          <a:xfrm flipV="1">
            <a:off x="4608576" y="10287000"/>
            <a:ext cx="484632" cy="795528"/>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User left leg"/>
          <p:cNvCxnSpPr/>
          <p:nvPr/>
        </p:nvCxnSpPr>
        <p:spPr>
          <a:xfrm flipH="1">
            <a:off x="2944368" y="11978640"/>
            <a:ext cx="822960" cy="109728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User right leg"/>
          <p:cNvCxnSpPr/>
          <p:nvPr/>
        </p:nvCxnSpPr>
        <p:spPr>
          <a:xfrm>
            <a:off x="3767328" y="11978640"/>
            <a:ext cx="822960" cy="109728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sp>
        <p:nvSpPr>
          <p:cNvPr id="15" name="Microphone"/>
          <p:cNvSpPr/>
          <p:nvPr/>
        </p:nvSpPr>
        <p:spPr>
          <a:xfrm rot="1320000">
            <a:off x="4946904" y="9445752"/>
            <a:ext cx="338328" cy="768096"/>
          </a:xfrm>
          <a:prstGeom prst="round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ser label"/>
          <p:cNvSpPr txBox="1"/>
          <p:nvPr/>
        </p:nvSpPr>
        <p:spPr>
          <a:xfrm>
            <a:off x="2103120" y="13578840"/>
            <a:ext cx="3474720" cy="82296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User</a:t>
            </a:r>
          </a:p>
        </p:txBody>
      </p:sp>
      <p:cxnSp>
        <p:nvCxnSpPr>
          <p:cNvPr id="17" name="Spoken audio waveform 0"/>
          <p:cNvCxnSpPr/>
          <p:nvPr/>
        </p:nvCxnSpPr>
        <p:spPr>
          <a:xfrm>
            <a:off x="6240780" y="10409301"/>
            <a:ext cx="0" cy="304038"/>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18" name="Spoken audio waveform 1"/>
          <p:cNvCxnSpPr/>
          <p:nvPr/>
        </p:nvCxnSpPr>
        <p:spPr>
          <a:xfrm>
            <a:off x="6457950" y="10235565"/>
            <a:ext cx="0" cy="65151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19" name="Spoken audio waveform 2"/>
          <p:cNvCxnSpPr/>
          <p:nvPr/>
        </p:nvCxnSpPr>
        <p:spPr>
          <a:xfrm>
            <a:off x="6675120" y="10018395"/>
            <a:ext cx="0" cy="108585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20" name="Spoken audio waveform 3"/>
          <p:cNvCxnSpPr/>
          <p:nvPr/>
        </p:nvCxnSpPr>
        <p:spPr>
          <a:xfrm>
            <a:off x="6892290" y="10148697"/>
            <a:ext cx="0" cy="825246"/>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21" name="Spoken audio waveform 4"/>
          <p:cNvCxnSpPr/>
          <p:nvPr/>
        </p:nvCxnSpPr>
        <p:spPr>
          <a:xfrm>
            <a:off x="7109459" y="10365867"/>
            <a:ext cx="0" cy="390906"/>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sp>
        <p:nvSpPr>
          <p:cNvPr id="22" name="Spoken audio label"/>
          <p:cNvSpPr txBox="1"/>
          <p:nvPr/>
        </p:nvSpPr>
        <p:spPr>
          <a:xfrm>
            <a:off x="5806440" y="11567160"/>
            <a:ext cx="1828800" cy="548640"/>
          </a:xfrm>
          <a:prstGeom prst="rect">
            <a:avLst/>
          </a:prstGeom>
          <a:noFill/>
        </p:spPr>
        <p:txBody>
          <a:bodyPr wrap="square" lIns="0" rIns="0" tIns="0" bIns="0">
            <a:spAutoFit/>
          </a:bodyPr>
          <a:lstStyle/>
          <a:p>
            <a:pPr algn="ctr">
              <a:spcBef>
                <a:spcPts val="0"/>
              </a:spcBef>
              <a:spcAft>
                <a:spcPts val="0"/>
              </a:spcAft>
            </a:pPr>
            <a:r>
              <a:rPr sz="2600" b="0">
                <a:solidFill>
                  <a:srgbClr val="313131"/>
                </a:solidFill>
                <a:latin typeface="NVIDIA Sans"/>
              </a:rPr>
              <a:t>Voice</a:t>
            </a:r>
          </a:p>
        </p:txBody>
      </p:sp>
      <p:cxnSp>
        <p:nvCxnSpPr>
          <p:cNvPr id="23" name="Voice to ASR"/>
          <p:cNvCxnSpPr/>
          <p:nvPr/>
        </p:nvCxnSpPr>
        <p:spPr>
          <a:xfrm>
            <a:off x="7452360" y="10561320"/>
            <a:ext cx="886967"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24" name="ASR background"/>
          <p:cNvSpPr/>
          <p:nvPr/>
        </p:nvSpPr>
        <p:spPr>
          <a:xfrm>
            <a:off x="8732520" y="9144000"/>
            <a:ext cx="5532120" cy="288036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SR accent"/>
          <p:cNvSpPr/>
          <p:nvPr/>
        </p:nvSpPr>
        <p:spPr>
          <a:xfrm>
            <a:off x="8732520" y="9144000"/>
            <a:ext cx="5532120" cy="6858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SR title"/>
          <p:cNvSpPr txBox="1"/>
          <p:nvPr/>
        </p:nvSpPr>
        <p:spPr>
          <a:xfrm>
            <a:off x="9006840" y="9710928"/>
            <a:ext cx="4983480"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Qwen3-ASR</a:t>
            </a:r>
          </a:p>
        </p:txBody>
      </p:sp>
      <p:sp>
        <p:nvSpPr>
          <p:cNvPr id="27" name="ASR description"/>
          <p:cNvSpPr txBox="1"/>
          <p:nvPr/>
        </p:nvSpPr>
        <p:spPr>
          <a:xfrm>
            <a:off x="8915400" y="10789920"/>
            <a:ext cx="5166359" cy="594360"/>
          </a:xfrm>
          <a:prstGeom prst="rect">
            <a:avLst/>
          </a:prstGeom>
          <a:noFill/>
        </p:spPr>
        <p:txBody>
          <a:bodyPr wrap="square" lIns="0" rIns="0" tIns="0" bIns="0">
            <a:spAutoFit/>
          </a:bodyPr>
          <a:lstStyle/>
          <a:p>
            <a:pPr algn="ctr">
              <a:spcBef>
                <a:spcPts val="0"/>
              </a:spcBef>
              <a:spcAft>
                <a:spcPts val="0"/>
              </a:spcAft>
            </a:pPr>
            <a:r>
              <a:rPr sz="3000" b="0">
                <a:solidFill>
                  <a:srgbClr val="313131"/>
                </a:solidFill>
                <a:latin typeface="NVIDIA Sans"/>
              </a:rPr>
              <a:t>0.6B · Speech → text</a:t>
            </a:r>
          </a:p>
        </p:txBody>
      </p:sp>
      <p:cxnSp>
        <p:nvCxnSpPr>
          <p:cNvPr id="28" name="Text to LLM"/>
          <p:cNvCxnSpPr/>
          <p:nvPr/>
        </p:nvCxnSpPr>
        <p:spPr>
          <a:xfrm>
            <a:off x="14447520" y="10561320"/>
            <a:ext cx="1097280"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29" name="LLM background"/>
          <p:cNvSpPr/>
          <p:nvPr/>
        </p:nvSpPr>
        <p:spPr>
          <a:xfrm>
            <a:off x="15864840" y="9144000"/>
            <a:ext cx="6400800" cy="288036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LM accent"/>
          <p:cNvSpPr/>
          <p:nvPr/>
        </p:nvSpPr>
        <p:spPr>
          <a:xfrm>
            <a:off x="15864840" y="9144000"/>
            <a:ext cx="6400800" cy="6858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LM title"/>
          <p:cNvSpPr txBox="1"/>
          <p:nvPr/>
        </p:nvSpPr>
        <p:spPr>
          <a:xfrm>
            <a:off x="16139160" y="9710928"/>
            <a:ext cx="5852160"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Qwen3-4B</a:t>
            </a:r>
          </a:p>
        </p:txBody>
      </p:sp>
      <p:sp>
        <p:nvSpPr>
          <p:cNvPr id="32" name="LLM description"/>
          <p:cNvSpPr txBox="1"/>
          <p:nvPr/>
        </p:nvSpPr>
        <p:spPr>
          <a:xfrm>
            <a:off x="16047720" y="10789920"/>
            <a:ext cx="6035040" cy="594360"/>
          </a:xfrm>
          <a:prstGeom prst="rect">
            <a:avLst/>
          </a:prstGeom>
          <a:noFill/>
        </p:spPr>
        <p:txBody>
          <a:bodyPr wrap="square" lIns="0" rIns="0" tIns="0" bIns="0">
            <a:spAutoFit/>
          </a:bodyPr>
          <a:lstStyle/>
          <a:p>
            <a:pPr algn="ctr">
              <a:spcBef>
                <a:spcPts val="0"/>
              </a:spcBef>
              <a:spcAft>
                <a:spcPts val="0"/>
              </a:spcAft>
            </a:pPr>
            <a:r>
              <a:rPr sz="3000" b="0">
                <a:solidFill>
                  <a:srgbClr val="313131"/>
                </a:solidFill>
                <a:latin typeface="NVIDIA Sans"/>
              </a:rPr>
              <a:t>Reply → H3 prompt</a:t>
            </a:r>
          </a:p>
        </p:txBody>
      </p:sp>
      <p:cxnSp>
        <p:nvCxnSpPr>
          <p:cNvPr id="33" name="Prompt to H3"/>
          <p:cNvCxnSpPr/>
          <p:nvPr/>
        </p:nvCxnSpPr>
        <p:spPr>
          <a:xfrm>
            <a:off x="22448520" y="10561320"/>
            <a:ext cx="1097280"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34" name="H3 background"/>
          <p:cNvSpPr/>
          <p:nvPr/>
        </p:nvSpPr>
        <p:spPr>
          <a:xfrm>
            <a:off x="23865840" y="9144000"/>
            <a:ext cx="3977639" cy="288036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H3 accent"/>
          <p:cNvSpPr/>
          <p:nvPr/>
        </p:nvSpPr>
        <p:spPr>
          <a:xfrm>
            <a:off x="23865840" y="9144000"/>
            <a:ext cx="3977639" cy="6858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H3 title"/>
          <p:cNvSpPr txBox="1"/>
          <p:nvPr/>
        </p:nvSpPr>
        <p:spPr>
          <a:xfrm>
            <a:off x="24140160" y="9710928"/>
            <a:ext cx="3428999"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H3</a:t>
            </a:r>
          </a:p>
        </p:txBody>
      </p:sp>
      <p:sp>
        <p:nvSpPr>
          <p:cNvPr id="37" name="H3 description"/>
          <p:cNvSpPr txBox="1"/>
          <p:nvPr/>
        </p:nvSpPr>
        <p:spPr>
          <a:xfrm>
            <a:off x="24048720" y="10789920"/>
            <a:ext cx="3611879" cy="594360"/>
          </a:xfrm>
          <a:prstGeom prst="rect">
            <a:avLst/>
          </a:prstGeom>
          <a:noFill/>
        </p:spPr>
        <p:txBody>
          <a:bodyPr wrap="square" lIns="0" rIns="0" tIns="0" bIns="0">
            <a:spAutoFit/>
          </a:bodyPr>
          <a:lstStyle/>
          <a:p>
            <a:pPr algn="ctr">
              <a:spcBef>
                <a:spcPts val="0"/>
              </a:spcBef>
              <a:spcAft>
                <a:spcPts val="0"/>
              </a:spcAft>
            </a:pPr>
            <a:r>
              <a:rPr sz="3000" b="0">
                <a:solidFill>
                  <a:srgbClr val="313131"/>
                </a:solidFill>
                <a:latin typeface="NVIDIA Sans"/>
              </a:rPr>
              <a:t>Audio + video</a:t>
            </a:r>
          </a:p>
        </p:txBody>
      </p:sp>
      <p:cxnSp>
        <p:nvCxnSpPr>
          <p:cNvPr id="38" name="H3 to avatar"/>
          <p:cNvCxnSpPr/>
          <p:nvPr/>
        </p:nvCxnSpPr>
        <p:spPr>
          <a:xfrm>
            <a:off x="28026360" y="10561320"/>
            <a:ext cx="960120" cy="0"/>
          </a:xfrm>
          <a:prstGeom prst="line">
            <a:avLst/>
          </a:prstGeom>
          <a:ln w="5080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39" name="Reference image label"/>
          <p:cNvSpPr txBox="1"/>
          <p:nvPr/>
        </p:nvSpPr>
        <p:spPr>
          <a:xfrm>
            <a:off x="23865840" y="4983480"/>
            <a:ext cx="3977639" cy="594360"/>
          </a:xfrm>
          <a:prstGeom prst="rect">
            <a:avLst/>
          </a:prstGeom>
          <a:noFill/>
        </p:spPr>
        <p:txBody>
          <a:bodyPr wrap="square" lIns="0" rIns="0" tIns="0" bIns="0">
            <a:spAutoFit/>
          </a:bodyPr>
          <a:lstStyle/>
          <a:p>
            <a:pPr algn="ctr">
              <a:spcBef>
                <a:spcPts val="0"/>
              </a:spcBef>
              <a:spcAft>
                <a:spcPts val="0"/>
              </a:spcAft>
            </a:pPr>
            <a:r>
              <a:rPr sz="2800" b="0">
                <a:solidFill>
                  <a:srgbClr val="000000"/>
                </a:solidFill>
                <a:latin typeface="NVIDIA Sans Medium"/>
              </a:rPr>
              <a:t>Reference image</a:t>
            </a:r>
          </a:p>
        </p:txBody>
      </p:sp>
      <p:pic>
        <p:nvPicPr>
          <p:cNvPr id="40" name="Actual H3 input reference" descr="image.png"/>
          <p:cNvPicPr>
            <a:picLocks noChangeAspect="1"/>
          </p:cNvPicPr>
          <p:nvPr/>
        </p:nvPicPr>
        <p:blipFill>
          <a:blip r:embed="rId5"/>
          <a:stretch>
            <a:fillRect/>
          </a:stretch>
        </p:blipFill>
        <p:spPr>
          <a:xfrm>
            <a:off x="24185880" y="5806440"/>
            <a:ext cx="3337560" cy="1907177"/>
          </a:xfrm>
          <a:prstGeom prst="rect">
            <a:avLst/>
          </a:prstGeom>
        </p:spPr>
      </p:pic>
      <p:cxnSp>
        <p:nvCxnSpPr>
          <p:cNvPr id="41" name="Reference image into H3"/>
          <p:cNvCxnSpPr/>
          <p:nvPr/>
        </p:nvCxnSpPr>
        <p:spPr>
          <a:xfrm>
            <a:off x="25854660" y="7882127"/>
            <a:ext cx="0" cy="1033273"/>
          </a:xfrm>
          <a:prstGeom prst="line">
            <a:avLst/>
          </a:prstGeom>
          <a:ln w="3175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42" name="Avatar intended reply"/>
          <p:cNvSpPr/>
          <p:nvPr/>
        </p:nvSpPr>
        <p:spPr>
          <a:xfrm>
            <a:off x="29077920" y="5486400"/>
            <a:ext cx="5669280" cy="1417320"/>
          </a:xfrm>
          <a:prstGeom prst="roundRect">
            <a:avLst>
              <a:gd name="adj" fmla="val 12000"/>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Avatar intended reply tail"/>
          <p:cNvSpPr/>
          <p:nvPr/>
        </p:nvSpPr>
        <p:spPr>
          <a:xfrm rot="10800000">
            <a:off x="31062168" y="6867144"/>
            <a:ext cx="502920" cy="411480"/>
          </a:xfrm>
          <a:prstGeom prst="triangle">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Avatar intended reply text"/>
          <p:cNvSpPr txBox="1"/>
          <p:nvPr/>
        </p:nvSpPr>
        <p:spPr>
          <a:xfrm>
            <a:off x="29333952" y="5715000"/>
            <a:ext cx="5157216" cy="1097280"/>
          </a:xfrm>
          <a:prstGeom prst="rect">
            <a:avLst/>
          </a:prstGeom>
          <a:noFill/>
        </p:spPr>
        <p:txBody>
          <a:bodyPr wrap="square" lIns="0" rIns="0" tIns="0" bIns="0">
            <a:spAutoFit/>
          </a:bodyPr>
          <a:lstStyle/>
          <a:p>
            <a:pPr algn="ctr">
              <a:spcBef>
                <a:spcPts val="0"/>
              </a:spcBef>
              <a:spcAft>
                <a:spcPts val="0"/>
              </a:spcAft>
            </a:pPr>
            <a:r>
              <a:rPr sz="3600" b="0">
                <a:solidFill>
                  <a:srgbClr val="000000"/>
                </a:solidFill>
                <a:latin typeface="NVIDIA Sans Medium"/>
              </a:rPr>
              <a:t>“Hi, I’m Miles…”</a:t>
            </a:r>
          </a:p>
        </p:txBody>
      </p:sp>
      <p:pic>
        <p:nvPicPr>
          <p:cNvPr id="45" name="Actual generated avatar frame" descr="image.png"/>
          <p:cNvPicPr>
            <a:picLocks noChangeAspect="1"/>
          </p:cNvPicPr>
          <p:nvPr/>
        </p:nvPicPr>
        <p:blipFill>
          <a:blip r:embed="rId6"/>
          <a:stretch>
            <a:fillRect/>
          </a:stretch>
        </p:blipFill>
        <p:spPr>
          <a:xfrm>
            <a:off x="29260800" y="8778240"/>
            <a:ext cx="5486400" cy="3108960"/>
          </a:xfrm>
          <a:prstGeom prst="rect">
            <a:avLst/>
          </a:prstGeom>
        </p:spPr>
      </p:pic>
      <p:sp>
        <p:nvSpPr>
          <p:cNvPr id="46" name="Avatar output label"/>
          <p:cNvSpPr txBox="1"/>
          <p:nvPr/>
        </p:nvSpPr>
        <p:spPr>
          <a:xfrm>
            <a:off x="28986480" y="12481560"/>
            <a:ext cx="5760720" cy="777240"/>
          </a:xfrm>
          <a:prstGeom prst="rect">
            <a:avLst/>
          </a:prstGeom>
          <a:noFill/>
        </p:spPr>
        <p:txBody>
          <a:bodyPr wrap="square" lIns="0" rIns="0" tIns="0" bIns="0">
            <a:spAutoFit/>
          </a:bodyPr>
          <a:lstStyle/>
          <a:p>
            <a:pPr algn="ctr">
              <a:spcBef>
                <a:spcPts val="0"/>
              </a:spcBef>
              <a:spcAft>
                <a:spcPts val="0"/>
              </a:spcAft>
            </a:pPr>
            <a:r>
              <a:rPr sz="4200" b="0">
                <a:solidFill>
                  <a:srgbClr val="000000"/>
                </a:solidFill>
                <a:latin typeface="NVIDIA Sans Medium"/>
              </a:rPr>
              <a:t>Avatar reply</a:t>
            </a:r>
          </a:p>
        </p:txBody>
      </p:sp>
      <p:sp>
        <p:nvSpPr>
          <p:cNvPr id="47" name="Avatar output media"/>
          <p:cNvSpPr txBox="1"/>
          <p:nvPr/>
        </p:nvSpPr>
        <p:spPr>
          <a:xfrm>
            <a:off x="28986480" y="13395960"/>
            <a:ext cx="5760720" cy="594360"/>
          </a:xfrm>
          <a:prstGeom prst="rect">
            <a:avLst/>
          </a:prstGeom>
          <a:noFill/>
        </p:spPr>
        <p:txBody>
          <a:bodyPr wrap="square" lIns="0" rIns="0" tIns="0" bIns="0">
            <a:spAutoFit/>
          </a:bodyPr>
          <a:lstStyle/>
          <a:p>
            <a:pPr algn="ctr">
              <a:spcBef>
                <a:spcPts val="0"/>
              </a:spcBef>
              <a:spcAft>
                <a:spcPts val="0"/>
              </a:spcAft>
            </a:pPr>
            <a:r>
              <a:rPr sz="2800" b="0">
                <a:solidFill>
                  <a:srgbClr val="313131"/>
                </a:solidFill>
                <a:latin typeface="NVIDIA Sans"/>
              </a:rPr>
              <a:t>Video + voice</a:t>
            </a:r>
          </a:p>
        </p:txBody>
      </p:sp>
      <p:sp>
        <p:nvSpPr>
          <p:cNvPr id="48" name="Transcript label"/>
          <p:cNvSpPr txBox="1"/>
          <p:nvPr/>
        </p:nvSpPr>
        <p:spPr>
          <a:xfrm>
            <a:off x="8732520" y="13395960"/>
            <a:ext cx="5577840" cy="502920"/>
          </a:xfrm>
          <a:prstGeom prst="rect">
            <a:avLst/>
          </a:prstGeom>
          <a:noFill/>
        </p:spPr>
        <p:txBody>
          <a:bodyPr wrap="square" lIns="0" rIns="0" tIns="0" bIns="0">
            <a:spAutoFit/>
          </a:bodyPr>
          <a:lstStyle/>
          <a:p>
            <a:pPr>
              <a:spcBef>
                <a:spcPts val="0"/>
              </a:spcBef>
              <a:spcAft>
                <a:spcPts val="0"/>
              </a:spcAft>
            </a:pPr>
            <a:r>
              <a:rPr sz="2400" b="0">
                <a:solidFill>
                  <a:srgbClr val="76B900"/>
                </a:solidFill>
                <a:latin typeface="NVIDIA Sans Medium"/>
              </a:rPr>
              <a:t>RECOGNIZED TEXT</a:t>
            </a:r>
          </a:p>
        </p:txBody>
      </p:sp>
      <p:sp>
        <p:nvSpPr>
          <p:cNvPr id="49" name="Transcript example"/>
          <p:cNvSpPr txBox="1"/>
          <p:nvPr/>
        </p:nvSpPr>
        <p:spPr>
          <a:xfrm>
            <a:off x="8732520" y="14154912"/>
            <a:ext cx="5577840" cy="1554480"/>
          </a:xfrm>
          <a:prstGeom prst="rect">
            <a:avLst/>
          </a:prstGeom>
          <a:noFill/>
        </p:spPr>
        <p:txBody>
          <a:bodyPr wrap="square" lIns="0" rIns="0" tIns="0" bIns="0">
            <a:spAutoFit/>
          </a:bodyPr>
          <a:lstStyle/>
          <a:p>
            <a:pPr>
              <a:spcBef>
                <a:spcPts val="0"/>
              </a:spcBef>
              <a:spcAft>
                <a:spcPts val="0"/>
              </a:spcAft>
            </a:pPr>
            <a:r>
              <a:rPr sz="3400" b="0">
                <a:solidFill>
                  <a:srgbClr val="000000"/>
                </a:solidFill>
                <a:latin typeface="NVIDIA Sans"/>
              </a:rPr>
              <a:t>“Hi, could you</a:t>
            </a:r>
          </a:p>
          <a:p>
            <a:pPr>
              <a:spcBef>
                <a:spcPts val="0"/>
              </a:spcBef>
              <a:spcAft>
                <a:spcPts val="0"/>
              </a:spcAft>
            </a:pPr>
            <a:r>
              <a:rPr sz="3400" b="0">
                <a:solidFill>
                  <a:srgbClr val="000000"/>
                </a:solidFill>
                <a:latin typeface="NVIDIA Sans"/>
              </a:rPr>
              <a:t>introduce yourself?”</a:t>
            </a:r>
          </a:p>
        </p:txBody>
      </p:sp>
      <p:sp>
        <p:nvSpPr>
          <p:cNvPr id="50" name="Prompt label"/>
          <p:cNvSpPr txBox="1"/>
          <p:nvPr/>
        </p:nvSpPr>
        <p:spPr>
          <a:xfrm>
            <a:off x="15864840" y="13395960"/>
            <a:ext cx="7589520" cy="502920"/>
          </a:xfrm>
          <a:prstGeom prst="rect">
            <a:avLst/>
          </a:prstGeom>
          <a:noFill/>
        </p:spPr>
        <p:txBody>
          <a:bodyPr wrap="square" lIns="0" rIns="0" tIns="0" bIns="0">
            <a:spAutoFit/>
          </a:bodyPr>
          <a:lstStyle/>
          <a:p>
            <a:pPr>
              <a:spcBef>
                <a:spcPts val="0"/>
              </a:spcBef>
              <a:spcAft>
                <a:spcPts val="0"/>
              </a:spcAft>
            </a:pPr>
            <a:r>
              <a:rPr sz="2400" b="0">
                <a:solidFill>
                  <a:srgbClr val="76B900"/>
                </a:solidFill>
                <a:latin typeface="NVIDIA Sans Medium"/>
              </a:rPr>
              <a:t>ENGLISH PROMPT · EXCERPT</a:t>
            </a:r>
          </a:p>
        </p:txBody>
      </p:sp>
      <p:sp>
        <p:nvSpPr>
          <p:cNvPr id="51" name="Prompt excerpt"/>
          <p:cNvSpPr txBox="1"/>
          <p:nvPr/>
        </p:nvSpPr>
        <p:spPr>
          <a:xfrm>
            <a:off x="15864840" y="14154912"/>
            <a:ext cx="7680960" cy="182880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a:rPr>
              <a:t>… “Hi, I’m Miles. I help with</a:t>
            </a:r>
          </a:p>
          <a:p>
            <a:pPr>
              <a:spcBef>
                <a:spcPts val="0"/>
              </a:spcBef>
              <a:spcAft>
                <a:spcPts val="0"/>
              </a:spcAft>
            </a:pPr>
            <a:r>
              <a:rPr sz="3000" b="0">
                <a:solidFill>
                  <a:srgbClr val="000000"/>
                </a:solidFill>
                <a:latin typeface="NVIDIA Sans"/>
              </a:rPr>
              <a:t>simple, clear answers.” …</a:t>
            </a:r>
          </a:p>
          <a:p>
            <a:pPr>
              <a:spcBef>
                <a:spcPts val="0"/>
              </a:spcBef>
              <a:spcAft>
                <a:spcPts val="0"/>
              </a:spcAft>
            </a:pPr>
            <a:r>
              <a:rPr sz="3000" b="0">
                <a:solidFill>
                  <a:srgbClr val="000000"/>
                </a:solidFill>
                <a:latin typeface="NVIDIA Sans"/>
              </a:rPr>
              <a:t>His lips follow the words.</a:t>
            </a:r>
          </a:p>
        </p:txBody>
      </p:sp>
      <p:sp>
        <p:nvSpPr>
          <p:cNvPr id="52" name="Prompt assembly note"/>
          <p:cNvSpPr txBox="1"/>
          <p:nvPr/>
        </p:nvSpPr>
        <p:spPr>
          <a:xfrm>
            <a:off x="15864840" y="16230600"/>
            <a:ext cx="7955279" cy="50292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Reply text + scene instructions</a:t>
            </a:r>
          </a:p>
        </p:txBody>
      </p:sp>
      <p:cxnSp>
        <p:nvCxnSpPr>
          <p:cNvPr id="53" name="Audio return down"/>
          <p:cNvCxnSpPr/>
          <p:nvPr/>
        </p:nvCxnSpPr>
        <p:spPr>
          <a:xfrm>
            <a:off x="32004000" y="14493240"/>
            <a:ext cx="0" cy="3337560"/>
          </a:xfrm>
          <a:prstGeom prst="line">
            <a:avLst/>
          </a:prstGeom>
          <a:ln w="4445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54" name="Audio return left"/>
          <p:cNvCxnSpPr/>
          <p:nvPr/>
        </p:nvCxnSpPr>
        <p:spPr>
          <a:xfrm flipH="1">
            <a:off x="3767328" y="17830800"/>
            <a:ext cx="28236672" cy="0"/>
          </a:xfrm>
          <a:prstGeom prst="line">
            <a:avLst/>
          </a:prstGeom>
          <a:ln w="4445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55" name="Audio return to user"/>
          <p:cNvCxnSpPr/>
          <p:nvPr/>
        </p:nvCxnSpPr>
        <p:spPr>
          <a:xfrm flipV="1">
            <a:off x="3767328" y="14904720"/>
            <a:ext cx="0" cy="2926080"/>
          </a:xfrm>
          <a:prstGeom prst="line">
            <a:avLst/>
          </a:prstGeom>
          <a:ln w="4445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56" name="Audio return direction"/>
          <p:cNvCxnSpPr/>
          <p:nvPr/>
        </p:nvCxnSpPr>
        <p:spPr>
          <a:xfrm flipH="1">
            <a:off x="10698480" y="17830800"/>
            <a:ext cx="1188720" cy="0"/>
          </a:xfrm>
          <a:prstGeom prst="line">
            <a:avLst/>
          </a:prstGeom>
          <a:ln w="44450">
            <a:solidFill>
              <a:srgbClr val="76B900"/>
            </a:solidFill>
            <a:headEnd type="none"/>
            <a:tailEnd type="triangle" w="lg" len="lg"/>
          </a:ln>
        </p:spPr>
        <p:style>
          <a:lnRef idx="2">
            <a:schemeClr val="accent1"/>
          </a:lnRef>
          <a:fillRef idx="0">
            <a:schemeClr val="accent1"/>
          </a:fillRef>
          <a:effectRef idx="1">
            <a:schemeClr val="accent1"/>
          </a:effectRef>
          <a:fontRef idx="minor">
            <a:schemeClr val="tx1"/>
          </a:fontRef>
        </p:style>
      </p:cxnSp>
      <p:sp>
        <p:nvSpPr>
          <p:cNvPr id="57" name="Return audio waveform backing"/>
          <p:cNvSpPr/>
          <p:nvPr/>
        </p:nvSpPr>
        <p:spPr>
          <a:xfrm>
            <a:off x="28575000" y="1719072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Generated voice waveform 0"/>
          <p:cNvCxnSpPr/>
          <p:nvPr/>
        </p:nvCxnSpPr>
        <p:spPr>
          <a:xfrm>
            <a:off x="29260800" y="17702784"/>
            <a:ext cx="0" cy="256032"/>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59" name="Generated voice waveform 1"/>
          <p:cNvCxnSpPr/>
          <p:nvPr/>
        </p:nvCxnSpPr>
        <p:spPr>
          <a:xfrm>
            <a:off x="29443679" y="17556480"/>
            <a:ext cx="0" cy="54864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60" name="Generated voice waveform 2"/>
          <p:cNvCxnSpPr/>
          <p:nvPr/>
        </p:nvCxnSpPr>
        <p:spPr>
          <a:xfrm>
            <a:off x="29626560" y="17373600"/>
            <a:ext cx="0" cy="914400"/>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61" name="Generated voice waveform 3"/>
          <p:cNvCxnSpPr/>
          <p:nvPr/>
        </p:nvCxnSpPr>
        <p:spPr>
          <a:xfrm>
            <a:off x="29809440" y="17483328"/>
            <a:ext cx="0" cy="694944"/>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cxnSp>
        <p:nvCxnSpPr>
          <p:cNvPr id="62" name="Generated voice waveform 4"/>
          <p:cNvCxnSpPr/>
          <p:nvPr/>
        </p:nvCxnSpPr>
        <p:spPr>
          <a:xfrm>
            <a:off x="29992319" y="17666208"/>
            <a:ext cx="0" cy="329184"/>
          </a:xfrm>
          <a:prstGeom prst="line">
            <a:avLst/>
          </a:prstGeom>
          <a:ln w="50800">
            <a:solidFill>
              <a:srgbClr val="76B900"/>
            </a:solidFill>
          </a:ln>
        </p:spPr>
        <p:style>
          <a:lnRef idx="2">
            <a:schemeClr val="accent1"/>
          </a:lnRef>
          <a:fillRef idx="0">
            <a:schemeClr val="accent1"/>
          </a:fillRef>
          <a:effectRef idx="1">
            <a:schemeClr val="accent1"/>
          </a:effectRef>
          <a:fontRef idx="minor">
            <a:schemeClr val="tx1"/>
          </a:fontRef>
        </p:style>
      </p:cxnSp>
      <p:sp>
        <p:nvSpPr>
          <p:cNvPr id="63" name="Closed loop label"/>
          <p:cNvSpPr txBox="1"/>
          <p:nvPr/>
        </p:nvSpPr>
        <p:spPr>
          <a:xfrm>
            <a:off x="11247120" y="17053560"/>
            <a:ext cx="16276320" cy="640080"/>
          </a:xfrm>
          <a:prstGeom prst="rect">
            <a:avLst/>
          </a:prstGeom>
          <a:noFill/>
        </p:spPr>
        <p:txBody>
          <a:bodyPr wrap="square" lIns="0" rIns="0" tIns="0" bIns="0">
            <a:spAutoFit/>
          </a:bodyPr>
          <a:lstStyle/>
          <a:p>
            <a:pPr algn="ctr">
              <a:spcBef>
                <a:spcPts val="0"/>
              </a:spcBef>
              <a:spcAft>
                <a:spcPts val="0"/>
              </a:spcAft>
            </a:pPr>
            <a:r>
              <a:rPr sz="3600" b="0">
                <a:solidFill>
                  <a:srgbClr val="000000"/>
                </a:solidFill>
                <a:latin typeface="NVIDIA Sans Medium"/>
              </a:rPr>
              <a:t>Hear the avatar’s reply</a:t>
            </a:r>
          </a:p>
        </p:txBody>
      </p:sp>
      <p:sp>
        <p:nvSpPr>
          <p:cNvPr id="64" name="Output configuration"/>
          <p:cNvSpPr txBox="1"/>
          <p:nvPr/>
        </p:nvSpPr>
        <p:spPr>
          <a:xfrm>
            <a:off x="1828800" y="19065240"/>
            <a:ext cx="32644080" cy="594360"/>
          </a:xfrm>
          <a:prstGeom prst="rect">
            <a:avLst/>
          </a:prstGeom>
          <a:noFill/>
        </p:spPr>
        <p:txBody>
          <a:bodyPr wrap="square" lIns="0" rIns="0" tIns="0" bIns="0">
            <a:spAutoFit/>
          </a:bodyPr>
          <a:lstStyle/>
          <a:p>
            <a:pPr>
              <a:spcBef>
                <a:spcPts val="0"/>
              </a:spcBef>
              <a:spcAft>
                <a:spcPts val="0"/>
              </a:spcAft>
            </a:pPr>
            <a:r>
              <a:rPr sz="3000" b="0">
                <a:solidFill>
                  <a:srgbClr val="313131"/>
                </a:solidFill>
                <a:latin typeface="NVIDIA Sans"/>
              </a:rPr>
              <a:t>960 × 544 · ~5 s per window · 8 × RTX PRO 5000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18</a:t>
            </a:r>
          </a:p>
        </p:txBody>
      </p:sp>
      <p:sp>
        <p:nvSpPr>
          <p:cNvPr id="3" name="Text Placeholder 2"/>
          <p:cNvSpPr>
            <a:spLocks noGrp="1"/>
          </p:cNvSpPr>
          <p:nvPr>
            <p:ph type="body" idx="13" sz="quarter"/>
          </p:nvPr>
        </p:nvSpPr>
        <p:spPr/>
        <p:txBody>
          <a:bodyPr/>
          <a:lstStyle/>
          <a:p>
            <a:r>
              <a:t>The previous ending guides the next clip. Only new content is appended.</a:t>
            </a:r>
          </a:p>
        </p:txBody>
      </p:sp>
      <p:sp>
        <p:nvSpPr>
          <p:cNvPr id="4" name="Title 3"/>
          <p:cNvSpPr>
            <a:spLocks noGrp="1"/>
          </p:cNvSpPr>
          <p:nvPr>
            <p:ph type="title"/>
          </p:nvPr>
        </p:nvSpPr>
        <p:spPr/>
        <p:txBody>
          <a:bodyPr/>
          <a:lstStyle/>
          <a:p>
            <a:r>
              <a:t>Continuation Makes Clips Feel Continuous</a:t>
            </a:r>
          </a:p>
        </p:txBody>
      </p:sp>
      <p:sp>
        <p:nvSpPr>
          <p:cNvPr id="5" name="Chunk A heading"/>
          <p:cNvSpPr txBox="1"/>
          <p:nvPr/>
        </p:nvSpPr>
        <p:spPr>
          <a:xfrm>
            <a:off x="1828800" y="4754880"/>
            <a:ext cx="15864840" cy="73152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Medium"/>
              </a:rPr>
              <a:t>CHUNK A  /  LAST FRAME</a:t>
            </a:r>
          </a:p>
        </p:txBody>
      </p:sp>
      <p:sp>
        <p:nvSpPr>
          <p:cNvPr id="6" name="Chunk B heading"/>
          <p:cNvSpPr txBox="1"/>
          <p:nvPr/>
        </p:nvSpPr>
        <p:spPr>
          <a:xfrm>
            <a:off x="18882360" y="4754880"/>
            <a:ext cx="15864840" cy="73152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Medium"/>
              </a:rPr>
              <a:t>CHUNK B  /  FIRST RETAINED FRAME</a:t>
            </a:r>
          </a:p>
        </p:txBody>
      </p:sp>
      <p:pic>
        <p:nvPicPr>
          <p:cNvPr id="7" name="Actual last frame of Chunk A" descr="clip-a-ending.png"/>
          <p:cNvPicPr>
            <a:picLocks noChangeAspect="1"/>
          </p:cNvPicPr>
          <p:nvPr/>
        </p:nvPicPr>
        <p:blipFill>
          <a:blip r:embed="rId3"/>
          <a:stretch>
            <a:fillRect/>
          </a:stretch>
        </p:blipFill>
        <p:spPr>
          <a:xfrm>
            <a:off x="1828800" y="5806440"/>
            <a:ext cx="15864840" cy="8990076"/>
          </a:xfrm>
          <a:prstGeom prst="rect">
            <a:avLst/>
          </a:prstGeom>
        </p:spPr>
      </p:pic>
      <p:pic>
        <p:nvPicPr>
          <p:cNvPr id="8" name="Actual first retained frame of Chunk B" descr="clip-b-start.png"/>
          <p:cNvPicPr>
            <a:picLocks noChangeAspect="1"/>
          </p:cNvPicPr>
          <p:nvPr/>
        </p:nvPicPr>
        <p:blipFill>
          <a:blip r:embed="rId4"/>
          <a:stretch>
            <a:fillRect/>
          </a:stretch>
        </p:blipFill>
        <p:spPr>
          <a:xfrm>
            <a:off x="18882360" y="5806440"/>
            <a:ext cx="15864840" cy="8990076"/>
          </a:xfrm>
          <a:prstGeom prst="rect">
            <a:avLst/>
          </a:prstGeom>
        </p:spPr>
      </p:pic>
      <p:sp>
        <p:nvSpPr>
          <p:cNvPr id="9" name="Playback heading"/>
          <p:cNvSpPr txBox="1"/>
          <p:nvPr/>
        </p:nvSpPr>
        <p:spPr>
          <a:xfrm>
            <a:off x="1828800" y="15681959"/>
            <a:ext cx="11887200" cy="594360"/>
          </a:xfrm>
          <a:prstGeom prst="rect">
            <a:avLst/>
          </a:prstGeom>
          <a:noFill/>
        </p:spPr>
        <p:txBody>
          <a:bodyPr wrap="square" lIns="0" rIns="0" tIns="0" bIns="0">
            <a:spAutoFit/>
          </a:bodyPr>
          <a:lstStyle/>
          <a:p>
            <a:pPr>
              <a:spcBef>
                <a:spcPts val="0"/>
              </a:spcBef>
              <a:spcAft>
                <a:spcPts val="0"/>
              </a:spcAft>
            </a:pPr>
            <a:r>
              <a:rPr sz="2800" b="0">
                <a:solidFill>
                  <a:srgbClr val="313131"/>
                </a:solidFill>
                <a:latin typeface="NVIDIA Sans"/>
              </a:rPr>
              <a:t>CONTINUOUS PLAYBACK</a:t>
            </a:r>
          </a:p>
        </p:txBody>
      </p:sp>
      <p:sp>
        <p:nvSpPr>
          <p:cNvPr id="10" name="Discarded B prefix"/>
          <p:cNvSpPr/>
          <p:nvPr/>
        </p:nvSpPr>
        <p:spPr>
          <a:xfrm>
            <a:off x="17949333" y="15727680"/>
            <a:ext cx="677333" cy="5029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17949333" y="15681959"/>
            <a:ext cx="677333" cy="594361"/>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7949333" y="15681959"/>
            <a:ext cx="677333" cy="594361"/>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rim label"/>
          <p:cNvSpPr txBox="1"/>
          <p:nvPr/>
        </p:nvSpPr>
        <p:spPr>
          <a:xfrm>
            <a:off x="19175306" y="15663672"/>
            <a:ext cx="15544800" cy="640080"/>
          </a:xfrm>
          <a:prstGeom prst="rect">
            <a:avLst/>
          </a:prstGeom>
          <a:noFill/>
        </p:spPr>
        <p:txBody>
          <a:bodyPr wrap="square" lIns="0" rIns="0" tIns="0" bIns="0">
            <a:spAutoFit/>
          </a:bodyPr>
          <a:lstStyle/>
          <a:p>
            <a:pPr>
              <a:spcBef>
                <a:spcPts val="0"/>
              </a:spcBef>
              <a:spcAft>
                <a:spcPts val="0"/>
              </a:spcAft>
            </a:pPr>
            <a:r>
              <a:rPr sz="2800" b="0">
                <a:solidFill>
                  <a:srgbClr val="000000"/>
                </a:solidFill>
                <a:latin typeface="NVIDIA Sans"/>
              </a:rPr>
              <a:t>Trim B’s overlapping start</a:t>
            </a:r>
          </a:p>
        </p:txBody>
      </p:sp>
      <p:sp>
        <p:nvSpPr>
          <p:cNvPr id="14" name="Playback A"/>
          <p:cNvSpPr/>
          <p:nvPr/>
        </p:nvSpPr>
        <p:spPr>
          <a:xfrm>
            <a:off x="1828800" y="16642080"/>
            <a:ext cx="16797866" cy="123444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layback B"/>
          <p:cNvSpPr/>
          <p:nvPr/>
        </p:nvSpPr>
        <p:spPr>
          <a:xfrm>
            <a:off x="18626666" y="16642080"/>
            <a:ext cx="16120533" cy="1234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Join marker"/>
          <p:cNvSpPr/>
          <p:nvPr/>
        </p:nvSpPr>
        <p:spPr>
          <a:xfrm>
            <a:off x="18599234" y="16642080"/>
            <a:ext cx="54864"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layback A label"/>
          <p:cNvSpPr txBox="1"/>
          <p:nvPr/>
        </p:nvSpPr>
        <p:spPr>
          <a:xfrm>
            <a:off x="2286000" y="16962120"/>
            <a:ext cx="15883466" cy="731520"/>
          </a:xfrm>
          <a:prstGeom prst="rect">
            <a:avLst/>
          </a:prstGeom>
          <a:noFill/>
        </p:spPr>
        <p:txBody>
          <a:bodyPr wrap="square" lIns="0" rIns="0" tIns="0" bIns="0">
            <a:spAutoFit/>
          </a:bodyPr>
          <a:lstStyle/>
          <a:p>
            <a:pPr>
              <a:spcBef>
                <a:spcPts val="0"/>
              </a:spcBef>
              <a:spcAft>
                <a:spcPts val="0"/>
              </a:spcAft>
            </a:pPr>
            <a:r>
              <a:rPr sz="3400" b="0">
                <a:solidFill>
                  <a:srgbClr val="000000"/>
                </a:solidFill>
                <a:latin typeface="NVIDIA Sans Medium"/>
              </a:rPr>
              <a:t>Chunk A · 5.167 s</a:t>
            </a:r>
          </a:p>
        </p:txBody>
      </p:sp>
      <p:sp>
        <p:nvSpPr>
          <p:cNvPr id="18" name="Playback B label"/>
          <p:cNvSpPr txBox="1"/>
          <p:nvPr/>
        </p:nvSpPr>
        <p:spPr>
          <a:xfrm>
            <a:off x="19083866" y="16962120"/>
            <a:ext cx="15206133" cy="731520"/>
          </a:xfrm>
          <a:prstGeom prst="rect">
            <a:avLst/>
          </a:prstGeom>
          <a:noFill/>
        </p:spPr>
        <p:txBody>
          <a:bodyPr wrap="square" lIns="0" rIns="0" tIns="0" bIns="0">
            <a:spAutoFit/>
          </a:bodyPr>
          <a:lstStyle/>
          <a:p>
            <a:pPr>
              <a:spcBef>
                <a:spcPts val="0"/>
              </a:spcBef>
              <a:spcAft>
                <a:spcPts val="0"/>
              </a:spcAft>
            </a:pPr>
            <a:r>
              <a:rPr sz="3400" b="0">
                <a:solidFill>
                  <a:srgbClr val="FFFFFF"/>
                </a:solidFill>
                <a:latin typeface="NVIDIA Sans Medium"/>
              </a:rPr>
              <a:t>Chunk B · +4.958 s</a:t>
            </a:r>
          </a:p>
        </p:txBody>
      </p:sp>
      <p:sp>
        <p:nvSpPr>
          <p:cNvPr id="19" name="Context principle"/>
          <p:cNvSpPr txBox="1"/>
          <p:nvPr/>
        </p:nvSpPr>
        <p:spPr>
          <a:xfrm>
            <a:off x="1828800" y="18608040"/>
            <a:ext cx="32918400" cy="731520"/>
          </a:xfrm>
          <a:prstGeom prst="rect">
            <a:avLst/>
          </a:prstGeom>
          <a:noFill/>
        </p:spPr>
        <p:txBody>
          <a:bodyPr wrap="square" lIns="0" rIns="0" tIns="0" bIns="0">
            <a:spAutoFit/>
          </a:bodyPr>
          <a:lstStyle/>
          <a:p>
            <a:pPr>
              <a:spcBef>
                <a:spcPts val="0"/>
              </a:spcBef>
              <a:spcAft>
                <a:spcPts val="0"/>
              </a:spcAft>
            </a:pPr>
            <a:r>
              <a:rPr sz="2800" b="0">
                <a:solidFill>
                  <a:srgbClr val="313131"/>
                </a:solidFill>
                <a:latin typeface="NVIDIA Sans"/>
              </a:rPr>
              <a:t>Recent audio–video context conditions the next generation; matching audio is trimmed with the overlap.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828800" y="914400"/>
            <a:ext cx="32918400" cy="2057400"/>
          </a:xfrm>
          <a:prstGeom prst="rect">
            <a:avLst/>
          </a:prstGeom>
          <a:noFill/>
        </p:spPr>
        <p:txBody>
          <a:bodyPr wrap="square" lIns="18288" rIns="18288" tIns="0" bIns="0">
            <a:spAutoFit/>
          </a:bodyPr>
          <a:lstStyle/>
          <a:p>
            <a:pPr>
              <a:spcBef>
                <a:spcPts val="0"/>
              </a:spcBef>
              <a:spcAft>
                <a:spcPts val="0"/>
              </a:spcAft>
            </a:pPr>
            <a:r>
              <a:rPr sz="7000" b="1">
                <a:solidFill>
                  <a:srgbClr val="000000"/>
                </a:solidFill>
                <a:latin typeface="NVIDIA Sans"/>
              </a:rPr>
              <a:t>Live Avatar: Recorded Conversation</a:t>
            </a:r>
          </a:p>
        </p:txBody>
      </p:sp>
      <p:sp>
        <p:nvSpPr>
          <p:cNvPr id="3" name="Subtitle"/>
          <p:cNvSpPr txBox="1"/>
          <p:nvPr/>
        </p:nvSpPr>
        <p:spPr>
          <a:xfrm>
            <a:off x="1828800" y="3200400"/>
            <a:ext cx="32918400" cy="1097280"/>
          </a:xfrm>
          <a:prstGeom prst="rect">
            <a:avLst/>
          </a:prstGeom>
          <a:noFill/>
        </p:spPr>
        <p:txBody>
          <a:bodyPr wrap="square" lIns="18288" rIns="18288" tIns="0" bIns="0">
            <a:spAutoFit/>
          </a:bodyPr>
          <a:lstStyle/>
          <a:p>
            <a:pPr>
              <a:spcBef>
                <a:spcPts val="0"/>
              </a:spcBef>
              <a:spcAft>
                <a:spcPts val="0"/>
              </a:spcAft>
            </a:pPr>
            <a:r>
              <a:rPr sz="3300" b="0">
                <a:solidFill>
                  <a:srgbClr val="313131"/>
                </a:solidFill>
                <a:latin typeface="NVIDIA Sans"/>
              </a:rPr>
              <a:t>74.55 seconds · user-recorded microphone conversation · native H3 audio + video</a:t>
            </a:r>
          </a:p>
        </p:txBody>
      </p:sp>
      <p:sp>
        <p:nvSpPr>
          <p:cNvPr id="4" name="Slide number"/>
          <p:cNvSpPr txBox="1"/>
          <p:nvPr/>
        </p:nvSpPr>
        <p:spPr>
          <a:xfrm>
            <a:off x="914400" y="19385280"/>
            <a:ext cx="914400" cy="640080"/>
          </a:xfrm>
          <a:prstGeom prst="rect">
            <a:avLst/>
          </a:prstGeom>
          <a:noFill/>
        </p:spPr>
        <p:txBody>
          <a:bodyPr wrap="square" lIns="18288" rIns="18288" tIns="0" bIns="0">
            <a:spAutoFit/>
          </a:bodyPr>
          <a:lstStyle/>
          <a:p>
            <a:pPr>
              <a:spcBef>
                <a:spcPts val="0"/>
              </a:spcBef>
              <a:spcAft>
                <a:spcPts val="0"/>
              </a:spcAft>
            </a:pPr>
            <a:r>
              <a:rPr sz="2400" b="0">
                <a:solidFill>
                  <a:srgbClr val="000000"/>
                </a:solidFill>
                <a:latin typeface="NVIDIA Sans"/>
              </a:rPr>
              <a:t>19</a:t>
            </a:r>
          </a:p>
        </p:txBody>
      </p:sp>
      <p:pic>
        <p:nvPicPr>
          <p:cNvPr id="5" name="live-avatar-record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761139" y="4754880"/>
            <a:ext cx="23053720" cy="13258800"/>
          </a:xfrm>
          <a:prstGeom prst="rect">
            <a:avLst/>
          </a:prstGeom>
        </p:spPr>
      </p:pic>
      <p:sp>
        <p:nvSpPr>
          <p:cNvPr id="6" name="Recording footer"/>
          <p:cNvSpPr txBox="1"/>
          <p:nvPr/>
        </p:nvSpPr>
        <p:spPr>
          <a:xfrm>
            <a:off x="1828800" y="18562320"/>
            <a:ext cx="32918400" cy="73152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Play the recorded interaction · fullscreen avatar, live captions and timing overlays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20</a:t>
            </a:r>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Takeaways</a:t>
            </a:r>
          </a:p>
        </p:txBody>
      </p:sp>
      <p:sp>
        <p:nvSpPr>
          <p:cNvPr id="5" name="Takeaway number 1"/>
          <p:cNvSpPr txBox="1"/>
          <p:nvPr/>
        </p:nvSpPr>
        <p:spPr>
          <a:xfrm>
            <a:off x="1828800" y="5084064"/>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01</a:t>
            </a:r>
          </a:p>
        </p:txBody>
      </p:sp>
      <p:sp>
        <p:nvSpPr>
          <p:cNvPr id="6" name="Takeaway title 1"/>
          <p:cNvSpPr txBox="1"/>
          <p:nvPr/>
        </p:nvSpPr>
        <p:spPr>
          <a:xfrm>
            <a:off x="3931920" y="502920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Multi-GPU optimization starts with topology</a:t>
            </a:r>
          </a:p>
        </p:txBody>
      </p:sp>
      <p:sp>
        <p:nvSpPr>
          <p:cNvPr id="7" name="Takeaway body 1"/>
          <p:cNvSpPr txBox="1"/>
          <p:nvPr/>
        </p:nvSpPr>
        <p:spPr>
          <a:xfrm>
            <a:off x="3931920" y="635508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Map GPU/NIC links and locate communication bottlenecks.</a:t>
            </a:r>
          </a:p>
          <a:p>
            <a:pPr>
              <a:spcBef>
                <a:spcPts val="0"/>
              </a:spcBef>
              <a:spcAft>
                <a:spcPts val="0"/>
              </a:spcAft>
            </a:pPr>
            <a:r>
              <a:rPr sz="3600" b="0">
                <a:solidFill>
                  <a:srgbClr val="000000"/>
                </a:solidFill>
                <a:latin typeface="NVIDIA Sans"/>
              </a:rPr>
              <a:t>Use available bandwidth efficiently, or reduce data transfer.</a:t>
            </a:r>
          </a:p>
          <a:p>
            <a:pPr>
              <a:spcBef>
                <a:spcPts val="0"/>
              </a:spcBef>
              <a:spcAft>
                <a:spcPts val="0"/>
              </a:spcAft>
            </a:pPr>
            <a:r>
              <a:rPr sz="3600" b="0">
                <a:solidFill>
                  <a:srgbClr val="000000"/>
                </a:solidFill>
                <a:latin typeface="NVIDIA Sans"/>
              </a:rPr>
              <a:t>Communication is a key source of lossless speedups.</a:t>
            </a:r>
          </a:p>
        </p:txBody>
      </p:sp>
      <p:sp>
        <p:nvSpPr>
          <p:cNvPr id="8" name="Takeaway number 2"/>
          <p:cNvSpPr txBox="1"/>
          <p:nvPr/>
        </p:nvSpPr>
        <p:spPr>
          <a:xfrm>
            <a:off x="1828800" y="10021824"/>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02</a:t>
            </a:r>
          </a:p>
        </p:txBody>
      </p:sp>
      <p:sp>
        <p:nvSpPr>
          <p:cNvPr id="9" name="Takeaway title 2"/>
          <p:cNvSpPr txBox="1"/>
          <p:nvPr/>
        </p:nvSpPr>
        <p:spPr>
          <a:xfrm>
            <a:off x="3931920" y="996696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Evaluate quantization case by case</a:t>
            </a:r>
          </a:p>
        </p:txBody>
      </p:sp>
      <p:sp>
        <p:nvSpPr>
          <p:cNvPr id="10" name="Takeaway body 2"/>
          <p:cNvSpPr txBox="1"/>
          <p:nvPr/>
        </p:nvSpPr>
        <p:spPr>
          <a:xfrm>
            <a:off x="3931920" y="1129284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Lossy quantization behaves differently across models and workloads.</a:t>
            </a:r>
          </a:p>
          <a:p>
            <a:pPr>
              <a:spcBef>
                <a:spcPts val="0"/>
              </a:spcBef>
              <a:spcAft>
                <a:spcPts val="0"/>
              </a:spcAft>
            </a:pPr>
            <a:r>
              <a:rPr sz="3600" b="0">
                <a:solidFill>
                  <a:srgbClr val="000000"/>
                </a:solidFill>
                <a:latin typeface="NVIDIA Sans"/>
              </a:rPr>
              <a:t>Measure quality and latency on representative cases.</a:t>
            </a:r>
          </a:p>
        </p:txBody>
      </p:sp>
      <p:sp>
        <p:nvSpPr>
          <p:cNvPr id="11" name="Takeaway number 3"/>
          <p:cNvSpPr txBox="1"/>
          <p:nvPr/>
        </p:nvSpPr>
        <p:spPr>
          <a:xfrm>
            <a:off x="1828800" y="14685263"/>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03</a:t>
            </a:r>
          </a:p>
        </p:txBody>
      </p:sp>
      <p:sp>
        <p:nvSpPr>
          <p:cNvPr id="12" name="Takeaway title 3"/>
          <p:cNvSpPr txBox="1"/>
          <p:nvPr/>
        </p:nvSpPr>
        <p:spPr>
          <a:xfrm>
            <a:off x="3931920" y="1463040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Next: real-time response and richer interaction</a:t>
            </a:r>
          </a:p>
        </p:txBody>
      </p:sp>
      <p:sp>
        <p:nvSpPr>
          <p:cNvPr id="13" name="Takeaway body 3"/>
          <p:cNvSpPr txBox="1"/>
          <p:nvPr/>
        </p:nvSpPr>
        <p:spPr>
          <a:xfrm>
            <a:off x="3931920" y="1595628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Explore autoregressive diffusion for earlier responses.</a:t>
            </a:r>
            <a:br/>
            <a:r>
              <a:rPr sz="3600" b="0">
                <a:solidFill>
                  <a:srgbClr val="000000"/>
                </a:solidFill>
                <a:latin typeface="NVIDIA Sans"/>
              </a:rPr>
              <a:t>Use prompt enhancers to support richer interaction.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