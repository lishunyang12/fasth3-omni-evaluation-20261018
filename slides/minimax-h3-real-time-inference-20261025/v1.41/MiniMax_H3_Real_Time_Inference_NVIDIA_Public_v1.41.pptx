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64" r:id="rId48"/>
    <p:sldId id="363" r:id="rId47"/>
    <p:sldId id="353" r:id="rId95"/>
    <p:sldId id="354" r:id="rId96"/>
    <p:sldId id="355" r:id="rId97"/>
    <p:sldId id="361" r:id="rId45"/>
    <p:sldId id="368" r:id="rId51"/>
    <p:sldId id="369" r:id="rId49"/>
    <p:sldId id="357" r:id="rId99"/>
    <p:sldId id="358" r:id="rId100"/>
    <p:sldId id="359" r:id="rId101"/>
    <p:sldId id="370" r:id="rId44"/>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44" Type="http://schemas.openxmlformats.org/officeDocument/2006/relationships/slide" Target="slides/slide22.xml"/><Relationship Id="rId45" Type="http://schemas.openxmlformats.org/officeDocument/2006/relationships/slide" Target="slides/slide15.xml"/><Relationship Id="rId47" Type="http://schemas.openxmlformats.org/officeDocument/2006/relationships/slide" Target="slides/slide11.xml"/><Relationship Id="rId48" Type="http://schemas.openxmlformats.org/officeDocument/2006/relationships/slide" Target="slides/slide10.xml"/><Relationship Id="rId49" Type="http://schemas.openxmlformats.org/officeDocument/2006/relationships/slide" Target="slides/slide17.xml"/><Relationship Id="rId51" Type="http://schemas.openxmlformats.org/officeDocument/2006/relationships/slide" Target="slides/slide16.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xml"/><Relationship Id="rId83" Type="http://schemas.openxmlformats.org/officeDocument/2006/relationships/slide" Target="slides/slide2.xml"/><Relationship Id="rId84" Type="http://schemas.openxmlformats.org/officeDocument/2006/relationships/slide" Target="slides/slide3.xml"/><Relationship Id="rId85" Type="http://schemas.openxmlformats.org/officeDocument/2006/relationships/slide" Target="slides/slide4.xml"/><Relationship Id="rId86" Type="http://schemas.openxmlformats.org/officeDocument/2006/relationships/slide" Target="slides/slide5.xml"/><Relationship Id="rId87" Type="http://schemas.openxmlformats.org/officeDocument/2006/relationships/slide" Target="slides/slide6.xml"/><Relationship Id="rId88" Type="http://schemas.openxmlformats.org/officeDocument/2006/relationships/slide" Target="slides/slide7.xml"/><Relationship Id="rId89" Type="http://schemas.openxmlformats.org/officeDocument/2006/relationships/slide" Target="slides/slide8.xml"/><Relationship Id="rId90" Type="http://schemas.openxmlformats.org/officeDocument/2006/relationships/slide" Target="slides/slide9.xml"/><Relationship Id="rId95" Type="http://schemas.openxmlformats.org/officeDocument/2006/relationships/slide" Target="slides/slide12.xml"/><Relationship Id="rId96" Type="http://schemas.openxmlformats.org/officeDocument/2006/relationships/slide" Target="slides/slide13.xml"/><Relationship Id="rId97" Type="http://schemas.openxmlformats.org/officeDocument/2006/relationships/slide" Target="slides/slide14.xml"/><Relationship Id="rId99" Type="http://schemas.openxmlformats.org/officeDocument/2006/relationships/slide" Target="slides/slide18.xml"/><Relationship Id="rId100" Type="http://schemas.openxmlformats.org/officeDocument/2006/relationships/slide" Target="slides/slide19.xml"/><Relationship Id="rId101" Type="http://schemas.openxmlformats.org/officeDocument/2006/relationships/slide" Target="slides/slide20.xml"/><Relationship Id="rId102" Type="http://schemas.openxmlformats.org/officeDocument/2006/relationships/slide" Target="slides/slide2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"schema": 1,</a:t>
            </a:r>
          </a:p>
          <a:p>
            <a:r>
              <a:t>  "baseline": "Historical Base50 with default AdaLN offload",</a:t>
            </a:r>
          </a:p>
          <a:p>
            <a:r>
              <a:t>  "configuration": {</a:t>
            </a:r>
          </a:p>
          <a:p>
            <a:r>
              <a:t>    "task": "ref2va",</a:t>
            </a:r>
          </a:p>
          <a:p>
            <a:r>
              <a:t>    "width": 960,</a:t>
            </a:r>
          </a:p>
          <a:p>
            <a:r>
              <a:t>    "height": 544,</a:t>
            </a:r>
          </a:p>
          <a:p>
            <a:r>
              <a:t>    "frames": 124,</a:t>
            </a:r>
          </a:p>
          <a:p>
            <a:r>
              <a:t>    "fps": 24,</a:t>
            </a:r>
          </a:p>
          <a:p>
            <a:r>
              <a:t>    "clip_seconds": 5.166666666666667,</a:t>
            </a:r>
          </a:p>
          <a:p>
            <a:r>
              <a:t>    "steps": 50,</a:t>
            </a:r>
          </a:p>
          <a:p>
            <a:r>
              <a:t>    "seed": 43,</a:t>
            </a:r>
          </a:p>
          <a:p>
            <a:r>
              <a:t>    "precision": "bf16",</a:t>
            </a:r>
          </a:p>
          <a:p>
            <a:r>
              <a:t>    "attention": {</a:t>
            </a:r>
          </a:p>
          <a:p>
            <a:r>
              <a:t>      "default": {</a:t>
            </a:r>
          </a:p>
          <a:p>
            <a:r>
              <a:t>        "backend": "CUDNN_ATTN"</a:t>
            </a:r>
          </a:p>
          <a:p>
            <a:r>
              <a:t>      },</a:t>
            </a:r>
          </a:p>
          <a:p>
            <a:r>
              <a:t>      "per_role": {</a:t>
            </a:r>
          </a:p>
          <a:p>
            <a:r>
              <a:t>        "minimax_h3.token_refiner": {</a:t>
            </a:r>
          </a:p>
          <a:p>
            <a:r>
              <a:t>          "backend": "TORCH_SDPA"</a:t>
            </a:r>
          </a:p>
          <a:p>
            <a:r>
              <a:t>        }</a:t>
            </a:r>
          </a:p>
          <a:p>
            <a:r>
              <a:t>      }</a:t>
            </a:r>
          </a:p>
          <a:p>
            <a:r>
              <a:t>    },</a:t>
            </a:r>
          </a:p>
          <a:p>
            <a:r>
              <a:t>    "quantization": null,</a:t>
            </a:r>
          </a:p>
          <a:p>
            <a:r>
              <a:t>    "adapter": null,</a:t>
            </a:r>
          </a:p>
          <a:p>
            <a:r>
              <a:t>    "transport": "local NCCL",</a:t>
            </a:r>
          </a:p>
          <a:p>
            <a:r>
              <a:t>    "rdma": false,</a:t>
            </a:r>
          </a:p>
          <a:p>
            <a:r>
              <a:t>    "parallelism": "TP1/USP8/TE8/VAE-tile8",</a:t>
            </a:r>
          </a:p>
          <a:p>
            <a:r>
              <a:t>    "adaln": "exact runtime cache + default SM120 weight offload"</a:t>
            </a:r>
          </a:p>
          <a:p>
            <a:r>
              <a:t>  },</a:t>
            </a:r>
          </a:p>
          <a:p>
            <a:r>
              <a:t>  "software": {</a:t>
            </a:r>
          </a:p>
          <a:p>
            <a:r>
              <a:t>    "python": "3.12.13",</a:t>
            </a:r>
          </a:p>
          <a:p>
            <a:r>
              <a:t>    "packages": {</a:t>
            </a:r>
          </a:p>
          <a:p>
            <a:r>
              <a:t>      "torch": "2.13.0+cu132",</a:t>
            </a:r>
          </a:p>
          <a:p>
            <a:r>
              <a:t>      "torchvision": "0.28.0+cu132",</a:t>
            </a:r>
          </a:p>
          <a:p>
            <a:r>
              <a:t>      "torchaudio": "2.11.0+cpu",</a:t>
            </a:r>
          </a:p>
          <a:p>
            <a:r>
              <a:t>      "transformers": "5.14.1",</a:t>
            </a:r>
          </a:p>
          <a:p>
            <a:r>
              <a:t>      "diffusers": "0.40.0",</a:t>
            </a:r>
          </a:p>
          <a:p>
            <a:r>
              <a:t>      "vllm": "0.30.0",</a:t>
            </a:r>
          </a:p>
          <a:p>
            <a:r>
              <a:t>      "triton": "3.7.1",</a:t>
            </a:r>
          </a:p>
          <a:p>
            <a:r>
              <a:t>      "nvidia-cutlass-dsl": "4.7.1",</a:t>
            </a:r>
          </a:p>
          <a:p>
            <a:r>
              <a:t>      "cache-dit": "1.5.0",</a:t>
            </a:r>
          </a:p>
          <a:p>
            <a:r>
              <a:t>      "numpy": "2.3.5",</a:t>
            </a:r>
          </a:p>
          <a:p>
            <a:r>
              <a:t>      "fastvideo-kernel": "0.3.4",</a:t>
            </a:r>
          </a:p>
          <a:p>
            <a:r>
              <a:t>      "huggingface-hub": "1.31.0",</a:t>
            </a:r>
          </a:p>
          <a:p>
            <a:r>
              <a:t>      "quack-kernels": "0.6.5"</a:t>
            </a:r>
          </a:p>
          <a:p>
            <a:r>
              <a:t>    },</a:t>
            </a:r>
          </a:p>
          <a:p>
            <a:r>
              <a:t>    "vllm_omni_revision": "63487a7f22db603adefcdac378cfe2a26f6bcb7c"</a:t>
            </a:r>
          </a:p>
          <a:p>
            <a:r>
              <a:t>  },</a:t>
            </a:r>
          </a:p>
          <a:p>
            <a:r>
              <a:t>  "unprofiled": {</a:t>
            </a:r>
          </a:p>
          <a:p>
            <a:r>
              <a:t>    "median_seconds": 247.9563708677888,</a:t>
            </a:r>
          </a:p>
          <a:p>
            <a:r>
              <a:t>    "samples_seconds": [</a:t>
            </a:r>
          </a:p>
          <a:p>
            <a:r>
              <a:t>      247.9563708677888,</a:t>
            </a:r>
          </a:p>
          <a:p>
            <a:r>
              <a:t>      246.20054612867534,</a:t>
            </a:r>
          </a:p>
          <a:p>
            <a:r>
              <a:t>      248.29797918722034</a:t>
            </a:r>
          </a:p>
          <a:p>
            <a:r>
              <a:t>    ],</a:t>
            </a:r>
          </a:p>
          <a:p>
            <a:r>
              <a:t>    "measurement": "Client wall time through complete audiovisual MP4; initialization and warmup excluded"</a:t>
            </a:r>
          </a:p>
          <a:p>
            <a:r>
              <a:t>  },</a:t>
            </a:r>
          </a:p>
          <a:p>
            <a:r>
              <a:t>  "profiled": {</a:t>
            </a:r>
          </a:p>
          <a:p>
            <a:r>
              <a:t>    "http_seconds": 252.77305156691,</a:t>
            </a:r>
          </a:p>
          <a:p>
            <a:r>
              <a:t>    "requests": 1,</a:t>
            </a:r>
          </a:p>
          <a:p>
            <a:r>
              <a:t>    "rank0_pid": 1141029,</a:t>
            </a:r>
          </a:p>
          <a:p>
            <a:r>
              <a:t>    "cpu_nvtx_ranges": {</a:t>
            </a:r>
          </a:p>
          <a:p>
            <a:r>
              <a:t>      "forward": {</a:t>
            </a:r>
          </a:p>
          <a:p>
            <a:r>
              <a:t>        "start_ns": 110709807,</a:t>
            </a:r>
          </a:p>
          <a:p>
            <a:r>
              <a:t>        "end_ns": 252544199004,</a:t>
            </a:r>
          </a:p>
          <a:p>
            <a:r>
              <a:t>        "seconds": 252.433489197</a:t>
            </a:r>
          </a:p>
          <a:p>
            <a:r>
              <a:t>      },</a:t>
            </a:r>
          </a:p>
          <a:p>
            <a:r>
              <a:t>      "encode_prompt": {</a:t>
            </a:r>
          </a:p>
          <a:p>
            <a:r>
              <a:t>        "start_ns": 229754528,</a:t>
            </a:r>
          </a:p>
          <a:p>
            <a:r>
              <a:t>        "end_ns": 7850969309,</a:t>
            </a:r>
          </a:p>
          <a:p>
            <a:r>
              <a:t>        "seconds": 7.621214781</a:t>
            </a:r>
          </a:p>
          <a:p>
            <a:r>
              <a:t>      },</a:t>
            </a:r>
          </a:p>
          <a:p>
            <a:r>
              <a:t>      "diffuse": {</a:t>
            </a:r>
          </a:p>
          <a:p>
            <a:r>
              <a:t>        "start_ns": 8367485893,</a:t>
            </a:r>
          </a:p>
          <a:p>
            <a:r>
              <a:t>        "end_ns": 250784096775,</a:t>
            </a:r>
          </a:p>
          <a:p>
            <a:r>
              <a:t>        "seconds": 242.416610882</a:t>
            </a:r>
          </a:p>
          <a:p>
            <a:r>
              <a:t>      },</a:t>
            </a:r>
          </a:p>
          <a:p>
            <a:r>
              <a:t>      "decode": {</a:t>
            </a:r>
          </a:p>
          <a:p>
            <a:r>
              <a:t>        "start_ns": 250785370303,</a:t>
            </a:r>
          </a:p>
          <a:p>
            <a:r>
              <a:t>        "end_ns": 252516683447,</a:t>
            </a:r>
          </a:p>
          <a:p>
            <a:r>
              <a:t>        "seconds": 1.731313144</a:t>
            </a:r>
          </a:p>
          <a:p>
            <a:r>
              <a:t>      }</a:t>
            </a:r>
          </a:p>
          <a:p>
            <a:r>
              <a:t>    },</a:t>
            </a:r>
          </a:p>
          <a:p>
            <a:r>
              <a:t>    "wall_time_rows": [</a:t>
            </a:r>
          </a:p>
          <a:p>
            <a:r>
              <a:t>      {</a:t>
            </a:r>
          </a:p>
          <a:p>
            <a:r>
              <a:t>        "label": "Prompt encoding",</a:t>
            </a:r>
          </a:p>
          <a:p>
            <a:r>
              <a:t>        "seconds": 7.621214781</a:t>
            </a:r>
          </a:p>
          <a:p>
            <a:r>
              <a:t>      },</a:t>
            </a:r>
          </a:p>
          <a:p>
            <a:r>
              <a:t>      {</a:t>
            </a:r>
          </a:p>
          <a:p>
            <a:r>
              <a:t>        "label": "DiT \u00b7 50 evaluations",</a:t>
            </a:r>
          </a:p>
          <a:p>
            <a:r>
              <a:t>        "seconds": 242.416610882</a:t>
            </a:r>
          </a:p>
          <a:p>
            <a:r>
              <a:t>      },</a:t>
            </a:r>
          </a:p>
          <a:p>
            <a:r>
              <a:t>      {</a:t>
            </a:r>
          </a:p>
          <a:p>
            <a:r>
              <a:t>        "label": "Video + audio decode",</a:t>
            </a:r>
          </a:p>
          <a:p>
            <a:r>
              <a:t>        "seconds": 1.731313144</a:t>
            </a:r>
          </a:p>
          <a:p>
            <a:r>
              <a:t>      },</a:t>
            </a:r>
          </a:p>
          <a:p>
            <a:r>
              <a:t>      {</a:t>
            </a:r>
          </a:p>
          <a:p>
            <a:r>
              <a:t>        "label": "Other / uncovered work + response",</a:t>
            </a:r>
          </a:p>
          <a:p>
            <a:r>
              <a:t>        "seconds": 1.0039127599100084</a:t>
            </a:r>
          </a:p>
          <a:p>
            <a:r>
              <a:t>      }</a:t>
            </a:r>
          </a:p>
          <a:p>
            <a:r>
              <a:t>    ]</a:t>
            </a:r>
          </a:p>
          <a:p>
            <a:r>
              <a:t>  },</a:t>
            </a:r>
          </a:p>
          <a:p>
            <a:r>
              <a:t>  "gpu_accounting": {</a:t>
            </a:r>
          </a:p>
          <a:p>
            <a:r>
              <a:t>    "denominator_ns": 1999901830618,</a:t>
            </a:r>
          </a:p>
          <a:p>
            <a:r>
              <a:t>    "average_gpu_seconds": 249.98772882725,</a:t>
            </a:r>
          </a:p>
          <a:p>
            <a:r>
              <a:t>    "rows": [</a:t>
            </a:r>
          </a:p>
          <a:p>
            <a:r>
              <a:t>      {</a:t>
            </a:r>
          </a:p>
          <a:p>
            <a:r>
              <a:t>        "label": "NCCL communication",</a:t>
            </a:r>
          </a:p>
          <a:p>
            <a:r>
              <a:t>        "total_ns": 984373476694,</a:t>
            </a:r>
          </a:p>
          <a:p>
            <a:r>
              <a:t>        "mean_seconds": 123.04668458675,</a:t>
            </a:r>
          </a:p>
          <a:p>
            <a:r>
              <a:t>        "share_percent": 49.221089836685316</a:t>
            </a:r>
          </a:p>
          <a:p>
            <a:r>
              <a:t>      },</a:t>
            </a:r>
          </a:p>
          <a:p>
            <a:r>
              <a:t>      {</a:t>
            </a:r>
          </a:p>
          <a:p>
            <a:r>
              <a:t>        "label": "DiT attention + GEMM / MLP",</a:t>
            </a:r>
          </a:p>
          <a:p>
            <a:r>
              <a:t>        "total_ns": 676007192622,</a:t>
            </a:r>
          </a:p>
          <a:p>
            <a:r>
              <a:t>        "mean_seconds": 84.50089907775,</a:t>
            </a:r>
          </a:p>
          <a:p>
            <a:r>
              <a:t>        "share_percent": 33.80201879274762</a:t>
            </a:r>
          </a:p>
          <a:p>
            <a:r>
              <a:t>      },</a:t>
            </a:r>
          </a:p>
          <a:p>
            <a:r>
              <a:t>      {</a:t>
            </a:r>
          </a:p>
          <a:p>
            <a:r>
              <a:t>        "label": "AdaLN staging + device layout",</a:t>
            </a:r>
          </a:p>
          <a:p>
            <a:r>
              <a:t>        "total_ns": 307638901015,</a:t>
            </a:r>
          </a:p>
          <a:p>
            <a:r>
              <a:t>        "mean_seconds": 38.454862626875,</a:t>
            </a:r>
          </a:p>
          <a:p>
            <a:r>
              <a:t>        "share_percent": 15.38270010583144</a:t>
            </a:r>
          </a:p>
          <a:p>
            <a:r>
              <a:t>      },</a:t>
            </a:r>
          </a:p>
          <a:p>
            <a:r>
              <a:t>      {</a:t>
            </a:r>
          </a:p>
          <a:p>
            <a:r>
              <a:t>        "label": "Encoder, VAE + other GPU work",</a:t>
            </a:r>
          </a:p>
          <a:p>
            <a:r>
              <a:t>        "total_ns": 31882260287,</a:t>
            </a:r>
          </a:p>
          <a:p>
            <a:r>
              <a:t>        "mean_seconds": 3.985282535875,</a:t>
            </a:r>
          </a:p>
          <a:p>
            <a:r>
              <a:t>        "share_percent": 1.5941912647356244</a:t>
            </a:r>
          </a:p>
          <a:p>
            <a:r>
              <a:t>      }</a:t>
            </a:r>
          </a:p>
          <a:p>
            <a:r>
              <a:t>    ],</a:t>
            </a:r>
          </a:p>
          <a:p>
            <a:r>
              <a:t>    "dit_nccl_mean_seconds": 116.073690559625,</a:t>
            </a:r>
          </a:p>
          <a:p>
            <a:r>
              <a:t>    "other_nccl_mean_seconds": 6.972994027125,</a:t>
            </a:r>
          </a:p>
          <a:p>
            <a:r>
              <a:t>    "attention_mean_seconds": 45.3087766475,</a:t>
            </a:r>
          </a:p>
          <a:p>
            <a:r>
              <a:t>    "gemm_mean_seconds": 39.19212243025</a:t>
            </a:r>
          </a:p>
          <a:p>
            <a:r>
              <a:t>  },</a:t>
            </a:r>
          </a:p>
          <a:p>
            <a:r>
              <a:t>  "sources": [</a:t>
            </a:r>
          </a:p>
          <a:p>
            <a:r>
              <a:t>    {</a:t>
            </a:r>
          </a:p>
          <a:p>
            <a:r>
              <a:t>      "name": "run-base50-bf16-nccl-nsys-r2/analysis/nvtx/summary.json",</a:t>
            </a:r>
          </a:p>
          <a:p>
            <a:r>
              <a:t>      "sha256": "a8cb907bc876ef7e20beb48fdcd543ba254a6071ab272120c395c62d876f3eaa"</a:t>
            </a:r>
          </a:p>
          <a:p>
            <a:r>
              <a:t>    },</a:t>
            </a:r>
          </a:p>
          <a:p>
            <a:r>
              <a:t>    {</a:t>
            </a:r>
          </a:p>
          <a:p>
            <a:r>
              <a:t>      "name": "run-base50-bf16-nccl-nsys-r2/analysis/e2e/summary.json",</a:t>
            </a:r>
          </a:p>
          <a:p>
            <a:r>
              <a:t>      "sha256": "7ed7fc81dff11de27c30705e1dfe25a807e8bf4051e76f24822f737ace86ab72"</a:t>
            </a:r>
          </a:p>
          <a:p>
            <a:r>
              <a:t>    },</a:t>
            </a:r>
          </a:p>
          <a:p>
            <a:r>
              <a:t>    {</a:t>
            </a:r>
          </a:p>
          <a:p>
            <a:r>
              <a:t>      "name": "run-base50-bf16-nccl-nsys-r2/launch.json",</a:t>
            </a:r>
          </a:p>
          <a:p>
            <a:r>
              <a:t>      "sha256": "010d84db63397701cb0aa7775ca338574259d48c0f929de981f9a6f2f5ab190c"</a:t>
            </a:r>
          </a:p>
          <a:p>
            <a:r>
              <a:t>    },</a:t>
            </a:r>
          </a:p>
          <a:p>
            <a:r>
              <a:t>    {</a:t>
            </a:r>
          </a:p>
          <a:p>
            <a:r>
              <a:t>      "name": "run-base50-bf16-nccl-nsys-r2/environment.json",</a:t>
            </a:r>
          </a:p>
          <a:p>
            <a:r>
              <a:t>      "sha256": "25c56bb7756451fddcdf5b79887942ac8c2f6e06a33eb6b6132d4c69e19b268b"</a:t>
            </a:r>
          </a:p>
          <a:p>
            <a:r>
              <a:t>    },</a:t>
            </a:r>
          </a:p>
          <a:p>
            <a:r>
              <a:t>    {</a:t>
            </a:r>
          </a:p>
          <a:p>
            <a:r>
              <a:t>      "name": "run-base50-bf16-nccl-r4/analysis/summary.json",</a:t>
            </a:r>
          </a:p>
          <a:p>
            <a:r>
              <a:t>      "sha256": "5b6d71e67a431884733c527260d93f1b5c73cea8b151eb3e0031b938f2f82f0f"</a:t>
            </a:r>
          </a:p>
          <a:p>
            <a:r>
              <a:t>    }</a:t>
            </a:r>
          </a:p>
          <a:p>
            <a:r>
              <a:t>  ],</a:t>
            </a:r>
          </a:p>
          <a:p>
            <a:r>
              <a:t>  "trace_sqlite_sha256": "ea85dcc3b90bdec018d1532144e65c22f7ea9ea9a7bf8b43f90f24e5dcb1e365",</a:t>
            </a:r>
          </a:p>
          <a:p>
            <a:r>
              <a:t>  "validation": {</a:t>
            </a:r>
          </a:p>
          <a:p>
            <a:r>
              <a:t>    "matched_profile": "pass",</a:t>
            </a:r>
          </a:p>
          <a:p>
            <a:r>
              <a:t>    "independent_nsys_totals": "exact_match",</a:t>
            </a:r>
          </a:p>
          <a:p>
            <a:r>
              <a:t>    "gpu_categories_sum_to_total": true,</a:t>
            </a:r>
          </a:p>
          <a:p>
            <a:r>
              <a:t>    "rank0_stage_ranges_nonoverlapping": true</a:t>
            </a:r>
          </a:p>
          <a:p>
            <a:r>
              <a:t>  },</a:t>
            </a:r>
          </a:p>
          <a:p>
            <a:r>
              <a:t>  "limitations": [</a:t>
            </a:r>
          </a:p>
          <a:p>
            <a:r>
              <a:t>    "GPU categories are operation residency summed across eight GPUs, divided by eight; they are not an E2E critical-path breakdown.",</a:t>
            </a:r>
          </a:p>
          <a:p>
            <a:r>
              <a:t>    "NCCL kernel time includes synchronization and peer waiting.",</a:t>
            </a:r>
          </a:p>
          <a:p>
            <a:r>
              <a:t>    "Profiled and unprofiled values come from separate runs; do not scale the profile to the unprofiled median.",</a:t>
            </a:r>
          </a:p>
          <a:p>
            <a:r>
              <a:t>    "The historical baseline includes default AdaLN CPU weight offload. The resident/precomputed BF16 baseline remains unmeasured."</a:t>
            </a:r>
          </a:p>
          <a:p>
            <a:r>
              <a:t>  ]</a:t>
            </a:r>
          </a:p>
          <a:p>
            <a:r>
              <a:t>}</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interactive demo. Not the historical LightX2V four-step Zhiwei recipe. {"hardware": {"gpus": 8, "architecture": "SM120", "driver_name": "NVIDIA Graphics Device", "recorded_system": "PRO 5000 reference node", "memory_mib_per_gpu": 73415, "no_pro5500_result": true}, "h3": {"task": "Ref2VA", "steps": 8, "dit": "QAD NVFP4", "attention": "native NVFP4 VSA", "sparsity_setting": 0.9, "reference_keep_rate": 0.1, "tensor_parallel": 1, "ulysses": 8, "text_encoder_tp": 8, "vae_patch_parallel": 8, "transport": "BF16 RDMA", "head_bands": [2, 3, 2], "video_vae": "36-layer NVFP4; 216 packed linears; BF16 decode autocast", "audio": "native H3 audio decoder; no separate TTS", "mp4_preencoding": true, "graph_cache": "Cleared at 24 entries between requests; changing dialogue can require warmup"}, "media": {"width": 960, "height": 544, "fps": 24, "first_window_frames": 124, "first_window_seconds": 5.166666666666667, "new_continuation_frames": 119, "new_continuation_seconds": 4.958333333333333, "overlap_frames": 5}, "continuity": {"video_history_noise": 0.2, "target_video_prefix": "off", "reference_image_noise": 0.001, "audio_history_noise": 0, "audio_target_prefix": "off", "position": "cumulative AV positions", "video_history": "0.8 * retained video latent + 0.2 * seeded noise", "lossless": false}, "vad": {"model": "Silero ONNX", "device": "CPU", "sample_rate": 16000, "channels": 1, "packet_ms": 200, "quiet_endpoint_ms": 600, "pre_roll_ms": 800}, "asr": {"model": "Qwen3-ASR-0.6B", "precision": "BF16", "gpu": 6, "shared_with_h3": true, "execution": "Partial transcription during speech; final transcription at endpoint"}, "llm": {"model": "Qwen3-4B", "precision": "BF16", "gpu": 7, "shared_with_h3": true, "thinking": false, "temperature": 0.4, "max_tokens": 160, "output": "Short English replies, streamed"}, "software": {"h3": {"python": "3.12.13", "torch_distribution": "2.13.0", "vllm": "0.32.0", "transformers": "5.19.0", "diffusers": "0.40.0", "flashinfer_python": "0.7.0.post1"}, "asr_llm": {"python": "3.12.13", "torch": "2.13.0+cu132", "vllm": "0.28.0", "transformers": "5.14.1"}}, "playback": {"active_calls": 1, "unplayed_windows_limit": 2, "includes_inflight_generation": true}, "timing": {"avatar_generation": "H3 HTTP request through complete MP4; excludes subsequent CPU idle-audio screening and media delivery", "reply_video_starts": "Estimated microphone speech endpoint to first rendered reply frame, including endpoint detection, ASR, LLM, queueing, generation, transfer and playback wait"}, "captions": "Recognized user speech plus intended current reply text; not word-aligned or verified transcription of H3 audio", "benchmark_difference": "The reverse ladder is standalone, fixed prompt/seed and exclusive eight-GPU H3; ASR/LLM are stopped. The demo shares GPU 6/7 and carries video/audio history.", "provenance": {"h3_stage_sha256": "9397b6fe46b28481984cb4e2cc96facb438a442af873de22f898f7135664528c", "history_validation_sha256": "62adb582967c64111aed91e39f07ed654a04097ecbd223496818467fbd59be49", "live_overlay_validation_sha256": "50954bb50fd02f16e88db94301e5991601196c882ada7cc9bb0dff16c2b69573"}}</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"hardware": {</a:t>
            </a:r>
          </a:p>
          <a:p>
            <a:r>
              <a:t>    "gpus": 8,</a:t>
            </a:r>
          </a:p>
          <a:p>
            <a:r>
              <a:t>    "architecture": "SM120",</a:t>
            </a:r>
          </a:p>
          <a:p>
            <a:r>
              <a:t>    "driver_name": "NVIDIA Graphics Device",</a:t>
            </a:r>
          </a:p>
          <a:p>
            <a:r>
              <a:t>    "recorded_system": "PRO 5000 reference node",</a:t>
            </a:r>
          </a:p>
          <a:p>
            <a:r>
              <a:t>    "memory_mib_per_gpu": 73415,</a:t>
            </a:r>
          </a:p>
          <a:p>
            <a:r>
              <a:t>    "no_pro5500_result": true</a:t>
            </a:r>
          </a:p>
          <a:p>
            <a:r>
              <a:t>  },</a:t>
            </a:r>
          </a:p>
          <a:p>
            <a:r>
              <a:t>  "h3": {</a:t>
            </a:r>
          </a:p>
          <a:p>
            <a:r>
              <a:t>    "task": "Ref2VA",</a:t>
            </a:r>
          </a:p>
          <a:p>
            <a:r>
              <a:t>    "steps": 8,</a:t>
            </a:r>
          </a:p>
          <a:p>
            <a:r>
              <a:t>    "dit": "QAD NVFP4",</a:t>
            </a:r>
          </a:p>
          <a:p>
            <a:r>
              <a:t>    "attention": "native NVFP4 VSA",</a:t>
            </a:r>
          </a:p>
          <a:p>
            <a:r>
              <a:t>    "sparsity_setting": 0.9,</a:t>
            </a:r>
          </a:p>
          <a:p>
            <a:r>
              <a:t>    "reference_keep_rate": 0.1,</a:t>
            </a:r>
          </a:p>
          <a:p>
            <a:r>
              <a:t>    "tensor_parallel": 1,</a:t>
            </a:r>
          </a:p>
          <a:p>
            <a:r>
              <a:t>    "ulysses": 8,</a:t>
            </a:r>
          </a:p>
          <a:p>
            <a:r>
              <a:t>    "text_encoder_tp": 8,</a:t>
            </a:r>
          </a:p>
          <a:p>
            <a:r>
              <a:t>    "vae_patch_parallel": 8,</a:t>
            </a:r>
          </a:p>
          <a:p>
            <a:r>
              <a:t>    "transport": "BF16 RDMA",</a:t>
            </a:r>
          </a:p>
          <a:p>
            <a:r>
              <a:t>    "head_bands": [</a:t>
            </a:r>
          </a:p>
          <a:p>
            <a:r>
              <a:t>      2,</a:t>
            </a:r>
          </a:p>
          <a:p>
            <a:r>
              <a:t>      3,</a:t>
            </a:r>
          </a:p>
          <a:p>
            <a:r>
              <a:t>      2</a:t>
            </a:r>
          </a:p>
          <a:p>
            <a:r>
              <a:t>    ],</a:t>
            </a:r>
          </a:p>
          <a:p>
            <a:r>
              <a:t>    "video_vae": "36-layer NVFP4; 216 packed linears; BF16 decode autocast",</a:t>
            </a:r>
          </a:p>
          <a:p>
            <a:r>
              <a:t>    "audio": "native H3 audio decoder; no separate TTS",</a:t>
            </a:r>
          </a:p>
          <a:p>
            <a:r>
              <a:t>    "mp4_preencoding": true,</a:t>
            </a:r>
          </a:p>
          <a:p>
            <a:r>
              <a:t>    "graph_cache": "Cleared at 24 entries between requests; changing dialogue can require warmup"</a:t>
            </a:r>
          </a:p>
          <a:p>
            <a:r>
              <a:t>  },</a:t>
            </a:r>
          </a:p>
          <a:p>
            <a:r>
              <a:t>  "media": {</a:t>
            </a:r>
          </a:p>
          <a:p>
            <a:r>
              <a:t>    "width": 960,</a:t>
            </a:r>
          </a:p>
          <a:p>
            <a:r>
              <a:t>    "height": 544,</a:t>
            </a:r>
          </a:p>
          <a:p>
            <a:r>
              <a:t>    "fps": 24,</a:t>
            </a:r>
          </a:p>
          <a:p>
            <a:r>
              <a:t>    "first_window_frames": 124,</a:t>
            </a:r>
          </a:p>
          <a:p>
            <a:r>
              <a:t>    "first_window_seconds": 5.166666666666667,</a:t>
            </a:r>
          </a:p>
          <a:p>
            <a:r>
              <a:t>    "new_continuation_frames": 119,</a:t>
            </a:r>
          </a:p>
          <a:p>
            <a:r>
              <a:t>    "new_continuation_seconds": 4.958333333333333,</a:t>
            </a:r>
          </a:p>
          <a:p>
            <a:r>
              <a:t>    "overlap_frames": 5</a:t>
            </a:r>
          </a:p>
          <a:p>
            <a:r>
              <a:t>  },</a:t>
            </a:r>
          </a:p>
          <a:p>
            <a:r>
              <a:t>  "continuity": {</a:t>
            </a:r>
          </a:p>
          <a:p>
            <a:r>
              <a:t>    "video_history_noise": 0.2,</a:t>
            </a:r>
          </a:p>
          <a:p>
            <a:r>
              <a:t>    "target_video_prefix": "off",</a:t>
            </a:r>
          </a:p>
          <a:p>
            <a:r>
              <a:t>    "reference_image_noise": 0.001,</a:t>
            </a:r>
          </a:p>
          <a:p>
            <a:r>
              <a:t>    "audio_history_noise": 0,</a:t>
            </a:r>
          </a:p>
          <a:p>
            <a:r>
              <a:t>    "audio_target_prefix": "off",</a:t>
            </a:r>
          </a:p>
          <a:p>
            <a:r>
              <a:t>    "position": "cumulative AV positions",</a:t>
            </a:r>
          </a:p>
          <a:p>
            <a:r>
              <a:t>    "video_history": "0.8 * retained video latent + 0.2 * seeded noise",</a:t>
            </a:r>
          </a:p>
          <a:p>
            <a:r>
              <a:t>    "lossless": false</a:t>
            </a:r>
          </a:p>
          <a:p>
            <a:r>
              <a:t>  },</a:t>
            </a:r>
          </a:p>
          <a:p>
            <a:r>
              <a:t>  "vad": {</a:t>
            </a:r>
          </a:p>
          <a:p>
            <a:r>
              <a:t>    "model": "Silero ONNX",</a:t>
            </a:r>
          </a:p>
          <a:p>
            <a:r>
              <a:t>    "device": "CPU",</a:t>
            </a:r>
          </a:p>
          <a:p>
            <a:r>
              <a:t>    "sample_rate": 16000,</a:t>
            </a:r>
          </a:p>
          <a:p>
            <a:r>
              <a:t>    "channels": 1,</a:t>
            </a:r>
          </a:p>
          <a:p>
            <a:r>
              <a:t>    "packet_ms": 200,</a:t>
            </a:r>
          </a:p>
          <a:p>
            <a:r>
              <a:t>    "quiet_endpoint_ms": 600,</a:t>
            </a:r>
          </a:p>
          <a:p>
            <a:r>
              <a:t>    "pre_roll_ms": 800</a:t>
            </a:r>
          </a:p>
          <a:p>
            <a:r>
              <a:t>  },</a:t>
            </a:r>
          </a:p>
          <a:p>
            <a:r>
              <a:t>  "asr": {</a:t>
            </a:r>
          </a:p>
          <a:p>
            <a:r>
              <a:t>    "model": "Qwen3-ASR-0.6B",</a:t>
            </a:r>
          </a:p>
          <a:p>
            <a:r>
              <a:t>    "precision": "BF16",</a:t>
            </a:r>
          </a:p>
          <a:p>
            <a:r>
              <a:t>    "gpu": 6,</a:t>
            </a:r>
          </a:p>
          <a:p>
            <a:r>
              <a:t>    "shared_with_h3": true,</a:t>
            </a:r>
          </a:p>
          <a:p>
            <a:r>
              <a:t>    "execution": "Partial transcription during speech; final transcription at endpoint"</a:t>
            </a:r>
          </a:p>
          <a:p>
            <a:r>
              <a:t>  },</a:t>
            </a:r>
          </a:p>
          <a:p>
            <a:r>
              <a:t>  "llm": {</a:t>
            </a:r>
          </a:p>
          <a:p>
            <a:r>
              <a:t>    "model": "Qwen3-4B",</a:t>
            </a:r>
          </a:p>
          <a:p>
            <a:r>
              <a:t>    "precision": "BF16",</a:t>
            </a:r>
          </a:p>
          <a:p>
            <a:r>
              <a:t>    "gpu": 7,</a:t>
            </a:r>
          </a:p>
          <a:p>
            <a:r>
              <a:t>    "shared_with_h3": true,</a:t>
            </a:r>
          </a:p>
          <a:p>
            <a:r>
              <a:t>    "thinking": false,</a:t>
            </a:r>
          </a:p>
          <a:p>
            <a:r>
              <a:t>    "temperature": 0.4,</a:t>
            </a:r>
          </a:p>
          <a:p>
            <a:r>
              <a:t>    "max_tokens": 160,</a:t>
            </a:r>
          </a:p>
          <a:p>
            <a:r>
              <a:t>    "output": "Short English replies, streamed"</a:t>
            </a:r>
          </a:p>
          <a:p>
            <a:r>
              <a:t>  },</a:t>
            </a:r>
          </a:p>
          <a:p>
            <a:r>
              <a:t>  "software": {</a:t>
            </a:r>
          </a:p>
          <a:p>
            <a:r>
              <a:t>    "h3": {</a:t>
            </a:r>
          </a:p>
          <a:p>
            <a:r>
              <a:t>      "python": "3.12.13",</a:t>
            </a:r>
          </a:p>
          <a:p>
            <a:r>
              <a:t>      "torch_distribution": "2.13.0",</a:t>
            </a:r>
          </a:p>
          <a:p>
            <a:r>
              <a:t>      "vllm": "0.32.0",</a:t>
            </a:r>
          </a:p>
          <a:p>
            <a:r>
              <a:t>      "transformers": "5.19.0",</a:t>
            </a:r>
          </a:p>
          <a:p>
            <a:r>
              <a:t>      "diffusers": "0.40.0",</a:t>
            </a:r>
          </a:p>
          <a:p>
            <a:r>
              <a:t>      "flashinfer_python": "0.7.0.post1"</a:t>
            </a:r>
          </a:p>
          <a:p>
            <a:r>
              <a:t>    },</a:t>
            </a:r>
          </a:p>
          <a:p>
            <a:r>
              <a:t>    "asr_llm": {</a:t>
            </a:r>
          </a:p>
          <a:p>
            <a:r>
              <a:t>      "python": "3.12.13",</a:t>
            </a:r>
          </a:p>
          <a:p>
            <a:r>
              <a:t>      "torch": "2.13.0+cu132",</a:t>
            </a:r>
          </a:p>
          <a:p>
            <a:r>
              <a:t>      "vllm": "0.28.0",</a:t>
            </a:r>
          </a:p>
          <a:p>
            <a:r>
              <a:t>      "transformers": "5.14.1"</a:t>
            </a:r>
          </a:p>
          <a:p>
            <a:r>
              <a:t>    }</a:t>
            </a:r>
          </a:p>
          <a:p>
            <a:r>
              <a:t>  },</a:t>
            </a:r>
          </a:p>
          <a:p>
            <a:r>
              <a:t>  "playback": {</a:t>
            </a:r>
          </a:p>
          <a:p>
            <a:r>
              <a:t>    "active_calls": 1,</a:t>
            </a:r>
          </a:p>
          <a:p>
            <a:r>
              <a:t>    "unplayed_windows_limit": 2,</a:t>
            </a:r>
          </a:p>
          <a:p>
            <a:r>
              <a:t>    "includes_inflight_generation": true</a:t>
            </a:r>
          </a:p>
          <a:p>
            <a:r>
              <a:t>  },</a:t>
            </a:r>
          </a:p>
          <a:p>
            <a:r>
              <a:t>  "timing": {</a:t>
            </a:r>
          </a:p>
          <a:p>
            <a:r>
              <a:t>    "avatar_generation": "H3 HTTP request through complete MP4; excludes subsequent CPU idle-audio screening and media delivery",</a:t>
            </a:r>
          </a:p>
          <a:p>
            <a:r>
              <a:t>    "reply_video_starts": "Estimated microphone speech endpoint to first rendered reply frame, including endpoint detection, ASR, LLM, queueing, generation, transfer and playback wait"</a:t>
            </a:r>
          </a:p>
          <a:p>
            <a:r>
              <a:t>  },</a:t>
            </a:r>
          </a:p>
          <a:p>
            <a:r>
              <a:t>  "captions": "Recognized user speech plus intended current reply text; not word-aligned or verified transcription of H3 audio",</a:t>
            </a:r>
          </a:p>
          <a:p>
            <a:r>
              <a:t>  "benchmark_difference": "The reverse ladder is standalone, fixed prompt/seed and exclusive eight-GPU H3; ASR/LLM are stopped. The demo shares GPU 6/7 and carries video/audio history.",</a:t>
            </a:r>
          </a:p>
          <a:p>
            <a:r>
              <a:t>  "provenance": {</a:t>
            </a:r>
          </a:p>
          <a:p>
            <a:r>
              <a:t>    "h3_stage_sha256": "9397b6fe46b28481984cb4e2cc96facb438a442af873de22f898f7135664528c",</a:t>
            </a:r>
          </a:p>
          <a:p>
            <a:r>
              <a:t>    "history_validation_sha256": "62adb582967c64111aed91e39f07ed654a04097ecbd223496818467fbd59be49",</a:t>
            </a:r>
          </a:p>
          <a:p>
            <a:r>
              <a:t>    "live_overlay_validation_sha256": "50954bb50fd02f16e88db94301e5991601196c882ada7cc9bb0dff16c2b69573"</a:t>
            </a:r>
          </a:p>
          <a:p>
            <a:r>
              <a:t>  }</a:t>
            </a:r>
          </a:p>
          <a:p>
            <a:r>
              <a: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18 describes the eight-evaluation QAD pipeline; slide 7 describes the distinct historical four-step avatar. Do not imply all techniques are enabled in both recipes.</a:t>
            </a:r>
          </a:p>
          <a:p>
            <a:r>
              <a:t>Online evidence: https://lishunyang12.github.io/fasth3-omni-evaluation-20261018/reports/h3-liveavatar-long-video-20261014/</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Fresh measurements run in reverse optimization order; table shown in forward cumulative order.</a:t>
            </a:r>
          </a:p>
          <a:p>
            <a:r>
              <a:t>Saved seconds means preceding row median minus current row median. The communication row is a grouped change.</a:t>
            </a:r>
          </a:p>
          <a:p>
            <a:r>
              <a:t>PDD, native VSA checkpoint/runtime, QAD quantization and NVFP4 VAE change the model or arithmetic.</a:t>
            </a:r>
          </a:p>
          <a:p>
            <a:r>
              <a:t>Final engineering stages require exact retained MP4 and decoded audio/video hashes on this input.</a:t>
            </a:r>
          </a:p>
          <a:p>
            <a:r>
              <a:t>Three formal samples do not establish p95 or sustained rolling playback reliability.</a:t>
            </a:r>
          </a:p>
          <a:p>
            <a:r>
              <a:t>Final recheck: [4.925456894561648, 4.927015350200236, 4.946227044798434]</a:t>
            </a:r>
          </a:p>
          <a:p>
            <a:r>
              <a:t>Evidence: https://lishunyang12.github.io/fasth3-omni-evaluation-20261018/slides/minimax-h3-real-time-inference-20261025/v1.41/benchmarks.html</a:t>
            </a:r>
          </a:p>
          <a:p>
            <a:r>
              <a:t>[{"id": "00-base50", "samples": [251.3031690204516, 252.91525922063738, 250.95228831097484]}, {"id": "01-pdd8", "samples": [44.81915560364723, 44.32691093347967, 43.303909598849714]}, {"id": "02-vsa", "samples": [25.625219825655222, 25.915374606847763, 26.225030813366175]}, {"id": "03-qad-native-fp4", "samples": [20.051393740810454, 19.385528434067965, 19.460303778760135]}, {"id": "04-ulysses", "samples": [6.812847764231265, 6.832498379051685, 6.837718074209988]}, {"id": "05-head-232", "samples": [6.460907270200551, 6.38280679192394, 6.407273745164275]}, {"id": "06-cuda-graph", "samples": [6.201202904805541, 6.192990344949067, 6.187740738503635]}, {"id": "07-vae-output", "samples": [5.419804787263274, 5.436306628398597, 5.408502637408674]}, {"id": "08-tile-aac", "samples": [5.193693041801453, 5.208181765861809, 5.190390857867897]}, {"id": "09-output-fusion", "samples": [5.154093466699123, 5.144334003329277, 5.147176703438163]}, {"id": "10-input-fusion", "samples": [5.059803321957588, 5.059752709232271, 5.05976936686784]}, {"id": "11-routing", "samples": [5.021161670796573, 5.014520030468702, 5.000941471196711]}, {"id": "12-copy-elision", "samples": [4.9350473042577505, 4.9224158665165305, 4.912399644963443]}]</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hyperlink" Target="https://lishunyang12.github.io/fasth3-omni-evaluation-20261018/slides/minimax-h3-real-time-inference-20261025/v1.39/continuous-generation.html" TargetMode="External"/><Relationship Id="rId5" Type="http://schemas.openxmlformats.org/officeDocument/2006/relationships/hyperlink" Target="https://lishunyang12.github.io/fasth3-omni-evaluation-20261018/slides/minimax-h3-real-time-inference-20261025/v1.41/demo-config.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1/benchmark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1/demo-config.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Shunyang Li | Benchmarks measured | 27 Oct 2026</a:t>
            </a:r>
          </a:p>
        </p:txBody>
      </p:sp>
      <p:sp>
        <p:nvSpPr>
          <p:cNvPr id="3" name="Text Placeholder 2"/>
          <p:cNvSpPr>
            <a:spLocks noGrp="1"/>
          </p:cNvSpPr>
          <p:nvPr>
            <p:ph type="body" idx="11" sz="quarter"/>
          </p:nvPr>
        </p:nvSpPr>
        <p:spPr>
          <a:xfrm>
            <a:off x="1828800" y="15956280"/>
            <a:ext cx="16459200" cy="1005840"/>
          </a:xfrm>
        </p:spPr>
        <p:txBody>
          <a:bodyPr/>
          <a:lstStyle/>
          <a:p>
            <a:r>
              <a:rPr sz="5800">
                <a:latin typeface="NVIDIA Sans"/>
              </a:rPr>
              <a:t>8× RTX PRO 5000 · vLLM-Omni</a:t>
            </a:r>
          </a:p>
        </p:txBody>
      </p:sp>
      <p:sp>
        <p:nvSpPr>
          <p:cNvPr id="4" name="Text Placeholder 3"/>
          <p:cNvSpPr>
            <a:spLocks noGrp="1"/>
          </p:cNvSpPr>
          <p:nvPr>
            <p:ph type="body" idx="10" sz="quarter"/>
          </p:nvPr>
        </p:nvSpPr>
        <p:spPr/>
        <p:txBody>
          <a:bodyPr/>
          <a:lstStyle/>
          <a:p>
            <a:r>
              <a:t>Toward Real-Time Generation</a:t>
            </a:r>
            <a:br/>
            <a:r>
              <a:t>With 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01 · Real-Time H3</a:t>
            </a:r>
            <a:br/>
            <a:r>
              <a:t>Generation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A 32B encoder feeds the 33B Omni Transformer and visual/audio VAEs. Fifty blocks × 50 steps dominate compute; about 13B AdaLN parameters can be cached</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a:xfrm>
            <a:off x="1828800" y="3383280"/>
            <a:ext cx="32918400" cy="1600200"/>
          </a:xfrm>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RDMA via NIC*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4"/>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Baseline: Configuration and Breakdown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Base50 configuration · fresh HTTP timing + separately recorded historical Nsight profile</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6</a:t>
            </a:r>
          </a:p>
        </p:txBody>
      </p:sp>
      <p:sp>
        <p:nvSpPr>
          <p:cNvPr id="5" name="Output panel"/>
          <p:cNvSpPr/>
          <p:nvPr/>
        </p:nvSpPr>
        <p:spPr>
          <a:xfrm>
            <a:off x="1828800" y="4572000"/>
            <a:ext cx="7589520" cy="251460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utput label"/>
          <p:cNvSpPr txBox="1"/>
          <p:nvPr/>
        </p:nvSpPr>
        <p:spPr>
          <a:xfrm>
            <a:off x="2194560" y="4800600"/>
            <a:ext cx="6858000" cy="457200"/>
          </a:xfrm>
          <a:prstGeom prst="rect">
            <a:avLst/>
          </a:prstGeom>
          <a:noFill/>
        </p:spPr>
        <p:txBody>
          <a:bodyPr wrap="square" lIns="0" rIns="0" tIns="0" bIns="0">
            <a:spAutoFit/>
          </a:bodyPr>
          <a:lstStyle/>
          <a:p>
            <a:pPr>
              <a:spcAft>
                <a:spcPts val="800"/>
              </a:spcAft>
            </a:pPr>
            <a:r>
              <a:rPr sz="2400">
                <a:solidFill>
                  <a:srgbClr val="527D12"/>
                </a:solidFill>
                <a:latin typeface="NVIDIA Sans Medium"/>
              </a:rPr>
              <a:t>OUTPUT</a:t>
            </a:r>
          </a:p>
        </p:txBody>
      </p:sp>
      <p:sp>
        <p:nvSpPr>
          <p:cNvPr id="7" name="Output value"/>
          <p:cNvSpPr txBox="1"/>
          <p:nvPr/>
        </p:nvSpPr>
        <p:spPr>
          <a:xfrm>
            <a:off x="2194560" y="5413248"/>
            <a:ext cx="6858000" cy="731520"/>
          </a:xfrm>
          <a:prstGeom prst="rect">
            <a:avLst/>
          </a:prstGeom>
          <a:noFill/>
        </p:spPr>
        <p:txBody>
          <a:bodyPr wrap="square" lIns="0" rIns="0" tIns="0" bIns="0">
            <a:spAutoFit/>
          </a:bodyPr>
          <a:lstStyle/>
          <a:p>
            <a:pPr>
              <a:spcAft>
                <a:spcPts val="800"/>
              </a:spcAft>
            </a:pPr>
            <a:r>
              <a:rPr sz="4200">
                <a:solidFill>
                  <a:srgbClr val="111111"/>
                </a:solidFill>
                <a:latin typeface="NVIDIA Sans Medium"/>
              </a:rPr>
              <a:t>960 × 544</a:t>
            </a:r>
          </a:p>
        </p:txBody>
      </p:sp>
      <p:sp>
        <p:nvSpPr>
          <p:cNvPr id="8" name="Output detail"/>
          <p:cNvSpPr txBox="1"/>
          <p:nvPr/>
        </p:nvSpPr>
        <p:spPr>
          <a:xfrm>
            <a:off x="2194560" y="6318504"/>
            <a:ext cx="6858000" cy="502920"/>
          </a:xfrm>
          <a:prstGeom prst="rect">
            <a:avLst/>
          </a:prstGeom>
          <a:noFill/>
        </p:spPr>
        <p:txBody>
          <a:bodyPr wrap="square" lIns="0" rIns="0" tIns="0" bIns="0">
            <a:spAutoFit/>
          </a:bodyPr>
          <a:lstStyle/>
          <a:p>
            <a:pPr>
              <a:spcAft>
                <a:spcPts val="800"/>
              </a:spcAft>
            </a:pPr>
            <a:r>
              <a:rPr sz="2400">
                <a:solidFill>
                  <a:srgbClr val="555555"/>
                </a:solidFill>
                <a:latin typeface="NVIDIA Sans"/>
              </a:rPr>
              <a:t>Reference image: 1344 × 768</a:t>
            </a:r>
          </a:p>
        </p:txBody>
      </p:sp>
      <p:sp>
        <p:nvSpPr>
          <p:cNvPr id="9" name="Video per request panel"/>
          <p:cNvSpPr/>
          <p:nvPr/>
        </p:nvSpPr>
        <p:spPr>
          <a:xfrm>
            <a:off x="9738360" y="4572000"/>
            <a:ext cx="7589520" cy="251460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Video per request label"/>
          <p:cNvSpPr txBox="1"/>
          <p:nvPr/>
        </p:nvSpPr>
        <p:spPr>
          <a:xfrm>
            <a:off x="10104120" y="4800600"/>
            <a:ext cx="6858000" cy="457200"/>
          </a:xfrm>
          <a:prstGeom prst="rect">
            <a:avLst/>
          </a:prstGeom>
          <a:noFill/>
        </p:spPr>
        <p:txBody>
          <a:bodyPr wrap="square" lIns="0" rIns="0" tIns="0" bIns="0">
            <a:spAutoFit/>
          </a:bodyPr>
          <a:lstStyle/>
          <a:p>
            <a:pPr>
              <a:spcAft>
                <a:spcPts val="800"/>
              </a:spcAft>
            </a:pPr>
            <a:r>
              <a:rPr sz="2400">
                <a:solidFill>
                  <a:srgbClr val="527D12"/>
                </a:solidFill>
                <a:latin typeface="NVIDIA Sans Medium"/>
              </a:rPr>
              <a:t>VIDEO PER REQUEST</a:t>
            </a:r>
          </a:p>
        </p:txBody>
      </p:sp>
      <p:sp>
        <p:nvSpPr>
          <p:cNvPr id="11" name="Video per request value"/>
          <p:cNvSpPr txBox="1"/>
          <p:nvPr/>
        </p:nvSpPr>
        <p:spPr>
          <a:xfrm>
            <a:off x="10104120" y="5413248"/>
            <a:ext cx="6858000" cy="731520"/>
          </a:xfrm>
          <a:prstGeom prst="rect">
            <a:avLst/>
          </a:prstGeom>
          <a:noFill/>
        </p:spPr>
        <p:txBody>
          <a:bodyPr wrap="square" lIns="0" rIns="0" tIns="0" bIns="0">
            <a:spAutoFit/>
          </a:bodyPr>
          <a:lstStyle/>
          <a:p>
            <a:pPr>
              <a:spcAft>
                <a:spcPts val="800"/>
              </a:spcAft>
            </a:pPr>
            <a:r>
              <a:rPr sz="4200">
                <a:solidFill>
                  <a:srgbClr val="111111"/>
                </a:solidFill>
                <a:latin typeface="NVIDIA Sans Medium"/>
              </a:rPr>
              <a:t>5.167 seconds</a:t>
            </a:r>
          </a:p>
        </p:txBody>
      </p:sp>
      <p:sp>
        <p:nvSpPr>
          <p:cNvPr id="12" name="Video per request detail"/>
          <p:cNvSpPr txBox="1"/>
          <p:nvPr/>
        </p:nvSpPr>
        <p:spPr>
          <a:xfrm>
            <a:off x="10104120" y="6318504"/>
            <a:ext cx="6858000" cy="502920"/>
          </a:xfrm>
          <a:prstGeom prst="rect">
            <a:avLst/>
          </a:prstGeom>
          <a:noFill/>
        </p:spPr>
        <p:txBody>
          <a:bodyPr wrap="square" lIns="0" rIns="0" tIns="0" bIns="0">
            <a:spAutoFit/>
          </a:bodyPr>
          <a:lstStyle/>
          <a:p>
            <a:pPr>
              <a:spcAft>
                <a:spcPts val="800"/>
              </a:spcAft>
            </a:pPr>
            <a:r>
              <a:rPr sz="2400">
                <a:solidFill>
                  <a:srgbClr val="555555"/>
                </a:solidFill>
                <a:latin typeface="NVIDIA Sans"/>
              </a:rPr>
              <a:t>124 frames at 24 FPS · seed 43</a:t>
            </a:r>
          </a:p>
        </p:txBody>
      </p:sp>
      <p:sp>
        <p:nvSpPr>
          <p:cNvPr id="13" name="Parallelism panel"/>
          <p:cNvSpPr/>
          <p:nvPr/>
        </p:nvSpPr>
        <p:spPr>
          <a:xfrm>
            <a:off x="17647920" y="4572000"/>
            <a:ext cx="8503920" cy="251460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Parallelism label"/>
          <p:cNvSpPr txBox="1"/>
          <p:nvPr/>
        </p:nvSpPr>
        <p:spPr>
          <a:xfrm>
            <a:off x="18013680" y="4800600"/>
            <a:ext cx="7772400" cy="457200"/>
          </a:xfrm>
          <a:prstGeom prst="rect">
            <a:avLst/>
          </a:prstGeom>
          <a:noFill/>
        </p:spPr>
        <p:txBody>
          <a:bodyPr wrap="square" lIns="0" rIns="0" tIns="0" bIns="0">
            <a:spAutoFit/>
          </a:bodyPr>
          <a:lstStyle/>
          <a:p>
            <a:pPr>
              <a:spcAft>
                <a:spcPts val="800"/>
              </a:spcAft>
            </a:pPr>
            <a:r>
              <a:rPr sz="2400">
                <a:solidFill>
                  <a:srgbClr val="527D12"/>
                </a:solidFill>
                <a:latin typeface="NVIDIA Sans Medium"/>
              </a:rPr>
              <a:t>PARALLELISM</a:t>
            </a:r>
          </a:p>
        </p:txBody>
      </p:sp>
      <p:sp>
        <p:nvSpPr>
          <p:cNvPr id="15" name="Parallelism value"/>
          <p:cNvSpPr txBox="1"/>
          <p:nvPr/>
        </p:nvSpPr>
        <p:spPr>
          <a:xfrm>
            <a:off x="18013680" y="5413248"/>
            <a:ext cx="7772400" cy="731520"/>
          </a:xfrm>
          <a:prstGeom prst="rect">
            <a:avLst/>
          </a:prstGeom>
          <a:noFill/>
        </p:spPr>
        <p:txBody>
          <a:bodyPr wrap="square" lIns="0" rIns="0" tIns="0" bIns="0">
            <a:spAutoFit/>
          </a:bodyPr>
          <a:lstStyle/>
          <a:p>
            <a:pPr>
              <a:spcAft>
                <a:spcPts val="800"/>
              </a:spcAft>
            </a:pPr>
            <a:r>
              <a:rPr sz="4200">
                <a:solidFill>
                  <a:srgbClr val="111111"/>
                </a:solidFill>
                <a:latin typeface="NVIDIA Sans Medium"/>
              </a:rPr>
              <a:t>8 GPUs</a:t>
            </a:r>
          </a:p>
        </p:txBody>
      </p:sp>
      <p:sp>
        <p:nvSpPr>
          <p:cNvPr id="16" name="Parallelism detail"/>
          <p:cNvSpPr txBox="1"/>
          <p:nvPr/>
        </p:nvSpPr>
        <p:spPr>
          <a:xfrm>
            <a:off x="18013680" y="6318504"/>
            <a:ext cx="7772400" cy="502920"/>
          </a:xfrm>
          <a:prstGeom prst="rect">
            <a:avLst/>
          </a:prstGeom>
          <a:noFill/>
        </p:spPr>
        <p:txBody>
          <a:bodyPr wrap="square" lIns="0" rIns="0" tIns="0" bIns="0">
            <a:spAutoFit/>
          </a:bodyPr>
          <a:lstStyle/>
          <a:p>
            <a:pPr>
              <a:spcAft>
                <a:spcPts val="800"/>
              </a:spcAft>
            </a:pPr>
            <a:r>
              <a:rPr sz="2400">
                <a:solidFill>
                  <a:srgbClr val="555555"/>
                </a:solidFill>
                <a:latin typeface="NVIDIA Sans"/>
              </a:rPr>
              <a:t>TP1 · Ulysses 8 · Encoder TP8 · VAE 8</a:t>
            </a:r>
          </a:p>
        </p:txBody>
      </p:sp>
      <p:sp>
        <p:nvSpPr>
          <p:cNvPr id="17" name="Hardware panel"/>
          <p:cNvSpPr/>
          <p:nvPr/>
        </p:nvSpPr>
        <p:spPr>
          <a:xfrm>
            <a:off x="26471880" y="4572000"/>
            <a:ext cx="8275320" cy="251460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Hardware label"/>
          <p:cNvSpPr txBox="1"/>
          <p:nvPr/>
        </p:nvSpPr>
        <p:spPr>
          <a:xfrm>
            <a:off x="26837639" y="4800600"/>
            <a:ext cx="7543800" cy="457200"/>
          </a:xfrm>
          <a:prstGeom prst="rect">
            <a:avLst/>
          </a:prstGeom>
          <a:noFill/>
        </p:spPr>
        <p:txBody>
          <a:bodyPr wrap="square" lIns="0" rIns="0" tIns="0" bIns="0">
            <a:spAutoFit/>
          </a:bodyPr>
          <a:lstStyle/>
          <a:p>
            <a:pPr>
              <a:spcAft>
                <a:spcPts val="800"/>
              </a:spcAft>
            </a:pPr>
            <a:r>
              <a:rPr sz="2400">
                <a:solidFill>
                  <a:srgbClr val="527D12"/>
                </a:solidFill>
                <a:latin typeface="NVIDIA Sans Medium"/>
              </a:rPr>
              <a:t>HARDWARE</a:t>
            </a:r>
          </a:p>
        </p:txBody>
      </p:sp>
      <p:sp>
        <p:nvSpPr>
          <p:cNvPr id="19" name="Hardware value"/>
          <p:cNvSpPr txBox="1"/>
          <p:nvPr/>
        </p:nvSpPr>
        <p:spPr>
          <a:xfrm>
            <a:off x="26837639" y="5413248"/>
            <a:ext cx="7543800" cy="731520"/>
          </a:xfrm>
          <a:prstGeom prst="rect">
            <a:avLst/>
          </a:prstGeom>
          <a:noFill/>
        </p:spPr>
        <p:txBody>
          <a:bodyPr wrap="square" lIns="0" rIns="0" tIns="0" bIns="0">
            <a:spAutoFit/>
          </a:bodyPr>
          <a:lstStyle/>
          <a:p>
            <a:pPr>
              <a:spcAft>
                <a:spcPts val="800"/>
              </a:spcAft>
            </a:pPr>
            <a:r>
              <a:rPr sz="4200">
                <a:solidFill>
                  <a:srgbClr val="111111"/>
                </a:solidFill>
                <a:latin typeface="NVIDIA Sans Medium"/>
              </a:rPr>
              <a:t>SM120 / PCIe</a:t>
            </a:r>
          </a:p>
        </p:txBody>
      </p:sp>
      <p:sp>
        <p:nvSpPr>
          <p:cNvPr id="20" name="Hardware detail"/>
          <p:cNvSpPr txBox="1"/>
          <p:nvPr/>
        </p:nvSpPr>
        <p:spPr>
          <a:xfrm>
            <a:off x="26837639" y="6318504"/>
            <a:ext cx="7543800" cy="502920"/>
          </a:xfrm>
          <a:prstGeom prst="rect">
            <a:avLst/>
          </a:prstGeom>
          <a:noFill/>
        </p:spPr>
        <p:txBody>
          <a:bodyPr wrap="square" lIns="0" rIns="0" tIns="0" bIns="0">
            <a:spAutoFit/>
          </a:bodyPr>
          <a:lstStyle/>
          <a:p>
            <a:pPr>
              <a:spcAft>
                <a:spcPts val="800"/>
              </a:spcAft>
            </a:pPr>
            <a:r>
              <a:rPr sz="2400">
                <a:solidFill>
                  <a:srgbClr val="555555"/>
                </a:solidFill>
                <a:latin typeface="NVIDIA Sans"/>
              </a:rPr>
              <a:t>PRO 5000 reference node · local NCCL</a:t>
            </a:r>
          </a:p>
        </p:txBody>
      </p:sp>
      <p:sp>
        <p:nvSpPr>
          <p:cNvPr id="21" name="Benchmark value"/>
          <p:cNvSpPr txBox="1"/>
          <p:nvPr/>
        </p:nvSpPr>
        <p:spPr>
          <a:xfrm>
            <a:off x="1828800" y="7818120"/>
            <a:ext cx="8229600" cy="1097280"/>
          </a:xfrm>
          <a:prstGeom prst="rect">
            <a:avLst/>
          </a:prstGeom>
          <a:noFill/>
        </p:spPr>
        <p:txBody>
          <a:bodyPr wrap="square" lIns="0" rIns="0" tIns="0" bIns="0">
            <a:spAutoFit/>
          </a:bodyPr>
          <a:lstStyle/>
          <a:p>
            <a:pPr>
              <a:spcAft>
                <a:spcPts val="800"/>
              </a:spcAft>
            </a:pPr>
            <a:r>
              <a:rPr sz="6200">
                <a:solidFill>
                  <a:srgbClr val="111111"/>
                </a:solidFill>
                <a:latin typeface="NVIDIA Sans Medium"/>
              </a:rPr>
              <a:t>251.303 s</a:t>
            </a:r>
          </a:p>
        </p:txBody>
      </p:sp>
      <p:sp>
        <p:nvSpPr>
          <p:cNvPr id="22" name="Benchmark caption"/>
          <p:cNvSpPr txBox="1"/>
          <p:nvPr/>
        </p:nvSpPr>
        <p:spPr>
          <a:xfrm>
            <a:off x="1828800" y="9006840"/>
            <a:ext cx="16459200" cy="640080"/>
          </a:xfrm>
          <a:prstGeom prst="rect">
            <a:avLst/>
          </a:prstGeom>
          <a:noFill/>
        </p:spPr>
        <p:txBody>
          <a:bodyPr wrap="square" lIns="0" rIns="0" tIns="0" bIns="0">
            <a:spAutoFit/>
          </a:bodyPr>
          <a:lstStyle/>
          <a:p>
            <a:pPr>
              <a:spcAft>
                <a:spcPts val="800"/>
              </a:spcAft>
            </a:pPr>
            <a:r>
              <a:rPr sz="2900">
                <a:solidFill>
                  <a:srgbClr val="555555"/>
                </a:solidFill>
                <a:latin typeface="NVIDIA Sans"/>
              </a:rPr>
              <a:t>Fresh unprofiled HTTP median · n = 3</a:t>
            </a:r>
          </a:p>
        </p:txBody>
      </p:sp>
      <p:sp>
        <p:nvSpPr>
          <p:cNvPr id="23" name="Profile value"/>
          <p:cNvSpPr txBox="1"/>
          <p:nvPr/>
        </p:nvSpPr>
        <p:spPr>
          <a:xfrm>
            <a:off x="10058400" y="7818120"/>
            <a:ext cx="8229600" cy="1097280"/>
          </a:xfrm>
          <a:prstGeom prst="rect">
            <a:avLst/>
          </a:prstGeom>
          <a:noFill/>
        </p:spPr>
        <p:txBody>
          <a:bodyPr wrap="square" lIns="0" rIns="0" tIns="0" bIns="0">
            <a:spAutoFit/>
          </a:bodyPr>
          <a:lstStyle/>
          <a:p>
            <a:pPr>
              <a:spcAft>
                <a:spcPts val="800"/>
              </a:spcAft>
            </a:pPr>
            <a:r>
              <a:rPr sz="6200">
                <a:solidFill>
                  <a:srgbClr val="111111"/>
                </a:solidFill>
                <a:latin typeface="NVIDIA Sans Medium"/>
              </a:rPr>
              <a:t>252.773 s</a:t>
            </a:r>
          </a:p>
        </p:txBody>
      </p:sp>
      <p:sp>
        <p:nvSpPr>
          <p:cNvPr id="24" name="Profile caption"/>
          <p:cNvSpPr txBox="1"/>
          <p:nvPr/>
        </p:nvSpPr>
        <p:spPr>
          <a:xfrm>
            <a:off x="10058400" y="9006840"/>
            <a:ext cx="9144000" cy="640080"/>
          </a:xfrm>
          <a:prstGeom prst="rect">
            <a:avLst/>
          </a:prstGeom>
          <a:noFill/>
        </p:spPr>
        <p:txBody>
          <a:bodyPr wrap="square" lIns="0" rIns="0" tIns="0" bIns="0">
            <a:spAutoFit/>
          </a:bodyPr>
          <a:lstStyle/>
          <a:p>
            <a:pPr>
              <a:spcAft>
                <a:spcPts val="800"/>
              </a:spcAft>
            </a:pPr>
            <a:r>
              <a:rPr sz="2800">
                <a:solidFill>
                  <a:srgbClr val="555555"/>
                </a:solidFill>
                <a:latin typeface="NVIDIA Sans"/>
              </a:rPr>
              <a:t>Separate warmed Nsight request</a:t>
            </a:r>
          </a:p>
        </p:txBody>
      </p:sp>
      <p:sp>
        <p:nvSpPr>
          <p:cNvPr id="25" name="Breakdown heading"/>
          <p:cNvSpPr txBox="1"/>
          <p:nvPr/>
        </p:nvSpPr>
        <p:spPr>
          <a:xfrm>
            <a:off x="1828800" y="10058400"/>
            <a:ext cx="16459200" cy="914400"/>
          </a:xfrm>
          <a:prstGeom prst="rect">
            <a:avLst/>
          </a:prstGeom>
          <a:noFill/>
        </p:spPr>
        <p:txBody>
          <a:bodyPr wrap="square" lIns="0" rIns="0" tIns="0" bIns="0">
            <a:spAutoFit/>
          </a:bodyPr>
          <a:lstStyle/>
          <a:p>
            <a:pPr>
              <a:spcAft>
                <a:spcPts val="800"/>
              </a:spcAft>
            </a:pPr>
            <a:r>
              <a:rPr sz="3400">
                <a:solidFill>
                  <a:srgbClr val="111111"/>
                </a:solidFill>
                <a:latin typeface="NVIDIA Sans Medium"/>
              </a:rPr>
              <a:t>Profile: mean GPU operation time*</a:t>
            </a:r>
          </a:p>
        </p:txBody>
      </p:sp>
      <p:sp>
        <p:nvSpPr>
          <p:cNvPr id="26" name="Cost row 0"/>
          <p:cNvSpPr/>
          <p:nvPr/>
        </p:nvSpPr>
        <p:spPr>
          <a:xfrm>
            <a:off x="1828800" y="11109960"/>
            <a:ext cx="16276320" cy="1005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ost label 0"/>
          <p:cNvSpPr txBox="1"/>
          <p:nvPr/>
        </p:nvSpPr>
        <p:spPr>
          <a:xfrm>
            <a:off x="2057400" y="11347704"/>
            <a:ext cx="1078992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NCCL communication</a:t>
            </a:r>
          </a:p>
        </p:txBody>
      </p:sp>
      <p:sp>
        <p:nvSpPr>
          <p:cNvPr id="28" name="Cost time 0"/>
          <p:cNvSpPr txBox="1"/>
          <p:nvPr/>
        </p:nvSpPr>
        <p:spPr>
          <a:xfrm>
            <a:off x="13030200" y="11292840"/>
            <a:ext cx="2560320" cy="640080"/>
          </a:xfrm>
          <a:prstGeom prst="rect">
            <a:avLst/>
          </a:prstGeom>
          <a:noFill/>
        </p:spPr>
        <p:txBody>
          <a:bodyPr wrap="square" lIns="0" rIns="0" tIns="0" bIns="0">
            <a:spAutoFit/>
          </a:bodyPr>
          <a:lstStyle/>
          <a:p>
            <a:pPr>
              <a:spcAft>
                <a:spcPts val="800"/>
              </a:spcAft>
            </a:pPr>
            <a:r>
              <a:rPr sz="3100">
                <a:solidFill>
                  <a:srgbClr val="111111"/>
                </a:solidFill>
                <a:latin typeface="NVIDIA Sans Medium"/>
              </a:rPr>
              <a:t>123.0 s</a:t>
            </a:r>
          </a:p>
        </p:txBody>
      </p:sp>
      <p:sp>
        <p:nvSpPr>
          <p:cNvPr id="29" name="Cost share 0"/>
          <p:cNvSpPr txBox="1"/>
          <p:nvPr/>
        </p:nvSpPr>
        <p:spPr>
          <a:xfrm>
            <a:off x="15544800" y="11329416"/>
            <a:ext cx="228600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49.2%</a:t>
            </a:r>
          </a:p>
        </p:txBody>
      </p:sp>
      <p:sp>
        <p:nvSpPr>
          <p:cNvPr id="30" name="Cost row 1"/>
          <p:cNvSpPr/>
          <p:nvPr/>
        </p:nvSpPr>
        <p:spPr>
          <a:xfrm>
            <a:off x="1828800" y="12207240"/>
            <a:ext cx="1627632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ost label 1"/>
          <p:cNvSpPr txBox="1"/>
          <p:nvPr/>
        </p:nvSpPr>
        <p:spPr>
          <a:xfrm>
            <a:off x="2057400" y="12444984"/>
            <a:ext cx="1078992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DiT attention + GEMM / MLP</a:t>
            </a:r>
          </a:p>
        </p:txBody>
      </p:sp>
      <p:sp>
        <p:nvSpPr>
          <p:cNvPr id="32" name="Cost time 1"/>
          <p:cNvSpPr txBox="1"/>
          <p:nvPr/>
        </p:nvSpPr>
        <p:spPr>
          <a:xfrm>
            <a:off x="13030200" y="12390119"/>
            <a:ext cx="2560320" cy="640080"/>
          </a:xfrm>
          <a:prstGeom prst="rect">
            <a:avLst/>
          </a:prstGeom>
          <a:noFill/>
        </p:spPr>
        <p:txBody>
          <a:bodyPr wrap="square" lIns="0" rIns="0" tIns="0" bIns="0">
            <a:spAutoFit/>
          </a:bodyPr>
          <a:lstStyle/>
          <a:p>
            <a:pPr>
              <a:spcAft>
                <a:spcPts val="800"/>
              </a:spcAft>
            </a:pPr>
            <a:r>
              <a:rPr sz="3100">
                <a:solidFill>
                  <a:srgbClr val="111111"/>
                </a:solidFill>
                <a:latin typeface="NVIDIA Sans Medium"/>
              </a:rPr>
              <a:t>84.5 s</a:t>
            </a:r>
          </a:p>
        </p:txBody>
      </p:sp>
      <p:sp>
        <p:nvSpPr>
          <p:cNvPr id="33" name="Cost share 1"/>
          <p:cNvSpPr txBox="1"/>
          <p:nvPr/>
        </p:nvSpPr>
        <p:spPr>
          <a:xfrm>
            <a:off x="15544800" y="12426696"/>
            <a:ext cx="228600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33.8%</a:t>
            </a:r>
          </a:p>
        </p:txBody>
      </p:sp>
      <p:sp>
        <p:nvSpPr>
          <p:cNvPr id="34" name="Cost row 2"/>
          <p:cNvSpPr/>
          <p:nvPr/>
        </p:nvSpPr>
        <p:spPr>
          <a:xfrm>
            <a:off x="1828800" y="13304520"/>
            <a:ext cx="1627632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ost label 2"/>
          <p:cNvSpPr txBox="1"/>
          <p:nvPr/>
        </p:nvSpPr>
        <p:spPr>
          <a:xfrm>
            <a:off x="2057400" y="13542264"/>
            <a:ext cx="1078992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AdaLN staging + device layout</a:t>
            </a:r>
          </a:p>
        </p:txBody>
      </p:sp>
      <p:sp>
        <p:nvSpPr>
          <p:cNvPr id="36" name="Cost time 2"/>
          <p:cNvSpPr txBox="1"/>
          <p:nvPr/>
        </p:nvSpPr>
        <p:spPr>
          <a:xfrm>
            <a:off x="13030200" y="13487400"/>
            <a:ext cx="2560320" cy="640080"/>
          </a:xfrm>
          <a:prstGeom prst="rect">
            <a:avLst/>
          </a:prstGeom>
          <a:noFill/>
        </p:spPr>
        <p:txBody>
          <a:bodyPr wrap="square" lIns="0" rIns="0" tIns="0" bIns="0">
            <a:spAutoFit/>
          </a:bodyPr>
          <a:lstStyle/>
          <a:p>
            <a:pPr>
              <a:spcAft>
                <a:spcPts val="800"/>
              </a:spcAft>
            </a:pPr>
            <a:r>
              <a:rPr sz="3100">
                <a:solidFill>
                  <a:srgbClr val="111111"/>
                </a:solidFill>
                <a:latin typeface="NVIDIA Sans Medium"/>
              </a:rPr>
              <a:t>38.5 s</a:t>
            </a:r>
          </a:p>
        </p:txBody>
      </p:sp>
      <p:sp>
        <p:nvSpPr>
          <p:cNvPr id="37" name="Cost share 2"/>
          <p:cNvSpPr txBox="1"/>
          <p:nvPr/>
        </p:nvSpPr>
        <p:spPr>
          <a:xfrm>
            <a:off x="15544800" y="13523976"/>
            <a:ext cx="228600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15.4%</a:t>
            </a:r>
          </a:p>
        </p:txBody>
      </p:sp>
      <p:sp>
        <p:nvSpPr>
          <p:cNvPr id="38" name="Cost row 3"/>
          <p:cNvSpPr/>
          <p:nvPr/>
        </p:nvSpPr>
        <p:spPr>
          <a:xfrm>
            <a:off x="1828800" y="14401800"/>
            <a:ext cx="16276320" cy="10058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ost label 3"/>
          <p:cNvSpPr txBox="1"/>
          <p:nvPr/>
        </p:nvSpPr>
        <p:spPr>
          <a:xfrm>
            <a:off x="2057400" y="14639544"/>
            <a:ext cx="1078992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Encoder, VAE + other GPU work</a:t>
            </a:r>
          </a:p>
        </p:txBody>
      </p:sp>
      <p:sp>
        <p:nvSpPr>
          <p:cNvPr id="40" name="Cost time 3"/>
          <p:cNvSpPr txBox="1"/>
          <p:nvPr/>
        </p:nvSpPr>
        <p:spPr>
          <a:xfrm>
            <a:off x="13030200" y="14584680"/>
            <a:ext cx="2560320" cy="640080"/>
          </a:xfrm>
          <a:prstGeom prst="rect">
            <a:avLst/>
          </a:prstGeom>
          <a:noFill/>
        </p:spPr>
        <p:txBody>
          <a:bodyPr wrap="square" lIns="0" rIns="0" tIns="0" bIns="0">
            <a:spAutoFit/>
          </a:bodyPr>
          <a:lstStyle/>
          <a:p>
            <a:pPr>
              <a:spcAft>
                <a:spcPts val="800"/>
              </a:spcAft>
            </a:pPr>
            <a:r>
              <a:rPr sz="3100">
                <a:solidFill>
                  <a:srgbClr val="111111"/>
                </a:solidFill>
                <a:latin typeface="NVIDIA Sans Medium"/>
              </a:rPr>
              <a:t>4.0 s</a:t>
            </a:r>
          </a:p>
        </p:txBody>
      </p:sp>
      <p:sp>
        <p:nvSpPr>
          <p:cNvPr id="41" name="Cost share 3"/>
          <p:cNvSpPr txBox="1"/>
          <p:nvPr/>
        </p:nvSpPr>
        <p:spPr>
          <a:xfrm>
            <a:off x="15544800" y="14621256"/>
            <a:ext cx="2286000" cy="640080"/>
          </a:xfrm>
          <a:prstGeom prst="rect">
            <a:avLst/>
          </a:prstGeom>
          <a:noFill/>
        </p:spPr>
        <p:txBody>
          <a:bodyPr wrap="square" lIns="0" rIns="0" tIns="0" bIns="0">
            <a:spAutoFit/>
          </a:bodyPr>
          <a:lstStyle/>
          <a:p>
            <a:pPr>
              <a:spcAft>
                <a:spcPts val="800"/>
              </a:spcAft>
            </a:pPr>
            <a:r>
              <a:rPr sz="2800">
                <a:solidFill>
                  <a:srgbClr val="111111"/>
                </a:solidFill>
                <a:latin typeface="NVIDIA Sans"/>
              </a:rPr>
              <a:t>1.6%</a:t>
            </a:r>
          </a:p>
        </p:txBody>
      </p:sp>
      <p:sp>
        <p:nvSpPr>
          <p:cNvPr id="42" name="GPU total"/>
          <p:cNvSpPr txBox="1"/>
          <p:nvPr/>
        </p:nvSpPr>
        <p:spPr>
          <a:xfrm>
            <a:off x="1828800" y="15773400"/>
            <a:ext cx="16459200" cy="731520"/>
          </a:xfrm>
          <a:prstGeom prst="rect">
            <a:avLst/>
          </a:prstGeom>
          <a:noFill/>
        </p:spPr>
        <p:txBody>
          <a:bodyPr wrap="square" lIns="0" rIns="0" tIns="0" bIns="0">
            <a:spAutoFit/>
          </a:bodyPr>
          <a:lstStyle/>
          <a:p>
            <a:pPr>
              <a:spcAft>
                <a:spcPts val="800"/>
              </a:spcAft>
            </a:pPr>
            <a:r>
              <a:rPr sz="3300">
                <a:solidFill>
                  <a:srgbClr val="111111"/>
                </a:solidFill>
                <a:latin typeface="NVIDIA Sans Medium"/>
              </a:rPr>
              <a:t>Total: 250.0 s per GPU · 100%</a:t>
            </a:r>
          </a:p>
        </p:txBody>
      </p:sp>
      <p:sp>
        <p:nvSpPr>
          <p:cNvPr id="43" name="Accounting"/>
          <p:cNvSpPr txBox="1"/>
          <p:nvPr/>
        </p:nvSpPr>
        <p:spPr>
          <a:xfrm>
            <a:off x="1828800" y="16733520"/>
            <a:ext cx="16459200" cy="1920240"/>
          </a:xfrm>
          <a:prstGeom prst="rect">
            <a:avLst/>
          </a:prstGeom>
          <a:noFill/>
        </p:spPr>
        <p:txBody>
          <a:bodyPr wrap="square" lIns="0" rIns="0" tIns="0" bIns="0">
            <a:spAutoFit/>
          </a:bodyPr>
          <a:lstStyle/>
          <a:p>
            <a:pPr>
              <a:spcAft>
                <a:spcPts val="800"/>
              </a:spcAft>
            </a:pPr>
            <a:r>
              <a:rPr sz="2600">
                <a:solidFill>
                  <a:srgbClr val="555555"/>
                </a:solidFill>
                <a:latin typeface="NVIDIA Sans"/>
              </a:rPr>
              <a:t>* Kernel + memcpy + memset time, summed across GPUs ÷ 8.</a:t>
            </a:r>
          </a:p>
          <a:p>
            <a:pPr>
              <a:spcAft>
                <a:spcPts val="800"/>
              </a:spcAft>
            </a:pPr>
            <a:r>
              <a:rPr sz="2600">
                <a:solidFill>
                  <a:srgbClr val="555555"/>
                </a:solidFill>
                <a:latin typeface="NVIDIA Sans"/>
              </a:rPr>
              <a:t>These are exclusive GPU cost buckets, not E2E stage latencies.</a:t>
            </a:r>
          </a:p>
          <a:p>
            <a:pPr>
              <a:spcAft>
                <a:spcPts val="800"/>
              </a:spcAft>
            </a:pPr>
            <a:r>
              <a:rPr sz="2600">
                <a:solidFill>
                  <a:srgbClr val="555555"/>
                </a:solidFill>
                <a:latin typeface="NVIDIA Sans"/>
              </a:rPr>
              <a:t>NCCL time includes synchronization and peer waiting.</a:t>
            </a:r>
          </a:p>
        </p:txBody>
      </p:sp>
      <p:sp>
        <p:nvSpPr>
          <p:cNvPr id="44" name="Configuration heading"/>
          <p:cNvSpPr txBox="1"/>
          <p:nvPr/>
        </p:nvSpPr>
        <p:spPr>
          <a:xfrm>
            <a:off x="19202400" y="7955279"/>
            <a:ext cx="15544800" cy="914400"/>
          </a:xfrm>
          <a:prstGeom prst="rect">
            <a:avLst/>
          </a:prstGeom>
          <a:noFill/>
        </p:spPr>
        <p:txBody>
          <a:bodyPr wrap="square" lIns="0" rIns="0" tIns="0" bIns="0">
            <a:spAutoFit/>
          </a:bodyPr>
          <a:lstStyle/>
          <a:p>
            <a:pPr>
              <a:spcAft>
                <a:spcPts val="800"/>
              </a:spcAft>
            </a:pPr>
            <a:r>
              <a:rPr sz="4000">
                <a:solidFill>
                  <a:srgbClr val="111111"/>
                </a:solidFill>
                <a:latin typeface="NVIDIA Sans Medium"/>
              </a:rPr>
              <a:t>Baseline configuration</a:t>
            </a:r>
          </a:p>
        </p:txBody>
      </p:sp>
      <p:sp>
        <p:nvSpPr>
          <p:cNvPr id="45" name="Config label 0"/>
          <p:cNvSpPr txBox="1"/>
          <p:nvPr/>
        </p:nvSpPr>
        <p:spPr>
          <a:xfrm>
            <a:off x="19202400" y="9235440"/>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Model / steps</a:t>
            </a:r>
          </a:p>
        </p:txBody>
      </p:sp>
      <p:sp>
        <p:nvSpPr>
          <p:cNvPr id="46" name="Config value 0"/>
          <p:cNvSpPr txBox="1"/>
          <p:nvPr/>
        </p:nvSpPr>
        <p:spPr>
          <a:xfrm>
            <a:off x="19202400" y="9765792"/>
            <a:ext cx="15544800" cy="1097280"/>
          </a:xfrm>
          <a:prstGeom prst="rect">
            <a:avLst/>
          </a:prstGeom>
          <a:noFill/>
        </p:spPr>
        <p:txBody>
          <a:bodyPr wrap="square" lIns="0" rIns="0" tIns="0" bIns="0">
            <a:spAutoFit/>
          </a:bodyPr>
          <a:lstStyle/>
          <a:p>
            <a:pPr>
              <a:spcAft>
                <a:spcPts val="800"/>
              </a:spcAft>
            </a:pPr>
            <a:r>
              <a:rPr sz="2800">
                <a:solidFill>
                  <a:srgbClr val="111111"/>
                </a:solidFill>
                <a:latin typeface="NVIDIA Sans"/>
              </a:rPr>
              <a:t>Base Ref2VA · BF16 DiT · 50 evaluations · no adapter</a:t>
            </a:r>
          </a:p>
        </p:txBody>
      </p:sp>
      <p:sp>
        <p:nvSpPr>
          <p:cNvPr id="47" name="Config label 1"/>
          <p:cNvSpPr txBox="1"/>
          <p:nvPr/>
        </p:nvSpPr>
        <p:spPr>
          <a:xfrm>
            <a:off x="19202400" y="10972800"/>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Attention / execution</a:t>
            </a:r>
          </a:p>
        </p:txBody>
      </p:sp>
      <p:sp>
        <p:nvSpPr>
          <p:cNvPr id="48" name="Config value 1"/>
          <p:cNvSpPr txBox="1"/>
          <p:nvPr/>
        </p:nvSpPr>
        <p:spPr>
          <a:xfrm>
            <a:off x="19202400" y="11503152"/>
            <a:ext cx="15544800" cy="1097280"/>
          </a:xfrm>
          <a:prstGeom prst="rect">
            <a:avLst/>
          </a:prstGeom>
          <a:noFill/>
        </p:spPr>
        <p:txBody>
          <a:bodyPr wrap="square" lIns="0" rIns="0" tIns="0" bIns="0">
            <a:spAutoFit/>
          </a:bodyPr>
          <a:lstStyle/>
          <a:p>
            <a:pPr>
              <a:spcAft>
                <a:spcPts val="800"/>
              </a:spcAft>
            </a:pPr>
            <a:r>
              <a:rPr sz="2800">
                <a:solidFill>
                  <a:srgbClr val="111111"/>
                </a:solidFill>
                <a:latin typeface="NVIDIA Sans"/>
              </a:rPr>
              <a:t>Dense cuDNN attention · token refiner: Torch SDPA</a:t>
            </a:r>
          </a:p>
          <a:p>
            <a:pPr>
              <a:spcAft>
                <a:spcPts val="800"/>
              </a:spcAft>
            </a:pPr>
            <a:r>
              <a:rPr sz="2800">
                <a:solidFill>
                  <a:srgbClr val="111111"/>
                </a:solidFill>
                <a:latin typeface="NVIDIA Sans"/>
              </a:rPr>
              <a:t>Regional torch.compile · no head-band CUDA Graph</a:t>
            </a:r>
          </a:p>
        </p:txBody>
      </p:sp>
      <p:sp>
        <p:nvSpPr>
          <p:cNvPr id="49" name="Config label 2"/>
          <p:cNvSpPr txBox="1"/>
          <p:nvPr/>
        </p:nvSpPr>
        <p:spPr>
          <a:xfrm>
            <a:off x="19202400" y="12710159"/>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Communication</a:t>
            </a:r>
          </a:p>
        </p:txBody>
      </p:sp>
      <p:sp>
        <p:nvSpPr>
          <p:cNvPr id="50" name="Config value 2"/>
          <p:cNvSpPr txBox="1"/>
          <p:nvPr/>
        </p:nvSpPr>
        <p:spPr>
          <a:xfrm>
            <a:off x="19202400" y="13240511"/>
            <a:ext cx="15544800" cy="1097280"/>
          </a:xfrm>
          <a:prstGeom prst="rect">
            <a:avLst/>
          </a:prstGeom>
          <a:noFill/>
        </p:spPr>
        <p:txBody>
          <a:bodyPr wrap="square" lIns="0" rIns="0" tIns="0" bIns="0">
            <a:spAutoFit/>
          </a:bodyPr>
          <a:lstStyle/>
          <a:p>
            <a:pPr>
              <a:spcAft>
                <a:spcPts val="800"/>
              </a:spcAft>
            </a:pPr>
            <a:r>
              <a:rPr sz="2800">
                <a:solidFill>
                  <a:srgbClr val="111111"/>
                </a:solidFill>
                <a:latin typeface="NVIDIA Sans"/>
              </a:rPr>
              <a:t>Local NCCL · NCCL_IB_DISABLE=1 · RDMA off</a:t>
            </a:r>
          </a:p>
          <a:p>
            <a:pPr>
              <a:spcAft>
                <a:spcPts val="800"/>
              </a:spcAft>
            </a:pPr>
            <a:r>
              <a:rPr sz="2800">
                <a:solidFill>
                  <a:srgbClr val="111111"/>
                </a:solidFill>
                <a:latin typeface="NVIDIA Sans"/>
              </a:rPr>
              <a:t>No A2A permute · no 2 / 3 / 2 head pipeline</a:t>
            </a:r>
          </a:p>
        </p:txBody>
      </p:sp>
      <p:sp>
        <p:nvSpPr>
          <p:cNvPr id="51" name="Config label 3"/>
          <p:cNvSpPr txBox="1"/>
          <p:nvPr/>
        </p:nvSpPr>
        <p:spPr>
          <a:xfrm>
            <a:off x="19202400" y="14447519"/>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Decoder / output</a:t>
            </a:r>
          </a:p>
        </p:txBody>
      </p:sp>
      <p:sp>
        <p:nvSpPr>
          <p:cNvPr id="52" name="Config value 3"/>
          <p:cNvSpPr txBox="1"/>
          <p:nvPr/>
        </p:nvSpPr>
        <p:spPr>
          <a:xfrm>
            <a:off x="19202400" y="14977872"/>
            <a:ext cx="15544800" cy="1097280"/>
          </a:xfrm>
          <a:prstGeom prst="rect">
            <a:avLst/>
          </a:prstGeom>
          <a:noFill/>
        </p:spPr>
        <p:txBody>
          <a:bodyPr wrap="square" lIns="0" rIns="0" tIns="0" bIns="0">
            <a:spAutoFit/>
          </a:bodyPr>
          <a:lstStyle/>
          <a:p>
            <a:pPr>
              <a:spcAft>
                <a:spcPts val="800"/>
              </a:spcAft>
            </a:pPr>
            <a:r>
              <a:rPr sz="2800">
                <a:solidFill>
                  <a:srgbClr val="111111"/>
                </a:solidFill>
                <a:latin typeface="NVIDIA Sans"/>
              </a:rPr>
              <a:t>Native unquantized VAE · 8-way spatial tiling</a:t>
            </a:r>
          </a:p>
          <a:p>
            <a:pPr>
              <a:spcAft>
                <a:spcPts val="800"/>
              </a:spcAft>
            </a:pPr>
            <a:r>
              <a:rPr sz="2800">
                <a:solidFill>
                  <a:srgbClr val="111111"/>
                </a:solidFill>
                <a:latin typeface="NVIDIA Sans"/>
              </a:rPr>
              <a:t>FP16 decode autocast · response encoding after generation</a:t>
            </a:r>
          </a:p>
        </p:txBody>
      </p:sp>
      <p:sp>
        <p:nvSpPr>
          <p:cNvPr id="53" name="Config label 4"/>
          <p:cNvSpPr txBox="1"/>
          <p:nvPr/>
        </p:nvSpPr>
        <p:spPr>
          <a:xfrm>
            <a:off x="19202400" y="16184880"/>
            <a:ext cx="15544800" cy="502920"/>
          </a:xfrm>
          <a:prstGeom prst="rect">
            <a:avLst/>
          </a:prstGeom>
          <a:noFill/>
        </p:spPr>
        <p:txBody>
          <a:bodyPr wrap="square" lIns="0" rIns="0" tIns="0" bIns="0">
            <a:spAutoFit/>
          </a:bodyPr>
          <a:lstStyle/>
          <a:p>
            <a:pPr>
              <a:spcAft>
                <a:spcPts val="800"/>
              </a:spcAft>
            </a:pPr>
            <a:r>
              <a:rPr sz="2800">
                <a:solidFill>
                  <a:srgbClr val="527D12"/>
                </a:solidFill>
                <a:latin typeface="NVIDIA Sans Medium"/>
              </a:rPr>
              <a:t>AdaLN</a:t>
            </a:r>
          </a:p>
        </p:txBody>
      </p:sp>
      <p:sp>
        <p:nvSpPr>
          <p:cNvPr id="54" name="Config value 4"/>
          <p:cNvSpPr txBox="1"/>
          <p:nvPr/>
        </p:nvSpPr>
        <p:spPr>
          <a:xfrm>
            <a:off x="19202400" y="16715231"/>
            <a:ext cx="15544800" cy="1097280"/>
          </a:xfrm>
          <a:prstGeom prst="rect">
            <a:avLst/>
          </a:prstGeom>
          <a:noFill/>
        </p:spPr>
        <p:txBody>
          <a:bodyPr wrap="square" lIns="0" rIns="0" tIns="0" bIns="0">
            <a:spAutoFit/>
          </a:bodyPr>
          <a:lstStyle/>
          <a:p>
            <a:pPr>
              <a:spcAft>
                <a:spcPts val="800"/>
              </a:spcAft>
            </a:pPr>
            <a:r>
              <a:rPr sz="2800">
                <a:solidFill>
                  <a:srgbClr val="111111"/>
                </a:solidFill>
                <a:latin typeface="NVIDIA Sans"/>
              </a:rPr>
              <a:t>Default CPU weight offload + 256 MiB exact cache</a:t>
            </a:r>
          </a:p>
          <a:p>
            <a:pPr>
              <a:spcAft>
                <a:spcPts val="800"/>
              </a:spcAft>
            </a:pPr>
            <a:r>
              <a:rPr sz="2800">
                <a:solidFill>
                  <a:srgbClr val="111111"/>
                </a:solidFill>
                <a:latin typeface="NVIDIA Sans"/>
              </a:rPr>
              <a:t>Cache misses stage weights · no offline schedule table</a:t>
            </a:r>
          </a:p>
        </p:txBody>
      </p:sp>
      <p:sp>
        <p:nvSpPr>
          <p:cNvPr id="55" name="Footer"/>
          <p:cNvSpPr txBox="1"/>
          <p:nvPr/>
        </p:nvSpPr>
        <p:spPr>
          <a:xfrm>
            <a:off x="1828800" y="18882360"/>
            <a:ext cx="32918400" cy="640080"/>
          </a:xfrm>
          <a:prstGeom prst="rect">
            <a:avLst/>
          </a:prstGeom>
          <a:noFill/>
        </p:spPr>
        <p:txBody>
          <a:bodyPr wrap="square" lIns="0" rIns="0" tIns="0" bIns="0">
            <a:spAutoFit/>
          </a:bodyPr>
          <a:lstStyle/>
          <a:p>
            <a:pPr>
              <a:spcAft>
                <a:spcPts val="800"/>
              </a:spcAft>
            </a:pPr>
            <a:r>
              <a:rPr sz="2500">
                <a:solidFill>
                  <a:srgbClr val="555555"/>
                </a:solidFill>
                <a:latin typeface="NVIDIA Sans"/>
              </a:rPr>
              <a:t>Historical default-offload baseline. An optimized BF16 baseline is pending. Full CPU-stage breakdown and provenance are linked from the title.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4"/>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hlinkClick r:id="rId5"/>
              </a:rPr>
              <a:t>Five-Second Avatar: Live Conversation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Demo focus · reference identity, expression, native speech and continuity</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7</a:t>
            </a:r>
          </a:p>
        </p:txBody>
      </p:sp>
      <p:sp>
        <p:nvSpPr>
          <p:cNvPr id="5" name="Demo panel 0"/>
          <p:cNvSpPr/>
          <p:nvPr/>
        </p:nvSpPr>
        <p:spPr>
          <a:xfrm>
            <a:off x="1828800" y="512064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mo title 0"/>
          <p:cNvSpPr txBox="1"/>
          <p:nvPr/>
        </p:nvSpPr>
        <p:spPr>
          <a:xfrm>
            <a:off x="2468880" y="553212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01 · Natural presence</a:t>
            </a:r>
          </a:p>
        </p:txBody>
      </p:sp>
      <p:sp>
        <p:nvSpPr>
          <p:cNvPr id="7" name="Demo body 0"/>
          <p:cNvSpPr txBox="1"/>
          <p:nvPr/>
        </p:nvSpPr>
        <p:spPr>
          <a:xfrm>
            <a:off x="2468880" y="662940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Listen with natural presence.
Microphone stays active; live captions show the question.</a:t>
            </a:r>
          </a:p>
        </p:txBody>
      </p:sp>
      <p:sp>
        <p:nvSpPr>
          <p:cNvPr id="8" name="Demo panel 1"/>
          <p:cNvSpPr/>
          <p:nvPr/>
        </p:nvSpPr>
        <p:spPr>
          <a:xfrm>
            <a:off x="1828800" y="9052559"/>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mo title 1"/>
          <p:cNvSpPr txBox="1"/>
          <p:nvPr/>
        </p:nvSpPr>
        <p:spPr>
          <a:xfrm>
            <a:off x="2468880" y="946403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02 · Speech and expression</a:t>
            </a:r>
          </a:p>
        </p:txBody>
      </p:sp>
      <p:sp>
        <p:nvSpPr>
          <p:cNvPr id="10" name="Demo body 1"/>
          <p:cNvSpPr txBox="1"/>
          <p:nvPr/>
        </p:nvSpPr>
        <p:spPr>
          <a:xfrm>
            <a:off x="2468880" y="10561319"/>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Generate a short answer as native audio and video.
Show generation time and actual reply-video start time.</a:t>
            </a:r>
          </a:p>
        </p:txBody>
      </p:sp>
      <p:sp>
        <p:nvSpPr>
          <p:cNvPr id="11" name="Demo panel 2"/>
          <p:cNvSpPr/>
          <p:nvPr/>
        </p:nvSpPr>
        <p:spPr>
          <a:xfrm>
            <a:off x="1828800" y="12984480"/>
            <a:ext cx="32918400" cy="329184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mo title 2"/>
          <p:cNvSpPr txBox="1"/>
          <p:nvPr/>
        </p:nvSpPr>
        <p:spPr>
          <a:xfrm>
            <a:off x="2468880" y="13395959"/>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03 · Continuous generation</a:t>
            </a:r>
          </a:p>
        </p:txBody>
      </p:sp>
      <p:sp>
        <p:nvSpPr>
          <p:cNvPr id="13" name="Demo body 2"/>
          <p:cNvSpPr txBox="1"/>
          <p:nvPr/>
        </p:nvSpPr>
        <p:spPr>
          <a:xfrm>
            <a:off x="2468880" y="14493240"/>
            <a:ext cx="31089600" cy="1463040"/>
          </a:xfrm>
          <a:prstGeom prst="rect">
            <a:avLst/>
          </a:prstGeom>
          <a:noFill/>
        </p:spPr>
        <p:txBody>
          <a:bodyPr wrap="square" lIns="0" rIns="0" tIns="0" bIns="0">
            <a:spAutoFit/>
          </a:bodyPr>
          <a:lstStyle/>
          <a:p>
            <a:pPr>
              <a:spcAft>
                <a:spcPts val="800"/>
              </a:spcAft>
            </a:pPr>
            <a:r>
              <a:rPr sz="3700">
                <a:solidFill>
                  <a:srgbClr val="111111"/>
                </a:solidFill>
                <a:latin typeface="NVIDIA Sans"/>
              </a:rPr>
              <a:t>Carry video and audio history across windows.
Inspect the face, mouth and transitions while speaking.</a:t>
            </a:r>
          </a:p>
        </p:txBody>
      </p:sp>
      <p:sp>
        <p:nvSpPr>
          <p:cNvPr id="14" name="Demo metrics"/>
          <p:cNvSpPr txBox="1"/>
          <p:nvPr/>
        </p:nvSpPr>
        <p:spPr>
          <a:xfrm>
            <a:off x="1828800" y="17373600"/>
            <a:ext cx="32918400" cy="731520"/>
          </a:xfrm>
          <a:prstGeom prst="rect">
            <a:avLst/>
          </a:prstGeom>
          <a:noFill/>
        </p:spPr>
        <p:txBody>
          <a:bodyPr wrap="square" lIns="0" rIns="0" tIns="0" bIns="0">
            <a:spAutoFit/>
          </a:bodyPr>
          <a:lstStyle/>
          <a:p>
            <a:pPr>
              <a:spcAft>
                <a:spcPts val="800"/>
              </a:spcAft>
            </a:pPr>
            <a:r>
              <a:rPr sz="3400">
                <a:solidFill>
                  <a:srgbClr val="111111"/>
                </a:solidFill>
                <a:latin typeface="NVIDIA Sans Medium"/>
              </a:rPr>
              <a:t>960 × 544 · 24 FPS · 8 steps · 8 SM120 GPUs · QAD NVFP4 / native FP4 VSA</a:t>
            </a:r>
          </a:p>
        </p:txBody>
      </p:sp>
      <p:sp>
        <p:nvSpPr>
          <p:cNvPr id="15" name="Demo caveat"/>
          <p:cNvSpPr txBox="1"/>
          <p:nvPr/>
        </p:nvSpPr>
        <p:spPr>
          <a:xfrm>
            <a:off x="1828800" y="18333720"/>
            <a:ext cx="32918400" cy="1280160"/>
          </a:xfrm>
          <a:prstGeom prst="rect">
            <a:avLst/>
          </a:prstGeom>
          <a:noFill/>
        </p:spPr>
        <p:txBody>
          <a:bodyPr wrap="square" lIns="0" rIns="0" tIns="0" bIns="0">
            <a:spAutoFit/>
          </a:bodyPr>
          <a:lstStyle/>
          <a:p>
            <a:pPr>
              <a:spcAft>
                <a:spcPts val="800"/>
              </a:spcAft>
            </a:pPr>
            <a:r>
              <a:rPr sz="2700">
                <a:solidFill>
                  <a:srgbClr val="555555"/>
                </a:solidFill>
                <a:latin typeface="NVIDIA Sans"/>
              </a:rPr>
              <a:t>119 new frames / 4.958 s per continuation · 20% history noise · video prefix off.
ASR and LLM share GPUs 6 / 7. Full configuration and timing definitions are on slide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10</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Retained single-GPU study at 1344 × 768 · Separate from the eight-GPU roadmap</a:t>
            </a:r>
          </a:p>
        </p:txBody>
      </p:sp>
      <p:sp>
        <p:nvSpPr>
          <p:cNvPr id="4" name="Title 3"/>
          <p:cNvSpPr>
            <a:spLocks noGrp="1"/>
          </p:cNvSpPr>
          <p:nvPr>
            <p:ph type="title"/>
          </p:nvPr>
        </p:nvSpPr>
        <p:spPr/>
        <p:txBody>
          <a:bodyPr/>
          <a:lstStyle/>
          <a:p>
            <a:r>
              <a:t>Prior Study: Quantization Quality</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sample; no general quality claim · LPIPS lower / SSIM higher means closer to BF16</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11</a:t>
            </a:fld>
            <a:endParaRPr lang="en-US"/>
          </a:p>
        </p:txBody>
      </p:sp>
      <p:sp>
        <p:nvSpPr>
          <p:cNvPr id="7" name="BF16 Reference"/>
          <p:cNvSpPr txBox="1"/>
          <p:nvPr/>
        </p:nvSpPr>
        <p:spPr>
          <a:xfrm>
            <a:off x="164592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6858000"/>
            <a:ext cx="8046720" cy="4598125"/>
          </a:xfrm>
          <a:prstGeom prst="rect">
            <a:avLst/>
          </a:prstGeom>
          <a:ln w="9525">
            <a:solidFill>
              <a:srgbClr val="A7A7A7"/>
            </a:solidFill>
          </a:ln>
        </p:spPr>
      </p:pic>
      <p:sp>
        <p:nvSpPr>
          <p:cNvPr id="9" name="BF16 weights"/>
          <p:cNvSpPr txBox="1"/>
          <p:nvPr/>
        </p:nvSpPr>
        <p:spPr>
          <a:xfrm>
            <a:off x="164592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BF16 weights</a:t>
            </a:r>
          </a:p>
          <a:p>
            <a:pPr algn="ctr">
              <a:lnSpc>
                <a:spcPct val="108000"/>
              </a:lnSpc>
              <a:spcBef>
                <a:spcPts val="0"/>
              </a:spcBef>
              <a:spcAft>
                <a:spcPts val="1000"/>
              </a:spcAft>
            </a:pPr>
            <a:r>
              <a:rPr sz="2900" b="0">
                <a:solidFill>
                  <a:srgbClr val="313131"/>
                </a:solidFill>
                <a:latin typeface="NVIDIA Sans"/>
              </a:rPr>
              <a:t>cuDNN BF16 attention</a:t>
            </a:r>
          </a:p>
        </p:txBody>
      </p:sp>
      <p:sp>
        <p:nvSpPr>
          <p:cNvPr id="10" name="Request: 152.58 s*"/>
          <p:cNvSpPr txBox="1"/>
          <p:nvPr/>
        </p:nvSpPr>
        <p:spPr>
          <a:xfrm>
            <a:off x="164592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152.58 s*</a:t>
            </a:r>
          </a:p>
        </p:txBody>
      </p:sp>
      <p:sp>
        <p:nvSpPr>
          <p:cNvPr id="11" name="LPIPS 0.0000  |  SSIM 1.0000"/>
          <p:cNvSpPr txBox="1"/>
          <p:nvPr/>
        </p:nvSpPr>
        <p:spPr>
          <a:xfrm>
            <a:off x="164592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0.0000  |  SSIM 1.0000</a:t>
            </a:r>
          </a:p>
        </p:txBody>
      </p:sp>
      <p:sp>
        <p:nvSpPr>
          <p:cNvPr id="12" name="Online NVFP4"/>
          <p:cNvSpPr txBox="1"/>
          <p:nvPr/>
        </p:nvSpPr>
        <p:spPr>
          <a:xfrm>
            <a:off x="1005840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6858000"/>
            <a:ext cx="8046720" cy="4598125"/>
          </a:xfrm>
          <a:prstGeom prst="rect">
            <a:avLst/>
          </a:prstGeom>
          <a:ln w="9525">
            <a:solidFill>
              <a:srgbClr val="A7A7A7"/>
            </a:solidFill>
          </a:ln>
        </p:spPr>
      </p:pic>
      <p:sp>
        <p:nvSpPr>
          <p:cNvPr id="14" name="Fresh BF16-derived NVFP4"/>
          <p:cNvSpPr txBox="1"/>
          <p:nvPr/>
        </p:nvSpPr>
        <p:spPr>
          <a:xfrm>
            <a:off x="1005840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Fresh BF16-derived NVFP4</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15" name="Request: 89.12 s*"/>
          <p:cNvSpPr txBox="1"/>
          <p:nvPr/>
        </p:nvSpPr>
        <p:spPr>
          <a:xfrm>
            <a:off x="1005840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89.12 s*</a:t>
            </a:r>
          </a:p>
        </p:txBody>
      </p:sp>
      <p:sp>
        <p:nvSpPr>
          <p:cNvPr id="16" name="LPIPS 0.2313  |  SSIM 0.5488"/>
          <p:cNvSpPr txBox="1"/>
          <p:nvPr/>
        </p:nvSpPr>
        <p:spPr>
          <a:xfrm>
            <a:off x="1005840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0.2313  |  SSIM 0.5488</a:t>
            </a:r>
          </a:p>
        </p:txBody>
      </p:sp>
      <p:sp>
        <p:nvSpPr>
          <p:cNvPr id="17" name="QAD NVFP4"/>
          <p:cNvSpPr txBox="1"/>
          <p:nvPr/>
        </p:nvSpPr>
        <p:spPr>
          <a:xfrm>
            <a:off x="1847088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6858000"/>
            <a:ext cx="8046720" cy="4598125"/>
          </a:xfrm>
          <a:prstGeom prst="rect">
            <a:avLst/>
          </a:prstGeom>
          <a:ln w="9525">
            <a:solidFill>
              <a:srgbClr val="A7A7A7"/>
            </a:solidFill>
          </a:ln>
        </p:spPr>
      </p:pic>
      <p:sp>
        <p:nvSpPr>
          <p:cNvPr id="19" name="QAD weights + native scales"/>
          <p:cNvSpPr txBox="1"/>
          <p:nvPr/>
        </p:nvSpPr>
        <p:spPr>
          <a:xfrm>
            <a:off x="1847088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QAD weights + native scales</a:t>
            </a:r>
          </a:p>
          <a:p>
            <a:pPr algn="ctr">
              <a:lnSpc>
                <a:spcPct val="108000"/>
              </a:lnSpc>
              <a:spcBef>
                <a:spcPts val="0"/>
              </a:spcBef>
              <a:spcAft>
                <a:spcPts val="1000"/>
              </a:spcAft>
            </a:pPr>
            <a:r>
              <a:rPr sz="2900" b="0">
                <a:solidFill>
                  <a:srgbClr val="313131"/>
                </a:solidFill>
                <a:latin typeface="NVIDIA Sans"/>
              </a:rPr>
              <a:t>Native FP4 sparse attention</a:t>
            </a:r>
          </a:p>
        </p:txBody>
      </p:sp>
      <p:sp>
        <p:nvSpPr>
          <p:cNvPr id="20" name="Request: 84.47 s*"/>
          <p:cNvSpPr txBox="1"/>
          <p:nvPr/>
        </p:nvSpPr>
        <p:spPr>
          <a:xfrm>
            <a:off x="1847088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84.47 s*</a:t>
            </a:r>
          </a:p>
        </p:txBody>
      </p:sp>
      <p:sp>
        <p:nvSpPr>
          <p:cNvPr id="21" name="LPIPS 0.2177  |  SSIM 0.6225"/>
          <p:cNvSpPr txBox="1"/>
          <p:nvPr/>
        </p:nvSpPr>
        <p:spPr>
          <a:xfrm>
            <a:off x="1847088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0.2177  |  SSIM 0.6225</a:t>
            </a:r>
          </a:p>
        </p:txBody>
      </p:sp>
      <p:sp>
        <p:nvSpPr>
          <p:cNvPr id="22" name="QAD + Optimized FP4"/>
          <p:cNvSpPr txBox="1"/>
          <p:nvPr/>
        </p:nvSpPr>
        <p:spPr>
          <a:xfrm>
            <a:off x="26883360" y="55778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6858000"/>
            <a:ext cx="8046720" cy="4598125"/>
          </a:xfrm>
          <a:prstGeom prst="rect">
            <a:avLst/>
          </a:prstGeom>
          <a:ln w="9525">
            <a:solidFill>
              <a:srgbClr val="A7A7A7"/>
            </a:solidFill>
          </a:ln>
        </p:spPr>
      </p:pic>
      <p:sp>
        <p:nvSpPr>
          <p:cNvPr id="24" name="Same QAD encoder / decoder"/>
          <p:cNvSpPr txBox="1"/>
          <p:nvPr/>
        </p:nvSpPr>
        <p:spPr>
          <a:xfrm>
            <a:off x="26883360" y="11978640"/>
            <a:ext cx="8046720" cy="11887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Unified prefix / video attention</a:t>
            </a:r>
            <a:br>
              <a:rPr sz="2900" b="0">
                <a:solidFill>
                  <a:srgbClr val="313131"/>
                </a:solidFill>
                <a:latin typeface="NVIDIA Sans"/>
              </a:rPr>
            </a:br>
            <a:r>
              <a:rPr sz="2900" b="0">
                <a:solidFill>
                  <a:srgbClr val="313131"/>
                </a:solidFill>
                <a:latin typeface="NVIDIA Sans"/>
              </a:rPr>
              <a:t>Device-aware SM scheduling</a:t>
            </a:r>
          </a:p>
        </p:txBody>
      </p:sp>
      <p:sp>
        <p:nvSpPr>
          <p:cNvPr id="25" name="Request: 69.95 s*"/>
          <p:cNvSpPr txBox="1"/>
          <p:nvPr/>
        </p:nvSpPr>
        <p:spPr>
          <a:xfrm>
            <a:off x="26883360" y="13807440"/>
            <a:ext cx="804672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313131"/>
                </a:solidFill>
                <a:latin typeface="NVIDIA Sans Medium"/>
              </a:rPr>
              <a:t>Request: 69.95 s*</a:t>
            </a:r>
          </a:p>
        </p:txBody>
      </p:sp>
      <p:sp>
        <p:nvSpPr>
          <p:cNvPr id="26" name="LPIPS 0.2169  |  SSIM 0.6222"/>
          <p:cNvSpPr txBox="1"/>
          <p:nvPr/>
        </p:nvSpPr>
        <p:spPr>
          <a:xfrm>
            <a:off x="26883360" y="14859000"/>
            <a:ext cx="8046720" cy="777240"/>
          </a:xfrm>
          <a:prstGeom prst="rect">
            <a:avLst/>
          </a:prstGeom>
          <a:noFill/>
        </p:spPr>
        <p:txBody>
          <a:bodyPr wrap="square" lIns="0" rIns="0" tIns="0" bIns="0">
            <a:spAutoFit/>
          </a:bodyPr>
          <a:lstStyle/>
          <a:p>
            <a:pPr algn="ctr">
              <a:lnSpc>
                <a:spcPct val="108000"/>
              </a:lnSpc>
              <a:spcBef>
                <a:spcPts val="0"/>
              </a:spcBef>
              <a:spcAft>
                <a:spcPts val="1000"/>
              </a:spcAft>
            </a:pPr>
            <a:r>
              <a:rPr sz="2800" b="0">
                <a:solidFill>
                  <a:srgbClr val="313131"/>
                </a:solidFill>
                <a:latin typeface="NVIDIA Sans"/>
              </a:rPr>
              <a:t>LPIPS 0.2169  |  SSIM 0.6222</a:t>
            </a:r>
          </a:p>
        </p:txBody>
      </p:sp>
      <p:sp>
        <p:nvSpPr>
          <p:cNvPr id="27" name="Quantized arms include DiT, language encoder and video decoder."/>
          <p:cNvSpPr txBox="1"/>
          <p:nvPr/>
        </p:nvSpPr>
        <p:spPr>
          <a:xfrm>
            <a:off x="1828800" y="16459200"/>
            <a:ext cx="32918400" cy="822960"/>
          </a:xfrm>
          <a:prstGeom prst="rect">
            <a:avLst/>
          </a:prstGeom>
          <a:noFill/>
        </p:spPr>
        <p:txBody>
          <a:bodyPr wrap="square" lIns="0" rIns="0" tIns="0" bIns="0">
            <a:spAutoFit/>
          </a:bodyPr>
          <a:lstStyle/>
          <a:p>
            <a:pPr algn="ctr">
              <a:lnSpc>
                <a:spcPct val="108000"/>
              </a:lnSpc>
              <a:spcBef>
                <a:spcPts val="0"/>
              </a:spcBef>
              <a:spcAft>
                <a:spcPts val="1000"/>
              </a:spcAft>
            </a:pPr>
            <a:r>
              <a:rPr sz="3200" b="1">
                <a:solidFill>
                  <a:srgbClr val="76B900"/>
                </a:solidFill>
                <a:latin typeface="NVIDIA Sans Medium"/>
              </a:rPr>
              <a:t>Quantized arms include DiT, language encoder and video decoder.</a:t>
            </a:r>
          </a:p>
        </p:txBody>
      </p:sp>
      <p:sp>
        <p:nvSpPr>
          <p:cNvPr id="28" name="1344 × 768 · 124 frames at 24 FPS · 8 steps · Seed 1234 · VSA tile128"/>
          <p:cNvSpPr txBox="1"/>
          <p:nvPr/>
        </p:nvSpPr>
        <p:spPr>
          <a:xfrm>
            <a:off x="1828800" y="17510760"/>
            <a:ext cx="32918400" cy="731520"/>
          </a:xfrm>
          <a:prstGeom prst="rect">
            <a:avLst/>
          </a:prstGeom>
          <a:noFill/>
        </p:spPr>
        <p:txBody>
          <a:bodyPr wrap="square" lIns="0" rIns="0" tIns="0" bIns="0">
            <a:spAutoFit/>
          </a:bodyPr>
          <a:lstStyle/>
          <a:p>
            <a:pPr algn="ctr">
              <a:lnSpc>
                <a:spcPct val="108000"/>
              </a:lnSpc>
              <a:spcBef>
                <a:spcPts val="0"/>
              </a:spcBef>
              <a:spcAft>
                <a:spcPts val="1000"/>
              </a:spcAft>
            </a:pPr>
            <a:r>
              <a:rPr sz="2900" b="0">
                <a:solidFill>
                  <a:srgbClr val="313131"/>
                </a:solidFill>
                <a:latin typeface="NVIDIA Sans"/>
              </a:rPr>
              <a:t>1344 × 768 · 124 frames at 24 FPS · 8 steps · Seed 1234 · VSA tile128</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*Single requests with CPU offload. GPUs: BF16 0; Online / QAD 3; Native FP4 1.</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111111"/>
                </a:solidFill>
                <a:latin typeface="NVIDIA Sans Medium"/>
              </a:rPr>
              <a:t>Three Ideas Behind Faster Generation</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555555"/>
                </a:solidFill>
                <a:latin typeface="NVIDIA Sans"/>
              </a:rPr>
              <a:t>Technical overview · detailed algorithms and source excerpts remain available on hidden slides</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111111"/>
                </a:solidFill>
                <a:latin typeface="NVIDIA Sans"/>
              </a:rPr>
              <a:t>12</a:t>
            </a:r>
          </a:p>
        </p:txBody>
      </p:sp>
      <p:sp>
        <p:nvSpPr>
          <p:cNvPr id="5" name="Overview panel 0"/>
          <p:cNvSpPr/>
          <p:nvPr/>
        </p:nvSpPr>
        <p:spPr>
          <a:xfrm>
            <a:off x="1828800" y="502920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Less model work</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Few-step distillation reduces evaluations.</a:t>
            </a:r>
          </a:p>
          <a:p>
            <a:pPr>
              <a:spcAft>
                <a:spcPts val="800"/>
              </a:spcAft>
            </a:pPr>
            <a:r>
              <a:rPr sz="3500">
                <a:solidFill>
                  <a:srgbClr val="111111"/>
                </a:solidFill>
                <a:latin typeface="NVIDIA Sans"/>
              </a:rPr>
              <a:t>Sparse attention concentrates work on selected regions.</a:t>
            </a:r>
          </a:p>
          <a:p>
            <a:pPr>
              <a:spcAft>
                <a:spcPts val="800"/>
              </a:spcAft>
            </a:pPr>
            <a:r>
              <a:rPr sz="3500">
                <a:solidFill>
                  <a:srgbClr val="111111"/>
                </a:solidFill>
                <a:latin typeface="NVIDIA Sans"/>
              </a:rPr>
              <a:t>Quantized inference lowers arithmetic and memory cost.</a:t>
            </a:r>
          </a:p>
        </p:txBody>
      </p:sp>
      <p:sp>
        <p:nvSpPr>
          <p:cNvPr id="8" name="Overview panel 1"/>
          <p:cNvSpPr/>
          <p:nvPr/>
        </p:nvSpPr>
        <p:spPr>
          <a:xfrm>
            <a:off x="1828800" y="928116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Overlap across eight GPUs</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Ulysses distributes attention across heads.</a:t>
            </a:r>
          </a:p>
          <a:p>
            <a:pPr>
              <a:spcAft>
                <a:spcPts val="800"/>
              </a:spcAft>
            </a:pPr>
            <a:r>
              <a:rPr sz="3500">
                <a:solidFill>
                  <a:srgbClr val="111111"/>
                </a:solidFill>
                <a:latin typeface="NVIDIA Sans"/>
              </a:rPr>
              <a:t>RDMA carries the exchanges.</a:t>
            </a:r>
          </a:p>
          <a:p>
            <a:pPr>
              <a:spcAft>
                <a:spcPts val="800"/>
              </a:spcAft>
            </a:pPr>
            <a:r>
              <a:rPr sz="3500">
                <a:solidFill>
                  <a:srgbClr val="111111"/>
                </a:solidFill>
                <a:latin typeface="NVIDIA Sans"/>
              </a:rPr>
              <a:t>Head bands overlap transfer with attention compute.</a:t>
            </a:r>
          </a:p>
        </p:txBody>
      </p:sp>
      <p:sp>
        <p:nvSpPr>
          <p:cNvPr id="11" name="Overview panel 2"/>
          <p:cNvSpPr/>
          <p:nvPr/>
        </p:nvSpPr>
        <p:spPr>
          <a:xfrm>
            <a:off x="1828800" y="13533120"/>
            <a:ext cx="32918400" cy="3703320"/>
          </a:xfrm>
          <a:prstGeom prst="rect">
            <a:avLst/>
          </a:prstGeom>
          <a:solidFill>
            <a:srgbClr val="F2F5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111111"/>
                </a:solidFill>
                <a:latin typeface="NVIDIA Sans Medium"/>
              </a:rPr>
              <a:t>Keep the output path moving</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111111"/>
                </a:solidFill>
                <a:latin typeface="NVIDIA Sans"/>
              </a:rPr>
              <a:t>CUDA Graph replays stable head-band compute.</a:t>
            </a:r>
          </a:p>
          <a:p>
            <a:pPr>
              <a:spcAft>
                <a:spcPts val="800"/>
              </a:spcAft>
            </a:pPr>
            <a:r>
              <a:rPr sz="3500">
                <a:solidFill>
                  <a:srgbClr val="111111"/>
                </a:solidFill>
                <a:latin typeface="NVIDIA Sans"/>
              </a:rPr>
              <a:t>Exact AdaLN caching avoids repeated projections.</a:t>
            </a:r>
          </a:p>
          <a:p>
            <a:pPr>
              <a:spcAft>
                <a:spcPts val="800"/>
              </a:spcAft>
            </a:pPr>
            <a:r>
              <a:rPr sz="3500">
                <a:solidFill>
                  <a:srgbClr val="111111"/>
                </a:solidFill>
                <a:latin typeface="NVIDIA Sans"/>
              </a:rPr>
              <a:t>NVFP4 VAE and MP4 pre-encoding reduce output cost.</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555555"/>
                </a:solidFill>
                <a:latin typeface="NVIDIA Sans"/>
              </a:rPr>
              <a:t>These are optimization families. Use each demo’s own recipe and measurements; the four-step avatar and slide 18 are distinct workloads.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13</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14</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15</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16</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17</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hlinkClick r:id="rId4"/>
              </a:rPr>
              <a:t>Cumulative Optimization: Measured Latency</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960 × 544 · 124 frames / 24 FPS · 8 exclusive GPUs · same inputs and seed 43</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18</a:t>
            </a:r>
          </a:p>
        </p:txBody>
      </p:sp>
      <p:sp>
        <p:nvSpPr>
          <p:cNvPr id="5" name="Table header"/>
          <p:cNvSpPr/>
          <p:nvPr/>
        </p:nvSpPr>
        <p:spPr>
          <a:xfrm>
            <a:off x="1828800" y="4754880"/>
            <a:ext cx="32918400" cy="914400"/>
          </a:xfrm>
          <a:prstGeom prst="rect">
            <a:avLst/>
          </a:prstGeom>
          <a:solidFill>
            <a:srgbClr val="E3EC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937760"/>
            <a:ext cx="1554480" cy="64008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Stage</a:t>
            </a:r>
          </a:p>
        </p:txBody>
      </p:sp>
      <p:sp>
        <p:nvSpPr>
          <p:cNvPr id="7" name="Header Cumulative change"/>
          <p:cNvSpPr txBox="1"/>
          <p:nvPr/>
        </p:nvSpPr>
        <p:spPr>
          <a:xfrm>
            <a:off x="4160520" y="4937760"/>
            <a:ext cx="17647920" cy="64008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Cumulative change</a:t>
            </a:r>
          </a:p>
        </p:txBody>
      </p:sp>
      <p:sp>
        <p:nvSpPr>
          <p:cNvPr id="8" name="Header Median (s)"/>
          <p:cNvSpPr txBox="1"/>
          <p:nvPr/>
        </p:nvSpPr>
        <p:spPr>
          <a:xfrm>
            <a:off x="22265639" y="4937760"/>
            <a:ext cx="3840480" cy="64008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Median (s)</a:t>
            </a:r>
          </a:p>
        </p:txBody>
      </p:sp>
      <p:sp>
        <p:nvSpPr>
          <p:cNvPr id="9" name="Header Saved (s)"/>
          <p:cNvSpPr txBox="1"/>
          <p:nvPr/>
        </p:nvSpPr>
        <p:spPr>
          <a:xfrm>
            <a:off x="26654760" y="4937760"/>
            <a:ext cx="3383280" cy="64008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Saved (s)</a:t>
            </a:r>
          </a:p>
        </p:txBody>
      </p:sp>
      <p:sp>
        <p:nvSpPr>
          <p:cNvPr id="10" name="Header RTF"/>
          <p:cNvSpPr txBox="1"/>
          <p:nvPr/>
        </p:nvSpPr>
        <p:spPr>
          <a:xfrm>
            <a:off x="31409640" y="4937760"/>
            <a:ext cx="3200400" cy="64008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RTF</a:t>
            </a:r>
          </a:p>
        </p:txBody>
      </p:sp>
      <p:sp>
        <p:nvSpPr>
          <p:cNvPr id="11" name="Row background 0"/>
          <p:cNvSpPr/>
          <p:nvPr/>
        </p:nvSpPr>
        <p:spPr>
          <a:xfrm>
            <a:off x="1828800" y="5733288"/>
            <a:ext cx="32918400" cy="82296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 Stage"/>
          <p:cNvSpPr txBox="1"/>
          <p:nvPr/>
        </p:nvSpPr>
        <p:spPr>
          <a:xfrm>
            <a:off x="1965960" y="5879592"/>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a:t>
            </a:r>
          </a:p>
        </p:txBody>
      </p:sp>
      <p:sp>
        <p:nvSpPr>
          <p:cNvPr id="13" name="Stage 0 Cumulative change"/>
          <p:cNvSpPr txBox="1"/>
          <p:nvPr/>
        </p:nvSpPr>
        <p:spPr>
          <a:xfrm>
            <a:off x="4160520" y="5879592"/>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Base50 · original BF16 / dense / default offload</a:t>
            </a:r>
          </a:p>
        </p:txBody>
      </p:sp>
      <p:sp>
        <p:nvSpPr>
          <p:cNvPr id="14" name="Stage 0 Median (s)"/>
          <p:cNvSpPr txBox="1"/>
          <p:nvPr/>
        </p:nvSpPr>
        <p:spPr>
          <a:xfrm>
            <a:off x="22265639" y="5879592"/>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251.303</a:t>
            </a:r>
          </a:p>
        </p:txBody>
      </p:sp>
      <p:sp>
        <p:nvSpPr>
          <p:cNvPr id="15" name="Stage 0 Saved (s)"/>
          <p:cNvSpPr txBox="1"/>
          <p:nvPr/>
        </p:nvSpPr>
        <p:spPr>
          <a:xfrm>
            <a:off x="26654760" y="5879592"/>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a:t>
            </a:r>
          </a:p>
        </p:txBody>
      </p:sp>
      <p:sp>
        <p:nvSpPr>
          <p:cNvPr id="16" name="Stage 0 RTF"/>
          <p:cNvSpPr txBox="1"/>
          <p:nvPr/>
        </p:nvSpPr>
        <p:spPr>
          <a:xfrm>
            <a:off x="31409640" y="5879592"/>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48.639</a:t>
            </a:r>
          </a:p>
        </p:txBody>
      </p:sp>
      <p:sp>
        <p:nvSpPr>
          <p:cNvPr id="17" name="Stage 1 Stage"/>
          <p:cNvSpPr txBox="1"/>
          <p:nvPr/>
        </p:nvSpPr>
        <p:spPr>
          <a:xfrm>
            <a:off x="1965960" y="6720840"/>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01</a:t>
            </a:r>
          </a:p>
        </p:txBody>
      </p:sp>
      <p:sp>
        <p:nvSpPr>
          <p:cNvPr id="18" name="Stage 1 Cumulative change"/>
          <p:cNvSpPr txBox="1"/>
          <p:nvPr/>
        </p:nvSpPr>
        <p:spPr>
          <a:xfrm>
            <a:off x="4160520" y="6720840"/>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PDD · 50 → 8 evaluations</a:t>
            </a:r>
          </a:p>
        </p:txBody>
      </p:sp>
      <p:sp>
        <p:nvSpPr>
          <p:cNvPr id="19" name="Stage 1 Median (s)"/>
          <p:cNvSpPr txBox="1"/>
          <p:nvPr/>
        </p:nvSpPr>
        <p:spPr>
          <a:xfrm>
            <a:off x="22265639" y="6720840"/>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44.327</a:t>
            </a:r>
          </a:p>
        </p:txBody>
      </p:sp>
      <p:sp>
        <p:nvSpPr>
          <p:cNvPr id="20" name="Stage 1 Saved (s)"/>
          <p:cNvSpPr txBox="1"/>
          <p:nvPr/>
        </p:nvSpPr>
        <p:spPr>
          <a:xfrm>
            <a:off x="26654760" y="6720840"/>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+206.976</a:t>
            </a:r>
          </a:p>
        </p:txBody>
      </p:sp>
      <p:sp>
        <p:nvSpPr>
          <p:cNvPr id="21" name="Stage 1 RTF"/>
          <p:cNvSpPr txBox="1"/>
          <p:nvPr/>
        </p:nvSpPr>
        <p:spPr>
          <a:xfrm>
            <a:off x="31409640" y="6720840"/>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8.579</a:t>
            </a:r>
          </a:p>
        </p:txBody>
      </p:sp>
      <p:sp>
        <p:nvSpPr>
          <p:cNvPr id="22" name="Row background 2"/>
          <p:cNvSpPr/>
          <p:nvPr/>
        </p:nvSpPr>
        <p:spPr>
          <a:xfrm>
            <a:off x="1828800" y="7415784"/>
            <a:ext cx="32918400" cy="82296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2 Stage"/>
          <p:cNvSpPr txBox="1"/>
          <p:nvPr/>
        </p:nvSpPr>
        <p:spPr>
          <a:xfrm>
            <a:off x="1965960" y="7562088"/>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02</a:t>
            </a:r>
          </a:p>
        </p:txBody>
      </p:sp>
      <p:sp>
        <p:nvSpPr>
          <p:cNvPr id="24" name="Stage 2 Cumulative change"/>
          <p:cNvSpPr txBox="1"/>
          <p:nvPr/>
        </p:nvSpPr>
        <p:spPr>
          <a:xfrm>
            <a:off x="4160520" y="7562088"/>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Trained VSA · native 8-step model / runtime</a:t>
            </a:r>
          </a:p>
        </p:txBody>
      </p:sp>
      <p:sp>
        <p:nvSpPr>
          <p:cNvPr id="25" name="Stage 2 Median (s)"/>
          <p:cNvSpPr txBox="1"/>
          <p:nvPr/>
        </p:nvSpPr>
        <p:spPr>
          <a:xfrm>
            <a:off x="22265639" y="7562088"/>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25.915</a:t>
            </a:r>
          </a:p>
        </p:txBody>
      </p:sp>
      <p:sp>
        <p:nvSpPr>
          <p:cNvPr id="26" name="Stage 2 Saved (s)"/>
          <p:cNvSpPr txBox="1"/>
          <p:nvPr/>
        </p:nvSpPr>
        <p:spPr>
          <a:xfrm>
            <a:off x="26654760" y="7562088"/>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+18.412</a:t>
            </a:r>
          </a:p>
        </p:txBody>
      </p:sp>
      <p:sp>
        <p:nvSpPr>
          <p:cNvPr id="27" name="Stage 2 RTF"/>
          <p:cNvSpPr txBox="1"/>
          <p:nvPr/>
        </p:nvSpPr>
        <p:spPr>
          <a:xfrm>
            <a:off x="31409640" y="7562088"/>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5.016</a:t>
            </a:r>
          </a:p>
        </p:txBody>
      </p:sp>
      <p:sp>
        <p:nvSpPr>
          <p:cNvPr id="28" name="Stage 3 Stage"/>
          <p:cNvSpPr txBox="1"/>
          <p:nvPr/>
        </p:nvSpPr>
        <p:spPr>
          <a:xfrm>
            <a:off x="1965960" y="8403336"/>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03</a:t>
            </a:r>
          </a:p>
        </p:txBody>
      </p:sp>
      <p:sp>
        <p:nvSpPr>
          <p:cNvPr id="29" name="Stage 3 Cumulative change"/>
          <p:cNvSpPr txBox="1"/>
          <p:nvPr/>
        </p:nvSpPr>
        <p:spPr>
          <a:xfrm>
            <a:off x="4160520" y="8403336"/>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QAD NVFP4 DiT / native FP4 attention</a:t>
            </a:r>
          </a:p>
        </p:txBody>
      </p:sp>
      <p:sp>
        <p:nvSpPr>
          <p:cNvPr id="30" name="Stage 3 Median (s)"/>
          <p:cNvSpPr txBox="1"/>
          <p:nvPr/>
        </p:nvSpPr>
        <p:spPr>
          <a:xfrm>
            <a:off x="22265639" y="8403336"/>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19.460</a:t>
            </a:r>
          </a:p>
        </p:txBody>
      </p:sp>
      <p:sp>
        <p:nvSpPr>
          <p:cNvPr id="31" name="Stage 3 Saved (s)"/>
          <p:cNvSpPr txBox="1"/>
          <p:nvPr/>
        </p:nvSpPr>
        <p:spPr>
          <a:xfrm>
            <a:off x="26654760" y="8403336"/>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+6.455</a:t>
            </a:r>
          </a:p>
        </p:txBody>
      </p:sp>
      <p:sp>
        <p:nvSpPr>
          <p:cNvPr id="32" name="Stage 3 RTF"/>
          <p:cNvSpPr txBox="1"/>
          <p:nvPr/>
        </p:nvSpPr>
        <p:spPr>
          <a:xfrm>
            <a:off x="31409640" y="8403336"/>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3.767</a:t>
            </a:r>
          </a:p>
        </p:txBody>
      </p:sp>
      <p:sp>
        <p:nvSpPr>
          <p:cNvPr id="33" name="Row background 4"/>
          <p:cNvSpPr/>
          <p:nvPr/>
        </p:nvSpPr>
        <p:spPr>
          <a:xfrm>
            <a:off x="1828800" y="9098280"/>
            <a:ext cx="32918400" cy="82296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4 Stage"/>
          <p:cNvSpPr txBox="1"/>
          <p:nvPr/>
        </p:nvSpPr>
        <p:spPr>
          <a:xfrm>
            <a:off x="1965960" y="9244584"/>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04</a:t>
            </a:r>
          </a:p>
        </p:txBody>
      </p:sp>
      <p:sp>
        <p:nvSpPr>
          <p:cNvPr id="35" name="Stage 4 Cumulative change"/>
          <p:cNvSpPr txBox="1"/>
          <p:nvPr/>
        </p:nvSpPr>
        <p:spPr>
          <a:xfrm>
            <a:off x="4160520" y="9244584"/>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RDMA / direct layout / V-gate overlap</a:t>
            </a:r>
          </a:p>
        </p:txBody>
      </p:sp>
      <p:sp>
        <p:nvSpPr>
          <p:cNvPr id="36" name="Stage 4 Median (s)"/>
          <p:cNvSpPr txBox="1"/>
          <p:nvPr/>
        </p:nvSpPr>
        <p:spPr>
          <a:xfrm>
            <a:off x="22265639" y="9244584"/>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6.832</a:t>
            </a:r>
          </a:p>
        </p:txBody>
      </p:sp>
      <p:sp>
        <p:nvSpPr>
          <p:cNvPr id="37" name="Stage 4 Saved (s)"/>
          <p:cNvSpPr txBox="1"/>
          <p:nvPr/>
        </p:nvSpPr>
        <p:spPr>
          <a:xfrm>
            <a:off x="26654760" y="9244584"/>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+12.628</a:t>
            </a:r>
          </a:p>
        </p:txBody>
      </p:sp>
      <p:sp>
        <p:nvSpPr>
          <p:cNvPr id="38" name="Stage 4 RTF"/>
          <p:cNvSpPr txBox="1"/>
          <p:nvPr/>
        </p:nvSpPr>
        <p:spPr>
          <a:xfrm>
            <a:off x="31409640" y="9244584"/>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1.322</a:t>
            </a:r>
          </a:p>
        </p:txBody>
      </p:sp>
      <p:sp>
        <p:nvSpPr>
          <p:cNvPr id="39" name="Stage 5 Stage"/>
          <p:cNvSpPr txBox="1"/>
          <p:nvPr/>
        </p:nvSpPr>
        <p:spPr>
          <a:xfrm>
            <a:off x="1965960" y="10085832"/>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05</a:t>
            </a:r>
          </a:p>
        </p:txBody>
      </p:sp>
      <p:sp>
        <p:nvSpPr>
          <p:cNvPr id="40" name="Stage 5 Cumulative change"/>
          <p:cNvSpPr txBox="1"/>
          <p:nvPr/>
        </p:nvSpPr>
        <p:spPr>
          <a:xfrm>
            <a:off x="4160520" y="10085832"/>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+ 2 / 3 / 2 head pipeline</a:t>
            </a:r>
          </a:p>
        </p:txBody>
      </p:sp>
      <p:sp>
        <p:nvSpPr>
          <p:cNvPr id="41" name="Stage 5 Median (s)"/>
          <p:cNvSpPr txBox="1"/>
          <p:nvPr/>
        </p:nvSpPr>
        <p:spPr>
          <a:xfrm>
            <a:off x="22265639" y="10085832"/>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6.407</a:t>
            </a:r>
          </a:p>
        </p:txBody>
      </p:sp>
      <p:sp>
        <p:nvSpPr>
          <p:cNvPr id="42" name="Stage 5 Saved (s)"/>
          <p:cNvSpPr txBox="1"/>
          <p:nvPr/>
        </p:nvSpPr>
        <p:spPr>
          <a:xfrm>
            <a:off x="26654760" y="10085832"/>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+0.425</a:t>
            </a:r>
          </a:p>
        </p:txBody>
      </p:sp>
      <p:sp>
        <p:nvSpPr>
          <p:cNvPr id="43" name="Stage 5 RTF"/>
          <p:cNvSpPr txBox="1"/>
          <p:nvPr/>
        </p:nvSpPr>
        <p:spPr>
          <a:xfrm>
            <a:off x="31409640" y="10085832"/>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1.240</a:t>
            </a:r>
          </a:p>
        </p:txBody>
      </p:sp>
      <p:sp>
        <p:nvSpPr>
          <p:cNvPr id="44" name="Row background 6"/>
          <p:cNvSpPr/>
          <p:nvPr/>
        </p:nvSpPr>
        <p:spPr>
          <a:xfrm>
            <a:off x="1828800" y="10780776"/>
            <a:ext cx="32918400" cy="82296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6 Stage"/>
          <p:cNvSpPr txBox="1"/>
          <p:nvPr/>
        </p:nvSpPr>
        <p:spPr>
          <a:xfrm>
            <a:off x="1965960" y="10927080"/>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06</a:t>
            </a:r>
          </a:p>
        </p:txBody>
      </p:sp>
      <p:sp>
        <p:nvSpPr>
          <p:cNvPr id="46" name="Stage 6 Cumulative change"/>
          <p:cNvSpPr txBox="1"/>
          <p:nvPr/>
        </p:nvSpPr>
        <p:spPr>
          <a:xfrm>
            <a:off x="4160520" y="10927080"/>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Compute CUDA graphs</a:t>
            </a:r>
          </a:p>
        </p:txBody>
      </p:sp>
      <p:sp>
        <p:nvSpPr>
          <p:cNvPr id="47" name="Stage 6 Median (s)"/>
          <p:cNvSpPr txBox="1"/>
          <p:nvPr/>
        </p:nvSpPr>
        <p:spPr>
          <a:xfrm>
            <a:off x="22265639" y="10927080"/>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6.193</a:t>
            </a:r>
          </a:p>
        </p:txBody>
      </p:sp>
      <p:sp>
        <p:nvSpPr>
          <p:cNvPr id="48" name="Stage 6 Saved (s)"/>
          <p:cNvSpPr txBox="1"/>
          <p:nvPr/>
        </p:nvSpPr>
        <p:spPr>
          <a:xfrm>
            <a:off x="26654760" y="10927080"/>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+0.214</a:t>
            </a:r>
          </a:p>
        </p:txBody>
      </p:sp>
      <p:sp>
        <p:nvSpPr>
          <p:cNvPr id="49" name="Stage 6 RTF"/>
          <p:cNvSpPr txBox="1"/>
          <p:nvPr/>
        </p:nvSpPr>
        <p:spPr>
          <a:xfrm>
            <a:off x="31409640" y="10927080"/>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1.199</a:t>
            </a:r>
          </a:p>
        </p:txBody>
      </p:sp>
      <p:sp>
        <p:nvSpPr>
          <p:cNvPr id="50" name="Stage 7 Stage"/>
          <p:cNvSpPr txBox="1"/>
          <p:nvPr/>
        </p:nvSpPr>
        <p:spPr>
          <a:xfrm>
            <a:off x="1965960" y="11768328"/>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07</a:t>
            </a:r>
          </a:p>
        </p:txBody>
      </p:sp>
      <p:sp>
        <p:nvSpPr>
          <p:cNvPr id="51" name="Stage 7 Cumulative change"/>
          <p:cNvSpPr txBox="1"/>
          <p:nvPr/>
        </p:nvSpPr>
        <p:spPr>
          <a:xfrm>
            <a:off x="4160520" y="11768328"/>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+ 36-layer NVFP4 VAE / MP4 pre-encoding</a:t>
            </a:r>
          </a:p>
        </p:txBody>
      </p:sp>
      <p:sp>
        <p:nvSpPr>
          <p:cNvPr id="52" name="Stage 7 Median (s)"/>
          <p:cNvSpPr txBox="1"/>
          <p:nvPr/>
        </p:nvSpPr>
        <p:spPr>
          <a:xfrm>
            <a:off x="22265639" y="11768328"/>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5.420</a:t>
            </a:r>
          </a:p>
        </p:txBody>
      </p:sp>
      <p:sp>
        <p:nvSpPr>
          <p:cNvPr id="53" name="Stage 7 Saved (s)"/>
          <p:cNvSpPr txBox="1"/>
          <p:nvPr/>
        </p:nvSpPr>
        <p:spPr>
          <a:xfrm>
            <a:off x="26654760" y="11768328"/>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+0.773</a:t>
            </a:r>
          </a:p>
        </p:txBody>
      </p:sp>
      <p:sp>
        <p:nvSpPr>
          <p:cNvPr id="54" name="Stage 7 RTF"/>
          <p:cNvSpPr txBox="1"/>
          <p:nvPr/>
        </p:nvSpPr>
        <p:spPr>
          <a:xfrm>
            <a:off x="31409640" y="11768328"/>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1.049</a:t>
            </a:r>
          </a:p>
        </p:txBody>
      </p:sp>
      <p:sp>
        <p:nvSpPr>
          <p:cNvPr id="55" name="Row background 8"/>
          <p:cNvSpPr/>
          <p:nvPr/>
        </p:nvSpPr>
        <p:spPr>
          <a:xfrm>
            <a:off x="1828800" y="12463272"/>
            <a:ext cx="32918400" cy="82296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8 Stage"/>
          <p:cNvSpPr txBox="1"/>
          <p:nvPr/>
        </p:nvSpPr>
        <p:spPr>
          <a:xfrm>
            <a:off x="1965960" y="12609576"/>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08</a:t>
            </a:r>
          </a:p>
        </p:txBody>
      </p:sp>
      <p:sp>
        <p:nvSpPr>
          <p:cNvPr id="57" name="Stage 8 Cumulative change"/>
          <p:cNvSpPr txBox="1"/>
          <p:nvPr/>
        </p:nvSpPr>
        <p:spPr>
          <a:xfrm>
            <a:off x="4160520" y="12609576"/>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Fused tile preparation / early AAC</a:t>
            </a:r>
          </a:p>
        </p:txBody>
      </p:sp>
      <p:sp>
        <p:nvSpPr>
          <p:cNvPr id="58" name="Stage 8 Median (s)"/>
          <p:cNvSpPr txBox="1"/>
          <p:nvPr/>
        </p:nvSpPr>
        <p:spPr>
          <a:xfrm>
            <a:off x="22265639" y="12609576"/>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5.194</a:t>
            </a:r>
          </a:p>
        </p:txBody>
      </p:sp>
      <p:sp>
        <p:nvSpPr>
          <p:cNvPr id="59" name="Stage 8 Saved (s)"/>
          <p:cNvSpPr txBox="1"/>
          <p:nvPr/>
        </p:nvSpPr>
        <p:spPr>
          <a:xfrm>
            <a:off x="26654760" y="12609576"/>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+0.226</a:t>
            </a:r>
          </a:p>
        </p:txBody>
      </p:sp>
      <p:sp>
        <p:nvSpPr>
          <p:cNvPr id="60" name="Stage 8 RTF"/>
          <p:cNvSpPr txBox="1"/>
          <p:nvPr/>
        </p:nvSpPr>
        <p:spPr>
          <a:xfrm>
            <a:off x="31409640" y="12609576"/>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1.005</a:t>
            </a:r>
          </a:p>
        </p:txBody>
      </p:sp>
      <p:sp>
        <p:nvSpPr>
          <p:cNvPr id="61" name="Stage 9 Stage"/>
          <p:cNvSpPr txBox="1"/>
          <p:nvPr/>
        </p:nvSpPr>
        <p:spPr>
          <a:xfrm>
            <a:off x="1965960" y="13450824"/>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09</a:t>
            </a:r>
          </a:p>
        </p:txBody>
      </p:sp>
      <p:sp>
        <p:nvSpPr>
          <p:cNvPr id="62" name="Stage 9 Cumulative change"/>
          <p:cNvSpPr txBox="1"/>
          <p:nvPr/>
        </p:nvSpPr>
        <p:spPr>
          <a:xfrm>
            <a:off x="4160520" y="13450824"/>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Direct output packing</a:t>
            </a:r>
          </a:p>
        </p:txBody>
      </p:sp>
      <p:sp>
        <p:nvSpPr>
          <p:cNvPr id="63" name="Stage 9 Median (s)"/>
          <p:cNvSpPr txBox="1"/>
          <p:nvPr/>
        </p:nvSpPr>
        <p:spPr>
          <a:xfrm>
            <a:off x="22265639" y="13450824"/>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5.147</a:t>
            </a:r>
          </a:p>
        </p:txBody>
      </p:sp>
      <p:sp>
        <p:nvSpPr>
          <p:cNvPr id="64" name="Stage 9 Saved (s)"/>
          <p:cNvSpPr txBox="1"/>
          <p:nvPr/>
        </p:nvSpPr>
        <p:spPr>
          <a:xfrm>
            <a:off x="26654760" y="13450824"/>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+0.047</a:t>
            </a:r>
          </a:p>
        </p:txBody>
      </p:sp>
      <p:sp>
        <p:nvSpPr>
          <p:cNvPr id="65" name="Stage 9 RTF"/>
          <p:cNvSpPr txBox="1"/>
          <p:nvPr/>
        </p:nvSpPr>
        <p:spPr>
          <a:xfrm>
            <a:off x="31409640" y="13450824"/>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0.996</a:t>
            </a:r>
          </a:p>
        </p:txBody>
      </p:sp>
      <p:sp>
        <p:nvSpPr>
          <p:cNvPr id="66" name="Row background 10"/>
          <p:cNvSpPr/>
          <p:nvPr/>
        </p:nvSpPr>
        <p:spPr>
          <a:xfrm>
            <a:off x="1828800" y="14145768"/>
            <a:ext cx="32918400" cy="822960"/>
          </a:xfrm>
          <a:prstGeom prst="rect">
            <a:avLst/>
          </a:prstGeom>
          <a:solidFill>
            <a:srgbClr val="F4F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Stage 10 Stage"/>
          <p:cNvSpPr txBox="1"/>
          <p:nvPr/>
        </p:nvSpPr>
        <p:spPr>
          <a:xfrm>
            <a:off x="1965960" y="14292072"/>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10</a:t>
            </a:r>
          </a:p>
        </p:txBody>
      </p:sp>
      <p:sp>
        <p:nvSpPr>
          <p:cNvPr id="68" name="Stage 10 Cumulative change"/>
          <p:cNvSpPr txBox="1"/>
          <p:nvPr/>
        </p:nvSpPr>
        <p:spPr>
          <a:xfrm>
            <a:off x="4160520" y="14292072"/>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Direct receive-to-tile input</a:t>
            </a:r>
          </a:p>
        </p:txBody>
      </p:sp>
      <p:sp>
        <p:nvSpPr>
          <p:cNvPr id="69" name="Stage 10 Median (s)"/>
          <p:cNvSpPr txBox="1"/>
          <p:nvPr/>
        </p:nvSpPr>
        <p:spPr>
          <a:xfrm>
            <a:off x="22265639" y="14292072"/>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5.060</a:t>
            </a:r>
          </a:p>
        </p:txBody>
      </p:sp>
      <p:sp>
        <p:nvSpPr>
          <p:cNvPr id="70" name="Stage 10 Saved (s)"/>
          <p:cNvSpPr txBox="1"/>
          <p:nvPr/>
        </p:nvSpPr>
        <p:spPr>
          <a:xfrm>
            <a:off x="26654760" y="14292072"/>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+0.087</a:t>
            </a:r>
          </a:p>
        </p:txBody>
      </p:sp>
      <p:sp>
        <p:nvSpPr>
          <p:cNvPr id="71" name="Stage 10 RTF"/>
          <p:cNvSpPr txBox="1"/>
          <p:nvPr/>
        </p:nvSpPr>
        <p:spPr>
          <a:xfrm>
            <a:off x="31409640" y="14292072"/>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0.979</a:t>
            </a:r>
          </a:p>
        </p:txBody>
      </p:sp>
      <p:sp>
        <p:nvSpPr>
          <p:cNvPr id="72" name="Stage 11 Stage"/>
          <p:cNvSpPr txBox="1"/>
          <p:nvPr/>
        </p:nvSpPr>
        <p:spPr>
          <a:xfrm>
            <a:off x="1965960" y="15133320"/>
            <a:ext cx="1554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11</a:t>
            </a:r>
          </a:p>
        </p:txBody>
      </p:sp>
      <p:sp>
        <p:nvSpPr>
          <p:cNvPr id="73" name="Stage 11 Cumulative change"/>
          <p:cNvSpPr txBox="1"/>
          <p:nvPr/>
        </p:nvSpPr>
        <p:spPr>
          <a:xfrm>
            <a:off x="4160520" y="15133320"/>
            <a:ext cx="1764792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 Integer routing compaction</a:t>
            </a:r>
          </a:p>
        </p:txBody>
      </p:sp>
      <p:sp>
        <p:nvSpPr>
          <p:cNvPr id="74" name="Stage 11 Median (s)"/>
          <p:cNvSpPr txBox="1"/>
          <p:nvPr/>
        </p:nvSpPr>
        <p:spPr>
          <a:xfrm>
            <a:off x="22265639" y="15133320"/>
            <a:ext cx="38404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5.015</a:t>
            </a:r>
          </a:p>
        </p:txBody>
      </p:sp>
      <p:sp>
        <p:nvSpPr>
          <p:cNvPr id="75" name="Stage 11 Saved (s)"/>
          <p:cNvSpPr txBox="1"/>
          <p:nvPr/>
        </p:nvSpPr>
        <p:spPr>
          <a:xfrm>
            <a:off x="26654760" y="15133320"/>
            <a:ext cx="338328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+0.045</a:t>
            </a:r>
          </a:p>
        </p:txBody>
      </p:sp>
      <p:sp>
        <p:nvSpPr>
          <p:cNvPr id="76" name="Stage 11 RTF"/>
          <p:cNvSpPr txBox="1"/>
          <p:nvPr/>
        </p:nvSpPr>
        <p:spPr>
          <a:xfrm>
            <a:off x="31409640" y="15133320"/>
            <a:ext cx="3200400" cy="59436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0.971</a:t>
            </a:r>
          </a:p>
        </p:txBody>
      </p:sp>
      <p:sp>
        <p:nvSpPr>
          <p:cNvPr id="77" name="Row background 12"/>
          <p:cNvSpPr/>
          <p:nvPr/>
        </p:nvSpPr>
        <p:spPr>
          <a:xfrm>
            <a:off x="1828800" y="15828263"/>
            <a:ext cx="32918400" cy="822960"/>
          </a:xfrm>
          <a:prstGeom prst="rect">
            <a:avLst/>
          </a:prstGeom>
          <a:solidFill>
            <a:srgbClr val="E5F1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Stage 12 Stage"/>
          <p:cNvSpPr txBox="1"/>
          <p:nvPr/>
        </p:nvSpPr>
        <p:spPr>
          <a:xfrm>
            <a:off x="1965960" y="15974567"/>
            <a:ext cx="155448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12</a:t>
            </a:r>
          </a:p>
        </p:txBody>
      </p:sp>
      <p:sp>
        <p:nvSpPr>
          <p:cNvPr id="79" name="Stage 12 Cumulative change"/>
          <p:cNvSpPr txBox="1"/>
          <p:nvPr/>
        </p:nvSpPr>
        <p:spPr>
          <a:xfrm>
            <a:off x="4160520" y="15974567"/>
            <a:ext cx="1764792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 Producer Q/K/V copy elision</a:t>
            </a:r>
          </a:p>
        </p:txBody>
      </p:sp>
      <p:sp>
        <p:nvSpPr>
          <p:cNvPr id="80" name="Stage 12 Median (s)"/>
          <p:cNvSpPr txBox="1"/>
          <p:nvPr/>
        </p:nvSpPr>
        <p:spPr>
          <a:xfrm>
            <a:off x="22265639" y="15974567"/>
            <a:ext cx="384048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4.922</a:t>
            </a:r>
          </a:p>
        </p:txBody>
      </p:sp>
      <p:sp>
        <p:nvSpPr>
          <p:cNvPr id="81" name="Stage 12 Saved (s)"/>
          <p:cNvSpPr txBox="1"/>
          <p:nvPr/>
        </p:nvSpPr>
        <p:spPr>
          <a:xfrm>
            <a:off x="26654760" y="15974567"/>
            <a:ext cx="338328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+0.092</a:t>
            </a:r>
          </a:p>
        </p:txBody>
      </p:sp>
      <p:sp>
        <p:nvSpPr>
          <p:cNvPr id="82" name="Stage 12 RTF"/>
          <p:cNvSpPr txBox="1"/>
          <p:nvPr/>
        </p:nvSpPr>
        <p:spPr>
          <a:xfrm>
            <a:off x="31409640" y="15974567"/>
            <a:ext cx="3200400" cy="594360"/>
          </a:xfrm>
          <a:prstGeom prst="rect">
            <a:avLst/>
          </a:prstGeom>
          <a:noFill/>
        </p:spPr>
        <p:txBody>
          <a:bodyPr wrap="square" lIns="18288" rIns="18288" tIns="0" bIns="0">
            <a:spAutoFit/>
          </a:bodyPr>
          <a:lstStyle/>
          <a:p>
            <a:pPr>
              <a:spcBef>
                <a:spcPts val="0"/>
              </a:spcBef>
              <a:spcAft>
                <a:spcPts val="0"/>
              </a:spcAft>
            </a:pPr>
            <a:r>
              <a:rPr sz="3000" b="1">
                <a:solidFill>
                  <a:srgbClr val="17211A"/>
                </a:solidFill>
                <a:latin typeface="NVIDIA Sans"/>
              </a:rPr>
              <a:t>0.953</a:t>
            </a:r>
          </a:p>
        </p:txBody>
      </p:sp>
      <p:sp>
        <p:nvSpPr>
          <p:cNvPr id="83" name="Final target"/>
          <p:cNvSpPr txBox="1"/>
          <p:nvPr/>
        </p:nvSpPr>
        <p:spPr>
          <a:xfrm>
            <a:off x="1828800" y="17282160"/>
            <a:ext cx="32918400" cy="822960"/>
          </a:xfrm>
          <a:prstGeom prst="rect">
            <a:avLst/>
          </a:prstGeom>
          <a:noFill/>
        </p:spPr>
        <p:txBody>
          <a:bodyPr wrap="square" lIns="18288" rIns="18288" tIns="0" bIns="0">
            <a:spAutoFit/>
          </a:bodyPr>
          <a:lstStyle/>
          <a:p>
            <a:pPr>
              <a:spcBef>
                <a:spcPts val="0"/>
              </a:spcBef>
              <a:spcAft>
                <a:spcPts val="0"/>
              </a:spcAft>
            </a:pPr>
            <a:r>
              <a:rPr sz="3500" b="1">
                <a:solidFill>
                  <a:srgbClr val="17211A"/>
                </a:solidFill>
                <a:latin typeface="NVIDIA Sans"/>
              </a:rPr>
              <a:t>Final 4.922 s · recheck 4.927 s · 6/6 &lt; 5 s · 4.5 s target not reached</a:t>
            </a:r>
          </a:p>
        </p:txBody>
      </p:sp>
      <p:sp>
        <p:nvSpPr>
          <p:cNvPr id="84" name="Protocol"/>
          <p:cNvSpPr txBox="1"/>
          <p:nvPr/>
        </p:nvSpPr>
        <p:spPr>
          <a:xfrm>
            <a:off x="1828800" y="18288000"/>
            <a:ext cx="32918400" cy="502920"/>
          </a:xfrm>
          <a:prstGeom prst="rect">
            <a:avLst/>
          </a:prstGeom>
          <a:noFill/>
        </p:spPr>
        <p:txBody>
          <a:bodyPr wrap="square" lIns="18288" rIns="18288" tIns="0" bIns="0">
            <a:spAutoFit/>
          </a:bodyPr>
          <a:lstStyle/>
          <a:p>
            <a:pPr>
              <a:spcBef>
                <a:spcPts val="0"/>
              </a:spcBef>
              <a:spcAft>
                <a:spcPts val="0"/>
              </a:spcAft>
            </a:pPr>
            <a:r>
              <a:rPr sz="2600" b="0">
                <a:solidFill>
                  <a:srgbClr val="52604F"/>
                </a:solidFill>
                <a:latin typeface="NVIDIA Sans"/>
              </a:rPr>
              <a:t>Reverse order + final recheck · 1 initialization + 1 warmup excluded · n = 3 per cohort</a:t>
            </a:r>
          </a:p>
        </p:txBody>
      </p:sp>
      <p:sp>
        <p:nvSpPr>
          <p:cNvPr id="85" name="Interpretation"/>
          <p:cNvSpPr txBox="1"/>
          <p:nvPr/>
        </p:nvSpPr>
        <p:spPr>
          <a:xfrm>
            <a:off x="1828800" y="1888236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52604F"/>
                </a:solidFill>
                <a:latin typeface="NVIDIA Sans"/>
              </a:rPr>
              <a:t>RTF = latency / 5.167 s. Model, schedule and precision changes are not all lossless. ASR / LLM are excluded.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18059400" y="2470666"/>
            <a:ext cx="16687800" cy="4572000"/>
          </a:xfrm>
        </p:spPr>
        <p:txBody>
          <a:bodyPr/>
          <a:lstStyle/>
          <a:p>
            <a:r>
              <a:t>02 · ComfyUI Apps</a:t>
            </a:r>
            <a:br/>
            <a:r>
              <a:t>With vLLM-Omni</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a:xfrm>
            <a:off x="1828799" y="16870680"/>
            <a:ext cx="16114094" cy="1371600"/>
          </a:xfrm>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a:xfrm>
            <a:off x="1828799" y="15819120"/>
            <a:ext cx="16114094" cy="822960"/>
          </a:xfrm>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a:xfrm>
            <a:off x="18633106" y="16870680"/>
            <a:ext cx="16114093" cy="1371600"/>
          </a:xfrm>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a:xfrm>
            <a:off x="18633106" y="15819120"/>
            <a:ext cx="16114093" cy="822960"/>
          </a:xfrm>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17211A"/>
                </a:solidFill>
                <a:latin typeface="NVIDIA Sans"/>
                <a:hlinkClick r:id="rId3"/>
              </a:rPr>
              <a:t>Live Avatar: Configuration and Timing</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pPr>
              <a:spcBef>
                <a:spcPts val="0"/>
              </a:spcBef>
              <a:spcAft>
                <a:spcPts val="0"/>
              </a:spcAft>
            </a:pPr>
            <a:r>
              <a:rPr sz="3300" b="0">
                <a:solidFill>
                  <a:srgbClr val="52604F"/>
                </a:solidFill>
                <a:latin typeface="NVIDIA Sans"/>
              </a:rPr>
              <a:t>Microphone → VAD / ASR → LLM → H3 audio + video → browser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17211A"/>
                </a:solidFill>
                <a:latin typeface="NVIDIA Sans"/>
              </a:rPr>
              <a:t>21</a:t>
            </a:r>
          </a:p>
        </p:txBody>
      </p:sp>
      <p:sp>
        <p:nvSpPr>
          <p:cNvPr id="5" name="OUTPUT panel"/>
          <p:cNvSpPr/>
          <p:nvPr/>
        </p:nvSpPr>
        <p:spPr>
          <a:xfrm>
            <a:off x="1828800" y="4663440"/>
            <a:ext cx="10607040" cy="274320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UTPUT"/>
          <p:cNvSpPr txBox="1"/>
          <p:nvPr/>
        </p:nvSpPr>
        <p:spPr>
          <a:xfrm>
            <a:off x="2194560" y="4937760"/>
            <a:ext cx="9875520" cy="502920"/>
          </a:xfrm>
          <a:prstGeom prst="rect">
            <a:avLst/>
          </a:prstGeom>
          <a:noFill/>
        </p:spPr>
        <p:txBody>
          <a:bodyPr wrap="square" lIns="18288" rIns="18288" tIns="0" bIns="0">
            <a:spAutoFit/>
          </a:bodyPr>
          <a:lstStyle/>
          <a:p>
            <a:pPr>
              <a:spcBef>
                <a:spcPts val="0"/>
              </a:spcBef>
              <a:spcAft>
                <a:spcPts val="0"/>
              </a:spcAft>
            </a:pPr>
            <a:r>
              <a:rPr sz="2600" b="1">
                <a:solidFill>
                  <a:srgbClr val="52604F"/>
                </a:solidFill>
                <a:latin typeface="NVIDIA Sans"/>
              </a:rPr>
              <a:t>OUTPUT</a:t>
            </a:r>
          </a:p>
        </p:txBody>
      </p:sp>
      <p:sp>
        <p:nvSpPr>
          <p:cNvPr id="7" name="OUTPUT value"/>
          <p:cNvSpPr txBox="1"/>
          <p:nvPr/>
        </p:nvSpPr>
        <p:spPr>
          <a:xfrm>
            <a:off x="2194560" y="5577840"/>
            <a:ext cx="98755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960 × 544 · 24 FPS</a:t>
            </a:r>
          </a:p>
        </p:txBody>
      </p:sp>
      <p:sp>
        <p:nvSpPr>
          <p:cNvPr id="8" name="OUTPUT detail"/>
          <p:cNvSpPr txBox="1"/>
          <p:nvPr/>
        </p:nvSpPr>
        <p:spPr>
          <a:xfrm>
            <a:off x="2194560" y="6492240"/>
            <a:ext cx="987552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124-frame first window: 5.167 s</a:t>
            </a:r>
          </a:p>
        </p:txBody>
      </p:sp>
      <p:sp>
        <p:nvSpPr>
          <p:cNvPr id="9" name="CONTINUATION panel"/>
          <p:cNvSpPr/>
          <p:nvPr/>
        </p:nvSpPr>
        <p:spPr>
          <a:xfrm>
            <a:off x="12984480" y="4663440"/>
            <a:ext cx="10607040" cy="274320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ONTINUATION"/>
          <p:cNvSpPr txBox="1"/>
          <p:nvPr/>
        </p:nvSpPr>
        <p:spPr>
          <a:xfrm>
            <a:off x="13350240" y="4937760"/>
            <a:ext cx="9875520" cy="502920"/>
          </a:xfrm>
          <a:prstGeom prst="rect">
            <a:avLst/>
          </a:prstGeom>
          <a:noFill/>
        </p:spPr>
        <p:txBody>
          <a:bodyPr wrap="square" lIns="18288" rIns="18288" tIns="0" bIns="0">
            <a:spAutoFit/>
          </a:bodyPr>
          <a:lstStyle/>
          <a:p>
            <a:pPr>
              <a:spcBef>
                <a:spcPts val="0"/>
              </a:spcBef>
              <a:spcAft>
                <a:spcPts val="0"/>
              </a:spcAft>
            </a:pPr>
            <a:r>
              <a:rPr sz="2600" b="1">
                <a:solidFill>
                  <a:srgbClr val="52604F"/>
                </a:solidFill>
                <a:latin typeface="NVIDIA Sans"/>
              </a:rPr>
              <a:t>CONTINUATION</a:t>
            </a:r>
          </a:p>
        </p:txBody>
      </p:sp>
      <p:sp>
        <p:nvSpPr>
          <p:cNvPr id="11" name="CONTINUATION value"/>
          <p:cNvSpPr txBox="1"/>
          <p:nvPr/>
        </p:nvSpPr>
        <p:spPr>
          <a:xfrm>
            <a:off x="13350240" y="5577840"/>
            <a:ext cx="98755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119 new frames: 4.958 s</a:t>
            </a:r>
          </a:p>
        </p:txBody>
      </p:sp>
      <p:sp>
        <p:nvSpPr>
          <p:cNvPr id="12" name="CONTINUATION detail"/>
          <p:cNvSpPr txBox="1"/>
          <p:nvPr/>
        </p:nvSpPr>
        <p:spPr>
          <a:xfrm>
            <a:off x="13350240" y="6492240"/>
            <a:ext cx="987552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5-frame overlap · video + audio history</a:t>
            </a:r>
          </a:p>
        </p:txBody>
      </p:sp>
      <p:sp>
        <p:nvSpPr>
          <p:cNvPr id="13" name="HARDWARE panel"/>
          <p:cNvSpPr/>
          <p:nvPr/>
        </p:nvSpPr>
        <p:spPr>
          <a:xfrm>
            <a:off x="24140160" y="4663440"/>
            <a:ext cx="10607040" cy="274320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HARDWARE"/>
          <p:cNvSpPr txBox="1"/>
          <p:nvPr/>
        </p:nvSpPr>
        <p:spPr>
          <a:xfrm>
            <a:off x="24505919" y="4937760"/>
            <a:ext cx="9875520" cy="502920"/>
          </a:xfrm>
          <a:prstGeom prst="rect">
            <a:avLst/>
          </a:prstGeom>
          <a:noFill/>
        </p:spPr>
        <p:txBody>
          <a:bodyPr wrap="square" lIns="18288" rIns="18288" tIns="0" bIns="0">
            <a:spAutoFit/>
          </a:bodyPr>
          <a:lstStyle/>
          <a:p>
            <a:pPr>
              <a:spcBef>
                <a:spcPts val="0"/>
              </a:spcBef>
              <a:spcAft>
                <a:spcPts val="0"/>
              </a:spcAft>
            </a:pPr>
            <a:r>
              <a:rPr sz="2600" b="1">
                <a:solidFill>
                  <a:srgbClr val="52604F"/>
                </a:solidFill>
                <a:latin typeface="NVIDIA Sans"/>
              </a:rPr>
              <a:t>HARDWARE</a:t>
            </a:r>
          </a:p>
        </p:txBody>
      </p:sp>
      <p:sp>
        <p:nvSpPr>
          <p:cNvPr id="15" name="HARDWARE value"/>
          <p:cNvSpPr txBox="1"/>
          <p:nvPr/>
        </p:nvSpPr>
        <p:spPr>
          <a:xfrm>
            <a:off x="24505919" y="5577840"/>
            <a:ext cx="9875520" cy="685800"/>
          </a:xfrm>
          <a:prstGeom prst="rect">
            <a:avLst/>
          </a:prstGeom>
          <a:noFill/>
        </p:spPr>
        <p:txBody>
          <a:bodyPr wrap="square" lIns="18288" rIns="18288" tIns="0" bIns="0">
            <a:spAutoFit/>
          </a:bodyPr>
          <a:lstStyle/>
          <a:p>
            <a:pPr>
              <a:spcBef>
                <a:spcPts val="0"/>
              </a:spcBef>
              <a:spcAft>
                <a:spcPts val="0"/>
              </a:spcAft>
            </a:pPr>
            <a:r>
              <a:rPr sz="3800" b="1">
                <a:solidFill>
                  <a:srgbClr val="17211A"/>
                </a:solidFill>
                <a:latin typeface="NVIDIA Sans"/>
              </a:rPr>
              <a:t>8 × SM120 GPUs</a:t>
            </a:r>
          </a:p>
        </p:txBody>
      </p:sp>
      <p:sp>
        <p:nvSpPr>
          <p:cNvPr id="16" name="HARDWARE detail"/>
          <p:cNvSpPr txBox="1"/>
          <p:nvPr/>
        </p:nvSpPr>
        <p:spPr>
          <a:xfrm>
            <a:off x="24505919" y="6492240"/>
            <a:ext cx="9875520" cy="594360"/>
          </a:xfrm>
          <a:prstGeom prst="rect">
            <a:avLst/>
          </a:prstGeom>
          <a:noFill/>
        </p:spPr>
        <p:txBody>
          <a:bodyPr wrap="square" lIns="18288" rIns="18288" tIns="0" bIns="0">
            <a:spAutoFit/>
          </a:bodyPr>
          <a:lstStyle/>
          <a:p>
            <a:pPr>
              <a:spcBef>
                <a:spcPts val="0"/>
              </a:spcBef>
              <a:spcAft>
                <a:spcPts val="0"/>
              </a:spcAft>
            </a:pPr>
            <a:r>
              <a:rPr sz="2800" b="0">
                <a:solidFill>
                  <a:srgbClr val="17211A"/>
                </a:solidFill>
                <a:latin typeface="NVIDIA Sans"/>
              </a:rPr>
              <a:t>Recorded PRO 5000 node · BF16 RDMA</a:t>
            </a:r>
          </a:p>
        </p:txBody>
      </p:sp>
      <p:sp>
        <p:nvSpPr>
          <p:cNvPr id="17" name="Config label 0"/>
          <p:cNvSpPr txBox="1"/>
          <p:nvPr/>
        </p:nvSpPr>
        <p:spPr>
          <a:xfrm>
            <a:off x="1828800" y="8138160"/>
            <a:ext cx="19202400" cy="59436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H3 generation</a:t>
            </a:r>
          </a:p>
        </p:txBody>
      </p:sp>
      <p:sp>
        <p:nvSpPr>
          <p:cNvPr id="18" name="Config value 0"/>
          <p:cNvSpPr txBox="1"/>
          <p:nvPr/>
        </p:nvSpPr>
        <p:spPr>
          <a:xfrm>
            <a:off x="1828800" y="8823960"/>
            <a:ext cx="19202400" cy="118872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8 evaluations · QAD NVFP4 DiT · native FP4 VSA</a:t>
            </a:r>
          </a:p>
          <a:p>
            <a:pPr>
              <a:spcBef>
                <a:spcPts val="0"/>
              </a:spcBef>
              <a:spcAft>
                <a:spcPts val="0"/>
              </a:spcAft>
            </a:pPr>
            <a:r>
              <a:rPr sz="2900" b="0">
                <a:solidFill>
                  <a:srgbClr val="17211A"/>
                </a:solidFill>
                <a:latin typeface="NVIDIA Sans"/>
              </a:rPr>
              <a:t>TP1 / Ulysses8 · text TP8 / VAE PP8 · 2/3/2 heads</a:t>
            </a:r>
          </a:p>
        </p:txBody>
      </p:sp>
      <p:sp>
        <p:nvSpPr>
          <p:cNvPr id="19" name="Config label 1"/>
          <p:cNvSpPr txBox="1"/>
          <p:nvPr/>
        </p:nvSpPr>
        <p:spPr>
          <a:xfrm>
            <a:off x="1828800" y="10287000"/>
            <a:ext cx="19202400" cy="59436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Decoder / history</a:t>
            </a:r>
          </a:p>
        </p:txBody>
      </p:sp>
      <p:sp>
        <p:nvSpPr>
          <p:cNvPr id="20" name="Config value 1"/>
          <p:cNvSpPr txBox="1"/>
          <p:nvPr/>
        </p:nvSpPr>
        <p:spPr>
          <a:xfrm>
            <a:off x="1828800" y="10972800"/>
            <a:ext cx="19202400" cy="118872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36-layer NVFP4 VAE · MP4 pre-encoding</a:t>
            </a:r>
          </a:p>
          <a:p>
            <a:pPr>
              <a:spcBef>
                <a:spcPts val="0"/>
              </a:spcBef>
              <a:spcAft>
                <a:spcPts val="0"/>
              </a:spcAft>
            </a:pPr>
            <a:r>
              <a:rPr sz="2900" b="0">
                <a:solidFill>
                  <a:srgbClr val="17211A"/>
                </a:solidFill>
                <a:latin typeface="NVIDIA Sans"/>
              </a:rPr>
              <a:t>20% video-history noise · target video prefix off</a:t>
            </a:r>
          </a:p>
        </p:txBody>
      </p:sp>
      <p:sp>
        <p:nvSpPr>
          <p:cNvPr id="21" name="Config label 2"/>
          <p:cNvSpPr txBox="1"/>
          <p:nvPr/>
        </p:nvSpPr>
        <p:spPr>
          <a:xfrm>
            <a:off x="1828800" y="12435840"/>
            <a:ext cx="19202400" cy="59436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Speech detection / ASR</a:t>
            </a:r>
          </a:p>
        </p:txBody>
      </p:sp>
      <p:sp>
        <p:nvSpPr>
          <p:cNvPr id="22" name="Config value 2"/>
          <p:cNvSpPr txBox="1"/>
          <p:nvPr/>
        </p:nvSpPr>
        <p:spPr>
          <a:xfrm>
            <a:off x="1828800" y="13121640"/>
            <a:ext cx="19202400" cy="118872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CPU Silero VAD · 600 ms quiet endpoint</a:t>
            </a:r>
          </a:p>
          <a:p>
            <a:pPr>
              <a:spcBef>
                <a:spcPts val="0"/>
              </a:spcBef>
              <a:spcAft>
                <a:spcPts val="0"/>
              </a:spcAft>
            </a:pPr>
            <a:r>
              <a:rPr sz="2900" b="0">
                <a:solidFill>
                  <a:srgbClr val="17211A"/>
                </a:solidFill>
                <a:latin typeface="NVIDIA Sans"/>
              </a:rPr>
              <a:t>Qwen3-ASR-0.6B · BF16 · GPU 6, shared with H3</a:t>
            </a:r>
          </a:p>
        </p:txBody>
      </p:sp>
      <p:sp>
        <p:nvSpPr>
          <p:cNvPr id="23" name="Config label 3"/>
          <p:cNvSpPr txBox="1"/>
          <p:nvPr/>
        </p:nvSpPr>
        <p:spPr>
          <a:xfrm>
            <a:off x="1828800" y="14584680"/>
            <a:ext cx="19202400" cy="594360"/>
          </a:xfrm>
          <a:prstGeom prst="rect">
            <a:avLst/>
          </a:prstGeom>
          <a:noFill/>
        </p:spPr>
        <p:txBody>
          <a:bodyPr wrap="square" lIns="18288" rIns="18288" tIns="0" bIns="0">
            <a:spAutoFit/>
          </a:bodyPr>
          <a:lstStyle/>
          <a:p>
            <a:pPr>
              <a:spcBef>
                <a:spcPts val="0"/>
              </a:spcBef>
              <a:spcAft>
                <a:spcPts val="0"/>
              </a:spcAft>
            </a:pPr>
            <a:r>
              <a:rPr sz="3200" b="1">
                <a:solidFill>
                  <a:srgbClr val="17211A"/>
                </a:solidFill>
                <a:latin typeface="NVIDIA Sans"/>
              </a:rPr>
              <a:t>LLM / speech output</a:t>
            </a:r>
          </a:p>
        </p:txBody>
      </p:sp>
      <p:sp>
        <p:nvSpPr>
          <p:cNvPr id="24" name="Config value 3"/>
          <p:cNvSpPr txBox="1"/>
          <p:nvPr/>
        </p:nvSpPr>
        <p:spPr>
          <a:xfrm>
            <a:off x="1828800" y="15270480"/>
            <a:ext cx="19202400" cy="1188720"/>
          </a:xfrm>
          <a:prstGeom prst="rect">
            <a:avLst/>
          </a:prstGeom>
          <a:noFill/>
        </p:spPr>
        <p:txBody>
          <a:bodyPr wrap="square" lIns="18288" rIns="18288" tIns="0" bIns="0">
            <a:spAutoFit/>
          </a:bodyPr>
          <a:lstStyle/>
          <a:p>
            <a:pPr>
              <a:spcBef>
                <a:spcPts val="0"/>
              </a:spcBef>
              <a:spcAft>
                <a:spcPts val="0"/>
              </a:spcAft>
            </a:pPr>
            <a:r>
              <a:rPr sz="2900" b="0">
                <a:solidFill>
                  <a:srgbClr val="17211A"/>
                </a:solidFill>
                <a:latin typeface="NVIDIA Sans"/>
              </a:rPr>
              <a:t>Qwen3-4B · BF16 · GPU 7, shared with H3</a:t>
            </a:r>
          </a:p>
          <a:p>
            <a:pPr>
              <a:spcBef>
                <a:spcPts val="0"/>
              </a:spcBef>
              <a:spcAft>
                <a:spcPts val="0"/>
              </a:spcAft>
            </a:pPr>
            <a:r>
              <a:rPr sz="2900" b="0">
                <a:solidFill>
                  <a:srgbClr val="17211A"/>
                </a:solidFill>
                <a:latin typeface="NVIDIA Sans"/>
              </a:rPr>
              <a:t>Streaming short replies · native H3 speech, no separate TTS</a:t>
            </a:r>
          </a:p>
        </p:txBody>
      </p:sp>
      <p:sp>
        <p:nvSpPr>
          <p:cNvPr id="25" name="Timing panel"/>
          <p:cNvSpPr/>
          <p:nvPr/>
        </p:nvSpPr>
        <p:spPr>
          <a:xfrm>
            <a:off x="21945600" y="8138160"/>
            <a:ext cx="12801600" cy="8595360"/>
          </a:xfrm>
          <a:prstGeom prst="rect">
            <a:avLst/>
          </a:prstGeom>
          <a:solidFill>
            <a:srgbClr val="F0F4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iming title"/>
          <p:cNvSpPr txBox="1"/>
          <p:nvPr/>
        </p:nvSpPr>
        <p:spPr>
          <a:xfrm>
            <a:off x="22494240" y="8595360"/>
            <a:ext cx="11704320" cy="822960"/>
          </a:xfrm>
          <a:prstGeom prst="rect">
            <a:avLst/>
          </a:prstGeom>
          <a:noFill/>
        </p:spPr>
        <p:txBody>
          <a:bodyPr wrap="square" lIns="18288" rIns="18288" tIns="0" bIns="0">
            <a:spAutoFit/>
          </a:bodyPr>
          <a:lstStyle/>
          <a:p>
            <a:pPr>
              <a:spcBef>
                <a:spcPts val="0"/>
              </a:spcBef>
              <a:spcAft>
                <a:spcPts val="0"/>
              </a:spcAft>
            </a:pPr>
            <a:r>
              <a:rPr sz="4200" b="1">
                <a:solidFill>
                  <a:srgbClr val="17211A"/>
                </a:solidFill>
                <a:latin typeface="NVIDIA Sans"/>
              </a:rPr>
              <a:t>Two different clocks</a:t>
            </a:r>
          </a:p>
        </p:txBody>
      </p:sp>
      <p:sp>
        <p:nvSpPr>
          <p:cNvPr id="27" name="Generation label"/>
          <p:cNvSpPr txBox="1"/>
          <p:nvPr/>
        </p:nvSpPr>
        <p:spPr>
          <a:xfrm>
            <a:off x="22494240" y="9966960"/>
            <a:ext cx="1170432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Avatar generation</a:t>
            </a:r>
          </a:p>
        </p:txBody>
      </p:sp>
      <p:sp>
        <p:nvSpPr>
          <p:cNvPr id="28" name="Generation definition"/>
          <p:cNvSpPr txBox="1"/>
          <p:nvPr/>
        </p:nvSpPr>
        <p:spPr>
          <a:xfrm>
            <a:off x="22494240" y="10789920"/>
            <a:ext cx="11704320" cy="164592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H3 request → complete MP4.</a:t>
            </a:r>
          </a:p>
          <a:p>
            <a:pPr>
              <a:spcBef>
                <a:spcPts val="0"/>
              </a:spcBef>
              <a:spcAft>
                <a:spcPts val="0"/>
              </a:spcAft>
            </a:pPr>
            <a:r>
              <a:rPr sz="3000" b="0">
                <a:solidFill>
                  <a:srgbClr val="17211A"/>
                </a:solidFill>
                <a:latin typeface="NVIDIA Sans"/>
              </a:rPr>
              <a:t>Excludes later audio screening and delivery.</a:t>
            </a:r>
          </a:p>
        </p:txBody>
      </p:sp>
      <p:sp>
        <p:nvSpPr>
          <p:cNvPr id="29" name="Reply label"/>
          <p:cNvSpPr txBox="1"/>
          <p:nvPr/>
        </p:nvSpPr>
        <p:spPr>
          <a:xfrm>
            <a:off x="22494240" y="12801600"/>
            <a:ext cx="11704320" cy="640080"/>
          </a:xfrm>
          <a:prstGeom prst="rect">
            <a:avLst/>
          </a:prstGeom>
          <a:noFill/>
        </p:spPr>
        <p:txBody>
          <a:bodyPr wrap="square" lIns="18288" rIns="18288" tIns="0" bIns="0">
            <a:spAutoFit/>
          </a:bodyPr>
          <a:lstStyle/>
          <a:p>
            <a:pPr>
              <a:spcBef>
                <a:spcPts val="0"/>
              </a:spcBef>
              <a:spcAft>
                <a:spcPts val="0"/>
              </a:spcAft>
            </a:pPr>
            <a:r>
              <a:rPr sz="3400" b="1">
                <a:solidFill>
                  <a:srgbClr val="17211A"/>
                </a:solidFill>
                <a:latin typeface="NVIDIA Sans"/>
              </a:rPr>
              <a:t>Reply video starts</a:t>
            </a:r>
          </a:p>
        </p:txBody>
      </p:sp>
      <p:sp>
        <p:nvSpPr>
          <p:cNvPr id="30" name="Reply definition"/>
          <p:cNvSpPr txBox="1"/>
          <p:nvPr/>
        </p:nvSpPr>
        <p:spPr>
          <a:xfrm>
            <a:off x="22494240" y="13624560"/>
            <a:ext cx="11704320" cy="2286000"/>
          </a:xfrm>
          <a:prstGeom prst="rect">
            <a:avLst/>
          </a:prstGeom>
          <a:noFill/>
        </p:spPr>
        <p:txBody>
          <a:bodyPr wrap="square" lIns="18288" rIns="18288" tIns="0" bIns="0">
            <a:spAutoFit/>
          </a:bodyPr>
          <a:lstStyle/>
          <a:p>
            <a:pPr>
              <a:spcBef>
                <a:spcPts val="0"/>
              </a:spcBef>
              <a:spcAft>
                <a:spcPts val="0"/>
              </a:spcAft>
            </a:pPr>
            <a:r>
              <a:rPr sz="3000" b="0">
                <a:solidFill>
                  <a:srgbClr val="17211A"/>
                </a:solidFill>
                <a:latin typeface="NVIDIA Sans"/>
              </a:rPr>
              <a:t>End of your speech → first reply frame.</a:t>
            </a:r>
          </a:p>
          <a:p>
            <a:pPr>
              <a:spcBef>
                <a:spcPts val="0"/>
              </a:spcBef>
              <a:spcAft>
                <a:spcPts val="0"/>
              </a:spcAft>
            </a:pPr>
            <a:r>
              <a:rPr sz="3000" b="0">
                <a:solidFill>
                  <a:srgbClr val="17211A"/>
                </a:solidFill>
                <a:latin typeface="NVIDIA Sans"/>
              </a:rPr>
              <a:t>Includes VAD, ASR, LLM, queueing, generation and playback wait.</a:t>
            </a:r>
          </a:p>
        </p:txBody>
      </p:sp>
      <p:sp>
        <p:nvSpPr>
          <p:cNvPr id="31" name="Demo note"/>
          <p:cNvSpPr txBox="1"/>
          <p:nvPr/>
        </p:nvSpPr>
        <p:spPr>
          <a:xfrm>
            <a:off x="1828800" y="17556480"/>
            <a:ext cx="32918400" cy="731520"/>
          </a:xfrm>
          <a:prstGeom prst="rect">
            <a:avLst/>
          </a:prstGeom>
          <a:noFill/>
        </p:spPr>
        <p:txBody>
          <a:bodyPr wrap="square" lIns="18288" rIns="18288" tIns="0" bIns="0">
            <a:spAutoFit/>
          </a:bodyPr>
          <a:lstStyle/>
          <a:p>
            <a:pPr>
              <a:spcBef>
                <a:spcPts val="0"/>
              </a:spcBef>
              <a:spcAft>
                <a:spcPts val="0"/>
              </a:spcAft>
            </a:pPr>
            <a:r>
              <a:rPr sz="3100" b="1">
                <a:solidFill>
                  <a:srgbClr val="17211A"/>
                </a:solidFill>
                <a:latin typeface="NVIDIA Sans"/>
              </a:rPr>
              <a:t>One active call · fullscreen avatar · live captions · microphone + avatar audio recording</a:t>
            </a:r>
          </a:p>
        </p:txBody>
      </p:sp>
      <p:sp>
        <p:nvSpPr>
          <p:cNvPr id="32" name="Benchmark distinction"/>
          <p:cNvSpPr txBox="1"/>
          <p:nvPr/>
        </p:nvSpPr>
        <p:spPr>
          <a:xfrm>
            <a:off x="1828800" y="18562320"/>
            <a:ext cx="32918400" cy="914400"/>
          </a:xfrm>
          <a:prstGeom prst="rect">
            <a:avLst/>
          </a:prstGeom>
          <a:noFill/>
        </p:spPr>
        <p:txBody>
          <a:bodyPr wrap="square" lIns="18288" rIns="18288" tIns="0" bIns="0">
            <a:spAutoFit/>
          </a:bodyPr>
          <a:lstStyle/>
          <a:p>
            <a:pPr>
              <a:spcBef>
                <a:spcPts val="0"/>
              </a:spcBef>
              <a:spcAft>
                <a:spcPts val="0"/>
              </a:spcAft>
            </a:pPr>
            <a:r>
              <a:rPr sz="2700" b="0">
                <a:solidFill>
                  <a:srgbClr val="52604F"/>
                </a:solidFill>
                <a:latin typeface="NVIDIA Sans"/>
              </a:rPr>
              <a:t>Demo shares GPUs 6 / 7 and carries history. Slide 18 is a standalone, fixed-input H3 benchmark with ASR / LLM stopped.</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