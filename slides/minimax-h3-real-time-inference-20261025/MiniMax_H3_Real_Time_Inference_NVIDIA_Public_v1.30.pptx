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7" r:id="rId44"/>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16.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8.xml"/><Relationship Id="rId51" Type="http://schemas.openxmlformats.org/officeDocument/2006/relationships/slide" Target="slides/slide1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9.xml"/><Relationship Id="rId100" Type="http://schemas.openxmlformats.org/officeDocument/2006/relationships/slide" Target="slides/slide20.xml"/><Relationship Id="rId101" Type="http://schemas.openxmlformats.org/officeDocument/2006/relationships/slide" Target="slides/slide21.xml"/><Relationship Id="rId102" Type="http://schemas.openxmlformats.org/officeDocument/2006/relationships/slide" Target="slides/slide2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newly generated matching dynamic-action clips. Prompt: two straight punches, pivot, waist-height side kick, recovery to guard, cloth and belt dynamics, slow lateral camera arc. Selected for articulated motion before seeing outputs. Same two reference images, prompt, seed 1234, 1344x768, 124 frames at 24fps and eight evaluations. Single idle GPU 0, identical layerwise CPU-offload configuration, identical original BF16 encoder and original video/audio VAE, identical cuDNN BF16 VSA. Published QAD DiT is revision 0087718b2c8fe4b7e2d0a97463dc38da13f7703f; source BF16 is 88d512c5e7cc38dda499fbb65688ce58611f9c80. The QAD encoder is explicitly replaced by the common original BF16 encoder for this comparison. Online NVFP4 remains direct RTN of untouched BF16 weights with current-input tensor amax and per-16 E4M3 scales; no calibration table, QAD weights or learned QAD scales are used in that arm. Weight prepacking is cached before loading, activations are quantized dynamically on every forward.</a:t>
            </a:r>
          </a:p>
          <a:p>
            <a:r>
              <a:t>All three videos are embedded side by side, started together and muted. PDF uses the same frame index 60 for all posters. Request times include the first generation after startup, encoding and complete MP4 transfer, excluding model loading and prepacking. They include CPU-offload costs and possible first-use JIT, and are not representative of the previous four-GPU production timings. Full-frame LPIPS AlexNet v0.1 and RGB Gaussian SSIM are recomputed on all124 decoded original-resolution frames. Audio is not scored. A static dark background can dominate full-frame scores; these are checkpoint similarity metrics and do not by themselves measure temporal stability, physical action correctness or general perceptual quality. Motion trajectories can diverge even for the same seed. No outcome was assumed from the prompt.</a:t>
            </a:r>
          </a:p>
          <a:p>
            <a:r>
              <a:t>Measured values: {"online_nvfp4": {"lpips_alex_v0_1": {"mean": 0.04186826251867798, "std_population": 0.025374898582460087, "min": 0.008706730790436268, "max": 0.10916323214769363, "frames": 124}, "ssim_rgb": {"mean": 0.9454475520047675, "std_population": 0.016676196513861805, "min": 0.9092317327232791, "max": 0.9800593967178822, "frames": 124}}, "qad_nvfp4": {"lpips_alex_v0_1": {"mean": 0.03694349149572513, "std_population": 0.02413766988705653, "min": 0.008445855230093002, "max": 0.10601461678743362, "frames": 124}, "ssim_rgb": {"mean": 0.9497315785220294, "std_population": 0.018061974326140488, "min": 0.911523032934331, "max": 0.9796215969945749, "frames": 124}}}</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a:p>
            <a:r>
              <a:t>v1.29 annotations are native transparent overlays; the embedded Nsight screenshot bytes remain unchanged. Region 1 covers source pixels x525..732,y74..248, spanning sparse transport/control activity with little productive compute before the main attention region. Region 2 covers x1118..1174,y74..248, the exposed tail around O return. These are visually selected illustrative regions, not independently measured duration brackets; neither implies all GPU activity is absent. Guide lines extend from external labels to GPU-lane boxes. The 3.24 s value remains the full-trace exposed transport aggregate and is not the duration of these two boxes. The baseline is FI RDMA, not an NCCL trace or a CUDA Graph before/after comparison.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limb contours, pose transitions and cloth detail in the same martial-arts action sequence</a:t>
            </a:r>
          </a:p>
        </p:txBody>
      </p:sp>
      <p:sp>
        <p:nvSpPr>
          <p:cNvPr id="4" name="Title 3"/>
          <p:cNvSpPr>
            <a:spLocks noGrp="1"/>
          </p:cNvSpPr>
          <p:nvPr>
            <p:ph type="title"/>
          </p:nvPr>
        </p:nvSpPr>
        <p:spPr/>
        <p:txBody>
          <a:bodyPr/>
          <a:lstStyle/>
          <a:p>
            <a:r>
              <a:t>Quantization: Dynamic Motion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One dynamic sample, frame-aligned metrics · common cuDNN BF16 attention · no claim of general quality or production speedup</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6537960"/>
            <a:ext cx="10515600" cy="6008914"/>
          </a:xfrm>
          <a:prstGeom prst="rect">
            <a:avLst/>
          </a:prstGeom>
          <a:ln w="9525">
            <a:solidFill>
              <a:srgbClr val="A7A7A7"/>
            </a:solidFill>
          </a:ln>
        </p:spPr>
      </p:pic>
      <p:sp>
        <p:nvSpPr>
          <p:cNvPr id="9" name="Original BF16 weights"/>
          <p:cNvSpPr txBox="1"/>
          <p:nvPr/>
        </p:nvSpPr>
        <p:spPr>
          <a:xfrm>
            <a:off x="18288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Original BF16 weights</a:t>
            </a:r>
          </a:p>
        </p:txBody>
      </p:sp>
      <p:sp>
        <p:nvSpPr>
          <p:cNvPr id="10" name="Request: 123.49 s*"/>
          <p:cNvSpPr txBox="1"/>
          <p:nvPr/>
        </p:nvSpPr>
        <p:spPr>
          <a:xfrm>
            <a:off x="18288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123.49 s*</a:t>
            </a:r>
          </a:p>
        </p:txBody>
      </p:sp>
      <p:sp>
        <p:nvSpPr>
          <p:cNvPr id="11" name="LPIPS 0.0000  |  SSIM 1.0000"/>
          <p:cNvSpPr txBox="1"/>
          <p:nvPr/>
        </p:nvSpPr>
        <p:spPr>
          <a:xfrm>
            <a:off x="18288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0.0000  |  SSIM 1.0000</a:t>
            </a:r>
          </a:p>
        </p:txBody>
      </p:sp>
      <p:sp>
        <p:nvSpPr>
          <p:cNvPr id="12" name="Online NVFP4"/>
          <p:cNvSpPr txBox="1"/>
          <p:nvPr/>
        </p:nvSpPr>
        <p:spPr>
          <a:xfrm>
            <a:off x="130302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6537960"/>
            <a:ext cx="10515600" cy="6008914"/>
          </a:xfrm>
          <a:prstGeom prst="rect">
            <a:avLst/>
          </a:prstGeom>
          <a:ln w="9525">
            <a:solidFill>
              <a:srgbClr val="A7A7A7"/>
            </a:solidFill>
          </a:ln>
        </p:spPr>
      </p:pic>
      <p:sp>
        <p:nvSpPr>
          <p:cNvPr id="14" name="Direct algorithm · No calibration / QAD"/>
          <p:cNvSpPr txBox="1"/>
          <p:nvPr/>
        </p:nvSpPr>
        <p:spPr>
          <a:xfrm>
            <a:off x="130302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Direct algorithm · No calibration / QAD</a:t>
            </a:r>
          </a:p>
        </p:txBody>
      </p:sp>
      <p:sp>
        <p:nvSpPr>
          <p:cNvPr id="15" name="Request: 79.79 s*"/>
          <p:cNvSpPr txBox="1"/>
          <p:nvPr/>
        </p:nvSpPr>
        <p:spPr>
          <a:xfrm>
            <a:off x="130302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79.79 s*</a:t>
            </a:r>
          </a:p>
        </p:txBody>
      </p:sp>
      <p:sp>
        <p:nvSpPr>
          <p:cNvPr id="16" name="LPIPS 0.0419  |  SSIM 0.9454"/>
          <p:cNvSpPr txBox="1"/>
          <p:nvPr/>
        </p:nvSpPr>
        <p:spPr>
          <a:xfrm>
            <a:off x="130302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0.0419  |  SSIM 0.9454</a:t>
            </a:r>
          </a:p>
        </p:txBody>
      </p:sp>
      <p:sp>
        <p:nvSpPr>
          <p:cNvPr id="17" name="QAD NVFP4"/>
          <p:cNvSpPr txBox="1"/>
          <p:nvPr/>
        </p:nvSpPr>
        <p:spPr>
          <a:xfrm>
            <a:off x="242316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6537960"/>
            <a:ext cx="10515600" cy="6008914"/>
          </a:xfrm>
          <a:prstGeom prst="rect">
            <a:avLst/>
          </a:prstGeom>
          <a:ln w="9525">
            <a:solidFill>
              <a:srgbClr val="A7A7A7"/>
            </a:solidFill>
          </a:ln>
        </p:spPr>
      </p:pic>
      <p:sp>
        <p:nvSpPr>
          <p:cNvPr id="19" name="Published QAD DiT weights"/>
          <p:cNvSpPr txBox="1"/>
          <p:nvPr/>
        </p:nvSpPr>
        <p:spPr>
          <a:xfrm>
            <a:off x="242316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Published QAD DiT weights</a:t>
            </a:r>
          </a:p>
        </p:txBody>
      </p:sp>
      <p:sp>
        <p:nvSpPr>
          <p:cNvPr id="20" name="Request: 77.84 s*"/>
          <p:cNvSpPr txBox="1"/>
          <p:nvPr/>
        </p:nvSpPr>
        <p:spPr>
          <a:xfrm>
            <a:off x="242316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77.84 s*</a:t>
            </a:r>
          </a:p>
        </p:txBody>
      </p:sp>
      <p:sp>
        <p:nvSpPr>
          <p:cNvPr id="21" name="LPIPS 0.0369  |  SSIM 0.9497"/>
          <p:cNvSpPr txBox="1"/>
          <p:nvPr/>
        </p:nvSpPr>
        <p:spPr>
          <a:xfrm>
            <a:off x="242316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0.0369  |  SSIM 0.9497</a:t>
            </a:r>
          </a:p>
        </p:txBody>
      </p:sp>
      <p:sp>
        <p:nvSpPr>
          <p:cNvPr id="22" name="Inspect hand and foot contours, pose transitions and moving cloth folds."/>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76B900"/>
                </a:solidFill>
                <a:latin typeface="NVIDIA Sans Medium"/>
              </a:rPr>
              <a:t>Inspect hand and foot contours, pose transitions and moving cloth folds.</a:t>
            </a:r>
          </a:p>
        </p:txBody>
      </p:sp>
      <p:sp>
        <p:nvSpPr>
          <p:cNvPr id="23" name="1344 × 768 · 124 frames at 24 FPS · 8 steps · Seed 1234 · Same BF16 encoder and VAE"/>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Same BF16 encoder and VAE</a:t>
            </a:r>
          </a:p>
        </p:txBody>
      </p:sp>
      <p:sp>
        <p:nvSpPr>
          <p:cNvPr id="24" name="*Single-GPU CPU offload; first request. LPIPS lower and SSIM higher mean closer to BF16."/>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*Single-GPU CPU offload; first request. LPIPS lower and SSIM higher mean closer to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1" y="4800599"/>
            <a:ext cx="32918397"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so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so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Whole-head dependencies expose communication waits before attention and output projection</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Actual Nsight Systems RDMA baseline" descr="image.png"/>
          <p:cNvPicPr>
            <a:picLocks noChangeAspect="1"/>
          </p:cNvPicPr>
          <p:nvPr/>
        </p:nvPicPr>
        <p:blipFill>
          <a:blip r:embed="rId3"/>
          <a:stretch>
            <a:fillRect/>
          </a:stretch>
        </p:blipFill>
        <p:spPr>
          <a:xfrm>
            <a:off x="1828800" y="6448225"/>
            <a:ext cx="24688800" cy="11883788"/>
          </a:xfrm>
          <a:prstGeom prst="rect">
            <a:avLst/>
          </a:prstGeom>
          <a:ln w="9525">
            <a:solidFill>
              <a:srgbClr val="A7A7A7"/>
            </a:solidFill>
          </a:ln>
        </p:spPr>
      </p:pic>
      <p:sp>
        <p:nvSpPr>
          <p:cNvPr id="8" name="Bubble 1: input-readiness phase, little productive compute"/>
          <p:cNvSpPr/>
          <p:nvPr/>
        </p:nvSpPr>
        <p:spPr>
          <a:xfrm>
            <a:off x="11501650" y="7811636"/>
            <a:ext cx="3813866"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bble 2: exposed O-return tail"/>
          <p:cNvSpPr/>
          <p:nvPr/>
        </p:nvSpPr>
        <p:spPr>
          <a:xfrm>
            <a:off x="22427365" y="7811636"/>
            <a:ext cx="1031770"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1 · Input-readiness bubble"/>
          <p:cNvSpPr txBox="1"/>
          <p:nvPr/>
        </p:nvSpPr>
        <p:spPr>
          <a:xfrm>
            <a:off x="9875520" y="5257800"/>
            <a:ext cx="850392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1 · Input-readiness bubble</a:t>
            </a:r>
          </a:p>
        </p:txBody>
      </p:sp>
      <p:sp>
        <p:nvSpPr>
          <p:cNvPr id="11" name="2 · O-return tail"/>
          <p:cNvSpPr txBox="1"/>
          <p:nvPr/>
        </p:nvSpPr>
        <p:spPr>
          <a:xfrm>
            <a:off x="21305520" y="5257800"/>
            <a:ext cx="59436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2 · O-return tail</a:t>
            </a:r>
          </a:p>
        </p:txBody>
      </p:sp>
      <p:sp>
        <p:nvSpPr>
          <p:cNvPr id="12" name="Bubble label guide"/>
          <p:cNvSpPr/>
          <p:nvPr/>
        </p:nvSpPr>
        <p:spPr>
          <a:xfrm>
            <a:off x="13408584"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bble label guide"/>
          <p:cNvSpPr/>
          <p:nvPr/>
        </p:nvSpPr>
        <p:spPr>
          <a:xfrm>
            <a:off x="22943251"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1 · Inputs not ready"/>
          <p:cNvSpPr txBox="1"/>
          <p:nvPr/>
        </p:nvSpPr>
        <p:spPr>
          <a:xfrm>
            <a:off x="27523440" y="54864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1 · Inputs not ready</a:t>
            </a:r>
          </a:p>
        </p:txBody>
      </p:sp>
      <p:sp>
        <p:nvSpPr>
          <p:cNvPr id="15" name="Attention needs the full"/>
          <p:cNvSpPr txBox="1"/>
          <p:nvPr/>
        </p:nvSpPr>
        <p:spPr>
          <a:xfrm>
            <a:off x="27523440" y="67208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Attention needs the full</a:t>
            </a:r>
          </a:p>
          <a:p>
            <a:pPr algn="l">
              <a:lnSpc>
                <a:spcPct val="108000"/>
              </a:lnSpc>
              <a:spcBef>
                <a:spcPts val="0"/>
              </a:spcBef>
              <a:spcAft>
                <a:spcPts val="1200"/>
              </a:spcAft>
            </a:pPr>
            <a:r>
              <a:rPr sz="2900" b="0">
                <a:solidFill>
                  <a:srgbClr val="313131"/>
                </a:solidFill>
                <a:latin typeface="NVIDIA Sans"/>
              </a:rPr>
              <a:t>Q/K/V for its head group.</a:t>
            </a:r>
          </a:p>
        </p:txBody>
      </p:sp>
      <p:sp>
        <p:nvSpPr>
          <p:cNvPr id="16" name="2 · O return pending"/>
          <p:cNvSpPr txBox="1"/>
          <p:nvPr/>
        </p:nvSpPr>
        <p:spPr>
          <a:xfrm>
            <a:off x="27523440" y="91440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2 · O return pending</a:t>
            </a:r>
          </a:p>
        </p:txBody>
      </p:sp>
      <p:sp>
        <p:nvSpPr>
          <p:cNvPr id="17" name="Output projection waits"/>
          <p:cNvSpPr txBox="1"/>
          <p:nvPr/>
        </p:nvSpPr>
        <p:spPr>
          <a:xfrm>
            <a:off x="27523440" y="103784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Output projection waits</a:t>
            </a:r>
          </a:p>
          <a:p>
            <a:pPr algn="l">
              <a:lnSpc>
                <a:spcPct val="108000"/>
              </a:lnSpc>
              <a:spcBef>
                <a:spcPts val="0"/>
              </a:spcBef>
              <a:spcAft>
                <a:spcPts val="1200"/>
              </a:spcAft>
            </a:pPr>
            <a:r>
              <a:rPr sz="2900" b="0">
                <a:solidFill>
                  <a:srgbClr val="313131"/>
                </a:solidFill>
                <a:latin typeface="NVIDIA Sans"/>
              </a:rPr>
              <a:t>for the returned O.</a:t>
            </a:r>
          </a:p>
        </p:txBody>
      </p:sp>
      <p:sp>
        <p:nvSpPr>
          <p:cNvPr id="18" name="Next: pipeline heads"/>
          <p:cNvSpPr txBox="1"/>
          <p:nvPr/>
        </p:nvSpPr>
        <p:spPr>
          <a:xfrm>
            <a:off x="27523440" y="128016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Next: pipeline heads</a:t>
            </a:r>
          </a:p>
        </p:txBody>
      </p:sp>
      <p:sp>
        <p:nvSpPr>
          <p:cNvPr id="19" name="Compute one band while"/>
          <p:cNvSpPr txBox="1"/>
          <p:nvPr/>
        </p:nvSpPr>
        <p:spPr>
          <a:xfrm>
            <a:off x="27523440" y="140360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Compute one band while</a:t>
            </a:r>
          </a:p>
          <a:p>
            <a:pPr algn="l">
              <a:lnSpc>
                <a:spcPct val="108000"/>
              </a:lnSpc>
              <a:spcBef>
                <a:spcPts val="0"/>
              </a:spcBef>
              <a:spcAft>
                <a:spcPts val="1200"/>
              </a:spcAft>
            </a:pPr>
            <a:r>
              <a:rPr sz="2900" b="0">
                <a:solidFill>
                  <a:srgbClr val="313131"/>
                </a:solidFill>
                <a:latin typeface="NVIDIA Sans"/>
              </a:rPr>
              <a:t>transferring the next.</a:t>
            </a:r>
          </a:p>
        </p:txBody>
      </p:sp>
      <p:sp>
        <p:nvSpPr>
          <p:cNvPr id="20" name="3.24 s / GPU"/>
          <p:cNvSpPr txBox="1"/>
          <p:nvPr/>
        </p:nvSpPr>
        <p:spPr>
          <a:xfrm>
            <a:off x="27523440" y="16459200"/>
            <a:ext cx="7223760" cy="822960"/>
          </a:xfrm>
          <a:prstGeom prst="rect">
            <a:avLst/>
          </a:prstGeom>
          <a:noFill/>
        </p:spPr>
        <p:txBody>
          <a:bodyPr wrap="square" lIns="0" rIns="0" tIns="0" bIns="0">
            <a:spAutoFit/>
          </a:bodyPr>
          <a:lstStyle/>
          <a:p>
            <a:pPr algn="l">
              <a:lnSpc>
                <a:spcPct val="108000"/>
              </a:lnSpc>
              <a:spcBef>
                <a:spcPts val="0"/>
              </a:spcBef>
              <a:spcAft>
                <a:spcPts val="1200"/>
              </a:spcAft>
            </a:pPr>
            <a:r>
              <a:rPr sz="3900" b="1">
                <a:solidFill>
                  <a:srgbClr val="76B900"/>
                </a:solidFill>
                <a:latin typeface="NVIDIA Sans Medium"/>
              </a:rPr>
              <a:t>3.24 s / GPU</a:t>
            </a:r>
          </a:p>
        </p:txBody>
      </p:sp>
      <p:sp>
        <p:nvSpPr>
          <p:cNvPr id="21" name="Exposed phase · full DiT"/>
          <p:cNvSpPr txBox="1"/>
          <p:nvPr/>
        </p:nvSpPr>
        <p:spPr>
          <a:xfrm>
            <a:off x="27523440" y="17465040"/>
            <a:ext cx="7223760" cy="109728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Exposed phase · full DiT</a:t>
            </a:r>
          </a:p>
          <a:p>
            <a:pPr algn="l">
              <a:lnSpc>
                <a:spcPct val="108000"/>
              </a:lnSpc>
              <a:spcBef>
                <a:spcPts val="0"/>
              </a:spcBef>
              <a:spcAft>
                <a:spcPts val="1200"/>
              </a:spcAft>
            </a:pPr>
            <a:r>
              <a:rPr sz="2500" b="0">
                <a:solidFill>
                  <a:srgbClr val="313131"/>
                </a:solidFill>
                <a:latin typeface="NVIDIA Sans"/>
              </a:rPr>
              <a:t>Mean across eight GPUs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VSA, QAD/Sage and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