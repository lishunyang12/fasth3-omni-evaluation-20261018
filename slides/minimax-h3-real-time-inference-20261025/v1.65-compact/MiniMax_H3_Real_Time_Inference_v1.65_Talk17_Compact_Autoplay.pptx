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79" r:id="rId36"/>
    <p:sldId id="380" r:id="rId50"/>
    <p:sldId id="381" r:id="rId35"/>
    <p:sldId id="382" r:id="rId52"/>
    <p:sldId id="383" r:id="rId53"/>
    <p:sldId id="384" r:id="rId54"/>
    <p:sldId id="385" r:id="rId55"/>
    <p:sldId id="386" r:id="rId56"/>
    <p:sldId id="387" r:id="rId57"/>
    <p:sldId id="388" r:id="rId58"/>
    <p:sldId id="372" r:id="rId42"/>
    <p:sldId id="389" r:id="rId59"/>
    <p:sldId id="390" r:id="rId60"/>
    <p:sldId id="398" r:id="rId29"/>
    <p:sldId id="392" r:id="rId62"/>
    <p:sldId id="393" r:id="rId34"/>
    <p:sldId id="394" r:id="rId33"/>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29" Type="http://schemas.openxmlformats.org/officeDocument/2006/relationships/slide" Target="slides/slide14.xml"/><Relationship Id="rId33" Type="http://schemas.openxmlformats.org/officeDocument/2006/relationships/slide" Target="slides/slide17.xml"/><Relationship Id="rId34" Type="http://schemas.openxmlformats.org/officeDocument/2006/relationships/slide" Target="slides/slide16.xml"/><Relationship Id="rId35" Type="http://schemas.openxmlformats.org/officeDocument/2006/relationships/slide" Target="slides/slide3.xml"/><Relationship Id="rId36" Type="http://schemas.openxmlformats.org/officeDocument/2006/relationships/slide" Target="slides/slide1.xml"/><Relationship Id="rId42" Type="http://schemas.openxmlformats.org/officeDocument/2006/relationships/slide" Target="slides/slide11.xml"/><Relationship Id="rId50" Type="http://schemas.openxmlformats.org/officeDocument/2006/relationships/slide" Target="slides/slide2.xml"/><Relationship Id="rId52" Type="http://schemas.openxmlformats.org/officeDocument/2006/relationships/slide" Target="slides/slide4.xml"/><Relationship Id="rId53" Type="http://schemas.openxmlformats.org/officeDocument/2006/relationships/slide" Target="slides/slide5.xml"/><Relationship Id="rId54" Type="http://schemas.openxmlformats.org/officeDocument/2006/relationships/slide" Target="slides/slide6.xml"/><Relationship Id="rId55" Type="http://schemas.openxmlformats.org/officeDocument/2006/relationships/slide" Target="slides/slide7.xml"/><Relationship Id="rId56" Type="http://schemas.openxmlformats.org/officeDocument/2006/relationships/slide" Target="slides/slide8.xml"/><Relationship Id="rId57" Type="http://schemas.openxmlformats.org/officeDocument/2006/relationships/slide" Target="slides/slide9.xml"/><Relationship Id="rId58" Type="http://schemas.openxmlformats.org/officeDocument/2006/relationships/slide" Target="slides/slide10.xml"/><Relationship Id="rId59" Type="http://schemas.openxmlformats.org/officeDocument/2006/relationships/slide" Target="slides/slide12.xml"/><Relationship Id="rId60" Type="http://schemas.openxmlformats.org/officeDocument/2006/relationships/slide" Target="slides/slide13.xml"/><Relationship Id="rId62" Type="http://schemas.openxmlformats.org/officeDocument/2006/relationships/slide" Target="slides/slide15.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a:p>
            <a:r>
              <a:t>Condensed baseline: measured E2E median 213.40215269569308 s from two unprofiled requests. Nsight operator shares come from a separate 214.968 s profiled request. Other combines norm/activation, layout, memcpy/memset, convolution and other kernels. Kernel durations include overlap and synchronization; NCCL is not pure network transfer time. Full configuration and eight operator categories remain on hidden slide 18 and baseline-breakdown.html. Native VAE FP16 decode; exact precomputed AdaLN is already part of the engineering baseline.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Compute-rich, bandwidth-modest is a qualitative platform insight, not a measured roofline or a universal bandwidth-bound claim. It refers here to inter-GPU communication relative to Blackwell tensor compute. GPUs have no NVLink; GPU transfers use PCIe and selected NIC routes. Per-GPU Gen5 x16 raw nominal is 64 GB/s one way, 63.015 after line encoding, before packets. A shared host uplink can serve two GPUs. Do not multiply that shared capacity by the GPU count. Specifications: 110 SMs, 72 GB GDDR7 ECC, 300 W max board power, FP4 Tensor Cores. NVIDIA official page checked 2026-10-31: https://www.nvidia.com/en-us/products/workstations/professional-desktop-gpus/rtx-pro-5000/ . Published capacities are not measured payload rates or sustained compute. Current standalone H3 reference has eight GPUs; no new hardware measurements.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schematic of the retained interactive runtime, not a new test. Retain the final two temporal video latent slices, not two decoded frames or two attention tokens, plus the aligned audio latent tail. Audio length is 8 or 9 latent tokens: round((start+5)*5/3)-round(start*5/3), start=119*ordinal. No attention K/V tensors are passed between requests; the tail is patchified/packed and appended to visual/audio condition rows, so K/V is computed in the new request. Video history =0.8*history +0.2*seeded noise: a linear coefficient, not noise variance or replacement frames. Reference-image noise stays 0.001; audio history is clean. Target video/audio prefix clamping off. Cumulative AV positions. Generate 124 decoded frames; continuation drops 5 frames and 8/9 audio-token intervals and emits 119 frames. Timeline schematic, not to scale. Right image is the actual first retained frame after trim; left is the actual previous ending. State commits after successful MP4 generation. Fixed-size conditioning does not guarantee indefinite quality. This custom recorded demo differs from upstream planned production ComfyUI graphs. Pipeline slide 10, demo slide 12. Source hashes in continuation.json; no new benchmark.</a:t>
            </a:r>
          </a:p>
          <a:p/>
          <a:p>
            <a:r>
              <a:t>中文讲解补充（v1.65；现有记录与机制解释，无新推理）：</a:t>
            </a:r>
          </a:p>
          <a:p>
            <a:r>
              <a:t>完整窗口与重叠区：每轮实际生成完整的 124 帧。第一轮覆盖全局帧 0–123；第二轮覆盖 119–242，裁掉第二轮的 119–123 后，追加 124–242，共 119 帧。保留的两片视频 latent 覆盖上一轮最后 5 帧；它们作为独立历史条件加入新请求。prefix off 时，本轮重叠区也重新生成。K/V recomputed 表示没有跨请求复用注意力 KV，不能理解为只计算重叠的 5 帧。</a:t>
            </a:r>
          </a:p>
          <a:p/>
          <a:p>
            <a:r>
              <a:t>相同位置，独立 tokens：latent 时间跨度按 1、4、4、4、4 帧循环。上一轮 latent 35 从全局帧 119 开始，latent 36 从 120 开始；分别与下一轮 latent 0、1 对齐。时间 RoPE 坐标为 C + 全局帧起点 × 40/24，空间网格保持一致。历史条件与目标拥有相同的时空坐标，但属于不同 tokens：历史条件保持固定，目标参与去噪。已有 CPU 检查确认 RoPE 所用 FP32 坐标完全一致；这项检查验证位置构造，没有运行模型生成。</a:t>
            </a:r>
          </a:p>
          <a:p/>
          <a:p>
            <a:r>
              <a:t>为什么用 Ref2VA，也应该考虑 FL2VA：FL2VA 可以把上一段末帧作为下一段首帧条件，仅提供首帧即可。它保留静态外观与姿态，但单张图片本身不能唯一确定运动方向、速度或音频状态。当前 Ref2VA 路线同时携带原始人物/声音参考、短视频历史和对齐的音频历史，提供更多接续线索。现有记录没有 FL2VA 对 Ref2VA 的配对实验，因此不能宣称 Ref2VA 已被证明优于 FL2VA。当前 demo 的 rolling 路径使用 Ref2VA；上游 FL2VA latent-mask 续接是另一条已存在的路径。</a:t>
            </a:r>
          </a:p>
          <a:p/>
          <a:p>
            <a:r>
              <a:t>prefix on 为什么可能继承瑕疵：prefix on 将历史视频 latent 复制到目标开头，标记为 clean，并在每一步 Euler 更新后恢复为原值。clean 仅表示没有扩散噪声，并不表示画面没有瑕疵；已有错误纹理也被固定。prefix off 保留历史条件，同时允许全部目标重新生成，因此有机会修正新画面中的细节。历史条件本身没有被重新去噪。</a:t>
            </a:r>
          </a:p>
          <a:p/>
          <a:p>
            <a:r>
              <a:t>20% 噪声如何参与恢复：实际公式为 h_noisy = 0.8 × h + 0.2 × ε，其中 ε 是按 seed 生成的高斯噪声。20% 是线性混合系数，不是噪声方差、替换帧比例或给输出叠加噪点。代码还设置历史条件的 RF timestep = max(t_video, 0.8)；这个 timestep 表示噪声等级，和 RoPE 的视频时间不同。原始参考图仍使用 0.001 噪声系数，音频历史保持干净。</a:t>
            </a:r>
          </a:p>
          <a:p/>
          <a:p>
            <a:r>
              <a:t>对恢复效果的机制解释：把历史写成 h = 理想内容 + 生成误差 e，则加噪后误差仍以 0.8e 存在。改善来自模型利用带噪历史、原始参考和学到的自然画面规律生成更合理的目标内容。合理解释是：条件不确定性降低了对错误历史细节的依赖，prefix off 解除目标硬约束，从而减弱跨窗口的错误反馈。Cascaded Diffusion Models 与 Diffusion Forcing 的研究支持条件加噪缓解误差累积这一方向；当前 H3 的具体作用大小尚未逐项隔离测量，不能声称它采用了这些论文的同一训练方法。</a:t>
            </a:r>
          </a:p>
          <a:p/>
          <a:p>
            <a:r>
              <a:t>现有实验观察与代价：同为 20% 历史噪声的两条链使用相同提示词、seed、模型配置及 32 窗口计划，首窗口 MP4 字节一致。记录中的后期抽样画面显示：prefix off 的脸、衣服、背景更干净；接缝像素 MAE 中位数从 prefix on 的 0.01141 增至 off 的 0.02029。MAE 对运动敏感，并非完整的感知质量评分。背景与姿态漂移仍然存在。现有对照没有固定 prefix off 后单独扫描噪声比例，因此不能归因于噪声一项或声称 20% 最优。</a:t>
            </a:r>
          </a:p>
          <a:p/>
          <a:p>
            <a:r>
              <a:t>重生成的 5 帧裁掉后，为什么还有作用：重叠区目标仍参与整段视频的联合去噪，影响后续 119 帧。输出只裁掉重复的时间区间；历史已播放的旧帧不会被回溯修复。这里的恢复指后续生成摆脱或减轻劣化累积。每轮输出的新尾部又成为下一轮历史，长期质量和接缝连续性需要同时观察。</a:t>
            </a:r>
          </a:p>
          <a:p/>
          <a:p>
            <a:r>
              <a:t>相关研究（机制类比，不等于 H3 训练方法证明）：</a:t>
            </a:r>
          </a:p>
          <a:p>
            <a:r>
              <a:t>Cascaded Diffusion Models — conditioning augmentation https://arxiv.org/abs/2106.15282</a:t>
            </a:r>
          </a:p>
          <a:p>
            <a:r>
              <a:t>Diffusion Forcing — stabilization with noisy history https://arxiv.org/html/2407.01392v3#S3.SS1</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a:p>
            <a:r>
              <a:t>Presenter date correction: 2026-11-01.</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Published architecture comparison, not a matched quality or performance benchmark. MiniMax H3 full dense OmniTransformer 33B; Wan2.2 A14B total 27B with 14B active per denoising step; LTX-2.5 official 22B designation; HunyuanVideo-1.5 8.3B. Encoder and VAE parameters excluded. H3 full weights include precomputable modulation branches, so the bar is not runtime-active parameter count or FLOPs. Open H3-Base defaults to 768 pixels on the short side. This benchmark instead uses 960x544 at 124 frames/24 FPS (5.1667 s). H3-Regenerate-2K is not included. Joint audio-video and multimodal reference conditioning are model capabilities, not exclusive to H3. Sources checked 2026-10-31: https://huggingface.co/MiniMaxAI/MiniMax-H3 ; https://github.com/Wan-Video/Wan2.2 ; https://huggingface.co/Lightricks/LTX-2.5 ; https://github.com/Tencent-Hunyuan/HunyuanVideo-1.5</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a:p>
            <a:r>
              <a:t>Added explanatory detail: PDD8 predicts four trained fine-interval directions per evaluation over the 32-interval schedule. It is not selecting eight original solver steps. Recorded stage 00→01 medians 213.40215269569308→44.32691093347967 seconds; separately refreshed baseline, not a matched rerun. No new measurements.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a:p>
            <a:r>
              <a:t>Added recorded E2E changes: stage01 PDD8→stage02 trained VSA (44.3269→25.9154s), then stage03 QAD NVFP4/native FP4 attention (19.4603s). These compare cumulative model/runtime variants, not isolated attention or GEMM kernels. Full precision is retained in sensitive paths. New text does not claim losslessness.</a:t>
            </a:r>
          </a:p>
          <a:p>
            <a:r>
              <a:t>Explicit configuration: VSA sparsity setting 0.9 (90%); block/tile size 128 tokens. Recorded native attention metadata uses vsa_h3_tile_size=128 and vsa_h3_sparsity=0.9; demo-config.json retains sparsity_setting=0.9. The 10-by-10 grid illustrates the setting only, not a captured mask, fixed Top-K selection, measured whole-model sparsity, or a 90% E2E reduction. Prefix/reference policies and coarse attention are separate work. Block size is measured in tokens, not pixels. No runtime configuration changed.</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 comparison added to the same two-socket/four-subtree/eight-GPU topology. Black dashed arrows illustrate the controlled local-only NCCL replay for GPU0→GPU4; green illustrates the tested GPU-affine FlashInfer RDMA payload route. These are logical data-flow diagrams, not packet traces. In the NCCL local-only audit, every rank uses P2P/CUMEM to its one same-subtree peer and SHM/direct/direct to six others. Same-NUMA different-subtree payload uses host buffers and host uplinks; cross-NUMA also traverses the CPU interconnect. Dashed arrows include host-buffer staging, not direct P2P across all GPUs. FI RDMA uses mapped GPU0→mlx5_2 and GPU4→mlx5_6; payload bypasses host buffers/uplinks, with CPU control work still present. External RoCE switch wiring is unaudited. Network rail is logical connectivity. Known physical link widths scale with nominal raw one-way capacity; black route emphasis is not a bandwidth encoding. The CPU physical link uses the user-supplied 128GB/s system bandwidth. GPU PCIe max and host uplink 64GB/s raw (63.015 after 128/130 encoding); shared NIC endpoint 128GB/s raw; network port 50GB/s. CPU-to-CPU bandwidth is 128GB/s as supplied by the presenter on 2026-10-31; this is not a new throughput measurement. The source statement does not establish one-way versus aggregate-duplex accounting, so no directional split or saturation is inferred. Measured S15104 eight-GPU exchange: NCCL 5.5599215ms,17.0384218554GB/s/GPU; FI RDMA2.3746525ms,39.8931161507GB/s/GPU;2.341362x. This is rank-max timing, pooled median over three rounds of30 samples, B1,H56,D128,BF16,Q/K/V scatters and O gather,94,732,288 off-rank TX bytes/GPU. Includes layouts, allocations/staging,synchronization; excludes attention,GEMM,E2E. Original source63487a7f22db AST-extracted all_to_all_4D unchanged. Local-only adds NCCL_NET_DISABLE_INTRA=1,NCCL_IB_DISABLE=1,P2P and SHM enabled. The historical Base50 run did not record NET_DISABLE_INTRA; its per-pair routes are unknown. An IB-disable-only replay used NET/Socket cross-NUMA, so it must not be depicted as this local-only SHM control. NCCL can also use RDMA; this is not a universal library comparison. These implementation gains are not isolated link gains or the19.46→6.83s cumulative E2E change. Sources: retained public sequence-comparison-v1.23.json and hidden slide28; local-only route audit pair counts P2P8,SHM48. No new measurement.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a:p>
            <a:r>
              <a:t>Expanded mechanism and measurements: stage03 19.4603s →stage04 RDMA/direct layout/V-gate 6.8325s →stage05 2/3/2 head pipeline 6.4073s →stage06 compute CUDA graphs 6.1930s. The 3.1x result groups those changes. The separate 2.34x route replay on slide7 includes communication/layout/synchronization and is not this E2E experiment. The equal-width schedule is conceptual, not a scale drawing of 2/3/2 durations.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Restored the cumulative optimization ladder to main slide9. Every value is from unchanged benchmark-data.json. Displayed rows00–07 are individual stages;08–12 combines output/data movement work and compares stage12 with stage07, not stage11. Overall213.40215269569308/4.9224158665165305=43.353x;RTF4.9224158665165305/(124/24)=0.95272565. Baseline refreshed separately with n2;later stagesn3 retained,not a matched rerun. No isolated distillation or RDMA causality is asserted. PDD,VSA,QAD/precision are not all lossless. Final standalone H3 latency excludes ASR,LLM,rolling history and browser playback. Original detailed table remains on hidden slide36; previous final-number-only design on hidden slide44. Row08–12 includes fused tile/AAC prep,direct output/input packing,integer routing compaction and producer copy elision. Final recheck4.927s is a separate retained result,not averaged into the main table.</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a:p>
            <a:r>
              <a:t>Light-talk edit removes the repeated ASR transcript while retaining the actual reference image, English question/prompt excerpt, actual generated still and generated-voice return loop. ASR is Qwen3-ASR-0.6B; Qwen3-4B emits reply text and the server assembles the H3 prompt. The still is not a newly generated rendering of the example words. Full detail remains on hidden slide 34 and demo-config.html.</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Recorded live-avatar conversation, displayed as video only at the original aspect ratio. Presenter requested removal of added slide annotations, including the history-noise, latent and K/V sidebar. Technical configuration and continuation explanation remain on slides 10 and 11 and in demo-config.json. The first five seconds were already trimmed. The first 25% of the trimmed source plays at 1x and the final 75% at 3x with pitch-preserving audio. The 3x playback badge is burned into the accelerated portion. Original recorded subtitles, avatar-generation latency and reply-video-start metrics remain in the unchanged video. Final presentation video duration is 37.275 seconds. No new generation or benchmark.</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insights for a short talk. (1) Map GPU/NIC topology and the actual bottleneck. Use bandwidth, overlap communication with computation, and reduce data movement for lossless speedups. (2) Quantization quality and efficiency vary by model and workload; validate representative scenes. (3) Autoregressive diffusion and richer prompt enhancement are future directions, not claims of improvements implemented in this demo.</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Supported status checked against upstream main 08177216af4b44cef54ec5bdc75c265a9f0cd697 on 2026-10-31; RFC checkboxes can lag merged code. Existing templates: All-in-One T2VA/FL2VA/Ref2VA, timeline guides, latent-mask editing/continuation, supplied-track music videos and SeedVR2 restoration. Model/API restrictions apply; not all modes combine. H3 second-pass refinement is backend-supported, merged #8322, via server defaults latent_refine and optional latent_upscale; learned upscale needs a separate checkpoint. Request mode only; no dedicated ComfyUI node/template. SeedVR2 is a separate model. Planned support means public development work or RFC proposals, not delivery commitments: CTRL-02 #7492 and WF-06 #7507 draft/open; character replacement #9194 open; identity plus timeline-anchor template #9420 open, while guide nodes already exist. RFC #8251 proposes H3-01 story/dialogue, H3-02 long-video, H3-05 repeatable avatar production graphs. This does not negate existing bounded continuation or guarantee unlimited generation. #7943 generation progress remains open. Q4 roadmap #8264 includes ComfyUI but priorities/ownership require coordination. No feature delivery dates announced. No new inference/benchmark. https://github.com/vllm-project/vllm-omni/issues/8264 ; https://github.com/vllm-project/vllm-omni/issues/7380 ; https://github.com/vllm-project/vllm-omni/issues/8251</a:t>
            </a:r>
          </a:p>
          <a:p/>
          <a:p>
            <a:r>
              <a:t>Workflow speaker notes, checked 31 October 2026.</a:t>
            </a:r>
          </a:p>
          <a:p>
            <a:r>
              <a:t>Text, keyframes and mixed references [Supported template]: Start from a text prompt, constrain the first and/or last frame, or supply image, video and audio references. The connected inputs select T2VA, FL2VA or Ref2VA. These are alternative generation modes; the service must load the matching checkpoint partition.</a:t>
            </a:r>
          </a:p>
          <a:p>
            <a:r>
              <a:t>Source: https://github.com/vllm-project/vllm-omni/blob/08177216af4b44cef54ec5bdc75c265a9f0cd697/apps/ComfyUI-vLLM-Omni/docs/h3-06-all-in-one.md</a:t>
            </a:r>
          </a:p>
          <a:p/>
          <a:p>
            <a:r>
              <a:t>Timeline guides [Supported nodes and template]: Place an image, video or audio guide at a chosen frame of the output. For example, frame 36 is 1.5 seconds at 24 FPS. This controls when supplied content appears. Requires base H3; the current guide path rejects FastH3, nonzero request LoRA and latent-mask editing.</a:t>
            </a:r>
          </a:p>
          <a:p>
            <a:r>
              <a:t>Source: https://github.com/vllm-project/vllm-omni/blob/08177216af4b44cef54ec5bdc75c265a9f0cd697/apps/ComfyUI-vLLM-Omni/README.md#timeline-guides-minimax-h3</a:t>
            </a:r>
          </a:p>
          <a:p/>
          <a:p>
            <a:r>
              <a:t>Inpainting and removal [Supported latent-mask template]: Supply a source video and a spatial mask. Preserve the unmasked context and regenerate the selected region: remove an object or describe replacement content. A separate audio mask decides whether source audio is preserved or regenerated.</a:t>
            </a:r>
          </a:p>
          <a:p>
            <a:r>
              <a:t>Source: https://github.com/vllm-project/vllm-omni/blob/08177216af4b44cef54ec5bdc75c265a9f0cd697/apps/ComfyUI-vLLM-Omni/docs/wf05-h3-latent-editing.md</a:t>
            </a:r>
          </a:p>
          <a:p/>
          <a:p>
            <a:r>
              <a:t>Continuation and extension [Supported latent-mask template]: Use a temporal mask to retain an initial part and regenerate the remaining interval, or request a longer duration to add new content after the source. This editing workflow is distinct from the rolling AV-tail implementation in our interactive demo.</a:t>
            </a:r>
          </a:p>
          <a:p>
            <a:r>
              <a:t>Source: https://github.com/vllm-project/vllm-omni/blob/08177216af4b44cef54ec5bdc75c265a9f0cd697/apps/ComfyUI-vLLM-Omni/docs/wf05-h3-latent-editing.md</a:t>
            </a:r>
          </a:p>
          <a:p/>
          <a:p>
            <a:r>
              <a:t>SeedVR2 upscale / restoration [Supported local and remote workflows]: Generate an H3 clip, then restore or upscale its decoded frames with a separate SeedVR2 model. Preserve the generated audio and FPS. The local template uses a ComfyUI SeedVR2 extension; the remote route calls a separate vLLM-Omni SeedVR2 service.</a:t>
            </a:r>
          </a:p>
          <a:p>
            <a:r>
              <a:t>Source: https://github.com/vllm-project/vllm-omni/blob/08177216af4b44cef54ec5bdc75c265a9f0cd697/apps/ComfyUI-vLLM-Omni/docs/wf07-h3-upscale.md</a:t>
            </a:r>
          </a:p>
          <a:p/>
          <a:p>
            <a:r>
              <a:t>H3 second-pass refinement [Backend capability; server-configured]: Generate a base latent, optionally upscale that latent, add noise and run the tail of the H3 denoising schedule before VAE decoding. This can change visual details and audio. It is request-mode only, rejects latent-tail continuation and latent-mask editing, and currently has no dedicated ComfyUI node or template.</a:t>
            </a:r>
          </a:p>
          <a:p>
            <a:r>
              <a:t>Source: https://github.com/vllm-project/vllm-omni/blob/08177216af4b44cef54ec5bdc75c265a9f0cd697/recipes/MiniMaxAI/MiniMax-H3.md</a:t>
            </a:r>
          </a:p>
          <a:p/>
          <a:p>
            <a:r>
              <a:t>Music-driven video [Supported supplied-track template]: Supply a music track and a character/style image. Slice the track, generate one Ref2VA shot per slice with locked source audio, then join the shots and restore the original recording as the final soundtrack. Shots share the reference image but do not carry latent history between requests; cuts are expected.</a:t>
            </a:r>
          </a:p>
          <a:p>
            <a:r>
              <a:t>Source: https://github.com/vllm-project/vllm-omni/blob/08177216af4b44cef54ec5bdc75c265a9f0cd697/apps/ComfyUI-vLLM-Omni/docs/h3-03-music-video.md</a:t>
            </a:r>
          </a:p>
          <a:p/>
          <a:p>
            <a:r>
              <a:t>ControlNet workflows [Draft PRs; not merged]: Use pose, depth or edge hints to constrain motion and composition. The proposed workflow offers Canny, Depth, Pose, HED, MLSD and Inpaint controls. Dependencies and quality validation remain; do not present it as available on main.</a:t>
            </a:r>
          </a:p>
          <a:p>
            <a:r>
              <a:t>Source: https://github.com/vllm-project/vllm-omni/pull/7507</a:t>
            </a:r>
          </a:p>
          <a:p/>
          <a:p>
            <a:r>
              <a:t>Character replacement [Open PR; not merged]: Combine a source video and a new character reference to replace the subject while aiming to retain the original motion and scene. Backend dependencies and quality validation remain.</a:t>
            </a:r>
          </a:p>
          <a:p>
            <a:r>
              <a:t>Source: https://github.com/vllm-project/vllm-omni/pull/9194</a:t>
            </a:r>
          </a:p>
          <a:p/>
          <a:p>
            <a:r>
              <a:t>Multi-anchor workflow [Open template PR; not merged]: Combine an identity reference with several time-indexed image anchors in one ready-to-run graph. Reference and timeline-guide nodes already exist; the pending item is the combined template, not the entire guide capability.</a:t>
            </a:r>
          </a:p>
          <a:p>
            <a:r>
              <a:t>Source: https://github.com/vllm-project/vllm-omni/pull/9420</a:t>
            </a:r>
          </a:p>
          <a:p/>
          <a:p>
            <a:r>
              <a:t>Long-form stories and avatars [RFC proposals]: Compose multiple bounded shots or continuation segments into story, dialogue and repeatable-avatar workflows, with explicit boundary and audio handling. This is a proposed workflow family, not a promise of unlimited single-request generation or real-time performance.</a:t>
            </a:r>
          </a:p>
          <a:p>
            <a:r>
              <a:t>Source: https://github.com/vllm-project/vllm-omni/issues/8251</a:t>
            </a:r>
          </a:p>
          <a:p>
            <a:r>
              <a:t>Presenter requested Simplified Chinese translations after every workflow bullet. English source wording and support status are retained. The Chinese translations clarify the same supported/planned boundary; no new capability claims.</a:t>
            </a:r>
          </a:p>
          <a:p/>
          <a:p>
            <a:r>
              <a:t>中文逐项讲解：ComfyUI 负责组织素材、参数、节点和输出；H3 推理由 vLLM-Omni 服务执行。以下按 Slides 的工作流类别展开，共 11 项。基础功能、完整模板和提案的状态分别列明。</a:t>
            </a:r>
          </a:p>
          <a:p/>
          <a:p>
            <a:r>
              <a:t>1. 文字、首尾帧与混合参考：All-in-One / H3-06 [已支持模板]</a:t>
            </a:r>
          </a:p>
          <a:p>
            <a:r>
              <a:t>输入：文字提示词；按模式选择首帧、尾帧，或人物图片、动作视频、声音参考。服务 URL、模型名、时长、seed 与采样参数由共享节点提供。</a:t>
            </a:r>
          </a:p>
          <a:p>
            <a:r>
              <a:t>连线：文字 / 首尾帧 / 参考素材 → Generate Video → Save Video</a:t>
            </a:r>
          </a:p>
          <a:p>
            <a:r>
              <a:t>1. T2VA：不连接 frame 或 references，以文字生成视频和同步音频。底层使用 FL2VA 分区。</a:t>
            </a:r>
          </a:p>
          <a:p>
            <a:r>
              <a:t>2. FL2VA：Load Image 接 first_frame、last_frame 或两者，约束开始/结束画面；文字描述中间动作。上一段末帧也可作为下一段首帧，但单帧本身不携带完整运动与音频历史。</a:t>
            </a:r>
          </a:p>
          <a:p>
            <a:r>
              <a:t>3. Ref2VA：素材接入 Video References，再接 Generate Video；提示词以 &lt;Picture 1&gt;、&lt;Video 1&gt;、&lt;Audio 1&gt; 指明各类参考用途。人物参考约束外观，动作参考提供动作线索，普通声音参考提供音色等条件。</a:t>
            </a:r>
          </a:p>
          <a:p>
            <a:r>
              <a:t>4. 返回的 VIDEO 包含生成画面和音轨，Save Video 保存 MP4。模板默认 124 帧 / 24 FPS，约 5.167 秒。</a:t>
            </a:r>
          </a:p>
          <a:p>
            <a:r>
              <a:t>例子：只写“一个人在雨中奔跑”用 T2VA；给跑步前后两张构图用 FL2VA；指定人物长相、动作片段和声音风格用 Ref2VA。</a:t>
            </a:r>
          </a:p>
          <a:p>
            <a:r>
              <a:t>限制：三个分支是可选路由；同时启用会分别发请求。frame 与 references 不混接。服务器必须加载对应分区，ComfyUI 切换连线不会自动加载缺失权重。模板没有内置提示词 LLM。</a:t>
            </a:r>
          </a:p>
          <a:p>
            <a:r>
              <a:t>来源：All-in-One 模板说明 https://github.com/vllm-project/vllm-omni/blob/08177216af4b44cef54ec5bdc75c265a9f0cd697/apps/ComfyUI-vLLM-Omni/docs/h3-06-all-in-one.md</a:t>
            </a:r>
          </a:p>
          <a:p/>
          <a:p>
            <a:r>
              <a:t>2. 时间轴引导：Timeline Guides [已支持节点和模板]</a:t>
            </a:r>
          </a:p>
          <a:p>
            <a:r>
              <a:t>输入：要在特定时间出现的图片、短视频或音频，以及每个素材的 frame_index。</a:t>
            </a:r>
          </a:p>
          <a:p>
            <a:r>
              <a:t>连线：Load Image / Video / Audio → Add Guide × N → Generate Video.timeline_guides → Save Video</a:t>
            </a:r>
          </a:p>
          <a:p>
            <a:r>
              <a:t>1. 每个 MiniMax H3 Add Guide 节点增加一条时间引导，串联后送入 timeline_guides。24 FPS 下 frame_index=36 对应 1.5 秒，72 对应 3 秒；负数从片尾计算。</a:t>
            </a:r>
          </a:p>
          <a:p>
            <a:r>
              <a:t>2. 服务端把条件对齐到输出时间轴。普通 reference 表达“参考什么”，timeline guide 还表达“在什么时候参考”。引导不自动变成新的 &lt;Picture N&gt; 等语义参考标签。</a:t>
            </a:r>
          </a:p>
          <a:p>
            <a:r>
              <a:t>3. 视频 guide 默认只取画面；需要声音时，从 Get Video Components 取出 audio，再接同一个 guide 的 audio。</a:t>
            </a:r>
          </a:p>
          <a:p>
            <a:r>
              <a:t>4. 可单独使用 guide，也可按接口约束和首尾帧或 Ref2VA references 组合。请求会由服务端检查帧网格、区间和冲突。</a:t>
            </a:r>
          </a:p>
          <a:p>
            <a:r>
              <a:t>例子：要求人物在 1.5 秒举杯、3 秒转向镜头，可分别放入对应构图作为锚点，引导中间过渡。</a:t>
            </a:r>
          </a:p>
          <a:p>
            <a:r>
              <a:t>限制：当前路径要求 Base H3；拒绝 FastH3、非零 request LoRA（含 Turbo）及 latent-mask editing 等组合。最多 8 条 guide；不保证严格逐像素复现或任意冲突锚点都能自然连接。</a:t>
            </a:r>
          </a:p>
          <a:p>
            <a:r>
              <a:t>来源：时间轴节点与限制 https://github.com/vllm-project/vllm-omni/blob/08177216af4b44cef54ec5bdc75c265a9f0cd697/apps/ComfyUI-vLLM-Omni/README.md#timeline-guides-minimax-h3</a:t>
            </a:r>
          </a:p>
          <a:p/>
          <a:p>
            <a:r>
              <a:t>3. 局部重绘与物体移除：WF-05 空间遮罩 [已支持 latent-mask 模板]</a:t>
            </a:r>
          </a:p>
          <a:p>
            <a:r>
              <a:t>输入：原视频、选定编辑区域的遮罩、希望生成的内容描述；需要时单独设置音频遮罩。</a:t>
            </a:r>
          </a:p>
          <a:p>
            <a:r>
              <a:t>连线：Load Video + 空间 Mask + 提示词 → Latent Mask Editing → Generate Video → Save Video</a:t>
            </a:r>
          </a:p>
          <a:p>
            <a:r>
              <a:t>1. Mask Canvas、Mask Rectangle、Combine Masks 可以画矩形；任意形状可用 Load Image (as Mask)。先看 Mask Preview 的红色覆盖区域，确认编辑范围。</a:t>
            </a:r>
          </a:p>
          <a:p>
            <a:r>
              <a:t>2. 遮罩 0 表示保留，1 表示重新生成。服务端编码原视频，以 latent 遮罩决定哪些位置保留源内容、哪些位置进行生成。</a:t>
            </a:r>
          </a:p>
          <a:p>
            <a:r>
              <a:t>3. 物体移除：遮住待去掉的物体，提示词描述应补回的背景；局部重绘：遮住目标区域，描述新内容。</a:t>
            </a:r>
          </a:p>
          <a:p>
            <a:r>
              <a:t>4. 音频有独立开关：audio mask=0 保留源音频路径，=1 重生成全段声音。只改画面时，避免误开音频编辑。</a:t>
            </a:r>
          </a:p>
          <a:p>
            <a:r>
              <a:t>例子：移除桌上的杯子，同时尽量保留人物、桌面边缘和相机运动。</a:t>
            </a:r>
          </a:p>
          <a:p>
            <a:r>
              <a:t>限制：该模板使用 FL2VA 分区。保留约束在 latent 空间，VAE 编解码后不等于像素或文件字节完全相同；遮罩过小会留边缘，运动物体需要检查逐帧覆盖。预览遮罩不运行模型。</a:t>
            </a:r>
          </a:p>
          <a:p>
            <a:r>
              <a:t>来源：WF-05 编辑模板 https://github.com/vllm-project/vllm-omni/blob/08177216af4b44cef54ec5bdc75c265a9f0cd697/apps/ComfyUI-vLLM-Omni/docs/wf05-h3-latent-editing.md</a:t>
            </a:r>
          </a:p>
          <a:p/>
          <a:p>
            <a:r>
              <a:t>4. 片段续接与延长：WF-05 时间遮罩 [已支持 latent-mask 模板]</a:t>
            </a:r>
          </a:p>
          <a:p>
            <a:r>
              <a:t>输入：原视频、目标时长和保留范围；continuation 模式还配置 preserve_fraction。</a:t>
            </a:r>
          </a:p>
          <a:p>
            <a:r>
              <a:t>连线：Load Video + Temporal Mask → Generate Video（目标时长）→ Save Video</a:t>
            </a:r>
          </a:p>
          <a:p>
            <a:r>
              <a:t>1. Continuation：保留原片开头的一部分，把后面的时间区域标成可重生成，让情节沿新提示词继续发展。</a:t>
            </a:r>
          </a:p>
          <a:p>
            <a:r>
              <a:t>2. Extension：目标时长超过原片，将追加时间区域留给模型生成。Temporal Mask 的时长应与 Generate Video 一致。</a:t>
            </a:r>
          </a:p>
          <a:p>
            <a:r>
              <a:t>3. 源视频在 latent 空间提供保留区域的约束，音频保留/重生成由独立音频遮罩决定。</a:t>
            </a:r>
          </a:p>
          <a:p>
            <a:r>
              <a:t>4. 输出是一段按目标时长编辑的完整片段，保存后检查保留边界、动作连续性和声音。</a:t>
            </a:r>
          </a:p>
          <a:p>
            <a:r>
              <a:t>例子：保留人物走入房间的开头，再生成坐下说话的后半段；或把已有短片向后延长。</a:t>
            </a:r>
          </a:p>
          <a:p>
            <a:r>
              <a:t>限制：这条 FL2VA latent-mask 路线与第 11 页自定义 Ref2VA rolling demo 不同。demo 逐轮携带 AV 尾部、生成 124 帧再裁 5 帧；时间遮罩模板不能直接解释为同一套 20% 噪声 / prefix off 配置。</a:t>
            </a:r>
          </a:p>
          <a:p>
            <a:r>
              <a:t>来源：WF-05 续接与延长 https://github.com/vllm-project/vllm-omni/blob/08177216af4b44cef54ec5bdc75c265a9f0cd697/apps/ComfyUI-vLLM-Omni/docs/wf05-h3-latent-editing.md</a:t>
            </a:r>
          </a:p>
          <a:p/>
          <a:p>
            <a:r>
              <a:t>5. SeedVR2 超分与画质修复：WF-07 [已支持本地和远端路径]</a:t>
            </a:r>
          </a:p>
          <a:p>
            <a:r>
              <a:t>输入：H3 生成的视频，或已有视频；SeedVR2 模型、输出短边/目标尺寸、批量和显存相关参数。</a:t>
            </a:r>
          </a:p>
          <a:p>
            <a:r>
              <a:t>连线：H3 VIDEO → 拆出 frames / audio / FPS → SeedVR2(frames) → Create Video + 原音轨 → Save Video</a:t>
            </a:r>
          </a:p>
          <a:p>
            <a:r>
              <a:t>1. 先让 H3 完成视频和音频生成，再把已解码的图像帧送给独立的 SeedVR2 修复模型。</a:t>
            </a:r>
          </a:p>
          <a:p>
            <a:r>
              <a:t>2. 原 WF-07 本地路径在 ComfyUI 侧加载 SeedVR2；远端路径调用单独的 vLLM-Omni SeedVR2 服务。H3 与 SeedVR2 的服务地址和模型可以不同。</a:t>
            </a:r>
          </a:p>
          <a:p>
            <a:r>
              <a:t>3. 模板示例把 1344×768 的短边设为 1536，输出约为 2688×1536；resolution 指目标短边，不是固定的 2 倍系数。</a:t>
            </a:r>
          </a:p>
          <a:p>
            <a:r>
              <a:t>4. 修复后的帧重新组成视频，接回原来的 FPS 和音轨。比较原片与修复片时同时检查细节、颜色和时间一致性。</a:t>
            </a:r>
          </a:p>
          <a:p>
            <a:r>
              <a:t>例子：生成阶段先控制成本，最后把确定采用的镜头做高分辨率交付。</a:t>
            </a:r>
          </a:p>
          <a:p>
            <a:r>
              <a:t>限制：SeedVR2 是额外模型，会增加算力、显存和耗时，也可能重建出与原片不同的细节。此处处理已解码帧，不是给 H3 历史条件加入 20% 噪声。</a:t>
            </a:r>
          </a:p>
          <a:p>
            <a:r>
              <a:t>来源：本地 WF-07 https://github.com/vllm-project/vllm-omni/blob/08177216af4b44cef54ec5bdc75c265a9f0cd697/apps/ComfyUI-vLLM-Omni/docs/wf07-h3-upscale.md</a:t>
            </a:r>
          </a:p>
          <a:p>
            <a:r>
              <a:t>远端 SeedVR2 https://github.com/vllm-project/vllm-omni/blob/08177216af4b44cef54ec5bdc75c265a9f0cd697/apps/ComfyUI-vLLM-Omni/docs/seedvr2-restoration.md</a:t>
            </a:r>
          </a:p>
          <a:p/>
          <a:p>
            <a:r>
              <a:t>6. H3 二次采样：latent refinement [后端已支持；由服务端配置]</a:t>
            </a:r>
          </a:p>
          <a:p>
            <a:r>
              <a:t>输入：首轮 H3 结果 latent、latent_refine 强度，以及可选的 latent_upscale 目标尺寸。</a:t>
            </a:r>
          </a:p>
          <a:p>
            <a:r>
              <a:t>连线：H3 首轮 latent → 可选 latent upscale → 重新加噪 → H3 去噪日程尾段 → VAE 解码</a:t>
            </a:r>
          </a:p>
          <a:p>
            <a:r>
              <a:t>1. 先在较小画布生成，再按需要放大 latent；随后重新加噪，从选定日程位置继续调用 H3 DiT。也可不放大，仅在原尺寸细化。</a:t>
            </a:r>
          </a:p>
          <a:p>
            <a:r>
              <a:t>2. 例如首轮 50 步、latent_refine=0.4，二次运行日程尾部约 20 步。这个 0.4 是请求步数的比例，不等于前文历史条件的 20% 混合系数。</a:t>
            </a:r>
          </a:p>
          <a:p>
            <a:r>
              <a:t>3. 放大 latent 只提供初始结构；二次去噪使模型能重新生成目标尺寸下的细节。强度越大，允许的内容变化通常越大。</a:t>
            </a:r>
          </a:p>
          <a:p>
            <a:r>
              <a:t>4. 音频也会重新加噪并参与细化，因此需要重新听取输出。FL2VA 首尾帧在放大后按目标尺寸重新编码。</a:t>
            </a:r>
          </a:p>
          <a:p>
            <a:r>
              <a:t>例子：先生成构图满意的低分辨率镜头，再用少量高分辨率步骤补充细节。</a:t>
            </a:r>
          </a:p>
          <a:p>
            <a:r>
              <a:t>限制：目前没有独立 ComfyUI 节点或模板，可由服务器默认配置启用。该路径只支持 request mode，并与 latent-tail continuation、latent-mask editing 等组合存在限制；可学习 latent upscaler 还需要额外权重。更高强度不保证更清晰。</a:t>
            </a:r>
          </a:p>
          <a:p>
            <a:r>
              <a:t>来源：H3 二次采样配置 https://github.com/vllm-project/vllm-omni/blob/08177216af4b44cef54ec5bdc75c265a9f0cd697/recipes/MiniMaxAI/MiniMax-H3.md#the-hi-res-route-generate-small-refine-large</a:t>
            </a:r>
          </a:p>
          <a:p/>
          <a:p>
            <a:r>
              <a:t>7. 音乐驱动视频：H3-03 已有音轨分支 [已支持 supplied-track 模板]</a:t>
            </a:r>
          </a:p>
          <a:p>
            <a:r>
              <a:t>输入：完整音乐、统一的人物/风格图片、每个镜头的提示词，以及镜头时长。</a:t>
            </a:r>
          </a:p>
          <a:p>
            <a:r>
              <a:t>连线：Load Audio → 按镜头 Trim Audio → Ref2VA(lock_source) × N → Concatenate Video + 完整原音轨</a:t>
            </a:r>
          </a:p>
          <a:p>
            <a:r>
              <a:t>1. 按 124 帧 / 24 FPS 把歌曲划成约 5.167 秒的片段。三镜头的音频起点约为 0、5.17、10.33 秒，成片为 15.5 秒。</a:t>
            </a:r>
          </a:p>
          <a:p>
            <a:r>
              <a:t>2. 每个镜头独立调用 Ref2VA：共享图片进入 Video References，当前音频切片作为 driving audio；H3 Video Params 设 audio_mode=lock_source。</a:t>
            </a:r>
          </a:p>
          <a:p>
            <a:r>
              <a:t>3. 服务端把该段音频编码到目标音频 latent 并保持固定，使画面生成能利用已知的声音时间线。它不同于仅用 &lt;Audio 1&gt; 指定声音风格。</a:t>
            </a:r>
          </a:p>
          <a:p>
            <a:r>
              <a:t>4. Concatenate Video 拼接镜头，complete_audio 接整段原始录音。这样避免逐段音频 VAE 重建造成的接缝差异；导出的 MP4 音频仍可能有容器/编码转换，不能声称字节完全一致。</a:t>
            </a:r>
          </a:p>
          <a:p>
            <a:r>
              <a:t>例子：一首歌的前三段分别用近景演唱、全身动作、舞台远景呈现，人物参考相同。</a:t>
            </a:r>
          </a:p>
          <a:p>
            <a:r>
              <a:t>限制：镜头之间没有 latent 历史接力，允许剪辑切换；不保证连续相机运动或严格卡点。lock_source 要求恰好一条驱动音频，并且不会额外生成叠加音效。YuE2 自动生成音乐分支仍依赖对应服务和节点。</a:t>
            </a:r>
          </a:p>
          <a:p>
            <a:r>
              <a:t>来源：H3-03 MV 模板 https://github.com/vllm-project/vllm-omni/blob/08177216af4b44cef54ec5bdc75c265a9f0cd697/apps/ComfyUI-vLLM-Omni/docs/h3-03-music-video.md</a:t>
            </a:r>
          </a:p>
          <a:p/>
          <a:p>
            <a:r>
              <a:t>8. ControlNet 条件控制：WF-06 [草稿 PR；未合并]</a:t>
            </a:r>
          </a:p>
          <a:p>
            <a:r>
              <a:t>输入：结构提示视频、提示词、控制类型与 strength；局部控制时还可涉及源视频和遮罩。</a:t>
            </a:r>
          </a:p>
          <a:p>
            <a:r>
              <a:t>连线：原视频 → 提取结构提示 → MiniMax-H3 Control → Generate Video → Save Video</a:t>
            </a:r>
          </a:p>
          <a:p>
            <a:r>
              <a:t>1. Pose 用骨架描述动作；Depth 用深度描述空间布局；Canny/HED 用边缘描述轮廓；MLSD 偏向直线结构；Inpaint 结合待修改区域。</a:t>
            </a:r>
          </a:p>
          <a:p>
            <a:r>
              <a:t>2. 预处理阶段把输入转换为所需提示图，ComfyUI 发送准备好的素材，服务端运行带相应 ControlNet/Union 权重的 H3。</a:t>
            </a:r>
          </a:p>
          <a:p>
            <a:r>
              <a:t>3. strength 控制结构条件的作用强度。文字描述生成外观，控制提示约束姿态、布局或轮廓；两者冲突时需要调整。</a:t>
            </a:r>
          </a:p>
          <a:p>
            <a:r>
              <a:t>例子：沿用舞者的动作骨架，改变服装或场景；沿用建筑边缘布局生成新的视觉风格。</a:t>
            </a:r>
          </a:p>
          <a:p>
            <a:r>
              <a:t>限制：当前相关前端 PR 为 draft。已有部分运行记录，但并非所有控制模式都通过最终画质验收。骨架漏检、方向错误、音频质量及不支持的组合仍需检查，不能把“请求能运行”写成质量已完成验证。</a:t>
            </a:r>
          </a:p>
          <a:p>
            <a:r>
              <a:t>来源：控制节点 PR #7492 https://github.com/vllm-project/vllm-omni/pull/7492</a:t>
            </a:r>
          </a:p>
          <a:p>
            <a:r>
              <a:t>WF-06 PR #7507 https://github.com/vllm-project/vllm-omni/pull/7507</a:t>
            </a:r>
          </a:p>
          <a:p/>
          <a:p>
            <a:r>
              <a:t>9. 角色替换：H3-04 [开放 PR；未合并]</a:t>
            </a:r>
          </a:p>
          <a:p>
            <a:r>
              <a:t>输入：提供动作、镜头和场景的原视频，以及一个或多个目标人物参考图。</a:t>
            </a:r>
          </a:p>
          <a:p>
            <a:r>
              <a:t>连线：原视频 + 新角色图片 + 身份映射提示词 → Ref2VA / 适配器 → 输出替换视频</a:t>
            </a:r>
          </a:p>
          <a:p>
            <a:r>
              <a:t>1. 单人：&lt;Video 1&gt; 提供源视频，&lt;Picture 1&gt; 提供目标角色；提示词明确希望替换谁、保留哪些动作与场景。</a:t>
            </a:r>
          </a:p>
          <a:p>
            <a:r>
              <a:t>2. 多人：使用多张图片并逐个说明人物对应关系，避免把参考身份互换或混合。</a:t>
            </a:r>
          </a:p>
          <a:p>
            <a:r>
              <a:t>3. PR 提供 LoRA 与采样控制；长片路径还需要按 continuation 窗口切分参考视频及其嵌入音频，并保持共同时间原点。</a:t>
            </a:r>
          </a:p>
          <a:p>
            <a:r>
              <a:t>例子：将表演片段中的主角替换为指定角色，同时尽量维持原来的动作与镜头。</a:t>
            </a:r>
          </a:p>
          <a:p>
            <a:r>
              <a:t>限制：它重新生成视频，不保证背景逐像素不变。PR 仍有依赖与画质验收项，长视频曾观察到重影/重复；多角色映射和跨窗口稳定性都需要实际检查。</a:t>
            </a:r>
          </a:p>
          <a:p>
            <a:r>
              <a:t>来源：H3-04 PR #9194 https://github.com/vllm-project/vllm-omni/pull/9194</a:t>
            </a:r>
          </a:p>
          <a:p/>
          <a:p>
            <a:r>
              <a:t>10. 身份参考 + 多时刻锚点：WF-04 [组合模板 PR 未合并；基础节点已存在]</a:t>
            </a:r>
          </a:p>
          <a:p>
            <a:r>
              <a:t>输入：一张人物身份参考，以及分别指定 1.5 秒、3 秒、5 秒画面的三张时间锚点。</a:t>
            </a:r>
          </a:p>
          <a:p>
            <a:r>
              <a:t>连线：人物图 → Video References ─┐</a:t>
            </a:r>
          </a:p>
          <a:p>
            <a:r>
              <a:t>三张构图 → Add Guide(36 → 72 → 120) ─┴→ Generate Video → Save Video</a:t>
            </a:r>
          </a:p>
          <a:p>
            <a:r>
              <a:t>1. 身份图进入 Video References，在提示词中以 &lt;Picture 1&gt; 表达“是谁”。三张锚点进入 Add Guide，分别使用 frame_index 36、72、120。</a:t>
            </a:r>
          </a:p>
          <a:p>
            <a:r>
              <a:t>2. 124 帧片段中，服务端同时利用人物身份参考和时间轴构图条件生成过渡。提示词用时间描述后续锚点，不能把 guide 错当成新的 &lt;Picture 2/3/4&gt;。</a:t>
            </a:r>
          </a:p>
          <a:p>
            <a:r>
              <a:t>3. 现有节点已经可以手动连出此结构；PR 补充可导入的完整模板、约束说明和连线测试。</a:t>
            </a:r>
          </a:p>
          <a:p>
            <a:r>
              <a:t>例子：同一角色先正面站立，1.5 秒举手，3 秒侧身，5 秒坐下；各锚点应在动作与构图上可衔接。</a:t>
            </a:r>
          </a:p>
          <a:p>
            <a:r>
              <a:t>限制：使用 Base H3，遵守 timeline guide 的组合限制。身份参考不自动锁定输出首帧；指定锚点也不保证任意跨度的运动都自然。</a:t>
            </a:r>
          </a:p>
          <a:p>
            <a:r>
              <a:t>来源：多锚点 PR #9420 https://github.com/vllm-project/vllm-omni/pull/9420</a:t>
            </a:r>
          </a:p>
          <a:p/>
          <a:p>
            <a:r>
              <a:t>11. 长篇叙事、长视频与可重复数字人：H3-01 / 02 / 05 [完整制作模板属于 RFC 提案]</a:t>
            </a:r>
          </a:p>
          <a:p>
            <a:r>
              <a:t>输入：分镜或回复文本、人物与场景参考、音频策略、每段时长以及段间接续策略。</a:t>
            </a:r>
          </a:p>
          <a:p>
            <a:r>
              <a:t>连线：剧本 / 对话 → 分镜与参考 → 分段生成或续接 → 检查边界与音轨 → 保存、拼接、继续</a:t>
            </a:r>
          </a:p>
          <a:p>
            <a:r>
              <a:t>1. H3-01 文戏/叙事：逐镜头编写动作、对白与相机要求，共享必要的人物/场景参考，最后保留音频完成组装。</a:t>
            </a:r>
          </a:p>
          <a:p>
            <a:r>
              <a:t>2. H3-02 长视频：生成有界片段，明确重叠多少、保留哪段、裁掉哪段，处理 AV 时间轴和段间接缝。</a:t>
            </a:r>
          </a:p>
          <a:p>
            <a:r>
              <a:t>3. H3-05 数字人：重复生成同一角色的说话/倾听片段，结合输入、回复、音频对齐、片段持久化与恢复机制，组成可持续运行的应用。</a:t>
            </a:r>
          </a:p>
          <a:p>
            <a:r>
              <a:t>4. 第 11 页 demo 已演示一条自定义 Ref2VA AV-tail 路线；把它做成完整、可移植的 ComfyUI 制作模板，仍需要对应编排与验证。</a:t>
            </a:r>
          </a:p>
          <a:p>
            <a:r>
              <a:t>例子：对话短剧使用多镜头剪辑；数字人使用连续回复片段。两者对无缝动作、身份和音频的要求不同。</a:t>
            </a:r>
          </a:p>
          <a:p>
            <a:r>
              <a:t>限制：“无限”表示可以重复请求，不表示单次推理无限长、永不漂移或必然实时。FL2VA 末帧接首帧、latent-mask 续接和 Ref2VA AV-tail 都应按任务比较，不能混称为同一种接续。</a:t>
            </a:r>
          </a:p>
          <a:p>
            <a:r>
              <a:t>来源：制作工作流 RFC #8251 https://github.com/vllm-project/vllm-omni/issues/8251</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This is the presenter's planned open-source developer tool for end-to-end video generation and editing, with a backend designed to use models served by vLLM-Omni. Video Studio is a descriptive working title, not an announced official product name. No repository, release date, completion status, UI screenshot or tested model matrix was supplied, so none is asserted. Prompt/assets → generation → editing/assembly → export is a conceptual product flow, not a screenshot or completed integration. Model serving is the inference backend; it is not described as implementing the editing UI. Source for the plan: user instruction in this conversation.</a:t>
            </a:r>
          </a:p>
          <a:p>
            <a:r>
              <a:t>Presenter-provided target, 2026-10-31: expected open-source release in early November 2026. This is a plan, not a confirmed release or completed integration.</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Replaced the prior GitHub and official general-WeChat QR codes with all three user-supplied group invitations, as explicitly requested on 2026-10-31. Source repository lishunyang12/vllm-omni-rankings at 49fc3c9ef469ed6b3ac1579eaa4ead3c89d7872d. Visible labels translate the group names shown in the original images: vLLM-Omni ComfyUI developer community; Agentic video generation with minimax-h3; vLLM Study Group Shenzhen. These are presenter-supplied community groups, not a claim of official project administration. Images are embedded byte-for-byte and cropped natively to retain the full QR and white quiet zone. All source images state validity before November 7, shown as 7 Nov 2026 for this presentation. Successful decoding is tested on originals and the rendered slide; no WeChat account admission is tested. GitHub and official Slack remain text links. Previous images stay only as archived assets and are not displayed. No benchmark, demo or continuation settings changed.</a:t>
            </a:r>
          </a:p>
          <a:p>
            <a:r>
              <a:t>Four community entries: the three presenter-supplied WeChat invitations from v1.61, plus the user-provided vLLM Bilibili channel. Bilibili URL is https://space.bilibili.com/189708420 with tracking parameters removed. Public account-card API returned mid 189708420 and account name vllm_project; its description links vllm-project/vllm. Channel lead Wang Zhipeng (princepride), a vLLM-Omni maintainer, links this exact URL as the vLLM Bilibili channel in https://github.com/princepride/princepride . Official channel is the presenter/project-channel designation, not a claim of a Bilibili verification badge. QR generated directly from the clean URL, with no redirect service. WeChat expiry applies only to the three group invitations. All four rendered QR codes are checked against expected destinations. No benchmark/demo changes.</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image is the official vLLM-Omni architecture. The right image is the official ComfyUI extension H3 workflow screenshot. Both are reproduced without modifications from upstream commit 08177216af4b44cef54ec5bdc75c265a9f0cd697. ComfyUI sends requests to the model service; generated video and audio return to the workflow. The screenshot illustrates the interface, not the benchmark configuration or a new result. ComfyUI does not load the H3 weights for this remote-serving integration. The next slide lists supported and proposed workflows. Source images: https://github.com/vllm-project/vllm-omni/blob/08177216af4b44cef54ec5bdc75c265a9f0cd697/docs/source/architecture/vllm-omni-main-architecture.png ; https://github.com/vllm-project/vllm-omni/blob/08177216af4b44cef54ec5bdc75c265a9f0cd697/apps/ComfyUI-vLLM-Omni/docs/images/comfyui-video-generation.jpg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lishunyang12.github.io/fasth3-omni-evaluation-20261018/slides/minimax-h3-real-time-inference-20261025/v1.42/demo-config.html" TargetMode="External"/><Relationship Id="rId3" Type="http://schemas.openxmlformats.org/officeDocument/2006/relationships/image" Target="../media/image27.jpg"/><Relationship Id="rId4" Type="http://schemas.openxmlformats.org/officeDocument/2006/relationships/image" Target="../media/image36.png"/><Relationship Id="rId5" Type="http://schemas.openxmlformats.org/officeDocument/2006/relationships/image" Target="../media/image16.png"/><Relationship Id="rId6" Type="http://schemas.openxmlformats.org/officeDocument/2006/relationships/notesSlide" Target="../notesSlides/notesSlide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6.png"/><Relationship Id="rId3" Type="http://schemas.openxmlformats.org/officeDocument/2006/relationships/image" Target="../media/image38.jpg"/><Relationship Id="rId4" Type="http://schemas.openxmlformats.org/officeDocument/2006/relationships/notesSlide" Target="../notesSlides/notesSlide4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9.png"/><Relationship Id="rId3" Type="http://schemas.openxmlformats.org/officeDocument/2006/relationships/hyperlink" Target="https://github.com/vllm-project/vllm-omni" TargetMode="External"/><Relationship Id="rId4" Type="http://schemas.openxmlformats.org/officeDocument/2006/relationships/hyperlink" Target="https://blog.vllm.ai/2025/11/30/vllm-omni.html" TargetMode="External"/><Relationship Id="rId5" Type="http://schemas.openxmlformats.org/officeDocument/2006/relationships/hyperlink" Target="https://communityinviter.com/apps/vllm-dev/join-vllm-developers-slack" TargetMode="External"/><Relationship Id="rId6" Type="http://schemas.openxmlformats.org/officeDocument/2006/relationships/notesSlide" Target="../notesSlides/notesSlide40.xml"/><Relationship Id="rId7" Type="http://schemas.openxmlformats.org/officeDocument/2006/relationships/hyperlink" Target="https://docs.vllm.ai/projects/vllm-omni/en/latest/" TargetMode="External"/><Relationship Id="rId8" Type="http://schemas.openxmlformats.org/officeDocument/2006/relationships/hyperlink" Target="https://slack.vllm.ai/" TargetMode="External"/><Relationship Id="rId9" Type="http://schemas.openxmlformats.org/officeDocument/2006/relationships/image" Target="../media/image40.png"/><Relationship Id="rId10" Type="http://schemas.openxmlformats.org/officeDocument/2006/relationships/image" Target="../media/image41.jpg"/><Relationship Id="rId11" Type="http://schemas.openxmlformats.org/officeDocument/2006/relationships/hyperlink" Target="https://github.com/vllm-project/vllm-omni/blob/main/docs/assets/WeChat.jpg" TargetMode="External"/><Relationship Id="rId12" Type="http://schemas.openxmlformats.org/officeDocument/2006/relationships/image" Target="../media/image42.jpg"/><Relationship Id="rId13" Type="http://schemas.openxmlformats.org/officeDocument/2006/relationships/hyperlink" Target="https://weixin.qq.com/g/AwYAAHhx4gFuMGSL6NVw4SfvXKH3V9x-vCtiB65mXT4TuIanYYEYs0cf6xEoxGtT" TargetMode="External"/><Relationship Id="rId14" Type="http://schemas.openxmlformats.org/officeDocument/2006/relationships/image" Target="../media/image43.jpg"/><Relationship Id="rId15" Type="http://schemas.openxmlformats.org/officeDocument/2006/relationships/hyperlink" Target="https://weixin.qq.com/g/AwYAAB48ag0RuITp2dLABuJbom9x2kAW_M7cGkQGkAfpIW2PaXyyf_JBnPb_WJFF" TargetMode="External"/><Relationship Id="rId16" Type="http://schemas.openxmlformats.org/officeDocument/2006/relationships/image" Target="../media/image44.jpg"/><Relationship Id="rId17" Type="http://schemas.openxmlformats.org/officeDocument/2006/relationships/hyperlink" Target="https://weixin.qq.com/g/AwYAAEbKKniFtWy9HYbvMYz3vS7bnQO4rS4-cdeYxjYGIcgPFme-5WK4lrXja7E5" TargetMode="External"/><Relationship Id="rId18" Type="http://schemas.openxmlformats.org/officeDocument/2006/relationships/image" Target="../media/image45.png"/><Relationship Id="rId19" Type="http://schemas.openxmlformats.org/officeDocument/2006/relationships/hyperlink" Target="https://space.bilibili.com/189708420"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2026-11-01</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2</a:t>
            </a:r>
          </a:p>
        </p:txBody>
      </p:sp>
      <p:sp>
        <p:nvSpPr>
          <p:cNvPr id="3" name="Text Placeholder 2"/>
          <p:cNvSpPr>
            <a:spLocks noGrp="1"/>
          </p:cNvSpPr>
          <p:nvPr>
            <p:ph type="body" idx="13" sz="quarter"/>
          </p:nvPr>
        </p:nvSpPr>
        <p:spPr/>
        <p:txBody>
          <a:bodyPr/>
          <a:lstStyle/>
          <a:p>
            <a:r>
              <a:t>A large dense backbone for joint audio–video generation.</a:t>
            </a:r>
          </a:p>
        </p:txBody>
      </p:sp>
      <p:sp>
        <p:nvSpPr>
          <p:cNvPr id="4" name="Title 3"/>
          <p:cNvSpPr>
            <a:spLocks noGrp="1"/>
          </p:cNvSpPr>
          <p:nvPr>
            <p:ph type="title"/>
          </p:nvPr>
        </p:nvSpPr>
        <p:spPr/>
        <p:txBody>
          <a:bodyPr/>
          <a:lstStyle/>
          <a:p>
            <a:r>
              <a:rPr sz="8800"/>
              <a:t>MiniMax H3 in Context</a:t>
            </a:r>
          </a:p>
        </p:txBody>
      </p:sp>
      <p:sp>
        <p:nvSpPr>
          <p:cNvPr id="5" name="Comparison heading"/>
          <p:cNvSpPr txBox="1"/>
          <p:nvPr/>
        </p:nvSpPr>
        <p:spPr>
          <a:xfrm>
            <a:off x="1828800" y="5486400"/>
            <a:ext cx="21031200" cy="914400"/>
          </a:xfrm>
          <a:prstGeom prst="rect">
            <a:avLst/>
          </a:prstGeom>
          <a:noFill/>
        </p:spPr>
        <p:txBody>
          <a:bodyPr wrap="square" lIns="0" rIns="0" tIns="0" bIns="0">
            <a:spAutoFit/>
          </a:bodyPr>
          <a:lstStyle/>
          <a:p>
            <a:pPr>
              <a:spcBef>
                <a:spcPts val="0"/>
              </a:spcBef>
              <a:spcAft>
                <a:spcPts val="0"/>
              </a:spcAft>
            </a:pPr>
            <a:r>
              <a:rPr sz="4500" b="0">
                <a:solidFill>
                  <a:srgbClr val="000000"/>
                </a:solidFill>
                <a:latin typeface="NVIDIA Sans Medium"/>
              </a:rPr>
              <a:t>Generative backbone parameters</a:t>
            </a:r>
          </a:p>
        </p:txBody>
      </p:sp>
      <p:sp>
        <p:nvSpPr>
          <p:cNvPr id="6" name="Model 0"/>
          <p:cNvSpPr txBox="1"/>
          <p:nvPr/>
        </p:nvSpPr>
        <p:spPr>
          <a:xfrm>
            <a:off x="1828800" y="736092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Medium"/>
              </a:rPr>
              <a:t>MiniMax H3</a:t>
            </a:r>
          </a:p>
        </p:txBody>
      </p:sp>
      <p:sp>
        <p:nvSpPr>
          <p:cNvPr id="7" name="Size 0"/>
          <p:cNvSpPr txBox="1"/>
          <p:nvPr/>
        </p:nvSpPr>
        <p:spPr>
          <a:xfrm>
            <a:off x="12801600" y="7360920"/>
            <a:ext cx="1005840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33B · dense</a:t>
            </a:r>
          </a:p>
        </p:txBody>
      </p:sp>
      <p:sp>
        <p:nvSpPr>
          <p:cNvPr id="8" name="Parameter bar 0"/>
          <p:cNvSpPr/>
          <p:nvPr/>
        </p:nvSpPr>
        <p:spPr>
          <a:xfrm>
            <a:off x="1828800" y="8385048"/>
            <a:ext cx="20116800" cy="4114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odel 1"/>
          <p:cNvSpPr txBox="1"/>
          <p:nvPr/>
        </p:nvSpPr>
        <p:spPr>
          <a:xfrm>
            <a:off x="1828800" y="973836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Wan2.2 A14B</a:t>
            </a:r>
          </a:p>
        </p:txBody>
      </p:sp>
      <p:sp>
        <p:nvSpPr>
          <p:cNvPr id="10" name="Size 1"/>
          <p:cNvSpPr txBox="1"/>
          <p:nvPr/>
        </p:nvSpPr>
        <p:spPr>
          <a:xfrm>
            <a:off x="12801600" y="973836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27B total · 14B active</a:t>
            </a:r>
          </a:p>
        </p:txBody>
      </p:sp>
      <p:sp>
        <p:nvSpPr>
          <p:cNvPr id="11" name="Parameter bar 1"/>
          <p:cNvSpPr/>
          <p:nvPr/>
        </p:nvSpPr>
        <p:spPr>
          <a:xfrm>
            <a:off x="1828800" y="10762488"/>
            <a:ext cx="16459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odel 2"/>
          <p:cNvSpPr txBox="1"/>
          <p:nvPr/>
        </p:nvSpPr>
        <p:spPr>
          <a:xfrm>
            <a:off x="1828800" y="1211580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LTX-2.5</a:t>
            </a:r>
          </a:p>
        </p:txBody>
      </p:sp>
      <p:sp>
        <p:nvSpPr>
          <p:cNvPr id="13" name="Size 2"/>
          <p:cNvSpPr txBox="1"/>
          <p:nvPr/>
        </p:nvSpPr>
        <p:spPr>
          <a:xfrm>
            <a:off x="12801600" y="1211580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22B</a:t>
            </a:r>
          </a:p>
        </p:txBody>
      </p:sp>
      <p:sp>
        <p:nvSpPr>
          <p:cNvPr id="14" name="Parameter bar 2"/>
          <p:cNvSpPr/>
          <p:nvPr/>
        </p:nvSpPr>
        <p:spPr>
          <a:xfrm>
            <a:off x="1828800" y="13139928"/>
            <a:ext cx="13411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odel 3"/>
          <p:cNvSpPr txBox="1"/>
          <p:nvPr/>
        </p:nvSpPr>
        <p:spPr>
          <a:xfrm>
            <a:off x="1828800" y="1449324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HunyuanVideo-1.5</a:t>
            </a:r>
          </a:p>
        </p:txBody>
      </p:sp>
      <p:sp>
        <p:nvSpPr>
          <p:cNvPr id="16" name="Size 3"/>
          <p:cNvSpPr txBox="1"/>
          <p:nvPr/>
        </p:nvSpPr>
        <p:spPr>
          <a:xfrm>
            <a:off x="12801600" y="1449324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8.3B</a:t>
            </a:r>
          </a:p>
        </p:txBody>
      </p:sp>
      <p:sp>
        <p:nvSpPr>
          <p:cNvPr id="17" name="Parameter bar 3"/>
          <p:cNvSpPr/>
          <p:nvPr/>
        </p:nvSpPr>
        <p:spPr>
          <a:xfrm>
            <a:off x="1828800" y="15517368"/>
            <a:ext cx="505968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mparison divider"/>
          <p:cNvCxnSpPr/>
          <p:nvPr/>
        </p:nvCxnSpPr>
        <p:spPr>
          <a:xfrm>
            <a:off x="23774400" y="5623560"/>
            <a:ext cx="0" cy="1101852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H3 capability 0"/>
          <p:cNvSpPr txBox="1"/>
          <p:nvPr/>
        </p:nvSpPr>
        <p:spPr>
          <a:xfrm>
            <a:off x="25603200" y="60350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Audio + video</a:t>
            </a:r>
          </a:p>
        </p:txBody>
      </p:sp>
      <p:sp>
        <p:nvSpPr>
          <p:cNvPr id="20" name="H3 explanation 0"/>
          <p:cNvSpPr txBox="1"/>
          <p:nvPr/>
        </p:nvSpPr>
        <p:spPr>
          <a:xfrm>
            <a:off x="25603200" y="74523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Generated together</a:t>
            </a:r>
          </a:p>
        </p:txBody>
      </p:sp>
      <p:sp>
        <p:nvSpPr>
          <p:cNvPr id="21" name="H3 capability 1"/>
          <p:cNvSpPr txBox="1"/>
          <p:nvPr/>
        </p:nvSpPr>
        <p:spPr>
          <a:xfrm>
            <a:off x="25603200" y="96926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Multimodal context</a:t>
            </a:r>
          </a:p>
        </p:txBody>
      </p:sp>
      <p:sp>
        <p:nvSpPr>
          <p:cNvPr id="22" name="H3 explanation 1"/>
          <p:cNvSpPr txBox="1"/>
          <p:nvPr/>
        </p:nvSpPr>
        <p:spPr>
          <a:xfrm>
            <a:off x="25603200" y="111099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Text, image, video and audio</a:t>
            </a:r>
          </a:p>
        </p:txBody>
      </p:sp>
      <p:sp>
        <p:nvSpPr>
          <p:cNvPr id="23" name="H3 capability 2"/>
          <p:cNvSpPr txBox="1"/>
          <p:nvPr/>
        </p:nvSpPr>
        <p:spPr>
          <a:xfrm>
            <a:off x="25603200" y="133502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Native 768p</a:t>
            </a:r>
          </a:p>
        </p:txBody>
      </p:sp>
      <p:sp>
        <p:nvSpPr>
          <p:cNvPr id="24" name="H3 explanation 2"/>
          <p:cNvSpPr txBox="1"/>
          <p:nvPr/>
        </p:nvSpPr>
        <p:spPr>
          <a:xfrm>
            <a:off x="25603200" y="14767559"/>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Open H3-Base capability</a:t>
            </a:r>
          </a:p>
        </p:txBody>
      </p:sp>
      <p:sp>
        <p:nvSpPr>
          <p:cNvPr id="25" name="Model insight"/>
          <p:cNvSpPr txBox="1"/>
          <p:nvPr/>
        </p:nvSpPr>
        <p:spPr>
          <a:xfrm>
            <a:off x="1828800" y="17876520"/>
            <a:ext cx="32918400" cy="960120"/>
          </a:xfrm>
          <a:prstGeom prst="rect">
            <a:avLst/>
          </a:prstGeom>
          <a:noFill/>
        </p:spPr>
        <p:txBody>
          <a:bodyPr wrap="square" lIns="0" rIns="0" tIns="0" bIns="0">
            <a:spAutoFit/>
          </a:bodyPr>
          <a:lstStyle/>
          <a:p>
            <a:pPr>
              <a:spcBef>
                <a:spcPts val="0"/>
              </a:spcBef>
              <a:spcAft>
                <a:spcPts val="0"/>
              </a:spcAft>
            </a:pPr>
            <a:r>
              <a:rPr sz="4100" b="0">
                <a:solidFill>
                  <a:srgbClr val="000000"/>
                </a:solidFill>
                <a:latin typeface="NVIDIA Sans Medium"/>
              </a:rPr>
              <a:t>The challenge: fit the complete audio–video pipeline into a ~5 s budget.</a:t>
            </a:r>
          </a:p>
        </p:txBody>
      </p:sp>
      <p:sp>
        <p:nvSpPr>
          <p:cNvPr id="26" name="Comparison scope"/>
          <p:cNvSpPr txBox="1"/>
          <p:nvPr/>
        </p:nvSpPr>
        <p:spPr>
          <a:xfrm>
            <a:off x="1828800" y="19202400"/>
            <a:ext cx="32918400"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Published full backbone sizes; encoders excluded. Parameter count is not a latency or quality ranking.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3</a:t>
            </a:r>
          </a:p>
        </p:txBody>
      </p:sp>
      <p:sp>
        <p:nvSpPr>
          <p:cNvPr id="3" name="Text Placeholder 2"/>
          <p:cNvSpPr>
            <a:spLocks noGrp="1"/>
          </p:cNvSpPr>
          <p:nvPr>
            <p:ph type="body" idx="13" sz="quarter"/>
          </p:nvPr>
        </p:nvSpPr>
        <p:spPr/>
        <p:txBody>
          <a:bodyPr/>
          <a:lstStyle/>
          <a:p>
            <a:r>
              <a:t>Compute-rich, bandwidth-modest</a:t>
            </a:r>
          </a:p>
        </p:txBody>
      </p:sp>
      <p:sp>
        <p:nvSpPr>
          <p:cNvPr id="4" name="Title 3"/>
          <p:cNvSpPr>
            <a:spLocks noGrp="1"/>
          </p:cNvSpPr>
          <p:nvPr>
            <p:ph type="title"/>
          </p:nvPr>
        </p:nvSpPr>
        <p:spPr/>
        <p:txBody>
          <a:bodyPr/>
          <a:lstStyle/>
          <a:p>
            <a:r>
              <a:rPr sz="8800"/>
              <a:t>SM120 Cards</a:t>
            </a:r>
          </a:p>
        </p:txBody>
      </p:sp>
      <p:sp>
        <p:nvSpPr>
          <p:cNvPr id="5" name="Reference GPU frame"/>
          <p:cNvSpPr/>
          <p:nvPr/>
        </p:nvSpPr>
        <p:spPr>
          <a:xfrm>
            <a:off x="1828800" y="5486400"/>
            <a:ext cx="24688800" cy="3931920"/>
          </a:xfrm>
          <a:prstGeom prst="rect">
            <a:avLst/>
          </a:prstGeom>
          <a:solidFill>
            <a:srgbClr val="FFFFFF"/>
          </a:solidFill>
          <a:ln w="508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PU model"/>
          <p:cNvSpPr txBox="1"/>
          <p:nvPr/>
        </p:nvSpPr>
        <p:spPr>
          <a:xfrm>
            <a:off x="2834640" y="6492240"/>
            <a:ext cx="22860000" cy="2011680"/>
          </a:xfrm>
          <a:prstGeom prst="rect">
            <a:avLst/>
          </a:prstGeom>
          <a:noFill/>
        </p:spPr>
        <p:txBody>
          <a:bodyPr wrap="square" lIns="0" rIns="0" tIns="0" bIns="0">
            <a:spAutoFit/>
          </a:bodyPr>
          <a:lstStyle/>
          <a:p>
            <a:pPr>
              <a:spcBef>
                <a:spcPts val="0"/>
              </a:spcBef>
              <a:spcAft>
                <a:spcPts val="0"/>
              </a:spcAft>
            </a:pPr>
            <a:r>
              <a:rPr sz="10400" b="0">
                <a:solidFill>
                  <a:srgbClr val="000000"/>
                </a:solidFill>
                <a:latin typeface="NVIDIA Sans Medium"/>
              </a:rPr>
              <a:t>RTX PRO 5000</a:t>
            </a:r>
          </a:p>
        </p:txBody>
      </p:sp>
      <p:sp>
        <p:nvSpPr>
          <p:cNvPr id="7" name="GPU count"/>
          <p:cNvSpPr txBox="1"/>
          <p:nvPr/>
        </p:nvSpPr>
        <p:spPr>
          <a:xfrm>
            <a:off x="27889200" y="5760720"/>
            <a:ext cx="6858000" cy="3291840"/>
          </a:xfrm>
          <a:prstGeom prst="rect">
            <a:avLst/>
          </a:prstGeom>
          <a:noFill/>
        </p:spPr>
        <p:txBody>
          <a:bodyPr wrap="square" lIns="0" rIns="0" tIns="0" bIns="0">
            <a:spAutoFit/>
          </a:bodyPr>
          <a:lstStyle/>
          <a:p>
            <a:pPr>
              <a:spcBef>
                <a:spcPts val="0"/>
              </a:spcBef>
              <a:spcAft>
                <a:spcPts val="0"/>
              </a:spcAft>
            </a:pPr>
            <a:r>
              <a:rPr sz="17400" b="0">
                <a:solidFill>
                  <a:srgbClr val="76B900"/>
                </a:solidFill>
                <a:latin typeface="NVIDIA Sans Medium"/>
              </a:rPr>
              <a:t>×8</a:t>
            </a:r>
          </a:p>
        </p:txBody>
      </p:sp>
      <p:sp>
        <p:nvSpPr>
          <p:cNvPr id="8" name="Spec SMs"/>
          <p:cNvSpPr txBox="1"/>
          <p:nvPr/>
        </p:nvSpPr>
        <p:spPr>
          <a:xfrm>
            <a:off x="18288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SMs</a:t>
            </a:r>
          </a:p>
        </p:txBody>
      </p:sp>
      <p:sp>
        <p:nvSpPr>
          <p:cNvPr id="9" name="Value SMs"/>
          <p:cNvSpPr txBox="1"/>
          <p:nvPr/>
        </p:nvSpPr>
        <p:spPr>
          <a:xfrm>
            <a:off x="18288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110</a:t>
            </a:r>
          </a:p>
        </p:txBody>
      </p:sp>
      <p:sp>
        <p:nvSpPr>
          <p:cNvPr id="10" name="Spec Memory"/>
          <p:cNvSpPr txBox="1"/>
          <p:nvPr/>
        </p:nvSpPr>
        <p:spPr>
          <a:xfrm>
            <a:off x="102870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Memory</a:t>
            </a:r>
          </a:p>
        </p:txBody>
      </p:sp>
      <p:sp>
        <p:nvSpPr>
          <p:cNvPr id="11" name="Value Memory"/>
          <p:cNvSpPr txBox="1"/>
          <p:nvPr/>
        </p:nvSpPr>
        <p:spPr>
          <a:xfrm>
            <a:off x="102870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72 GB</a:t>
            </a:r>
          </a:p>
          <a:p>
            <a:pPr>
              <a:spcBef>
                <a:spcPts val="0"/>
              </a:spcBef>
              <a:spcAft>
                <a:spcPts val="0"/>
              </a:spcAft>
            </a:pPr>
            <a:r>
              <a:rPr sz="4700" b="0">
                <a:solidFill>
                  <a:srgbClr val="000000"/>
                </a:solidFill>
                <a:latin typeface="NVIDIA Sans Medium"/>
              </a:rPr>
              <a:t>GDDR7 ECC</a:t>
            </a:r>
          </a:p>
        </p:txBody>
      </p:sp>
      <p:sp>
        <p:nvSpPr>
          <p:cNvPr id="12" name="Spec Power"/>
          <p:cNvSpPr txBox="1"/>
          <p:nvPr/>
        </p:nvSpPr>
        <p:spPr>
          <a:xfrm>
            <a:off x="187452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Power</a:t>
            </a:r>
          </a:p>
        </p:txBody>
      </p:sp>
      <p:sp>
        <p:nvSpPr>
          <p:cNvPr id="13" name="Value Power"/>
          <p:cNvSpPr txBox="1"/>
          <p:nvPr/>
        </p:nvSpPr>
        <p:spPr>
          <a:xfrm>
            <a:off x="187452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300 W</a:t>
            </a:r>
          </a:p>
        </p:txBody>
      </p:sp>
      <p:sp>
        <p:nvSpPr>
          <p:cNvPr id="14" name="Spec Interconnect"/>
          <p:cNvSpPr txBox="1"/>
          <p:nvPr/>
        </p:nvSpPr>
        <p:spPr>
          <a:xfrm>
            <a:off x="272034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Interconnect</a:t>
            </a:r>
          </a:p>
        </p:txBody>
      </p:sp>
      <p:sp>
        <p:nvSpPr>
          <p:cNvPr id="15" name="Value Interconnect"/>
          <p:cNvSpPr txBox="1"/>
          <p:nvPr/>
        </p:nvSpPr>
        <p:spPr>
          <a:xfrm>
            <a:off x="272034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PCIe Gen5 ×16</a:t>
            </a:r>
          </a:p>
        </p:txBody>
      </p:sp>
      <p:cxnSp>
        <p:nvCxnSpPr>
          <p:cNvPr id="16" name="Hardware contrast divider"/>
          <p:cNvCxnSpPr/>
          <p:nvPr/>
        </p:nvCxnSpPr>
        <p:spPr>
          <a:xfrm>
            <a:off x="18288000" y="15544800"/>
            <a:ext cx="0" cy="274320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7" name="Compute advantage"/>
          <p:cNvSpPr txBox="1"/>
          <p:nvPr/>
        </p:nvSpPr>
        <p:spPr>
          <a:xfrm>
            <a:off x="1828800" y="15636240"/>
            <a:ext cx="16002000" cy="91440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Blackwell Tensor Cores</a:t>
            </a:r>
          </a:p>
        </p:txBody>
      </p:sp>
      <p:sp>
        <p:nvSpPr>
          <p:cNvPr id="18" name="Compute explanation"/>
          <p:cNvSpPr txBox="1"/>
          <p:nvPr/>
        </p:nvSpPr>
        <p:spPr>
          <a:xfrm>
            <a:off x="1828800" y="17053560"/>
            <a:ext cx="16002000" cy="91440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Native FP4 compute</a:t>
            </a:r>
          </a:p>
        </p:txBody>
      </p:sp>
      <p:sp>
        <p:nvSpPr>
          <p:cNvPr id="19" name="Communication constraint"/>
          <p:cNvSpPr txBox="1"/>
          <p:nvPr/>
        </p:nvSpPr>
        <p:spPr>
          <a:xfrm>
            <a:off x="20116800" y="15636240"/>
            <a:ext cx="14630400" cy="914400"/>
          </a:xfrm>
          <a:prstGeom prst="rect">
            <a:avLst/>
          </a:prstGeom>
          <a:noFill/>
        </p:spPr>
        <p:txBody>
          <a:bodyPr wrap="square" lIns="0" rIns="0" tIns="0" bIns="0">
            <a:spAutoFit/>
          </a:bodyPr>
          <a:lstStyle/>
          <a:p>
            <a:pPr>
              <a:spcBef>
                <a:spcPts val="0"/>
              </a:spcBef>
              <a:spcAft>
                <a:spcPts val="0"/>
              </a:spcAft>
            </a:pPr>
            <a:r>
              <a:rPr sz="4300" b="0">
                <a:solidFill>
                  <a:srgbClr val="000000"/>
                </a:solidFill>
                <a:latin typeface="NVIDIA Sans Medium"/>
              </a:rPr>
              <a:t>No GPU NVLink</a:t>
            </a:r>
          </a:p>
        </p:txBody>
      </p:sp>
      <p:sp>
        <p:nvSpPr>
          <p:cNvPr id="20" name="Communication rate"/>
          <p:cNvSpPr txBox="1"/>
          <p:nvPr/>
        </p:nvSpPr>
        <p:spPr>
          <a:xfrm>
            <a:off x="20116800" y="17053560"/>
            <a:ext cx="14630400" cy="9144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64 GB/s PCIe per GPU, one way*</a:t>
            </a:r>
          </a:p>
        </p:txBody>
      </p:sp>
      <p:sp>
        <p:nvSpPr>
          <p:cNvPr id="21" name="Hardwar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*Raw nominal Gen5 ×16 capacity. The constraint here is inter-GPU communication relative to on-card compute.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4</a:t>
            </a:r>
          </a:p>
        </p:txBody>
      </p:sp>
      <p:sp>
        <p:nvSpPr>
          <p:cNvPr id="3" name="Text Placeholder 2"/>
          <p:cNvSpPr>
            <a:spLocks noGrp="1"/>
          </p:cNvSpPr>
          <p:nvPr>
            <p:ph type="body" idx="13" sz="quarter"/>
          </p:nvPr>
        </p:nvSpPr>
        <p:spPr/>
        <p:txBody>
          <a:bodyPr/>
          <a:lstStyle/>
          <a:p>
            <a:r>
              <a:t>960 × 544 · 5.167 s generated video</a:t>
            </a:r>
          </a:p>
        </p:txBody>
      </p:sp>
      <p:sp>
        <p:nvSpPr>
          <p:cNvPr id="4" name="Title 3"/>
          <p:cNvSpPr>
            <a:spLocks noGrp="1"/>
          </p:cNvSpPr>
          <p:nvPr>
            <p:ph type="title"/>
          </p:nvPr>
        </p:nvSpPr>
        <p:spPr/>
        <p:txBody>
          <a:bodyPr/>
          <a:lstStyle/>
          <a:p>
            <a:r>
              <a:rPr sz="8800"/>
              <a:t>Baseline: Latency Breakdown</a:t>
            </a:r>
          </a:p>
        </p:txBody>
      </p:sp>
      <p:sp>
        <p:nvSpPr>
          <p:cNvPr id="5" name="Config heading"/>
          <p:cNvSpPr txBox="1"/>
          <p:nvPr/>
        </p:nvSpPr>
        <p:spPr>
          <a:xfrm>
            <a:off x="1828800" y="5486400"/>
            <a:ext cx="141732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Reference configuration</a:t>
            </a:r>
          </a:p>
        </p:txBody>
      </p:sp>
      <p:sp>
        <p:nvSpPr>
          <p:cNvPr id="6" name="E2E number"/>
          <p:cNvSpPr txBox="1"/>
          <p:nvPr/>
        </p:nvSpPr>
        <p:spPr>
          <a:xfrm>
            <a:off x="1828800" y="7406640"/>
            <a:ext cx="13898880" cy="2468880"/>
          </a:xfrm>
          <a:prstGeom prst="rect">
            <a:avLst/>
          </a:prstGeom>
          <a:noFill/>
        </p:spPr>
        <p:txBody>
          <a:bodyPr wrap="square" lIns="0" rIns="0" tIns="0" bIns="0">
            <a:spAutoFit/>
          </a:bodyPr>
          <a:lstStyle/>
          <a:p>
            <a:pPr>
              <a:spcBef>
                <a:spcPts val="0"/>
              </a:spcBef>
              <a:spcAft>
                <a:spcPts val="0"/>
              </a:spcAft>
            </a:pPr>
            <a:r>
              <a:rPr sz="13800" b="0">
                <a:solidFill>
                  <a:srgbClr val="000000"/>
                </a:solidFill>
                <a:latin typeface="NVIDIA Sans Medium"/>
              </a:rPr>
              <a:t>213.4 s</a:t>
            </a:r>
          </a:p>
        </p:txBody>
      </p:sp>
      <p:sp>
        <p:nvSpPr>
          <p:cNvPr id="7" name="E2E label"/>
          <p:cNvSpPr txBox="1"/>
          <p:nvPr/>
        </p:nvSpPr>
        <p:spPr>
          <a:xfrm>
            <a:off x="1828800" y="10058400"/>
            <a:ext cx="141732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E2E latency</a:t>
            </a:r>
          </a:p>
        </p:txBody>
      </p:sp>
      <p:sp>
        <p:nvSpPr>
          <p:cNvPr id="8" name="Reference configuration bullets"/>
          <p:cNvSpPr txBox="1"/>
          <p:nvPr/>
        </p:nvSpPr>
        <p:spPr>
          <a:xfrm>
            <a:off x="1828800" y="12435840"/>
            <a:ext cx="14173200" cy="475488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200" b="0">
                <a:solidFill>
                  <a:srgbClr val="000000"/>
                </a:solidFill>
                <a:latin typeface="NVIDIA Sans"/>
              </a:rPr>
              <a:t>8 × RTX PRO 5000</a:t>
            </a:r>
          </a:p>
          <a:p>
            <a:pPr marL="384048" indent="-310896">
              <a:spcBef>
                <a:spcPts val="0"/>
              </a:spcBef>
              <a:spcAft>
                <a:spcPts val="2200"/>
              </a:spcAft>
              <a:buFont typeface="NVIDIA Sans"/>
              <a:buChar char="•"/>
            </a:pPr>
            <a:r>
              <a:rPr sz="3200" b="0">
                <a:solidFill>
                  <a:srgbClr val="000000"/>
                </a:solidFill>
                <a:latin typeface="NVIDIA Sans"/>
              </a:rPr>
              <a:t>50 steps · BF16 · dense attention</a:t>
            </a:r>
          </a:p>
          <a:p>
            <a:pPr marL="384048" indent="-310896">
              <a:spcBef>
                <a:spcPts val="0"/>
              </a:spcBef>
              <a:spcAft>
                <a:spcPts val="2200"/>
              </a:spcAft>
              <a:buFont typeface="NVIDIA Sans"/>
              <a:buChar char="•"/>
            </a:pPr>
            <a:r>
              <a:rPr sz="3200" b="0">
                <a:solidFill>
                  <a:srgbClr val="000000"/>
                </a:solidFill>
                <a:latin typeface="NVIDIA Sans"/>
              </a:rPr>
              <a:t>Ulysses8 · encoder TP8 · VAE tiles8</a:t>
            </a:r>
          </a:p>
        </p:txBody>
      </p:sp>
      <p:sp>
        <p:nvSpPr>
          <p:cNvPr id="9" name="GPU heading"/>
          <p:cNvSpPr txBox="1"/>
          <p:nvPr/>
        </p:nvSpPr>
        <p:spPr>
          <a:xfrm>
            <a:off x="17373600" y="5486400"/>
            <a:ext cx="173736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GPU work by operator</a:t>
            </a:r>
          </a:p>
        </p:txBody>
      </p:sp>
      <p:sp>
        <p:nvSpPr>
          <p:cNvPr id="10" name="Operator 0"/>
          <p:cNvSpPr txBox="1"/>
          <p:nvPr/>
        </p:nvSpPr>
        <p:spPr>
          <a:xfrm>
            <a:off x="17373600" y="758952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NCCL · includes waiting</a:t>
            </a:r>
          </a:p>
        </p:txBody>
      </p:sp>
      <p:sp>
        <p:nvSpPr>
          <p:cNvPr id="11" name="Share 0"/>
          <p:cNvSpPr txBox="1"/>
          <p:nvPr/>
        </p:nvSpPr>
        <p:spPr>
          <a:xfrm>
            <a:off x="30175200" y="740664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76B900"/>
                </a:solidFill>
                <a:latin typeface="NVIDIA Sans Medium"/>
              </a:rPr>
              <a:t>57.21%</a:t>
            </a:r>
          </a:p>
        </p:txBody>
      </p:sp>
      <p:sp>
        <p:nvSpPr>
          <p:cNvPr id="12" name="Bar track 0"/>
          <p:cNvSpPr/>
          <p:nvPr/>
        </p:nvSpPr>
        <p:spPr>
          <a:xfrm>
            <a:off x="17373600" y="882396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r value 0"/>
          <p:cNvSpPr/>
          <p:nvPr/>
        </p:nvSpPr>
        <p:spPr>
          <a:xfrm>
            <a:off x="17373600" y="8823960"/>
            <a:ext cx="9940131" cy="14630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perator 1"/>
          <p:cNvSpPr txBox="1"/>
          <p:nvPr/>
        </p:nvSpPr>
        <p:spPr>
          <a:xfrm>
            <a:off x="17373600" y="992124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Attention</a:t>
            </a:r>
          </a:p>
        </p:txBody>
      </p:sp>
      <p:sp>
        <p:nvSpPr>
          <p:cNvPr id="15" name="Share 1"/>
          <p:cNvSpPr txBox="1"/>
          <p:nvPr/>
        </p:nvSpPr>
        <p:spPr>
          <a:xfrm>
            <a:off x="30175200" y="973836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22.06%</a:t>
            </a:r>
          </a:p>
        </p:txBody>
      </p:sp>
      <p:sp>
        <p:nvSpPr>
          <p:cNvPr id="16" name="Bar track 1"/>
          <p:cNvSpPr/>
          <p:nvPr/>
        </p:nvSpPr>
        <p:spPr>
          <a:xfrm>
            <a:off x="17373600" y="1115568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r value 1"/>
          <p:cNvSpPr/>
          <p:nvPr/>
        </p:nvSpPr>
        <p:spPr>
          <a:xfrm>
            <a:off x="17373600" y="11155680"/>
            <a:ext cx="383227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perator 2"/>
          <p:cNvSpPr txBox="1"/>
          <p:nvPr/>
        </p:nvSpPr>
        <p:spPr>
          <a:xfrm>
            <a:off x="17373600" y="1225296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GEMM</a:t>
            </a:r>
          </a:p>
        </p:txBody>
      </p:sp>
      <p:sp>
        <p:nvSpPr>
          <p:cNvPr id="19" name="Share 2"/>
          <p:cNvSpPr txBox="1"/>
          <p:nvPr/>
        </p:nvSpPr>
        <p:spPr>
          <a:xfrm>
            <a:off x="30175200" y="1207008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18.57%</a:t>
            </a:r>
          </a:p>
        </p:txBody>
      </p:sp>
      <p:sp>
        <p:nvSpPr>
          <p:cNvPr id="20" name="Bar track 2"/>
          <p:cNvSpPr/>
          <p:nvPr/>
        </p:nvSpPr>
        <p:spPr>
          <a:xfrm>
            <a:off x="17373600" y="1348740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r value 2"/>
          <p:cNvSpPr/>
          <p:nvPr/>
        </p:nvSpPr>
        <p:spPr>
          <a:xfrm>
            <a:off x="17373600" y="13487400"/>
            <a:ext cx="322570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perator 3"/>
          <p:cNvSpPr txBox="1"/>
          <p:nvPr/>
        </p:nvSpPr>
        <p:spPr>
          <a:xfrm>
            <a:off x="17373600" y="1458468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Other</a:t>
            </a:r>
          </a:p>
        </p:txBody>
      </p:sp>
      <p:sp>
        <p:nvSpPr>
          <p:cNvPr id="23" name="Share 3"/>
          <p:cNvSpPr txBox="1"/>
          <p:nvPr/>
        </p:nvSpPr>
        <p:spPr>
          <a:xfrm>
            <a:off x="30175200" y="1440180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2.16%</a:t>
            </a:r>
          </a:p>
        </p:txBody>
      </p:sp>
      <p:sp>
        <p:nvSpPr>
          <p:cNvPr id="24" name="Bar track 3"/>
          <p:cNvSpPr/>
          <p:nvPr/>
        </p:nvSpPr>
        <p:spPr>
          <a:xfrm>
            <a:off x="17373600" y="1581912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 value 3"/>
          <p:cNvSpPr/>
          <p:nvPr/>
        </p:nvSpPr>
        <p:spPr>
          <a:xfrm>
            <a:off x="17373600" y="15819120"/>
            <a:ext cx="375481"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ccounting note"/>
          <p:cNvSpPr txBox="1"/>
          <p:nvPr/>
        </p:nvSpPr>
        <p:spPr>
          <a:xfrm>
            <a:off x="1828800" y="18882360"/>
            <a:ext cx="32918400" cy="64008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GPU work includes overlap and waiting; these shares are not E2E wall-time components.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5</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r>
              <a:rPr sz="4000" b="0">
                <a:solidFill>
                  <a:srgbClr val="000000"/>
                </a:solidFill>
                <a:latin typeface="NVIDIA Sans Medium"/>
              </a:rPr>
              <a:t>Fewer evaluations reduce compute and communication together.</a:t>
            </a:r>
          </a:p>
        </p:txBody>
      </p:sp>
      <p:sp>
        <p:nvSpPr>
          <p:cNvPr id="70" name="PDD mechanism"/>
          <p:cNvSpPr txBox="1"/>
          <p:nvPr/>
        </p:nvSpPr>
        <p:spPr>
          <a:xfrm>
            <a:off x="1828800" y="16459200"/>
            <a:ext cx="32918400" cy="731520"/>
          </a:xfrm>
          <a:prstGeom prst="rect">
            <a:avLst/>
          </a:prstGeom>
          <a:noFill/>
        </p:spPr>
        <p:txBody>
          <a:bodyPr wrap="square" lIns="0" rIns="0" tIns="0" bIns="0">
            <a:spAutoFit/>
          </a:bodyPr>
          <a:lstStyle/>
          <a:p>
            <a:pPr>
              <a:spcBef>
                <a:spcPts val="0"/>
              </a:spcBef>
              <a:spcAft>
                <a:spcPts val="0"/>
              </a:spcAft>
            </a:pPr>
            <a:r>
              <a:rPr sz="3100" b="0">
                <a:solidFill>
                  <a:srgbClr val="000000"/>
                </a:solidFill>
                <a:latin typeface="NVIDIA Sans"/>
              </a:rPr>
              <a:t>A trained student predicts multiple diffusion intervals per call.</a:t>
            </a:r>
          </a:p>
        </p:txBody>
      </p:sp>
      <p:sp>
        <p:nvSpPr>
          <p:cNvPr id="71" name="PDD latency"/>
          <p:cNvSpPr txBox="1"/>
          <p:nvPr/>
        </p:nvSpPr>
        <p:spPr>
          <a:xfrm>
            <a:off x="22860000" y="13716000"/>
            <a:ext cx="118872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213.40 s → 44.33 s</a:t>
            </a:r>
          </a:p>
        </p:txBody>
      </p:sp>
      <p:sp>
        <p:nvSpPr>
          <p:cNvPr id="72" name="PDD speedup"/>
          <p:cNvSpPr txBox="1"/>
          <p:nvPr/>
        </p:nvSpPr>
        <p:spPr>
          <a:xfrm>
            <a:off x="22860000" y="14996159"/>
            <a:ext cx="11887200" cy="73152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Recorded E2E · 4.81×†</a:t>
            </a:r>
          </a:p>
        </p:txBody>
      </p:sp>
      <p:sp>
        <p:nvSpPr>
          <p:cNvPr id="73" name="PDD evidence scope"/>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 Baseline measured separately. This is a recorded median ratio, not an isolated step-count experiment.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6</a:t>
            </a:r>
          </a:p>
        </p:txBody>
      </p:sp>
      <p:sp>
        <p:nvSpPr>
          <p:cNvPr id="3" name="Text Placeholder 2"/>
          <p:cNvSpPr>
            <a:spLocks noGrp="1"/>
          </p:cNvSpPr>
          <p:nvPr>
            <p:ph type="body" idx="13" sz="quarter"/>
          </p:nvPr>
        </p:nvSpPr>
        <p:spPr/>
        <p:txBody>
          <a:bodyPr/>
          <a:lstStyle/>
          <a:p>
            <a:r>
              <a:t>Do less attention work. Use lower precision where quality allows.</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r>
              <a:rPr sz="3800" b="0">
                <a:solidFill>
                  <a:srgbClr val="000000"/>
                </a:solidFill>
                <a:latin typeface="NVIDIA Sans"/>
              </a:rPr>
              <a:t>Coarse attention selects fine regions</a:t>
            </a:r>
          </a:p>
        </p:txBody>
      </p:sp>
      <p:sp>
        <p:nvSpPr>
          <p:cNvPr id="43" name="VSA diagram scope"/>
          <p:cNvSpPr txBox="1"/>
          <p:nvPr/>
        </p:nvSpPr>
        <p:spPr>
          <a:xfrm>
            <a:off x="1828800" y="1380744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r>
              <a:rPr sz="3400" b="0">
                <a:solidFill>
                  <a:srgbClr val="000000"/>
                </a:solidFill>
                <a:latin typeface="NVIDIA Sans"/>
              </a:rPr>
              <a:t>QAD DiT + native FP4 attention</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VSA measured effect"/>
          <p:cNvSpPr txBox="1"/>
          <p:nvPr/>
        </p:nvSpPr>
        <p:spPr>
          <a:xfrm>
            <a:off x="1828800" y="15910559"/>
            <a:ext cx="16002000" cy="914400"/>
          </a:xfrm>
          <a:prstGeom prst="rect">
            <a:avLst/>
          </a:prstGeom>
          <a:noFill/>
        </p:spPr>
        <p:txBody>
          <a:bodyPr wrap="square" lIns="0" rIns="0" tIns="0" bIns="0">
            <a:spAutoFit/>
          </a:bodyPr>
          <a:lstStyle/>
          <a:p>
            <a:pPr>
              <a:spcBef>
                <a:spcPts val="0"/>
              </a:spcBef>
              <a:spcAft>
                <a:spcPts val="0"/>
              </a:spcAft>
            </a:pPr>
            <a:r>
              <a:rPr sz="3600" b="0">
                <a:solidFill>
                  <a:srgbClr val="76B900"/>
                </a:solidFill>
                <a:latin typeface="NVIDIA Sans Medium"/>
              </a:rPr>
              <a:t>44.33 s → 25.92 s · 1.71×</a:t>
            </a:r>
          </a:p>
        </p:txBody>
      </p:sp>
      <p:sp>
        <p:nvSpPr>
          <p:cNvPr id="53" name="NVFP4 measured effect"/>
          <p:cNvSpPr txBox="1"/>
          <p:nvPr/>
        </p:nvSpPr>
        <p:spPr>
          <a:xfrm>
            <a:off x="20116800" y="15910559"/>
            <a:ext cx="14630400" cy="914400"/>
          </a:xfrm>
          <a:prstGeom prst="rect">
            <a:avLst/>
          </a:prstGeom>
          <a:noFill/>
        </p:spPr>
        <p:txBody>
          <a:bodyPr wrap="square" lIns="0" rIns="0" tIns="0" bIns="0">
            <a:spAutoFit/>
          </a:bodyPr>
          <a:lstStyle/>
          <a:p>
            <a:pPr>
              <a:spcBef>
                <a:spcPts val="0"/>
              </a:spcBef>
              <a:spcAft>
                <a:spcPts val="0"/>
              </a:spcAft>
            </a:pPr>
            <a:r>
              <a:rPr sz="3500" b="0">
                <a:solidFill>
                  <a:srgbClr val="76B900"/>
                </a:solidFill>
                <a:latin typeface="NVIDIA Sans Medium"/>
              </a:rPr>
              <a:t>25.92 s → 19.46 s · 1.33×</a:t>
            </a:r>
          </a:p>
        </p:txBody>
      </p:sp>
      <p:sp>
        <p:nvSpPr>
          <p:cNvPr id="54" name="VSA FP4 evidenc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Recorded E2E medians · 8 evaluations · trained sparse / quantized model variants; quality must be validated.</a:t>
            </a:r>
          </a:p>
        </p:txBody>
      </p:sp>
      <p:sp>
        <p:nvSpPr>
          <p:cNvPr id="55" name="Attention block 0-0"/>
          <p:cNvSpPr/>
          <p:nvPr/>
        </p:nvSpPr>
        <p:spPr>
          <a:xfrm>
            <a:off x="42976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ention block 0-1"/>
          <p:cNvSpPr/>
          <p:nvPr/>
        </p:nvSpPr>
        <p:spPr>
          <a:xfrm>
            <a:off x="5257800" y="8641080"/>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ention block 0-2"/>
          <p:cNvSpPr/>
          <p:nvPr/>
        </p:nvSpPr>
        <p:spPr>
          <a:xfrm>
            <a:off x="62179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ention block 0-3"/>
          <p:cNvSpPr/>
          <p:nvPr/>
        </p:nvSpPr>
        <p:spPr>
          <a:xfrm>
            <a:off x="71780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ention block 0-4"/>
          <p:cNvSpPr/>
          <p:nvPr/>
        </p:nvSpPr>
        <p:spPr>
          <a:xfrm>
            <a:off x="81381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ention block 0-5"/>
          <p:cNvSpPr/>
          <p:nvPr/>
        </p:nvSpPr>
        <p:spPr>
          <a:xfrm>
            <a:off x="90982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ention block 0-6"/>
          <p:cNvSpPr/>
          <p:nvPr/>
        </p:nvSpPr>
        <p:spPr>
          <a:xfrm>
            <a:off x="1005840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ttention block 0-7"/>
          <p:cNvSpPr/>
          <p:nvPr/>
        </p:nvSpPr>
        <p:spPr>
          <a:xfrm>
            <a:off x="110185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ention block 0-8"/>
          <p:cNvSpPr/>
          <p:nvPr/>
        </p:nvSpPr>
        <p:spPr>
          <a:xfrm>
            <a:off x="119786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ttention block 0-9"/>
          <p:cNvSpPr/>
          <p:nvPr/>
        </p:nvSpPr>
        <p:spPr>
          <a:xfrm>
            <a:off x="129387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ention block 1-0"/>
          <p:cNvSpPr/>
          <p:nvPr/>
        </p:nvSpPr>
        <p:spPr>
          <a:xfrm>
            <a:off x="42976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ttention block 1-1"/>
          <p:cNvSpPr/>
          <p:nvPr/>
        </p:nvSpPr>
        <p:spPr>
          <a:xfrm>
            <a:off x="52578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Attention block 1-2"/>
          <p:cNvSpPr/>
          <p:nvPr/>
        </p:nvSpPr>
        <p:spPr>
          <a:xfrm>
            <a:off x="621792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ttention block 1-3"/>
          <p:cNvSpPr/>
          <p:nvPr/>
        </p:nvSpPr>
        <p:spPr>
          <a:xfrm>
            <a:off x="71780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Attention block 1-4"/>
          <p:cNvSpPr/>
          <p:nvPr/>
        </p:nvSpPr>
        <p:spPr>
          <a:xfrm>
            <a:off x="81381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Attention block 1-5"/>
          <p:cNvSpPr/>
          <p:nvPr/>
        </p:nvSpPr>
        <p:spPr>
          <a:xfrm>
            <a:off x="90982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Attention block 1-6"/>
          <p:cNvSpPr/>
          <p:nvPr/>
        </p:nvSpPr>
        <p:spPr>
          <a:xfrm>
            <a:off x="100584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Attention block 1-7"/>
          <p:cNvSpPr/>
          <p:nvPr/>
        </p:nvSpPr>
        <p:spPr>
          <a:xfrm>
            <a:off x="11018520" y="9116567"/>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Attention block 1-8"/>
          <p:cNvSpPr/>
          <p:nvPr/>
        </p:nvSpPr>
        <p:spPr>
          <a:xfrm>
            <a:off x="119786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Attention block 1-9"/>
          <p:cNvSpPr/>
          <p:nvPr/>
        </p:nvSpPr>
        <p:spPr>
          <a:xfrm>
            <a:off x="129387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ttention block 2-0"/>
          <p:cNvSpPr/>
          <p:nvPr/>
        </p:nvSpPr>
        <p:spPr>
          <a:xfrm>
            <a:off x="42976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Attention block 2-1"/>
          <p:cNvSpPr/>
          <p:nvPr/>
        </p:nvSpPr>
        <p:spPr>
          <a:xfrm>
            <a:off x="52578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Attention block 2-2"/>
          <p:cNvSpPr/>
          <p:nvPr/>
        </p:nvSpPr>
        <p:spPr>
          <a:xfrm>
            <a:off x="62179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Attention block 2-3"/>
          <p:cNvSpPr/>
          <p:nvPr/>
        </p:nvSpPr>
        <p:spPr>
          <a:xfrm>
            <a:off x="7178040" y="9592055"/>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Attention block 2-4"/>
          <p:cNvSpPr/>
          <p:nvPr/>
        </p:nvSpPr>
        <p:spPr>
          <a:xfrm>
            <a:off x="81381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ttention block 2-5"/>
          <p:cNvSpPr/>
          <p:nvPr/>
        </p:nvSpPr>
        <p:spPr>
          <a:xfrm>
            <a:off x="90982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Attention block 2-6"/>
          <p:cNvSpPr/>
          <p:nvPr/>
        </p:nvSpPr>
        <p:spPr>
          <a:xfrm>
            <a:off x="100584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Attention block 2-7"/>
          <p:cNvSpPr/>
          <p:nvPr/>
        </p:nvSpPr>
        <p:spPr>
          <a:xfrm>
            <a:off x="110185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Attention block 2-8"/>
          <p:cNvSpPr/>
          <p:nvPr/>
        </p:nvSpPr>
        <p:spPr>
          <a:xfrm>
            <a:off x="1197864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Attention block 2-9"/>
          <p:cNvSpPr/>
          <p:nvPr/>
        </p:nvSpPr>
        <p:spPr>
          <a:xfrm>
            <a:off x="129387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Attention block 3-0"/>
          <p:cNvSpPr/>
          <p:nvPr/>
        </p:nvSpPr>
        <p:spPr>
          <a:xfrm>
            <a:off x="42976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Attention block 3-1"/>
          <p:cNvSpPr/>
          <p:nvPr/>
        </p:nvSpPr>
        <p:spPr>
          <a:xfrm>
            <a:off x="52578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Attention block 3-2"/>
          <p:cNvSpPr/>
          <p:nvPr/>
        </p:nvSpPr>
        <p:spPr>
          <a:xfrm>
            <a:off x="62179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Attention block 3-3"/>
          <p:cNvSpPr/>
          <p:nvPr/>
        </p:nvSpPr>
        <p:spPr>
          <a:xfrm>
            <a:off x="71780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Attention block 3-4"/>
          <p:cNvSpPr/>
          <p:nvPr/>
        </p:nvSpPr>
        <p:spPr>
          <a:xfrm>
            <a:off x="813816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Attention block 3-5"/>
          <p:cNvSpPr/>
          <p:nvPr/>
        </p:nvSpPr>
        <p:spPr>
          <a:xfrm>
            <a:off x="90982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Attention block 3-6"/>
          <p:cNvSpPr/>
          <p:nvPr/>
        </p:nvSpPr>
        <p:spPr>
          <a:xfrm>
            <a:off x="100584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Attention block 3-7"/>
          <p:cNvSpPr/>
          <p:nvPr/>
        </p:nvSpPr>
        <p:spPr>
          <a:xfrm>
            <a:off x="110185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Attention block 3-8"/>
          <p:cNvSpPr/>
          <p:nvPr/>
        </p:nvSpPr>
        <p:spPr>
          <a:xfrm>
            <a:off x="119786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Attention block 3-9"/>
          <p:cNvSpPr/>
          <p:nvPr/>
        </p:nvSpPr>
        <p:spPr>
          <a:xfrm>
            <a:off x="12938760" y="1006754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Attention block 4-0"/>
          <p:cNvSpPr/>
          <p:nvPr/>
        </p:nvSpPr>
        <p:spPr>
          <a:xfrm>
            <a:off x="4297680" y="1054303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Attention block 4-1"/>
          <p:cNvSpPr/>
          <p:nvPr/>
        </p:nvSpPr>
        <p:spPr>
          <a:xfrm>
            <a:off x="52578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Attention block 4-2"/>
          <p:cNvSpPr/>
          <p:nvPr/>
        </p:nvSpPr>
        <p:spPr>
          <a:xfrm>
            <a:off x="62179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Attention block 4-3"/>
          <p:cNvSpPr/>
          <p:nvPr/>
        </p:nvSpPr>
        <p:spPr>
          <a:xfrm>
            <a:off x="71780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Attention block 4-4"/>
          <p:cNvSpPr/>
          <p:nvPr/>
        </p:nvSpPr>
        <p:spPr>
          <a:xfrm>
            <a:off x="81381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Attention block 4-5"/>
          <p:cNvSpPr/>
          <p:nvPr/>
        </p:nvSpPr>
        <p:spPr>
          <a:xfrm>
            <a:off x="909828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Attention block 4-6"/>
          <p:cNvSpPr/>
          <p:nvPr/>
        </p:nvSpPr>
        <p:spPr>
          <a:xfrm>
            <a:off x="100584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Attention block 4-7"/>
          <p:cNvSpPr/>
          <p:nvPr/>
        </p:nvSpPr>
        <p:spPr>
          <a:xfrm>
            <a:off x="110185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Attention block 4-8"/>
          <p:cNvSpPr/>
          <p:nvPr/>
        </p:nvSpPr>
        <p:spPr>
          <a:xfrm>
            <a:off x="119786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Attention block 4-9"/>
          <p:cNvSpPr/>
          <p:nvPr/>
        </p:nvSpPr>
        <p:spPr>
          <a:xfrm>
            <a:off x="129387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Attention block 5-0"/>
          <p:cNvSpPr/>
          <p:nvPr/>
        </p:nvSpPr>
        <p:spPr>
          <a:xfrm>
            <a:off x="42976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Attention block 5-1"/>
          <p:cNvSpPr/>
          <p:nvPr/>
        </p:nvSpPr>
        <p:spPr>
          <a:xfrm>
            <a:off x="525780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Attention block 5-2"/>
          <p:cNvSpPr/>
          <p:nvPr/>
        </p:nvSpPr>
        <p:spPr>
          <a:xfrm>
            <a:off x="62179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Attention block 5-3"/>
          <p:cNvSpPr/>
          <p:nvPr/>
        </p:nvSpPr>
        <p:spPr>
          <a:xfrm>
            <a:off x="71780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Attention block 5-4"/>
          <p:cNvSpPr/>
          <p:nvPr/>
        </p:nvSpPr>
        <p:spPr>
          <a:xfrm>
            <a:off x="81381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Attention block 5-5"/>
          <p:cNvSpPr/>
          <p:nvPr/>
        </p:nvSpPr>
        <p:spPr>
          <a:xfrm>
            <a:off x="90982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Attention block 5-6"/>
          <p:cNvSpPr/>
          <p:nvPr/>
        </p:nvSpPr>
        <p:spPr>
          <a:xfrm>
            <a:off x="10058400" y="11018519"/>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Attention block 5-7"/>
          <p:cNvSpPr/>
          <p:nvPr/>
        </p:nvSpPr>
        <p:spPr>
          <a:xfrm>
            <a:off x="110185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Attention block 5-8"/>
          <p:cNvSpPr/>
          <p:nvPr/>
        </p:nvSpPr>
        <p:spPr>
          <a:xfrm>
            <a:off x="119786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Attention block 5-9"/>
          <p:cNvSpPr/>
          <p:nvPr/>
        </p:nvSpPr>
        <p:spPr>
          <a:xfrm>
            <a:off x="129387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Attention block 6-0"/>
          <p:cNvSpPr/>
          <p:nvPr/>
        </p:nvSpPr>
        <p:spPr>
          <a:xfrm>
            <a:off x="42976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Attention block 6-1"/>
          <p:cNvSpPr/>
          <p:nvPr/>
        </p:nvSpPr>
        <p:spPr>
          <a:xfrm>
            <a:off x="52578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Attention block 6-2"/>
          <p:cNvSpPr/>
          <p:nvPr/>
        </p:nvSpPr>
        <p:spPr>
          <a:xfrm>
            <a:off x="6217920" y="11494008"/>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Attention block 6-3"/>
          <p:cNvSpPr/>
          <p:nvPr/>
        </p:nvSpPr>
        <p:spPr>
          <a:xfrm>
            <a:off x="71780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Attention block 6-4"/>
          <p:cNvSpPr/>
          <p:nvPr/>
        </p:nvSpPr>
        <p:spPr>
          <a:xfrm>
            <a:off x="81381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Attention block 6-5"/>
          <p:cNvSpPr/>
          <p:nvPr/>
        </p:nvSpPr>
        <p:spPr>
          <a:xfrm>
            <a:off x="90982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Attention block 6-6"/>
          <p:cNvSpPr/>
          <p:nvPr/>
        </p:nvSpPr>
        <p:spPr>
          <a:xfrm>
            <a:off x="100584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Attention block 6-7"/>
          <p:cNvSpPr/>
          <p:nvPr/>
        </p:nvSpPr>
        <p:spPr>
          <a:xfrm>
            <a:off x="1101852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Attention block 6-8"/>
          <p:cNvSpPr/>
          <p:nvPr/>
        </p:nvSpPr>
        <p:spPr>
          <a:xfrm>
            <a:off x="119786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Attention block 6-9"/>
          <p:cNvSpPr/>
          <p:nvPr/>
        </p:nvSpPr>
        <p:spPr>
          <a:xfrm>
            <a:off x="129387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Attention block 7-0"/>
          <p:cNvSpPr/>
          <p:nvPr/>
        </p:nvSpPr>
        <p:spPr>
          <a:xfrm>
            <a:off x="42976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Attention block 7-1"/>
          <p:cNvSpPr/>
          <p:nvPr/>
        </p:nvSpPr>
        <p:spPr>
          <a:xfrm>
            <a:off x="52578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Attention block 7-2"/>
          <p:cNvSpPr/>
          <p:nvPr/>
        </p:nvSpPr>
        <p:spPr>
          <a:xfrm>
            <a:off x="62179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Attention block 7-3"/>
          <p:cNvSpPr/>
          <p:nvPr/>
        </p:nvSpPr>
        <p:spPr>
          <a:xfrm>
            <a:off x="717804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Attention block 7-4"/>
          <p:cNvSpPr/>
          <p:nvPr/>
        </p:nvSpPr>
        <p:spPr>
          <a:xfrm>
            <a:off x="81381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Attention block 7-5"/>
          <p:cNvSpPr/>
          <p:nvPr/>
        </p:nvSpPr>
        <p:spPr>
          <a:xfrm>
            <a:off x="90982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Attention block 7-6"/>
          <p:cNvSpPr/>
          <p:nvPr/>
        </p:nvSpPr>
        <p:spPr>
          <a:xfrm>
            <a:off x="100584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Attention block 7-7"/>
          <p:cNvSpPr/>
          <p:nvPr/>
        </p:nvSpPr>
        <p:spPr>
          <a:xfrm>
            <a:off x="110185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Attention block 7-8"/>
          <p:cNvSpPr/>
          <p:nvPr/>
        </p:nvSpPr>
        <p:spPr>
          <a:xfrm>
            <a:off x="11978640" y="11969496"/>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Attention block 7-9"/>
          <p:cNvSpPr/>
          <p:nvPr/>
        </p:nvSpPr>
        <p:spPr>
          <a:xfrm>
            <a:off x="129387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Attention block 8-0"/>
          <p:cNvSpPr/>
          <p:nvPr/>
        </p:nvSpPr>
        <p:spPr>
          <a:xfrm>
            <a:off x="42976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Attention block 8-1"/>
          <p:cNvSpPr/>
          <p:nvPr/>
        </p:nvSpPr>
        <p:spPr>
          <a:xfrm>
            <a:off x="52578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Attention block 8-2"/>
          <p:cNvSpPr/>
          <p:nvPr/>
        </p:nvSpPr>
        <p:spPr>
          <a:xfrm>
            <a:off x="62179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Attention block 8-3"/>
          <p:cNvSpPr/>
          <p:nvPr/>
        </p:nvSpPr>
        <p:spPr>
          <a:xfrm>
            <a:off x="71780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Attention block 8-4"/>
          <p:cNvSpPr/>
          <p:nvPr/>
        </p:nvSpPr>
        <p:spPr>
          <a:xfrm>
            <a:off x="8138160" y="1244498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Attention block 8-5"/>
          <p:cNvSpPr/>
          <p:nvPr/>
        </p:nvSpPr>
        <p:spPr>
          <a:xfrm>
            <a:off x="90982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Attention block 8-6"/>
          <p:cNvSpPr/>
          <p:nvPr/>
        </p:nvSpPr>
        <p:spPr>
          <a:xfrm>
            <a:off x="100584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Attention block 8-7"/>
          <p:cNvSpPr/>
          <p:nvPr/>
        </p:nvSpPr>
        <p:spPr>
          <a:xfrm>
            <a:off x="110185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Attention block 8-8"/>
          <p:cNvSpPr/>
          <p:nvPr/>
        </p:nvSpPr>
        <p:spPr>
          <a:xfrm>
            <a:off x="119786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Attention block 8-9"/>
          <p:cNvSpPr/>
          <p:nvPr/>
        </p:nvSpPr>
        <p:spPr>
          <a:xfrm>
            <a:off x="1293876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Attention block 9-0"/>
          <p:cNvSpPr/>
          <p:nvPr/>
        </p:nvSpPr>
        <p:spPr>
          <a:xfrm>
            <a:off x="429768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Attention block 9-1"/>
          <p:cNvSpPr/>
          <p:nvPr/>
        </p:nvSpPr>
        <p:spPr>
          <a:xfrm>
            <a:off x="52578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Attention block 9-2"/>
          <p:cNvSpPr/>
          <p:nvPr/>
        </p:nvSpPr>
        <p:spPr>
          <a:xfrm>
            <a:off x="62179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Attention block 9-3"/>
          <p:cNvSpPr/>
          <p:nvPr/>
        </p:nvSpPr>
        <p:spPr>
          <a:xfrm>
            <a:off x="71780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Attention block 9-4"/>
          <p:cNvSpPr/>
          <p:nvPr/>
        </p:nvSpPr>
        <p:spPr>
          <a:xfrm>
            <a:off x="81381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Attention block 9-5"/>
          <p:cNvSpPr/>
          <p:nvPr/>
        </p:nvSpPr>
        <p:spPr>
          <a:xfrm>
            <a:off x="9098280" y="1292047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Attention block 9-6"/>
          <p:cNvSpPr/>
          <p:nvPr/>
        </p:nvSpPr>
        <p:spPr>
          <a:xfrm>
            <a:off x="100584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Attention block 9-7"/>
          <p:cNvSpPr/>
          <p:nvPr/>
        </p:nvSpPr>
        <p:spPr>
          <a:xfrm>
            <a:off x="110185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Attention block 9-8"/>
          <p:cNvSpPr/>
          <p:nvPr/>
        </p:nvSpPr>
        <p:spPr>
          <a:xfrm>
            <a:off x="119786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Attention block 9-9"/>
          <p:cNvSpPr/>
          <p:nvPr/>
        </p:nvSpPr>
        <p:spPr>
          <a:xfrm>
            <a:off x="129387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VSA configuration"/>
          <p:cNvSpPr txBox="1"/>
          <p:nvPr/>
        </p:nvSpPr>
        <p:spPr>
          <a:xfrm>
            <a:off x="1828800" y="14676120"/>
            <a:ext cx="16002000" cy="8229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90% sparsity · Block size: 128 tokens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7</a:t>
            </a:r>
          </a:p>
        </p:txBody>
      </p:sp>
      <p:sp>
        <p:nvSpPr>
          <p:cNvPr id="3" name="Text Placeholder 2"/>
          <p:cNvSpPr>
            <a:spLocks noGrp="1"/>
          </p:cNvSpPr>
          <p:nvPr>
            <p:ph type="body" idx="13" sz="quarter"/>
          </p:nvPr>
        </p:nvSpPr>
        <p:spPr/>
        <p:txBody>
          <a:bodyPr/>
          <a:lstStyle/>
          <a:p>
            <a:r>
              <a:t>Compute-rich, bandwidth-modest: choose the payload route.</a:t>
            </a:r>
          </a:p>
        </p:txBody>
      </p:sp>
      <p:sp>
        <p:nvSpPr>
          <p:cNvPr id="4" name="Title 3"/>
          <p:cNvSpPr>
            <a:spLocks noGrp="1"/>
          </p:cNvSpPr>
          <p:nvPr>
            <p:ph type="title"/>
          </p:nvPr>
        </p:nvSpPr>
        <p:spPr/>
        <p:txBody>
          <a:bodyPr/>
          <a:lstStyle/>
          <a:p>
            <a:r>
              <a:rPr sz="8800"/>
              <a:t>Optimization - Comms</a:t>
            </a:r>
          </a:p>
        </p:txBody>
      </p:sp>
      <p:sp>
        <p:nvSpPr>
          <p:cNvPr id="5" name="CPU 0"/>
          <p:cNvSpPr/>
          <p:nvPr/>
        </p:nvSpPr>
        <p:spPr>
          <a:xfrm>
            <a:off x="36576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0 label"/>
          <p:cNvSpPr txBox="1"/>
          <p:nvPr/>
        </p:nvSpPr>
        <p:spPr>
          <a:xfrm>
            <a:off x="37216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0 + host buffers</a:t>
            </a:r>
          </a:p>
        </p:txBody>
      </p:sp>
      <p:sp>
        <p:nvSpPr>
          <p:cNvPr id="7" name="CPU 1"/>
          <p:cNvSpPr/>
          <p:nvPr/>
        </p:nvSpPr>
        <p:spPr>
          <a:xfrm>
            <a:off x="210312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1 label"/>
          <p:cNvSpPr txBox="1"/>
          <p:nvPr/>
        </p:nvSpPr>
        <p:spPr>
          <a:xfrm>
            <a:off x="210952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1 + host buffers</a:t>
            </a:r>
          </a:p>
        </p:txBody>
      </p:sp>
      <p:cxnSp>
        <p:nvCxnSpPr>
          <p:cNvPr id="9" name="CPU interconnect"/>
          <p:cNvCxnSpPr/>
          <p:nvPr/>
        </p:nvCxnSpPr>
        <p:spPr>
          <a:xfrm>
            <a:off x="15544800" y="5806440"/>
            <a:ext cx="5486400" cy="0"/>
          </a:xfrm>
          <a:prstGeom prst="line">
            <a:avLst/>
          </a:prstGeom>
          <a:ln w="81280">
            <a:solidFill>
              <a:srgbClr val="A7A7A7"/>
            </a:solidFill>
            <a:prstDash val="solid"/>
          </a:ln>
        </p:spPr>
        <p:style>
          <a:lnRef idx="2">
            <a:schemeClr val="accent1"/>
          </a:lnRef>
          <a:fillRef idx="0">
            <a:schemeClr val="accent1"/>
          </a:fillRef>
          <a:effectRef idx="1">
            <a:schemeClr val="accent1"/>
          </a:effectRef>
          <a:fontRef idx="minor">
            <a:schemeClr val="tx1"/>
          </a:fontRef>
        </p:style>
      </p:cxnSp>
      <p:sp>
        <p:nvSpPr>
          <p:cNvPr id="10" name="CPU interconnect bandwidth"/>
          <p:cNvSpPr txBox="1"/>
          <p:nvPr/>
        </p:nvSpPr>
        <p:spPr>
          <a:xfrm>
            <a:off x="15819120" y="5074920"/>
            <a:ext cx="4937760" cy="502920"/>
          </a:xfrm>
          <a:prstGeom prst="rect">
            <a:avLst/>
          </a:prstGeom>
          <a:noFill/>
        </p:spPr>
        <p:txBody>
          <a:bodyPr wrap="square" lIns="0" rIns="0" tIns="0" bIns="0">
            <a:spAutoFit/>
          </a:bodyPr>
          <a:lstStyle/>
          <a:p>
            <a:pPr algn="ctr"/>
            <a:r>
              <a:rPr sz="2800" b="0">
                <a:solidFill>
                  <a:srgbClr val="313131"/>
                </a:solidFill>
                <a:latin typeface="NVIDIA Sans"/>
              </a:rPr>
              <a:t>128 GB/s</a:t>
            </a:r>
          </a:p>
        </p:txBody>
      </p:sp>
      <p:cxnSp>
        <p:nvCxnSpPr>
          <p:cNvPr id="11" name="Host uplink 0"/>
          <p:cNvCxnSpPr/>
          <p:nvPr/>
        </p:nvCxnSpPr>
        <p:spPr>
          <a:xfrm flipH="1">
            <a:off x="52578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2" name="Switch 0"/>
          <p:cNvSpPr/>
          <p:nvPr/>
        </p:nvSpPr>
        <p:spPr>
          <a:xfrm>
            <a:off x="18288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witch 0 label"/>
          <p:cNvSpPr txBox="1"/>
          <p:nvPr/>
        </p:nvSpPr>
        <p:spPr>
          <a:xfrm>
            <a:off x="1892807"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14" name="GPU link 0-0"/>
          <p:cNvCxnSpPr/>
          <p:nvPr/>
        </p:nvCxnSpPr>
        <p:spPr>
          <a:xfrm>
            <a:off x="3429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5" name="GPU 0"/>
          <p:cNvSpPr/>
          <p:nvPr/>
        </p:nvSpPr>
        <p:spPr>
          <a:xfrm>
            <a:off x="19659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PU 0 label"/>
          <p:cNvSpPr txBox="1"/>
          <p:nvPr/>
        </p:nvSpPr>
        <p:spPr>
          <a:xfrm>
            <a:off x="2029967"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0</a:t>
            </a:r>
          </a:p>
        </p:txBody>
      </p:sp>
      <p:cxnSp>
        <p:nvCxnSpPr>
          <p:cNvPr id="17" name="GPU link 0-1"/>
          <p:cNvCxnSpPr/>
          <p:nvPr/>
        </p:nvCxnSpPr>
        <p:spPr>
          <a:xfrm>
            <a:off x="7086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8" name="GPU 1"/>
          <p:cNvSpPr/>
          <p:nvPr/>
        </p:nvSpPr>
        <p:spPr>
          <a:xfrm>
            <a:off x="56235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1 label"/>
          <p:cNvSpPr txBox="1"/>
          <p:nvPr/>
        </p:nvSpPr>
        <p:spPr>
          <a:xfrm>
            <a:off x="5687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1</a:t>
            </a:r>
          </a:p>
        </p:txBody>
      </p:sp>
      <p:cxnSp>
        <p:nvCxnSpPr>
          <p:cNvPr id="20" name="NIC PCIe 0"/>
          <p:cNvCxnSpPr/>
          <p:nvPr/>
        </p:nvCxnSpPr>
        <p:spPr>
          <a:xfrm>
            <a:off x="86868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1" name="NIC PCIe 0"/>
          <p:cNvCxnSpPr/>
          <p:nvPr/>
        </p:nvCxnSpPr>
        <p:spPr>
          <a:xfrm>
            <a:off x="90982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2" name="NIC PCIe 0"/>
          <p:cNvCxnSpPr/>
          <p:nvPr/>
        </p:nvCxnSpPr>
        <p:spPr>
          <a:xfrm flipH="1">
            <a:off x="86868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23" name="NIC 0"/>
          <p:cNvSpPr/>
          <p:nvPr/>
        </p:nvSpPr>
        <p:spPr>
          <a:xfrm>
            <a:off x="18288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IC 0 label"/>
          <p:cNvSpPr txBox="1"/>
          <p:nvPr/>
        </p:nvSpPr>
        <p:spPr>
          <a:xfrm>
            <a:off x="1892807"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25" name="400G port 0-0"/>
          <p:cNvCxnSpPr/>
          <p:nvPr/>
        </p:nvCxnSpPr>
        <p:spPr>
          <a:xfrm>
            <a:off x="49377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6" name="400G port 0-1"/>
          <p:cNvCxnSpPr/>
          <p:nvPr/>
        </p:nvCxnSpPr>
        <p:spPr>
          <a:xfrm>
            <a:off x="55778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Ports 0"/>
          <p:cNvSpPr txBox="1"/>
          <p:nvPr/>
        </p:nvSpPr>
        <p:spPr>
          <a:xfrm>
            <a:off x="58064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28" name="Host uplink 1"/>
          <p:cNvCxnSpPr/>
          <p:nvPr/>
        </p:nvCxnSpPr>
        <p:spPr>
          <a:xfrm>
            <a:off x="128016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Switch 1"/>
          <p:cNvSpPr/>
          <p:nvPr/>
        </p:nvSpPr>
        <p:spPr>
          <a:xfrm>
            <a:off x="105156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witch 1 label"/>
          <p:cNvSpPr txBox="1"/>
          <p:nvPr/>
        </p:nvSpPr>
        <p:spPr>
          <a:xfrm>
            <a:off x="105796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31" name="GPU link 1-0"/>
          <p:cNvCxnSpPr/>
          <p:nvPr/>
        </p:nvCxnSpPr>
        <p:spPr>
          <a:xfrm>
            <a:off x="121158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2" name="GPU 2"/>
          <p:cNvSpPr/>
          <p:nvPr/>
        </p:nvSpPr>
        <p:spPr>
          <a:xfrm>
            <a:off x="106527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GPU 2 label"/>
          <p:cNvSpPr txBox="1"/>
          <p:nvPr/>
        </p:nvSpPr>
        <p:spPr>
          <a:xfrm>
            <a:off x="107167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2</a:t>
            </a:r>
          </a:p>
        </p:txBody>
      </p:sp>
      <p:cxnSp>
        <p:nvCxnSpPr>
          <p:cNvPr id="34" name="GPU link 1-1"/>
          <p:cNvCxnSpPr/>
          <p:nvPr/>
        </p:nvCxnSpPr>
        <p:spPr>
          <a:xfrm>
            <a:off x="15773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5" name="GPU 3"/>
          <p:cNvSpPr/>
          <p:nvPr/>
        </p:nvSpPr>
        <p:spPr>
          <a:xfrm>
            <a:off x="14310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GPU 3 label"/>
          <p:cNvSpPr txBox="1"/>
          <p:nvPr/>
        </p:nvSpPr>
        <p:spPr>
          <a:xfrm>
            <a:off x="14374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3</a:t>
            </a:r>
          </a:p>
        </p:txBody>
      </p:sp>
      <p:cxnSp>
        <p:nvCxnSpPr>
          <p:cNvPr id="37" name="NIC PCIe 1"/>
          <p:cNvCxnSpPr/>
          <p:nvPr/>
        </p:nvCxnSpPr>
        <p:spPr>
          <a:xfrm>
            <a:off x="173736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8" name="NIC PCIe 1"/>
          <p:cNvCxnSpPr/>
          <p:nvPr/>
        </p:nvCxnSpPr>
        <p:spPr>
          <a:xfrm>
            <a:off x="177850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9" name="NIC PCIe 1"/>
          <p:cNvCxnSpPr/>
          <p:nvPr/>
        </p:nvCxnSpPr>
        <p:spPr>
          <a:xfrm flipH="1">
            <a:off x="173736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40" name="NIC 1"/>
          <p:cNvSpPr/>
          <p:nvPr/>
        </p:nvSpPr>
        <p:spPr>
          <a:xfrm>
            <a:off x="105156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NIC 1 label"/>
          <p:cNvSpPr txBox="1"/>
          <p:nvPr/>
        </p:nvSpPr>
        <p:spPr>
          <a:xfrm>
            <a:off x="105796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42" name="400G port 1-0"/>
          <p:cNvCxnSpPr/>
          <p:nvPr/>
        </p:nvCxnSpPr>
        <p:spPr>
          <a:xfrm>
            <a:off x="136245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43" name="400G port 1-1"/>
          <p:cNvCxnSpPr/>
          <p:nvPr/>
        </p:nvCxnSpPr>
        <p:spPr>
          <a:xfrm>
            <a:off x="142646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44" name="Ports 1"/>
          <p:cNvSpPr txBox="1"/>
          <p:nvPr/>
        </p:nvSpPr>
        <p:spPr>
          <a:xfrm>
            <a:off x="144932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45" name="Host uplink 2"/>
          <p:cNvCxnSpPr/>
          <p:nvPr/>
        </p:nvCxnSpPr>
        <p:spPr>
          <a:xfrm flipH="1">
            <a:off x="226314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6" name="Switch 2"/>
          <p:cNvSpPr/>
          <p:nvPr/>
        </p:nvSpPr>
        <p:spPr>
          <a:xfrm>
            <a:off x="192024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witch 2 label"/>
          <p:cNvSpPr txBox="1"/>
          <p:nvPr/>
        </p:nvSpPr>
        <p:spPr>
          <a:xfrm>
            <a:off x="192664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48" name="GPU link 2-0"/>
          <p:cNvCxnSpPr/>
          <p:nvPr/>
        </p:nvCxnSpPr>
        <p:spPr>
          <a:xfrm>
            <a:off x="20802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9" name="GPU 4"/>
          <p:cNvSpPr/>
          <p:nvPr/>
        </p:nvSpPr>
        <p:spPr>
          <a:xfrm>
            <a:off x="193395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GPU 4 label"/>
          <p:cNvSpPr txBox="1"/>
          <p:nvPr/>
        </p:nvSpPr>
        <p:spPr>
          <a:xfrm>
            <a:off x="19403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4</a:t>
            </a:r>
          </a:p>
        </p:txBody>
      </p:sp>
      <p:cxnSp>
        <p:nvCxnSpPr>
          <p:cNvPr id="51" name="GPU link 2-1"/>
          <p:cNvCxnSpPr/>
          <p:nvPr/>
        </p:nvCxnSpPr>
        <p:spPr>
          <a:xfrm>
            <a:off x="244602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52" name="GPU 5"/>
          <p:cNvSpPr/>
          <p:nvPr/>
        </p:nvSpPr>
        <p:spPr>
          <a:xfrm>
            <a:off x="229971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GPU 5 label"/>
          <p:cNvSpPr txBox="1"/>
          <p:nvPr/>
        </p:nvSpPr>
        <p:spPr>
          <a:xfrm>
            <a:off x="230611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5</a:t>
            </a:r>
          </a:p>
        </p:txBody>
      </p:sp>
      <p:cxnSp>
        <p:nvCxnSpPr>
          <p:cNvPr id="54" name="NIC PCIe 2"/>
          <p:cNvCxnSpPr/>
          <p:nvPr/>
        </p:nvCxnSpPr>
        <p:spPr>
          <a:xfrm>
            <a:off x="260604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5" name="NIC PCIe 2"/>
          <p:cNvCxnSpPr/>
          <p:nvPr/>
        </p:nvCxnSpPr>
        <p:spPr>
          <a:xfrm>
            <a:off x="264718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6" name="NIC PCIe 2"/>
          <p:cNvCxnSpPr/>
          <p:nvPr/>
        </p:nvCxnSpPr>
        <p:spPr>
          <a:xfrm flipH="1">
            <a:off x="260604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57" name="NIC 2"/>
          <p:cNvSpPr/>
          <p:nvPr/>
        </p:nvSpPr>
        <p:spPr>
          <a:xfrm>
            <a:off x="192024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NIC 2 label"/>
          <p:cNvSpPr txBox="1"/>
          <p:nvPr/>
        </p:nvSpPr>
        <p:spPr>
          <a:xfrm>
            <a:off x="192664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59" name="400G port 2-0"/>
          <p:cNvCxnSpPr/>
          <p:nvPr/>
        </p:nvCxnSpPr>
        <p:spPr>
          <a:xfrm>
            <a:off x="223113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60" name="400G port 2-1"/>
          <p:cNvCxnSpPr/>
          <p:nvPr/>
        </p:nvCxnSpPr>
        <p:spPr>
          <a:xfrm>
            <a:off x="22951439"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61" name="Ports 2"/>
          <p:cNvSpPr txBox="1"/>
          <p:nvPr/>
        </p:nvSpPr>
        <p:spPr>
          <a:xfrm>
            <a:off x="231800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62" name="Host uplink 3"/>
          <p:cNvCxnSpPr/>
          <p:nvPr/>
        </p:nvCxnSpPr>
        <p:spPr>
          <a:xfrm>
            <a:off x="301752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3" name="Switch 3"/>
          <p:cNvSpPr/>
          <p:nvPr/>
        </p:nvSpPr>
        <p:spPr>
          <a:xfrm>
            <a:off x="278892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witch 3 label"/>
          <p:cNvSpPr txBox="1"/>
          <p:nvPr/>
        </p:nvSpPr>
        <p:spPr>
          <a:xfrm>
            <a:off x="279532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65" name="GPU link 3-0"/>
          <p:cNvCxnSpPr/>
          <p:nvPr/>
        </p:nvCxnSpPr>
        <p:spPr>
          <a:xfrm>
            <a:off x="29489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6" name="GPU 6"/>
          <p:cNvSpPr/>
          <p:nvPr/>
        </p:nvSpPr>
        <p:spPr>
          <a:xfrm>
            <a:off x="28026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GPU 6 label"/>
          <p:cNvSpPr txBox="1"/>
          <p:nvPr/>
        </p:nvSpPr>
        <p:spPr>
          <a:xfrm>
            <a:off x="28090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6</a:t>
            </a:r>
          </a:p>
        </p:txBody>
      </p:sp>
      <p:cxnSp>
        <p:nvCxnSpPr>
          <p:cNvPr id="68" name="GPU link 3-1"/>
          <p:cNvCxnSpPr/>
          <p:nvPr/>
        </p:nvCxnSpPr>
        <p:spPr>
          <a:xfrm>
            <a:off x="33147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9" name="GPU 7"/>
          <p:cNvSpPr/>
          <p:nvPr/>
        </p:nvSpPr>
        <p:spPr>
          <a:xfrm>
            <a:off x="316839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GPU 7 label"/>
          <p:cNvSpPr txBox="1"/>
          <p:nvPr/>
        </p:nvSpPr>
        <p:spPr>
          <a:xfrm>
            <a:off x="317479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7</a:t>
            </a:r>
          </a:p>
        </p:txBody>
      </p:sp>
      <p:cxnSp>
        <p:nvCxnSpPr>
          <p:cNvPr id="71" name="NIC PCIe 3"/>
          <p:cNvCxnSpPr/>
          <p:nvPr/>
        </p:nvCxnSpPr>
        <p:spPr>
          <a:xfrm>
            <a:off x="347472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2" name="NIC PCIe 3"/>
          <p:cNvCxnSpPr/>
          <p:nvPr/>
        </p:nvCxnSpPr>
        <p:spPr>
          <a:xfrm>
            <a:off x="351586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3" name="NIC PCIe 3"/>
          <p:cNvCxnSpPr/>
          <p:nvPr/>
        </p:nvCxnSpPr>
        <p:spPr>
          <a:xfrm flipH="1">
            <a:off x="347472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74" name="NIC 3"/>
          <p:cNvSpPr/>
          <p:nvPr/>
        </p:nvSpPr>
        <p:spPr>
          <a:xfrm>
            <a:off x="278892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NIC 3 label"/>
          <p:cNvSpPr txBox="1"/>
          <p:nvPr/>
        </p:nvSpPr>
        <p:spPr>
          <a:xfrm>
            <a:off x="279532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76" name="400G port 3-0"/>
          <p:cNvCxnSpPr/>
          <p:nvPr/>
        </p:nvCxnSpPr>
        <p:spPr>
          <a:xfrm>
            <a:off x="309981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7" name="400G port 3-1"/>
          <p:cNvCxnSpPr/>
          <p:nvPr/>
        </p:nvCxnSpPr>
        <p:spPr>
          <a:xfrm>
            <a:off x="316382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78" name="Ports 3"/>
          <p:cNvSpPr txBox="1"/>
          <p:nvPr/>
        </p:nvSpPr>
        <p:spPr>
          <a:xfrm>
            <a:off x="318668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sp>
        <p:nvSpPr>
          <p:cNvPr id="79" name="Fabric"/>
          <p:cNvSpPr/>
          <p:nvPr/>
        </p:nvSpPr>
        <p:spPr>
          <a:xfrm>
            <a:off x="1828800" y="13716000"/>
            <a:ext cx="32918400" cy="5486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abric text"/>
          <p:cNvSpPr txBox="1"/>
          <p:nvPr/>
        </p:nvSpPr>
        <p:spPr>
          <a:xfrm>
            <a:off x="27432000" y="13734288"/>
            <a:ext cx="7315200" cy="457200"/>
          </a:xfrm>
          <a:prstGeom prst="rect">
            <a:avLst/>
          </a:prstGeom>
          <a:noFill/>
        </p:spPr>
        <p:txBody>
          <a:bodyPr wrap="square" lIns="0" rIns="0" tIns="0" bIns="0">
            <a:spAutoFit/>
          </a:bodyPr>
          <a:lstStyle/>
          <a:p>
            <a:pPr algn="ctr">
              <a:spcBef>
                <a:spcPts val="0"/>
              </a:spcBef>
              <a:spcAft>
                <a:spcPts val="0"/>
              </a:spcAft>
            </a:pPr>
            <a:r>
              <a:rPr sz="2300" b="0">
                <a:solidFill>
                  <a:srgbClr val="313131"/>
                </a:solidFill>
                <a:latin typeface="NVIDIA Sans"/>
              </a:rPr>
              <a:t>RoCE fabric</a:t>
            </a:r>
          </a:p>
        </p:txBody>
      </p:sp>
      <p:cxnSp>
        <p:nvCxnSpPr>
          <p:cNvPr id="81" name="NCCL G0 up"/>
          <p:cNvCxnSpPr/>
          <p:nvPr/>
        </p:nvCxnSpPr>
        <p:spPr>
          <a:xfrm flipV="1">
            <a:off x="34290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NCCL Host0 up"/>
          <p:cNvCxnSpPr/>
          <p:nvPr/>
        </p:nvCxnSpPr>
        <p:spPr>
          <a:xfrm flipV="1">
            <a:off x="52578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NCCL Across sockets"/>
          <p:cNvCxnSpPr/>
          <p:nvPr/>
        </p:nvCxnSpPr>
        <p:spPr>
          <a:xfrm>
            <a:off x="15544800" y="5806440"/>
            <a:ext cx="5486400" cy="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NCCL Host1 down"/>
          <p:cNvCxnSpPr/>
          <p:nvPr/>
        </p:nvCxnSpPr>
        <p:spPr>
          <a:xfrm flipH="1">
            <a:off x="226314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NCCL G4 down"/>
          <p:cNvCxnSpPr/>
          <p:nvPr/>
        </p:nvCxnSpPr>
        <p:spPr>
          <a:xfrm>
            <a:off x="208026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RDMA G0 up"/>
          <p:cNvCxnSpPr/>
          <p:nvPr/>
        </p:nvCxnSpPr>
        <p:spPr>
          <a:xfrm flipV="1">
            <a:off x="36118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RDMA NIC 0-0"/>
          <p:cNvCxnSpPr/>
          <p:nvPr/>
        </p:nvCxnSpPr>
        <p:spPr>
          <a:xfrm>
            <a:off x="86868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8" name="RDMA NIC 0-1"/>
          <p:cNvCxnSpPr/>
          <p:nvPr/>
        </p:nvCxnSpPr>
        <p:spPr>
          <a:xfrm>
            <a:off x="90982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9" name="RDMA NIC 0-2"/>
          <p:cNvCxnSpPr/>
          <p:nvPr/>
        </p:nvCxnSpPr>
        <p:spPr>
          <a:xfrm flipH="1">
            <a:off x="86868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0" name="RDMA NIC 2-0"/>
          <p:cNvCxnSpPr/>
          <p:nvPr/>
        </p:nvCxnSpPr>
        <p:spPr>
          <a:xfrm>
            <a:off x="260604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1" name="RDMA NIC 2-1"/>
          <p:cNvCxnSpPr/>
          <p:nvPr/>
        </p:nvCxnSpPr>
        <p:spPr>
          <a:xfrm flipV="1">
            <a:off x="264718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RDMA NIC 2-2"/>
          <p:cNvCxnSpPr/>
          <p:nvPr/>
        </p:nvCxnSpPr>
        <p:spPr>
          <a:xfrm flipH="1">
            <a:off x="260604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3" name="RDMA source port"/>
          <p:cNvCxnSpPr/>
          <p:nvPr/>
        </p:nvCxnSpPr>
        <p:spPr>
          <a:xfrm>
            <a:off x="49377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RDMA logical fabric"/>
          <p:cNvCxnSpPr/>
          <p:nvPr/>
        </p:nvCxnSpPr>
        <p:spPr>
          <a:xfrm>
            <a:off x="4937760" y="13990320"/>
            <a:ext cx="17373600" cy="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RDMA target port"/>
          <p:cNvCxnSpPr/>
          <p:nvPr/>
        </p:nvCxnSpPr>
        <p:spPr>
          <a:xfrm flipV="1">
            <a:off x="223113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RDMA G4 down"/>
          <p:cNvCxnSpPr/>
          <p:nvPr/>
        </p:nvCxnSpPr>
        <p:spPr>
          <a:xfrm>
            <a:off x="209854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Nominal bandwidth legend"/>
          <p:cNvSpPr txBox="1"/>
          <p:nvPr/>
        </p:nvSpPr>
        <p:spPr>
          <a:xfrm>
            <a:off x="1828800" y="14630400"/>
            <a:ext cx="3291840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Nominal one-way links: GPU / host 64 GB/s  ·  NIC PCIe 128 GB/s  ·  port 50 GB/s</a:t>
            </a:r>
          </a:p>
        </p:txBody>
      </p:sp>
      <p:sp>
        <p:nvSpPr>
          <p:cNvPr id="98" name="NCCL path heading"/>
          <p:cNvSpPr txBox="1"/>
          <p:nvPr/>
        </p:nvSpPr>
        <p:spPr>
          <a:xfrm>
            <a:off x="1828800" y="15681959"/>
            <a:ext cx="1554480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Original code · local-only NCCL replay</a:t>
            </a:r>
          </a:p>
        </p:txBody>
      </p:sp>
      <p:sp>
        <p:nvSpPr>
          <p:cNvPr id="99" name="NCCL measured rate"/>
          <p:cNvSpPr txBox="1"/>
          <p:nvPr/>
        </p:nvSpPr>
        <p:spPr>
          <a:xfrm>
            <a:off x="1828800" y="16733520"/>
            <a:ext cx="13716000" cy="109728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17.0 GB/s/GPU</a:t>
            </a:r>
          </a:p>
        </p:txBody>
      </p:sp>
      <p:sp>
        <p:nvSpPr>
          <p:cNvPr id="100" name="NCCL measured time"/>
          <p:cNvSpPr txBox="1"/>
          <p:nvPr/>
        </p:nvSpPr>
        <p:spPr>
          <a:xfrm>
            <a:off x="1828800" y="17967960"/>
            <a:ext cx="1490472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5.560 ms · shared uplinks + host buffers</a:t>
            </a:r>
          </a:p>
        </p:txBody>
      </p:sp>
      <p:sp>
        <p:nvSpPr>
          <p:cNvPr id="101" name="Communication speedup"/>
          <p:cNvSpPr txBox="1"/>
          <p:nvPr/>
        </p:nvSpPr>
        <p:spPr>
          <a:xfrm>
            <a:off x="15773400" y="16687800"/>
            <a:ext cx="5029200" cy="1371600"/>
          </a:xfrm>
          <a:prstGeom prst="rect">
            <a:avLst/>
          </a:prstGeom>
          <a:noFill/>
        </p:spPr>
        <p:txBody>
          <a:bodyPr wrap="square" lIns="0" rIns="0" tIns="0" bIns="0">
            <a:spAutoFit/>
          </a:bodyPr>
          <a:lstStyle/>
          <a:p>
            <a:pPr algn="ctr">
              <a:spcBef>
                <a:spcPts val="0"/>
              </a:spcBef>
              <a:spcAft>
                <a:spcPts val="0"/>
              </a:spcAft>
            </a:pPr>
            <a:r>
              <a:rPr sz="7500" b="0">
                <a:solidFill>
                  <a:srgbClr val="76B900"/>
                </a:solidFill>
                <a:latin typeface="NVIDIA Sans Medium"/>
              </a:rPr>
              <a:t>2.34×</a:t>
            </a:r>
          </a:p>
        </p:txBody>
      </p:sp>
      <p:sp>
        <p:nvSpPr>
          <p:cNvPr id="102" name="RDMA path heading"/>
          <p:cNvSpPr txBox="1"/>
          <p:nvPr/>
        </p:nvSpPr>
        <p:spPr>
          <a:xfrm>
            <a:off x="21945600" y="15681959"/>
            <a:ext cx="12801600" cy="731520"/>
          </a:xfrm>
          <a:prstGeom prst="rect">
            <a:avLst/>
          </a:prstGeom>
          <a:noFill/>
        </p:spPr>
        <p:txBody>
          <a:bodyPr wrap="square" lIns="0" rIns="0" tIns="0" bIns="0">
            <a:spAutoFit/>
          </a:bodyPr>
          <a:lstStyle/>
          <a:p>
            <a:pPr>
              <a:spcBef>
                <a:spcPts val="0"/>
              </a:spcBef>
              <a:spcAft>
                <a:spcPts val="0"/>
              </a:spcAft>
            </a:pPr>
            <a:r>
              <a:rPr sz="3200" b="0">
                <a:solidFill>
                  <a:srgbClr val="76B900"/>
                </a:solidFill>
                <a:latin typeface="NVIDIA Sans Medium"/>
              </a:rPr>
              <a:t>GPU-affine FI RDMA</a:t>
            </a:r>
          </a:p>
        </p:txBody>
      </p:sp>
      <p:sp>
        <p:nvSpPr>
          <p:cNvPr id="103" name="RDMA measured rate"/>
          <p:cNvSpPr txBox="1"/>
          <p:nvPr/>
        </p:nvSpPr>
        <p:spPr>
          <a:xfrm>
            <a:off x="21945600" y="16733520"/>
            <a:ext cx="12801600" cy="1097280"/>
          </a:xfrm>
          <a:prstGeom prst="rect">
            <a:avLst/>
          </a:prstGeom>
          <a:noFill/>
        </p:spPr>
        <p:txBody>
          <a:bodyPr wrap="square" lIns="0" rIns="0" tIns="0" bIns="0">
            <a:spAutoFit/>
          </a:bodyPr>
          <a:lstStyle/>
          <a:p>
            <a:pPr>
              <a:spcBef>
                <a:spcPts val="0"/>
              </a:spcBef>
              <a:spcAft>
                <a:spcPts val="0"/>
              </a:spcAft>
            </a:pPr>
            <a:r>
              <a:rPr sz="6000" b="0">
                <a:solidFill>
                  <a:srgbClr val="76B900"/>
                </a:solidFill>
                <a:latin typeface="NVIDIA Sans Medium"/>
              </a:rPr>
              <a:t>39.9 GB/s/GPU</a:t>
            </a:r>
          </a:p>
        </p:txBody>
      </p:sp>
      <p:sp>
        <p:nvSpPr>
          <p:cNvPr id="104" name="RDMA measured time"/>
          <p:cNvSpPr txBox="1"/>
          <p:nvPr/>
        </p:nvSpPr>
        <p:spPr>
          <a:xfrm>
            <a:off x="21945600" y="17967960"/>
            <a:ext cx="128016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rPr>
              <a:t>2.375 ms · bypasses host payload buffers</a:t>
            </a:r>
          </a:p>
        </p:txBody>
      </p:sp>
      <p:sp>
        <p:nvSpPr>
          <p:cNvPr id="105" name="Measurement scope"/>
          <p:cNvSpPr txBox="1"/>
          <p:nvPr/>
        </p:nvSpPr>
        <p:spPr>
          <a:xfrm>
            <a:off x="1828800" y="189738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Measured 8-GPU Q/K/V/O replay · S=15,104 · BF16 · 90 samples/backend · includes layout and synchronization.</a:t>
            </a:r>
          </a:p>
        </p:txBody>
      </p:sp>
      <p:sp>
        <p:nvSpPr>
          <p:cNvPr id="106" name="Route scope"/>
          <p:cNvSpPr txBox="1"/>
          <p:nvPr/>
        </p:nvSpPr>
        <p:spPr>
          <a:xfrm>
            <a:off x="1828800" y="19568160"/>
            <a:ext cx="32918400" cy="502920"/>
          </a:xfrm>
          <a:prstGeom prst="rect">
            <a:avLst/>
          </a:prstGeom>
          <a:noFill/>
        </p:spPr>
        <p:txBody>
          <a:bodyPr wrap="square" lIns="0" rIns="0" tIns="0" bIns="0">
            <a:spAutoFit/>
          </a:bodyPr>
          <a:lstStyle/>
          <a:p>
            <a:pPr>
              <a:spcBef>
                <a:spcPts val="0"/>
              </a:spcBef>
              <a:spcAft>
                <a:spcPts val="0"/>
              </a:spcAft>
            </a:pPr>
            <a:r>
              <a:rPr sz="2200" b="0">
                <a:solidFill>
                  <a:srgbClr val="313131"/>
                </a:solidFill>
                <a:latin typeface="NVIDIA Sans"/>
              </a:rPr>
              <a:t>Arrows illustrate GPU 0 → GPU 4. Rates are effective collective TX per GPU; historical Base50 pair routes were not recorded.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8</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828800"/>
          </a:xfrm>
          <a:prstGeom prst="rect">
            <a:avLst/>
          </a:prstGeom>
          <a:noFill/>
        </p:spPr>
        <p:txBody>
          <a:bodyPr wrap="square" lIns="0" rIns="0" tIns="0" bIns="0">
            <a:spAutoFit/>
          </a:bodyPr>
          <a:lstStyle/>
          <a:p>
            <a:r>
              <a:rPr sz="3100" b="0">
                <a:solidFill>
                  <a:srgbClr val="000000"/>
                </a:solidFill>
                <a:latin typeface="NVIDIA Sans"/>
              </a:rPr>
              <a:t>GPU-affine NICs + BF16 RDMA.</a:t>
            </a:r>
          </a:p>
          <a:p>
            <a:r>
              <a:rPr sz="3100" b="0">
                <a:solidFill>
                  <a:srgbClr val="000000"/>
                </a:solidFill>
                <a:latin typeface="NVIDIA Sans"/>
              </a:rPr>
              <a:t>Bypass shared host payload paths.</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828800"/>
          </a:xfrm>
          <a:prstGeom prst="rect">
            <a:avLst/>
          </a:prstGeom>
          <a:noFill/>
        </p:spPr>
        <p:txBody>
          <a:bodyPr wrap="square" lIns="0" rIns="0" tIns="0" bIns="0">
            <a:spAutoFit/>
          </a:bodyPr>
          <a:lstStyle/>
          <a:p>
            <a:r>
              <a:rPr sz="3100" b="0">
                <a:solidFill>
                  <a:srgbClr val="000000"/>
                </a:solidFill>
                <a:latin typeface="NVIDIA Sans"/>
              </a:rPr>
              <a:t>2 / 3 / 2 head bands.</a:t>
            </a:r>
          </a:p>
          <a:p>
            <a:r>
              <a:rPr sz="3100" b="0">
                <a:solidFill>
                  <a:srgbClr val="000000"/>
                </a:solidFill>
                <a:latin typeface="NVIDIA Sans"/>
              </a:rPr>
              <a:t>Transfer one band while another computes.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828800"/>
          </a:xfrm>
          <a:prstGeom prst="rect">
            <a:avLst/>
          </a:prstGeom>
          <a:noFill/>
        </p:spPr>
        <p:txBody>
          <a:bodyPr wrap="square" lIns="0" rIns="0" tIns="0" bIns="0">
            <a:spAutoFit/>
          </a:bodyPr>
          <a:lstStyle/>
          <a:p>
            <a:r>
              <a:rPr sz="3100" b="0">
                <a:solidFill>
                  <a:srgbClr val="000000"/>
                </a:solidFill>
                <a:latin typeface="NVIDIA Sans"/>
              </a:rPr>
              <a:t>Direct layouts + compute CUDA graphs.</a:t>
            </a:r>
          </a:p>
          <a:p>
            <a:r>
              <a:rPr sz="3100" b="0">
                <a:solidFill>
                  <a:srgbClr val="000000"/>
                </a:solidFill>
                <a:latin typeface="NVIDIA Sans"/>
              </a:rPr>
              <a:t>Reduce copies and launch overhead.</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r>
              <a:rPr sz="2700" b="0">
                <a:solidFill>
                  <a:srgbClr val="313131"/>
                </a:solidFill>
                <a:latin typeface="NVIDIA Sans"/>
              </a:rPr>
              <a:t>Conceptual overlap · 2 / 3 / 2 head bands</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r>
              <a:rPr sz="3100" b="0">
                <a:solidFill>
                  <a:srgbClr val="313131"/>
                </a:solidFill>
                <a:latin typeface="NVIDIA Sans"/>
              </a:rPr>
              <a:t>19.46 → 6.83 → 6.41 → 6.19 s</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r>
              <a:rPr sz="4000" b="0">
                <a:solidFill>
                  <a:srgbClr val="000000"/>
                </a:solidFill>
                <a:latin typeface="NVIDIA Sans Medium"/>
              </a:rPr>
              <a:t>Route efficiently. Overlap work. Reduce movement.</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
        <p:nvSpPr>
          <p:cNvPr id="34" name="Comms stage labels"/>
          <p:cNvSpPr txBox="1"/>
          <p:nvPr/>
        </p:nvSpPr>
        <p:spPr>
          <a:xfrm>
            <a:off x="17373600" y="17007840"/>
            <a:ext cx="17373600" cy="594360"/>
          </a:xfrm>
          <a:prstGeom prst="rect">
            <a:avLst/>
          </a:prstGeom>
          <a:noFill/>
        </p:spPr>
        <p:txBody>
          <a:bodyPr wrap="square" lIns="0" rIns="0" tIns="0" bIns="0">
            <a:spAutoFit/>
          </a:bodyPr>
          <a:lstStyle/>
          <a:p>
            <a:pPr>
              <a:spcBef>
                <a:spcPts val="0"/>
              </a:spcBef>
              <a:spcAft>
                <a:spcPts val="0"/>
              </a:spcAft>
            </a:pPr>
            <a:r>
              <a:rPr sz="2600" b="0">
                <a:solidFill>
                  <a:srgbClr val="313131"/>
                </a:solidFill>
                <a:latin typeface="NVIDIA Sans"/>
              </a:rPr>
              <a:t>Route/layout → head bands → compute graphs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9</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Ladder header"/>
          <p:cNvSpPr/>
          <p:nvPr/>
        </p:nvSpPr>
        <p:spPr>
          <a:xfrm>
            <a:off x="1828800" y="5303520"/>
            <a:ext cx="32918400" cy="118872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2148840" y="5596128"/>
            <a:ext cx="21031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Stage</a:t>
            </a:r>
          </a:p>
        </p:txBody>
      </p:sp>
      <p:sp>
        <p:nvSpPr>
          <p:cNvPr id="7" name="Header Cumulative optimization"/>
          <p:cNvSpPr txBox="1"/>
          <p:nvPr/>
        </p:nvSpPr>
        <p:spPr>
          <a:xfrm>
            <a:off x="4572000" y="5596128"/>
            <a:ext cx="185623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Cumulative optimization</a:t>
            </a:r>
          </a:p>
        </p:txBody>
      </p:sp>
      <p:sp>
        <p:nvSpPr>
          <p:cNvPr id="8" name="Header E2E latency"/>
          <p:cNvSpPr txBox="1"/>
          <p:nvPr/>
        </p:nvSpPr>
        <p:spPr>
          <a:xfrm>
            <a:off x="23774400" y="5596128"/>
            <a:ext cx="475488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E2E latency</a:t>
            </a:r>
          </a:p>
        </p:txBody>
      </p:sp>
      <p:sp>
        <p:nvSpPr>
          <p:cNvPr id="9" name="Header Speedup¹"/>
          <p:cNvSpPr txBox="1"/>
          <p:nvPr/>
        </p:nvSpPr>
        <p:spPr>
          <a:xfrm>
            <a:off x="29535119" y="5596128"/>
            <a:ext cx="493776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Speedup¹</a:t>
            </a:r>
          </a:p>
        </p:txBody>
      </p:sp>
      <p:sp>
        <p:nvSpPr>
          <p:cNvPr id="10" name="Row 00"/>
          <p:cNvSpPr/>
          <p:nvPr/>
        </p:nvSpPr>
        <p:spPr>
          <a:xfrm>
            <a:off x="1828800" y="6492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ge 00 2.35"/>
          <p:cNvSpPr txBox="1"/>
          <p:nvPr/>
        </p:nvSpPr>
        <p:spPr>
          <a:xfrm>
            <a:off x="2148840" y="6766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00</a:t>
            </a:r>
          </a:p>
        </p:txBody>
      </p:sp>
      <p:sp>
        <p:nvSpPr>
          <p:cNvPr id="12" name="Stage 00 5"/>
          <p:cNvSpPr txBox="1"/>
          <p:nvPr/>
        </p:nvSpPr>
        <p:spPr>
          <a:xfrm>
            <a:off x="4572000" y="6766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Baseline · BF16 / dense / 50 evaluations</a:t>
            </a:r>
          </a:p>
        </p:txBody>
      </p:sp>
      <p:sp>
        <p:nvSpPr>
          <p:cNvPr id="13" name="Stage 00 26"/>
          <p:cNvSpPr txBox="1"/>
          <p:nvPr/>
        </p:nvSpPr>
        <p:spPr>
          <a:xfrm>
            <a:off x="23774400" y="6766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213.402 s</a:t>
            </a:r>
          </a:p>
        </p:txBody>
      </p:sp>
      <p:sp>
        <p:nvSpPr>
          <p:cNvPr id="14" name="Stage 00 32.3"/>
          <p:cNvSpPr txBox="1"/>
          <p:nvPr/>
        </p:nvSpPr>
        <p:spPr>
          <a:xfrm>
            <a:off x="29535119" y="6766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a:t>
            </a:r>
          </a:p>
        </p:txBody>
      </p:sp>
      <p:sp>
        <p:nvSpPr>
          <p:cNvPr id="15" name="Stage 01 2.35"/>
          <p:cNvSpPr txBox="1"/>
          <p:nvPr/>
        </p:nvSpPr>
        <p:spPr>
          <a:xfrm>
            <a:off x="2148840" y="7909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01</a:t>
            </a:r>
          </a:p>
        </p:txBody>
      </p:sp>
      <p:sp>
        <p:nvSpPr>
          <p:cNvPr id="16" name="Stage 01 5"/>
          <p:cNvSpPr txBox="1"/>
          <p:nvPr/>
        </p:nvSpPr>
        <p:spPr>
          <a:xfrm>
            <a:off x="4572000" y="7909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PDD · 50 → 8 evaluations</a:t>
            </a:r>
          </a:p>
        </p:txBody>
      </p:sp>
      <p:sp>
        <p:nvSpPr>
          <p:cNvPr id="17" name="Stage 01 26"/>
          <p:cNvSpPr txBox="1"/>
          <p:nvPr/>
        </p:nvSpPr>
        <p:spPr>
          <a:xfrm>
            <a:off x="23774400" y="7909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44.327 s</a:t>
            </a:r>
          </a:p>
        </p:txBody>
      </p:sp>
      <p:sp>
        <p:nvSpPr>
          <p:cNvPr id="18" name="Stage 01 32.3"/>
          <p:cNvSpPr txBox="1"/>
          <p:nvPr/>
        </p:nvSpPr>
        <p:spPr>
          <a:xfrm>
            <a:off x="29535119" y="7909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4.814×†</a:t>
            </a:r>
          </a:p>
        </p:txBody>
      </p:sp>
      <p:sp>
        <p:nvSpPr>
          <p:cNvPr id="19" name="Row 02"/>
          <p:cNvSpPr/>
          <p:nvPr/>
        </p:nvSpPr>
        <p:spPr>
          <a:xfrm>
            <a:off x="1828800" y="8778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age 02 2.35"/>
          <p:cNvSpPr txBox="1"/>
          <p:nvPr/>
        </p:nvSpPr>
        <p:spPr>
          <a:xfrm>
            <a:off x="2148840" y="9052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02</a:t>
            </a:r>
          </a:p>
        </p:txBody>
      </p:sp>
      <p:sp>
        <p:nvSpPr>
          <p:cNvPr id="21" name="Stage 02 5"/>
          <p:cNvSpPr txBox="1"/>
          <p:nvPr/>
        </p:nvSpPr>
        <p:spPr>
          <a:xfrm>
            <a:off x="4572000" y="9052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Trained video sparse attention</a:t>
            </a:r>
          </a:p>
        </p:txBody>
      </p:sp>
      <p:sp>
        <p:nvSpPr>
          <p:cNvPr id="22" name="Stage 02 26"/>
          <p:cNvSpPr txBox="1"/>
          <p:nvPr/>
        </p:nvSpPr>
        <p:spPr>
          <a:xfrm>
            <a:off x="23774400" y="9052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25.915 s</a:t>
            </a:r>
          </a:p>
        </p:txBody>
      </p:sp>
      <p:sp>
        <p:nvSpPr>
          <p:cNvPr id="23" name="Stage 02 32.3"/>
          <p:cNvSpPr txBox="1"/>
          <p:nvPr/>
        </p:nvSpPr>
        <p:spPr>
          <a:xfrm>
            <a:off x="29535119" y="9052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1.710×</a:t>
            </a:r>
          </a:p>
        </p:txBody>
      </p:sp>
      <p:sp>
        <p:nvSpPr>
          <p:cNvPr id="24" name="Stage 03 2.35"/>
          <p:cNvSpPr txBox="1"/>
          <p:nvPr/>
        </p:nvSpPr>
        <p:spPr>
          <a:xfrm>
            <a:off x="2148840" y="10195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03</a:t>
            </a:r>
          </a:p>
        </p:txBody>
      </p:sp>
      <p:sp>
        <p:nvSpPr>
          <p:cNvPr id="25" name="Stage 03 5"/>
          <p:cNvSpPr txBox="1"/>
          <p:nvPr/>
        </p:nvSpPr>
        <p:spPr>
          <a:xfrm>
            <a:off x="4572000" y="10195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QAD NVFP4 DiT / native FP4 attention</a:t>
            </a:r>
          </a:p>
        </p:txBody>
      </p:sp>
      <p:sp>
        <p:nvSpPr>
          <p:cNvPr id="26" name="Stage 03 26"/>
          <p:cNvSpPr txBox="1"/>
          <p:nvPr/>
        </p:nvSpPr>
        <p:spPr>
          <a:xfrm>
            <a:off x="23774400" y="10195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19.460 s</a:t>
            </a:r>
          </a:p>
        </p:txBody>
      </p:sp>
      <p:sp>
        <p:nvSpPr>
          <p:cNvPr id="27" name="Stage 03 32.3"/>
          <p:cNvSpPr txBox="1"/>
          <p:nvPr/>
        </p:nvSpPr>
        <p:spPr>
          <a:xfrm>
            <a:off x="29535119" y="10195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1.332×</a:t>
            </a:r>
          </a:p>
        </p:txBody>
      </p:sp>
      <p:sp>
        <p:nvSpPr>
          <p:cNvPr id="28" name="Row 04"/>
          <p:cNvSpPr/>
          <p:nvPr/>
        </p:nvSpPr>
        <p:spPr>
          <a:xfrm>
            <a:off x="1828800" y="11064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age 04 2.35"/>
          <p:cNvSpPr txBox="1"/>
          <p:nvPr/>
        </p:nvSpPr>
        <p:spPr>
          <a:xfrm>
            <a:off x="2148840" y="11338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04</a:t>
            </a:r>
          </a:p>
        </p:txBody>
      </p:sp>
      <p:sp>
        <p:nvSpPr>
          <p:cNvPr id="30" name="Stage 04 5"/>
          <p:cNvSpPr txBox="1"/>
          <p:nvPr/>
        </p:nvSpPr>
        <p:spPr>
          <a:xfrm>
            <a:off x="4572000" y="11338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RDMA / direct layout / V-gate overlap</a:t>
            </a:r>
          </a:p>
        </p:txBody>
      </p:sp>
      <p:sp>
        <p:nvSpPr>
          <p:cNvPr id="31" name="Stage 04 26"/>
          <p:cNvSpPr txBox="1"/>
          <p:nvPr/>
        </p:nvSpPr>
        <p:spPr>
          <a:xfrm>
            <a:off x="23774400" y="11338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6.832 s</a:t>
            </a:r>
          </a:p>
        </p:txBody>
      </p:sp>
      <p:sp>
        <p:nvSpPr>
          <p:cNvPr id="32" name="Stage 04 32.3"/>
          <p:cNvSpPr txBox="1"/>
          <p:nvPr/>
        </p:nvSpPr>
        <p:spPr>
          <a:xfrm>
            <a:off x="29535119" y="11338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2.848×</a:t>
            </a:r>
          </a:p>
        </p:txBody>
      </p:sp>
      <p:sp>
        <p:nvSpPr>
          <p:cNvPr id="33" name="Stage 05 2.35"/>
          <p:cNvSpPr txBox="1"/>
          <p:nvPr/>
        </p:nvSpPr>
        <p:spPr>
          <a:xfrm>
            <a:off x="2148840" y="12481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05</a:t>
            </a:r>
          </a:p>
        </p:txBody>
      </p:sp>
      <p:sp>
        <p:nvSpPr>
          <p:cNvPr id="34" name="Stage 05 5"/>
          <p:cNvSpPr txBox="1"/>
          <p:nvPr/>
        </p:nvSpPr>
        <p:spPr>
          <a:xfrm>
            <a:off x="4572000" y="12481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+ 2 / 3 / 2 head pipeline</a:t>
            </a:r>
          </a:p>
        </p:txBody>
      </p:sp>
      <p:sp>
        <p:nvSpPr>
          <p:cNvPr id="35" name="Stage 05 26"/>
          <p:cNvSpPr txBox="1"/>
          <p:nvPr/>
        </p:nvSpPr>
        <p:spPr>
          <a:xfrm>
            <a:off x="23774400" y="12481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6.407 s</a:t>
            </a:r>
          </a:p>
        </p:txBody>
      </p:sp>
      <p:sp>
        <p:nvSpPr>
          <p:cNvPr id="36" name="Stage 05 32.3"/>
          <p:cNvSpPr txBox="1"/>
          <p:nvPr/>
        </p:nvSpPr>
        <p:spPr>
          <a:xfrm>
            <a:off x="29535119" y="12481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1.066×</a:t>
            </a:r>
          </a:p>
        </p:txBody>
      </p:sp>
      <p:sp>
        <p:nvSpPr>
          <p:cNvPr id="37" name="Row 06"/>
          <p:cNvSpPr/>
          <p:nvPr/>
        </p:nvSpPr>
        <p:spPr>
          <a:xfrm>
            <a:off x="1828800" y="13350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tage 06 2.35"/>
          <p:cNvSpPr txBox="1"/>
          <p:nvPr/>
        </p:nvSpPr>
        <p:spPr>
          <a:xfrm>
            <a:off x="2148840" y="13624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06</a:t>
            </a:r>
          </a:p>
        </p:txBody>
      </p:sp>
      <p:sp>
        <p:nvSpPr>
          <p:cNvPr id="39" name="Stage 06 5"/>
          <p:cNvSpPr txBox="1"/>
          <p:nvPr/>
        </p:nvSpPr>
        <p:spPr>
          <a:xfrm>
            <a:off x="4572000" y="13624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Compute CUDA graphs</a:t>
            </a:r>
          </a:p>
        </p:txBody>
      </p:sp>
      <p:sp>
        <p:nvSpPr>
          <p:cNvPr id="40" name="Stage 06 26"/>
          <p:cNvSpPr txBox="1"/>
          <p:nvPr/>
        </p:nvSpPr>
        <p:spPr>
          <a:xfrm>
            <a:off x="23774400" y="13624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6.193 s</a:t>
            </a:r>
          </a:p>
        </p:txBody>
      </p:sp>
      <p:sp>
        <p:nvSpPr>
          <p:cNvPr id="41" name="Stage 06 32.3"/>
          <p:cNvSpPr txBox="1"/>
          <p:nvPr/>
        </p:nvSpPr>
        <p:spPr>
          <a:xfrm>
            <a:off x="29535119" y="13624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1.035×</a:t>
            </a:r>
          </a:p>
        </p:txBody>
      </p:sp>
      <p:sp>
        <p:nvSpPr>
          <p:cNvPr id="42" name="Stage 07 2.35"/>
          <p:cNvSpPr txBox="1"/>
          <p:nvPr/>
        </p:nvSpPr>
        <p:spPr>
          <a:xfrm>
            <a:off x="2148840" y="14767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07</a:t>
            </a:r>
          </a:p>
        </p:txBody>
      </p:sp>
      <p:sp>
        <p:nvSpPr>
          <p:cNvPr id="43" name="Stage 07 5"/>
          <p:cNvSpPr txBox="1"/>
          <p:nvPr/>
        </p:nvSpPr>
        <p:spPr>
          <a:xfrm>
            <a:off x="4572000" y="14767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+ 36-layer NVFP4 VAE / MP4 pre-encoding</a:t>
            </a:r>
          </a:p>
        </p:txBody>
      </p:sp>
      <p:sp>
        <p:nvSpPr>
          <p:cNvPr id="44" name="Stage 07 26"/>
          <p:cNvSpPr txBox="1"/>
          <p:nvPr/>
        </p:nvSpPr>
        <p:spPr>
          <a:xfrm>
            <a:off x="23774400" y="14767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5.420 s</a:t>
            </a:r>
          </a:p>
        </p:txBody>
      </p:sp>
      <p:sp>
        <p:nvSpPr>
          <p:cNvPr id="45" name="Stage 07 32.3"/>
          <p:cNvSpPr txBox="1"/>
          <p:nvPr/>
        </p:nvSpPr>
        <p:spPr>
          <a:xfrm>
            <a:off x="29535119" y="14767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1.143×</a:t>
            </a:r>
          </a:p>
        </p:txBody>
      </p:sp>
      <p:sp>
        <p:nvSpPr>
          <p:cNvPr id="46" name="Row 08–12"/>
          <p:cNvSpPr/>
          <p:nvPr/>
        </p:nvSpPr>
        <p:spPr>
          <a:xfrm>
            <a:off x="1828800" y="15636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tage 08–12 2.35"/>
          <p:cNvSpPr txBox="1"/>
          <p:nvPr/>
        </p:nvSpPr>
        <p:spPr>
          <a:xfrm>
            <a:off x="2148840" y="15910560"/>
            <a:ext cx="210312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08–12</a:t>
            </a:r>
          </a:p>
        </p:txBody>
      </p:sp>
      <p:sp>
        <p:nvSpPr>
          <p:cNvPr id="48" name="Stage 08–12 5"/>
          <p:cNvSpPr txBox="1"/>
          <p:nvPr/>
        </p:nvSpPr>
        <p:spPr>
          <a:xfrm>
            <a:off x="4572000" y="15910560"/>
            <a:ext cx="18562320" cy="777240"/>
          </a:xfrm>
          <a:prstGeom prst="rect">
            <a:avLst/>
          </a:prstGeom>
          <a:noFill/>
        </p:spPr>
        <p:txBody>
          <a:bodyPr wrap="square" lIns="0" rIns="0" tIns="0" bIns="0">
            <a:spAutoFit/>
          </a:bodyPr>
          <a:lstStyle/>
          <a:p>
            <a:pPr>
              <a:spcBef>
                <a:spcPts val="0"/>
              </a:spcBef>
              <a:spcAft>
                <a:spcPts val="0"/>
              </a:spcAft>
            </a:pPr>
            <a:r>
              <a:rPr sz="3300" b="0">
                <a:solidFill>
                  <a:srgbClr val="76B900"/>
                </a:solidFill>
                <a:latin typeface="NVIDIA Sans Medium"/>
              </a:rPr>
              <a:t>+ Output fusion / routing / copy removal</a:t>
            </a:r>
          </a:p>
        </p:txBody>
      </p:sp>
      <p:sp>
        <p:nvSpPr>
          <p:cNvPr id="49" name="Stage 08–12 26"/>
          <p:cNvSpPr txBox="1"/>
          <p:nvPr/>
        </p:nvSpPr>
        <p:spPr>
          <a:xfrm>
            <a:off x="23774400" y="15910560"/>
            <a:ext cx="502920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4.922 s</a:t>
            </a:r>
          </a:p>
        </p:txBody>
      </p:sp>
      <p:sp>
        <p:nvSpPr>
          <p:cNvPr id="50" name="Stage 08–12 32.3"/>
          <p:cNvSpPr txBox="1"/>
          <p:nvPr/>
        </p:nvSpPr>
        <p:spPr>
          <a:xfrm>
            <a:off x="29535119" y="15910560"/>
            <a:ext cx="493776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1.101×</a:t>
            </a:r>
          </a:p>
        </p:txBody>
      </p:sp>
      <p:sp>
        <p:nvSpPr>
          <p:cNvPr id="51" name="Overall measured result"/>
          <p:cNvSpPr txBox="1"/>
          <p:nvPr/>
        </p:nvSpPr>
        <p:spPr>
          <a:xfrm>
            <a:off x="1828800" y="17419320"/>
            <a:ext cx="32918400" cy="1097280"/>
          </a:xfrm>
          <a:prstGeom prst="rect">
            <a:avLst/>
          </a:prstGeom>
          <a:noFill/>
        </p:spPr>
        <p:txBody>
          <a:bodyPr wrap="square" lIns="0" rIns="0" tIns="0" bIns="0">
            <a:spAutoFit/>
          </a:bodyPr>
          <a:lstStyle/>
          <a:p>
            <a:pPr algn="ctr">
              <a:spcBef>
                <a:spcPts val="0"/>
              </a:spcBef>
              <a:spcAft>
                <a:spcPts val="0"/>
              </a:spcAft>
            </a:pPr>
            <a:r>
              <a:rPr sz="5800" b="0">
                <a:solidFill>
                  <a:srgbClr val="76B900"/>
                </a:solidFill>
                <a:latin typeface="NVIDIA Sans Medium"/>
              </a:rPr>
              <a:t>43.4× faster  ·  4.92 s  ·  RTF 0.95</a:t>
            </a:r>
          </a:p>
        </p:txBody>
      </p:sp>
      <p:sp>
        <p:nvSpPr>
          <p:cNvPr id="52" name="Ladder ratio note"/>
          <p:cNvSpPr txBox="1"/>
          <p:nvPr/>
        </p:nvSpPr>
        <p:spPr>
          <a:xfrm>
            <a:off x="1828800" y="189280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¹ Previous displayed row ÷ current row. 08–12 is grouped. † Baseline refreshed separately (n=2); later stages n=3.</a:t>
            </a:r>
          </a:p>
        </p:txBody>
      </p:sp>
      <p:sp>
        <p:nvSpPr>
          <p:cNvPr id="53" name="Ladder scope"/>
          <p:cNvSpPr txBox="1"/>
          <p:nvPr/>
        </p:nvSpPr>
        <p:spPr>
          <a:xfrm>
            <a:off x="1828800" y="1952244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Standalone H3; ASR / LLM excluded. Includes model, schedule and precision changes. No new measurements.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10</a:t>
            </a:r>
          </a:p>
        </p:txBody>
      </p:sp>
      <p:sp>
        <p:nvSpPr>
          <p:cNvPr id="3" name="Text Placeholder 2"/>
          <p:cNvSpPr>
            <a:spLocks noGrp="1"/>
          </p:cNvSpPr>
          <p:nvPr>
            <p:ph type="body" idx="13" sz="quarter"/>
          </p:nvPr>
        </p:nvSpPr>
        <p:spPr/>
        <p:txBody>
          <a:bodyPr/>
          <a:lstStyle/>
          <a:p>
            <a:r>
              <a:t>Voice → text → prompt → audio + video</a:t>
            </a:r>
          </a:p>
        </p:txBody>
      </p:sp>
      <p:sp>
        <p:nvSpPr>
          <p:cNvPr id="4" name="Title 3"/>
          <p:cNvSpPr>
            <a:spLocks noGrp="1"/>
          </p:cNvSpPr>
          <p:nvPr>
            <p:ph type="title"/>
          </p:nvPr>
        </p:nvSpPr>
        <p:spPr/>
        <p:txBody>
          <a:bodyPr/>
          <a:lstStyle/>
          <a:p>
            <a:r>
              <a:t>From a Question to a Reply</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r>
              <a:rPr sz="3800" b="0">
                <a:solidFill>
                  <a:srgbClr val="000000"/>
                </a:solidFill>
                <a:latin typeface="NVIDIA Sans Medium"/>
              </a:rPr>
              <a:t>0.6B ASR model</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r>
              <a:rPr sz="3000" b="0">
                <a:solidFill>
                  <a:srgbClr val="313131"/>
                </a:solidFill>
                <a:latin typeface="NVIDIA Sans"/>
              </a:rPr>
              <a:t>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r>
              <a:rPr sz="4200" b="0">
                <a:solidFill>
                  <a:srgbClr val="000000"/>
                </a:solidFill>
                <a:latin typeface="NVIDIA Sans Medium"/>
              </a:rPr>
              <a:t>4B LLM</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4"/>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5"/>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r>
              <a:rPr sz="2400" b="0">
                <a:solidFill>
                  <a:srgbClr val="76B900"/>
                </a:solidFill>
                <a:latin typeface="NVIDIA Sans Medium"/>
              </a:rPr>
              <a:t>PROMPT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r>
              <a:rPr sz="3000" b="0">
                <a:solidFill>
                  <a:srgbClr val="313131"/>
                </a:solidFill>
                <a:latin typeface="NVIDIA Sans"/>
              </a:rPr>
              <a:t>960 × 544 · ~5 s windows · 8 steps · 8 × RTX PRO 5000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11</a:t>
            </a:r>
          </a:p>
        </p:txBody>
      </p:sp>
      <p:sp>
        <p:nvSpPr>
          <p:cNvPr id="3" name="Text Placeholder 2"/>
          <p:cNvSpPr>
            <a:spLocks noGrp="1"/>
          </p:cNvSpPr>
          <p:nvPr>
            <p:ph type="body" idx="13" sz="quarter"/>
          </p:nvPr>
        </p:nvSpPr>
        <p:spPr/>
        <p:txBody>
          <a:bodyPr/>
          <a:lstStyle/>
          <a:p>
            <a:r>
              <a:t>Carry a short audio–video latent tail into each new ~5 s window.</a:t>
            </a:r>
          </a:p>
        </p:txBody>
      </p:sp>
      <p:sp>
        <p:nvSpPr>
          <p:cNvPr id="4" name="Title 3"/>
          <p:cNvSpPr>
            <a:spLocks noGrp="1"/>
          </p:cNvSpPr>
          <p:nvPr>
            <p:ph type="title"/>
          </p:nvPr>
        </p:nvSpPr>
        <p:spPr/>
        <p:txBody>
          <a:bodyPr/>
          <a:lstStyle/>
          <a:p>
            <a:r>
              <a:rPr sz="8800"/>
              <a:t>Continuation: From One Clip to the Next</a:t>
            </a:r>
          </a:p>
        </p:txBody>
      </p:sp>
      <p:sp>
        <p:nvSpPr>
          <p:cNvPr id="5" name="Previous chunk heading"/>
          <p:cNvSpPr txBox="1"/>
          <p:nvPr/>
        </p:nvSpPr>
        <p:spPr>
          <a:xfrm>
            <a:off x="1828800" y="5760720"/>
            <a:ext cx="7589520" cy="64008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Medium"/>
              </a:rPr>
              <a:t>PREVIOUS CHUNK</a:t>
            </a:r>
          </a:p>
        </p:txBody>
      </p:sp>
      <p:pic>
        <p:nvPicPr>
          <p:cNvPr id="6" name="Actual ending of chunk A" descr="image.png"/>
          <p:cNvPicPr>
            <a:picLocks noChangeAspect="1"/>
          </p:cNvPicPr>
          <p:nvPr/>
        </p:nvPicPr>
        <p:blipFill>
          <a:blip r:embed="rId3"/>
          <a:stretch>
            <a:fillRect/>
          </a:stretch>
        </p:blipFill>
        <p:spPr>
          <a:xfrm>
            <a:off x="1828800" y="6949440"/>
            <a:ext cx="7406640" cy="4197096"/>
          </a:xfrm>
          <a:prstGeom prst="rect">
            <a:avLst/>
          </a:prstGeom>
        </p:spPr>
      </p:pic>
      <p:sp>
        <p:nvSpPr>
          <p:cNvPr id="7" name="Previous chunk caption"/>
          <p:cNvSpPr txBox="1"/>
          <p:nvPr/>
        </p:nvSpPr>
        <p:spPr>
          <a:xfrm>
            <a:off x="1828800" y="11475720"/>
            <a:ext cx="740664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Keep only the ending</a:t>
            </a:r>
          </a:p>
        </p:txBody>
      </p:sp>
      <p:sp>
        <p:nvSpPr>
          <p:cNvPr id="8" name="History heading"/>
          <p:cNvSpPr txBox="1"/>
          <p:nvPr/>
        </p:nvSpPr>
        <p:spPr>
          <a:xfrm>
            <a:off x="10789920" y="5303520"/>
            <a:ext cx="10332720" cy="731520"/>
          </a:xfrm>
          <a:prstGeom prst="rect">
            <a:avLst/>
          </a:prstGeom>
          <a:noFill/>
        </p:spPr>
        <p:txBody>
          <a:bodyPr wrap="square" lIns="0" rIns="0" tIns="0" bIns="0">
            <a:spAutoFit/>
          </a:bodyPr>
          <a:lstStyle/>
          <a:p>
            <a:pPr>
              <a:spcBef>
                <a:spcPts val="0"/>
              </a:spcBef>
              <a:spcAft>
                <a:spcPts val="0"/>
              </a:spcAft>
            </a:pPr>
            <a:r>
              <a:rPr sz="3000" b="0">
                <a:solidFill>
                  <a:srgbClr val="76B900"/>
                </a:solidFill>
                <a:latin typeface="NVIDIA Sans Medium"/>
              </a:rPr>
              <a:t>HISTORY CONDITION</a:t>
            </a:r>
          </a:p>
        </p:txBody>
      </p:sp>
      <p:sp>
        <p:nvSpPr>
          <p:cNvPr id="9" name="2 video latent slices box"/>
          <p:cNvSpPr/>
          <p:nvPr/>
        </p:nvSpPr>
        <p:spPr>
          <a:xfrm>
            <a:off x="10789920" y="6675120"/>
            <a:ext cx="10332720" cy="2286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2 video latent slices"/>
          <p:cNvSpPr txBox="1"/>
          <p:nvPr/>
        </p:nvSpPr>
        <p:spPr>
          <a:xfrm>
            <a:off x="11109960" y="6903720"/>
            <a:ext cx="9692640" cy="77724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2 video latent slices</a:t>
            </a:r>
          </a:p>
        </p:txBody>
      </p:sp>
      <p:sp>
        <p:nvSpPr>
          <p:cNvPr id="11" name="2 video latent slices detail"/>
          <p:cNvSpPr txBox="1"/>
          <p:nvPr/>
        </p:nvSpPr>
        <p:spPr>
          <a:xfrm>
            <a:off x="11109960" y="7909560"/>
            <a:ext cx="9692640" cy="685800"/>
          </a:xfrm>
          <a:prstGeom prst="rect">
            <a:avLst/>
          </a:prstGeom>
          <a:noFill/>
        </p:spPr>
        <p:txBody>
          <a:bodyPr wrap="square" lIns="0" rIns="0" tIns="0" bIns="0">
            <a:spAutoFit/>
          </a:bodyPr>
          <a:lstStyle/>
          <a:p>
            <a:pPr>
              <a:spcBef>
                <a:spcPts val="0"/>
              </a:spcBef>
              <a:spcAft>
                <a:spcPts val="0"/>
              </a:spcAft>
            </a:pPr>
            <a:r>
              <a:rPr sz="2800" b="0">
                <a:solidFill>
                  <a:srgbClr val="76B900"/>
                </a:solidFill>
                <a:latin typeface="NVIDIA Sans"/>
              </a:rPr>
              <a:t>80% history + 20% noise</a:t>
            </a:r>
          </a:p>
        </p:txBody>
      </p:sp>
      <p:sp>
        <p:nvSpPr>
          <p:cNvPr id="12" name="8–9 audio latent tokens box"/>
          <p:cNvSpPr/>
          <p:nvPr/>
        </p:nvSpPr>
        <p:spPr>
          <a:xfrm>
            <a:off x="10789920" y="9601200"/>
            <a:ext cx="10332720" cy="2286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8–9 audio latent tokens"/>
          <p:cNvSpPr txBox="1"/>
          <p:nvPr/>
        </p:nvSpPr>
        <p:spPr>
          <a:xfrm>
            <a:off x="11109960" y="9829800"/>
            <a:ext cx="9692640" cy="77724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8–9 audio latent tokens</a:t>
            </a:r>
          </a:p>
        </p:txBody>
      </p:sp>
      <p:sp>
        <p:nvSpPr>
          <p:cNvPr id="14" name="8–9 audio latent tokens detail"/>
          <p:cNvSpPr txBox="1"/>
          <p:nvPr/>
        </p:nvSpPr>
        <p:spPr>
          <a:xfrm>
            <a:off x="11109960" y="10835640"/>
            <a:ext cx="9692640" cy="68580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Clean history · no added noise</a:t>
            </a:r>
          </a:p>
        </p:txBody>
      </p:sp>
      <p:cxnSp>
        <p:nvCxnSpPr>
          <p:cNvPr id="15" name="Tail split input"/>
          <p:cNvCxnSpPr/>
          <p:nvPr/>
        </p:nvCxnSpPr>
        <p:spPr>
          <a:xfrm>
            <a:off x="9235440" y="9052560"/>
            <a:ext cx="731520" cy="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Tail split stem"/>
          <p:cNvCxnSpPr/>
          <p:nvPr/>
        </p:nvCxnSpPr>
        <p:spPr>
          <a:xfrm>
            <a:off x="9966960" y="7818120"/>
            <a:ext cx="0" cy="292608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Tail branch 8.55"/>
          <p:cNvCxnSpPr/>
          <p:nvPr/>
        </p:nvCxnSpPr>
        <p:spPr>
          <a:xfrm>
            <a:off x="9966960" y="7818120"/>
            <a:ext cx="8229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Tail branch 11.75"/>
          <p:cNvCxnSpPr/>
          <p:nvPr/>
        </p:nvCxnSpPr>
        <p:spPr>
          <a:xfrm>
            <a:off x="9966960" y="10744200"/>
            <a:ext cx="8229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Other conditioning"/>
          <p:cNvSpPr/>
          <p:nvPr/>
        </p:nvSpPr>
        <p:spPr>
          <a:xfrm>
            <a:off x="22494240" y="4937760"/>
            <a:ext cx="12252960" cy="1645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ther conditioning label"/>
          <p:cNvSpPr txBox="1"/>
          <p:nvPr/>
        </p:nvSpPr>
        <p:spPr>
          <a:xfrm>
            <a:off x="22677120" y="5120640"/>
            <a:ext cx="11887200" cy="1280160"/>
          </a:xfrm>
          <a:prstGeom prst="rect">
            <a:avLst/>
          </a:prstGeom>
          <a:noFill/>
        </p:spPr>
        <p:txBody>
          <a:bodyPr wrap="square" lIns="0" rIns="0" tIns="0" bIns="0">
            <a:spAutoFit/>
          </a:bodyPr>
          <a:lstStyle/>
          <a:p>
            <a:pPr algn="ctr">
              <a:spcBef>
                <a:spcPts val="0"/>
              </a:spcBef>
              <a:spcAft>
                <a:spcPts val="0"/>
              </a:spcAft>
            </a:pPr>
            <a:r>
              <a:rPr sz="2700" b="0">
                <a:solidFill>
                  <a:srgbClr val="000000"/>
                </a:solidFill>
                <a:latin typeface="NVIDIA Sans"/>
              </a:rPr>
              <a:t>Reference image + voice</a:t>
            </a:r>
          </a:p>
          <a:p>
            <a:pPr algn="ctr">
              <a:spcBef>
                <a:spcPts val="0"/>
              </a:spcBef>
              <a:spcAft>
                <a:spcPts val="0"/>
              </a:spcAft>
            </a:pPr>
            <a:r>
              <a:rPr sz="2700" b="0">
                <a:solidFill>
                  <a:srgbClr val="000000"/>
                </a:solidFill>
                <a:latin typeface="NVIDIA Sans"/>
              </a:rPr>
              <a:t>Next reply / listening prompt</a:t>
            </a:r>
          </a:p>
        </p:txBody>
      </p:sp>
      <p:sp>
        <p:nvSpPr>
          <p:cNvPr id="21" name="H3 box"/>
          <p:cNvSpPr/>
          <p:nvPr/>
        </p:nvSpPr>
        <p:spPr>
          <a:xfrm>
            <a:off x="22860000" y="7680960"/>
            <a:ext cx="4389120" cy="32004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3 label"/>
          <p:cNvSpPr txBox="1"/>
          <p:nvPr/>
        </p:nvSpPr>
        <p:spPr>
          <a:xfrm>
            <a:off x="22951440" y="8138160"/>
            <a:ext cx="4206240" cy="1097280"/>
          </a:xfrm>
          <a:prstGeom prst="rect">
            <a:avLst/>
          </a:prstGeom>
          <a:noFill/>
        </p:spPr>
        <p:txBody>
          <a:bodyPr wrap="square" lIns="0" rIns="0" tIns="0" bIns="0">
            <a:spAutoFit/>
          </a:bodyPr>
          <a:lstStyle/>
          <a:p>
            <a:pPr algn="ctr">
              <a:spcBef>
                <a:spcPts val="0"/>
              </a:spcBef>
              <a:spcAft>
                <a:spcPts val="0"/>
              </a:spcAft>
            </a:pPr>
            <a:r>
              <a:rPr sz="6000" b="0">
                <a:solidFill>
                  <a:srgbClr val="000000"/>
                </a:solidFill>
                <a:latin typeface="NVIDIA Sans Medium"/>
              </a:rPr>
              <a:t>H3</a:t>
            </a:r>
          </a:p>
        </p:txBody>
      </p:sp>
      <p:sp>
        <p:nvSpPr>
          <p:cNvPr id="23" name="H3 steps"/>
          <p:cNvSpPr txBox="1"/>
          <p:nvPr/>
        </p:nvSpPr>
        <p:spPr>
          <a:xfrm>
            <a:off x="22951440" y="9738360"/>
            <a:ext cx="4206240" cy="640080"/>
          </a:xfrm>
          <a:prstGeom prst="rect">
            <a:avLst/>
          </a:prstGeom>
          <a:noFill/>
        </p:spPr>
        <p:txBody>
          <a:bodyPr wrap="square" lIns="0" rIns="0" tIns="0" bIns="0">
            <a:spAutoFit/>
          </a:bodyPr>
          <a:lstStyle/>
          <a:p>
            <a:pPr algn="ctr">
              <a:spcBef>
                <a:spcPts val="0"/>
              </a:spcBef>
              <a:spcAft>
                <a:spcPts val="0"/>
              </a:spcAft>
            </a:pPr>
            <a:r>
              <a:rPr sz="2900" b="0">
                <a:solidFill>
                  <a:srgbClr val="000000"/>
                </a:solidFill>
                <a:latin typeface="NVIDIA Sans"/>
              </a:rPr>
              <a:t>8 steps</a:t>
            </a:r>
          </a:p>
        </p:txBody>
      </p:sp>
      <p:cxnSp>
        <p:nvCxnSpPr>
          <p:cNvPr id="24" name="Prompt into H3"/>
          <p:cNvCxnSpPr/>
          <p:nvPr/>
        </p:nvCxnSpPr>
        <p:spPr>
          <a:xfrm>
            <a:off x="25054560" y="6583680"/>
            <a:ext cx="0" cy="109728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Guide input 8.55"/>
          <p:cNvCxnSpPr/>
          <p:nvPr/>
        </p:nvCxnSpPr>
        <p:spPr>
          <a:xfrm>
            <a:off x="21122640" y="7818120"/>
            <a:ext cx="17373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Guide input 11.75"/>
          <p:cNvCxnSpPr/>
          <p:nvPr/>
        </p:nvCxnSpPr>
        <p:spPr>
          <a:xfrm>
            <a:off x="21122640" y="10744200"/>
            <a:ext cx="17373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Next chunk heading"/>
          <p:cNvSpPr txBox="1"/>
          <p:nvPr/>
        </p:nvSpPr>
        <p:spPr>
          <a:xfrm>
            <a:off x="28620720" y="6400800"/>
            <a:ext cx="6126480" cy="640080"/>
          </a:xfrm>
          <a:prstGeom prst="rect">
            <a:avLst/>
          </a:prstGeom>
          <a:noFill/>
        </p:spPr>
        <p:txBody>
          <a:bodyPr wrap="square" lIns="0" rIns="0" tIns="0" bIns="0">
            <a:spAutoFit/>
          </a:bodyPr>
          <a:lstStyle/>
          <a:p>
            <a:pPr>
              <a:spcBef>
                <a:spcPts val="0"/>
              </a:spcBef>
              <a:spcAft>
                <a:spcPts val="0"/>
              </a:spcAft>
            </a:pPr>
            <a:r>
              <a:rPr sz="2400" b="0">
                <a:solidFill>
                  <a:srgbClr val="000000"/>
                </a:solidFill>
                <a:latin typeface="NVIDIA Sans Medium"/>
              </a:rPr>
              <a:t>CHUNK B · AFTER TRIM</a:t>
            </a:r>
          </a:p>
        </p:txBody>
      </p:sp>
      <p:pic>
        <p:nvPicPr>
          <p:cNvPr id="28" name="Actual first retained frame of chunk B" descr="image.png"/>
          <p:cNvPicPr>
            <a:picLocks noChangeAspect="1"/>
          </p:cNvPicPr>
          <p:nvPr/>
        </p:nvPicPr>
        <p:blipFill>
          <a:blip r:embed="rId4"/>
          <a:stretch>
            <a:fillRect/>
          </a:stretch>
        </p:blipFill>
        <p:spPr>
          <a:xfrm>
            <a:off x="28620720" y="7452360"/>
            <a:ext cx="6126480" cy="3471672"/>
          </a:xfrm>
          <a:prstGeom prst="rect">
            <a:avLst/>
          </a:prstGeom>
        </p:spPr>
      </p:pic>
      <p:cxnSp>
        <p:nvCxnSpPr>
          <p:cNvPr id="29" name="H3 to next playback"/>
          <p:cNvCxnSpPr/>
          <p:nvPr/>
        </p:nvCxnSpPr>
        <p:spPr>
          <a:xfrm>
            <a:off x="27249120" y="9281160"/>
            <a:ext cx="137160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Next chunk caption"/>
          <p:cNvSpPr txBox="1"/>
          <p:nvPr/>
        </p:nvSpPr>
        <p:spPr>
          <a:xfrm>
            <a:off x="28620720" y="11475720"/>
            <a:ext cx="6126480" cy="73152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New video + audio</a:t>
            </a:r>
          </a:p>
        </p:txBody>
      </p:sp>
      <p:sp>
        <p:nvSpPr>
          <p:cNvPr id="31" name="Cache scope"/>
          <p:cNvSpPr txBox="1"/>
          <p:nvPr/>
        </p:nvSpPr>
        <p:spPr>
          <a:xfrm>
            <a:off x="1828800" y="12801600"/>
            <a:ext cx="32918400" cy="822960"/>
          </a:xfrm>
          <a:prstGeom prst="rect">
            <a:avLst/>
          </a:prstGeom>
          <a:noFill/>
        </p:spPr>
        <p:txBody>
          <a:bodyPr wrap="square" lIns="0" rIns="0" tIns="0" bIns="0">
            <a:spAutoFit/>
          </a:bodyPr>
          <a:lstStyle/>
          <a:p>
            <a:pPr>
              <a:spcBef>
                <a:spcPts val="0"/>
              </a:spcBef>
              <a:spcAft>
                <a:spcPts val="0"/>
              </a:spcAft>
            </a:pPr>
            <a:r>
              <a:rPr sz="3400" b="1">
                <a:solidFill>
                  <a:srgbClr val="000000"/>
                </a:solidFill>
                <a:latin typeface="NVIDIA Sans Medium"/>
              </a:rPr>
              <a:t>Observed: 20% history noise + prefix off keeps late frames cleaner, with larger seam differences.</a:t>
            </a:r>
          </a:p>
        </p:txBody>
      </p:sp>
      <p:sp>
        <p:nvSpPr>
          <p:cNvPr id="32" name="Continuation controls"/>
          <p:cNvSpPr txBox="1"/>
          <p:nvPr/>
        </p:nvSpPr>
        <p:spPr>
          <a:xfrm>
            <a:off x="1828800" y="13853160"/>
            <a:ext cx="32918400" cy="594360"/>
          </a:xfrm>
          <a:prstGeom prst="rect">
            <a:avLst/>
          </a:prstGeom>
          <a:noFill/>
        </p:spPr>
        <p:txBody>
          <a:bodyPr wrap="square" lIns="0" rIns="0" tIns="0" bIns="0">
            <a:spAutoFit/>
          </a:bodyPr>
          <a:lstStyle/>
          <a:p>
            <a:pPr>
              <a:spcBef>
                <a:spcPts val="0"/>
              </a:spcBef>
              <a:spcAft>
                <a:spcPts val="0"/>
              </a:spcAft>
            </a:pPr>
            <a:r>
              <a:rPr sz="2900" b="0">
                <a:solidFill>
                  <a:srgbClr val="313131"/>
                </a:solidFill>
                <a:latin typeface="NVIDIA Sans"/>
              </a:rPr>
              <a:t>Mechanistic interpretation: weaker error feedback + reference-guided regeneration.</a:t>
            </a:r>
          </a:p>
        </p:txBody>
      </p:sp>
      <p:sp>
        <p:nvSpPr>
          <p:cNvPr id="33" name="Playback heading"/>
          <p:cNvSpPr txBox="1"/>
          <p:nvPr/>
        </p:nvSpPr>
        <p:spPr>
          <a:xfrm>
            <a:off x="1828800" y="15544800"/>
            <a:ext cx="15270480" cy="64008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Medium"/>
              </a:rPr>
              <a:t>APPEND ONLY NEW CONTENT</a:t>
            </a:r>
          </a:p>
        </p:txBody>
      </p:sp>
      <p:sp>
        <p:nvSpPr>
          <p:cNvPr id="34" name="Trim heading"/>
          <p:cNvSpPr txBox="1"/>
          <p:nvPr/>
        </p:nvSpPr>
        <p:spPr>
          <a:xfrm>
            <a:off x="18745200" y="15544800"/>
            <a:ext cx="160020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Trim 5 overlapping frames + aligned audio</a:t>
            </a:r>
          </a:p>
        </p:txBody>
      </p:sp>
      <p:sp>
        <p:nvSpPr>
          <p:cNvPr id="35" name="Playback A"/>
          <p:cNvSpPr/>
          <p:nvPr/>
        </p:nvSpPr>
        <p:spPr>
          <a:xfrm>
            <a:off x="1828800" y="16642080"/>
            <a:ext cx="16002000" cy="12801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rimmed overlap"/>
          <p:cNvSpPr/>
          <p:nvPr/>
        </p:nvSpPr>
        <p:spPr>
          <a:xfrm>
            <a:off x="17967960" y="16642080"/>
            <a:ext cx="685800" cy="12801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Trim mark 1"/>
          <p:cNvCxnSpPr/>
          <p:nvPr/>
        </p:nvCxnSpPr>
        <p:spPr>
          <a:xfrm>
            <a:off x="17967960" y="16642080"/>
            <a:ext cx="685800" cy="128016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Trim mark 2"/>
          <p:cNvCxnSpPr/>
          <p:nvPr/>
        </p:nvCxnSpPr>
        <p:spPr>
          <a:xfrm flipH="1">
            <a:off x="17967960" y="16642080"/>
            <a:ext cx="685800" cy="128016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Playback B"/>
          <p:cNvSpPr/>
          <p:nvPr/>
        </p:nvSpPr>
        <p:spPr>
          <a:xfrm>
            <a:off x="18790920" y="16642080"/>
            <a:ext cx="15956280" cy="12801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layback A label"/>
          <p:cNvSpPr txBox="1"/>
          <p:nvPr/>
        </p:nvSpPr>
        <p:spPr>
          <a:xfrm>
            <a:off x="2194560" y="16962120"/>
            <a:ext cx="15270480" cy="73152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Medium"/>
              </a:rPr>
              <a:t>Chunk A · 5.167 s</a:t>
            </a:r>
          </a:p>
        </p:txBody>
      </p:sp>
      <p:sp>
        <p:nvSpPr>
          <p:cNvPr id="41" name="Playback B label"/>
          <p:cNvSpPr txBox="1"/>
          <p:nvPr/>
        </p:nvSpPr>
        <p:spPr>
          <a:xfrm>
            <a:off x="19156680" y="16962120"/>
            <a:ext cx="15179040" cy="731520"/>
          </a:xfrm>
          <a:prstGeom prst="rect">
            <a:avLst/>
          </a:prstGeom>
          <a:noFill/>
        </p:spPr>
        <p:txBody>
          <a:bodyPr wrap="square" lIns="0" rIns="0" tIns="0" bIns="0">
            <a:spAutoFit/>
          </a:bodyPr>
          <a:lstStyle/>
          <a:p>
            <a:pPr>
              <a:spcBef>
                <a:spcPts val="0"/>
              </a:spcBef>
              <a:spcAft>
                <a:spcPts val="0"/>
              </a:spcAft>
            </a:pPr>
            <a:r>
              <a:rPr sz="3600" b="0">
                <a:solidFill>
                  <a:srgbClr val="FFFFFF"/>
                </a:solidFill>
                <a:latin typeface="NVIDIA Sans Medium"/>
              </a:rPr>
              <a:t>Chunk B · +4.958 s</a:t>
            </a:r>
          </a:p>
        </p:txBody>
      </p:sp>
      <p:sp>
        <p:nvSpPr>
          <p:cNvPr id="42" name="Continuation result"/>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Denoise all 124 frames → discard 5-frame overlap → append 119 frames at 24 FPS.</a:t>
            </a:r>
          </a:p>
        </p:txBody>
      </p:sp>
      <p:sp>
        <p:nvSpPr>
          <p:cNvPr id="43" name="Independent history and request scope"/>
          <p:cNvSpPr txBox="1"/>
          <p:nvPr/>
        </p:nvSpPr>
        <p:spPr>
          <a:xfrm>
            <a:off x="1828800" y="14630400"/>
            <a:ext cx="32918400" cy="548640"/>
          </a:xfrm>
          <a:prstGeom prst="rect">
            <a:avLst/>
          </a:prstGeom>
          <a:noFill/>
        </p:spPr>
        <p:txBody>
          <a:bodyPr wrap="square" lIns="0" rIns="0" tIns="0" bIns="0">
            <a:spAutoFit/>
          </a:bodyPr>
          <a:lstStyle/>
          <a:p>
            <a:pPr>
              <a:spcBef>
                <a:spcPts val="0"/>
              </a:spcBef>
              <a:spcAft>
                <a:spcPts val="0"/>
              </a:spcAft>
            </a:pPr>
            <a:r>
              <a:rPr sz="2600" b="0">
                <a:solidFill>
                  <a:srgbClr val="313131"/>
                </a:solidFill>
                <a:latin typeface="NVIDIA Sans"/>
              </a:rPr>
              <a:t>Independent guide tokens · aligned AV RoPE · K/V recomputed per request · prefix clamping: off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01492" y="0"/>
            <a:ext cx="35773014" cy="20574000"/>
          </a:xfrm>
          <a:prstGeom prst="rect">
            <a:avLst/>
          </a:prstGeom>
        </p:spPr>
      </p:pic>
    </p:spTree>
  </p:cSld>
  <p:clrMapOvr>
    <a:masterClrMapping/>
  </p:clrMapOvr>
  <p:timing>
    <p:tnLst>
      <p:par>
        <p:cTn id="1" dur="indefinite" restart="never" nodeType="tmRoot">
          <p:childTnLst>
            <p:video>
              <p:cMediaNode vol="80000">
                <p:cTn id="2" fill="hold" display="0">
                  <p:stCondLst>
                    <p:cond delay="0"/>
                  </p:stCondLst>
                </p:cTn>
                <p:tgtEl>
                  <p:spTgt spid="5"/>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13</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rPr sz="8800"/>
              <a:t>Takeaways</a:t>
            </a:r>
          </a:p>
        </p:txBody>
      </p:sp>
      <p:sp>
        <p:nvSpPr>
          <p:cNvPr id="5" name="Takeaway number 1"/>
          <p:cNvSpPr txBox="1"/>
          <p:nvPr/>
        </p:nvSpPr>
        <p:spPr>
          <a:xfrm>
            <a:off x="1828800" y="548640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01</a:t>
            </a:r>
          </a:p>
        </p:txBody>
      </p:sp>
      <p:sp>
        <p:nvSpPr>
          <p:cNvPr id="6" name="Takeaway title 1"/>
          <p:cNvSpPr txBox="1"/>
          <p:nvPr/>
        </p:nvSpPr>
        <p:spPr>
          <a:xfrm>
            <a:off x="4572000" y="548640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Optimize the communication path.</a:t>
            </a:r>
          </a:p>
        </p:txBody>
      </p:sp>
      <p:sp>
        <p:nvSpPr>
          <p:cNvPr id="7" name="Takeaway body 1"/>
          <p:cNvSpPr txBox="1"/>
          <p:nvPr/>
        </p:nvSpPr>
        <p:spPr>
          <a:xfrm>
            <a:off x="4572000" y="6995160"/>
            <a:ext cx="30175200" cy="1005840"/>
          </a:xfrm>
          <a:prstGeom prst="rect">
            <a:avLst/>
          </a:prstGeom>
          <a:noFill/>
        </p:spPr>
        <p:txBody>
          <a:bodyPr wrap="square" lIns="0" rIns="0" tIns="0" bIns="0">
            <a:spAutoFit/>
          </a:bodyPr>
          <a:lstStyle/>
          <a:p>
            <a:r>
              <a:rPr sz="3800" b="0">
                <a:solidFill>
                  <a:srgbClr val="313131"/>
                </a:solidFill>
                <a:latin typeface="NVIDIA Sans"/>
              </a:rPr>
              <a:t>Compute-rich GPUs need topology-aware communication.</a:t>
            </a:r>
          </a:p>
        </p:txBody>
      </p:sp>
      <p:sp>
        <p:nvSpPr>
          <p:cNvPr id="8" name="Takeaway number 2"/>
          <p:cNvSpPr txBox="1"/>
          <p:nvPr/>
        </p:nvSpPr>
        <p:spPr>
          <a:xfrm>
            <a:off x="1828800" y="978408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02</a:t>
            </a:r>
          </a:p>
        </p:txBody>
      </p:sp>
      <p:sp>
        <p:nvSpPr>
          <p:cNvPr id="9" name="Takeaway title 2"/>
          <p:cNvSpPr txBox="1"/>
          <p:nvPr/>
        </p:nvSpPr>
        <p:spPr>
          <a:xfrm>
            <a:off x="4572000" y="978408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Validate quantization case by case.</a:t>
            </a:r>
          </a:p>
        </p:txBody>
      </p:sp>
      <p:sp>
        <p:nvSpPr>
          <p:cNvPr id="10" name="Takeaway body 2"/>
          <p:cNvSpPr txBox="1"/>
          <p:nvPr/>
        </p:nvSpPr>
        <p:spPr>
          <a:xfrm>
            <a:off x="4572000" y="1129284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Measure quality and latency together.</a:t>
            </a:r>
          </a:p>
        </p:txBody>
      </p:sp>
      <p:sp>
        <p:nvSpPr>
          <p:cNvPr id="11" name="Takeaway number 3"/>
          <p:cNvSpPr txBox="1"/>
          <p:nvPr/>
        </p:nvSpPr>
        <p:spPr>
          <a:xfrm>
            <a:off x="1828800" y="1408176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03</a:t>
            </a:r>
          </a:p>
        </p:txBody>
      </p:sp>
      <p:sp>
        <p:nvSpPr>
          <p:cNvPr id="12" name="Takeaway title 3"/>
          <p:cNvSpPr txBox="1"/>
          <p:nvPr/>
        </p:nvSpPr>
        <p:spPr>
          <a:xfrm>
            <a:off x="4572000" y="1408176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Next: responsive, richer interaction.</a:t>
            </a:r>
          </a:p>
        </p:txBody>
      </p:sp>
      <p:sp>
        <p:nvSpPr>
          <p:cNvPr id="13" name="Takeaway body 3"/>
          <p:cNvSpPr txBox="1"/>
          <p:nvPr/>
        </p:nvSpPr>
        <p:spPr>
          <a:xfrm>
            <a:off x="4572000" y="1559052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Autoregressive diffusion + prompt enhancement.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14</a:t>
            </a:r>
          </a:p>
        </p:txBody>
      </p:sp>
      <p:sp>
        <p:nvSpPr>
          <p:cNvPr id="3" name="Text Placeholder 2"/>
          <p:cNvSpPr>
            <a:spLocks noGrp="1"/>
          </p:cNvSpPr>
          <p:nvPr>
            <p:ph type="body" idx="13" sz="quarter"/>
          </p:nvPr>
        </p:nvSpPr>
        <p:spPr/>
        <p:txBody>
          <a:bodyPr/>
          <a:lstStyle/>
          <a:p>
            <a:r>
              <a:t>Model serving meets visual workflows.</a:t>
            </a:r>
          </a:p>
        </p:txBody>
      </p:sp>
      <p:sp>
        <p:nvSpPr>
          <p:cNvPr id="4" name="Title 3"/>
          <p:cNvSpPr>
            <a:spLocks noGrp="1"/>
          </p:cNvSpPr>
          <p:nvPr>
            <p:ph type="title"/>
          </p:nvPr>
        </p:nvSpPr>
        <p:spPr/>
        <p:txBody>
          <a:bodyPr/>
          <a:lstStyle/>
          <a:p>
            <a:r>
              <a:rPr sz="8800"/>
              <a:t>vLLM-Omni × ComfyUI</a:t>
            </a:r>
          </a:p>
        </p:txBody>
      </p:sp>
      <p:sp>
        <p:nvSpPr>
          <p:cNvPr id="5" name="vLLM-Omni heading"/>
          <p:cNvSpPr txBox="1"/>
          <p:nvPr/>
        </p:nvSpPr>
        <p:spPr>
          <a:xfrm>
            <a:off x="1828800" y="4937760"/>
            <a:ext cx="13716000" cy="82296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vLLM-Omni</a:t>
            </a:r>
          </a:p>
        </p:txBody>
      </p:sp>
      <p:sp>
        <p:nvSpPr>
          <p:cNvPr id="6" name="vLLM-Omni role"/>
          <p:cNvSpPr txBox="1"/>
          <p:nvPr/>
        </p:nvSpPr>
        <p:spPr>
          <a:xfrm>
            <a:off x="1828800" y="6035040"/>
            <a:ext cx="137160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SERVE MODELS</a:t>
            </a:r>
          </a:p>
        </p:txBody>
      </p:sp>
      <p:sp>
        <p:nvSpPr>
          <p:cNvPr id="7" name="ComfyUI heading"/>
          <p:cNvSpPr txBox="1"/>
          <p:nvPr/>
        </p:nvSpPr>
        <p:spPr>
          <a:xfrm>
            <a:off x="21031200" y="4937760"/>
            <a:ext cx="13716000" cy="82296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ComfyUI</a:t>
            </a:r>
          </a:p>
        </p:txBody>
      </p:sp>
      <p:sp>
        <p:nvSpPr>
          <p:cNvPr id="8" name="ComfyUI role"/>
          <p:cNvSpPr txBox="1"/>
          <p:nvPr/>
        </p:nvSpPr>
        <p:spPr>
          <a:xfrm>
            <a:off x="21031200" y="6035040"/>
            <a:ext cx="137160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COMPOSE WORKFLOWS</a:t>
            </a:r>
          </a:p>
        </p:txBody>
      </p:sp>
      <p:pic>
        <p:nvPicPr>
          <p:cNvPr id="9" name="Official vLLM-Omni architecture" descr="vllm-omni-main-architecture.png"/>
          <p:cNvPicPr>
            <a:picLocks noChangeAspect="1"/>
          </p:cNvPicPr>
          <p:nvPr/>
        </p:nvPicPr>
        <p:blipFill>
          <a:blip r:embed="rId2"/>
          <a:stretch>
            <a:fillRect/>
          </a:stretch>
        </p:blipFill>
        <p:spPr>
          <a:xfrm>
            <a:off x="2415232" y="7223760"/>
            <a:ext cx="12543134" cy="10789920"/>
          </a:xfrm>
          <a:prstGeom prst="rect">
            <a:avLst/>
          </a:prstGeom>
        </p:spPr>
      </p:pic>
      <p:pic>
        <p:nvPicPr>
          <p:cNvPr id="10" name="Official ComfyUI H3 workflow" descr="image.jpg"/>
          <p:cNvPicPr>
            <a:picLocks noChangeAspect="1"/>
          </p:cNvPicPr>
          <p:nvPr/>
        </p:nvPicPr>
        <p:blipFill>
          <a:blip r:embed="rId3"/>
          <a:stretch>
            <a:fillRect/>
          </a:stretch>
        </p:blipFill>
        <p:spPr>
          <a:xfrm>
            <a:off x="21031200" y="7518082"/>
            <a:ext cx="13716000" cy="10201275"/>
          </a:xfrm>
          <a:prstGeom prst="rect">
            <a:avLst/>
          </a:prstGeom>
        </p:spPr>
      </p:pic>
      <p:sp>
        <p:nvSpPr>
          <p:cNvPr id="11" name="Request label"/>
          <p:cNvSpPr txBox="1"/>
          <p:nvPr/>
        </p:nvSpPr>
        <p:spPr>
          <a:xfrm>
            <a:off x="15956280" y="9509760"/>
            <a:ext cx="4663440" cy="640080"/>
          </a:xfrm>
          <a:prstGeom prst="rect">
            <a:avLst/>
          </a:prstGeom>
          <a:noFill/>
        </p:spPr>
        <p:txBody>
          <a:bodyPr wrap="square" lIns="0" rIns="0" tIns="0" bIns="0">
            <a:spAutoFit/>
          </a:bodyPr>
          <a:lstStyle/>
          <a:p>
            <a:pPr algn="ctr">
              <a:spcBef>
                <a:spcPts val="0"/>
              </a:spcBef>
              <a:spcAft>
                <a:spcPts val="0"/>
              </a:spcAft>
            </a:pPr>
            <a:r>
              <a:rPr sz="2700" b="0">
                <a:solidFill>
                  <a:srgbClr val="000000"/>
                </a:solidFill>
                <a:latin typeface="NVIDIA Sans Medium"/>
              </a:rPr>
              <a:t>Requests</a:t>
            </a:r>
          </a:p>
        </p:txBody>
      </p:sp>
      <p:cxnSp>
        <p:nvCxnSpPr>
          <p:cNvPr id="12" name="ComfyUI requests inference"/>
          <p:cNvCxnSpPr/>
          <p:nvPr/>
        </p:nvCxnSpPr>
        <p:spPr>
          <a:xfrm flipH="1">
            <a:off x="16184880" y="10607040"/>
            <a:ext cx="4206240" cy="0"/>
          </a:xfrm>
          <a:prstGeom prst="line">
            <a:avLst/>
          </a:prstGeom>
          <a:ln w="381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vLLM Omni returns media"/>
          <p:cNvCxnSpPr/>
          <p:nvPr/>
        </p:nvCxnSpPr>
        <p:spPr>
          <a:xfrm>
            <a:off x="16184880" y="12893040"/>
            <a:ext cx="4206240" cy="0"/>
          </a:xfrm>
          <a:prstGeom prst="line">
            <a:avLst/>
          </a:prstGeom>
          <a:ln w="381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Media label"/>
          <p:cNvSpPr txBox="1"/>
          <p:nvPr/>
        </p:nvSpPr>
        <p:spPr>
          <a:xfrm>
            <a:off x="15636240" y="13258800"/>
            <a:ext cx="5303520" cy="68580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Medium"/>
              </a:rPr>
              <a:t>Video + audio</a:t>
            </a:r>
          </a:p>
        </p:txBody>
      </p:sp>
      <p:sp>
        <p:nvSpPr>
          <p:cNvPr id="15" name="Serving caption"/>
          <p:cNvSpPr txBox="1"/>
          <p:nvPr/>
        </p:nvSpPr>
        <p:spPr>
          <a:xfrm>
            <a:off x="1828800" y="18288000"/>
            <a:ext cx="13716000" cy="73152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a:rPr>
              <a:t>Local or remote inference services</a:t>
            </a:r>
          </a:p>
        </p:txBody>
      </p:sp>
      <p:sp>
        <p:nvSpPr>
          <p:cNvPr id="16" name="Workflow caption"/>
          <p:cNvSpPr txBox="1"/>
          <p:nvPr/>
        </p:nvSpPr>
        <p:spPr>
          <a:xfrm>
            <a:off x="21031200" y="18288000"/>
            <a:ext cx="13716000" cy="731520"/>
          </a:xfrm>
          <a:prstGeom prst="rect">
            <a:avLst/>
          </a:prstGeom>
          <a:noFill/>
        </p:spPr>
        <p:txBody>
          <a:bodyPr wrap="square" lIns="0" rIns="0" tIns="0" bIns="0">
            <a:spAutoFit/>
          </a:bodyPr>
          <a:lstStyle/>
          <a:p>
            <a:pPr algn="ctr">
              <a:spcBef>
                <a:spcPts val="0"/>
              </a:spcBef>
              <a:spcAft>
                <a:spcPts val="0"/>
              </a:spcAft>
            </a:pPr>
            <a:r>
              <a:rPr sz="2700" b="0">
                <a:solidFill>
                  <a:srgbClr val="000000"/>
                </a:solidFill>
                <a:latin typeface="NVIDIA Sans"/>
              </a:rPr>
              <a:t>Connect inputs, generate, edit and save</a:t>
            </a:r>
          </a:p>
        </p:txBody>
      </p:sp>
      <p:sp>
        <p:nvSpPr>
          <p:cNvPr id="17" name="Official source credit"/>
          <p:cNvSpPr txBox="1"/>
          <p:nvPr/>
        </p:nvSpPr>
        <p:spPr>
          <a:xfrm>
            <a:off x="1828800" y="19339560"/>
            <a:ext cx="32918400" cy="502920"/>
          </a:xfrm>
          <a:prstGeom prst="rect">
            <a:avLst/>
          </a:prstGeom>
          <a:noFill/>
        </p:spPr>
        <p:txBody>
          <a:bodyPr wrap="square" lIns="0" rIns="0" tIns="0" bIns="0">
            <a:spAutoFit/>
          </a:bodyPr>
          <a:lstStyle/>
          <a:p>
            <a:pPr>
              <a:spcBef>
                <a:spcPts val="0"/>
              </a:spcBef>
              <a:spcAft>
                <a:spcPts val="0"/>
              </a:spcAft>
            </a:pPr>
            <a:r>
              <a:rPr sz="2000" b="0">
                <a:solidFill>
                  <a:srgbClr val="313131"/>
                </a:solidFill>
                <a:latin typeface="NVIDIA Sans"/>
              </a:rPr>
              <a:t>Official vLLM-Omni architecture and ComfyUI H3 workflow images · upstream 08177216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15</a:t>
            </a:r>
          </a:p>
        </p:txBody>
      </p:sp>
      <p:sp>
        <p:nvSpPr>
          <p:cNvPr id="3" name="Text Placeholder 2"/>
          <p:cNvSpPr>
            <a:spLocks noGrp="1"/>
          </p:cNvSpPr>
          <p:nvPr>
            <p:ph type="body" idx="13" sz="quarter"/>
          </p:nvPr>
        </p:nvSpPr>
        <p:spPr/>
        <p:txBody>
          <a:bodyPr/>
          <a:lstStyle/>
          <a:p>
            <a:r>
              <a:t>Compose in ComfyUI. Run models in vLLM-Omni.</a:t>
            </a:r>
          </a:p>
        </p:txBody>
      </p:sp>
      <p:sp>
        <p:nvSpPr>
          <p:cNvPr id="4" name="Title 3"/>
          <p:cNvSpPr>
            <a:spLocks noGrp="1"/>
          </p:cNvSpPr>
          <p:nvPr>
            <p:ph type="title"/>
          </p:nvPr>
        </p:nvSpPr>
        <p:spPr/>
        <p:txBody>
          <a:bodyPr/>
          <a:lstStyle/>
          <a:p>
            <a:r>
              <a:rPr sz="8800"/>
              <a:t>vLLM-Omni for Creators — ComfyUI</a:t>
            </a:r>
          </a:p>
        </p:txBody>
      </p:sp>
      <p:cxnSp>
        <p:nvCxnSpPr>
          <p:cNvPr id="5" name="Support divider"/>
          <p:cNvCxnSpPr/>
          <p:nvPr/>
        </p:nvCxnSpPr>
        <p:spPr>
          <a:xfrm>
            <a:off x="18288000" y="5212080"/>
            <a:ext cx="0" cy="12252960"/>
          </a:xfrm>
          <a:prstGeom prst="line">
            <a:avLst/>
          </a:prstGeom>
          <a:ln w="19050">
            <a:solidFill>
              <a:srgbClr val="A7A7A7"/>
            </a:solidFill>
          </a:ln>
        </p:spPr>
        <p:style>
          <a:lnRef idx="2">
            <a:schemeClr val="accent1"/>
          </a:lnRef>
          <a:fillRef idx="0">
            <a:schemeClr val="accent1"/>
          </a:fillRef>
          <a:effectRef idx="1">
            <a:schemeClr val="accent1"/>
          </a:effectRef>
          <a:fontRef idx="minor">
            <a:schemeClr val="tx1"/>
          </a:fontRef>
        </p:style>
      </p:cxnSp>
      <p:sp>
        <p:nvSpPr>
          <p:cNvPr id="6" name="Supported heading"/>
          <p:cNvSpPr txBox="1"/>
          <p:nvPr/>
        </p:nvSpPr>
        <p:spPr>
          <a:xfrm>
            <a:off x="1828800" y="5120640"/>
            <a:ext cx="15544800" cy="822960"/>
          </a:xfrm>
          <a:prstGeom prst="rect">
            <a:avLst/>
          </a:prstGeom>
          <a:noFill/>
        </p:spPr>
        <p:txBody>
          <a:bodyPr wrap="square" lIns="0" rIns="0" tIns="0" bIns="0">
            <a:spAutoFit/>
          </a:bodyPr>
          <a:lstStyle/>
          <a:p>
            <a:pPr>
              <a:spcBef>
                <a:spcPts val="0"/>
              </a:spcBef>
              <a:spcAft>
                <a:spcPts val="0"/>
              </a:spcAft>
            </a:pPr>
            <a:r>
              <a:rPr sz="4600" lang="en-US">
                <a:solidFill>
                  <a:srgbClr val="76B900"/>
                </a:solidFill>
                <a:latin typeface="NVIDIA Sans Medium"/>
              </a:rPr>
              <a:t>Supported today</a:t>
            </a:r>
            <a:r>
              <a:rPr sz="3600" lang="en-US">
                <a:solidFill>
                  <a:srgbClr val="A7A7A7"/>
                </a:solidFill>
                <a:latin typeface="NVIDIA Sans"/>
              </a:rPr>
              <a:t>  ·  </a:t>
            </a:r>
            <a:r>
              <a:rPr sz="3600" lang="zh-CN">
                <a:solidFill>
                  <a:srgbClr val="313131"/>
                </a:solidFill>
                <a:latin typeface="Microsoft YaHei"/>
                <a:ea typeface="Microsoft YaHei"/>
              </a:rPr>
              <a:t>已支持</a:t>
            </a:r>
          </a:p>
        </p:txBody>
      </p:sp>
      <p:sp>
        <p:nvSpPr>
          <p:cNvPr id="7" name="Supported scope"/>
          <p:cNvSpPr txBox="1"/>
          <p:nvPr/>
        </p:nvSpPr>
        <p:spPr>
          <a:xfrm>
            <a:off x="1828800" y="6217920"/>
            <a:ext cx="15544800" cy="914400"/>
          </a:xfrm>
          <a:prstGeom prst="rect">
            <a:avLst/>
          </a:prstGeom>
          <a:noFill/>
        </p:spPr>
        <p:txBody>
          <a:bodyPr wrap="square" lIns="0" rIns="0" tIns="0" bIns="0">
            <a:spAutoFit/>
          </a:bodyPr>
          <a:lstStyle/>
          <a:p>
            <a:pPr>
              <a:spcBef>
                <a:spcPts val="0"/>
              </a:spcBef>
              <a:spcAft>
                <a:spcPts val="700"/>
              </a:spcAft>
            </a:pPr>
            <a:r>
              <a:rPr sz="2500" lang="en-US">
                <a:solidFill>
                  <a:srgbClr val="000000"/>
                </a:solidFill>
                <a:latin typeface="NVIDIA Sans"/>
              </a:rPr>
              <a:t>Available in the checked upstream source</a:t>
            </a:r>
          </a:p>
          <a:p>
            <a:pPr>
              <a:spcBef>
                <a:spcPts val="0"/>
              </a:spcBef>
              <a:spcAft>
                <a:spcPts val="0"/>
              </a:spcAft>
            </a:pPr>
            <a:r>
              <a:rPr sz="2300" lang="zh-CN">
                <a:solidFill>
                  <a:srgbClr val="313131"/>
                </a:solidFill>
                <a:latin typeface="Microsoft YaHei"/>
                <a:ea typeface="Microsoft YaHei"/>
              </a:rPr>
              <a:t>已在核验的上游源码中提供</a:t>
            </a:r>
          </a:p>
        </p:txBody>
      </p:sp>
      <p:sp>
        <p:nvSpPr>
          <p:cNvPr id="8" name="Planned heading"/>
          <p:cNvSpPr txBox="1"/>
          <p:nvPr/>
        </p:nvSpPr>
        <p:spPr>
          <a:xfrm>
            <a:off x="20116800" y="5120640"/>
            <a:ext cx="14630400" cy="822960"/>
          </a:xfrm>
          <a:prstGeom prst="rect">
            <a:avLst/>
          </a:prstGeom>
          <a:noFill/>
        </p:spPr>
        <p:txBody>
          <a:bodyPr wrap="square" lIns="0" rIns="0" tIns="0" bIns="0">
            <a:spAutoFit/>
          </a:bodyPr>
          <a:lstStyle/>
          <a:p>
            <a:pPr>
              <a:spcBef>
                <a:spcPts val="0"/>
              </a:spcBef>
              <a:spcAft>
                <a:spcPts val="0"/>
              </a:spcAft>
            </a:pPr>
            <a:r>
              <a:rPr sz="4600" lang="en-US">
                <a:solidFill>
                  <a:srgbClr val="000000"/>
                </a:solidFill>
                <a:latin typeface="NVIDIA Sans Medium"/>
              </a:rPr>
              <a:t>Planned support</a:t>
            </a:r>
            <a:r>
              <a:rPr sz="3600" lang="en-US">
                <a:solidFill>
                  <a:srgbClr val="A7A7A7"/>
                </a:solidFill>
                <a:latin typeface="NVIDIA Sans"/>
              </a:rPr>
              <a:t>  ·  </a:t>
            </a:r>
            <a:r>
              <a:rPr sz="3600" lang="zh-CN">
                <a:solidFill>
                  <a:srgbClr val="313131"/>
                </a:solidFill>
                <a:latin typeface="Microsoft YaHei"/>
                <a:ea typeface="Microsoft YaHei"/>
              </a:rPr>
              <a:t>计划支持</a:t>
            </a:r>
          </a:p>
        </p:txBody>
      </p:sp>
      <p:sp>
        <p:nvSpPr>
          <p:cNvPr id="9" name="Planned scope"/>
          <p:cNvSpPr txBox="1"/>
          <p:nvPr/>
        </p:nvSpPr>
        <p:spPr>
          <a:xfrm>
            <a:off x="20116800" y="6217920"/>
            <a:ext cx="14630400" cy="914400"/>
          </a:xfrm>
          <a:prstGeom prst="rect">
            <a:avLst/>
          </a:prstGeom>
          <a:noFill/>
        </p:spPr>
        <p:txBody>
          <a:bodyPr wrap="square" lIns="0" rIns="0" tIns="0" bIns="0">
            <a:spAutoFit/>
          </a:bodyPr>
          <a:lstStyle/>
          <a:p>
            <a:pPr>
              <a:spcBef>
                <a:spcPts val="0"/>
              </a:spcBef>
              <a:spcAft>
                <a:spcPts val="700"/>
              </a:spcAft>
            </a:pPr>
            <a:r>
              <a:rPr sz="2400" lang="en-US">
                <a:solidFill>
                  <a:srgbClr val="000000"/>
                </a:solidFill>
                <a:latin typeface="NVIDIA Sans"/>
              </a:rPr>
              <a:t>Open PRs / RFC proposals · no announced ETA</a:t>
            </a:r>
          </a:p>
          <a:p>
            <a:pPr>
              <a:spcBef>
                <a:spcPts val="0"/>
              </a:spcBef>
              <a:spcAft>
                <a:spcPts val="0"/>
              </a:spcAft>
            </a:pPr>
            <a:r>
              <a:rPr sz="2300" lang="zh-CN">
                <a:solidFill>
                  <a:srgbClr val="313131"/>
                </a:solidFill>
                <a:latin typeface="Microsoft YaHei"/>
                <a:ea typeface="Microsoft YaHei"/>
              </a:rPr>
              <a:t>开放 PR / RFC 提案 · 尚无公布的交付时间</a:t>
            </a:r>
          </a:p>
        </p:txBody>
      </p:sp>
      <p:sp>
        <p:nvSpPr>
          <p:cNvPr id="10" name="Supported title 0"/>
          <p:cNvSpPr txBox="1"/>
          <p:nvPr/>
        </p:nvSpPr>
        <p:spPr>
          <a:xfrm>
            <a:off x="1828800" y="7452360"/>
            <a:ext cx="155448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Generate &amp; guide</a:t>
            </a:r>
            <a:r>
              <a:rPr sz="3000" lang="en-US">
                <a:solidFill>
                  <a:srgbClr val="A7A7A7"/>
                </a:solidFill>
                <a:latin typeface="NVIDIA Sans"/>
              </a:rPr>
              <a:t>  ·  </a:t>
            </a:r>
            <a:r>
              <a:rPr sz="3000" lang="zh-CN">
                <a:solidFill>
                  <a:srgbClr val="313131"/>
                </a:solidFill>
                <a:latin typeface="Microsoft YaHei"/>
                <a:ea typeface="Microsoft YaHei"/>
              </a:rPr>
              <a:t>生成与引导</a:t>
            </a:r>
          </a:p>
        </p:txBody>
      </p:sp>
      <p:sp>
        <p:nvSpPr>
          <p:cNvPr id="11" name="Supported detail 0"/>
          <p:cNvSpPr txBox="1"/>
          <p:nvPr/>
        </p:nvSpPr>
        <p:spPr>
          <a:xfrm>
            <a:off x="1828800" y="8366760"/>
            <a:ext cx="15544800" cy="1371600"/>
          </a:xfrm>
          <a:prstGeom prst="rect">
            <a:avLst/>
          </a:prstGeom>
          <a:noFill/>
        </p:spPr>
        <p:txBody>
          <a:bodyPr wrap="square" lIns="0" rIns="0" tIns="0" bIns="0">
            <a:spAutoFit/>
          </a:bodyPr>
          <a:lstStyle/>
          <a:p>
            <a:pPr>
              <a:spcBef>
                <a:spcPts val="0"/>
              </a:spcBef>
              <a:spcAft>
                <a:spcPts val="700"/>
              </a:spcAft>
            </a:pPr>
            <a:r>
              <a:rPr sz="2800" b="0">
                <a:solidFill>
                  <a:srgbClr val="313131"/>
                </a:solidFill>
                <a:latin typeface="NVIDIA Sans"/>
              </a:rPr>
              <a:t>T2VA / FL2VA / Ref2VA; guides anchor content in time.</a:t>
            </a:r>
          </a:p>
          <a:p>
            <a:pPr>
              <a:spcBef>
                <a:spcPts val="0"/>
              </a:spcBef>
              <a:spcAft>
                <a:spcPts val="0"/>
              </a:spcAft>
            </a:pPr>
            <a:r>
              <a:rPr sz="2600" lang="zh-CN">
                <a:solidFill>
                  <a:srgbClr val="313131"/>
                </a:solidFill>
                <a:latin typeface="Microsoft YaHei"/>
                <a:ea typeface="Microsoft YaHei"/>
              </a:rPr>
              <a:t>文字生成、首尾帧、混合参考；引导指定出现时刻。</a:t>
            </a:r>
          </a:p>
        </p:txBody>
      </p:sp>
      <p:sp>
        <p:nvSpPr>
          <p:cNvPr id="12" name="Supported title 1"/>
          <p:cNvSpPr txBox="1"/>
          <p:nvPr/>
        </p:nvSpPr>
        <p:spPr>
          <a:xfrm>
            <a:off x="1828800" y="9875520"/>
            <a:ext cx="155448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Edit &amp; continue</a:t>
            </a:r>
            <a:r>
              <a:rPr sz="3000" lang="en-US">
                <a:solidFill>
                  <a:srgbClr val="A7A7A7"/>
                </a:solidFill>
                <a:latin typeface="NVIDIA Sans"/>
              </a:rPr>
              <a:t>  ·  </a:t>
            </a:r>
            <a:r>
              <a:rPr sz="3000" lang="zh-CN">
                <a:solidFill>
                  <a:srgbClr val="313131"/>
                </a:solidFill>
                <a:latin typeface="Microsoft YaHei"/>
                <a:ea typeface="Microsoft YaHei"/>
              </a:rPr>
              <a:t>编辑与续接</a:t>
            </a:r>
          </a:p>
        </p:txBody>
      </p:sp>
      <p:sp>
        <p:nvSpPr>
          <p:cNvPr id="13" name="Supported detail 1"/>
          <p:cNvSpPr txBox="1"/>
          <p:nvPr/>
        </p:nvSpPr>
        <p:spPr>
          <a:xfrm>
            <a:off x="1828800" y="10789920"/>
            <a:ext cx="15544800" cy="1371600"/>
          </a:xfrm>
          <a:prstGeom prst="rect">
            <a:avLst/>
          </a:prstGeom>
          <a:noFill/>
        </p:spPr>
        <p:txBody>
          <a:bodyPr wrap="square" lIns="0" rIns="0" tIns="0" bIns="0">
            <a:spAutoFit/>
          </a:bodyPr>
          <a:lstStyle/>
          <a:p>
            <a:pPr>
              <a:spcBef>
                <a:spcPts val="0"/>
              </a:spcBef>
              <a:spcAft>
                <a:spcPts val="700"/>
              </a:spcAft>
            </a:pPr>
            <a:r>
              <a:rPr sz="2800" b="0">
                <a:solidFill>
                  <a:srgbClr val="313131"/>
                </a:solidFill>
                <a:latin typeface="NVIDIA Sans"/>
              </a:rPr>
              <a:t>Mask: 0 = preserve, 1 = regenerate; extend the timeline.</a:t>
            </a:r>
          </a:p>
          <a:p>
            <a:pPr>
              <a:spcBef>
                <a:spcPts val="0"/>
              </a:spcBef>
              <a:spcAft>
                <a:spcPts val="0"/>
              </a:spcAft>
            </a:pPr>
            <a:r>
              <a:rPr sz="2600" lang="zh-CN">
                <a:solidFill>
                  <a:srgbClr val="313131"/>
                </a:solidFill>
                <a:latin typeface="Microsoft YaHei"/>
                <a:ea typeface="Microsoft YaHei"/>
              </a:rPr>
              <a:t>遮罩 0 保留、1 重生成；时间遮罩用于续接。</a:t>
            </a:r>
          </a:p>
        </p:txBody>
      </p:sp>
      <p:sp>
        <p:nvSpPr>
          <p:cNvPr id="14" name="Supported title 2"/>
          <p:cNvSpPr txBox="1"/>
          <p:nvPr/>
        </p:nvSpPr>
        <p:spPr>
          <a:xfrm>
            <a:off x="1828800" y="12298680"/>
            <a:ext cx="155448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Upscale &amp; second pass*</a:t>
            </a:r>
            <a:r>
              <a:rPr sz="3000" lang="en-US">
                <a:solidFill>
                  <a:srgbClr val="A7A7A7"/>
                </a:solidFill>
                <a:latin typeface="NVIDIA Sans"/>
              </a:rPr>
              <a:t>  ·  </a:t>
            </a:r>
            <a:r>
              <a:rPr sz="3000" lang="zh-CN">
                <a:solidFill>
                  <a:srgbClr val="313131"/>
                </a:solidFill>
                <a:latin typeface="Microsoft YaHei"/>
                <a:ea typeface="Microsoft YaHei"/>
              </a:rPr>
              <a:t>超分与二次采样</a:t>
            </a:r>
          </a:p>
        </p:txBody>
      </p:sp>
      <p:sp>
        <p:nvSpPr>
          <p:cNvPr id="15" name="Supported detail 2"/>
          <p:cNvSpPr txBox="1"/>
          <p:nvPr/>
        </p:nvSpPr>
        <p:spPr>
          <a:xfrm>
            <a:off x="1828800" y="13213080"/>
            <a:ext cx="15544800" cy="1371600"/>
          </a:xfrm>
          <a:prstGeom prst="rect">
            <a:avLst/>
          </a:prstGeom>
          <a:noFill/>
        </p:spPr>
        <p:txBody>
          <a:bodyPr wrap="square" lIns="0" rIns="0" tIns="0" bIns="0">
            <a:spAutoFit/>
          </a:bodyPr>
          <a:lstStyle/>
          <a:p>
            <a:pPr>
              <a:spcBef>
                <a:spcPts val="0"/>
              </a:spcBef>
              <a:spcAft>
                <a:spcPts val="700"/>
              </a:spcAft>
            </a:pPr>
            <a:r>
              <a:rPr sz="2800" b="0">
                <a:solidFill>
                  <a:srgbClr val="313131"/>
                </a:solidFill>
                <a:latin typeface="NVIDIA Sans"/>
              </a:rPr>
              <a:t>SeedVR2 restores frames; H3 re-denoises target latents.</a:t>
            </a:r>
          </a:p>
          <a:p>
            <a:pPr>
              <a:spcBef>
                <a:spcPts val="0"/>
              </a:spcBef>
              <a:spcAft>
                <a:spcPts val="0"/>
              </a:spcAft>
            </a:pPr>
            <a:r>
              <a:rPr sz="2600" lang="zh-CN">
                <a:solidFill>
                  <a:srgbClr val="313131"/>
                </a:solidFill>
                <a:latin typeface="Microsoft YaHei"/>
                <a:ea typeface="Microsoft YaHei"/>
              </a:rPr>
              <a:t>SeedVR2 修复解码帧；H3 在潜空间再次去噪。</a:t>
            </a:r>
          </a:p>
        </p:txBody>
      </p:sp>
      <p:sp>
        <p:nvSpPr>
          <p:cNvPr id="16" name="Supported title 3"/>
          <p:cNvSpPr txBox="1"/>
          <p:nvPr/>
        </p:nvSpPr>
        <p:spPr>
          <a:xfrm>
            <a:off x="1828800" y="14721840"/>
            <a:ext cx="155448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Music-driven video</a:t>
            </a:r>
            <a:r>
              <a:rPr sz="3000" lang="en-US">
                <a:solidFill>
                  <a:srgbClr val="A7A7A7"/>
                </a:solidFill>
                <a:latin typeface="NVIDIA Sans"/>
              </a:rPr>
              <a:t>  ·  </a:t>
            </a:r>
            <a:r>
              <a:rPr sz="3000" lang="zh-CN">
                <a:solidFill>
                  <a:srgbClr val="313131"/>
                </a:solidFill>
                <a:latin typeface="Microsoft YaHei"/>
                <a:ea typeface="Microsoft YaHei"/>
              </a:rPr>
              <a:t>音乐驱动视频</a:t>
            </a:r>
          </a:p>
        </p:txBody>
      </p:sp>
      <p:sp>
        <p:nvSpPr>
          <p:cNvPr id="17" name="Supported detail 3"/>
          <p:cNvSpPr txBox="1"/>
          <p:nvPr/>
        </p:nvSpPr>
        <p:spPr>
          <a:xfrm>
            <a:off x="1828800" y="15636240"/>
            <a:ext cx="15544800" cy="1371600"/>
          </a:xfrm>
          <a:prstGeom prst="rect">
            <a:avLst/>
          </a:prstGeom>
          <a:noFill/>
        </p:spPr>
        <p:txBody>
          <a:bodyPr wrap="square" lIns="0" rIns="0" tIns="0" bIns="0">
            <a:spAutoFit/>
          </a:bodyPr>
          <a:lstStyle/>
          <a:p>
            <a:pPr>
              <a:spcBef>
                <a:spcPts val="0"/>
              </a:spcBef>
              <a:spcAft>
                <a:spcPts val="700"/>
              </a:spcAft>
            </a:pPr>
            <a:r>
              <a:rPr sz="2800" b="0">
                <a:solidFill>
                  <a:srgbClr val="313131"/>
                </a:solidFill>
                <a:latin typeface="NVIDIA Sans"/>
              </a:rPr>
              <a:t>Lock audio per shot; assemble with the original soundtrack.</a:t>
            </a:r>
          </a:p>
          <a:p>
            <a:pPr>
              <a:spcBef>
                <a:spcPts val="0"/>
              </a:spcBef>
              <a:spcAft>
                <a:spcPts val="0"/>
              </a:spcAft>
            </a:pPr>
            <a:r>
              <a:rPr sz="2600" lang="zh-CN">
                <a:solidFill>
                  <a:srgbClr val="313131"/>
                </a:solidFill>
                <a:latin typeface="Microsoft YaHei"/>
                <a:ea typeface="Microsoft YaHei"/>
              </a:rPr>
              <a:t>分镜内锁定音频；拼接后使用原始音轨。</a:t>
            </a:r>
          </a:p>
        </p:txBody>
      </p:sp>
      <p:sp>
        <p:nvSpPr>
          <p:cNvPr id="18" name="Planned title 0"/>
          <p:cNvSpPr txBox="1"/>
          <p:nvPr/>
        </p:nvSpPr>
        <p:spPr>
          <a:xfrm>
            <a:off x="20116800" y="7452360"/>
            <a:ext cx="146304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ControlNet workflows</a:t>
            </a:r>
            <a:r>
              <a:rPr sz="3000" lang="en-US">
                <a:solidFill>
                  <a:srgbClr val="A7A7A7"/>
                </a:solidFill>
                <a:latin typeface="NVIDIA Sans"/>
              </a:rPr>
              <a:t>  ·  </a:t>
            </a:r>
            <a:r>
              <a:rPr sz="3000" lang="zh-CN">
                <a:solidFill>
                  <a:srgbClr val="313131"/>
                </a:solidFill>
                <a:latin typeface="Microsoft YaHei"/>
                <a:ea typeface="Microsoft YaHei"/>
              </a:rPr>
              <a:t>条件控制工作流</a:t>
            </a:r>
          </a:p>
        </p:txBody>
      </p:sp>
      <p:sp>
        <p:nvSpPr>
          <p:cNvPr id="19" name="Planned detail 0"/>
          <p:cNvSpPr txBox="1"/>
          <p:nvPr/>
        </p:nvSpPr>
        <p:spPr>
          <a:xfrm>
            <a:off x="20116800" y="8366760"/>
            <a:ext cx="146304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Pose, depth and edges · Draft PRs</a:t>
            </a:r>
          </a:p>
          <a:p>
            <a:pPr>
              <a:spcBef>
                <a:spcPts val="0"/>
              </a:spcBef>
              <a:spcAft>
                <a:spcPts val="0"/>
              </a:spcAft>
            </a:pPr>
            <a:r>
              <a:rPr sz="2600" lang="zh-CN">
                <a:solidFill>
                  <a:srgbClr val="313131"/>
                </a:solidFill>
                <a:latin typeface="Microsoft YaHei"/>
                <a:ea typeface="Microsoft YaHei"/>
              </a:rPr>
              <a:t>姿态、深度与边缘控制 · 草稿 PR</a:t>
            </a:r>
          </a:p>
        </p:txBody>
      </p:sp>
      <p:sp>
        <p:nvSpPr>
          <p:cNvPr id="20" name="Planned title 1"/>
          <p:cNvSpPr txBox="1"/>
          <p:nvPr/>
        </p:nvSpPr>
        <p:spPr>
          <a:xfrm>
            <a:off x="20116800" y="9875520"/>
            <a:ext cx="146304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Character replacement</a:t>
            </a:r>
            <a:r>
              <a:rPr sz="3000" lang="en-US">
                <a:solidFill>
                  <a:srgbClr val="A7A7A7"/>
                </a:solidFill>
                <a:latin typeface="NVIDIA Sans"/>
              </a:rPr>
              <a:t>  ·  </a:t>
            </a:r>
            <a:r>
              <a:rPr sz="3000" lang="zh-CN">
                <a:solidFill>
                  <a:srgbClr val="313131"/>
                </a:solidFill>
                <a:latin typeface="Microsoft YaHei"/>
                <a:ea typeface="Microsoft YaHei"/>
              </a:rPr>
              <a:t>角色替换</a:t>
            </a:r>
          </a:p>
        </p:txBody>
      </p:sp>
      <p:sp>
        <p:nvSpPr>
          <p:cNvPr id="21" name="Planned detail 1"/>
          <p:cNvSpPr txBox="1"/>
          <p:nvPr/>
        </p:nvSpPr>
        <p:spPr>
          <a:xfrm>
            <a:off x="20116800" y="10789920"/>
            <a:ext cx="146304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Source video + new identity · Open PR</a:t>
            </a:r>
          </a:p>
          <a:p>
            <a:pPr>
              <a:spcBef>
                <a:spcPts val="0"/>
              </a:spcBef>
              <a:spcAft>
                <a:spcPts val="0"/>
              </a:spcAft>
            </a:pPr>
            <a:r>
              <a:rPr sz="2600" lang="zh-CN">
                <a:solidFill>
                  <a:srgbClr val="313131"/>
                </a:solidFill>
                <a:latin typeface="Microsoft YaHei"/>
                <a:ea typeface="Microsoft YaHei"/>
              </a:rPr>
              <a:t>原视频 + 新角色身份 · 待合并 PR</a:t>
            </a:r>
          </a:p>
        </p:txBody>
      </p:sp>
      <p:sp>
        <p:nvSpPr>
          <p:cNvPr id="22" name="Planned title 2"/>
          <p:cNvSpPr txBox="1"/>
          <p:nvPr/>
        </p:nvSpPr>
        <p:spPr>
          <a:xfrm>
            <a:off x="20116800" y="12298680"/>
            <a:ext cx="146304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Multi-anchor workflow</a:t>
            </a:r>
            <a:r>
              <a:rPr sz="3000" lang="en-US">
                <a:solidFill>
                  <a:srgbClr val="A7A7A7"/>
                </a:solidFill>
                <a:latin typeface="NVIDIA Sans"/>
              </a:rPr>
              <a:t>  ·  </a:t>
            </a:r>
            <a:r>
              <a:rPr sz="3000" lang="zh-CN">
                <a:solidFill>
                  <a:srgbClr val="313131"/>
                </a:solidFill>
                <a:latin typeface="Microsoft YaHei"/>
                <a:ea typeface="Microsoft YaHei"/>
              </a:rPr>
              <a:t>多锚点工作流</a:t>
            </a:r>
          </a:p>
        </p:txBody>
      </p:sp>
      <p:sp>
        <p:nvSpPr>
          <p:cNvPr id="23" name="Planned detail 2"/>
          <p:cNvSpPr txBox="1"/>
          <p:nvPr/>
        </p:nvSpPr>
        <p:spPr>
          <a:xfrm>
            <a:off x="20116800" y="13213080"/>
            <a:ext cx="146304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Identity + timed keyframes · Open PR</a:t>
            </a:r>
          </a:p>
          <a:p>
            <a:pPr>
              <a:spcBef>
                <a:spcPts val="0"/>
              </a:spcBef>
              <a:spcAft>
                <a:spcPts val="0"/>
              </a:spcAft>
            </a:pPr>
            <a:r>
              <a:rPr sz="2600" lang="zh-CN">
                <a:solidFill>
                  <a:srgbClr val="313131"/>
                </a:solidFill>
                <a:latin typeface="Microsoft YaHei"/>
                <a:ea typeface="Microsoft YaHei"/>
              </a:rPr>
              <a:t>角色身份 + 指定时刻的关键帧 · 待合并 PR</a:t>
            </a:r>
          </a:p>
        </p:txBody>
      </p:sp>
      <p:sp>
        <p:nvSpPr>
          <p:cNvPr id="24" name="Planned title 3"/>
          <p:cNvSpPr txBox="1"/>
          <p:nvPr/>
        </p:nvSpPr>
        <p:spPr>
          <a:xfrm>
            <a:off x="20116800" y="14721840"/>
            <a:ext cx="146304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Long-form stories &amp; avatars</a:t>
            </a:r>
            <a:r>
              <a:rPr sz="3000" lang="en-US">
                <a:solidFill>
                  <a:srgbClr val="A7A7A7"/>
                </a:solidFill>
                <a:latin typeface="NVIDIA Sans"/>
              </a:rPr>
              <a:t>  ·  </a:t>
            </a:r>
            <a:r>
              <a:rPr sz="3000" lang="zh-CN">
                <a:solidFill>
                  <a:srgbClr val="313131"/>
                </a:solidFill>
                <a:latin typeface="Microsoft YaHei"/>
                <a:ea typeface="Microsoft YaHei"/>
              </a:rPr>
              <a:t>长篇叙事与数字人</a:t>
            </a:r>
          </a:p>
        </p:txBody>
      </p:sp>
      <p:sp>
        <p:nvSpPr>
          <p:cNvPr id="25" name="Planned detail 3"/>
          <p:cNvSpPr txBox="1"/>
          <p:nvPr/>
        </p:nvSpPr>
        <p:spPr>
          <a:xfrm>
            <a:off x="20116800" y="15636240"/>
            <a:ext cx="146304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Segmented production templates · RFC</a:t>
            </a:r>
          </a:p>
          <a:p>
            <a:pPr>
              <a:spcBef>
                <a:spcPts val="0"/>
              </a:spcBef>
              <a:spcAft>
                <a:spcPts val="0"/>
              </a:spcAft>
            </a:pPr>
            <a:r>
              <a:rPr sz="2600" lang="zh-CN">
                <a:solidFill>
                  <a:srgbClr val="313131"/>
                </a:solidFill>
                <a:latin typeface="Microsoft YaHei"/>
                <a:ea typeface="Microsoft YaHei"/>
              </a:rPr>
              <a:t>分段生成与制作模板 · RFC 提案</a:t>
            </a:r>
          </a:p>
        </p:txBody>
      </p:sp>
      <p:cxnSp>
        <p:nvCxnSpPr>
          <p:cNvPr id="26" name="Support footer divider"/>
          <p:cNvCxnSpPr/>
          <p:nvPr/>
        </p:nvCxnSpPr>
        <p:spPr>
          <a:xfrm>
            <a:off x="1828800" y="17739360"/>
            <a:ext cx="3291840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Second pass scope"/>
          <p:cNvSpPr txBox="1"/>
          <p:nvPr/>
        </p:nvSpPr>
        <p:spPr>
          <a:xfrm>
            <a:off x="1828800" y="18105120"/>
            <a:ext cx="32918400" cy="1051560"/>
          </a:xfrm>
          <a:prstGeom prst="rect">
            <a:avLst/>
          </a:prstGeom>
          <a:noFill/>
        </p:spPr>
        <p:txBody>
          <a:bodyPr wrap="square" lIns="0" rIns="0" tIns="0" bIns="0">
            <a:spAutoFit/>
          </a:bodyPr>
          <a:lstStyle/>
          <a:p>
            <a:pPr>
              <a:spcBef>
                <a:spcPts val="0"/>
              </a:spcBef>
              <a:spcAft>
                <a:spcPts val="700"/>
              </a:spcAft>
            </a:pPr>
            <a:r>
              <a:rPr sz="2700" lang="en-US">
                <a:solidFill>
                  <a:srgbClr val="000000"/>
                </a:solidFill>
                <a:latin typeface="NVIDIA Sans"/>
              </a:rPr>
              <a:t>*H3 second pass is server-configured; no dedicated ComfyUI node or template.</a:t>
            </a:r>
          </a:p>
          <a:p>
            <a:pPr>
              <a:spcBef>
                <a:spcPts val="0"/>
              </a:spcBef>
              <a:spcAft>
                <a:spcPts val="0"/>
              </a:spcAft>
            </a:pPr>
            <a:r>
              <a:rPr sz="2500" lang="zh-CN">
                <a:solidFill>
                  <a:srgbClr val="313131"/>
                </a:solidFill>
                <a:latin typeface="Microsoft YaHei"/>
                <a:ea typeface="Microsoft YaHei"/>
              </a:rPr>
              <a:t>*H3 二次采样由服务端配置；暂无独立 ComfyUI 节点或模板。</a:t>
            </a:r>
          </a:p>
        </p:txBody>
      </p:sp>
      <p:sp>
        <p:nvSpPr>
          <p:cNvPr id="28" name="Roadmap sources"/>
          <p:cNvSpPr txBox="1"/>
          <p:nvPr/>
        </p:nvSpPr>
        <p:spPr>
          <a:xfrm>
            <a:off x="1828800" y="19293840"/>
            <a:ext cx="32918400" cy="594360"/>
          </a:xfrm>
          <a:prstGeom prst="rect">
            <a:avLst/>
          </a:prstGeom>
          <a:noFill/>
        </p:spPr>
        <p:txBody>
          <a:bodyPr wrap="square" lIns="0" rIns="0" tIns="0" bIns="0">
            <a:spAutoFit/>
          </a:bodyPr>
          <a:lstStyle/>
          <a:p>
            <a:pPr>
              <a:spcBef>
                <a:spcPts val="0"/>
              </a:spcBef>
              <a:spcAft>
                <a:spcPts val="0"/>
              </a:spcAft>
            </a:pPr>
            <a:r>
              <a:rPr sz="2300" b="0">
                <a:solidFill>
                  <a:srgbClr val="000000"/>
                </a:solidFill>
                <a:latin typeface="NVIDIA Sans"/>
              </a:rPr>
              <a:t>Public roadmap #8264 · H3 #7380 · Production workflows #8251 · Status checked 31 Oct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16</a:t>
            </a:r>
          </a:p>
        </p:txBody>
      </p:sp>
      <p:sp>
        <p:nvSpPr>
          <p:cNvPr id="3" name="Text Placeholder 2"/>
          <p:cNvSpPr>
            <a:spLocks noGrp="1"/>
          </p:cNvSpPr>
          <p:nvPr>
            <p:ph type="body" idx="13" sz="quarter"/>
          </p:nvPr>
        </p:nvSpPr>
        <p:spPr/>
        <p:txBody>
          <a:bodyPr/>
          <a:lstStyle/>
          <a:p>
            <a:r>
              <a:t>Expected open-source release: early November 2026.</a:t>
            </a:r>
          </a:p>
        </p:txBody>
      </p:sp>
      <p:sp>
        <p:nvSpPr>
          <p:cNvPr id="4" name="Title 3"/>
          <p:cNvSpPr>
            <a:spLocks noGrp="1"/>
          </p:cNvSpPr>
          <p:nvPr>
            <p:ph type="title"/>
          </p:nvPr>
        </p:nvSpPr>
        <p:spPr/>
        <p:txBody>
          <a:bodyPr/>
          <a:lstStyle/>
          <a:p>
            <a:r>
              <a:rPr sz="8800"/>
              <a:t>vLLM-Omni for Creators — Video Studio</a:t>
            </a:r>
          </a:p>
        </p:txBody>
      </p:sp>
      <p:sp>
        <p:nvSpPr>
          <p:cNvPr id="5" name="Studio purpose"/>
          <p:cNvSpPr txBox="1"/>
          <p:nvPr/>
        </p:nvSpPr>
        <p:spPr>
          <a:xfrm>
            <a:off x="1828800" y="5486400"/>
            <a:ext cx="32918400" cy="128016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A developer tool for video generation and editing.</a:t>
            </a:r>
          </a:p>
        </p:txBody>
      </p:sp>
      <p:sp>
        <p:nvSpPr>
          <p:cNvPr id="6" name="Studio stage 0"/>
          <p:cNvSpPr/>
          <p:nvPr/>
        </p:nvSpPr>
        <p:spPr>
          <a:xfrm>
            <a:off x="18288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udio stage label 0"/>
          <p:cNvSpPr txBox="1"/>
          <p:nvPr/>
        </p:nvSpPr>
        <p:spPr>
          <a:xfrm>
            <a:off x="20116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Prompt + assets</a:t>
            </a:r>
          </a:p>
        </p:txBody>
      </p:sp>
      <p:sp>
        <p:nvSpPr>
          <p:cNvPr id="8" name="Studio flow 0"/>
          <p:cNvSpPr/>
          <p:nvPr/>
        </p:nvSpPr>
        <p:spPr>
          <a:xfrm>
            <a:off x="90068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udio stage 1"/>
          <p:cNvSpPr/>
          <p:nvPr/>
        </p:nvSpPr>
        <p:spPr>
          <a:xfrm>
            <a:off x="105156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udio stage label 1"/>
          <p:cNvSpPr txBox="1"/>
          <p:nvPr/>
        </p:nvSpPr>
        <p:spPr>
          <a:xfrm>
            <a:off x="106984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Generate clips</a:t>
            </a:r>
          </a:p>
        </p:txBody>
      </p:sp>
      <p:sp>
        <p:nvSpPr>
          <p:cNvPr id="11" name="Studio flow 1"/>
          <p:cNvSpPr/>
          <p:nvPr/>
        </p:nvSpPr>
        <p:spPr>
          <a:xfrm>
            <a:off x="176936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udio stage 2"/>
          <p:cNvSpPr/>
          <p:nvPr/>
        </p:nvSpPr>
        <p:spPr>
          <a:xfrm>
            <a:off x="192024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udio stage label 2"/>
          <p:cNvSpPr txBox="1"/>
          <p:nvPr/>
        </p:nvSpPr>
        <p:spPr>
          <a:xfrm>
            <a:off x="193852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Edit + assemble</a:t>
            </a:r>
          </a:p>
        </p:txBody>
      </p:sp>
      <p:sp>
        <p:nvSpPr>
          <p:cNvPr id="14" name="Studio flow 2"/>
          <p:cNvSpPr/>
          <p:nvPr/>
        </p:nvSpPr>
        <p:spPr>
          <a:xfrm>
            <a:off x="263804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udio stage 3"/>
          <p:cNvSpPr/>
          <p:nvPr/>
        </p:nvSpPr>
        <p:spPr>
          <a:xfrm>
            <a:off x="278892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udio stage label 3"/>
          <p:cNvSpPr txBox="1"/>
          <p:nvPr/>
        </p:nvSpPr>
        <p:spPr>
          <a:xfrm>
            <a:off x="280720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Export video</a:t>
            </a:r>
          </a:p>
        </p:txBody>
      </p:sp>
      <p:cxnSp>
        <p:nvCxnSpPr>
          <p:cNvPr id="17" name="Planned backend connector"/>
          <p:cNvCxnSpPr/>
          <p:nvPr/>
        </p:nvCxnSpPr>
        <p:spPr>
          <a:xfrm>
            <a:off x="13944600" y="10607040"/>
            <a:ext cx="0" cy="26060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18" name="Backend interface"/>
          <p:cNvSpPr txBox="1"/>
          <p:nvPr/>
        </p:nvSpPr>
        <p:spPr>
          <a:xfrm>
            <a:off x="14630400" y="11612880"/>
            <a:ext cx="11887200" cy="82296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Model-serving API</a:t>
            </a:r>
          </a:p>
        </p:txBody>
      </p:sp>
      <p:sp>
        <p:nvSpPr>
          <p:cNvPr id="19" name="Omni backend"/>
          <p:cNvSpPr/>
          <p:nvPr/>
        </p:nvSpPr>
        <p:spPr>
          <a:xfrm>
            <a:off x="8229600" y="13213080"/>
            <a:ext cx="18288000" cy="2788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mni backend label"/>
          <p:cNvSpPr txBox="1"/>
          <p:nvPr/>
        </p:nvSpPr>
        <p:spPr>
          <a:xfrm>
            <a:off x="8503920" y="13670280"/>
            <a:ext cx="17739360" cy="1005840"/>
          </a:xfrm>
          <a:prstGeom prst="rect">
            <a:avLst/>
          </a:prstGeom>
          <a:noFill/>
        </p:spPr>
        <p:txBody>
          <a:bodyPr wrap="square" lIns="0" rIns="0" tIns="0" bIns="0">
            <a:spAutoFit/>
          </a:bodyPr>
          <a:lstStyle/>
          <a:p>
            <a:pPr algn="ctr">
              <a:spcBef>
                <a:spcPts val="0"/>
              </a:spcBef>
              <a:spcAft>
                <a:spcPts val="0"/>
              </a:spcAft>
            </a:pPr>
            <a:r>
              <a:rPr sz="5200" b="0">
                <a:solidFill>
                  <a:srgbClr val="76B900"/>
                </a:solidFill>
                <a:latin typeface="NVIDIA Sans Medium"/>
              </a:rPr>
              <a:t>vLLM-Omni</a:t>
            </a:r>
          </a:p>
        </p:txBody>
      </p:sp>
      <p:sp>
        <p:nvSpPr>
          <p:cNvPr id="21" name="Omni backend scope"/>
          <p:cNvSpPr txBox="1"/>
          <p:nvPr/>
        </p:nvSpPr>
        <p:spPr>
          <a:xfrm>
            <a:off x="8503920" y="14950440"/>
            <a:ext cx="17739360" cy="640080"/>
          </a:xfrm>
          <a:prstGeom prst="rect">
            <a:avLst/>
          </a:prstGeom>
          <a:noFill/>
        </p:spPr>
        <p:txBody>
          <a:bodyPr wrap="square" lIns="0" rIns="0" tIns="0" bIns="0">
            <a:spAutoFit/>
          </a:bodyPr>
          <a:lstStyle/>
          <a:p>
            <a:pPr algn="ctr">
              <a:spcBef>
                <a:spcPts val="0"/>
              </a:spcBef>
              <a:spcAft>
                <a:spcPts val="0"/>
              </a:spcAft>
            </a:pPr>
            <a:r>
              <a:rPr sz="2900" b="0">
                <a:solidFill>
                  <a:srgbClr val="313131"/>
                </a:solidFill>
                <a:latin typeface="NVIDIA Sans"/>
              </a:rPr>
              <a:t>Compatible models served by vLLM-Omni</a:t>
            </a:r>
          </a:p>
        </p:txBody>
      </p:sp>
      <p:sp>
        <p:nvSpPr>
          <p:cNvPr id="22" name="Studio takeaway"/>
          <p:cNvSpPr txBox="1"/>
          <p:nvPr/>
        </p:nvSpPr>
        <p:spPr>
          <a:xfrm>
            <a:off x="1828800" y="17830800"/>
            <a:ext cx="32918400" cy="109728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One workflow, from generated clips to an edited video.</a:t>
            </a:r>
          </a:p>
        </p:txBody>
      </p:sp>
      <p:sp>
        <p:nvSpPr>
          <p:cNvPr id="23" name="Studio status"/>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Video Studio is a working title. Diagram shows the planned workflow and backend integration.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17</a:t>
            </a:r>
          </a:p>
        </p:txBody>
      </p:sp>
      <p:sp>
        <p:nvSpPr>
          <p:cNvPr id="3" name="Text Placeholder 2"/>
          <p:cNvSpPr>
            <a:spLocks noGrp="1"/>
          </p:cNvSpPr>
          <p:nvPr>
            <p:ph type="body" idx="13" sz="quarter"/>
          </p:nvPr>
        </p:nvSpPr>
        <p:spPr/>
        <p:txBody>
          <a:bodyPr/>
          <a:lstStyle/>
          <a:p>
            <a:r>
              <a:t>Connect with the community. Build what comes next.</a:t>
            </a:r>
          </a:p>
        </p:txBody>
      </p:sp>
      <p:sp>
        <p:nvSpPr>
          <p:cNvPr id="4" name="Title 3"/>
          <p:cNvSpPr>
            <a:spLocks noGrp="1"/>
          </p:cNvSpPr>
          <p:nvPr>
            <p:ph type="title"/>
          </p:nvPr>
        </p:nvSpPr>
        <p:spPr/>
        <p:txBody>
          <a:bodyPr/>
          <a:lstStyle/>
          <a:p>
            <a:r>
              <a:rPr sz="8800"/>
              <a:t>Build with vLLM-Omni</a:t>
            </a:r>
          </a:p>
        </p:txBody>
      </p:sp>
      <p:sp>
        <p:nvSpPr>
          <p:cNvPr id="5" name="Entry title 0"/>
          <p:cNvSpPr txBox="1"/>
          <p:nvPr/>
        </p:nvSpPr>
        <p:spPr>
          <a:xfrm>
            <a:off x="16002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vLLM-Omni</a:t>
            </a:r>
          </a:p>
          <a:p>
            <a:pPr algn="ctr">
              <a:spcBef>
                <a:spcPts val="0"/>
              </a:spcBef>
              <a:spcAft>
                <a:spcPts val="0"/>
              </a:spcAft>
            </a:pPr>
            <a:r>
              <a:rPr sz="3800" b="0">
                <a:solidFill>
                  <a:srgbClr val="000000"/>
                </a:solidFill>
                <a:latin typeface="NVIDIA Sans Medium"/>
              </a:rPr>
              <a:t>ComfyUI</a:t>
            </a:r>
          </a:p>
        </p:txBody>
      </p:sp>
      <p:sp>
        <p:nvSpPr>
          <p:cNvPr id="6" name="Entry subtitle 0"/>
          <p:cNvSpPr txBox="1"/>
          <p:nvPr/>
        </p:nvSpPr>
        <p:spPr>
          <a:xfrm>
            <a:off x="15087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Developer community</a:t>
            </a:r>
          </a:p>
        </p:txBody>
      </p:sp>
      <p:pic>
        <p:nvPicPr>
          <p:cNvPr id="7" name="Community QR 0" descr="image.jpg">
            <a:hlinkClick r:id="rId13"/>
          </p:cNvPr>
          <p:cNvPicPr>
            <a:picLocks noChangeAspect="1"/>
          </p:cNvPicPr>
          <p:nvPr/>
        </p:nvPicPr>
        <p:blipFill>
          <a:blip r:embed="rId12"/>
          <a:srcRect l="11750" r="11750" t="33116" b="14134"/>
          <a:stretch>
            <a:fillRect/>
          </a:stretch>
        </p:blipFill>
        <p:spPr>
          <a:xfrm>
            <a:off x="2057400" y="8321040"/>
            <a:ext cx="6675120" cy="6675120"/>
          </a:xfrm>
          <a:prstGeom prst="rect">
            <a:avLst/>
          </a:prstGeom>
        </p:spPr>
      </p:pic>
      <p:sp>
        <p:nvSpPr>
          <p:cNvPr id="8" name="Entry action 0"/>
          <p:cNvSpPr txBox="1"/>
          <p:nvPr/>
        </p:nvSpPr>
        <p:spPr>
          <a:xfrm>
            <a:off x="16002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Scan with WeChat</a:t>
            </a:r>
          </a:p>
        </p:txBody>
      </p:sp>
      <p:sp>
        <p:nvSpPr>
          <p:cNvPr id="9" name="Entry title 1"/>
          <p:cNvSpPr txBox="1"/>
          <p:nvPr/>
        </p:nvSpPr>
        <p:spPr>
          <a:xfrm>
            <a:off x="105156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Agentic Video</a:t>
            </a:r>
          </a:p>
          <a:p>
            <a:pPr algn="ctr">
              <a:spcBef>
                <a:spcPts val="0"/>
              </a:spcBef>
              <a:spcAft>
                <a:spcPts val="0"/>
              </a:spcAft>
            </a:pPr>
            <a:r>
              <a:rPr sz="3800" b="0">
                <a:solidFill>
                  <a:srgbClr val="000000"/>
                </a:solidFill>
                <a:latin typeface="NVIDIA Sans Medium"/>
              </a:rPr>
              <a:t>Generation</a:t>
            </a:r>
          </a:p>
        </p:txBody>
      </p:sp>
      <p:sp>
        <p:nvSpPr>
          <p:cNvPr id="10" name="Entry subtitle 1"/>
          <p:cNvSpPr txBox="1"/>
          <p:nvPr/>
        </p:nvSpPr>
        <p:spPr>
          <a:xfrm>
            <a:off x="104241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with MiniMax H3</a:t>
            </a:r>
          </a:p>
        </p:txBody>
      </p:sp>
      <p:pic>
        <p:nvPicPr>
          <p:cNvPr id="11" name="Community QR 1" descr="image.jpg">
            <a:hlinkClick r:id="rId15"/>
          </p:cNvPr>
          <p:cNvPicPr>
            <a:picLocks noChangeAspect="1"/>
          </p:cNvPicPr>
          <p:nvPr/>
        </p:nvPicPr>
        <p:blipFill>
          <a:blip r:embed="rId14"/>
          <a:srcRect l="11750" r="11750" t="33116" b="14134"/>
          <a:stretch>
            <a:fillRect/>
          </a:stretch>
        </p:blipFill>
        <p:spPr>
          <a:xfrm>
            <a:off x="10972800" y="8321040"/>
            <a:ext cx="6675120" cy="6675120"/>
          </a:xfrm>
          <a:prstGeom prst="rect">
            <a:avLst/>
          </a:prstGeom>
        </p:spPr>
      </p:pic>
      <p:sp>
        <p:nvSpPr>
          <p:cNvPr id="12" name="Entry action 1"/>
          <p:cNvSpPr txBox="1"/>
          <p:nvPr/>
        </p:nvSpPr>
        <p:spPr>
          <a:xfrm>
            <a:off x="105156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Scan with WeChat</a:t>
            </a:r>
          </a:p>
        </p:txBody>
      </p:sp>
      <p:sp>
        <p:nvSpPr>
          <p:cNvPr id="13" name="Entry title 2"/>
          <p:cNvSpPr txBox="1"/>
          <p:nvPr/>
        </p:nvSpPr>
        <p:spPr>
          <a:xfrm>
            <a:off x="194310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vLLM Study</a:t>
            </a:r>
          </a:p>
          <a:p>
            <a:pPr algn="ctr">
              <a:spcBef>
                <a:spcPts val="0"/>
              </a:spcBef>
              <a:spcAft>
                <a:spcPts val="0"/>
              </a:spcAft>
            </a:pPr>
            <a:r>
              <a:rPr sz="3800" b="0">
                <a:solidFill>
                  <a:srgbClr val="000000"/>
                </a:solidFill>
                <a:latin typeface="NVIDIA Sans Medium"/>
              </a:rPr>
              <a:t>Group</a:t>
            </a:r>
          </a:p>
        </p:txBody>
      </p:sp>
      <p:sp>
        <p:nvSpPr>
          <p:cNvPr id="14" name="Entry subtitle 2"/>
          <p:cNvSpPr txBox="1"/>
          <p:nvPr/>
        </p:nvSpPr>
        <p:spPr>
          <a:xfrm>
            <a:off x="193395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Shenzhen</a:t>
            </a:r>
          </a:p>
        </p:txBody>
      </p:sp>
      <p:pic>
        <p:nvPicPr>
          <p:cNvPr id="15" name="Community QR 2" descr="image.jpg">
            <a:hlinkClick r:id="rId17"/>
          </p:cNvPr>
          <p:cNvPicPr>
            <a:picLocks noChangeAspect="1"/>
          </p:cNvPicPr>
          <p:nvPr/>
        </p:nvPicPr>
        <p:blipFill>
          <a:blip r:embed="rId16"/>
          <a:srcRect l="11750" r="11750" t="31037" b="14573"/>
          <a:stretch>
            <a:fillRect/>
          </a:stretch>
        </p:blipFill>
        <p:spPr>
          <a:xfrm>
            <a:off x="19888200" y="8321040"/>
            <a:ext cx="6675120" cy="6675120"/>
          </a:xfrm>
          <a:prstGeom prst="rect">
            <a:avLst/>
          </a:prstGeom>
        </p:spPr>
      </p:pic>
      <p:sp>
        <p:nvSpPr>
          <p:cNvPr id="16" name="Entry action 2"/>
          <p:cNvSpPr txBox="1"/>
          <p:nvPr/>
        </p:nvSpPr>
        <p:spPr>
          <a:xfrm>
            <a:off x="194310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Scan with WeChat</a:t>
            </a:r>
          </a:p>
        </p:txBody>
      </p:sp>
      <p:sp>
        <p:nvSpPr>
          <p:cNvPr id="17" name="Entry title 3"/>
          <p:cNvSpPr txBox="1"/>
          <p:nvPr/>
        </p:nvSpPr>
        <p:spPr>
          <a:xfrm>
            <a:off x="283464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vLLM on</a:t>
            </a:r>
          </a:p>
          <a:p>
            <a:pPr algn="ctr">
              <a:spcBef>
                <a:spcPts val="0"/>
              </a:spcBef>
              <a:spcAft>
                <a:spcPts val="0"/>
              </a:spcAft>
            </a:pPr>
            <a:r>
              <a:rPr sz="3800" b="0">
                <a:solidFill>
                  <a:srgbClr val="000000"/>
                </a:solidFill>
                <a:latin typeface="NVIDIA Sans Medium"/>
              </a:rPr>
              <a:t>Bilibili</a:t>
            </a:r>
          </a:p>
        </p:txBody>
      </p:sp>
      <p:sp>
        <p:nvSpPr>
          <p:cNvPr id="18" name="Entry subtitle 3"/>
          <p:cNvSpPr txBox="1"/>
          <p:nvPr/>
        </p:nvSpPr>
        <p:spPr>
          <a:xfrm>
            <a:off x="282549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Official channel · vllm_project</a:t>
            </a:r>
          </a:p>
        </p:txBody>
      </p:sp>
      <p:pic>
        <p:nvPicPr>
          <p:cNvPr id="19" name="Community QR 3" descr="vllm-bilibili-qr.png">
            <a:hlinkClick r:id="rId19"/>
          </p:cNvPr>
          <p:cNvPicPr>
            <a:picLocks noChangeAspect="1"/>
          </p:cNvPicPr>
          <p:nvPr/>
        </p:nvPicPr>
        <p:blipFill>
          <a:blip r:embed="rId18"/>
          <a:stretch>
            <a:fillRect/>
          </a:stretch>
        </p:blipFill>
        <p:spPr>
          <a:xfrm>
            <a:off x="28803600" y="8321040"/>
            <a:ext cx="6675120" cy="6675120"/>
          </a:xfrm>
          <a:prstGeom prst="rect">
            <a:avLst/>
          </a:prstGeom>
        </p:spPr>
      </p:pic>
      <p:sp>
        <p:nvSpPr>
          <p:cNvPr id="20" name="Entry action 3"/>
          <p:cNvSpPr txBox="1"/>
          <p:nvPr/>
        </p:nvSpPr>
        <p:spPr>
          <a:xfrm>
            <a:off x="283464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Talks &amp; tutorials</a:t>
            </a:r>
          </a:p>
        </p:txBody>
      </p:sp>
      <p:sp>
        <p:nvSpPr>
          <p:cNvPr id="21" name="WeChat expiry"/>
          <p:cNvSpPr txBox="1"/>
          <p:nvPr/>
        </p:nvSpPr>
        <p:spPr>
          <a:xfrm>
            <a:off x="1828800" y="16459200"/>
            <a:ext cx="32918400"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a:rPr>
              <a:t>WeChat invitations valid before 7 Nov 2026</a:t>
            </a:r>
          </a:p>
        </p:txBody>
      </p:sp>
      <p:cxnSp>
        <p:nvCxnSpPr>
          <p:cNvPr id="22" name="Community divider"/>
          <p:cNvCxnSpPr/>
          <p:nvPr/>
        </p:nvCxnSpPr>
        <p:spPr>
          <a:xfrm>
            <a:off x="1828800" y="17510760"/>
            <a:ext cx="32918400" cy="0"/>
          </a:xfrm>
          <a:prstGeom prst="line">
            <a:avLst/>
          </a:prstGeom>
          <a:ln w="19050">
            <a:solidFill>
              <a:srgbClr val="A7A7A7"/>
            </a:solidFill>
          </a:ln>
        </p:spPr>
        <p:style>
          <a:lnRef idx="2">
            <a:schemeClr val="accent1"/>
          </a:lnRef>
          <a:fillRef idx="0">
            <a:schemeClr val="accent1"/>
          </a:fillRef>
          <a:effectRef idx="1">
            <a:schemeClr val="accent1"/>
          </a:effectRef>
          <a:fontRef idx="minor">
            <a:schemeClr val="tx1"/>
          </a:fontRef>
        </p:style>
      </p:cxnSp>
      <p:sp>
        <p:nvSpPr>
          <p:cNvPr id="23" name="Contribution invitation"/>
          <p:cNvSpPr txBox="1"/>
          <p:nvPr/>
        </p:nvSpPr>
        <p:spPr>
          <a:xfrm>
            <a:off x="1828800" y="17967960"/>
            <a:ext cx="32918400" cy="822960"/>
          </a:xfrm>
          <a:prstGeom prst="rect">
            <a:avLst/>
          </a:prstGeom>
          <a:noFill/>
        </p:spPr>
        <p:txBody>
          <a:bodyPr wrap="square" lIns="0" rIns="0" tIns="0" bIns="0">
            <a:spAutoFit/>
          </a:bodyPr>
          <a:lstStyle/>
          <a:p>
            <a:pPr algn="ctr">
              <a:spcBef>
                <a:spcPts val="0"/>
              </a:spcBef>
              <a:spcAft>
                <a:spcPts val="0"/>
              </a:spcAft>
            </a:pPr>
            <a:r>
              <a:rPr sz="3700" b="0">
                <a:solidFill>
                  <a:srgbClr val="76B900"/>
                </a:solidFill>
                <a:latin typeface="NVIDIA Sans Medium"/>
              </a:rPr>
              <a:t>Contribute models · Optimize serving · Share creator workflows</a:t>
            </a:r>
          </a:p>
        </p:txBody>
      </p:sp>
      <p:sp>
        <p:nvSpPr>
          <p:cNvPr id="24" name="Project URL"/>
          <p:cNvSpPr txBox="1"/>
          <p:nvPr/>
        </p:nvSpPr>
        <p:spPr>
          <a:xfrm>
            <a:off x="1828800" y="19202400"/>
            <a:ext cx="192024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hlinkClick r:id="rId3"/>
              </a:rPr>
              <a:t>github.com/vllm-project/vllm-omni</a:t>
            </a:r>
          </a:p>
        </p:txBody>
      </p:sp>
      <p:sp>
        <p:nvSpPr>
          <p:cNvPr id="25" name="Slack URL"/>
          <p:cNvSpPr txBox="1"/>
          <p:nvPr/>
        </p:nvSpPr>
        <p:spPr>
          <a:xfrm>
            <a:off x="22860000" y="19202400"/>
            <a:ext cx="118872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hlinkClick r:id="rId8"/>
              </a:rPr>
              <a:t>slack.vllm.ai · #sig-omni</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