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7" r:id="rId89"/>
    <p:sldId id="348" r:id="rId90"/>
    <p:sldId id="364" r:id="rId48"/>
    <p:sldId id="363" r:id="rId47"/>
    <p:sldId id="353" r:id="rId95"/>
    <p:sldId id="354" r:id="rId96"/>
    <p:sldId id="355" r:id="rId97"/>
    <p:sldId id="361" r:id="rId45"/>
    <p:sldId id="368" r:id="rId51"/>
    <p:sldId id="369" r:id="rId49"/>
    <p:sldId id="357" r:id="rId99"/>
    <p:sldId id="370" r:id="rId44"/>
    <p:sldId id="372" r:id="rId42"/>
    <p:sldId id="371" r:id="rId43"/>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2" Type="http://schemas.openxmlformats.org/officeDocument/2006/relationships/slide" Target="slides/slide19.xml"/><Relationship Id="rId43" Type="http://schemas.openxmlformats.org/officeDocument/2006/relationships/slide" Target="slides/slide20.xml"/><Relationship Id="rId44" Type="http://schemas.openxmlformats.org/officeDocument/2006/relationships/slide" Target="slides/slide18.xml"/><Relationship Id="rId45" Type="http://schemas.openxmlformats.org/officeDocument/2006/relationships/slide" Target="slides/slide14.xml"/><Relationship Id="rId47" Type="http://schemas.openxmlformats.org/officeDocument/2006/relationships/slide" Target="slides/slide10.xml"/><Relationship Id="rId48" Type="http://schemas.openxmlformats.org/officeDocument/2006/relationships/slide" Target="slides/slide9.xml"/><Relationship Id="rId49" Type="http://schemas.openxmlformats.org/officeDocument/2006/relationships/slide" Target="slides/slide16.xml"/><Relationship Id="rId51" Type="http://schemas.openxmlformats.org/officeDocument/2006/relationships/slide" Target="slides/slide15.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9" Type="http://schemas.openxmlformats.org/officeDocument/2006/relationships/slide" Target="slides/slide7.xml"/><Relationship Id="rId90" Type="http://schemas.openxmlformats.org/officeDocument/2006/relationships/slide" Target="slides/slide8.xml"/><Relationship Id="rId95" Type="http://schemas.openxmlformats.org/officeDocument/2006/relationships/slide" Target="slides/slide11.xml"/><Relationship Id="rId96" Type="http://schemas.openxmlformats.org/officeDocument/2006/relationships/slide" Target="slides/slide12.xml"/><Relationship Id="rId97" Type="http://schemas.openxmlformats.org/officeDocument/2006/relationships/slide" Target="slides/slide13.xml"/><Relationship Id="rId99" Type="http://schemas.openxmlformats.org/officeDocument/2006/relationships/slide" Target="slides/slide17.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6.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explains the actual rolling demo implementation as a schematic, not a new benchmark or a guarantee of seamless long-term quality.</a:t>
            </a:r>
          </a:p>
          <a:p>
            <a:r>
              <a:t>Each request generates 124 frames at 24 FPS. Window starts are 0, 119, 238. The first request emits all 124 frames. Subsequent requests remove five overlapping frames and corresponding decoded audio, yielding 119 new frames.</a:t>
            </a:r>
          </a:p>
          <a:p>
            <a:r>
              <a:t>The previous completed request retains only its last two video latent slices and an aligned audio latent tail. These are appended to existing visual/audio conditioning for the next request.</a:t>
            </a:r>
          </a:p>
          <a:p>
            <a:r>
              <a:t>The reference image and voice remain inputs. The next prompt may contain a new English reply or quiet listening instructions.</a:t>
            </a:r>
          </a:p>
          <a:p>
            <a:r>
              <a:t>In the interactive demo the video guide mixes 80 percent retained history and 20 percent seeded noise. The audio guide stays clean. Target video and audio prefix clamping are off.</a:t>
            </a:r>
          </a:p>
          <a:p>
            <a:r>
              <a:t>Cumulative AV positions continue across windows. Audio overlap uses rounded cumulative boundaries, resulting in eight or nine latent tokens; the slide simplifies this as matching audio.</a:t>
            </a:r>
          </a:p>
          <a:p>
            <a:r>
              <a:t>New state is committed only after successful MP4 generation. The diagram is fixed-size state handoff across requests; the runtime does not retain the whole video.</a:t>
            </a:r>
          </a:p>
          <a:p>
            <a:r>
              <a:t>The interaction example stays on slide 18. The recorded demonstration follows on slide 20.</a:t>
            </a:r>
          </a:p>
          <a:p>
            <a:r>
              <a:t>Updated visual: actual last frame of request 0 and actual first retained frame of request 1 from the same validated interactive-demo session. The right image is already overlap-trimmed; it is not a raw generated prefix. Media ordinal 0 has 124 frames, ordinal 1 has 119 emitted frames. The timeline illustrates removal of the five-frame overlapping start, with aligned audio trimming. Static frames do not establish seamless motion or guarantee long-term quality. See continuation-frames.json for extraction provenance.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question translated from the recorded demo. The reply is the LLM preview, not a verified transcript of generated speech.</a:t>
            </a:r>
          </a:p>
          <a:p>
            <a:r>
              <a:t>The image is the actual input reference.png read by the demo server from workload.json and sent to H3 as an input reference.</a:t>
            </a:r>
          </a:p>
          <a:p>
            <a:r>
              <a:t>Reference image SHA256: 560c094f9900ea762227f84481ca8a2f73adac69963e0d1a78563bec1844d6b8</a:t>
            </a:r>
          </a:p>
          <a:p>
            <a:r>
              <a:t>The English H3 prompt, model configuration and following recorded video are unchanged.</a:t>
            </a:r>
          </a:p>
          <a:p>
            <a:r>
              <a:t>The slide omits low-level AV latent-tail implementation details.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17 describes the eight-evaluation QAD pipeline; slide 7 describes the distinct historical four-step avatar. Do not imply all techniques are enabled in both recipes.</a:t>
            </a:r>
          </a:p>
          <a:p>
            <a:r>
              <a:t>Online evidence: https://lishunyang12.github.io/fasth3-omni-evaluation-20261018/reports/h3-liveavatar-long-video-20261014/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Shunyang Li | Benchmarks measured | 27 Oct 2026</a:t>
            </a:r>
          </a:p>
        </p:txBody>
      </p:sp>
      <p:sp>
        <p:nvSpPr>
          <p:cNvPr id="3" name="Text Placeholder 2"/>
          <p:cNvSpPr>
            <a:spLocks noGrp="1"/>
          </p:cNvSpPr>
          <p:nvPr>
            <p:ph type="body" idx="11" sz="quarter"/>
          </p:nvPr>
        </p:nvSpPr>
        <p:spPr>
          <a:xfrm>
            <a:off x="1828800" y="15956280"/>
            <a:ext cx="16459200" cy="1005840"/>
          </a:xfrm>
        </p:spPr>
        <p:txBody>
          <a:bodyPr/>
          <a:lstStyle/>
          <a:p>
            <a:r>
              <a:rPr sz="5800">
                <a:latin typeface="NVIDIA Sans"/>
              </a:rPr>
              <a:t>8× RTX PRO 5000 · vLLM-Omni</a:t>
            </a:r>
          </a:p>
        </p:txBody>
      </p:sp>
      <p:sp>
        <p:nvSpPr>
          <p:cNvPr id="4" name="Text Placeholder 3"/>
          <p:cNvSpPr>
            <a:spLocks noGrp="1"/>
          </p:cNvSpPr>
          <p:nvPr>
            <p:ph type="body" idx="10" sz="quarter"/>
          </p:nvPr>
        </p:nvSpPr>
        <p:spPr/>
        <p:txBody>
          <a:bodyPr/>
          <a:lstStyle/>
          <a:p>
            <a:r>
              <a:t>Toward Real-Time Generation</a:t>
            </a:r>
            <a:br/>
            <a:r>
              <a:t>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01 · Real-Time H3</a:t>
            </a:r>
            <a:br/>
            <a:r>
              <a:t>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transformer blocks are evaluated at each of 50 baseline steps.</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Baseline: Latency Breakdown</a:t>
            </a:r>
          </a:p>
        </p:txBody>
      </p:sp>
      <p:sp>
        <p:nvSpPr>
          <p:cNvPr id="5" name="E2E label"/>
          <p:cNvSpPr txBox="1"/>
          <p:nvPr/>
        </p:nvSpPr>
        <p:spPr>
          <a:xfrm>
            <a:off x="1828800" y="4206240"/>
            <a:ext cx="12801600" cy="64008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E2E LATENCY</a:t>
            </a:r>
          </a:p>
        </p:txBody>
      </p:sp>
      <p:sp>
        <p:nvSpPr>
          <p:cNvPr id="6" name="E2E value"/>
          <p:cNvSpPr txBox="1"/>
          <p:nvPr/>
        </p:nvSpPr>
        <p:spPr>
          <a:xfrm>
            <a:off x="1828800" y="5120640"/>
            <a:ext cx="13716000" cy="173736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213.402 s</a:t>
            </a:r>
          </a:p>
        </p:txBody>
      </p:sp>
      <p:sp>
        <p:nvSpPr>
          <p:cNvPr id="7" name="Video label"/>
          <p:cNvSpPr txBox="1"/>
          <p:nvPr/>
        </p:nvSpPr>
        <p:spPr>
          <a:xfrm>
            <a:off x="16824960" y="4206240"/>
            <a:ext cx="17922240" cy="64008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GENERATED VIDEO</a:t>
            </a:r>
          </a:p>
        </p:txBody>
      </p:sp>
      <p:sp>
        <p:nvSpPr>
          <p:cNvPr id="8" name="Video dimensions"/>
          <p:cNvSpPr txBox="1"/>
          <p:nvPr/>
        </p:nvSpPr>
        <p:spPr>
          <a:xfrm>
            <a:off x="16824960" y="5349240"/>
            <a:ext cx="10607040" cy="1554480"/>
          </a:xfrm>
          <a:prstGeom prst="rect">
            <a:avLst/>
          </a:prstGeom>
          <a:noFill/>
        </p:spPr>
        <p:txBody>
          <a:bodyPr wrap="square" lIns="0" rIns="0" tIns="0" bIns="0">
            <a:spAutoFit/>
          </a:bodyPr>
          <a:lstStyle/>
          <a:p>
            <a:pPr>
              <a:spcBef>
                <a:spcPts val="0"/>
              </a:spcBef>
              <a:spcAft>
                <a:spcPts val="0"/>
              </a:spcAft>
            </a:pPr>
            <a:r>
              <a:rPr sz="7600" b="0">
                <a:solidFill>
                  <a:srgbClr val="000000"/>
                </a:solidFill>
                <a:latin typeface="NVIDIA Sans Medium"/>
              </a:rPr>
              <a:t>960 × 544</a:t>
            </a:r>
          </a:p>
        </p:txBody>
      </p:sp>
      <p:sp>
        <p:nvSpPr>
          <p:cNvPr id="9" name="Video duration"/>
          <p:cNvSpPr txBox="1"/>
          <p:nvPr/>
        </p:nvSpPr>
        <p:spPr>
          <a:xfrm>
            <a:off x="28346400" y="5349240"/>
            <a:ext cx="6400800" cy="1554480"/>
          </a:xfrm>
          <a:prstGeom prst="rect">
            <a:avLst/>
          </a:prstGeom>
          <a:noFill/>
        </p:spPr>
        <p:txBody>
          <a:bodyPr wrap="square" lIns="0" rIns="0" tIns="0" bIns="0">
            <a:spAutoFit/>
          </a:bodyPr>
          <a:lstStyle/>
          <a:p>
            <a:pPr>
              <a:spcBef>
                <a:spcPts val="0"/>
              </a:spcBef>
              <a:spcAft>
                <a:spcPts val="0"/>
              </a:spcAft>
            </a:pPr>
            <a:r>
              <a:rPr sz="7600" b="0">
                <a:solidFill>
                  <a:srgbClr val="000000"/>
                </a:solidFill>
                <a:latin typeface="NVIDIA Sans Medium"/>
              </a:rPr>
              <a:t>5.167 s</a:t>
            </a:r>
          </a:p>
        </p:txBody>
      </p:sp>
      <p:sp>
        <p:nvSpPr>
          <p:cNvPr id="10" name="Metric separator"/>
          <p:cNvSpPr/>
          <p:nvPr/>
        </p:nvSpPr>
        <p:spPr>
          <a:xfrm>
            <a:off x="1828800" y="7406640"/>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nfig heading"/>
          <p:cNvSpPr txBox="1"/>
          <p:nvPr/>
        </p:nvSpPr>
        <p:spPr>
          <a:xfrm>
            <a:off x="1828800" y="8229600"/>
            <a:ext cx="14264640" cy="77724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Reference configuration</a:t>
            </a:r>
          </a:p>
        </p:txBody>
      </p:sp>
      <p:sp>
        <p:nvSpPr>
          <p:cNvPr id="12" name="Reference configuration bullets"/>
          <p:cNvSpPr txBox="1"/>
          <p:nvPr/>
        </p:nvSpPr>
        <p:spPr>
          <a:xfrm>
            <a:off x="1828800" y="9601200"/>
            <a:ext cx="14356080" cy="548640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PRO 5000 GPUs (SM120)</a:t>
            </a:r>
          </a:p>
          <a:p>
            <a:pPr marL="384048" indent="-310896">
              <a:spcBef>
                <a:spcPts val="0"/>
              </a:spcBef>
              <a:spcAft>
                <a:spcPts val="2200"/>
              </a:spcAft>
              <a:buFont typeface="NVIDIA Sans"/>
              <a:buChar char="•"/>
            </a:pPr>
            <a:r>
              <a:rPr sz="3200" b="0">
                <a:solidFill>
                  <a:srgbClr val="000000"/>
                </a:solidFill>
                <a:latin typeface="NVIDIA Sans"/>
              </a:rPr>
              <a:t>Original Ref2VA · 50 steps · BF16</a:t>
            </a:r>
          </a:p>
          <a:p>
            <a:pPr marL="384048" indent="-310896">
              <a:spcBef>
                <a:spcPts val="0"/>
              </a:spcBef>
              <a:spcAft>
                <a:spcPts val="2200"/>
              </a:spcAft>
              <a:buFont typeface="NVIDIA Sans"/>
              <a:buChar char="•"/>
            </a:pPr>
            <a:r>
              <a:rPr sz="3200" b="0">
                <a:solidFill>
                  <a:srgbClr val="000000"/>
                </a:solidFill>
                <a:latin typeface="NVIDIA Sans"/>
              </a:rPr>
              <a:t>Dense attention · DiT TP1 / Ulysses8</a:t>
            </a:r>
          </a:p>
          <a:p>
            <a:pPr marL="384048" indent="-310896">
              <a:spcBef>
                <a:spcPts val="0"/>
              </a:spcBef>
              <a:spcAft>
                <a:spcPts val="2200"/>
              </a:spcAft>
              <a:buFont typeface="NVIDIA Sans"/>
              <a:buChar char="•"/>
            </a:pPr>
            <a:r>
              <a:rPr sz="3200" b="0">
                <a:solidFill>
                  <a:srgbClr val="000000"/>
                </a:solidFill>
                <a:latin typeface="NVIDIA Sans"/>
              </a:rPr>
              <a:t>Text encoder TP8 · VAE tiles8</a:t>
            </a:r>
          </a:p>
          <a:p>
            <a:pPr marL="384048" indent="-310896">
              <a:spcBef>
                <a:spcPts val="0"/>
              </a:spcBef>
              <a:spcAft>
                <a:spcPts val="2200"/>
              </a:spcAft>
              <a:buFont typeface="NVIDIA Sans"/>
              <a:buChar char="•"/>
            </a:pPr>
            <a:r>
              <a:rPr sz="3200" b="0">
                <a:solidFill>
                  <a:srgbClr val="000000"/>
                </a:solidFill>
                <a:latin typeface="NVIDIA Sans"/>
              </a:rPr>
              <a:t>Native VAE · FP16 decode</a:t>
            </a:r>
          </a:p>
        </p:txBody>
      </p:sp>
      <p:sp>
        <p:nvSpPr>
          <p:cNvPr id="13" name="GPU heading"/>
          <p:cNvSpPr txBox="1"/>
          <p:nvPr/>
        </p:nvSpPr>
        <p:spPr>
          <a:xfrm>
            <a:off x="16824960" y="8229600"/>
            <a:ext cx="17922240" cy="77724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GPU work by operator</a:t>
            </a:r>
          </a:p>
        </p:txBody>
      </p:sp>
      <p:sp>
        <p:nvSpPr>
          <p:cNvPr id="14" name="GPU category 0"/>
          <p:cNvSpPr txBox="1"/>
          <p:nvPr/>
        </p:nvSpPr>
        <p:spPr>
          <a:xfrm>
            <a:off x="16824960" y="9601200"/>
            <a:ext cx="10058400" cy="64008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NCCL · includes waiting</a:t>
            </a:r>
          </a:p>
        </p:txBody>
      </p:sp>
      <p:sp>
        <p:nvSpPr>
          <p:cNvPr id="15" name="GPU seconds 0"/>
          <p:cNvSpPr txBox="1"/>
          <p:nvPr/>
        </p:nvSpPr>
        <p:spPr>
          <a:xfrm>
            <a:off x="26700480" y="9674352"/>
            <a:ext cx="475488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122.182 s / GPU</a:t>
            </a:r>
          </a:p>
        </p:txBody>
      </p:sp>
      <p:sp>
        <p:nvSpPr>
          <p:cNvPr id="16" name="GPU share 0"/>
          <p:cNvSpPr txBox="1"/>
          <p:nvPr/>
        </p:nvSpPr>
        <p:spPr>
          <a:xfrm>
            <a:off x="31546800" y="9537192"/>
            <a:ext cx="3200400" cy="777240"/>
          </a:xfrm>
          <a:prstGeom prst="rect">
            <a:avLst/>
          </a:prstGeom>
          <a:noFill/>
        </p:spPr>
        <p:txBody>
          <a:bodyPr wrap="square" lIns="0" rIns="0" tIns="0" bIns="0">
            <a:spAutoFit/>
          </a:bodyPr>
          <a:lstStyle/>
          <a:p>
            <a:pPr algn="r">
              <a:spcBef>
                <a:spcPts val="0"/>
              </a:spcBef>
              <a:spcAft>
                <a:spcPts val="0"/>
              </a:spcAft>
            </a:pPr>
            <a:r>
              <a:rPr sz="3800" b="0">
                <a:solidFill>
                  <a:srgbClr val="000000"/>
                </a:solidFill>
                <a:latin typeface="NVIDIA Sans Medium"/>
              </a:rPr>
              <a:t>57.21%</a:t>
            </a:r>
          </a:p>
        </p:txBody>
      </p:sp>
      <p:sp>
        <p:nvSpPr>
          <p:cNvPr id="17" name="GPU bar track 0"/>
          <p:cNvSpPr/>
          <p:nvPr/>
        </p:nvSpPr>
        <p:spPr>
          <a:xfrm>
            <a:off x="16824960" y="10460736"/>
            <a:ext cx="17922240" cy="10972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GPU bar 0"/>
          <p:cNvSpPr/>
          <p:nvPr/>
        </p:nvSpPr>
        <p:spPr>
          <a:xfrm>
            <a:off x="16824960" y="10460736"/>
            <a:ext cx="10254030" cy="1097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category 1"/>
          <p:cNvSpPr txBox="1"/>
          <p:nvPr/>
        </p:nvSpPr>
        <p:spPr>
          <a:xfrm>
            <a:off x="16824960" y="11018520"/>
            <a:ext cx="10058400" cy="64008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Attention</a:t>
            </a:r>
          </a:p>
        </p:txBody>
      </p:sp>
      <p:sp>
        <p:nvSpPr>
          <p:cNvPr id="20" name="GPU seconds 1"/>
          <p:cNvSpPr txBox="1"/>
          <p:nvPr/>
        </p:nvSpPr>
        <p:spPr>
          <a:xfrm>
            <a:off x="26700480" y="11091672"/>
            <a:ext cx="475488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47.105 s / GPU</a:t>
            </a:r>
          </a:p>
        </p:txBody>
      </p:sp>
      <p:sp>
        <p:nvSpPr>
          <p:cNvPr id="21" name="GPU share 1"/>
          <p:cNvSpPr txBox="1"/>
          <p:nvPr/>
        </p:nvSpPr>
        <p:spPr>
          <a:xfrm>
            <a:off x="31546800" y="10954512"/>
            <a:ext cx="3200400" cy="777240"/>
          </a:xfrm>
          <a:prstGeom prst="rect">
            <a:avLst/>
          </a:prstGeom>
          <a:noFill/>
        </p:spPr>
        <p:txBody>
          <a:bodyPr wrap="square" lIns="0" rIns="0" tIns="0" bIns="0">
            <a:spAutoFit/>
          </a:bodyPr>
          <a:lstStyle/>
          <a:p>
            <a:pPr algn="r">
              <a:spcBef>
                <a:spcPts val="0"/>
              </a:spcBef>
              <a:spcAft>
                <a:spcPts val="0"/>
              </a:spcAft>
            </a:pPr>
            <a:r>
              <a:rPr sz="3800" b="0">
                <a:solidFill>
                  <a:srgbClr val="000000"/>
                </a:solidFill>
                <a:latin typeface="NVIDIA Sans Medium"/>
              </a:rPr>
              <a:t>22.06%</a:t>
            </a:r>
          </a:p>
        </p:txBody>
      </p:sp>
      <p:sp>
        <p:nvSpPr>
          <p:cNvPr id="22" name="GPU bar track 1"/>
          <p:cNvSpPr/>
          <p:nvPr/>
        </p:nvSpPr>
        <p:spPr>
          <a:xfrm>
            <a:off x="16824960" y="11878056"/>
            <a:ext cx="17922240" cy="10972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GPU bar 1"/>
          <p:cNvSpPr/>
          <p:nvPr/>
        </p:nvSpPr>
        <p:spPr>
          <a:xfrm>
            <a:off x="16824960" y="11878056"/>
            <a:ext cx="3953297" cy="109728"/>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category 2"/>
          <p:cNvSpPr txBox="1"/>
          <p:nvPr/>
        </p:nvSpPr>
        <p:spPr>
          <a:xfrm>
            <a:off x="16824960" y="12435840"/>
            <a:ext cx="10058400" cy="64008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GEMM</a:t>
            </a:r>
          </a:p>
        </p:txBody>
      </p:sp>
      <p:sp>
        <p:nvSpPr>
          <p:cNvPr id="25" name="GPU seconds 2"/>
          <p:cNvSpPr txBox="1"/>
          <p:nvPr/>
        </p:nvSpPr>
        <p:spPr>
          <a:xfrm>
            <a:off x="26700480" y="12508992"/>
            <a:ext cx="475488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39.650 s / GPU</a:t>
            </a:r>
          </a:p>
        </p:txBody>
      </p:sp>
      <p:sp>
        <p:nvSpPr>
          <p:cNvPr id="26" name="GPU share 2"/>
          <p:cNvSpPr txBox="1"/>
          <p:nvPr/>
        </p:nvSpPr>
        <p:spPr>
          <a:xfrm>
            <a:off x="31546800" y="12371832"/>
            <a:ext cx="3200400" cy="777240"/>
          </a:xfrm>
          <a:prstGeom prst="rect">
            <a:avLst/>
          </a:prstGeom>
          <a:noFill/>
        </p:spPr>
        <p:txBody>
          <a:bodyPr wrap="square" lIns="0" rIns="0" tIns="0" bIns="0">
            <a:spAutoFit/>
          </a:bodyPr>
          <a:lstStyle/>
          <a:p>
            <a:pPr algn="r">
              <a:spcBef>
                <a:spcPts val="0"/>
              </a:spcBef>
              <a:spcAft>
                <a:spcPts val="0"/>
              </a:spcAft>
            </a:pPr>
            <a:r>
              <a:rPr sz="3800" b="0">
                <a:solidFill>
                  <a:srgbClr val="000000"/>
                </a:solidFill>
                <a:latin typeface="NVIDIA Sans Medium"/>
              </a:rPr>
              <a:t>18.57%</a:t>
            </a:r>
          </a:p>
        </p:txBody>
      </p:sp>
      <p:sp>
        <p:nvSpPr>
          <p:cNvPr id="27" name="GPU bar track 2"/>
          <p:cNvSpPr/>
          <p:nvPr/>
        </p:nvSpPr>
        <p:spPr>
          <a:xfrm>
            <a:off x="16824960" y="13295376"/>
            <a:ext cx="17922240" cy="10972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GPU bar 2"/>
          <p:cNvSpPr/>
          <p:nvPr/>
        </p:nvSpPr>
        <p:spPr>
          <a:xfrm>
            <a:off x="16824960" y="13295376"/>
            <a:ext cx="3327572" cy="109728"/>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category 3"/>
          <p:cNvSpPr txBox="1"/>
          <p:nvPr/>
        </p:nvSpPr>
        <p:spPr>
          <a:xfrm>
            <a:off x="16824960" y="13853160"/>
            <a:ext cx="10058400" cy="64008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Other CUDA work</a:t>
            </a:r>
          </a:p>
        </p:txBody>
      </p:sp>
      <p:sp>
        <p:nvSpPr>
          <p:cNvPr id="30" name="GPU seconds 3"/>
          <p:cNvSpPr txBox="1"/>
          <p:nvPr/>
        </p:nvSpPr>
        <p:spPr>
          <a:xfrm>
            <a:off x="26700480" y="13926312"/>
            <a:ext cx="475488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4.615 s / GPU</a:t>
            </a:r>
          </a:p>
        </p:txBody>
      </p:sp>
      <p:sp>
        <p:nvSpPr>
          <p:cNvPr id="31" name="GPU share 3"/>
          <p:cNvSpPr txBox="1"/>
          <p:nvPr/>
        </p:nvSpPr>
        <p:spPr>
          <a:xfrm>
            <a:off x="31546800" y="13789152"/>
            <a:ext cx="3200400" cy="777240"/>
          </a:xfrm>
          <a:prstGeom prst="rect">
            <a:avLst/>
          </a:prstGeom>
          <a:noFill/>
        </p:spPr>
        <p:txBody>
          <a:bodyPr wrap="square" lIns="0" rIns="0" tIns="0" bIns="0">
            <a:spAutoFit/>
          </a:bodyPr>
          <a:lstStyle/>
          <a:p>
            <a:pPr algn="r">
              <a:spcBef>
                <a:spcPts val="0"/>
              </a:spcBef>
              <a:spcAft>
                <a:spcPts val="0"/>
              </a:spcAft>
            </a:pPr>
            <a:r>
              <a:rPr sz="3800" b="0">
                <a:solidFill>
                  <a:srgbClr val="000000"/>
                </a:solidFill>
                <a:latin typeface="NVIDIA Sans Medium"/>
              </a:rPr>
              <a:t>2.16%</a:t>
            </a:r>
          </a:p>
        </p:txBody>
      </p:sp>
      <p:sp>
        <p:nvSpPr>
          <p:cNvPr id="32" name="GPU bar track 3"/>
          <p:cNvSpPr/>
          <p:nvPr/>
        </p:nvSpPr>
        <p:spPr>
          <a:xfrm>
            <a:off x="16824960" y="14712696"/>
            <a:ext cx="17922240" cy="10972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PU bar 3"/>
          <p:cNvSpPr/>
          <p:nvPr/>
        </p:nvSpPr>
        <p:spPr>
          <a:xfrm>
            <a:off x="16824960" y="14712696"/>
            <a:ext cx="387338" cy="109728"/>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ost separator"/>
          <p:cNvSpPr/>
          <p:nvPr/>
        </p:nvSpPr>
        <p:spPr>
          <a:xfrm>
            <a:off x="1828800" y="15773400"/>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ge heading"/>
          <p:cNvSpPr txBox="1"/>
          <p:nvPr/>
        </p:nvSpPr>
        <p:spPr>
          <a:xfrm>
            <a:off x="1828800" y="162306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HOST STAGE RANGES · SEPARATE NSIGHT REQUEST: 214.968 s</a:t>
            </a:r>
          </a:p>
        </p:txBody>
      </p:sp>
      <p:sp>
        <p:nvSpPr>
          <p:cNvPr id="36" name="Stage 0"/>
          <p:cNvSpPr txBox="1"/>
          <p:nvPr/>
        </p:nvSpPr>
        <p:spPr>
          <a:xfrm>
            <a:off x="1828800" y="17099280"/>
            <a:ext cx="8046720" cy="59436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Encoder</a:t>
            </a:r>
          </a:p>
        </p:txBody>
      </p:sp>
      <p:sp>
        <p:nvSpPr>
          <p:cNvPr id="37" name="Stage value 0"/>
          <p:cNvSpPr txBox="1"/>
          <p:nvPr/>
        </p:nvSpPr>
        <p:spPr>
          <a:xfrm>
            <a:off x="1828800" y="17830800"/>
            <a:ext cx="8046720" cy="9144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7.272 s</a:t>
            </a:r>
          </a:p>
        </p:txBody>
      </p:sp>
      <p:sp>
        <p:nvSpPr>
          <p:cNvPr id="38" name="Stage 1"/>
          <p:cNvSpPr txBox="1"/>
          <p:nvPr/>
        </p:nvSpPr>
        <p:spPr>
          <a:xfrm>
            <a:off x="10241280" y="17099280"/>
            <a:ext cx="8046720" cy="59436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DiT</a:t>
            </a:r>
          </a:p>
        </p:txBody>
      </p:sp>
      <p:sp>
        <p:nvSpPr>
          <p:cNvPr id="39" name="Stage value 1"/>
          <p:cNvSpPr txBox="1"/>
          <p:nvPr/>
        </p:nvSpPr>
        <p:spPr>
          <a:xfrm>
            <a:off x="10241280" y="17830800"/>
            <a:ext cx="8046720" cy="9144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204.814 s</a:t>
            </a:r>
          </a:p>
        </p:txBody>
      </p:sp>
      <p:sp>
        <p:nvSpPr>
          <p:cNvPr id="40" name="Stage 2"/>
          <p:cNvSpPr txBox="1"/>
          <p:nvPr/>
        </p:nvSpPr>
        <p:spPr>
          <a:xfrm>
            <a:off x="18653760" y="17099280"/>
            <a:ext cx="8046720" cy="59436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VAE / audio decode</a:t>
            </a:r>
          </a:p>
        </p:txBody>
      </p:sp>
      <p:sp>
        <p:nvSpPr>
          <p:cNvPr id="41" name="Stage value 2"/>
          <p:cNvSpPr txBox="1"/>
          <p:nvPr/>
        </p:nvSpPr>
        <p:spPr>
          <a:xfrm>
            <a:off x="18653760" y="17830800"/>
            <a:ext cx="8046720" cy="9144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1.742 s</a:t>
            </a:r>
          </a:p>
        </p:txBody>
      </p:sp>
      <p:sp>
        <p:nvSpPr>
          <p:cNvPr id="42" name="Stage 3"/>
          <p:cNvSpPr txBox="1"/>
          <p:nvPr/>
        </p:nvSpPr>
        <p:spPr>
          <a:xfrm>
            <a:off x="27066239" y="17099280"/>
            <a:ext cx="8046720" cy="59436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Other / response</a:t>
            </a:r>
          </a:p>
        </p:txBody>
      </p:sp>
      <p:sp>
        <p:nvSpPr>
          <p:cNvPr id="43" name="Stage value 3"/>
          <p:cNvSpPr txBox="1"/>
          <p:nvPr/>
        </p:nvSpPr>
        <p:spPr>
          <a:xfrm>
            <a:off x="27066239" y="17830800"/>
            <a:ext cx="8046720" cy="9144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1.140 s</a:t>
            </a:r>
          </a:p>
        </p:txBody>
      </p:sp>
      <p:sp>
        <p:nvSpPr>
          <p:cNvPr id="44" name="Accounting note"/>
          <p:cNvSpPr txBox="1"/>
          <p:nvPr/>
        </p:nvSpPr>
        <p:spPr>
          <a:xfrm>
            <a:off x="1828800" y="19202400"/>
            <a:ext cx="32735519" cy="502920"/>
          </a:xfrm>
          <a:prstGeom prst="rect">
            <a:avLst/>
          </a:prstGeom>
          <a:noFill/>
        </p:spPr>
        <p:txBody>
          <a:bodyPr wrap="square" lIns="0" rIns="0" tIns="0" bIns="0">
            <a:spAutoFit/>
          </a:bodyPr>
          <a:lstStyle/>
          <a:p>
            <a:pPr>
              <a:spcBef>
                <a:spcPts val="0"/>
              </a:spcBef>
              <a:spcAft>
                <a:spcPts val="0"/>
              </a:spcAft>
            </a:pPr>
            <a:r>
              <a:rPr sz="2200" b="0">
                <a:solidFill>
                  <a:srgbClr val="313131"/>
                </a:solidFill>
                <a:latin typeface="NVIDIA Sans"/>
              </a:rPr>
              <a:t>GPU work includes overlap and waiting; shares exclude CPU work and idle gaps. Full operator detail in the linked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9</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Retained single-GPU study at 1344 × 768 · Separate from the eight-GPU roadmap</a:t>
            </a:r>
          </a:p>
        </p:txBody>
      </p:sp>
      <p:sp>
        <p:nvSpPr>
          <p:cNvPr id="4" name="Title 3"/>
          <p:cNvSpPr>
            <a:spLocks noGrp="1"/>
          </p:cNvSpPr>
          <p:nvPr>
            <p:ph type="title"/>
          </p:nvPr>
        </p:nvSpPr>
        <p:spPr/>
        <p:txBody>
          <a:bodyPr/>
          <a:lstStyle/>
          <a:p>
            <a:r>
              <a:t>Prior Study: Quantization Quality</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Unified prefix / video attention</a:t>
            </a:r>
            <a:br>
              <a:rPr sz="2900" b="0">
                <a:solidFill>
                  <a:srgbClr val="313131"/>
                </a:solidFill>
                <a:latin typeface="NVIDIA Sans"/>
              </a:rPr>
            </a:br>
            <a:r>
              <a:rPr sz="2900" b="0">
                <a:solidFill>
                  <a:srgbClr val="313131"/>
                </a:solidFill>
                <a:latin typeface="NVIDIA Sans"/>
              </a:rPr>
              <a:t>Device-aware SM scheduling</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Native FP4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Three Ideas Behind Faster Generation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Technical overview · detailed algorithms and source excerpts remain available on hidden slides</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11</a:t>
            </a:r>
          </a:p>
        </p:txBody>
      </p:sp>
      <p:sp>
        <p:nvSpPr>
          <p:cNvPr id="5" name="Overview panel 0"/>
          <p:cNvSpPr/>
          <p:nvPr/>
        </p:nvSpPr>
        <p:spPr>
          <a:xfrm>
            <a:off x="1828800" y="502920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Less model work</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Few-step distillation reduces evaluations.</a:t>
            </a:r>
          </a:p>
          <a:p>
            <a:pPr>
              <a:spcAft>
                <a:spcPts val="800"/>
              </a:spcAft>
            </a:pPr>
            <a:r>
              <a:rPr sz="3500">
                <a:solidFill>
                  <a:srgbClr val="111111"/>
                </a:solidFill>
                <a:latin typeface="NVIDIA Sans"/>
              </a:rPr>
              <a:t>Sparse attention concentrates work on selected regions.</a:t>
            </a:r>
          </a:p>
          <a:p>
            <a:pPr>
              <a:spcAft>
                <a:spcPts val="800"/>
              </a:spcAft>
            </a:pPr>
            <a:r>
              <a:rPr sz="3500">
                <a:solidFill>
                  <a:srgbClr val="111111"/>
                </a:solidFill>
                <a:latin typeface="NVIDIA Sans"/>
              </a:rPr>
              <a:t>Quantized inference lowers arithmetic and memory cost.</a:t>
            </a:r>
          </a:p>
        </p:txBody>
      </p:sp>
      <p:sp>
        <p:nvSpPr>
          <p:cNvPr id="8" name="Overview panel 1"/>
          <p:cNvSpPr/>
          <p:nvPr/>
        </p:nvSpPr>
        <p:spPr>
          <a:xfrm>
            <a:off x="1828800" y="928116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Overlap across eight GPUs</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Ulysses distributes attention across heads.</a:t>
            </a:r>
          </a:p>
          <a:p>
            <a:pPr>
              <a:spcAft>
                <a:spcPts val="800"/>
              </a:spcAft>
            </a:pPr>
            <a:r>
              <a:rPr sz="3500">
                <a:solidFill>
                  <a:srgbClr val="111111"/>
                </a:solidFill>
                <a:latin typeface="NVIDIA Sans"/>
              </a:rPr>
              <a:t>RDMA carries the exchanges.</a:t>
            </a:r>
          </a:p>
          <a:p>
            <a:pPr>
              <a:spcAft>
                <a:spcPts val="800"/>
              </a:spcAft>
            </a:pPr>
            <a:r>
              <a:rPr sz="3500">
                <a:solidFill>
                  <a:srgbClr val="111111"/>
                </a:solidFill>
                <a:latin typeface="NVIDIA Sans"/>
              </a:rPr>
              <a:t>Head bands overlap transfer with attention compute.</a:t>
            </a:r>
          </a:p>
        </p:txBody>
      </p:sp>
      <p:sp>
        <p:nvSpPr>
          <p:cNvPr id="11" name="Overview panel 2"/>
          <p:cNvSpPr/>
          <p:nvPr/>
        </p:nvSpPr>
        <p:spPr>
          <a:xfrm>
            <a:off x="1828800" y="1353312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Keep the output path moving</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CUDA Graph replays stable head-band compute.
Fused packing reduces intermediate copies.
NVFP4 VAE and MP4 pre-encoding reduce output cost.</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555555"/>
                </a:solidFill>
                <a:latin typeface="NVIDIA Sans"/>
              </a:rPr>
              <a:t>These are optimization families. Use each demo’s own recipe and measurements; the four-step avatar and slide 17 are distinct workloads.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12</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13</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14</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Optimization Path: E2E Speedup</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124 frames / 24 FPS · 8 exclusive GPUs · same inputs and seed 43</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17</a:t>
            </a:r>
          </a:p>
        </p:txBody>
      </p:sp>
      <p:sp>
        <p:nvSpPr>
          <p:cNvPr id="5" name="Table header"/>
          <p:cNvSpPr/>
          <p:nvPr/>
        </p:nvSpPr>
        <p:spPr>
          <a:xfrm>
            <a:off x="1828800" y="4709160"/>
            <a:ext cx="32918400" cy="1234440"/>
          </a:xfrm>
          <a:prstGeom prst="rect">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E2E speedup</a:t>
            </a:r>
          </a:p>
          <a:p>
            <a:pPr>
              <a:spcBef>
                <a:spcPts val="0"/>
              </a:spcBef>
              <a:spcAft>
                <a:spcPts val="0"/>
              </a:spcAft>
            </a:pPr>
            <a:r>
              <a:rPr sz="2800" b="1">
                <a:solidFill>
                  <a:srgbClr val="17211A"/>
                </a:solidFill>
                <a:latin typeface="NVIDIA Sans"/>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RTF</a:t>
            </a:r>
          </a:p>
        </p:txBody>
      </p:sp>
      <p:sp>
        <p:nvSpPr>
          <p:cNvPr id="11" name="Row background 0"/>
          <p:cNvSpPr/>
          <p:nvPr/>
        </p:nvSpPr>
        <p:spPr>
          <a:xfrm>
            <a:off x="1828800" y="609904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8.579</a:t>
            </a:r>
          </a:p>
        </p:txBody>
      </p:sp>
      <p:sp>
        <p:nvSpPr>
          <p:cNvPr id="22" name="Row background 2"/>
          <p:cNvSpPr/>
          <p:nvPr/>
        </p:nvSpPr>
        <p:spPr>
          <a:xfrm>
            <a:off x="1828800" y="820216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3.767</a:t>
            </a:r>
          </a:p>
        </p:txBody>
      </p:sp>
      <p:sp>
        <p:nvSpPr>
          <p:cNvPr id="33" name="Row background 4"/>
          <p:cNvSpPr/>
          <p:nvPr/>
        </p:nvSpPr>
        <p:spPr>
          <a:xfrm>
            <a:off x="1828800" y="1030528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1.240</a:t>
            </a:r>
          </a:p>
        </p:txBody>
      </p:sp>
      <p:sp>
        <p:nvSpPr>
          <p:cNvPr id="44" name="Row background 6"/>
          <p:cNvSpPr/>
          <p:nvPr/>
        </p:nvSpPr>
        <p:spPr>
          <a:xfrm>
            <a:off x="1828800" y="1240840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1.049</a:t>
            </a:r>
          </a:p>
        </p:txBody>
      </p:sp>
      <p:sp>
        <p:nvSpPr>
          <p:cNvPr id="55" name="Row background 8"/>
          <p:cNvSpPr/>
          <p:nvPr/>
        </p:nvSpPr>
        <p:spPr>
          <a:xfrm>
            <a:off x="1828800" y="14511528"/>
            <a:ext cx="32918400" cy="100584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52604F"/>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300" b="1">
                <a:solidFill>
                  <a:srgbClr val="17211A"/>
                </a:solidFill>
                <a:latin typeface="NVIDIA Sans"/>
              </a:rPr>
              <a:t>Final 4.922 s · recheck 4.927 s · 6/6 requests &lt; 5 s · 4.5 s target not reached</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RTF = latency / 5.167 s. Standalone H3; ASR / LLM excluded. Model, schedule and precision changes are not all lossless.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Live Avatar: From a Question to a Video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24 FPS · 8 × SM120 GPUs · first window 5.167 s / each continuation adds 4.958 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18</a:t>
            </a:r>
          </a:p>
        </p:txBody>
      </p:sp>
      <p:sp>
        <p:nvSpPr>
          <p:cNvPr id="5" name="Example question"/>
          <p:cNvSpPr/>
          <p:nvPr/>
        </p:nvSpPr>
        <p:spPr>
          <a:xfrm>
            <a:off x="1828800" y="4526280"/>
            <a:ext cx="32918400" cy="224028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ample label"/>
          <p:cNvSpPr txBox="1"/>
          <p:nvPr/>
        </p:nvSpPr>
        <p:spPr>
          <a:xfrm>
            <a:off x="2240280" y="4800600"/>
            <a:ext cx="32004000" cy="548640"/>
          </a:xfrm>
          <a:prstGeom prst="rect">
            <a:avLst/>
          </a:prstGeom>
          <a:noFill/>
        </p:spPr>
        <p:txBody>
          <a:bodyPr wrap="square" lIns="18288" rIns="18288" tIns="0" bIns="0">
            <a:spAutoFit/>
          </a:bodyPr>
          <a:lstStyle/>
          <a:p>
            <a:pPr>
              <a:spcBef>
                <a:spcPts val="0"/>
              </a:spcBef>
              <a:spcAft>
                <a:spcPts val="0"/>
              </a:spcAft>
            </a:pPr>
            <a:r>
              <a:rPr sz="2500" b="1">
                <a:solidFill>
                  <a:srgbClr val="376B18"/>
                </a:solidFill>
                <a:latin typeface="NVIDIA Sans"/>
              </a:rPr>
              <a:t>EXAMPLE · INTRODUCE YOURSELF</a:t>
            </a:r>
          </a:p>
        </p:txBody>
      </p:sp>
      <p:sp>
        <p:nvSpPr>
          <p:cNvPr id="7" name="User question"/>
          <p:cNvSpPr txBox="1"/>
          <p:nvPr/>
        </p:nvSpPr>
        <p:spPr>
          <a:xfrm>
            <a:off x="2240280" y="5486400"/>
            <a:ext cx="32004000" cy="822960"/>
          </a:xfrm>
          <a:prstGeom prst="rect">
            <a:avLst/>
          </a:prstGeom>
          <a:noFill/>
        </p:spPr>
        <p:txBody>
          <a:bodyPr wrap="square" lIns="18288" rIns="18288" tIns="0" bIns="0">
            <a:spAutoFit/>
          </a:bodyPr>
          <a:lstStyle/>
          <a:p>
            <a:pPr>
              <a:spcBef>
                <a:spcPts val="0"/>
              </a:spcBef>
              <a:spcAft>
                <a:spcPts val="0"/>
              </a:spcAft>
            </a:pPr>
            <a:r>
              <a:rPr sz="4300" b="1">
                <a:solidFill>
                  <a:srgbClr val="17211A"/>
                </a:solidFill>
                <a:latin typeface="NVIDIA Sans"/>
              </a:rPr>
              <a:t>“Hi, could you introduce yourself?”</a:t>
            </a:r>
          </a:p>
        </p:txBody>
      </p:sp>
      <p:sp>
        <p:nvSpPr>
          <p:cNvPr id="8" name="Translation note"/>
          <p:cNvSpPr txBox="1"/>
          <p:nvPr/>
        </p:nvSpPr>
        <p:spPr>
          <a:xfrm>
            <a:off x="21488400" y="6858000"/>
            <a:ext cx="13258800" cy="502920"/>
          </a:xfrm>
          <a:prstGeom prst="rect">
            <a:avLst/>
          </a:prstGeom>
          <a:noFill/>
        </p:spPr>
        <p:txBody>
          <a:bodyPr wrap="square" lIns="18288" rIns="18288" tIns="0" bIns="0">
            <a:spAutoFit/>
          </a:bodyPr>
          <a:lstStyle/>
          <a:p>
            <a:pPr>
              <a:spcBef>
                <a:spcPts val="0"/>
              </a:spcBef>
              <a:spcAft>
                <a:spcPts val="0"/>
              </a:spcAft>
            </a:pPr>
            <a:r>
              <a:rPr sz="2400" b="0">
                <a:solidFill>
                  <a:srgbClr val="52604F"/>
                </a:solidFill>
                <a:latin typeface="NVIDIA Sans"/>
              </a:rPr>
              <a:t>User question translated from the recorded demo</a:t>
            </a:r>
          </a:p>
        </p:txBody>
      </p:sp>
      <p:sp>
        <p:nvSpPr>
          <p:cNvPr id="9" name="Pipeline Microphone"/>
          <p:cNvSpPr/>
          <p:nvPr/>
        </p:nvSpPr>
        <p:spPr>
          <a:xfrm>
            <a:off x="1828800" y="7680960"/>
            <a:ext cx="493776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icrophone"/>
          <p:cNvSpPr txBox="1"/>
          <p:nvPr/>
        </p:nvSpPr>
        <p:spPr>
          <a:xfrm>
            <a:off x="2148840" y="8046720"/>
            <a:ext cx="429768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Microphone</a:t>
            </a:r>
          </a:p>
        </p:txBody>
      </p:sp>
      <p:sp>
        <p:nvSpPr>
          <p:cNvPr id="11" name="Microphone detail"/>
          <p:cNvSpPr txBox="1"/>
          <p:nvPr/>
        </p:nvSpPr>
        <p:spPr>
          <a:xfrm>
            <a:off x="2148840" y="8961120"/>
            <a:ext cx="429768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Spoken question</a:t>
            </a:r>
          </a:p>
        </p:txBody>
      </p:sp>
      <p:sp>
        <p:nvSpPr>
          <p:cNvPr id="12" name="Pipeline arrow 0"/>
          <p:cNvSpPr/>
          <p:nvPr/>
        </p:nvSpPr>
        <p:spPr>
          <a:xfrm>
            <a:off x="68580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ipeline ASR"/>
          <p:cNvSpPr/>
          <p:nvPr/>
        </p:nvSpPr>
        <p:spPr>
          <a:xfrm>
            <a:off x="7680960" y="7680960"/>
            <a:ext cx="64008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SR"/>
          <p:cNvSpPr txBox="1"/>
          <p:nvPr/>
        </p:nvSpPr>
        <p:spPr>
          <a:xfrm>
            <a:off x="8001000" y="80467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ASR</a:t>
            </a:r>
          </a:p>
        </p:txBody>
      </p:sp>
      <p:sp>
        <p:nvSpPr>
          <p:cNvPr id="15" name="ASR detail"/>
          <p:cNvSpPr txBox="1"/>
          <p:nvPr/>
        </p:nvSpPr>
        <p:spPr>
          <a:xfrm>
            <a:off x="8001000" y="8961120"/>
            <a:ext cx="57607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Speech → text</a:t>
            </a:r>
          </a:p>
          <a:p>
            <a:pPr>
              <a:spcBef>
                <a:spcPts val="0"/>
              </a:spcBef>
              <a:spcAft>
                <a:spcPts val="0"/>
              </a:spcAft>
            </a:pPr>
            <a:r>
              <a:rPr sz="2800" b="0">
                <a:solidFill>
                  <a:srgbClr val="17211A"/>
                </a:solidFill>
                <a:latin typeface="NVIDIA Sans"/>
              </a:rPr>
              <a:t>Qwen3-ASR-0.6B</a:t>
            </a:r>
          </a:p>
        </p:txBody>
      </p:sp>
      <p:sp>
        <p:nvSpPr>
          <p:cNvPr id="16" name="Pipeline arrow 1"/>
          <p:cNvSpPr/>
          <p:nvPr/>
        </p:nvSpPr>
        <p:spPr>
          <a:xfrm>
            <a:off x="141732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ipeline LLM"/>
          <p:cNvSpPr/>
          <p:nvPr/>
        </p:nvSpPr>
        <p:spPr>
          <a:xfrm>
            <a:off x="14996159" y="7680960"/>
            <a:ext cx="64008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LM"/>
          <p:cNvSpPr txBox="1"/>
          <p:nvPr/>
        </p:nvSpPr>
        <p:spPr>
          <a:xfrm>
            <a:off x="15316200" y="80467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LLM</a:t>
            </a:r>
          </a:p>
        </p:txBody>
      </p:sp>
      <p:sp>
        <p:nvSpPr>
          <p:cNvPr id="19" name="LLM detail"/>
          <p:cNvSpPr txBox="1"/>
          <p:nvPr/>
        </p:nvSpPr>
        <p:spPr>
          <a:xfrm>
            <a:off x="15316200" y="8961120"/>
            <a:ext cx="57607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Text → short reply</a:t>
            </a:r>
          </a:p>
          <a:p>
            <a:pPr>
              <a:spcBef>
                <a:spcPts val="0"/>
              </a:spcBef>
              <a:spcAft>
                <a:spcPts val="0"/>
              </a:spcAft>
            </a:pPr>
            <a:r>
              <a:rPr sz="2800" b="0">
                <a:solidFill>
                  <a:srgbClr val="17211A"/>
                </a:solidFill>
                <a:latin typeface="NVIDIA Sans"/>
              </a:rPr>
              <a:t>Qwen3-4B</a:t>
            </a:r>
          </a:p>
        </p:txBody>
      </p:sp>
      <p:sp>
        <p:nvSpPr>
          <p:cNvPr id="20" name="Pipeline arrow 2"/>
          <p:cNvSpPr/>
          <p:nvPr/>
        </p:nvSpPr>
        <p:spPr>
          <a:xfrm>
            <a:off x="214884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peline H3"/>
          <p:cNvSpPr/>
          <p:nvPr/>
        </p:nvSpPr>
        <p:spPr>
          <a:xfrm>
            <a:off x="22311360" y="7680960"/>
            <a:ext cx="4206240" cy="256032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p:cNvSpPr txBox="1"/>
          <p:nvPr/>
        </p:nvSpPr>
        <p:spPr>
          <a:xfrm>
            <a:off x="22631400" y="8046720"/>
            <a:ext cx="3566159"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H3</a:t>
            </a:r>
          </a:p>
        </p:txBody>
      </p:sp>
      <p:sp>
        <p:nvSpPr>
          <p:cNvPr id="23" name="Pipeline arrow 3"/>
          <p:cNvSpPr/>
          <p:nvPr/>
        </p:nvSpPr>
        <p:spPr>
          <a:xfrm>
            <a:off x="2660904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peline Playback"/>
          <p:cNvSpPr/>
          <p:nvPr/>
        </p:nvSpPr>
        <p:spPr>
          <a:xfrm>
            <a:off x="27432000" y="7680960"/>
            <a:ext cx="73152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layback"/>
          <p:cNvSpPr txBox="1"/>
          <p:nvPr/>
        </p:nvSpPr>
        <p:spPr>
          <a:xfrm>
            <a:off x="27752040" y="8046720"/>
            <a:ext cx="66751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Playback</a:t>
            </a:r>
          </a:p>
        </p:txBody>
      </p:sp>
      <p:sp>
        <p:nvSpPr>
          <p:cNvPr id="26" name="Playback detail"/>
          <p:cNvSpPr txBox="1"/>
          <p:nvPr/>
        </p:nvSpPr>
        <p:spPr>
          <a:xfrm>
            <a:off x="27752040" y="8961120"/>
            <a:ext cx="66751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Native audio + video</a:t>
            </a:r>
          </a:p>
          <a:p>
            <a:pPr>
              <a:spcBef>
                <a:spcPts val="0"/>
              </a:spcBef>
              <a:spcAft>
                <a:spcPts val="0"/>
              </a:spcAft>
            </a:pPr>
            <a:r>
              <a:rPr sz="2800" b="0">
                <a:solidFill>
                  <a:srgbClr val="17211A"/>
                </a:solidFill>
                <a:latin typeface="NVIDIA Sans"/>
              </a:rPr>
              <a:t>~5-second windows</a:t>
            </a:r>
          </a:p>
        </p:txBody>
      </p:sp>
      <p:sp>
        <p:nvSpPr>
          <p:cNvPr id="27" name="Reply label"/>
          <p:cNvSpPr txBox="1"/>
          <p:nvPr/>
        </p:nvSpPr>
        <p:spPr>
          <a:xfrm>
            <a:off x="1828800" y="10972800"/>
            <a:ext cx="173736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LLM reply text</a:t>
            </a:r>
          </a:p>
        </p:txBody>
      </p:sp>
      <p:sp>
        <p:nvSpPr>
          <p:cNvPr id="28" name="Reply quote"/>
          <p:cNvSpPr/>
          <p:nvPr/>
        </p:nvSpPr>
        <p:spPr>
          <a:xfrm>
            <a:off x="1828800" y="11887200"/>
            <a:ext cx="173736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ply"/>
          <p:cNvSpPr txBox="1"/>
          <p:nvPr/>
        </p:nvSpPr>
        <p:spPr>
          <a:xfrm>
            <a:off x="2194560" y="12481560"/>
            <a:ext cx="16642080" cy="164592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“Hi, I’m Miles. I help with</a:t>
            </a:r>
          </a:p>
          <a:p>
            <a:pPr>
              <a:spcBef>
                <a:spcPts val="0"/>
              </a:spcBef>
              <a:spcAft>
                <a:spcPts val="0"/>
              </a:spcAft>
            </a:pPr>
            <a:r>
              <a:rPr sz="3800" b="1">
                <a:solidFill>
                  <a:srgbClr val="17211A"/>
                </a:solidFill>
                <a:latin typeface="NVIDIA Sans"/>
              </a:rPr>
              <a:t>simple, clear answers.”</a:t>
            </a:r>
          </a:p>
        </p:txBody>
      </p:sp>
      <p:sp>
        <p:nvSpPr>
          <p:cNvPr id="30" name="Prompt label"/>
          <p:cNvSpPr txBox="1"/>
          <p:nvPr/>
        </p:nvSpPr>
        <p:spPr>
          <a:xfrm>
            <a:off x="1828800" y="15041880"/>
            <a:ext cx="173736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H3 prompt · English excerpt</a:t>
            </a:r>
          </a:p>
        </p:txBody>
      </p:sp>
      <p:sp>
        <p:nvSpPr>
          <p:cNvPr id="31" name="Prompt explanation"/>
          <p:cNvSpPr txBox="1"/>
          <p:nvPr/>
        </p:nvSpPr>
        <p:spPr>
          <a:xfrm>
            <a:off x="1828800" y="15956280"/>
            <a:ext cx="17373600" cy="233172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The man says exactly this English dialogue</a:t>
            </a:r>
          </a:p>
          <a:p>
            <a:pPr>
              <a:spcBef>
                <a:spcPts val="0"/>
              </a:spcBef>
              <a:spcAft>
                <a:spcPts val="0"/>
              </a:spcAft>
            </a:pPr>
            <a:r>
              <a:rPr sz="2800" b="0">
                <a:solidFill>
                  <a:srgbClr val="17211A"/>
                </a:solidFill>
                <a:latin typeface="NVIDIA Sans"/>
              </a:rPr>
              <a:t>in his reference voice:</a:t>
            </a:r>
          </a:p>
          <a:p>
            <a:pPr>
              <a:spcBef>
                <a:spcPts val="0"/>
              </a:spcBef>
              <a:spcAft>
                <a:spcPts val="0"/>
              </a:spcAft>
            </a:pPr>
            <a:r>
              <a:rPr sz="2800" b="0">
                <a:solidFill>
                  <a:srgbClr val="17211A"/>
                </a:solidFill>
                <a:latin typeface="NVIDIA Sans"/>
              </a:rPr>
              <a:t>"Hi, I'm Miles. I help with simple, clear answers."</a:t>
            </a:r>
          </a:p>
          <a:p>
            <a:pPr>
              <a:spcBef>
                <a:spcPts val="0"/>
              </a:spcBef>
              <a:spcAft>
                <a:spcPts val="0"/>
              </a:spcAft>
            </a:pPr>
            <a:r>
              <a:rPr sz="2800" b="0">
                <a:solidFill>
                  <a:srgbClr val="17211A"/>
                </a:solidFill>
                <a:latin typeface="NVIDIA Sans"/>
              </a:rPr>
              <a:t>… His lips follow the words.</a:t>
            </a:r>
          </a:p>
        </p:txBody>
      </p:sp>
      <p:sp>
        <p:nvSpPr>
          <p:cNvPr id="32" name="Example outcome"/>
          <p:cNvSpPr txBox="1"/>
          <p:nvPr/>
        </p:nvSpPr>
        <p:spPr>
          <a:xfrm>
            <a:off x="1828800" y="18699480"/>
            <a:ext cx="17830800" cy="8229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A text reply becomes a speaking avatar clip.</a:t>
            </a:r>
          </a:p>
        </p:txBody>
      </p:sp>
      <p:sp>
        <p:nvSpPr>
          <p:cNvPr id="33" name="Output label"/>
          <p:cNvSpPr txBox="1"/>
          <p:nvPr/>
        </p:nvSpPr>
        <p:spPr>
          <a:xfrm>
            <a:off x="21488400" y="10972800"/>
            <a:ext cx="132588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Reference image</a:t>
            </a:r>
          </a:p>
        </p:txBody>
      </p:sp>
      <p:sp>
        <p:nvSpPr>
          <p:cNvPr id="35" name="Frame provenance"/>
          <p:cNvSpPr txBox="1"/>
          <p:nvPr/>
        </p:nvSpPr>
        <p:spPr>
          <a:xfrm>
            <a:off x="21488400" y="19312128"/>
            <a:ext cx="11704320" cy="457200"/>
          </a:xfrm>
          <a:prstGeom prst="rect">
            <a:avLst/>
          </a:prstGeom>
          <a:noFill/>
        </p:spPr>
        <p:txBody>
          <a:bodyPr wrap="square" lIns="18288" rIns="18288" tIns="0" bIns="0">
            <a:spAutoFit/>
          </a:bodyPr>
          <a:lstStyle/>
          <a:p>
            <a:pPr>
              <a:spcBef>
                <a:spcPts val="0"/>
              </a:spcBef>
              <a:spcAft>
                <a:spcPts val="0"/>
              </a:spcAft>
            </a:pPr>
            <a:r>
              <a:rPr sz="2300" b="0">
                <a:solidFill>
                  <a:srgbClr val="52604F"/>
                </a:solidFill>
                <a:latin typeface="NVIDIA Sans"/>
              </a:rPr>
              <a:t>Input portrait supplied to H3</a:t>
            </a:r>
          </a:p>
        </p:txBody>
      </p:sp>
      <p:pic>
        <p:nvPicPr>
          <p:cNvPr id="36" name="Picture 35" descr="reference.png"/>
          <p:cNvPicPr>
            <a:picLocks noChangeAspect="1"/>
          </p:cNvPicPr>
          <p:nvPr/>
        </p:nvPicPr>
        <p:blipFill>
          <a:blip r:embed="rId5"/>
          <a:stretch>
            <a:fillRect/>
          </a:stretch>
        </p:blipFill>
        <p:spPr>
          <a:xfrm>
            <a:off x="21488400" y="11795760"/>
            <a:ext cx="12801600" cy="73152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19</a:t>
            </a:r>
          </a:p>
        </p:txBody>
      </p:sp>
      <p:sp>
        <p:nvSpPr>
          <p:cNvPr id="3" name="Text Placeholder 2"/>
          <p:cNvSpPr>
            <a:spLocks noGrp="1"/>
          </p:cNvSpPr>
          <p:nvPr>
            <p:ph type="body" idx="13" sz="quarter"/>
          </p:nvPr>
        </p:nvSpPr>
        <p:spPr/>
        <p:txBody>
          <a:bodyPr/>
          <a:lstStyle/>
          <a:p>
            <a:r>
              <a:t>The previous ending guides the next clip. Only new content is appended.</a:t>
            </a:r>
          </a:p>
        </p:txBody>
      </p:sp>
      <p:sp>
        <p:nvSpPr>
          <p:cNvPr id="4" name="Title 3"/>
          <p:cNvSpPr>
            <a:spLocks noGrp="1"/>
          </p:cNvSpPr>
          <p:nvPr>
            <p:ph type="title"/>
          </p:nvPr>
        </p:nvSpPr>
        <p:spPr/>
        <p:txBody>
          <a:bodyPr/>
          <a:lstStyle/>
          <a:p>
            <a:r>
              <a:t>Continuation: Two Clips, One Timeline</a:t>
            </a:r>
          </a:p>
        </p:txBody>
      </p:sp>
      <p:sp>
        <p:nvSpPr>
          <p:cNvPr id="5" name="Chunk A heading"/>
          <p:cNvSpPr txBox="1"/>
          <p:nvPr/>
        </p:nvSpPr>
        <p:spPr>
          <a:xfrm>
            <a:off x="182880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A  /  LAST FRAME</a:t>
            </a:r>
          </a:p>
        </p:txBody>
      </p:sp>
      <p:sp>
        <p:nvSpPr>
          <p:cNvPr id="6" name="Chunk B heading"/>
          <p:cNvSpPr txBox="1"/>
          <p:nvPr/>
        </p:nvSpPr>
        <p:spPr>
          <a:xfrm>
            <a:off x="1888236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B  /  FIRST RETAINED FRAME</a:t>
            </a:r>
          </a:p>
        </p:txBody>
      </p:sp>
      <p:pic>
        <p:nvPicPr>
          <p:cNvPr id="7" name="Actual last frame of Chunk A" descr="clip-a-ending.png"/>
          <p:cNvPicPr>
            <a:picLocks noChangeAspect="1"/>
          </p:cNvPicPr>
          <p:nvPr/>
        </p:nvPicPr>
        <p:blipFill>
          <a:blip r:embed="rId3"/>
          <a:stretch>
            <a:fillRect/>
          </a:stretch>
        </p:blipFill>
        <p:spPr>
          <a:xfrm>
            <a:off x="1828800" y="5806440"/>
            <a:ext cx="15864840" cy="8990076"/>
          </a:xfrm>
          <a:prstGeom prst="rect">
            <a:avLst/>
          </a:prstGeom>
        </p:spPr>
      </p:pic>
      <p:pic>
        <p:nvPicPr>
          <p:cNvPr id="8" name="Actual first retained frame of Chunk B" descr="clip-b-start.png"/>
          <p:cNvPicPr>
            <a:picLocks noChangeAspect="1"/>
          </p:cNvPicPr>
          <p:nvPr/>
        </p:nvPicPr>
        <p:blipFill>
          <a:blip r:embed="rId4"/>
          <a:stretch>
            <a:fillRect/>
          </a:stretch>
        </p:blipFill>
        <p:spPr>
          <a:xfrm>
            <a:off x="18882360" y="5806440"/>
            <a:ext cx="15864840" cy="8990076"/>
          </a:xfrm>
          <a:prstGeom prst="rect">
            <a:avLst/>
          </a:prstGeom>
        </p:spPr>
      </p:pic>
      <p:sp>
        <p:nvSpPr>
          <p:cNvPr id="9" name="Playback heading"/>
          <p:cNvSpPr txBox="1"/>
          <p:nvPr/>
        </p:nvSpPr>
        <p:spPr>
          <a:xfrm>
            <a:off x="1828800" y="15681959"/>
            <a:ext cx="11887200" cy="59436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CONTINUOUS PLAYBACK</a:t>
            </a:r>
          </a:p>
        </p:txBody>
      </p:sp>
      <p:sp>
        <p:nvSpPr>
          <p:cNvPr id="10" name="Discarded B prefix"/>
          <p:cNvSpPr/>
          <p:nvPr/>
        </p:nvSpPr>
        <p:spPr>
          <a:xfrm>
            <a:off x="17949333" y="15727680"/>
            <a:ext cx="677333" cy="502920"/>
          </a:xfrm>
          <a:prstGeom prst="rect">
            <a:avLst/>
          </a:prstGeom>
          <a:solidFill>
            <a:srgbClr val="E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rim label"/>
          <p:cNvSpPr txBox="1"/>
          <p:nvPr/>
        </p:nvSpPr>
        <p:spPr>
          <a:xfrm>
            <a:off x="19175306" y="15663672"/>
            <a:ext cx="155448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B’s overlapping start</a:t>
            </a:r>
          </a:p>
        </p:txBody>
      </p:sp>
      <p:sp>
        <p:nvSpPr>
          <p:cNvPr id="14" name="Playback A"/>
          <p:cNvSpPr/>
          <p:nvPr/>
        </p:nvSpPr>
        <p:spPr>
          <a:xfrm>
            <a:off x="1828800" y="16642080"/>
            <a:ext cx="16797866" cy="1234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layback B"/>
          <p:cNvSpPr/>
          <p:nvPr/>
        </p:nvSpPr>
        <p:spPr>
          <a:xfrm>
            <a:off x="18626666" y="16642080"/>
            <a:ext cx="16120533" cy="1234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Join marker"/>
          <p:cNvSpPr/>
          <p:nvPr/>
        </p:nvSpPr>
        <p:spPr>
          <a:xfrm>
            <a:off x="18599234" y="16642080"/>
            <a:ext cx="54864"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ayback A label"/>
          <p:cNvSpPr txBox="1"/>
          <p:nvPr/>
        </p:nvSpPr>
        <p:spPr>
          <a:xfrm>
            <a:off x="2286000" y="16962120"/>
            <a:ext cx="15883466"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Chunk A · 5.167 s</a:t>
            </a:r>
          </a:p>
        </p:txBody>
      </p:sp>
      <p:sp>
        <p:nvSpPr>
          <p:cNvPr id="18" name="Playback B label"/>
          <p:cNvSpPr txBox="1"/>
          <p:nvPr/>
        </p:nvSpPr>
        <p:spPr>
          <a:xfrm>
            <a:off x="19083866" y="16962120"/>
            <a:ext cx="15206133" cy="731520"/>
          </a:xfrm>
          <a:prstGeom prst="rect">
            <a:avLst/>
          </a:prstGeom>
          <a:noFill/>
        </p:spPr>
        <p:txBody>
          <a:bodyPr wrap="square" lIns="0" rIns="0" tIns="0" bIns="0">
            <a:spAutoFit/>
          </a:bodyPr>
          <a:lstStyle/>
          <a:p>
            <a:pPr>
              <a:spcBef>
                <a:spcPts val="0"/>
              </a:spcBef>
              <a:spcAft>
                <a:spcPts val="0"/>
              </a:spcAft>
            </a:pPr>
            <a:r>
              <a:rPr sz="3400" b="0">
                <a:solidFill>
                  <a:srgbClr val="FFFFFF"/>
                </a:solidFill>
                <a:latin typeface="NVIDIA Sans Medium"/>
              </a:rPr>
              <a:t>Chunk B · +4.958 s</a:t>
            </a:r>
          </a:p>
        </p:txBody>
      </p:sp>
      <p:sp>
        <p:nvSpPr>
          <p:cNvPr id="19" name="Context principle"/>
          <p:cNvSpPr txBox="1"/>
          <p:nvPr/>
        </p:nvSpPr>
        <p:spPr>
          <a:xfrm>
            <a:off x="1828800" y="18608040"/>
            <a:ext cx="32918400" cy="73152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Recent audio–video context conditions the next generation; matching audio is trimmed with the overlap.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74.55 seconds · user-recorded microphone conversation · native H3 audio + video</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20</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