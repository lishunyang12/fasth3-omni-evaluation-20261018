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final group at 960x544, 124 frames/24 fps, 8 SM120 GPUs. Formal median 5.417645109817386 s; separate profile 5.663555474020541 s. This is not the historical four-step rolling avatar. Stage ranges are CPU NVTX envelopes, not sums of GPU kernels. Identified layout kernels and copy times are per GPU 0, nested within DiT. QAD disables default unquantized-only AdaLN CPU weight offload. Cache misses still recompute projections. Driver inventory uses NVIDIA Graphics Device, 73415 MiB per GPU; PRO 5000 is the project reference-node label. Improved BF16 baseline is not measured yet.</a:t>
            </a:r>
          </a:p>
          <a:p>
            <a:r>
              <a:t>Online evidence: https://lishunyang12.github.io/fasth3-omni-evaluation-20261018/slides/minimax-h3-real-time-inference-20261025/v1.39/latency-breakdown.html</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plan only. Historical probe-v4-124 from September 22: 3 warmups plus 13 measured requests; HTTP median 3.5897789399605244 s; application-ready median 3.7062881940510124 s, maximum 4.177112315082923 s. Initial window 124 frames; subsequent segments 119 frames after five-frame overlap. Native prompt-conditioned audio, MXFP8 DiT/dense Sage, full NVFP4 VAE. Rehearsal and live deployment are not verified by this slide. Do not use slide 18 eight-step latency for this workload.</a:t>
            </a:r>
          </a:p>
          <a:p>
            <a:r>
              <a:t>Online evidence: https://lishunyang12.github.io/fasth3-omni-evaluation-20261018/slides/minimax-h3-real-time-inference-20261025/v1.39/continuous-generation.html</a:t>
            </a:r>
          </a:p>
          <a:p>
            <a:r>
              <a:t>The original September 22 MP4 files are unavailable. The online timeline reconstructs an ideal playback schedule from retained timestamps; it is not a player recording. Separate archived AAS, position-mode/Rolling RoPE and timestep-KV demonstrations are linked with their own configurations.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6 and 18 describe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cumulative comparison for the fixed five-second livestream-target workload. These timings cover standalone Ref2VA requests, not rolling continuation.</a:t>
            </a:r>
          </a:p>
          <a:p>
            <a:r>
              <a:t>The retained baseline is 247.9563708677888 seconds: median of 247.9563708677888, 246.20054612867534 and 248.29797918722034. It uses the horizontal Miles image-and-audio Ref2VA request, 960x544, 124 frames at 24 fps (5.166666667 seconds of media), seed 43, on the original eight GPUs. The target is strictly less than 5.0 seconds through completed audiovisual MP4.</a:t>
            </a:r>
          </a:p>
          <a:p>
            <a:r>
              <a:t>Display groups 0-3 are left and 4-7 right. Group 0 is retained; only groups 1-7 require new timing. Each group adds its changes cumulatively. PDD reduces 50 evaluations to eight. VSA adds sparse attention. QAD and native FP4 are combined, including unified prefix/video computation and device-aware SM scheduling. Ulysses combines RDMA, direct layout, V/gate overlap and IB for remaining NCCL operations. The 2/3/2 head pipeline precedes CUDA Graph. NVFP4 36-layer VAE and MP4 pre-encoding are the last group.</a:t>
            </a:r>
          </a:p>
          <a:p>
            <a:r>
              <a:t>All seven new E2E groups have three formal requests, excluding initialization and warmup. Do not reuse the separate 362-frame historical CAKE study, standalone kernel times, or component numerical tests as points on this comparison. The encoders and native 36-layer VAE remain fixed until the explicit final VAE group. The native VAE decode uses FP16 autocast and mixed-precision operations; the BF16 DiT label does not describe its precision. The NVFP4 decoder contains 216 packed linear modules across 36 blocks and uses BF16 autocast. Actual decoder metadata and MP4 pre-encoding calls are recorded per request. AdaLN projection-cache counters will be recorded; enabled caching does not imply a 100 percent hit rate. Same-case video/audio quality, complete output decoding and actual eight-step execution must be reviewed alongside the timing.</a:t>
            </a:r>
          </a:p>
          <a:p>
            <a:r>
              <a:t>The baseline and early stages use recorded runtime configurations; checkpoint/runtime changes are documented in the benchmark manifests. This is cumulative evidence, not independent isolated attribution for each kernel. Rolling livestream continuity qualification is outside these seven cohorts.</a:t>
            </a:r>
          </a:p>
          <a:p/>
          <a:p>
            <a:r>
              <a:t>Measured medians in seconds: 0: 247.956370868, 1: 42.961755994, 2: 26.198997436, 3: 19.351314013, 4: 6.830540991, 5: 6.471706104, 6: 6.201149457, 7: 5.417645110</a:t>
            </a:r>
          </a:p>
          <a:p>
            <a:r>
              <a:t>Final formal samples: 5.414621825, 5.417645110, 5.422367400</a:t>
            </a:r>
          </a:p>
          <a:p>
            <a:r>
              <a:t>Quality review: full audiovisual decoding, repeat hashes, signal checks, and five sampled frames per cohort. Appearance, expression and head motion differ across model configurations. Subjective speech quality and lip synchronization were not rated. No perceptual equivalence or rolling-stream qualification is claimed.</a:t>
            </a:r>
          </a:p>
          <a:p>
            <a:r>
              <a:t>Online evidence: https://lishunyang12.github.io/fasth3-omni-evaluation-20261018/slides/minimax-h3-real-time-inference-20261025/v1.39/benchmarks.html</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3"/>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Current Configuration: Latency Breakdown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Final slide 18 group · standalone Ref2VA · initialization and warmup excluded</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6</a:t>
            </a:r>
          </a:p>
        </p:txBody>
      </p:sp>
      <p:sp>
        <p:nvSpPr>
          <p:cNvPr id="5" name="Output panel"/>
          <p:cNvSpPr/>
          <p:nvPr/>
        </p:nvSpPr>
        <p:spPr>
          <a:xfrm>
            <a:off x="1828800" y="4572000"/>
            <a:ext cx="75895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utput label"/>
          <p:cNvSpPr txBox="1"/>
          <p:nvPr/>
        </p:nvSpPr>
        <p:spPr>
          <a:xfrm>
            <a:off x="2194560" y="4800600"/>
            <a:ext cx="68580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OUTPUT</a:t>
            </a:r>
          </a:p>
        </p:txBody>
      </p:sp>
      <p:sp>
        <p:nvSpPr>
          <p:cNvPr id="7" name="Output value"/>
          <p:cNvSpPr txBox="1"/>
          <p:nvPr/>
        </p:nvSpPr>
        <p:spPr>
          <a:xfrm>
            <a:off x="2194560" y="5413248"/>
            <a:ext cx="68580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960 × 544</a:t>
            </a:r>
          </a:p>
        </p:txBody>
      </p:sp>
      <p:sp>
        <p:nvSpPr>
          <p:cNvPr id="8" name="Output detail"/>
          <p:cNvSpPr txBox="1"/>
          <p:nvPr/>
        </p:nvSpPr>
        <p:spPr>
          <a:xfrm>
            <a:off x="2194560" y="6318504"/>
            <a:ext cx="68580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Reference image: 1344 × 768</a:t>
            </a:r>
          </a:p>
        </p:txBody>
      </p:sp>
      <p:sp>
        <p:nvSpPr>
          <p:cNvPr id="9" name="Video per request panel"/>
          <p:cNvSpPr/>
          <p:nvPr/>
        </p:nvSpPr>
        <p:spPr>
          <a:xfrm>
            <a:off x="9738360" y="4572000"/>
            <a:ext cx="75895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ideo per request label"/>
          <p:cNvSpPr txBox="1"/>
          <p:nvPr/>
        </p:nvSpPr>
        <p:spPr>
          <a:xfrm>
            <a:off x="10104120" y="4800600"/>
            <a:ext cx="68580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VIDEO PER REQUEST</a:t>
            </a:r>
          </a:p>
        </p:txBody>
      </p:sp>
      <p:sp>
        <p:nvSpPr>
          <p:cNvPr id="11" name="Video per request value"/>
          <p:cNvSpPr txBox="1"/>
          <p:nvPr/>
        </p:nvSpPr>
        <p:spPr>
          <a:xfrm>
            <a:off x="10104120" y="5413248"/>
            <a:ext cx="68580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5.167 seconds</a:t>
            </a:r>
          </a:p>
        </p:txBody>
      </p:sp>
      <p:sp>
        <p:nvSpPr>
          <p:cNvPr id="12" name="Video per request detail"/>
          <p:cNvSpPr txBox="1"/>
          <p:nvPr/>
        </p:nvSpPr>
        <p:spPr>
          <a:xfrm>
            <a:off x="10104120" y="6318504"/>
            <a:ext cx="68580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124 frames at 24 FPS</a:t>
            </a:r>
          </a:p>
        </p:txBody>
      </p:sp>
      <p:sp>
        <p:nvSpPr>
          <p:cNvPr id="13" name="Parallelism panel"/>
          <p:cNvSpPr/>
          <p:nvPr/>
        </p:nvSpPr>
        <p:spPr>
          <a:xfrm>
            <a:off x="17647920" y="4572000"/>
            <a:ext cx="85039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rallelism label"/>
          <p:cNvSpPr txBox="1"/>
          <p:nvPr/>
        </p:nvSpPr>
        <p:spPr>
          <a:xfrm>
            <a:off x="18013680" y="4800600"/>
            <a:ext cx="77724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PARALLELISM</a:t>
            </a:r>
          </a:p>
        </p:txBody>
      </p:sp>
      <p:sp>
        <p:nvSpPr>
          <p:cNvPr id="15" name="Parallelism value"/>
          <p:cNvSpPr txBox="1"/>
          <p:nvPr/>
        </p:nvSpPr>
        <p:spPr>
          <a:xfrm>
            <a:off x="18013680" y="5413248"/>
            <a:ext cx="77724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8 GPUs</a:t>
            </a:r>
          </a:p>
        </p:txBody>
      </p:sp>
      <p:sp>
        <p:nvSpPr>
          <p:cNvPr id="16" name="Parallelism detail"/>
          <p:cNvSpPr txBox="1"/>
          <p:nvPr/>
        </p:nvSpPr>
        <p:spPr>
          <a:xfrm>
            <a:off x="18013680" y="6318504"/>
            <a:ext cx="77724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Ulysses 8 · Encoder TP8 · VAE tiles 8</a:t>
            </a:r>
          </a:p>
        </p:txBody>
      </p:sp>
      <p:sp>
        <p:nvSpPr>
          <p:cNvPr id="17" name="Hardware panel"/>
          <p:cNvSpPr/>
          <p:nvPr/>
        </p:nvSpPr>
        <p:spPr>
          <a:xfrm>
            <a:off x="26471880" y="4572000"/>
            <a:ext cx="82753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rdware label"/>
          <p:cNvSpPr txBox="1"/>
          <p:nvPr/>
        </p:nvSpPr>
        <p:spPr>
          <a:xfrm>
            <a:off x="26837639" y="4800600"/>
            <a:ext cx="75438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HARDWARE</a:t>
            </a:r>
          </a:p>
        </p:txBody>
      </p:sp>
      <p:sp>
        <p:nvSpPr>
          <p:cNvPr id="19" name="Hardware value"/>
          <p:cNvSpPr txBox="1"/>
          <p:nvPr/>
        </p:nvSpPr>
        <p:spPr>
          <a:xfrm>
            <a:off x="26837639" y="5413248"/>
            <a:ext cx="75438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SM120 / PCIe</a:t>
            </a:r>
          </a:p>
        </p:txBody>
      </p:sp>
      <p:sp>
        <p:nvSpPr>
          <p:cNvPr id="20" name="Hardware detail"/>
          <p:cNvSpPr txBox="1"/>
          <p:nvPr/>
        </p:nvSpPr>
        <p:spPr>
          <a:xfrm>
            <a:off x="26837639" y="6318504"/>
            <a:ext cx="75438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PRO 5000 reference node · RDMA / IB</a:t>
            </a:r>
          </a:p>
        </p:txBody>
      </p:sp>
      <p:sp>
        <p:nvSpPr>
          <p:cNvPr id="21" name="Benchmark value"/>
          <p:cNvSpPr txBox="1"/>
          <p:nvPr/>
        </p:nvSpPr>
        <p:spPr>
          <a:xfrm>
            <a:off x="1828800" y="7818120"/>
            <a:ext cx="7589520" cy="1097280"/>
          </a:xfrm>
          <a:prstGeom prst="rect">
            <a:avLst/>
          </a:prstGeom>
          <a:noFill/>
        </p:spPr>
        <p:txBody>
          <a:bodyPr wrap="square" lIns="0" rIns="0" tIns="0" bIns="0">
            <a:spAutoFit/>
          </a:bodyPr>
          <a:lstStyle/>
          <a:p>
            <a:pPr>
              <a:spcAft>
                <a:spcPts val="800"/>
              </a:spcAft>
            </a:pPr>
            <a:r>
              <a:rPr sz="6400">
                <a:solidFill>
                  <a:srgbClr val="111111"/>
                </a:solidFill>
                <a:latin typeface="NVIDIA Sans Medium"/>
              </a:rPr>
              <a:t>5.418 s</a:t>
            </a:r>
          </a:p>
        </p:txBody>
      </p:sp>
      <p:sp>
        <p:nvSpPr>
          <p:cNvPr id="22" name="Benchmark caption"/>
          <p:cNvSpPr txBox="1"/>
          <p:nvPr/>
        </p:nvSpPr>
        <p:spPr>
          <a:xfrm>
            <a:off x="1828800" y="9006840"/>
            <a:ext cx="16184880" cy="640080"/>
          </a:xfrm>
          <a:prstGeom prst="rect">
            <a:avLst/>
          </a:prstGeom>
          <a:noFill/>
        </p:spPr>
        <p:txBody>
          <a:bodyPr wrap="square" lIns="0" rIns="0" tIns="0" bIns="0">
            <a:spAutoFit/>
          </a:bodyPr>
          <a:lstStyle/>
          <a:p>
            <a:pPr>
              <a:spcAft>
                <a:spcPts val="800"/>
              </a:spcAft>
            </a:pPr>
            <a:r>
              <a:rPr sz="2900">
                <a:solidFill>
                  <a:srgbClr val="555555"/>
                </a:solidFill>
                <a:latin typeface="NVIDIA Sans"/>
              </a:rPr>
              <a:t>Unprofiled HTTP median · n = 3</a:t>
            </a:r>
          </a:p>
        </p:txBody>
      </p:sp>
      <p:sp>
        <p:nvSpPr>
          <p:cNvPr id="23" name="Profile value"/>
          <p:cNvSpPr txBox="1"/>
          <p:nvPr/>
        </p:nvSpPr>
        <p:spPr>
          <a:xfrm>
            <a:off x="10058400" y="7818120"/>
            <a:ext cx="7589520" cy="1097280"/>
          </a:xfrm>
          <a:prstGeom prst="rect">
            <a:avLst/>
          </a:prstGeom>
          <a:noFill/>
        </p:spPr>
        <p:txBody>
          <a:bodyPr wrap="square" lIns="0" rIns="0" tIns="0" bIns="0">
            <a:spAutoFit/>
          </a:bodyPr>
          <a:lstStyle/>
          <a:p>
            <a:pPr>
              <a:spcAft>
                <a:spcPts val="800"/>
              </a:spcAft>
            </a:pPr>
            <a:r>
              <a:rPr sz="6400">
                <a:solidFill>
                  <a:srgbClr val="111111"/>
                </a:solidFill>
                <a:latin typeface="NVIDIA Sans Medium"/>
              </a:rPr>
              <a:t>5.664 s</a:t>
            </a:r>
          </a:p>
        </p:txBody>
      </p:sp>
      <p:sp>
        <p:nvSpPr>
          <p:cNvPr id="24" name="Profile caption"/>
          <p:cNvSpPr txBox="1"/>
          <p:nvPr/>
        </p:nvSpPr>
        <p:spPr>
          <a:xfrm>
            <a:off x="10058400" y="9006840"/>
            <a:ext cx="8229600" cy="640080"/>
          </a:xfrm>
          <a:prstGeom prst="rect">
            <a:avLst/>
          </a:prstGeom>
          <a:noFill/>
        </p:spPr>
        <p:txBody>
          <a:bodyPr wrap="square" lIns="0" rIns="0" tIns="0" bIns="0">
            <a:spAutoFit/>
          </a:bodyPr>
          <a:lstStyle/>
          <a:p>
            <a:pPr>
              <a:spcAft>
                <a:spcPts val="800"/>
              </a:spcAft>
            </a:pPr>
            <a:r>
              <a:rPr sz="2900">
                <a:solidFill>
                  <a:srgbClr val="555555"/>
                </a:solidFill>
                <a:latin typeface="NVIDIA Sans"/>
              </a:rPr>
              <a:t>One warmed Nsight request</a:t>
            </a:r>
          </a:p>
        </p:txBody>
      </p:sp>
      <p:sp>
        <p:nvSpPr>
          <p:cNvPr id="25" name="Breakdown heading"/>
          <p:cNvSpPr txBox="1"/>
          <p:nvPr/>
        </p:nvSpPr>
        <p:spPr>
          <a:xfrm>
            <a:off x="1828800" y="10058400"/>
            <a:ext cx="16459200" cy="914400"/>
          </a:xfrm>
          <a:prstGeom prst="rect">
            <a:avLst/>
          </a:prstGeom>
          <a:noFill/>
        </p:spPr>
        <p:txBody>
          <a:bodyPr wrap="square" lIns="0" rIns="0" tIns="0" bIns="0">
            <a:spAutoFit/>
          </a:bodyPr>
          <a:lstStyle/>
          <a:p>
            <a:pPr>
              <a:spcAft>
                <a:spcPts val="800"/>
              </a:spcAft>
            </a:pPr>
            <a:r>
              <a:rPr sz="3500">
                <a:solidFill>
                  <a:srgbClr val="111111"/>
                </a:solidFill>
                <a:latin typeface="NVIDIA Sans Medium"/>
              </a:rPr>
              <a:t>Profiled request: rank 0 stage envelopes</a:t>
            </a:r>
          </a:p>
        </p:txBody>
      </p:sp>
      <p:sp>
        <p:nvSpPr>
          <p:cNvPr id="26" name="Stage row 0"/>
          <p:cNvSpPr/>
          <p:nvPr/>
        </p:nvSpPr>
        <p:spPr>
          <a:xfrm>
            <a:off x="1828800" y="11064240"/>
            <a:ext cx="162763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age 0"/>
          <p:cNvSpPr txBox="1"/>
          <p:nvPr/>
        </p:nvSpPr>
        <p:spPr>
          <a:xfrm>
            <a:off x="2103120" y="11283696"/>
            <a:ext cx="11887200" cy="594360"/>
          </a:xfrm>
          <a:prstGeom prst="rect">
            <a:avLst/>
          </a:prstGeom>
          <a:noFill/>
        </p:spPr>
        <p:txBody>
          <a:bodyPr wrap="square" lIns="0" rIns="0" tIns="0" bIns="0">
            <a:spAutoFit/>
          </a:bodyPr>
          <a:lstStyle/>
          <a:p>
            <a:pPr>
              <a:spcAft>
                <a:spcPts val="800"/>
              </a:spcAft>
            </a:pPr>
            <a:r>
              <a:rPr sz="3000">
                <a:solidFill>
                  <a:srgbClr val="111111"/>
                </a:solidFill>
                <a:latin typeface="NVIDIA Sans"/>
              </a:rPr>
              <a:t>Text + vision encoder</a:t>
            </a:r>
          </a:p>
        </p:txBody>
      </p:sp>
      <p:sp>
        <p:nvSpPr>
          <p:cNvPr id="28" name="Stage duration 0"/>
          <p:cNvSpPr txBox="1"/>
          <p:nvPr/>
        </p:nvSpPr>
        <p:spPr>
          <a:xfrm>
            <a:off x="13990320" y="11247119"/>
            <a:ext cx="3840480" cy="640080"/>
          </a:xfrm>
          <a:prstGeom prst="rect">
            <a:avLst/>
          </a:prstGeom>
          <a:noFill/>
        </p:spPr>
        <p:txBody>
          <a:bodyPr wrap="square" lIns="0" rIns="0" tIns="0" bIns="0">
            <a:spAutoFit/>
          </a:bodyPr>
          <a:lstStyle/>
          <a:p>
            <a:pPr>
              <a:spcAft>
                <a:spcPts val="800"/>
              </a:spcAft>
            </a:pPr>
            <a:r>
              <a:rPr sz="3400">
                <a:solidFill>
                  <a:srgbClr val="111111"/>
                </a:solidFill>
                <a:latin typeface="NVIDIA Sans Medium"/>
              </a:rPr>
              <a:t>0.2485 s</a:t>
            </a:r>
          </a:p>
        </p:txBody>
      </p:sp>
      <p:sp>
        <p:nvSpPr>
          <p:cNvPr id="29" name="Stage row 1"/>
          <p:cNvSpPr/>
          <p:nvPr/>
        </p:nvSpPr>
        <p:spPr>
          <a:xfrm>
            <a:off x="1828800" y="12115800"/>
            <a:ext cx="162763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age 1"/>
          <p:cNvSpPr txBox="1"/>
          <p:nvPr/>
        </p:nvSpPr>
        <p:spPr>
          <a:xfrm>
            <a:off x="2103120" y="12335256"/>
            <a:ext cx="11887200" cy="594360"/>
          </a:xfrm>
          <a:prstGeom prst="rect">
            <a:avLst/>
          </a:prstGeom>
          <a:noFill/>
        </p:spPr>
        <p:txBody>
          <a:bodyPr wrap="square" lIns="0" rIns="0" tIns="0" bIns="0">
            <a:spAutoFit/>
          </a:bodyPr>
          <a:lstStyle/>
          <a:p>
            <a:pPr>
              <a:spcAft>
                <a:spcPts val="800"/>
              </a:spcAft>
            </a:pPr>
            <a:r>
              <a:rPr sz="3000">
                <a:solidFill>
                  <a:srgbClr val="111111"/>
                </a:solidFill>
                <a:latin typeface="NVIDIA Sans"/>
              </a:rPr>
              <a:t>Reference image + audio encoder</a:t>
            </a:r>
          </a:p>
        </p:txBody>
      </p:sp>
      <p:sp>
        <p:nvSpPr>
          <p:cNvPr id="31" name="Stage duration 1"/>
          <p:cNvSpPr txBox="1"/>
          <p:nvPr/>
        </p:nvSpPr>
        <p:spPr>
          <a:xfrm>
            <a:off x="13990320" y="12298680"/>
            <a:ext cx="3840480" cy="640080"/>
          </a:xfrm>
          <a:prstGeom prst="rect">
            <a:avLst/>
          </a:prstGeom>
          <a:noFill/>
        </p:spPr>
        <p:txBody>
          <a:bodyPr wrap="square" lIns="0" rIns="0" tIns="0" bIns="0">
            <a:spAutoFit/>
          </a:bodyPr>
          <a:lstStyle/>
          <a:p>
            <a:pPr>
              <a:spcAft>
                <a:spcPts val="800"/>
              </a:spcAft>
            </a:pPr>
            <a:r>
              <a:rPr sz="3400">
                <a:solidFill>
                  <a:srgbClr val="111111"/>
                </a:solidFill>
                <a:latin typeface="NVIDIA Sans Medium"/>
              </a:rPr>
              <a:t>0.1303 s</a:t>
            </a:r>
          </a:p>
        </p:txBody>
      </p:sp>
      <p:sp>
        <p:nvSpPr>
          <p:cNvPr id="32" name="Stage row 2"/>
          <p:cNvSpPr/>
          <p:nvPr/>
        </p:nvSpPr>
        <p:spPr>
          <a:xfrm>
            <a:off x="1828800" y="13167359"/>
            <a:ext cx="16276320" cy="9601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age 2"/>
          <p:cNvSpPr txBox="1"/>
          <p:nvPr/>
        </p:nvSpPr>
        <p:spPr>
          <a:xfrm>
            <a:off x="2103120" y="13386815"/>
            <a:ext cx="11887200" cy="594360"/>
          </a:xfrm>
          <a:prstGeom prst="rect">
            <a:avLst/>
          </a:prstGeom>
          <a:noFill/>
        </p:spPr>
        <p:txBody>
          <a:bodyPr wrap="square" lIns="0" rIns="0" tIns="0" bIns="0">
            <a:spAutoFit/>
          </a:bodyPr>
          <a:lstStyle/>
          <a:p>
            <a:pPr>
              <a:spcAft>
                <a:spcPts val="800"/>
              </a:spcAft>
            </a:pPr>
            <a:r>
              <a:rPr sz="3000">
                <a:solidFill>
                  <a:srgbClr val="111111"/>
                </a:solidFill>
                <a:latin typeface="NVIDIA Sans"/>
              </a:rPr>
              <a:t>DiT · eight evaluations</a:t>
            </a:r>
          </a:p>
        </p:txBody>
      </p:sp>
      <p:sp>
        <p:nvSpPr>
          <p:cNvPr id="34" name="Stage duration 2"/>
          <p:cNvSpPr txBox="1"/>
          <p:nvPr/>
        </p:nvSpPr>
        <p:spPr>
          <a:xfrm>
            <a:off x="13990320" y="13350239"/>
            <a:ext cx="3840480" cy="640080"/>
          </a:xfrm>
          <a:prstGeom prst="rect">
            <a:avLst/>
          </a:prstGeom>
          <a:noFill/>
        </p:spPr>
        <p:txBody>
          <a:bodyPr wrap="square" lIns="0" rIns="0" tIns="0" bIns="0">
            <a:spAutoFit/>
          </a:bodyPr>
          <a:lstStyle/>
          <a:p>
            <a:pPr>
              <a:spcAft>
                <a:spcPts val="800"/>
              </a:spcAft>
            </a:pPr>
            <a:r>
              <a:rPr sz="3400">
                <a:solidFill>
                  <a:srgbClr val="111111"/>
                </a:solidFill>
                <a:latin typeface="NVIDIA Sans Medium"/>
              </a:rPr>
              <a:t>4.3024 s</a:t>
            </a:r>
          </a:p>
        </p:txBody>
      </p:sp>
      <p:sp>
        <p:nvSpPr>
          <p:cNvPr id="35" name="Stage row 3"/>
          <p:cNvSpPr/>
          <p:nvPr/>
        </p:nvSpPr>
        <p:spPr>
          <a:xfrm>
            <a:off x="1828800" y="14218919"/>
            <a:ext cx="162763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age 3"/>
          <p:cNvSpPr txBox="1"/>
          <p:nvPr/>
        </p:nvSpPr>
        <p:spPr>
          <a:xfrm>
            <a:off x="2103120" y="14438376"/>
            <a:ext cx="11887200" cy="594360"/>
          </a:xfrm>
          <a:prstGeom prst="rect">
            <a:avLst/>
          </a:prstGeom>
          <a:noFill/>
        </p:spPr>
        <p:txBody>
          <a:bodyPr wrap="square" lIns="0" rIns="0" tIns="0" bIns="0">
            <a:spAutoFit/>
          </a:bodyPr>
          <a:lstStyle/>
          <a:p>
            <a:pPr>
              <a:spcAft>
                <a:spcPts val="800"/>
              </a:spcAft>
            </a:pPr>
            <a:r>
              <a:rPr sz="3000">
                <a:solidFill>
                  <a:srgbClr val="111111"/>
                </a:solidFill>
                <a:latin typeface="NVIDIA Sans"/>
              </a:rPr>
              <a:t>Decode + MP4</a:t>
            </a:r>
          </a:p>
        </p:txBody>
      </p:sp>
      <p:sp>
        <p:nvSpPr>
          <p:cNvPr id="37" name="Stage duration 3"/>
          <p:cNvSpPr txBox="1"/>
          <p:nvPr/>
        </p:nvSpPr>
        <p:spPr>
          <a:xfrm>
            <a:off x="13990320" y="14401799"/>
            <a:ext cx="3840480" cy="640080"/>
          </a:xfrm>
          <a:prstGeom prst="rect">
            <a:avLst/>
          </a:prstGeom>
          <a:noFill/>
        </p:spPr>
        <p:txBody>
          <a:bodyPr wrap="square" lIns="0" rIns="0" tIns="0" bIns="0">
            <a:spAutoFit/>
          </a:bodyPr>
          <a:lstStyle/>
          <a:p>
            <a:pPr>
              <a:spcAft>
                <a:spcPts val="800"/>
              </a:spcAft>
            </a:pPr>
            <a:r>
              <a:rPr sz="3400">
                <a:solidFill>
                  <a:srgbClr val="111111"/>
                </a:solidFill>
                <a:latin typeface="NVIDIA Sans Medium"/>
              </a:rPr>
              <a:t>0.8481 s</a:t>
            </a:r>
          </a:p>
        </p:txBody>
      </p:sp>
      <p:sp>
        <p:nvSpPr>
          <p:cNvPr id="38" name="Stage row 4"/>
          <p:cNvSpPr/>
          <p:nvPr/>
        </p:nvSpPr>
        <p:spPr>
          <a:xfrm>
            <a:off x="1828800" y="15270480"/>
            <a:ext cx="162763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age 4"/>
          <p:cNvSpPr txBox="1"/>
          <p:nvPr/>
        </p:nvSpPr>
        <p:spPr>
          <a:xfrm>
            <a:off x="2103120" y="15489935"/>
            <a:ext cx="11887200" cy="594360"/>
          </a:xfrm>
          <a:prstGeom prst="rect">
            <a:avLst/>
          </a:prstGeom>
          <a:noFill/>
        </p:spPr>
        <p:txBody>
          <a:bodyPr wrap="square" lIns="0" rIns="0" tIns="0" bIns="0">
            <a:spAutoFit/>
          </a:bodyPr>
          <a:lstStyle/>
          <a:p>
            <a:pPr>
              <a:spcAft>
                <a:spcPts val="800"/>
              </a:spcAft>
            </a:pPr>
            <a:r>
              <a:rPr sz="3000">
                <a:solidFill>
                  <a:srgbClr val="111111"/>
                </a:solidFill>
                <a:latin typeface="NVIDIA Sans"/>
              </a:rPr>
              <a:t>Other / request-boundary residual</a:t>
            </a:r>
          </a:p>
        </p:txBody>
      </p:sp>
      <p:sp>
        <p:nvSpPr>
          <p:cNvPr id="40" name="Stage duration 4"/>
          <p:cNvSpPr txBox="1"/>
          <p:nvPr/>
        </p:nvSpPr>
        <p:spPr>
          <a:xfrm>
            <a:off x="13990320" y="15453359"/>
            <a:ext cx="3840480" cy="640080"/>
          </a:xfrm>
          <a:prstGeom prst="rect">
            <a:avLst/>
          </a:prstGeom>
          <a:noFill/>
        </p:spPr>
        <p:txBody>
          <a:bodyPr wrap="square" lIns="0" rIns="0" tIns="0" bIns="0">
            <a:spAutoFit/>
          </a:bodyPr>
          <a:lstStyle/>
          <a:p>
            <a:pPr>
              <a:spcAft>
                <a:spcPts val="800"/>
              </a:spcAft>
            </a:pPr>
            <a:r>
              <a:rPr sz="3400">
                <a:solidFill>
                  <a:srgbClr val="111111"/>
                </a:solidFill>
                <a:latin typeface="NVIDIA Sans Medium"/>
              </a:rPr>
              <a:t>0.1343 s</a:t>
            </a:r>
          </a:p>
        </p:txBody>
      </p:sp>
      <p:sp>
        <p:nvSpPr>
          <p:cNvPr id="41" name="Stage interpretation"/>
          <p:cNvSpPr txBox="1"/>
          <p:nvPr/>
        </p:nvSpPr>
        <p:spPr>
          <a:xfrm>
            <a:off x="1828800" y="16642080"/>
            <a:ext cx="16276320" cy="1463040"/>
          </a:xfrm>
          <a:prstGeom prst="rect">
            <a:avLst/>
          </a:prstGeom>
          <a:noFill/>
        </p:spPr>
        <p:txBody>
          <a:bodyPr wrap="square" lIns="0" rIns="0" tIns="0" bIns="0">
            <a:spAutoFit/>
          </a:bodyPr>
          <a:lstStyle/>
          <a:p>
            <a:pPr>
              <a:spcAft>
                <a:spcPts val="800"/>
              </a:spcAft>
            </a:pPr>
            <a:r>
              <a:rPr sz="2700">
                <a:solidFill>
                  <a:srgbClr val="555555"/>
                </a:solidFill>
                <a:latin typeface="NVIDIA Sans"/>
              </a:rPr>
              <a:t>CPU NVTX ranges include waits; values are rounded.</a:t>
            </a:r>
          </a:p>
          <a:p>
            <a:pPr>
              <a:spcAft>
                <a:spcPts val="800"/>
              </a:spcAft>
            </a:pPr>
            <a:r>
              <a:rPr sz="2700">
                <a:solidFill>
                  <a:srgbClr val="555555"/>
                </a:solidFill>
                <a:latin typeface="NVIDIA Sans"/>
              </a:rPr>
              <a:t>Nested VAE decoder: 0.572 s, included in Decode + MP4.</a:t>
            </a:r>
          </a:p>
        </p:txBody>
      </p:sp>
      <p:sp>
        <p:nvSpPr>
          <p:cNvPr id="42" name="Settings heading"/>
          <p:cNvSpPr txBox="1"/>
          <p:nvPr/>
        </p:nvSpPr>
        <p:spPr>
          <a:xfrm>
            <a:off x="19202400" y="7955279"/>
            <a:ext cx="15544800" cy="914400"/>
          </a:xfrm>
          <a:prstGeom prst="rect">
            <a:avLst/>
          </a:prstGeom>
          <a:noFill/>
        </p:spPr>
        <p:txBody>
          <a:bodyPr wrap="square" lIns="0" rIns="0" tIns="0" bIns="0">
            <a:spAutoFit/>
          </a:bodyPr>
          <a:lstStyle/>
          <a:p>
            <a:pPr>
              <a:spcAft>
                <a:spcPts val="800"/>
              </a:spcAft>
            </a:pPr>
            <a:r>
              <a:rPr sz="4000">
                <a:solidFill>
                  <a:srgbClr val="111111"/>
                </a:solidFill>
                <a:latin typeface="NVIDIA Sans Medium"/>
              </a:rPr>
              <a:t>What is enabled</a:t>
            </a:r>
          </a:p>
        </p:txBody>
      </p:sp>
      <p:sp>
        <p:nvSpPr>
          <p:cNvPr id="43" name="Config label 0"/>
          <p:cNvSpPr txBox="1"/>
          <p:nvPr/>
        </p:nvSpPr>
        <p:spPr>
          <a:xfrm>
            <a:off x="19202400" y="918972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Model</a:t>
            </a:r>
          </a:p>
        </p:txBody>
      </p:sp>
      <p:sp>
        <p:nvSpPr>
          <p:cNvPr id="44" name="Config value 0"/>
          <p:cNvSpPr txBox="1"/>
          <p:nvPr/>
        </p:nvSpPr>
        <p:spPr>
          <a:xfrm>
            <a:off x="19202400" y="9738360"/>
            <a:ext cx="15544800" cy="777240"/>
          </a:xfrm>
          <a:prstGeom prst="rect">
            <a:avLst/>
          </a:prstGeom>
          <a:noFill/>
        </p:spPr>
        <p:txBody>
          <a:bodyPr wrap="square" lIns="0" rIns="0" tIns="0" bIns="0">
            <a:spAutoFit/>
          </a:bodyPr>
          <a:lstStyle/>
          <a:p>
            <a:pPr>
              <a:spcAft>
                <a:spcPts val="800"/>
              </a:spcAft>
            </a:pPr>
            <a:r>
              <a:rPr sz="2900">
                <a:solidFill>
                  <a:srgbClr val="111111"/>
                </a:solidFill>
                <a:latin typeface="NVIDIA Sans"/>
              </a:rPr>
              <a:t>QAD NVFP4 DiT · trained VSA · native FP4 attention</a:t>
            </a:r>
          </a:p>
        </p:txBody>
      </p:sp>
      <p:sp>
        <p:nvSpPr>
          <p:cNvPr id="45" name="Config label 1"/>
          <p:cNvSpPr txBox="1"/>
          <p:nvPr/>
        </p:nvSpPr>
        <p:spPr>
          <a:xfrm>
            <a:off x="19202400" y="10579608"/>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Communication</a:t>
            </a:r>
          </a:p>
        </p:txBody>
      </p:sp>
      <p:sp>
        <p:nvSpPr>
          <p:cNvPr id="46" name="Config value 1"/>
          <p:cNvSpPr txBox="1"/>
          <p:nvPr/>
        </p:nvSpPr>
        <p:spPr>
          <a:xfrm>
            <a:off x="19202400" y="11128248"/>
            <a:ext cx="15544800" cy="777240"/>
          </a:xfrm>
          <a:prstGeom prst="rect">
            <a:avLst/>
          </a:prstGeom>
          <a:noFill/>
        </p:spPr>
        <p:txBody>
          <a:bodyPr wrap="square" lIns="0" rIns="0" tIns="0" bIns="0">
            <a:spAutoFit/>
          </a:bodyPr>
          <a:lstStyle/>
          <a:p>
            <a:pPr>
              <a:spcAft>
                <a:spcPts val="800"/>
              </a:spcAft>
            </a:pPr>
            <a:r>
              <a:rPr sz="2900">
                <a:solidFill>
                  <a:srgbClr val="111111"/>
                </a:solidFill>
                <a:latin typeface="NVIDIA Sans"/>
              </a:rPr>
              <a:t>RDMA direct layout · V / gate overlap · 2 / 3 / 2 heads</a:t>
            </a:r>
          </a:p>
        </p:txBody>
      </p:sp>
      <p:sp>
        <p:nvSpPr>
          <p:cNvPr id="47" name="Config label 2"/>
          <p:cNvSpPr txBox="1"/>
          <p:nvPr/>
        </p:nvSpPr>
        <p:spPr>
          <a:xfrm>
            <a:off x="19202400" y="11969496"/>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Execution</a:t>
            </a:r>
          </a:p>
        </p:txBody>
      </p:sp>
      <p:sp>
        <p:nvSpPr>
          <p:cNvPr id="48" name="Config value 2"/>
          <p:cNvSpPr txBox="1"/>
          <p:nvPr/>
        </p:nvSpPr>
        <p:spPr>
          <a:xfrm>
            <a:off x="19202400" y="12518136"/>
            <a:ext cx="15544800" cy="777240"/>
          </a:xfrm>
          <a:prstGeom prst="rect">
            <a:avLst/>
          </a:prstGeom>
          <a:noFill/>
        </p:spPr>
        <p:txBody>
          <a:bodyPr wrap="square" lIns="0" rIns="0" tIns="0" bIns="0">
            <a:spAutoFit/>
          </a:bodyPr>
          <a:lstStyle/>
          <a:p>
            <a:pPr>
              <a:spcAft>
                <a:spcPts val="800"/>
              </a:spcAft>
            </a:pPr>
            <a:r>
              <a:rPr sz="2900">
                <a:solidFill>
                  <a:srgbClr val="111111"/>
                </a:solidFill>
                <a:latin typeface="NVIDIA Sans"/>
              </a:rPr>
              <a:t>Head compute CUDA Graph · 1,200 replays / rank</a:t>
            </a:r>
          </a:p>
        </p:txBody>
      </p:sp>
      <p:sp>
        <p:nvSpPr>
          <p:cNvPr id="49" name="Config label 3"/>
          <p:cNvSpPr txBox="1"/>
          <p:nvPr/>
        </p:nvSpPr>
        <p:spPr>
          <a:xfrm>
            <a:off x="19202400" y="13359384"/>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Decoder</a:t>
            </a:r>
          </a:p>
        </p:txBody>
      </p:sp>
      <p:sp>
        <p:nvSpPr>
          <p:cNvPr id="50" name="Config value 3"/>
          <p:cNvSpPr txBox="1"/>
          <p:nvPr/>
        </p:nvSpPr>
        <p:spPr>
          <a:xfrm>
            <a:off x="19202400" y="13908024"/>
            <a:ext cx="15544800" cy="777240"/>
          </a:xfrm>
          <a:prstGeom prst="rect">
            <a:avLst/>
          </a:prstGeom>
          <a:noFill/>
        </p:spPr>
        <p:txBody>
          <a:bodyPr wrap="square" lIns="0" rIns="0" tIns="0" bIns="0">
            <a:spAutoFit/>
          </a:bodyPr>
          <a:lstStyle/>
          <a:p>
            <a:pPr>
              <a:spcAft>
                <a:spcPts val="800"/>
              </a:spcAft>
            </a:pPr>
            <a:r>
              <a:rPr sz="2900">
                <a:solidFill>
                  <a:srgbClr val="111111"/>
                </a:solidFill>
                <a:latin typeface="NVIDIA Sans"/>
              </a:rPr>
              <a:t>36L NVFP4 VAE · 216 linears · BF16 autocast · MP4 pre-encode</a:t>
            </a:r>
          </a:p>
        </p:txBody>
      </p:sp>
      <p:sp>
        <p:nvSpPr>
          <p:cNvPr id="51" name="Config label 4"/>
          <p:cNvSpPr txBox="1"/>
          <p:nvPr/>
        </p:nvSpPr>
        <p:spPr>
          <a:xfrm>
            <a:off x="19202400" y="14749272"/>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AdaLN</a:t>
            </a:r>
          </a:p>
        </p:txBody>
      </p:sp>
      <p:sp>
        <p:nvSpPr>
          <p:cNvPr id="52" name="Config value 4"/>
          <p:cNvSpPr txBox="1"/>
          <p:nvPr/>
        </p:nvSpPr>
        <p:spPr>
          <a:xfrm>
            <a:off x="19202400" y="15297912"/>
            <a:ext cx="15544800" cy="777240"/>
          </a:xfrm>
          <a:prstGeom prst="rect">
            <a:avLst/>
          </a:prstGeom>
          <a:noFill/>
        </p:spPr>
        <p:txBody>
          <a:bodyPr wrap="square" lIns="0" rIns="0" tIns="0" bIns="0">
            <a:spAutoFit/>
          </a:bodyPr>
          <a:lstStyle/>
          <a:p>
            <a:pPr>
              <a:spcAft>
                <a:spcPts val="800"/>
              </a:spcAft>
            </a:pPr>
            <a:r>
              <a:rPr sz="2900">
                <a:solidFill>
                  <a:srgbClr val="111111"/>
                </a:solidFill>
                <a:latin typeface="NVIDIA Sans"/>
              </a:rPr>
              <a:t>256 MiB exact cache · 366 hits / 42 misses · weights resident</a:t>
            </a:r>
          </a:p>
        </p:txBody>
      </p:sp>
      <p:sp>
        <p:nvSpPr>
          <p:cNvPr id="53" name="Residual heading"/>
          <p:cNvSpPr txBox="1"/>
          <p:nvPr/>
        </p:nvSpPr>
        <p:spPr>
          <a:xfrm>
            <a:off x="19202400" y="16367759"/>
            <a:ext cx="15544800" cy="594360"/>
          </a:xfrm>
          <a:prstGeom prst="rect">
            <a:avLst/>
          </a:prstGeom>
          <a:noFill/>
        </p:spPr>
        <p:txBody>
          <a:bodyPr wrap="square" lIns="0" rIns="0" tIns="0" bIns="0">
            <a:spAutoFit/>
          </a:bodyPr>
          <a:lstStyle/>
          <a:p>
            <a:pPr>
              <a:spcAft>
                <a:spcPts val="800"/>
              </a:spcAft>
            </a:pPr>
            <a:r>
              <a:rPr sz="3100">
                <a:solidFill>
                  <a:srgbClr val="111111"/>
                </a:solidFill>
                <a:latin typeface="NVIDIA Sans Medium"/>
              </a:rPr>
              <a:t>Remaining GPU work in DiT · GPU 0</a:t>
            </a:r>
          </a:p>
        </p:txBody>
      </p:sp>
      <p:sp>
        <p:nvSpPr>
          <p:cNvPr id="54" name="Residual detail"/>
          <p:cNvSpPr txBox="1"/>
          <p:nvPr/>
        </p:nvSpPr>
        <p:spPr>
          <a:xfrm>
            <a:off x="19202400" y="17053560"/>
            <a:ext cx="15544800" cy="1737360"/>
          </a:xfrm>
          <a:prstGeom prst="rect">
            <a:avLst/>
          </a:prstGeom>
          <a:noFill/>
        </p:spPr>
        <p:txBody>
          <a:bodyPr wrap="square" lIns="0" rIns="0" tIns="0" bIns="0">
            <a:spAutoFit/>
          </a:bodyPr>
          <a:lstStyle/>
          <a:p>
            <a:pPr>
              <a:spcAft>
                <a:spcPts val="800"/>
              </a:spcAft>
            </a:pPr>
            <a:r>
              <a:rPr sz="2700">
                <a:solidFill>
                  <a:srgbClr val="111111"/>
                </a:solidFill>
                <a:latin typeface="NVIDIA Sans"/>
              </a:rPr>
              <a:t>Pack / unpack / O-bundle: 158.9 ms</a:t>
            </a:r>
          </a:p>
          <a:p>
            <a:pPr>
              <a:spcAft>
                <a:spcPts val="800"/>
              </a:spcAft>
            </a:pPr>
            <a:r>
              <a:rPr sz="2700">
                <a:solidFill>
                  <a:srgbClr val="111111"/>
                </a:solidFill>
                <a:latin typeface="NVIDIA Sans"/>
              </a:rPr>
              <a:t>Gate assembly: 32.7 ms · D2D copies: 32.2 ms</a:t>
            </a:r>
          </a:p>
          <a:p>
            <a:pPr>
              <a:spcAft>
                <a:spcPts val="800"/>
              </a:spcAft>
            </a:pPr>
            <a:r>
              <a:rPr sz="2700">
                <a:solidFill>
                  <a:srgbClr val="111111"/>
                </a:solidFill>
                <a:latin typeface="NVIDIA Sans"/>
              </a:rPr>
              <a:t>All H2D copies: 0.36 ms / 9.03 MB; no large AdaLN weight staging.</a:t>
            </a:r>
          </a:p>
        </p:txBody>
      </p:sp>
      <p:sp>
        <p:nvSpPr>
          <p:cNvPr id="55" name="Footer"/>
          <p:cNvSpPr txBox="1"/>
          <p:nvPr/>
        </p:nvSpPr>
        <p:spPr>
          <a:xfrm>
            <a:off x="1828800" y="18790920"/>
            <a:ext cx="32918400" cy="731520"/>
          </a:xfrm>
          <a:prstGeom prst="rect">
            <a:avLst/>
          </a:prstGeom>
          <a:noFill/>
        </p:spPr>
        <p:txBody>
          <a:bodyPr wrap="square" lIns="0" rIns="0" tIns="0" bIns="0">
            <a:spAutoFit/>
          </a:bodyPr>
          <a:lstStyle/>
          <a:p>
            <a:pPr>
              <a:spcAft>
                <a:spcPts val="800"/>
              </a:spcAft>
            </a:pPr>
            <a:r>
              <a:rPr sz="2500">
                <a:solidFill>
                  <a:srgbClr val="555555"/>
                </a:solidFill>
                <a:latin typeface="NVIDIA Sans"/>
              </a:rPr>
              <a:t>GPU activity is already inside DiT; it is not additive E2E time. Sub-5 s target is not met. Hardware label follows project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Five-Second Avatar: Show the Result</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Start from the reference portrait.</a:t>
            </a:r>
          </a:p>
          <a:p>
            <a:pPr>
              <a:spcAft>
                <a:spcPts val="800"/>
              </a:spcAft>
            </a:pPr>
            <a:r>
              <a:rPr sz="3700">
                <a:solidFill>
                  <a:srgbClr val="111111"/>
                </a:solidFill>
                <a:latin typeface="NVIDIA Sans"/>
              </a:rPr>
              <a:t>Show a short reading / idle segment.</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Play a short spoken response with audio.</a:t>
            </a:r>
          </a:p>
          <a:p>
            <a:pPr>
              <a:spcAft>
                <a:spcPts val="800"/>
              </a:spcAft>
            </a:pPr>
            <a:r>
              <a:rPr sz="3700">
                <a:solidFill>
                  <a:srgbClr val="111111"/>
                </a:solidFill>
                <a:latin typeface="NVIDIA Sans"/>
              </a:rPr>
              <a:t>Inspect face motion and lip synchronization.</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Continue the same scene across segment boundaries.</a:t>
            </a:r>
          </a:p>
          <a:p>
            <a:pPr>
              <a:spcAft>
                <a:spcPts val="800"/>
              </a:spcAft>
            </a:pPr>
            <a:r>
              <a:rPr sz="3700">
                <a:solidFill>
                  <a:srgbClr val="111111"/>
                </a:solidFill>
                <a:latin typeface="NVIDIA Sans"/>
              </a:rPr>
              <a:t>Show generation and playback on one timeline.</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Historical avatar: 960 × 544 · 24 FPS · 4 steps · 8 GPUs · BF16 RDMA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3.706 s median application-ready time, n = 13.</a:t>
            </a:r>
          </a:p>
          <a:p>
            <a:pPr>
              <a:spcAft>
                <a:spcPts val="800"/>
              </a:spcAft>
            </a:pPr>
            <a:r>
              <a:rPr sz="2700">
                <a:solidFill>
                  <a:srgbClr val="555555"/>
                </a:solidFill>
                <a:latin typeface="NVIDIA Sans"/>
              </a:rPr>
              <a:t>Live rerun and playback validation pending. These timings belong to the separate four-step avatar recipe.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a:t>
            </a:r>
          </a:p>
          <a:p>
            <a:pPr>
              <a:spcAft>
                <a:spcPts val="800"/>
              </a:spcAft>
            </a:pPr>
            <a:r>
              <a:rPr sz="3500">
                <a:solidFill>
                  <a:srgbClr val="111111"/>
                </a:solidFill>
                <a:latin typeface="NVIDIA Sans"/>
              </a:rPr>
              <a:t>Exact AdaLN caching avoids repeated projections.</a:t>
            </a:r>
          </a:p>
          <a:p>
            <a:pPr>
              <a:spcAft>
                <a:spcPts val="800"/>
              </a:spcAft>
            </a:pPr>
            <a:r>
              <a:rPr sz="3500">
                <a:solidFill>
                  <a:srgbClr val="111111"/>
                </a:solidFill>
                <a:latin typeface="NVIDIA Sans"/>
              </a:rPr>
              <a:t>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One fixed Ref2VA case · Eight cumulative groups · Seven measured benchmarks</a:t>
            </a:r>
          </a:p>
        </p:txBody>
      </p:sp>
      <p:sp>
        <p:nvSpPr>
          <p:cNvPr id="3" name="Title 2">
            <a:hlinkClick r:id="rId3"/>
          </p:cNvPr>
          <p:cNvSpPr>
            <a:spLocks noGrp="1"/>
          </p:cNvSpPr>
          <p:nvPr>
            <p:ph type="title"/>
          </p:nvPr>
        </p:nvSpPr>
        <p:spPr/>
        <p:txBody>
          <a:bodyPr/>
          <a:lstStyle/>
          <a:p>
            <a:r>
              <a:t>Optimization Roadmap: 5 s Live Target</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Base50 default offload retained · optimized BF16 baseline pending · warm request to complete MP4</a:t>
            </a:r>
            <a:endParaRPr lang="en-US" dirty="0"/>
          </a:p>
        </p:txBody>
      </p:sp>
      <p:sp>
        <p:nvSpPr>
          <p:cNvPr id="7" name="Locked workload"/>
          <p:cNvSpPr txBox="1"/>
          <p:nvPr/>
        </p:nvSpPr>
        <p:spPr>
          <a:xfrm>
            <a:off x="1828800" y="5166360"/>
            <a:ext cx="32918400" cy="731520"/>
          </a:xfrm>
          <a:prstGeom prst="rect">
            <a:avLst/>
          </a:prstGeom>
          <a:noFill/>
        </p:spPr>
        <p:txBody>
          <a:bodyPr wrap="square" lIns="0" rIns="0" tIns="0" bIns="0">
            <a:noAutofit/>
          </a:bodyPr>
          <a:lstStyle/>
          <a:p>
            <a:pPr algn="ctr">
              <a:lnSpc>
                <a:spcPct val="112000"/>
              </a:lnSpc>
              <a:spcBef>
                <a:spcPts val="0"/>
              </a:spcBef>
              <a:spcAft>
                <a:spcPts val="0"/>
              </a:spcAft>
            </a:pPr>
            <a:r>
              <a:rPr sz="3200" b="0">
                <a:solidFill>
                  <a:srgbClr val="313131"/>
                </a:solidFill>
                <a:latin typeface="NVIDIA Sans"/>
              </a:rPr>
              <a:t>960 × 544  ·  124 frames / 24 FPS  ·  8 GPUs  ·  seed 43</a:t>
            </a:r>
          </a:p>
        </p:txBody>
      </p:sp>
      <p:sp>
        <p:nvSpPr>
          <p:cNvPr id="8" name="Model Compute"/>
          <p:cNvSpPr txBox="1"/>
          <p:nvPr/>
        </p:nvSpPr>
        <p:spPr>
          <a:xfrm>
            <a:off x="182880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Model Compute</a:t>
            </a:r>
          </a:p>
        </p:txBody>
      </p:sp>
      <p:sp>
        <p:nvSpPr>
          <p:cNvPr id="9" name="Model Compute timing header"/>
          <p:cNvSpPr txBox="1"/>
          <p:nvPr/>
        </p:nvSpPr>
        <p:spPr>
          <a:xfrm>
            <a:off x="1463040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0" name="Model Compute header rule"/>
          <p:cNvCxnSpPr/>
          <p:nvPr/>
        </p:nvCxnSpPr>
        <p:spPr>
          <a:xfrm>
            <a:off x="182880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1" name="Communication and Output"/>
          <p:cNvSpPr txBox="1"/>
          <p:nvPr/>
        </p:nvSpPr>
        <p:spPr>
          <a:xfrm>
            <a:off x="18836640" y="6263640"/>
            <a:ext cx="1243584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Communication and Output</a:t>
            </a:r>
          </a:p>
        </p:txBody>
      </p:sp>
      <p:sp>
        <p:nvSpPr>
          <p:cNvPr id="12" name="Communication and Output timing header"/>
          <p:cNvSpPr txBox="1"/>
          <p:nvPr/>
        </p:nvSpPr>
        <p:spPr>
          <a:xfrm>
            <a:off x="31638240" y="6355080"/>
            <a:ext cx="3108960" cy="640080"/>
          </a:xfrm>
          <a:prstGeom prst="rect">
            <a:avLst/>
          </a:prstGeom>
          <a:noFill/>
        </p:spPr>
        <p:txBody>
          <a:bodyPr wrap="square" lIns="0" rIns="0" tIns="0" bIns="0">
            <a:noAutofit/>
          </a:bodyPr>
          <a:lstStyle/>
          <a:p>
            <a:pPr algn="r">
              <a:lnSpc>
                <a:spcPct val="112000"/>
              </a:lnSpc>
              <a:spcBef>
                <a:spcPts val="0"/>
              </a:spcBef>
              <a:spcAft>
                <a:spcPts val="0"/>
              </a:spcAft>
            </a:pPr>
            <a:r>
              <a:rPr sz="2800" b="0">
                <a:solidFill>
                  <a:srgbClr val="313131"/>
                </a:solidFill>
                <a:latin typeface="NVIDIA Sans"/>
              </a:rPr>
              <a:t>E2E (s)</a:t>
            </a:r>
          </a:p>
        </p:txBody>
      </p:sp>
      <p:cxnSp>
        <p:nvCxnSpPr>
          <p:cNvPr id="13" name="Communication and Output header rule"/>
          <p:cNvCxnSpPr/>
          <p:nvPr/>
        </p:nvCxnSpPr>
        <p:spPr>
          <a:xfrm>
            <a:off x="18836640" y="7086600"/>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4" name="Stage 0 number"/>
          <p:cNvSpPr txBox="1"/>
          <p:nvPr/>
        </p:nvSpPr>
        <p:spPr>
          <a:xfrm>
            <a:off x="182880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0</a:t>
            </a:r>
          </a:p>
        </p:txBody>
      </p:sp>
      <p:sp>
        <p:nvSpPr>
          <p:cNvPr id="15" name="Stage 0 name"/>
          <p:cNvSpPr txBox="1"/>
          <p:nvPr/>
        </p:nvSpPr>
        <p:spPr>
          <a:xfrm>
            <a:off x="301752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Historical Base50</a:t>
            </a:r>
          </a:p>
        </p:txBody>
      </p:sp>
      <p:sp>
        <p:nvSpPr>
          <p:cNvPr id="16" name="Stage 0 detail"/>
          <p:cNvSpPr txBox="1"/>
          <p:nvPr/>
        </p:nvSpPr>
        <p:spPr>
          <a:xfrm>
            <a:off x="301752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BF16 DiT · dense · 50 steps</a:t>
            </a:r>
          </a:p>
          <a:p>
            <a:pPr algn="l">
              <a:lnSpc>
                <a:spcPct val="112000"/>
              </a:lnSpc>
              <a:spcBef>
                <a:spcPts val="0"/>
              </a:spcBef>
              <a:spcAft>
                <a:spcPts val="0"/>
              </a:spcAft>
            </a:pPr>
            <a:r>
              <a:rPr sz="3000" b="0">
                <a:solidFill>
                  <a:srgbClr val="313131"/>
                </a:solidFill>
                <a:latin typeface="NVIDIA Sans"/>
              </a:rPr>
              <a:t>Default offload · local NCCL</a:t>
            </a:r>
          </a:p>
        </p:txBody>
      </p:sp>
      <p:sp>
        <p:nvSpPr>
          <p:cNvPr id="17" name="Stage 0 timing"/>
          <p:cNvSpPr txBox="1"/>
          <p:nvPr/>
        </p:nvSpPr>
        <p:spPr>
          <a:xfrm>
            <a:off x="14813280"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247.956</a:t>
            </a:r>
          </a:p>
        </p:txBody>
      </p:sp>
      <p:cxnSp>
        <p:nvCxnSpPr>
          <p:cNvPr id="18" name="Stage 0 separator"/>
          <p:cNvCxnSpPr/>
          <p:nvPr/>
        </p:nvCxnSpPr>
        <p:spPr>
          <a:xfrm>
            <a:off x="182880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Stage 1 number"/>
          <p:cNvSpPr txBox="1"/>
          <p:nvPr/>
        </p:nvSpPr>
        <p:spPr>
          <a:xfrm>
            <a:off x="182880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1</a:t>
            </a:r>
          </a:p>
        </p:txBody>
      </p:sp>
      <p:sp>
        <p:nvSpPr>
          <p:cNvPr id="20" name="Stage 1 name"/>
          <p:cNvSpPr txBox="1"/>
          <p:nvPr/>
        </p:nvSpPr>
        <p:spPr>
          <a:xfrm>
            <a:off x="301752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PDD: 50 to 8 Steps</a:t>
            </a:r>
          </a:p>
        </p:txBody>
      </p:sp>
      <p:sp>
        <p:nvSpPr>
          <p:cNvPr id="21" name="Stage 1 detail"/>
          <p:cNvSpPr txBox="1"/>
          <p:nvPr/>
        </p:nvSpPr>
        <p:spPr>
          <a:xfrm>
            <a:off x="301752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Reduce denoiser evaluations</a:t>
            </a:r>
          </a:p>
          <a:p>
            <a:pPr algn="l">
              <a:lnSpc>
                <a:spcPct val="112000"/>
              </a:lnSpc>
              <a:spcBef>
                <a:spcPts val="0"/>
              </a:spcBef>
              <a:spcAft>
                <a:spcPts val="0"/>
              </a:spcAft>
            </a:pPr>
            <a:r>
              <a:rPr sz="3000" b="0">
                <a:solidFill>
                  <a:srgbClr val="313131"/>
                </a:solidFill>
                <a:latin typeface="NVIDIA Sans"/>
              </a:rPr>
              <a:t>Eight-step Ref2VA schedule</a:t>
            </a:r>
          </a:p>
        </p:txBody>
      </p:sp>
      <p:sp>
        <p:nvSpPr>
          <p:cNvPr id="22" name="Stage 1 timing"/>
          <p:cNvSpPr txBox="1"/>
          <p:nvPr/>
        </p:nvSpPr>
        <p:spPr>
          <a:xfrm>
            <a:off x="14813280"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42.962</a:t>
            </a:r>
          </a:p>
        </p:txBody>
      </p:sp>
      <p:cxnSp>
        <p:nvCxnSpPr>
          <p:cNvPr id="23" name="Stage 1 separator"/>
          <p:cNvCxnSpPr/>
          <p:nvPr/>
        </p:nvCxnSpPr>
        <p:spPr>
          <a:xfrm>
            <a:off x="182880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Stage 2 number"/>
          <p:cNvSpPr txBox="1"/>
          <p:nvPr/>
        </p:nvSpPr>
        <p:spPr>
          <a:xfrm>
            <a:off x="182880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2</a:t>
            </a:r>
          </a:p>
        </p:txBody>
      </p:sp>
      <p:sp>
        <p:nvSpPr>
          <p:cNvPr id="25" name="Stage 2 name"/>
          <p:cNvSpPr txBox="1"/>
          <p:nvPr/>
        </p:nvSpPr>
        <p:spPr>
          <a:xfrm>
            <a:off x="301752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VSA</a:t>
            </a:r>
          </a:p>
        </p:txBody>
      </p:sp>
      <p:sp>
        <p:nvSpPr>
          <p:cNvPr id="26" name="Stage 2 detail"/>
          <p:cNvSpPr txBox="1"/>
          <p:nvPr/>
        </p:nvSpPr>
        <p:spPr>
          <a:xfrm>
            <a:off x="301752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Select fine-attention blocks</a:t>
            </a:r>
          </a:p>
          <a:p>
            <a:pPr algn="l">
              <a:lnSpc>
                <a:spcPct val="112000"/>
              </a:lnSpc>
              <a:spcBef>
                <a:spcPts val="0"/>
              </a:spcBef>
              <a:spcAft>
                <a:spcPts val="0"/>
              </a:spcAft>
            </a:pPr>
            <a:r>
              <a:rPr sz="3000" b="0">
                <a:solidFill>
                  <a:srgbClr val="313131"/>
                </a:solidFill>
                <a:latin typeface="NVIDIA Sans"/>
              </a:rPr>
              <a:t>Keep global coarse context</a:t>
            </a:r>
          </a:p>
        </p:txBody>
      </p:sp>
      <p:sp>
        <p:nvSpPr>
          <p:cNvPr id="27" name="Stage 2 timing"/>
          <p:cNvSpPr txBox="1"/>
          <p:nvPr/>
        </p:nvSpPr>
        <p:spPr>
          <a:xfrm>
            <a:off x="14813280"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26.199</a:t>
            </a:r>
          </a:p>
        </p:txBody>
      </p:sp>
      <p:cxnSp>
        <p:nvCxnSpPr>
          <p:cNvPr id="28" name="Stage 2 separator"/>
          <p:cNvCxnSpPr/>
          <p:nvPr/>
        </p:nvCxnSpPr>
        <p:spPr>
          <a:xfrm>
            <a:off x="182880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tage 3 number"/>
          <p:cNvSpPr txBox="1"/>
          <p:nvPr/>
        </p:nvSpPr>
        <p:spPr>
          <a:xfrm>
            <a:off x="182880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3</a:t>
            </a:r>
          </a:p>
        </p:txBody>
      </p:sp>
      <p:sp>
        <p:nvSpPr>
          <p:cNvPr id="30" name="Stage 3 name"/>
          <p:cNvSpPr txBox="1"/>
          <p:nvPr/>
        </p:nvSpPr>
        <p:spPr>
          <a:xfrm>
            <a:off x="301752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QAD + Native FP4 Attention</a:t>
            </a:r>
          </a:p>
        </p:txBody>
      </p:sp>
      <p:sp>
        <p:nvSpPr>
          <p:cNvPr id="31" name="Stage 3 detail"/>
          <p:cNvSpPr txBox="1"/>
          <p:nvPr/>
        </p:nvSpPr>
        <p:spPr>
          <a:xfrm>
            <a:off x="301752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NVFP4 DiT · unified prefix / video</a:t>
            </a:r>
          </a:p>
          <a:p>
            <a:pPr algn="l">
              <a:lnSpc>
                <a:spcPct val="112000"/>
              </a:lnSpc>
              <a:spcBef>
                <a:spcPts val="0"/>
              </a:spcBef>
              <a:spcAft>
                <a:spcPts val="0"/>
              </a:spcAft>
            </a:pPr>
            <a:r>
              <a:rPr sz="3000" b="0">
                <a:solidFill>
                  <a:srgbClr val="313131"/>
                </a:solidFill>
                <a:latin typeface="NVIDIA Sans"/>
              </a:rPr>
              <a:t>Device-aware SM scheduling</a:t>
            </a:r>
          </a:p>
        </p:txBody>
      </p:sp>
      <p:sp>
        <p:nvSpPr>
          <p:cNvPr id="32" name="Stage 3 timing"/>
          <p:cNvSpPr txBox="1"/>
          <p:nvPr/>
        </p:nvSpPr>
        <p:spPr>
          <a:xfrm>
            <a:off x="14813280"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19.351</a:t>
            </a:r>
          </a:p>
        </p:txBody>
      </p:sp>
      <p:cxnSp>
        <p:nvCxnSpPr>
          <p:cNvPr id="33" name="Stage 3 separator"/>
          <p:cNvCxnSpPr/>
          <p:nvPr/>
        </p:nvCxnSpPr>
        <p:spPr>
          <a:xfrm>
            <a:off x="182880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4" name="Stage 4 number"/>
          <p:cNvSpPr txBox="1"/>
          <p:nvPr/>
        </p:nvSpPr>
        <p:spPr>
          <a:xfrm>
            <a:off x="18836640" y="736092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4</a:t>
            </a:r>
          </a:p>
        </p:txBody>
      </p:sp>
      <p:sp>
        <p:nvSpPr>
          <p:cNvPr id="35" name="Stage 4 name"/>
          <p:cNvSpPr txBox="1"/>
          <p:nvPr/>
        </p:nvSpPr>
        <p:spPr>
          <a:xfrm>
            <a:off x="20025360" y="736092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Ulysses Communication</a:t>
            </a:r>
          </a:p>
        </p:txBody>
      </p:sp>
      <p:sp>
        <p:nvSpPr>
          <p:cNvPr id="36" name="Stage 4 detail"/>
          <p:cNvSpPr txBox="1"/>
          <p:nvPr/>
        </p:nvSpPr>
        <p:spPr>
          <a:xfrm>
            <a:off x="20025360" y="827532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RDMA + direct layout + V / gate overlap</a:t>
            </a:r>
          </a:p>
          <a:p>
            <a:pPr algn="l">
              <a:lnSpc>
                <a:spcPct val="112000"/>
              </a:lnSpc>
              <a:spcBef>
                <a:spcPts val="0"/>
              </a:spcBef>
              <a:spcAft>
                <a:spcPts val="0"/>
              </a:spcAft>
            </a:pPr>
            <a:r>
              <a:rPr sz="3000" b="0">
                <a:solidFill>
                  <a:srgbClr val="313131"/>
                </a:solidFill>
                <a:latin typeface="NVIDIA Sans"/>
              </a:rPr>
              <a:t>IB for remaining NCCL collectives</a:t>
            </a:r>
          </a:p>
        </p:txBody>
      </p:sp>
      <p:sp>
        <p:nvSpPr>
          <p:cNvPr id="37" name="Stage 4 timing"/>
          <p:cNvSpPr txBox="1"/>
          <p:nvPr/>
        </p:nvSpPr>
        <p:spPr>
          <a:xfrm>
            <a:off x="31821119" y="745236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6.831</a:t>
            </a:r>
          </a:p>
        </p:txBody>
      </p:sp>
      <p:cxnSp>
        <p:nvCxnSpPr>
          <p:cNvPr id="38" name="Stage 4 separator"/>
          <p:cNvCxnSpPr/>
          <p:nvPr/>
        </p:nvCxnSpPr>
        <p:spPr>
          <a:xfrm>
            <a:off x="18836640" y="953719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39" name="Stage 5 number"/>
          <p:cNvSpPr txBox="1"/>
          <p:nvPr/>
        </p:nvSpPr>
        <p:spPr>
          <a:xfrm>
            <a:off x="18836640" y="973836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5</a:t>
            </a:r>
          </a:p>
        </p:txBody>
      </p:sp>
      <p:sp>
        <p:nvSpPr>
          <p:cNvPr id="40" name="Stage 5 name"/>
          <p:cNvSpPr txBox="1"/>
          <p:nvPr/>
        </p:nvSpPr>
        <p:spPr>
          <a:xfrm>
            <a:off x="20025360" y="973836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2 / 3 / 2 Head Pipeline</a:t>
            </a:r>
          </a:p>
        </p:txBody>
      </p:sp>
      <p:sp>
        <p:nvSpPr>
          <p:cNvPr id="41" name="Stage 5 detail"/>
          <p:cNvSpPr txBox="1"/>
          <p:nvPr/>
        </p:nvSpPr>
        <p:spPr>
          <a:xfrm>
            <a:off x="20025360" y="1065276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Overlap communication and attention</a:t>
            </a:r>
          </a:p>
          <a:p>
            <a:pPr algn="l">
              <a:lnSpc>
                <a:spcPct val="112000"/>
              </a:lnSpc>
              <a:spcBef>
                <a:spcPts val="0"/>
              </a:spcBef>
              <a:spcAft>
                <a:spcPts val="0"/>
              </a:spcAft>
            </a:pPr>
            <a:r>
              <a:rPr sz="3000" b="0">
                <a:solidFill>
                  <a:srgbClr val="313131"/>
                </a:solidFill>
                <a:latin typeface="NVIDIA Sans"/>
              </a:rPr>
              <a:t>Restore heads before output projection</a:t>
            </a:r>
          </a:p>
        </p:txBody>
      </p:sp>
      <p:sp>
        <p:nvSpPr>
          <p:cNvPr id="42" name="Stage 5 timing"/>
          <p:cNvSpPr txBox="1"/>
          <p:nvPr/>
        </p:nvSpPr>
        <p:spPr>
          <a:xfrm>
            <a:off x="31821119" y="982980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6.472</a:t>
            </a:r>
          </a:p>
        </p:txBody>
      </p:sp>
      <p:cxnSp>
        <p:nvCxnSpPr>
          <p:cNvPr id="43" name="Stage 5 separator"/>
          <p:cNvCxnSpPr/>
          <p:nvPr/>
        </p:nvCxnSpPr>
        <p:spPr>
          <a:xfrm>
            <a:off x="18836640" y="1191463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Stage 6 number"/>
          <p:cNvSpPr txBox="1"/>
          <p:nvPr/>
        </p:nvSpPr>
        <p:spPr>
          <a:xfrm>
            <a:off x="18836640" y="1211580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6</a:t>
            </a:r>
          </a:p>
        </p:txBody>
      </p:sp>
      <p:sp>
        <p:nvSpPr>
          <p:cNvPr id="45" name="Stage 6 name"/>
          <p:cNvSpPr txBox="1"/>
          <p:nvPr/>
        </p:nvSpPr>
        <p:spPr>
          <a:xfrm>
            <a:off x="20025360" y="1211580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CUDA Graph</a:t>
            </a:r>
          </a:p>
        </p:txBody>
      </p:sp>
      <p:sp>
        <p:nvSpPr>
          <p:cNvPr id="46" name="Stage 6 detail"/>
          <p:cNvSpPr txBox="1"/>
          <p:nvPr/>
        </p:nvSpPr>
        <p:spPr>
          <a:xfrm>
            <a:off x="20025360" y="1303020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Replay each head band's compute</a:t>
            </a:r>
          </a:p>
          <a:p>
            <a:pPr algn="l">
              <a:lnSpc>
                <a:spcPct val="112000"/>
              </a:lnSpc>
              <a:spcBef>
                <a:spcPts val="0"/>
              </a:spcBef>
              <a:spcAft>
                <a:spcPts val="0"/>
              </a:spcAft>
            </a:pPr>
            <a:r>
              <a:rPr sz="3000" b="0">
                <a:solidFill>
                  <a:srgbClr val="313131"/>
                </a:solidFill>
                <a:latin typeface="NVIDIA Sans"/>
              </a:rPr>
              <a:t>Reduce repeated CPU launch overhead</a:t>
            </a:r>
          </a:p>
        </p:txBody>
      </p:sp>
      <p:sp>
        <p:nvSpPr>
          <p:cNvPr id="47" name="Stage 6 timing"/>
          <p:cNvSpPr txBox="1"/>
          <p:nvPr/>
        </p:nvSpPr>
        <p:spPr>
          <a:xfrm>
            <a:off x="31821119" y="1220724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6.201</a:t>
            </a:r>
          </a:p>
        </p:txBody>
      </p:sp>
      <p:cxnSp>
        <p:nvCxnSpPr>
          <p:cNvPr id="48" name="Stage 6 separator"/>
          <p:cNvCxnSpPr/>
          <p:nvPr/>
        </p:nvCxnSpPr>
        <p:spPr>
          <a:xfrm>
            <a:off x="18836640" y="1429207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Stage 7 number"/>
          <p:cNvSpPr txBox="1"/>
          <p:nvPr/>
        </p:nvSpPr>
        <p:spPr>
          <a:xfrm>
            <a:off x="18836640" y="14493240"/>
            <a:ext cx="822960" cy="777240"/>
          </a:xfrm>
          <a:prstGeom prst="rect">
            <a:avLst/>
          </a:prstGeom>
          <a:noFill/>
        </p:spPr>
        <p:txBody>
          <a:bodyPr wrap="square" lIns="0" rIns="0" tIns="0" bIns="0">
            <a:noAutofit/>
          </a:bodyPr>
          <a:lstStyle/>
          <a:p>
            <a:pPr algn="l">
              <a:lnSpc>
                <a:spcPct val="112000"/>
              </a:lnSpc>
              <a:spcBef>
                <a:spcPts val="0"/>
              </a:spcBef>
              <a:spcAft>
                <a:spcPts val="0"/>
              </a:spcAft>
            </a:pPr>
            <a:r>
              <a:rPr sz="3800" b="0">
                <a:solidFill>
                  <a:srgbClr val="76B900"/>
                </a:solidFill>
                <a:latin typeface="NVIDIA Sans Medium"/>
              </a:rPr>
              <a:t>7</a:t>
            </a:r>
          </a:p>
        </p:txBody>
      </p:sp>
      <p:sp>
        <p:nvSpPr>
          <p:cNvPr id="50" name="Stage 7 name"/>
          <p:cNvSpPr txBox="1"/>
          <p:nvPr/>
        </p:nvSpPr>
        <p:spPr>
          <a:xfrm>
            <a:off x="20025360" y="14493240"/>
            <a:ext cx="11795760" cy="822960"/>
          </a:xfrm>
          <a:prstGeom prst="rect">
            <a:avLst/>
          </a:prstGeom>
          <a:noFill/>
        </p:spPr>
        <p:txBody>
          <a:bodyPr wrap="square" lIns="0" rIns="0" tIns="0" bIns="0">
            <a:noAutofit/>
          </a:bodyPr>
          <a:lstStyle/>
          <a:p>
            <a:pPr algn="l">
              <a:lnSpc>
                <a:spcPct val="112000"/>
              </a:lnSpc>
              <a:spcBef>
                <a:spcPts val="0"/>
              </a:spcBef>
              <a:spcAft>
                <a:spcPts val="0"/>
              </a:spcAft>
            </a:pPr>
            <a:r>
              <a:rPr sz="3900" b="0">
                <a:solidFill>
                  <a:srgbClr val="000000"/>
                </a:solidFill>
                <a:latin typeface="NVIDIA Sans Medium"/>
              </a:rPr>
              <a:t>NVFP4 36L VAE + MP4</a:t>
            </a:r>
          </a:p>
        </p:txBody>
      </p:sp>
      <p:sp>
        <p:nvSpPr>
          <p:cNvPr id="51" name="Stage 7 detail"/>
          <p:cNvSpPr txBox="1"/>
          <p:nvPr/>
        </p:nvSpPr>
        <p:spPr>
          <a:xfrm>
            <a:off x="20025360" y="15407640"/>
            <a:ext cx="11795760" cy="105156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313131"/>
                </a:solidFill>
                <a:latin typeface="NVIDIA Sans"/>
              </a:rPr>
              <a:t>Native 36-layer decoder to NVFP4</a:t>
            </a:r>
          </a:p>
          <a:p>
            <a:pPr algn="l">
              <a:lnSpc>
                <a:spcPct val="112000"/>
              </a:lnSpc>
              <a:spcBef>
                <a:spcPts val="0"/>
              </a:spcBef>
              <a:spcAft>
                <a:spcPts val="0"/>
              </a:spcAft>
            </a:pPr>
            <a:r>
              <a:rPr sz="3000" b="0">
                <a:solidFill>
                  <a:srgbClr val="313131"/>
                </a:solidFill>
                <a:latin typeface="NVIDIA Sans"/>
              </a:rPr>
              <a:t>MP4 pre-encoding pipeline</a:t>
            </a:r>
          </a:p>
        </p:txBody>
      </p:sp>
      <p:sp>
        <p:nvSpPr>
          <p:cNvPr id="52" name="Stage 7 timing"/>
          <p:cNvSpPr txBox="1"/>
          <p:nvPr/>
        </p:nvSpPr>
        <p:spPr>
          <a:xfrm>
            <a:off x="31821119" y="14584680"/>
            <a:ext cx="2926080" cy="731520"/>
          </a:xfrm>
          <a:prstGeom prst="rect">
            <a:avLst/>
          </a:prstGeom>
          <a:noFill/>
        </p:spPr>
        <p:txBody>
          <a:bodyPr wrap="square" lIns="0" rIns="0" tIns="0" bIns="0">
            <a:noAutofit/>
          </a:bodyPr>
          <a:lstStyle/>
          <a:p>
            <a:pPr algn="r">
              <a:lnSpc>
                <a:spcPct val="112000"/>
              </a:lnSpc>
              <a:spcBef>
                <a:spcPts val="0"/>
              </a:spcBef>
              <a:spcAft>
                <a:spcPts val="0"/>
              </a:spcAft>
            </a:pPr>
            <a:r>
              <a:rPr sz="3600" b="0">
                <a:solidFill>
                  <a:srgbClr val="000000"/>
                </a:solidFill>
                <a:latin typeface="NVIDIA Sans Medium"/>
              </a:rPr>
              <a:t>5.418</a:t>
            </a:r>
          </a:p>
        </p:txBody>
      </p:sp>
      <p:cxnSp>
        <p:nvCxnSpPr>
          <p:cNvPr id="53" name="Stage 7 separator"/>
          <p:cNvCxnSpPr/>
          <p:nvPr/>
        </p:nvCxnSpPr>
        <p:spPr>
          <a:xfrm>
            <a:off x="18836640" y="16669512"/>
            <a:ext cx="1591056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54" name="Live target"/>
          <p:cNvSpPr txBox="1"/>
          <p:nvPr/>
        </p:nvSpPr>
        <p:spPr>
          <a:xfrm>
            <a:off x="1828800" y="17465040"/>
            <a:ext cx="32918400" cy="868680"/>
          </a:xfrm>
          <a:prstGeom prst="rect">
            <a:avLst/>
          </a:prstGeom>
          <a:noFill/>
        </p:spPr>
        <p:txBody>
          <a:bodyPr wrap="square" lIns="0" rIns="0" tIns="0" bIns="0">
            <a:noAutofit/>
          </a:bodyPr>
          <a:lstStyle/>
          <a:p>
            <a:pPr algn="ctr">
              <a:lnSpc>
                <a:spcPct val="112000"/>
              </a:lnSpc>
              <a:spcBef>
                <a:spcPts val="0"/>
              </a:spcBef>
              <a:spcAft>
                <a:spcPts val="0"/>
              </a:spcAft>
            </a:pPr>
            <a:r>
              <a:rPr sz="4200" b="0">
                <a:solidFill>
                  <a:srgbClr val="76B900"/>
                </a:solidFill>
                <a:latin typeface="NVIDIA Sans Medium"/>
              </a:rPr>
              <a:t>Target: full request &lt; 5.000 s · Not reached</a:t>
            </a:r>
          </a:p>
        </p:txBody>
      </p:sp>
      <p:sp>
        <p:nvSpPr>
          <p:cNvPr id="55" name="Measurement status"/>
          <p:cNvSpPr txBox="1"/>
          <p:nvPr/>
        </p:nvSpPr>
        <p:spPr>
          <a:xfrm>
            <a:off x="1828800" y="18562320"/>
            <a:ext cx="32918400" cy="640080"/>
          </a:xfrm>
          <a:prstGeom prst="rect">
            <a:avLst/>
          </a:prstGeom>
          <a:noFill/>
        </p:spPr>
        <p:txBody>
          <a:bodyPr wrap="square" lIns="0" rIns="0" tIns="0" bIns="0">
            <a:noAutofit/>
          </a:bodyPr>
          <a:lstStyle/>
          <a:p>
            <a:pPr algn="ctr">
              <a:lnSpc>
                <a:spcPct val="112000"/>
              </a:lnSpc>
              <a:spcBef>
                <a:spcPts val="0"/>
              </a:spcBef>
              <a:spcAft>
                <a:spcPts val="0"/>
              </a:spcAft>
            </a:pPr>
            <a:r>
              <a:rPr sz="2800" b="0">
                <a:solidFill>
                  <a:srgbClr val="313131"/>
                </a:solidFill>
                <a:latin typeface="NVIDIA Sans"/>
              </a:rPr>
              <a:t>Seven groups measured · 3 formal requests each · Initialization and warmup excluded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02 · ComfyUI Apps</a:t>
            </a:r>
            <a:br/>
            <a:r>
              <a:t>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a:xfrm>
            <a:off x="1828799" y="16870680"/>
            <a:ext cx="16114094" cy="1371600"/>
          </a:xfrm>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a:xfrm>
            <a:off x="1828799" y="15819120"/>
            <a:ext cx="16114094" cy="822960"/>
          </a:xfrm>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a:xfrm>
            <a:off x="18633106" y="16870680"/>
            <a:ext cx="16114093" cy="1371600"/>
          </a:xfrm>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a:xfrm>
            <a:off x="18633106" y="15819120"/>
            <a:ext cx="16114093" cy="822960"/>
          </a:xfrm>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