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two levels of optimization while keeping their measurement contracts distinct.</a:t>
            </a:r>
          </a:p>
          <a:p>
            <a:r>
              <a:t>The Base50 reference is the locked 960x544, 124-frame, seed-43 Miles image-and-voice request: 50 steps, dense BF16, TP1/USP8 and local NCCL. Median of three warm requests is 247.956371 seconds. Its media duration is 124/24 seconds and RTF is 47.991556. PDD8 reduces denoiser calls from 50 to eight, VSA selects sparse fine-attention blocks, and NVFP4 reduces linear precision. Those operations explain the model-work strategy; matched Base50 latency deltas for each are not available. Do not multiply theoretical work reductions or kernel speedups into an end-to-end forecast.</a:t>
            </a:r>
          </a:p>
          <a:p>
            <a:r>
              <a:t>The measured table is the separate historical 15-second QAD study, using 960x544, 362 frames at 24 fps, a Zhiwei image without external voice, eight evaluations, the QAD checkpoint revision f01e6a23ac6066aa9eb622cf94b6259442e70ec2, quality-36L NVFP4 decoder, VSA with CAKE INT8 Q/K and FP8 V, and eight RTX PRO 5000 GPUs. One warmup is excluded and formal seeds are 8301, 8302 and 8303. Latency covers local HTTP upload through finished audiovisual MP4.</a:t>
            </a:r>
          </a:p>
          <a:p>
            <a:r>
              <a:t>The original QAD NCCL control mean is 17.680982667 seconds. An earlier matched RDMA cohort averaged 16.221118333 seconds; the table deliberately uses the fresh 16.249928-second RDMA control paired with the subsequent V/g overlap experiment. The RDMA adapter also changes direct Ulysses layout handling, so its gain is not purely network transport.</a:t>
            </a:r>
          </a:p>
          <a:p>
            <a:r>
              <a:t>The matched means then are 15.624446 seconds with V/g overlap, 15.532005667 seconds after enabling the NCCL IB route for remaining collectives, 14.972898667 seconds with MP4 pre-encoding, and 14.974404333 seconds for the production configuration with synchronized stage profiling disabled. The last row is a confirmation, not an additional speedup. The denominator for every RTF in the table is 362/24 = 15.083333333 seconds.</a:t>
            </a:r>
          </a:p>
          <a:p>
            <a:r>
              <a:t>All four paired comparison records explicitly qualify request-configuration matching and exact decoded video/audio. Production formal requests are 14.958509, 14.964856 and 14.999848 seconds; all three meet the 15.083333-second media budget. This is short-cohort standalone-request evidence, not sustained-stream latency or a long-run P95 qualification. It does not establish an eight-GPU real-time result for the newly optimized native FP4 attention variant. The separate 2/3/2 head-band schedule and CUDA Graph experiments are not included in this historical end-to-end stack.</a:t>
            </a:r>
          </a:p>
          <a:p>
            <a:r>
              <a:t>Source artifacts: summary.json; cold960-control-vs-vg.json; cold960-vg-mixed-vs-nccl-ib.json; cold960-preencode-fresh-confirmation.json; cold960-preencode-vs-production.json, in the retained QAD study. This is a cumulative systems sequence within its own workload; the Base50 reference above has different inputs and clip length.</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Included: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Compare full quantization scopes inside vLLM-Omni with the same scene, prompt and seed</a:t>
            </a:r>
          </a:p>
        </p:txBody>
      </p:sp>
      <p:sp>
        <p:nvSpPr>
          <p:cNvPr id="4" name="Title 3"/>
          <p:cNvSpPr>
            <a:spLocks noGrp="1"/>
          </p:cNvSpPr>
          <p:nvPr>
            <p:ph type="title"/>
          </p:nvPr>
        </p:nvSpPr>
        <p:spPr/>
        <p:txBody>
          <a:bodyPr/>
          <a:lstStyle/>
          <a:p>
            <a:r>
              <a:t>Quantization: Crowded Night Market</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Optimized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Same QAD encoder / decoder</a:t>
            </a:r>
          </a:p>
          <a:p>
            <a:pPr algn="ctr">
              <a:lnSpc>
                <a:spcPct val="108000"/>
              </a:lnSpc>
              <a:spcBef>
                <a:spcPts val="0"/>
              </a:spcBef>
              <a:spcAft>
                <a:spcPts val="1000"/>
              </a:spcAft>
            </a:pPr>
            <a:r>
              <a:rPr sz="2900" b="0">
                <a:solidFill>
                  <a:srgbClr val="313131"/>
                </a:solidFill>
                <a:latin typeface="NVIDIA Sans"/>
              </a:rPr>
              <a:t>Optimized native FP4 attention</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optimized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69164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Shard by heads, then restore token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pic>
        <p:nvPicPr>
          <p:cNvPr id="10" name="Original website Ulysses schematic — P=4 illustration" descr="slide-12-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373600" y="4311623"/>
            <a:ext cx="17373600" cy="11127790"/>
          </a:xfrm>
          <a:prstGeom prst="rect">
            <a:avLst/>
          </a:prstGeom>
          <a:ln w="9525">
            <a:solidFill>
              <a:srgbClr val="A7A7A7"/>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 63.0; B ≤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 256; B ≤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p:txBody>
          <a:bodyPr/>
          <a:lstStyle/>
          <a:p>
            <a:r>
              <a:t>Original source: head-shard exchange before attention; inverse exchange before output projection</a:t>
            </a:r>
          </a:p>
        </p:txBody>
      </p:sp>
      <p:sp>
        <p:nvSpPr>
          <p:cNvPr id="4" name="Title 3"/>
          <p:cNvSpPr>
            <a:spLocks noGrp="1"/>
          </p:cNvSpPr>
          <p:nvPr>
            <p:ph type="title"/>
          </p:nvPr>
        </p:nvSpPr>
        <p:spPr/>
        <p:txBody>
          <a:bodyPr/>
          <a:lstStyle/>
          <a:p>
            <a: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
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Model changes reduce work; the matched QAD systems sequence reaches RTF &lt; 1</a:t>
            </a:r>
          </a:p>
        </p:txBody>
      </p:sp>
      <p:sp>
        <p:nvSpPr>
          <p:cNvPr id="3" name="Title 2"/>
          <p:cNvSpPr>
            <a:spLocks noGrp="1"/>
          </p:cNvSpPr>
          <p:nvPr>
            <p:ph type="title"/>
          </p:nvPr>
        </p:nvSpPr>
        <p:spPr/>
        <p:txBody>
          <a:bodyPr/>
          <a:lstStyle/>
          <a:p>
            <a:r>
              <a:t>From Baseline to Real-Time Generation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Base50 r4 · QAD 36L / CAKE study · matched warm cohorts, 3 seeds per stage · RTF = request time / media duration</a:t>
            </a:r>
            <a:endParaRPr lang="en-US" dirty="0"/>
          </a:p>
        </p:txBody>
      </p:sp>
      <p:sp>
        <p:nvSpPr>
          <p:cNvPr id="7" name="Base50 reference · 124 frames"/>
          <p:cNvSpPr txBox="1"/>
          <p:nvPr/>
        </p:nvSpPr>
        <p:spPr>
          <a:xfrm>
            <a:off x="1828800" y="5074920"/>
            <a:ext cx="15636240" cy="82296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Base50 reference · 124 frames</a:t>
            </a:r>
          </a:p>
        </p:txBody>
      </p:sp>
      <p:sp>
        <p:nvSpPr>
          <p:cNvPr id="8" name="247.956 s · 5.167 s of media · RTF 47.992"/>
          <p:cNvSpPr txBox="1"/>
          <p:nvPr/>
        </p:nvSpPr>
        <p:spPr>
          <a:xfrm>
            <a:off x="1828800" y="6126480"/>
            <a:ext cx="15636240" cy="731520"/>
          </a:xfrm>
          <a:prstGeom prst="rect">
            <a:avLst/>
          </a:prstGeom>
          <a:noFill/>
        </p:spPr>
        <p:txBody>
          <a:bodyPr wrap="square" lIns="0" rIns="0" tIns="0" bIns="0">
            <a:spAutoFit/>
          </a:bodyPr>
          <a:lstStyle/>
          <a:p>
            <a:pPr algn="l">
              <a:lnSpc>
                <a:spcPct val="112000"/>
              </a:lnSpc>
              <a:spcBef>
                <a:spcPts val="0"/>
              </a:spcBef>
              <a:spcAft>
                <a:spcPts val="0"/>
              </a:spcAft>
            </a:pPr>
            <a:r>
              <a:rPr sz="3100" b="0">
                <a:solidFill>
                  <a:srgbClr val="313131"/>
                </a:solidFill>
                <a:latin typeface="NVIDIA Sans"/>
              </a:rPr>
              <a:t>247.956 s · 5.167 s of media · RTF 47.992</a:t>
            </a:r>
          </a:p>
        </p:txBody>
      </p:sp>
      <p:sp>
        <p:nvSpPr>
          <p:cNvPr id="9" name="Model work · PDD8 + VSA + NVFP4"/>
          <p:cNvSpPr txBox="1"/>
          <p:nvPr/>
        </p:nvSpPr>
        <p:spPr>
          <a:xfrm>
            <a:off x="18562320" y="5074920"/>
            <a:ext cx="16184880" cy="82296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Model work · PDD8 + VSA + NVFP4</a:t>
            </a:r>
          </a:p>
        </p:txBody>
      </p:sp>
      <p:sp>
        <p:nvSpPr>
          <p:cNvPr id="10" name="50 to 8 forwards; sparse attention; quantized linears"/>
          <p:cNvSpPr txBox="1"/>
          <p:nvPr/>
        </p:nvSpPr>
        <p:spPr>
          <a:xfrm>
            <a:off x="18562320" y="6126480"/>
            <a:ext cx="16184880" cy="731520"/>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50 to 8 forwards; sparse attention; quantized linears</a:t>
            </a:r>
          </a:p>
        </p:txBody>
      </p:sp>
      <p:sp>
        <p:nvSpPr>
          <p:cNvPr id="11" name="Model-stage latency deltas are unmeasured on the Base50 request; the table uses a separate 362-frame task."/>
          <p:cNvSpPr txBox="1"/>
          <p:nvPr/>
        </p:nvSpPr>
        <p:spPr>
          <a:xfrm>
            <a:off x="1828800" y="7086600"/>
            <a:ext cx="32918400" cy="731520"/>
          </a:xfrm>
          <a:prstGeom prst="rect">
            <a:avLst/>
          </a:prstGeom>
          <a:noFill/>
        </p:spPr>
        <p:txBody>
          <a:bodyPr wrap="square" lIns="0" rIns="0" tIns="0" bIns="0">
            <a:spAutoFit/>
          </a:bodyPr>
          <a:lstStyle/>
          <a:p>
            <a:pPr algn="ctr">
              <a:lnSpc>
                <a:spcPct val="112000"/>
              </a:lnSpc>
              <a:spcBef>
                <a:spcPts val="0"/>
              </a:spcBef>
              <a:spcAft>
                <a:spcPts val="0"/>
              </a:spcAft>
            </a:pPr>
            <a:r>
              <a:rPr sz="2800" b="0">
                <a:solidFill>
                  <a:srgbClr val="313131"/>
                </a:solidFill>
                <a:latin typeface="NVIDIA Sans"/>
              </a:rPr>
              <a:t>Model-stage latency deltas are unmeasured on the Base50 request; the table uses a separate 362-frame task.</a:t>
            </a:r>
          </a:p>
        </p:txBody>
      </p:sp>
      <p:sp>
        <p:nvSpPr>
          <p:cNvPr id="12" name="Matched 15 s study · 960×544 · 362 frames / 24 FPS = 15.083 s · 8 GPUs · QAD + CAKE"/>
          <p:cNvSpPr txBox="1"/>
          <p:nvPr/>
        </p:nvSpPr>
        <p:spPr>
          <a:xfrm>
            <a:off x="1828800" y="8046720"/>
            <a:ext cx="32918400" cy="777240"/>
          </a:xfrm>
          <a:prstGeom prst="rect">
            <a:avLst/>
          </a:prstGeom>
          <a:noFill/>
        </p:spPr>
        <p:txBody>
          <a:bodyPr wrap="square" lIns="0" rIns="0" tIns="0" bIns="0">
            <a:spAutoFit/>
          </a:bodyPr>
          <a:lstStyle/>
          <a:p>
            <a:pPr algn="l">
              <a:lnSpc>
                <a:spcPct val="112000"/>
              </a:lnSpc>
              <a:spcBef>
                <a:spcPts val="0"/>
              </a:spcBef>
              <a:spcAft>
                <a:spcPts val="0"/>
              </a:spcAft>
            </a:pPr>
            <a:r>
              <a:rPr sz="3200" b="1">
                <a:solidFill>
                  <a:srgbClr val="76B900"/>
                </a:solidFill>
                <a:latin typeface="NVIDIA Sans Medium"/>
              </a:rPr>
              <a:t>Matched 15 s study · 960×544 · 362 frames / 24 FPS = 15.083 s · 8 GPUs · QAD + CAKE</a:t>
            </a:r>
          </a:p>
        </p:txBody>
      </p:sp>
      <p:graphicFrame>
        <p:nvGraphicFramePr>
          <p:cNvPr id="13" name="Measured QAD systems optimization sequence"/>
          <p:cNvGraphicFramePr>
            <a:graphicFrameLocks noGrp="1"/>
          </p:cNvGraphicFramePr>
          <p:nvPr/>
        </p:nvGraphicFramePr>
        <p:xfrm>
          <a:off x="1828800" y="9144000"/>
          <a:ext cx="32918400" cy="7360920"/>
        </p:xfrm>
        <a:graphic>
          <a:graphicData uri="http://schemas.openxmlformats.org/drawingml/2006/table">
            <a:tbl>
              <a:tblPr>
                <a:tableStyleId>{5C22544A-7EE6-4342-B048-85BDC9FD1C3A}</a:tableStyleId>
              </a:tblPr>
              <a:tblGrid>
                <a:gridCol w="9692640"/>
                <a:gridCol w="15544800"/>
                <a:gridCol w="4206240"/>
                <a:gridCol w="3474720"/>
              </a:tblGrid>
              <a:tr h="1051560">
                <a:tc>
                  <a:txBody>
                    <a:bodyPr/>
                    <a:lstStyle/>
                    <a:p>
                      <a:pPr algn="l">
                        <a:lnSpc>
                          <a:spcPct val="100000"/>
                        </a:lnSpc>
                        <a:spcBef>
                          <a:spcPts val="0"/>
                        </a:spcBef>
                        <a:spcAft>
                          <a:spcPts val="0"/>
                        </a:spcAft>
                      </a:pPr>
                      <a:r>
                        <a:rPr lang="en-US" sz="3600" b="0" kern="1200" dirty="0">
                          <a:solidFill>
                            <a:srgbClr val="76B900"/>
                          </a:solidFill>
                          <a:latin typeface="NVIDIA Sans Medium"/>
                        </a:rPr>
                        <a:t>Cumulative Stage</a:t>
                      </a:r>
                      <a:endParaRPr lang="en-US" sz="4400" b="0" kern="1200" dirty="0">
                        <a:solidFill>
                          <a:schemeClr val="accent1"/>
                        </a:solidFill>
                        <a:latin typeface="+mj-lt"/>
                        <a:ea typeface="+mn-ea"/>
                        <a:cs typeface="NVIDIA Sans" panose="020B0503020203020204" pitchFamily="34" charset="0"/>
                      </a:endParaRPr>
                    </a:p>
                  </a:txBody>
                  <a:tcPr marL="164592" marR="164592" marT="109728" marB="109728"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p>
                      <a:pPr algn="l">
                        <a:lnSpc>
                          <a:spcPct val="100000"/>
                        </a:lnSpc>
                        <a:spcBef>
                          <a:spcPts val="0"/>
                        </a:spcBef>
                        <a:spcAft>
                          <a:spcPts val="0"/>
                        </a:spcAft>
                      </a:pPr>
                      <a:r>
                        <a:rPr lang="en-US" sz="3600" b="0" kern="1200" dirty="0">
                          <a:solidFill>
                            <a:srgbClr val="76B900"/>
                          </a:solidFill>
                          <a:latin typeface="NVIDIA Sans Medium"/>
                        </a:rPr>
                        <a:t>What Changes</a:t>
                      </a:r>
                      <a:endParaRPr lang="en-US" sz="4400" b="0" kern="1200" dirty="0">
                        <a:solidFill>
                          <a:schemeClr val="accent1"/>
                        </a:solidFill>
                        <a:latin typeface="+mj-lt"/>
                        <a:ea typeface="+mn-ea"/>
                        <a:cs typeface="NVIDIA Sans" panose="020B0503020203020204" pitchFamily="34" charset="0"/>
                      </a:endParaRPr>
                    </a:p>
                  </a:txBody>
                  <a:tcPr marL="164592" marR="164592" marT="109728" marB="109728"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p>
                      <a:pPr algn="r">
                        <a:lnSpc>
                          <a:spcPct val="100000"/>
                        </a:lnSpc>
                        <a:spcBef>
                          <a:spcPts val="0"/>
                        </a:spcBef>
                        <a:spcAft>
                          <a:spcPts val="0"/>
                        </a:spcAft>
                      </a:pPr>
                      <a:r>
                        <a:rPr lang="en-US" sz="3600" b="0" kern="1200" dirty="0">
                          <a:solidFill>
                            <a:srgbClr val="76B900"/>
                          </a:solidFill>
                          <a:latin typeface="NVIDIA Sans Medium"/>
                        </a:rPr>
                        <a:t>E2E (s)</a:t>
                      </a:r>
                      <a:endParaRPr lang="en-US" sz="4400" b="0" kern="1200" dirty="0">
                        <a:solidFill>
                          <a:schemeClr val="accent1"/>
                        </a:solidFill>
                        <a:latin typeface="+mj-lt"/>
                        <a:ea typeface="+mn-ea"/>
                        <a:cs typeface="NVIDIA Sans" panose="020B0503020203020204" pitchFamily="34" charset="0"/>
                      </a:endParaRPr>
                    </a:p>
                  </a:txBody>
                  <a:tcPr marL="164592" marR="164592" marT="109728" marB="109728"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p>
                      <a:pPr algn="r">
                        <a:lnSpc>
                          <a:spcPct val="100000"/>
                        </a:lnSpc>
                        <a:spcBef>
                          <a:spcPts val="0"/>
                        </a:spcBef>
                        <a:spcAft>
                          <a:spcPts val="0"/>
                        </a:spcAft>
                      </a:pPr>
                      <a:r>
                        <a:rPr lang="en-US" sz="3600" b="0" kern="1200" dirty="0">
                          <a:solidFill>
                            <a:srgbClr val="76B900"/>
                          </a:solidFill>
                          <a:latin typeface="NVIDIA Sans Medium"/>
                        </a:rPr>
                        <a:t>RTF</a:t>
                      </a:r>
                      <a:endParaRPr lang="en-US" sz="4400" b="0" kern="1200" dirty="0">
                        <a:solidFill>
                          <a:schemeClr val="accent1"/>
                        </a:solidFill>
                        <a:latin typeface="+mj-lt"/>
                        <a:ea typeface="+mn-ea"/>
                        <a:cs typeface="NVIDIA Sans" panose="020B0503020203020204" pitchFamily="34" charset="0"/>
                      </a:endParaRPr>
                    </a:p>
                  </a:txBody>
                  <a:tcPr marL="164592" marR="164592" marT="109728" marB="109728" anchor="ctr">
                    <a:solidFill>
                      <a:srgbClr val="FFFFFF"/>
                    </a:solidFill>
                    <a:lnL>
                      <a:noFill/>
                    </a:lnL>
                    <a:lnR>
                      <a:noFill/>
                    </a:lnR>
                    <a:lnT>
                      <a:noFill/>
                    </a:lnT>
                    <a:lnB w="19050">
                      <a:solidFill>
                        <a:srgbClr val="A7A7A7"/>
                      </a:solidFill>
                      <a:prstDash val="solid"/>
                      <a:headEnd type="none" w="med" len="med"/>
                      <a:tailEnd type="none" w="med" len="med"/>
                    </a:lnB>
                  </a:tcPr>
                </a:tc>
              </a:tr>
              <a:tr h="1051560">
                <a:tc>
                  <a:txBody>
                    <a:bodyPr/>
                    <a:lstStyle/>
                    <a:p>
                      <a:pPr algn="l">
                        <a:lnSpc>
                          <a:spcPct val="100000"/>
                        </a:lnSpc>
                        <a:spcBef>
                          <a:spcPts val="0"/>
                        </a:spcBef>
                        <a:spcAft>
                          <a:spcPts val="0"/>
                        </a:spcAft>
                      </a:pPr>
                      <a:r>
                        <a:rPr lang="en-US" sz="2800" dirty="0" b="0">
                          <a:solidFill>
                            <a:srgbClr val="000000"/>
                          </a:solidFill>
                          <a:latin typeface="NVIDIA Sans Medium"/>
                        </a:rPr>
                        <a:t>QAD + VSA + NCCL control</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l">
                        <a:lnSpc>
                          <a:spcPct val="100000"/>
                        </a:lnSpc>
                        <a:spcBef>
                          <a:spcPts val="0"/>
                        </a:spcBef>
                        <a:spcAft>
                          <a:spcPts val="0"/>
                        </a:spcAft>
                      </a:pPr>
                      <a:r>
                        <a:rPr lang="en-US" sz="2800" dirty="0" b="0">
                          <a:solidFill>
                            <a:srgbClr val="000000"/>
                          </a:solidFill>
                          <a:latin typeface="NVIDIA Sans"/>
                        </a:rPr>
                        <a:t>Eight-step NVFP4 student; original communication</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17.681</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1.172</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r>
              <a:tr h="1051560">
                <a:tc>
                  <a:txBody>
                    <a:bodyPr/>
                    <a:lstStyle/>
                    <a:p>
                      <a:pPr algn="l">
                        <a:lnSpc>
                          <a:spcPct val="100000"/>
                        </a:lnSpc>
                        <a:spcBef>
                          <a:spcPts val="0"/>
                        </a:spcBef>
                        <a:spcAft>
                          <a:spcPts val="0"/>
                        </a:spcAft>
                      </a:pPr>
                      <a:r>
                        <a:rPr lang="en-US" sz="2800" dirty="0" b="0">
                          <a:solidFill>
                            <a:srgbClr val="000000"/>
                          </a:solidFill>
                          <a:latin typeface="NVIDIA Sans Medium"/>
                        </a:rPr>
                        <a:t>RDMA + direct layout</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a:noFill/>
                    </a:lnB>
                  </a:tcPr>
                </a:tc>
                <a:tc>
                  <a:txBody>
                    <a:bodyPr/>
                    <a:lstStyle/>
                    <a:p>
                      <a:pPr algn="l">
                        <a:lnSpc>
                          <a:spcPct val="100000"/>
                        </a:lnSpc>
                        <a:spcBef>
                          <a:spcPts val="0"/>
                        </a:spcBef>
                        <a:spcAft>
                          <a:spcPts val="0"/>
                        </a:spcAft>
                      </a:pPr>
                      <a:r>
                        <a:rPr lang="en-US" sz="2800" dirty="0" b="0">
                          <a:solidFill>
                            <a:srgbClr val="000000"/>
                          </a:solidFill>
                          <a:latin typeface="NVIDIA Sans"/>
                        </a:rPr>
                        <a:t>Reduce Ulysses exchange and layout overhead</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16.250</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1.077</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a:noFill/>
                    </a:lnB>
                  </a:tcPr>
                </a:tc>
              </a:tr>
              <a:tr h="1051560">
                <a:tc>
                  <a:txBody>
                    <a:bodyPr/>
                    <a:lstStyle/>
                    <a:p>
                      <a:pPr algn="l">
                        <a:lnSpc>
                          <a:spcPct val="100000"/>
                        </a:lnSpc>
                        <a:spcBef>
                          <a:spcPts val="0"/>
                        </a:spcBef>
                        <a:spcAft>
                          <a:spcPts val="0"/>
                        </a:spcAft>
                      </a:pPr>
                      <a:r>
                        <a:rPr lang="en-US" sz="2800" dirty="0" b="0">
                          <a:solidFill>
                            <a:srgbClr val="000000"/>
                          </a:solidFill>
                          <a:latin typeface="NVIDIA Sans Medium"/>
                        </a:rPr>
                        <a:t>V / gate overlap</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l">
                        <a:lnSpc>
                          <a:spcPct val="100000"/>
                        </a:lnSpc>
                        <a:spcBef>
                          <a:spcPts val="0"/>
                        </a:spcBef>
                        <a:spcAft>
                          <a:spcPts val="0"/>
                        </a:spcAft>
                      </a:pPr>
                      <a:r>
                        <a:rPr lang="en-US" sz="2800" dirty="0" b="0">
                          <a:solidFill>
                            <a:srgbClr val="000000"/>
                          </a:solidFill>
                          <a:latin typeface="NVIDIA Sans"/>
                        </a:rPr>
                        <a:t>Overlap eligible work with communication</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15.624</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1.036</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r>
              <a:tr h="1051560">
                <a:tc>
                  <a:txBody>
                    <a:bodyPr/>
                    <a:lstStyle/>
                    <a:p>
                      <a:pPr algn="l">
                        <a:lnSpc>
                          <a:spcPct val="100000"/>
                        </a:lnSpc>
                        <a:spcBef>
                          <a:spcPts val="0"/>
                        </a:spcBef>
                        <a:spcAft>
                          <a:spcPts val="0"/>
                        </a:spcAft>
                      </a:pPr>
                      <a:r>
                        <a:rPr lang="en-US" sz="2800" dirty="0" b="0">
                          <a:solidFill>
                            <a:srgbClr val="000000"/>
                          </a:solidFill>
                          <a:latin typeface="NVIDIA Sans Medium"/>
                        </a:rPr>
                        <a:t>NCCL IB route enabled</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a:noFill/>
                    </a:lnB>
                  </a:tcPr>
                </a:tc>
                <a:tc>
                  <a:txBody>
                    <a:bodyPr/>
                    <a:lstStyle/>
                    <a:p>
                      <a:pPr algn="l">
                        <a:lnSpc>
                          <a:spcPct val="100000"/>
                        </a:lnSpc>
                        <a:spcBef>
                          <a:spcPts val="0"/>
                        </a:spcBef>
                        <a:spcAft>
                          <a:spcPts val="0"/>
                        </a:spcAft>
                      </a:pPr>
                      <a:r>
                        <a:rPr lang="en-US" sz="2800" dirty="0" b="0">
                          <a:solidFill>
                            <a:srgbClr val="000000"/>
                          </a:solidFill>
                          <a:latin typeface="NVIDIA Sans"/>
                        </a:rPr>
                        <a:t>Use the network route for remaining collectives</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15.532</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1.030</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a:noFill/>
                    </a:lnB>
                  </a:tcPr>
                </a:tc>
              </a:tr>
              <a:tr h="1051560">
                <a:tc>
                  <a:txBody>
                    <a:bodyPr/>
                    <a:lstStyle/>
                    <a:p>
                      <a:pPr algn="l">
                        <a:lnSpc>
                          <a:spcPct val="100000"/>
                        </a:lnSpc>
                        <a:spcBef>
                          <a:spcPts val="0"/>
                        </a:spcBef>
                        <a:spcAft>
                          <a:spcPts val="0"/>
                        </a:spcAft>
                      </a:pPr>
                      <a:r>
                        <a:rPr lang="en-US" sz="2800" dirty="0" b="0">
                          <a:solidFill>
                            <a:srgbClr val="000000"/>
                          </a:solidFill>
                          <a:latin typeface="NVIDIA Sans Medium"/>
                        </a:rPr>
                        <a:t>MP4 pre-encode pipeline</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l">
                        <a:lnSpc>
                          <a:spcPct val="100000"/>
                        </a:lnSpc>
                        <a:spcBef>
                          <a:spcPts val="0"/>
                        </a:spcBef>
                        <a:spcAft>
                          <a:spcPts val="0"/>
                        </a:spcAft>
                      </a:pPr>
                      <a:r>
                        <a:rPr lang="en-US" sz="2800" dirty="0" b="0">
                          <a:solidFill>
                            <a:srgbClr val="000000"/>
                          </a:solidFill>
                          <a:latin typeface="NVIDIA Sans"/>
                        </a:rPr>
                        <a:t>Overlap output encoding with generation</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14.973</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c>
                  <a:txBody>
                    <a:bodyPr/>
                    <a:lstStyle/>
                    <a:p>
                      <a:pPr algn="r">
                        <a:lnSpc>
                          <a:spcPct val="100000"/>
                        </a:lnSpc>
                        <a:spcBef>
                          <a:spcPts val="0"/>
                        </a:spcBef>
                        <a:spcAft>
                          <a:spcPts val="0"/>
                        </a:spcAft>
                      </a:pPr>
                      <a:r>
                        <a:rPr lang="en-US" sz="2800" dirty="0" b="0">
                          <a:solidFill>
                            <a:srgbClr val="000000"/>
                          </a:solidFill>
                          <a:latin typeface="NVIDIA Sans"/>
                        </a:rPr>
                        <a:t>0.993</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FFFFF"/>
                    </a:solidFill>
                    <a:lnL>
                      <a:noFill/>
                    </a:lnL>
                    <a:lnR>
                      <a:noFill/>
                    </a:lnR>
                    <a:lnT>
                      <a:noFill/>
                    </a:lnT>
                    <a:lnB>
                      <a:noFill/>
                    </a:lnB>
                  </a:tcPr>
                </a:tc>
              </a:tr>
              <a:tr h="1051560">
                <a:tc>
                  <a:txBody>
                    <a:bodyPr/>
                    <a:lstStyle/>
                    <a:p>
                      <a:pPr algn="l">
                        <a:lnSpc>
                          <a:spcPct val="100000"/>
                        </a:lnSpc>
                        <a:spcBef>
                          <a:spcPts val="0"/>
                        </a:spcBef>
                        <a:spcAft>
                          <a:spcPts val="0"/>
                        </a:spcAft>
                      </a:pPr>
                      <a:r>
                        <a:rPr lang="en-US" sz="2800" dirty="0" b="0">
                          <a:solidFill>
                            <a:srgbClr val="000000"/>
                          </a:solidFill>
                          <a:latin typeface="NVIDIA Sans Medium"/>
                        </a:rPr>
                        <a:t>Production confirmation</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p>
                      <a:pPr algn="l">
                        <a:lnSpc>
                          <a:spcPct val="100000"/>
                        </a:lnSpc>
                        <a:spcBef>
                          <a:spcPts val="0"/>
                        </a:spcBef>
                        <a:spcAft>
                          <a:spcPts val="0"/>
                        </a:spcAft>
                      </a:pPr>
                      <a:r>
                        <a:rPr lang="en-US" sz="2800" dirty="0" b="0">
                          <a:solidFill>
                            <a:srgbClr val="000000"/>
                          </a:solidFill>
                          <a:latin typeface="NVIDIA Sans"/>
                        </a:rPr>
                        <a:t>Synchronized stage profiler disabled</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p>
                      <a:pPr algn="r">
                        <a:lnSpc>
                          <a:spcPct val="100000"/>
                        </a:lnSpc>
                        <a:spcBef>
                          <a:spcPts val="0"/>
                        </a:spcBef>
                        <a:spcAft>
                          <a:spcPts val="0"/>
                        </a:spcAft>
                      </a:pPr>
                      <a:r>
                        <a:rPr lang="en-US" sz="2800" dirty="0" b="0">
                          <a:solidFill>
                            <a:srgbClr val="000000"/>
                          </a:solidFill>
                          <a:latin typeface="NVIDIA Sans"/>
                        </a:rPr>
                        <a:t>14.974</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p>
                      <a:pPr algn="r">
                        <a:lnSpc>
                          <a:spcPct val="100000"/>
                        </a:lnSpc>
                        <a:spcBef>
                          <a:spcPts val="0"/>
                        </a:spcBef>
                        <a:spcAft>
                          <a:spcPts val="0"/>
                        </a:spcAft>
                      </a:pPr>
                      <a:r>
                        <a:rPr lang="en-US" sz="2800" dirty="0" b="0">
                          <a:solidFill>
                            <a:srgbClr val="000000"/>
                          </a:solidFill>
                          <a:latin typeface="NVIDIA Sans"/>
                        </a:rPr>
                        <a:t>0.993</a:t>
                      </a:r>
                      <a:endParaRPr lang="en-US" sz="3200" dirty="0">
                        <a:solidFill>
                          <a:schemeClr val="tx1"/>
                        </a:solidFill>
                        <a:latin typeface="+mn-lt"/>
                        <a:cs typeface="NVIDIA Sans" panose="020B0503020203020204" pitchFamily="34" charset="0"/>
                      </a:endParaRPr>
                    </a:p>
                  </a:txBody>
                  <a:tcPr marL="164592" marR="164592" marT="109728" marB="109728" anchor="ctr">
                    <a:solidFill>
                      <a:srgbClr val="F7F7F7"/>
                    </a:solidFill>
                    <a:lnL>
                      <a:noFill/>
                    </a:lnL>
                    <a:lnR>
                      <a:noFill/>
                    </a:lnR>
                    <a:lnT>
                      <a:noFill/>
                    </a:lnT>
                    <a:lnB w="19050">
                      <a:solidFill>
                        <a:srgbClr val="A7A7A7"/>
                      </a:solidFill>
                      <a:prstDash val="solid"/>
                      <a:headEnd type="none" w="med" len="med"/>
                      <a:tailEnd type="none" w="med" len="med"/>
                    </a:lnB>
                  </a:tcPr>
                </a:tc>
              </a:tr>
            </a:tbl>
          </a:graphicData>
        </a:graphic>
      </p:graphicFrame>
      <p:sp>
        <p:nvSpPr>
          <p:cNvPr id="14" name="Final: 14.974 s &lt; 15.083 s of media · RTF 0.993 · 15.3% less time than the QAD NCCL control"/>
          <p:cNvSpPr txBox="1"/>
          <p:nvPr/>
        </p:nvSpPr>
        <p:spPr>
          <a:xfrm>
            <a:off x="1828800" y="17053560"/>
            <a:ext cx="32918400" cy="868680"/>
          </a:xfrm>
          <a:prstGeom prst="rect">
            <a:avLst/>
          </a:prstGeom>
          <a:noFill/>
        </p:spPr>
        <p:txBody>
          <a:bodyPr wrap="square" lIns="0" rIns="0" tIns="0" bIns="0">
            <a:spAutoFit/>
          </a:bodyPr>
          <a:lstStyle/>
          <a:p>
            <a:pPr algn="ctr">
              <a:lnSpc>
                <a:spcPct val="112000"/>
              </a:lnSpc>
              <a:spcBef>
                <a:spcPts val="0"/>
              </a:spcBef>
              <a:spcAft>
                <a:spcPts val="0"/>
              </a:spcAft>
            </a:pPr>
            <a:r>
              <a:rPr sz="3300" b="1">
                <a:solidFill>
                  <a:srgbClr val="76B900"/>
                </a:solidFill>
                <a:latin typeface="NVIDIA Sans Medium"/>
              </a:rPr>
              <a:t>Final: 14.974 s &lt; 15.083 s of media · RTF 0.993 · 15.3% less time than the QAD NCCL control</a:t>
            </a:r>
          </a:p>
        </p:txBody>
      </p:sp>
      <p:sp>
        <p:nvSpPr>
          <p:cNvPr id="15" name="Historical CAKE route; this is not an eight-GPU result for the optimized native FP4 variant on slide 11."/>
          <p:cNvSpPr txBox="1"/>
          <p:nvPr/>
        </p:nvSpPr>
        <p:spPr>
          <a:xfrm>
            <a:off x="1828800" y="18105120"/>
            <a:ext cx="32918400" cy="91440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Historical CAKE route; this is not an eight-GPU result for the optimized native FP4 variant on slide 11.</a:t>
            </a:r>
          </a:p>
          <a:p>
            <a:pPr algn="ctr">
              <a:lnSpc>
                <a:spcPct val="112000"/>
              </a:lnSpc>
              <a:spcBef>
                <a:spcPts val="0"/>
              </a:spcBef>
              <a:spcAft>
                <a:spcPts val="0"/>
              </a:spcAft>
            </a:pPr>
            <a:r>
              <a:rPr sz="2500" b="0">
                <a:solidFill>
                  <a:srgbClr val="313131"/>
                </a:solidFill>
                <a:latin typeface="NVIDIA Sans"/>
              </a:rPr>
              <a:t>The newer 2 / 3 / 2 head pipeline and CUDA Graph results are component tests and are not included here.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