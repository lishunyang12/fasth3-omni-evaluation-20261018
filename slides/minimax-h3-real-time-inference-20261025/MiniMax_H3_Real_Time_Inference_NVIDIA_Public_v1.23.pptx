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61" r:id="rId45"/>
    <p:sldId id="356" r:id="rId98"/>
    <p:sldId id="362" r:id="rId46"/>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7.xml"/><Relationship Id="rId46" Type="http://schemas.openxmlformats.org/officeDocument/2006/relationships/slide" Target="slides/slide2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1" Type="http://schemas.openxmlformats.org/officeDocument/2006/relationships/slide" Target="slides/slide10.xml"/><Relationship Id="rId92" Type="http://schemas.openxmlformats.org/officeDocument/2006/relationships/slide" Target="slides/slide11.xml"/><Relationship Id="rId93" Type="http://schemas.openxmlformats.org/officeDocument/2006/relationships/slide" Target="slides/slide12.xml"/><Relationship Id="rId94" Type="http://schemas.openxmlformats.org/officeDocument/2006/relationships/slide" Target="slides/slide13.xml"/><Relationship Id="rId95" Type="http://schemas.openxmlformats.org/officeDocument/2006/relationships/slide" Target="slides/slide14.xml"/><Relationship Id="rId96" Type="http://schemas.openxmlformats.org/officeDocument/2006/relationships/slide" Target="slides/slide15.xml"/><Relationship Id="rId97" Type="http://schemas.openxmlformats.org/officeDocument/2006/relationships/slide" Target="slides/slide16.xml"/><Relationship Id="rId98" Type="http://schemas.openxmlformats.org/officeDocument/2006/relationships/slide" Target="slides/slide18.xml"/><Relationship Id="rId99" Type="http://schemas.openxmlformats.org/officeDocument/2006/relationships/slide" Target="slides/slide19.xml"/><Relationship Id="rId100" Type="http://schemas.openxmlformats.org/officeDocument/2006/relationships/slide" Target="slides/slide20.xml"/><Relationship Id="rId101" Type="http://schemas.openxmlformats.org/officeDocument/2006/relationships/slide" Target="slides/slide21.xml"/><Relationship Id="rId102" Type="http://schemas.openxmlformats.org/officeDocument/2006/relationships/slide" Target="slides/slide2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xGMI installed link configuration unavailable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15</a:t>
            </a:fld>
            <a:endParaRPr lang="en-US"/>
          </a:p>
        </p:txBody>
      </p:sp>
      <p:pic>
        <p:nvPicPr>
          <p:cNvPr id="9" name="Topology with separately identified PCIe and network capacities" descr="topology-bandwidth.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1828801" y="4800600"/>
            <a:ext cx="32918397" cy="13167359"/>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1243584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also shares xGMI</a:t>
            </a:r>
          </a:p>
          <a:p>
            <a:pPr lvl="1" algn="l"/>
            <a:r>
              <a:rPr b="0">
                <a:solidFill>
                  <a:srgbClr val="313131"/>
                </a:solidFill>
                <a:latin typeface="NVIDIA Sans"/>
              </a:rPr>
              <a:t>4 × B × 4/7 ≤ C  →  B ≤ 7C/16</a:t>
            </a:r>
          </a:p>
          <a:p>
            <a:pPr lvl="1" algn="l"/>
            <a:r>
              <a:rPr b="0">
                <a:solidFill>
                  <a:srgbClr val="313131"/>
                </a:solidFill>
                <a:latin typeface="NVIDIA Sans"/>
              </a:rPr>
              <a:t>Local-path ceiling: min(36.8, 7C/16)</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9" name="Bandwidth comparison scope"/>
          <p:cNvSpPr>
            <a:spLocks noGrp="1"/>
          </p:cNvSpPr>
          <p:nvPr>
            <p:ph type="body" idx="52" sz="quarter"/>
          </p:nvPr>
        </p:nvSpPr>
        <p:spPr>
          <a:xfrm>
            <a:off x="17922240" y="17190720"/>
            <a:ext cx="16824960" cy="1234440"/>
          </a:xfrm>
        </p:spPr>
        <p:txBody>
          <a:bodyPr/>
          <a:lstStyle/>
          <a:p>
            <a:r>
              <a:t>2.33–2.47× measured communication speedup
Includes layout, allocation and scheduling</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usable xGMI bandwidth
Necessary link bounds; SHM and software add costs</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20</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303520"/>
            <a:ext cx="15727680" cy="12801600"/>
          </a:xfrm>
        </p:spPr>
        <p:txBody>
          <a:bodyPr wrap="square" lIns="0" rIns="0" tIns="0" bIns="0"/>
          <a:lstStyle/>
          <a:p>
            <a:pPr algn="l"/>
            <a:r>
              <a:rPr b="1">
                <a:solidFill>
                  <a:srgbClr val="76B900"/>
                </a:solidFill>
                <a:latin typeface="NVIDIA Sans Medium"/>
              </a:rPr>
              <a:t>Measured benefit</a:t>
            </a:r>
          </a:p>
          <a:p>
            <a:pPr lvl="1" algn="l"/>
            <a:r>
              <a:rPr b="0">
                <a:solidFill>
                  <a:srgbClr val="313131"/>
                </a:solidFill>
                <a:latin typeface="NVIDIA Sans"/>
              </a:rPr>
              <a:t>2.33–2.47× faster Q/K/V/O exchanges</a:t>
            </a:r>
          </a:p>
          <a:p>
            <a:pPr lvl="1" algn="l"/>
            <a:r>
              <a:rPr b="0">
                <a:solidFill>
                  <a:srgbClr val="313131"/>
                </a:solidFill>
                <a:latin typeface="NVIDIA Sans"/>
              </a:rPr>
              <a:t>17.0–18.3 → 39.9–42.7 GB/s/GPU</a:t>
            </a:r>
          </a:p>
          <a:p>
            <a:pPr lvl="1" algn="l"/>
            <a:r>
              <a:rPr b="0">
                <a:solidFill>
                  <a:srgbClr val="313131"/>
                </a:solidFill>
                <a:latin typeface="NVIDIA Sans"/>
              </a:rPr>
              <a:t>Three sequence lengths; exact output checks</a:t>
            </a:r>
          </a:p>
          <a:p>
            <a:pPr algn="l"/>
            <a:r>
              <a:rPr b="1">
                <a:solidFill>
                  <a:srgbClr val="76B900"/>
                </a:solidFill>
                <a:latin typeface="NVIDIA Sans Medium"/>
              </a:rPr>
              <a:t>Topology explains the opportunity</a:t>
            </a:r>
          </a:p>
          <a:p>
            <a:pPr lvl="1" algn="l"/>
            <a:r>
              <a:rPr b="0">
                <a:solidFill>
                  <a:srgbClr val="313131"/>
                </a:solidFill>
                <a:latin typeface="NVIDIA Sans"/>
              </a:rPr>
              <a:t>Local NCCL: one P2P peer, six SHM peers</a:t>
            </a:r>
          </a:p>
          <a:p>
            <a:pPr lvl="1" algn="l"/>
            <a:r>
              <a:rPr b="0">
                <a:solidFill>
                  <a:srgbClr val="313131"/>
                </a:solidFill>
                <a:latin typeface="NVIDIA Sans"/>
              </a:rPr>
              <a:t>FI RDMA: one nearest 400G port per GPU</a:t>
            </a:r>
          </a:p>
          <a:p>
            <a:pPr lvl="1" algn="l"/>
            <a:r>
              <a:rPr b="0">
                <a:solidFill>
                  <a:srgbClr val="313131"/>
                </a:solidFill>
                <a:latin typeface="NVIDIA Sans"/>
              </a:rPr>
              <a:t>Payload bypasses shared CPU uplinks and host buffers</a:t>
            </a:r>
          </a:p>
        </p:txBody>
      </p:sp>
      <p:sp>
        <p:nvSpPr>
          <p:cNvPr id="3" name="Text Placeholder 2"/>
          <p:cNvSpPr>
            <a:spLocks noGrp="1"/>
          </p:cNvSpPr>
          <p:nvPr>
            <p:ph type="body" idx="14" sz="quarter"/>
          </p:nvPr>
        </p:nvSpPr>
        <p:spPr/>
        <p:txBody>
          <a:bodyPr/>
          <a:lstStyle/>
          <a:p>
            <a:r>
              <a:t>Use GPU-affine FI RDMA for the tested eight-GPU configuration</a:t>
            </a:r>
          </a:p>
        </p:txBody>
      </p:sp>
      <p:sp>
        <p:nvSpPr>
          <p:cNvPr id="4" name="Title 3"/>
          <p:cNvSpPr>
            <a:spLocks noGrp="1"/>
          </p:cNvSpPr>
          <p:nvPr>
            <p:ph type="title"/>
          </p:nvPr>
        </p:nvSpPr>
        <p:spPr/>
        <p:txBody>
          <a:bodyPr/>
          <a:lstStyle/>
          <a:p>
            <a:r>
              <a:t>Ulysses Communication: Conclusion</a:t>
            </a:r>
          </a:p>
        </p:txBody>
      </p:sp>
      <p:sp>
        <p:nvSpPr>
          <p:cNvPr id="5" name="Communication interpretation and next step"/>
          <p:cNvSpPr>
            <a:spLocks noGrp="1"/>
          </p:cNvSpPr>
          <p:nvPr>
            <p:ph type="body" idx="13" sz="quarter"/>
          </p:nvPr>
        </p:nvSpPr>
        <p:spPr>
          <a:xfrm>
            <a:off x="19202400" y="5303520"/>
            <a:ext cx="15544800" cy="12801600"/>
          </a:xfrm>
        </p:spPr>
        <p:txBody>
          <a:bodyPr wrap="square" lIns="0" rIns="0" tIns="0" bIns="0"/>
          <a:lstStyle/>
          <a:p>
            <a:pPr algn="l"/>
            <a:r>
              <a:rPr b="1">
                <a:solidFill>
                  <a:srgbClr val="76B900"/>
                </a:solidFill>
                <a:latin typeface="NVIDIA Sans Medium"/>
              </a:rPr>
              <a:t>Scope of the measured gain</a:t>
            </a:r>
          </a:p>
          <a:p>
            <a:pPr lvl="1" algn="l"/>
            <a:r>
              <a:rPr b="0">
                <a:solidFill>
                  <a:srgbClr val="313131"/>
                </a:solidFill>
                <a:latin typeface="NVIDIA Sans"/>
              </a:rPr>
              <a:t>Comparison includes transport, layout, allocation and scheduling</a:t>
            </a:r>
          </a:p>
          <a:p>
            <a:pPr lvl="1" algn="l"/>
            <a:r>
              <a:rPr b="0">
                <a:solidFill>
                  <a:srgbClr val="313131"/>
                </a:solidFill>
                <a:latin typeface="NVIDIA Sans"/>
              </a:rPr>
              <a:t>PCIe versus xGMI saturation is not isolated</a:t>
            </a:r>
          </a:p>
          <a:p>
            <a:pPr lvl="1" algn="l"/>
            <a:r>
              <a:rPr b="0">
                <a:solidFill>
                  <a:srgbClr val="313131"/>
                </a:solidFill>
                <a:latin typeface="NVIDIA Sans"/>
              </a:rPr>
              <a:t>CPU remote reads do not establish GPU-path capacity</a:t>
            </a:r>
          </a:p>
          <a:p>
            <a:pPr algn="l"/>
            <a:r>
              <a:rPr b="1">
                <a:solidFill>
                  <a:srgbClr val="76B900"/>
                </a:solidFill>
                <a:latin typeface="NVIDIA Sans Medium"/>
              </a:rPr>
              <a:t>Next optimization</a:t>
            </a:r>
          </a:p>
          <a:p>
            <a:pPr lvl="1" algn="l"/>
            <a:r>
              <a:rPr b="0">
                <a:solidFill>
                  <a:srgbClr val="313131"/>
                </a:solidFill>
                <a:latin typeface="NVIDIA Sans"/>
              </a:rPr>
              <a:t>Produce directly into registered RDMA buffers</a:t>
            </a:r>
          </a:p>
          <a:p>
            <a:pPr lvl="1" algn="l"/>
            <a:r>
              <a:rPr b="0">
                <a:solidFill>
                  <a:srgbClr val="313131"/>
                </a:solidFill>
                <a:latin typeface="NVIDIA Sans"/>
              </a:rPr>
              <a:t>Validate overlap and full H3 end-to-end impact</a:t>
            </a:r>
          </a:p>
        </p:txBody>
      </p:sp>
      <p:sp>
        <p:nvSpPr>
          <p:cNvPr id="6"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Controlled local-NCCL comparison · communication speedup only · full-model benefit requires matched E2E validation</a:t>
            </a:r>
            <a:endParaRPr lang="en-US" dirty="0"/>
          </a:p>
        </p:txBody>
      </p:sp>
      <p:sp>
        <p:nvSpPr>
          <p:cNvPr id="7"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