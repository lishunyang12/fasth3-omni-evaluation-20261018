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"schema": 1,</a:t>
            </a:r>
          </a:p>
          <a:p>
            <a:r>
              <a:t>  "baseline": "Historical Base50 with default AdaLN offload",</a:t>
            </a:r>
          </a:p>
          <a:p>
            <a:r>
              <a:t>  "configuration": {</a:t>
            </a:r>
          </a:p>
          <a:p>
            <a:r>
              <a:t>    "task": "ref2va",</a:t>
            </a:r>
          </a:p>
          <a:p>
            <a:r>
              <a:t>    "width": 960,</a:t>
            </a:r>
          </a:p>
          <a:p>
            <a:r>
              <a:t>    "height": 544,</a:t>
            </a:r>
          </a:p>
          <a:p>
            <a:r>
              <a:t>    "frames": 124,</a:t>
            </a:r>
          </a:p>
          <a:p>
            <a:r>
              <a:t>    "fps": 24,</a:t>
            </a:r>
          </a:p>
          <a:p>
            <a:r>
              <a:t>    "clip_seconds": 5.166666666666667,</a:t>
            </a:r>
          </a:p>
          <a:p>
            <a:r>
              <a:t>    "steps": 50,</a:t>
            </a:r>
          </a:p>
          <a:p>
            <a:r>
              <a:t>    "seed": 43,</a:t>
            </a:r>
          </a:p>
          <a:p>
            <a:r>
              <a:t>    "precision": "bf16",</a:t>
            </a:r>
          </a:p>
          <a:p>
            <a:r>
              <a:t>    "attention": {</a:t>
            </a:r>
          </a:p>
          <a:p>
            <a:r>
              <a:t>      "default": {</a:t>
            </a:r>
          </a:p>
          <a:p>
            <a:r>
              <a:t>        "backend": "CUDNN_ATTN"</a:t>
            </a:r>
          </a:p>
          <a:p>
            <a:r>
              <a:t>      },</a:t>
            </a:r>
          </a:p>
          <a:p>
            <a:r>
              <a:t>      "per_role": {</a:t>
            </a:r>
          </a:p>
          <a:p>
            <a:r>
              <a:t>        "minimax_h3.token_refiner": {</a:t>
            </a:r>
          </a:p>
          <a:p>
            <a:r>
              <a:t>          "backend": "TORCH_SDPA"</a:t>
            </a:r>
          </a:p>
          <a:p>
            <a:r>
              <a:t>        }</a:t>
            </a:r>
          </a:p>
          <a:p>
            <a:r>
              <a:t>      }</a:t>
            </a:r>
          </a:p>
          <a:p>
            <a:r>
              <a:t>    },</a:t>
            </a:r>
          </a:p>
          <a:p>
            <a:r>
              <a:t>    "quantization": null,</a:t>
            </a:r>
          </a:p>
          <a:p>
            <a:r>
              <a:t>    "adapter": null,</a:t>
            </a:r>
          </a:p>
          <a:p>
            <a:r>
              <a:t>    "transport": "local NCCL",</a:t>
            </a:r>
          </a:p>
          <a:p>
            <a:r>
              <a:t>    "rdma": false,</a:t>
            </a:r>
          </a:p>
          <a:p>
            <a:r>
              <a:t>    "parallelism": "TP1/USP8/TE8/VAE-tile8",</a:t>
            </a:r>
          </a:p>
          <a:p>
            <a:r>
              <a:t>    "adaln": "exact runtime cache + default SM120 weight offload"</a:t>
            </a:r>
          </a:p>
          <a:p>
            <a:r>
              <a:t>  },</a:t>
            </a:r>
          </a:p>
          <a:p>
            <a:r>
              <a:t>  "software": {</a:t>
            </a:r>
          </a:p>
          <a:p>
            <a:r>
              <a:t>    "python": "3.12.13",</a:t>
            </a:r>
          </a:p>
          <a:p>
            <a:r>
              <a:t>    "packages": {</a:t>
            </a:r>
          </a:p>
          <a:p>
            <a:r>
              <a:t>      "torch": "2.13.0+cu132",</a:t>
            </a:r>
          </a:p>
          <a:p>
            <a:r>
              <a:t>      "torchvision": "0.28.0+cu132",</a:t>
            </a:r>
          </a:p>
          <a:p>
            <a:r>
              <a:t>      "torchaudio": "2.11.0+cpu",</a:t>
            </a:r>
          </a:p>
          <a:p>
            <a:r>
              <a:t>      "transformers": "5.14.1",</a:t>
            </a:r>
          </a:p>
          <a:p>
            <a:r>
              <a:t>      "diffusers": "0.40.0",</a:t>
            </a:r>
          </a:p>
          <a:p>
            <a:r>
              <a:t>      "vllm": "0.30.0",</a:t>
            </a:r>
          </a:p>
          <a:p>
            <a:r>
              <a:t>      "triton": "3.7.1",</a:t>
            </a:r>
          </a:p>
          <a:p>
            <a:r>
              <a:t>      "nvidia-cutlass-dsl": "4.7.1",</a:t>
            </a:r>
          </a:p>
          <a:p>
            <a:r>
              <a:t>      "cache-dit": "1.5.0",</a:t>
            </a:r>
          </a:p>
          <a:p>
            <a:r>
              <a:t>      "numpy": "2.3.5",</a:t>
            </a:r>
          </a:p>
          <a:p>
            <a:r>
              <a:t>      "fastvideo-kernel": "0.3.4",</a:t>
            </a:r>
          </a:p>
          <a:p>
            <a:r>
              <a:t>      "huggingface-hub": "1.31.0",</a:t>
            </a:r>
          </a:p>
          <a:p>
            <a:r>
              <a:t>      "quack-kernels": "0.6.5"</a:t>
            </a:r>
          </a:p>
          <a:p>
            <a:r>
              <a:t>    },</a:t>
            </a:r>
          </a:p>
          <a:p>
            <a:r>
              <a:t>    "vllm_omni_revision": "63487a7f22db603adefcdac378cfe2a26f6bcb7c"</a:t>
            </a:r>
          </a:p>
          <a:p>
            <a:r>
              <a:t>  },</a:t>
            </a:r>
          </a:p>
          <a:p>
            <a:r>
              <a:t>  "unprofiled": {</a:t>
            </a:r>
          </a:p>
          <a:p>
            <a:r>
              <a:t>    "median_seconds": 247.9563708677888,</a:t>
            </a:r>
          </a:p>
          <a:p>
            <a:r>
              <a:t>    "samples_seconds": [</a:t>
            </a:r>
          </a:p>
          <a:p>
            <a:r>
              <a:t>      247.9563708677888,</a:t>
            </a:r>
          </a:p>
          <a:p>
            <a:r>
              <a:t>      246.20054612867534,</a:t>
            </a:r>
          </a:p>
          <a:p>
            <a:r>
              <a:t>      248.29797918722034</a:t>
            </a:r>
          </a:p>
          <a:p>
            <a:r>
              <a:t>    ],</a:t>
            </a:r>
          </a:p>
          <a:p>
            <a:r>
              <a:t>    "measurement": "Client wall time through complete audiovisual MP4; initialization and warmup excluded"</a:t>
            </a:r>
          </a:p>
          <a:p>
            <a:r>
              <a:t>  },</a:t>
            </a:r>
          </a:p>
          <a:p>
            <a:r>
              <a:t>  "profiled": {</a:t>
            </a:r>
          </a:p>
          <a:p>
            <a:r>
              <a:t>    "http_seconds": 252.77305156691,</a:t>
            </a:r>
          </a:p>
          <a:p>
            <a:r>
              <a:t>    "requests": 1,</a:t>
            </a:r>
          </a:p>
          <a:p>
            <a:r>
              <a:t>    "rank0_pid": 1141029,</a:t>
            </a:r>
          </a:p>
          <a:p>
            <a:r>
              <a:t>    "cpu_nvtx_ranges": {</a:t>
            </a:r>
          </a:p>
          <a:p>
            <a:r>
              <a:t>      "forward": {</a:t>
            </a:r>
          </a:p>
          <a:p>
            <a:r>
              <a:t>        "start_ns": 110709807,</a:t>
            </a:r>
          </a:p>
          <a:p>
            <a:r>
              <a:t>        "end_ns": 252544199004,</a:t>
            </a:r>
          </a:p>
          <a:p>
            <a:r>
              <a:t>        "seconds": 252.433489197</a:t>
            </a:r>
          </a:p>
          <a:p>
            <a:r>
              <a:t>      },</a:t>
            </a:r>
          </a:p>
          <a:p>
            <a:r>
              <a:t>      "encode_prompt": {</a:t>
            </a:r>
          </a:p>
          <a:p>
            <a:r>
              <a:t>        "start_ns": 229754528,</a:t>
            </a:r>
          </a:p>
          <a:p>
            <a:r>
              <a:t>        "end_ns": 7850969309,</a:t>
            </a:r>
          </a:p>
          <a:p>
            <a:r>
              <a:t>        "seconds": 7.621214781</a:t>
            </a:r>
          </a:p>
          <a:p>
            <a:r>
              <a:t>      },</a:t>
            </a:r>
          </a:p>
          <a:p>
            <a:r>
              <a:t>      "diffuse": {</a:t>
            </a:r>
          </a:p>
          <a:p>
            <a:r>
              <a:t>        "start_ns": 8367485893,</a:t>
            </a:r>
          </a:p>
          <a:p>
            <a:r>
              <a:t>        "end_ns": 250784096775,</a:t>
            </a:r>
          </a:p>
          <a:p>
            <a:r>
              <a:t>        "seconds": 242.416610882</a:t>
            </a:r>
          </a:p>
          <a:p>
            <a:r>
              <a:t>      },</a:t>
            </a:r>
          </a:p>
          <a:p>
            <a:r>
              <a:t>      "decode": {</a:t>
            </a:r>
          </a:p>
          <a:p>
            <a:r>
              <a:t>        "start_ns": 250785370303,</a:t>
            </a:r>
          </a:p>
          <a:p>
            <a:r>
              <a:t>        "end_ns": 252516683447,</a:t>
            </a:r>
          </a:p>
          <a:p>
            <a:r>
              <a:t>        "seconds": 1.731313144</a:t>
            </a:r>
          </a:p>
          <a:p>
            <a:r>
              <a:t>      }</a:t>
            </a:r>
          </a:p>
          <a:p>
            <a:r>
              <a:t>    },</a:t>
            </a:r>
          </a:p>
          <a:p>
            <a:r>
              <a:t>    "wall_time_rows": [</a:t>
            </a:r>
          </a:p>
          <a:p>
            <a:r>
              <a:t>      {</a:t>
            </a:r>
          </a:p>
          <a:p>
            <a:r>
              <a:t>        "label": "Prompt encoding",</a:t>
            </a:r>
          </a:p>
          <a:p>
            <a:r>
              <a:t>        "seconds": 7.621214781</a:t>
            </a:r>
          </a:p>
          <a:p>
            <a:r>
              <a:t>      },</a:t>
            </a:r>
          </a:p>
          <a:p>
            <a:r>
              <a:t>      {</a:t>
            </a:r>
          </a:p>
          <a:p>
            <a:r>
              <a:t>        "label": "DiT \u00b7 50 evaluations",</a:t>
            </a:r>
          </a:p>
          <a:p>
            <a:r>
              <a:t>        "seconds": 242.416610882</a:t>
            </a:r>
          </a:p>
          <a:p>
            <a:r>
              <a:t>      },</a:t>
            </a:r>
          </a:p>
          <a:p>
            <a:r>
              <a:t>      {</a:t>
            </a:r>
          </a:p>
          <a:p>
            <a:r>
              <a:t>        "label": "Video + audio decode",</a:t>
            </a:r>
          </a:p>
          <a:p>
            <a:r>
              <a:t>        "seconds": 1.731313144</a:t>
            </a:r>
          </a:p>
          <a:p>
            <a:r>
              <a:t>      },</a:t>
            </a:r>
          </a:p>
          <a:p>
            <a:r>
              <a:t>      {</a:t>
            </a:r>
          </a:p>
          <a:p>
            <a:r>
              <a:t>        "label": "Other / uncovered work + response",</a:t>
            </a:r>
          </a:p>
          <a:p>
            <a:r>
              <a:t>        "seconds": 1.0039127599100084</a:t>
            </a:r>
          </a:p>
          <a:p>
            <a:r>
              <a:t>      }</a:t>
            </a:r>
          </a:p>
          <a:p>
            <a:r>
              <a:t>    ]</a:t>
            </a:r>
          </a:p>
          <a:p>
            <a:r>
              <a:t>  },</a:t>
            </a:r>
          </a:p>
          <a:p>
            <a:r>
              <a:t>  "gpu_accounting": {</a:t>
            </a:r>
          </a:p>
          <a:p>
            <a:r>
              <a:t>    "denominator_ns": 1999901830618,</a:t>
            </a:r>
          </a:p>
          <a:p>
            <a:r>
              <a:t>    "average_gpu_seconds": 249.98772882725,</a:t>
            </a:r>
          </a:p>
          <a:p>
            <a:r>
              <a:t>    "rows": [</a:t>
            </a:r>
          </a:p>
          <a:p>
            <a:r>
              <a:t>      {</a:t>
            </a:r>
          </a:p>
          <a:p>
            <a:r>
              <a:t>        "label": "NCCL communication",</a:t>
            </a:r>
          </a:p>
          <a:p>
            <a:r>
              <a:t>        "total_ns": 984373476694,</a:t>
            </a:r>
          </a:p>
          <a:p>
            <a:r>
              <a:t>        "mean_seconds": 123.04668458675,</a:t>
            </a:r>
          </a:p>
          <a:p>
            <a:r>
              <a:t>        "share_percent": 49.221089836685316</a:t>
            </a:r>
          </a:p>
          <a:p>
            <a:r>
              <a:t>      },</a:t>
            </a:r>
          </a:p>
          <a:p>
            <a:r>
              <a:t>      {</a:t>
            </a:r>
          </a:p>
          <a:p>
            <a:r>
              <a:t>        "label": "DiT attention + GEMM / MLP",</a:t>
            </a:r>
          </a:p>
          <a:p>
            <a:r>
              <a:t>        "total_ns": 676007192622,</a:t>
            </a:r>
          </a:p>
          <a:p>
            <a:r>
              <a:t>        "mean_seconds": 84.50089907775,</a:t>
            </a:r>
          </a:p>
          <a:p>
            <a:r>
              <a:t>        "share_percent": 33.80201879274762</a:t>
            </a:r>
          </a:p>
          <a:p>
            <a:r>
              <a:t>      },</a:t>
            </a:r>
          </a:p>
          <a:p>
            <a:r>
              <a:t>      {</a:t>
            </a:r>
          </a:p>
          <a:p>
            <a:r>
              <a:t>        "label": "AdaLN staging + device layout",</a:t>
            </a:r>
          </a:p>
          <a:p>
            <a:r>
              <a:t>        "total_ns": 307638901015,</a:t>
            </a:r>
          </a:p>
          <a:p>
            <a:r>
              <a:t>        "mean_seconds": 38.454862626875,</a:t>
            </a:r>
          </a:p>
          <a:p>
            <a:r>
              <a:t>        "share_percent": 15.38270010583144</a:t>
            </a:r>
          </a:p>
          <a:p>
            <a:r>
              <a:t>      },</a:t>
            </a:r>
          </a:p>
          <a:p>
            <a:r>
              <a:t>      {</a:t>
            </a:r>
          </a:p>
          <a:p>
            <a:r>
              <a:t>        "label": "Encoder, VAE + other GPU work",</a:t>
            </a:r>
          </a:p>
          <a:p>
            <a:r>
              <a:t>        "total_ns": 31882260287,</a:t>
            </a:r>
          </a:p>
          <a:p>
            <a:r>
              <a:t>        "mean_seconds": 3.985282535875,</a:t>
            </a:r>
          </a:p>
          <a:p>
            <a:r>
              <a:t>        "share_percent": 1.5941912647356244</a:t>
            </a:r>
          </a:p>
          <a:p>
            <a:r>
              <a:t>      }</a:t>
            </a:r>
          </a:p>
          <a:p>
            <a:r>
              <a:t>    ],</a:t>
            </a:r>
          </a:p>
          <a:p>
            <a:r>
              <a:t>    "dit_nccl_mean_seconds": 116.073690559625,</a:t>
            </a:r>
          </a:p>
          <a:p>
            <a:r>
              <a:t>    "other_nccl_mean_seconds": 6.972994027125,</a:t>
            </a:r>
          </a:p>
          <a:p>
            <a:r>
              <a:t>    "attention_mean_seconds": 45.3087766475,</a:t>
            </a:r>
          </a:p>
          <a:p>
            <a:r>
              <a:t>    "gemm_mean_seconds": 39.19212243025</a:t>
            </a:r>
          </a:p>
          <a:p>
            <a:r>
              <a:t>  },</a:t>
            </a:r>
          </a:p>
          <a:p>
            <a:r>
              <a:t>  "sources": [</a:t>
            </a:r>
          </a:p>
          <a:p>
            <a:r>
              <a:t>    {</a:t>
            </a:r>
          </a:p>
          <a:p>
            <a:r>
              <a:t>      "name": "run-base50-bf16-nccl-nsys-r2/analysis/nvtx/summary.json",</a:t>
            </a:r>
          </a:p>
          <a:p>
            <a:r>
              <a:t>      "sha256": "a8cb907bc876ef7e20beb48fdcd543ba254a6071ab272120c395c62d876f3eaa"</a:t>
            </a:r>
          </a:p>
          <a:p>
            <a:r>
              <a:t>    },</a:t>
            </a:r>
          </a:p>
          <a:p>
            <a:r>
              <a:t>    {</a:t>
            </a:r>
          </a:p>
          <a:p>
            <a:r>
              <a:t>      "name": "run-base50-bf16-nccl-nsys-r2/analysis/e2e/summary.json",</a:t>
            </a:r>
          </a:p>
          <a:p>
            <a:r>
              <a:t>      "sha256": "7ed7fc81dff11de27c30705e1dfe25a807e8bf4051e76f24822f737ace86ab72"</a:t>
            </a:r>
          </a:p>
          <a:p>
            <a:r>
              <a:t>    },</a:t>
            </a:r>
          </a:p>
          <a:p>
            <a:r>
              <a:t>    {</a:t>
            </a:r>
          </a:p>
          <a:p>
            <a:r>
              <a:t>      "name": "run-base50-bf16-nccl-nsys-r2/launch.json",</a:t>
            </a:r>
          </a:p>
          <a:p>
            <a:r>
              <a:t>      "sha256": "010d84db63397701cb0aa7775ca338574259d48c0f929de981f9a6f2f5ab190c"</a:t>
            </a:r>
          </a:p>
          <a:p>
            <a:r>
              <a:t>    },</a:t>
            </a:r>
          </a:p>
          <a:p>
            <a:r>
              <a:t>    {</a:t>
            </a:r>
          </a:p>
          <a:p>
            <a:r>
              <a:t>      "name": "run-base50-bf16-nccl-nsys-r2/environment.json",</a:t>
            </a:r>
          </a:p>
          <a:p>
            <a:r>
              <a:t>      "sha256": "25c56bb7756451fddcdf5b79887942ac8c2f6e06a33eb6b6132d4c69e19b268b"</a:t>
            </a:r>
          </a:p>
          <a:p>
            <a:r>
              <a:t>    },</a:t>
            </a:r>
          </a:p>
          <a:p>
            <a:r>
              <a:t>    {</a:t>
            </a:r>
          </a:p>
          <a:p>
            <a:r>
              <a:t>      "name": "run-base50-bf16-nccl-r4/analysis/summary.json",</a:t>
            </a:r>
          </a:p>
          <a:p>
            <a:r>
              <a:t>      "sha256": "5b6d71e67a431884733c527260d93f1b5c73cea8b151eb3e0031b938f2f82f0f"</a:t>
            </a:r>
          </a:p>
          <a:p>
            <a:r>
              <a:t>    }</a:t>
            </a:r>
          </a:p>
          <a:p>
            <a:r>
              <a:t>  ],</a:t>
            </a:r>
          </a:p>
          <a:p>
            <a:r>
              <a:t>  "trace_sqlite_sha256": "ea85dcc3b90bdec018d1532144e65c22f7ea9ea9a7bf8b43f90f24e5dcb1e365",</a:t>
            </a:r>
          </a:p>
          <a:p>
            <a:r>
              <a:t>  "validation": {</a:t>
            </a:r>
          </a:p>
          <a:p>
            <a:r>
              <a:t>    "matched_profile": "pass",</a:t>
            </a:r>
          </a:p>
          <a:p>
            <a:r>
              <a:t>    "independent_nsys_totals": "exact_match",</a:t>
            </a:r>
          </a:p>
          <a:p>
            <a:r>
              <a:t>    "gpu_categories_sum_to_total": true,</a:t>
            </a:r>
          </a:p>
          <a:p>
            <a:r>
              <a:t>    "rank0_stage_ranges_nonoverlapping": true</a:t>
            </a:r>
          </a:p>
          <a:p>
            <a:r>
              <a:t>  },</a:t>
            </a:r>
          </a:p>
          <a:p>
            <a:r>
              <a:t>  "limitations": [</a:t>
            </a:r>
          </a:p>
          <a:p>
            <a:r>
              <a:t>    "GPU categories are operation residency summed across eight GPUs, divided by eight; they are not an E2E critical-path breakdown.",</a:t>
            </a:r>
          </a:p>
          <a:p>
            <a:r>
              <a:t>    "NCCL kernel time includes synchronization and peer waiting.",</a:t>
            </a:r>
          </a:p>
          <a:p>
            <a:r>
              <a:t>    "Profiled and unprofiled values come from separate runs; do not scale the profile to the unprofiled median.",</a:t>
            </a:r>
          </a:p>
          <a:p>
            <a:r>
              <a:t>    "The historical baseline includes default AdaLN CPU weight offload. The resident/precomputed BF16 baseline remains unmeasured."</a:t>
            </a:r>
          </a:p>
          <a:p>
            <a:r>
              <a:t>  ]</a:t>
            </a:r>
          </a:p>
          <a:p>
            <a:r>
              <a: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plan only. Historical probe-v4-124 from September 22: 3 warmups plus 13 measured requests; HTTP median 3.5897789399605244 s; application-ready median 3.7062881940510124 s, maximum 4.177112315082923 s. Initial window 124 frames; subsequent segments 119 frames after five-frame overlap. Native prompt-conditioned audio, MXFP8 DiT/dense Sage, full NVFP4 VAE. Rehearsal and live deployment are not verified by this slide. Do not use slide 18 eight-step latency for this workload.</a:t>
            </a:r>
          </a:p>
          <a:p>
            <a:r>
              <a:t>Online evidence: https://lishunyang12.github.io/fasth3-omni-evaluation-20261018/slides/minimax-h3-real-time-inference-20261025/v1.39/continuous-generation.html</a:t>
            </a:r>
          </a:p>
          <a:p>
            <a:r>
              <a:t>The original September 22 MP4 files are unavailable. The online timeline reconstructs an ideal playback schedule from retained timestamps; it is not a player recording. Separate archived AAS, position-mode/Rolling RoPE and timestep-KV demonstrations are linked with their own configurations.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18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cumulative comparison for the fixed five-second livestream-target workload. These timings cover standalone Ref2VA requests, not rolling continuation.</a:t>
            </a:r>
          </a:p>
          <a:p>
            <a:r>
              <a:t>The retained baseline is 247.9563708677888 seconds: median of 247.9563708677888, 246.20054612867534 and 248.29797918722034. It uses the horizontal Miles image-and-audio Ref2VA request, 960x544, 124 frames at 24 fps (5.166666667 seconds of media), seed 43, on the original eight GPUs. The target is strictly less than 5.0 seconds through completed audiovisual MP4.</a:t>
            </a:r>
          </a:p>
          <a:p>
            <a:r>
              <a:t>Display groups 0-3 are left and 4-7 right. Group 0 is retained; only groups 1-7 require new timing. Each group adds its changes cumulatively. PDD reduces 50 evaluations to eight. VSA adds sparse attention. QAD and native FP4 are combined, including unified prefix/video computation and device-aware SM scheduling. Ulysses combines RDMA, direct layout, V/gate overlap and IB for remaining NCCL operations. The 2/3/2 head pipeline precedes CUDA Graph. NVFP4 36-layer VAE and MP4 pre-encoding are the last group.</a:t>
            </a:r>
          </a:p>
          <a:p>
            <a:r>
              <a:t>All seven new E2E groups have three formal requests, excluding initialization and warmup. Do not reuse the separate 362-frame historical CAKE study, standalone kernel times, or component numerical tests as points on this comparison. The encoders and native 36-layer VAE remain fixed until the explicit final VAE group. The native VAE decode uses FP16 autocast and mixed-precision operations; the BF16 DiT label does not describe its precision. The NVFP4 decoder contains 216 packed linear modules across 36 blocks and uses BF16 autocast. Actual decoder metadata and MP4 pre-encoding calls are recorded per request. AdaLN projection-cache counters will be recorded; enabled caching does not imply a 100 percent hit rate. Same-case video/audio quality, complete output decoding and actual eight-step execution must be reviewed alongside the timing.</a:t>
            </a:r>
          </a:p>
          <a:p>
            <a:r>
              <a:t>The baseline and early stages use recorded runtime configurations; checkpoint/runtime changes are documented in the benchmark manifests. This is cumulative evidence, not independent isolated attribution for each kernel. Rolling livestream continuity qualification is outside these seven cohorts.</a:t>
            </a:r>
          </a:p>
          <a:p/>
          <a:p>
            <a:r>
              <a:t>Measured medians in seconds: 0: 247.956370868, 1: 42.961755994, 2: 26.198997436, 3: 19.351314013, 4: 6.830540991, 5: 6.471706104, 6: 6.201149457, 7: 5.417645110</a:t>
            </a:r>
          </a:p>
          <a:p>
            <a:r>
              <a:t>Final formal samples: 5.414621825, 5.417645110, 5.422367400</a:t>
            </a:r>
          </a:p>
          <a:p>
            <a:r>
              <a:t>Quality review: full audiovisual decoding, repeat hashes, signal checks, and five sampled frames per cohort. Appearance, expression and head motion differ across model configurations. Subjective speech quality and lip synchronization were not rated. No perceptual equivalence or rolling-stream qualification is claimed.</a:t>
            </a:r>
          </a:p>
          <a:p>
            <a:r>
              <a:t>Online evidence: https://lishunyang12.github.io/fasth3-omni-evaluation-20261018/slides/minimax-h3-real-time-inference-20261025/v1.39/benchmarks.html</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hyperlink" Target="https://lishunyang12.github.io/fasth3-omni-evaluation-20261018/slides/minimax-h3-real-time-inference-20261025/v1.39/continuous-generation.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4"/>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Baseline: Configuration and Breakdown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Historical Base50 · complete audiovisual MP4 · initialization and warmup excluded</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6</a:t>
            </a:r>
          </a:p>
        </p:txBody>
      </p:sp>
      <p:sp>
        <p:nvSpPr>
          <p:cNvPr id="5" name="Output panel"/>
          <p:cNvSpPr/>
          <p:nvPr/>
        </p:nvSpPr>
        <p:spPr>
          <a:xfrm>
            <a:off x="1828800" y="4572000"/>
            <a:ext cx="75895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utput label"/>
          <p:cNvSpPr txBox="1"/>
          <p:nvPr/>
        </p:nvSpPr>
        <p:spPr>
          <a:xfrm>
            <a:off x="2194560" y="4800600"/>
            <a:ext cx="68580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OUTPUT</a:t>
            </a:r>
          </a:p>
        </p:txBody>
      </p:sp>
      <p:sp>
        <p:nvSpPr>
          <p:cNvPr id="7" name="Output value"/>
          <p:cNvSpPr txBox="1"/>
          <p:nvPr/>
        </p:nvSpPr>
        <p:spPr>
          <a:xfrm>
            <a:off x="2194560" y="5413248"/>
            <a:ext cx="68580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960 × 544</a:t>
            </a:r>
          </a:p>
        </p:txBody>
      </p:sp>
      <p:sp>
        <p:nvSpPr>
          <p:cNvPr id="8" name="Output detail"/>
          <p:cNvSpPr txBox="1"/>
          <p:nvPr/>
        </p:nvSpPr>
        <p:spPr>
          <a:xfrm>
            <a:off x="2194560" y="6318504"/>
            <a:ext cx="68580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Reference image: 1344 × 768</a:t>
            </a:r>
          </a:p>
        </p:txBody>
      </p:sp>
      <p:sp>
        <p:nvSpPr>
          <p:cNvPr id="9" name="Video per request panel"/>
          <p:cNvSpPr/>
          <p:nvPr/>
        </p:nvSpPr>
        <p:spPr>
          <a:xfrm>
            <a:off x="9738360" y="4572000"/>
            <a:ext cx="75895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Video per request label"/>
          <p:cNvSpPr txBox="1"/>
          <p:nvPr/>
        </p:nvSpPr>
        <p:spPr>
          <a:xfrm>
            <a:off x="10104120" y="4800600"/>
            <a:ext cx="68580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VIDEO PER REQUEST</a:t>
            </a:r>
          </a:p>
        </p:txBody>
      </p:sp>
      <p:sp>
        <p:nvSpPr>
          <p:cNvPr id="11" name="Video per request value"/>
          <p:cNvSpPr txBox="1"/>
          <p:nvPr/>
        </p:nvSpPr>
        <p:spPr>
          <a:xfrm>
            <a:off x="10104120" y="5413248"/>
            <a:ext cx="68580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5.167 seconds</a:t>
            </a:r>
          </a:p>
        </p:txBody>
      </p:sp>
      <p:sp>
        <p:nvSpPr>
          <p:cNvPr id="12" name="Video per request detail"/>
          <p:cNvSpPr txBox="1"/>
          <p:nvPr/>
        </p:nvSpPr>
        <p:spPr>
          <a:xfrm>
            <a:off x="10104120" y="6318504"/>
            <a:ext cx="68580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124 frames at 24 FPS · seed 43</a:t>
            </a:r>
          </a:p>
        </p:txBody>
      </p:sp>
      <p:sp>
        <p:nvSpPr>
          <p:cNvPr id="13" name="Parallelism panel"/>
          <p:cNvSpPr/>
          <p:nvPr/>
        </p:nvSpPr>
        <p:spPr>
          <a:xfrm>
            <a:off x="17647920" y="4572000"/>
            <a:ext cx="85039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rallelism label"/>
          <p:cNvSpPr txBox="1"/>
          <p:nvPr/>
        </p:nvSpPr>
        <p:spPr>
          <a:xfrm>
            <a:off x="18013680" y="4800600"/>
            <a:ext cx="77724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PARALLELISM</a:t>
            </a:r>
          </a:p>
        </p:txBody>
      </p:sp>
      <p:sp>
        <p:nvSpPr>
          <p:cNvPr id="15" name="Parallelism value"/>
          <p:cNvSpPr txBox="1"/>
          <p:nvPr/>
        </p:nvSpPr>
        <p:spPr>
          <a:xfrm>
            <a:off x="18013680" y="5413248"/>
            <a:ext cx="77724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8 GPUs</a:t>
            </a:r>
          </a:p>
        </p:txBody>
      </p:sp>
      <p:sp>
        <p:nvSpPr>
          <p:cNvPr id="16" name="Parallelism detail"/>
          <p:cNvSpPr txBox="1"/>
          <p:nvPr/>
        </p:nvSpPr>
        <p:spPr>
          <a:xfrm>
            <a:off x="18013680" y="6318504"/>
            <a:ext cx="77724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TP1 · Ulysses 8 · Encoder TP8 · VAE 8</a:t>
            </a:r>
          </a:p>
        </p:txBody>
      </p:sp>
      <p:sp>
        <p:nvSpPr>
          <p:cNvPr id="17" name="Hardware panel"/>
          <p:cNvSpPr/>
          <p:nvPr/>
        </p:nvSpPr>
        <p:spPr>
          <a:xfrm>
            <a:off x="26471880" y="4572000"/>
            <a:ext cx="82753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rdware label"/>
          <p:cNvSpPr txBox="1"/>
          <p:nvPr/>
        </p:nvSpPr>
        <p:spPr>
          <a:xfrm>
            <a:off x="26837639" y="4800600"/>
            <a:ext cx="75438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HARDWARE</a:t>
            </a:r>
          </a:p>
        </p:txBody>
      </p:sp>
      <p:sp>
        <p:nvSpPr>
          <p:cNvPr id="19" name="Hardware value"/>
          <p:cNvSpPr txBox="1"/>
          <p:nvPr/>
        </p:nvSpPr>
        <p:spPr>
          <a:xfrm>
            <a:off x="26837639" y="5413248"/>
            <a:ext cx="75438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SM120 / PCIe</a:t>
            </a:r>
          </a:p>
        </p:txBody>
      </p:sp>
      <p:sp>
        <p:nvSpPr>
          <p:cNvPr id="20" name="Hardware detail"/>
          <p:cNvSpPr txBox="1"/>
          <p:nvPr/>
        </p:nvSpPr>
        <p:spPr>
          <a:xfrm>
            <a:off x="26837639" y="6318504"/>
            <a:ext cx="75438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PRO 5000 reference node · local NCCL</a:t>
            </a:r>
          </a:p>
        </p:txBody>
      </p:sp>
      <p:sp>
        <p:nvSpPr>
          <p:cNvPr id="21" name="Benchmark value"/>
          <p:cNvSpPr txBox="1"/>
          <p:nvPr/>
        </p:nvSpPr>
        <p:spPr>
          <a:xfrm>
            <a:off x="1828800" y="7818120"/>
            <a:ext cx="8229600" cy="1097280"/>
          </a:xfrm>
          <a:prstGeom prst="rect">
            <a:avLst/>
          </a:prstGeom>
          <a:noFill/>
        </p:spPr>
        <p:txBody>
          <a:bodyPr wrap="square" lIns="0" rIns="0" tIns="0" bIns="0">
            <a:spAutoFit/>
          </a:bodyPr>
          <a:lstStyle/>
          <a:p>
            <a:pPr>
              <a:spcAft>
                <a:spcPts val="800"/>
              </a:spcAft>
            </a:pPr>
            <a:r>
              <a:rPr sz="6200">
                <a:solidFill>
                  <a:srgbClr val="111111"/>
                </a:solidFill>
                <a:latin typeface="NVIDIA Sans Medium"/>
              </a:rPr>
              <a:t>247.956 s</a:t>
            </a:r>
          </a:p>
        </p:txBody>
      </p:sp>
      <p:sp>
        <p:nvSpPr>
          <p:cNvPr id="22" name="Benchmark caption"/>
          <p:cNvSpPr txBox="1"/>
          <p:nvPr/>
        </p:nvSpPr>
        <p:spPr>
          <a:xfrm>
            <a:off x="1828800" y="9006840"/>
            <a:ext cx="16459200" cy="640080"/>
          </a:xfrm>
          <a:prstGeom prst="rect">
            <a:avLst/>
          </a:prstGeom>
          <a:noFill/>
        </p:spPr>
        <p:txBody>
          <a:bodyPr wrap="square" lIns="0" rIns="0" tIns="0" bIns="0">
            <a:spAutoFit/>
          </a:bodyPr>
          <a:lstStyle/>
          <a:p>
            <a:pPr>
              <a:spcAft>
                <a:spcPts val="800"/>
              </a:spcAft>
            </a:pPr>
            <a:r>
              <a:rPr sz="2900">
                <a:solidFill>
                  <a:srgbClr val="555555"/>
                </a:solidFill>
                <a:latin typeface="NVIDIA Sans"/>
              </a:rPr>
              <a:t>Unprofiled HTTP median · n = 3</a:t>
            </a:r>
          </a:p>
        </p:txBody>
      </p:sp>
      <p:sp>
        <p:nvSpPr>
          <p:cNvPr id="23" name="Profile value"/>
          <p:cNvSpPr txBox="1"/>
          <p:nvPr/>
        </p:nvSpPr>
        <p:spPr>
          <a:xfrm>
            <a:off x="10058400" y="7818120"/>
            <a:ext cx="8229600" cy="1097280"/>
          </a:xfrm>
          <a:prstGeom prst="rect">
            <a:avLst/>
          </a:prstGeom>
          <a:noFill/>
        </p:spPr>
        <p:txBody>
          <a:bodyPr wrap="square" lIns="0" rIns="0" tIns="0" bIns="0">
            <a:spAutoFit/>
          </a:bodyPr>
          <a:lstStyle/>
          <a:p>
            <a:pPr>
              <a:spcAft>
                <a:spcPts val="800"/>
              </a:spcAft>
            </a:pPr>
            <a:r>
              <a:rPr sz="6200">
                <a:solidFill>
                  <a:srgbClr val="111111"/>
                </a:solidFill>
                <a:latin typeface="NVIDIA Sans Medium"/>
              </a:rPr>
              <a:t>252.773 s</a:t>
            </a:r>
          </a:p>
        </p:txBody>
      </p:sp>
      <p:sp>
        <p:nvSpPr>
          <p:cNvPr id="24" name="Profile caption"/>
          <p:cNvSpPr txBox="1"/>
          <p:nvPr/>
        </p:nvSpPr>
        <p:spPr>
          <a:xfrm>
            <a:off x="10058400" y="9006840"/>
            <a:ext cx="9144000" cy="640080"/>
          </a:xfrm>
          <a:prstGeom prst="rect">
            <a:avLst/>
          </a:prstGeom>
          <a:noFill/>
        </p:spPr>
        <p:txBody>
          <a:bodyPr wrap="square" lIns="0" rIns="0" tIns="0" bIns="0">
            <a:spAutoFit/>
          </a:bodyPr>
          <a:lstStyle/>
          <a:p>
            <a:pPr>
              <a:spcAft>
                <a:spcPts val="800"/>
              </a:spcAft>
            </a:pPr>
            <a:r>
              <a:rPr sz="2800">
                <a:solidFill>
                  <a:srgbClr val="555555"/>
                </a:solidFill>
                <a:latin typeface="NVIDIA Sans"/>
              </a:rPr>
              <a:t>Separate warmed Nsight request</a:t>
            </a:r>
          </a:p>
        </p:txBody>
      </p:sp>
      <p:sp>
        <p:nvSpPr>
          <p:cNvPr id="25" name="Breakdown heading"/>
          <p:cNvSpPr txBox="1"/>
          <p:nvPr/>
        </p:nvSpPr>
        <p:spPr>
          <a:xfrm>
            <a:off x="1828800" y="10058400"/>
            <a:ext cx="16459200" cy="914400"/>
          </a:xfrm>
          <a:prstGeom prst="rect">
            <a:avLst/>
          </a:prstGeom>
          <a:noFill/>
        </p:spPr>
        <p:txBody>
          <a:bodyPr wrap="square" lIns="0" rIns="0" tIns="0" bIns="0">
            <a:spAutoFit/>
          </a:bodyPr>
          <a:lstStyle/>
          <a:p>
            <a:pPr>
              <a:spcAft>
                <a:spcPts val="800"/>
              </a:spcAft>
            </a:pPr>
            <a:r>
              <a:rPr sz="3400">
                <a:solidFill>
                  <a:srgbClr val="111111"/>
                </a:solidFill>
                <a:latin typeface="NVIDIA Sans Medium"/>
              </a:rPr>
              <a:t>Profile: mean GPU operation time*</a:t>
            </a:r>
          </a:p>
        </p:txBody>
      </p:sp>
      <p:sp>
        <p:nvSpPr>
          <p:cNvPr id="26" name="Cost row 0"/>
          <p:cNvSpPr/>
          <p:nvPr/>
        </p:nvSpPr>
        <p:spPr>
          <a:xfrm>
            <a:off x="1828800" y="11109960"/>
            <a:ext cx="16276320" cy="1005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st label 0"/>
          <p:cNvSpPr txBox="1"/>
          <p:nvPr/>
        </p:nvSpPr>
        <p:spPr>
          <a:xfrm>
            <a:off x="2057400" y="11347704"/>
            <a:ext cx="1078992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NCCL communication</a:t>
            </a:r>
          </a:p>
        </p:txBody>
      </p:sp>
      <p:sp>
        <p:nvSpPr>
          <p:cNvPr id="28" name="Cost time 0"/>
          <p:cNvSpPr txBox="1"/>
          <p:nvPr/>
        </p:nvSpPr>
        <p:spPr>
          <a:xfrm>
            <a:off x="13030200" y="11292840"/>
            <a:ext cx="2560320" cy="640080"/>
          </a:xfrm>
          <a:prstGeom prst="rect">
            <a:avLst/>
          </a:prstGeom>
          <a:noFill/>
        </p:spPr>
        <p:txBody>
          <a:bodyPr wrap="square" lIns="0" rIns="0" tIns="0" bIns="0">
            <a:spAutoFit/>
          </a:bodyPr>
          <a:lstStyle/>
          <a:p>
            <a:pPr>
              <a:spcAft>
                <a:spcPts val="800"/>
              </a:spcAft>
            </a:pPr>
            <a:r>
              <a:rPr sz="3100">
                <a:solidFill>
                  <a:srgbClr val="111111"/>
                </a:solidFill>
                <a:latin typeface="NVIDIA Sans Medium"/>
              </a:rPr>
              <a:t>123.0 s</a:t>
            </a:r>
          </a:p>
        </p:txBody>
      </p:sp>
      <p:sp>
        <p:nvSpPr>
          <p:cNvPr id="29" name="Cost share 0"/>
          <p:cNvSpPr txBox="1"/>
          <p:nvPr/>
        </p:nvSpPr>
        <p:spPr>
          <a:xfrm>
            <a:off x="15544800" y="11329416"/>
            <a:ext cx="228600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49.2%</a:t>
            </a:r>
          </a:p>
        </p:txBody>
      </p:sp>
      <p:sp>
        <p:nvSpPr>
          <p:cNvPr id="30" name="Cost row 1"/>
          <p:cNvSpPr/>
          <p:nvPr/>
        </p:nvSpPr>
        <p:spPr>
          <a:xfrm>
            <a:off x="1828800" y="12207240"/>
            <a:ext cx="162763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st label 1"/>
          <p:cNvSpPr txBox="1"/>
          <p:nvPr/>
        </p:nvSpPr>
        <p:spPr>
          <a:xfrm>
            <a:off x="2057400" y="12444984"/>
            <a:ext cx="1078992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DiT attention + GEMM / MLP</a:t>
            </a:r>
          </a:p>
        </p:txBody>
      </p:sp>
      <p:sp>
        <p:nvSpPr>
          <p:cNvPr id="32" name="Cost time 1"/>
          <p:cNvSpPr txBox="1"/>
          <p:nvPr/>
        </p:nvSpPr>
        <p:spPr>
          <a:xfrm>
            <a:off x="13030200" y="12390119"/>
            <a:ext cx="2560320" cy="640080"/>
          </a:xfrm>
          <a:prstGeom prst="rect">
            <a:avLst/>
          </a:prstGeom>
          <a:noFill/>
        </p:spPr>
        <p:txBody>
          <a:bodyPr wrap="square" lIns="0" rIns="0" tIns="0" bIns="0">
            <a:spAutoFit/>
          </a:bodyPr>
          <a:lstStyle/>
          <a:p>
            <a:pPr>
              <a:spcAft>
                <a:spcPts val="800"/>
              </a:spcAft>
            </a:pPr>
            <a:r>
              <a:rPr sz="3100">
                <a:solidFill>
                  <a:srgbClr val="111111"/>
                </a:solidFill>
                <a:latin typeface="NVIDIA Sans Medium"/>
              </a:rPr>
              <a:t>84.5 s</a:t>
            </a:r>
          </a:p>
        </p:txBody>
      </p:sp>
      <p:sp>
        <p:nvSpPr>
          <p:cNvPr id="33" name="Cost share 1"/>
          <p:cNvSpPr txBox="1"/>
          <p:nvPr/>
        </p:nvSpPr>
        <p:spPr>
          <a:xfrm>
            <a:off x="15544800" y="12426696"/>
            <a:ext cx="228600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33.8%</a:t>
            </a:r>
          </a:p>
        </p:txBody>
      </p:sp>
      <p:sp>
        <p:nvSpPr>
          <p:cNvPr id="34" name="Cost row 2"/>
          <p:cNvSpPr/>
          <p:nvPr/>
        </p:nvSpPr>
        <p:spPr>
          <a:xfrm>
            <a:off x="1828800" y="13304520"/>
            <a:ext cx="162763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ost label 2"/>
          <p:cNvSpPr txBox="1"/>
          <p:nvPr/>
        </p:nvSpPr>
        <p:spPr>
          <a:xfrm>
            <a:off x="2057400" y="13542264"/>
            <a:ext cx="1078992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AdaLN staging + device layout</a:t>
            </a:r>
          </a:p>
        </p:txBody>
      </p:sp>
      <p:sp>
        <p:nvSpPr>
          <p:cNvPr id="36" name="Cost time 2"/>
          <p:cNvSpPr txBox="1"/>
          <p:nvPr/>
        </p:nvSpPr>
        <p:spPr>
          <a:xfrm>
            <a:off x="13030200" y="13487400"/>
            <a:ext cx="2560320" cy="640080"/>
          </a:xfrm>
          <a:prstGeom prst="rect">
            <a:avLst/>
          </a:prstGeom>
          <a:noFill/>
        </p:spPr>
        <p:txBody>
          <a:bodyPr wrap="square" lIns="0" rIns="0" tIns="0" bIns="0">
            <a:spAutoFit/>
          </a:bodyPr>
          <a:lstStyle/>
          <a:p>
            <a:pPr>
              <a:spcAft>
                <a:spcPts val="800"/>
              </a:spcAft>
            </a:pPr>
            <a:r>
              <a:rPr sz="3100">
                <a:solidFill>
                  <a:srgbClr val="111111"/>
                </a:solidFill>
                <a:latin typeface="NVIDIA Sans Medium"/>
              </a:rPr>
              <a:t>38.5 s</a:t>
            </a:r>
          </a:p>
        </p:txBody>
      </p:sp>
      <p:sp>
        <p:nvSpPr>
          <p:cNvPr id="37" name="Cost share 2"/>
          <p:cNvSpPr txBox="1"/>
          <p:nvPr/>
        </p:nvSpPr>
        <p:spPr>
          <a:xfrm>
            <a:off x="15544800" y="13523976"/>
            <a:ext cx="228600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15.4%</a:t>
            </a:r>
          </a:p>
        </p:txBody>
      </p:sp>
      <p:sp>
        <p:nvSpPr>
          <p:cNvPr id="38" name="Cost row 3"/>
          <p:cNvSpPr/>
          <p:nvPr/>
        </p:nvSpPr>
        <p:spPr>
          <a:xfrm>
            <a:off x="1828800" y="14401800"/>
            <a:ext cx="162763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ost label 3"/>
          <p:cNvSpPr txBox="1"/>
          <p:nvPr/>
        </p:nvSpPr>
        <p:spPr>
          <a:xfrm>
            <a:off x="2057400" y="14639544"/>
            <a:ext cx="1078992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Encoder, VAE + other GPU work</a:t>
            </a:r>
          </a:p>
        </p:txBody>
      </p:sp>
      <p:sp>
        <p:nvSpPr>
          <p:cNvPr id="40" name="Cost time 3"/>
          <p:cNvSpPr txBox="1"/>
          <p:nvPr/>
        </p:nvSpPr>
        <p:spPr>
          <a:xfrm>
            <a:off x="13030200" y="14584680"/>
            <a:ext cx="2560320" cy="640080"/>
          </a:xfrm>
          <a:prstGeom prst="rect">
            <a:avLst/>
          </a:prstGeom>
          <a:noFill/>
        </p:spPr>
        <p:txBody>
          <a:bodyPr wrap="square" lIns="0" rIns="0" tIns="0" bIns="0">
            <a:spAutoFit/>
          </a:bodyPr>
          <a:lstStyle/>
          <a:p>
            <a:pPr>
              <a:spcAft>
                <a:spcPts val="800"/>
              </a:spcAft>
            </a:pPr>
            <a:r>
              <a:rPr sz="3100">
                <a:solidFill>
                  <a:srgbClr val="111111"/>
                </a:solidFill>
                <a:latin typeface="NVIDIA Sans Medium"/>
              </a:rPr>
              <a:t>4.0 s</a:t>
            </a:r>
          </a:p>
        </p:txBody>
      </p:sp>
      <p:sp>
        <p:nvSpPr>
          <p:cNvPr id="41" name="Cost share 3"/>
          <p:cNvSpPr txBox="1"/>
          <p:nvPr/>
        </p:nvSpPr>
        <p:spPr>
          <a:xfrm>
            <a:off x="15544800" y="14621256"/>
            <a:ext cx="228600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1.6%</a:t>
            </a:r>
          </a:p>
        </p:txBody>
      </p:sp>
      <p:sp>
        <p:nvSpPr>
          <p:cNvPr id="42" name="GPU total"/>
          <p:cNvSpPr txBox="1"/>
          <p:nvPr/>
        </p:nvSpPr>
        <p:spPr>
          <a:xfrm>
            <a:off x="1828800" y="15773400"/>
            <a:ext cx="16459200" cy="731520"/>
          </a:xfrm>
          <a:prstGeom prst="rect">
            <a:avLst/>
          </a:prstGeom>
          <a:noFill/>
        </p:spPr>
        <p:txBody>
          <a:bodyPr wrap="square" lIns="0" rIns="0" tIns="0" bIns="0">
            <a:spAutoFit/>
          </a:bodyPr>
          <a:lstStyle/>
          <a:p>
            <a:pPr>
              <a:spcAft>
                <a:spcPts val="800"/>
              </a:spcAft>
            </a:pPr>
            <a:r>
              <a:rPr sz="3300">
                <a:solidFill>
                  <a:srgbClr val="111111"/>
                </a:solidFill>
                <a:latin typeface="NVIDIA Sans Medium"/>
              </a:rPr>
              <a:t>Total: 250.0 s per GPU · 100%</a:t>
            </a:r>
          </a:p>
        </p:txBody>
      </p:sp>
      <p:sp>
        <p:nvSpPr>
          <p:cNvPr id="43" name="Accounting"/>
          <p:cNvSpPr txBox="1"/>
          <p:nvPr/>
        </p:nvSpPr>
        <p:spPr>
          <a:xfrm>
            <a:off x="1828800" y="16733520"/>
            <a:ext cx="16459200" cy="1920240"/>
          </a:xfrm>
          <a:prstGeom prst="rect">
            <a:avLst/>
          </a:prstGeom>
          <a:noFill/>
        </p:spPr>
        <p:txBody>
          <a:bodyPr wrap="square" lIns="0" rIns="0" tIns="0" bIns="0">
            <a:spAutoFit/>
          </a:bodyPr>
          <a:lstStyle/>
          <a:p>
            <a:pPr>
              <a:spcAft>
                <a:spcPts val="800"/>
              </a:spcAft>
            </a:pPr>
            <a:r>
              <a:rPr sz="2600">
                <a:solidFill>
                  <a:srgbClr val="555555"/>
                </a:solidFill>
                <a:latin typeface="NVIDIA Sans"/>
              </a:rPr>
              <a:t>* Kernel + memcpy + memset time, summed across GPUs ÷ 8.</a:t>
            </a:r>
          </a:p>
          <a:p>
            <a:pPr>
              <a:spcAft>
                <a:spcPts val="800"/>
              </a:spcAft>
            </a:pPr>
            <a:r>
              <a:rPr sz="2600">
                <a:solidFill>
                  <a:srgbClr val="555555"/>
                </a:solidFill>
                <a:latin typeface="NVIDIA Sans"/>
              </a:rPr>
              <a:t>These are exclusive GPU cost buckets, not E2E stage latencies.</a:t>
            </a:r>
          </a:p>
          <a:p>
            <a:pPr>
              <a:spcAft>
                <a:spcPts val="800"/>
              </a:spcAft>
            </a:pPr>
            <a:r>
              <a:rPr sz="2600">
                <a:solidFill>
                  <a:srgbClr val="555555"/>
                </a:solidFill>
                <a:latin typeface="NVIDIA Sans"/>
              </a:rPr>
              <a:t>NCCL time includes synchronization and peer waiting.</a:t>
            </a:r>
          </a:p>
        </p:txBody>
      </p:sp>
      <p:sp>
        <p:nvSpPr>
          <p:cNvPr id="44" name="Configuration heading"/>
          <p:cNvSpPr txBox="1"/>
          <p:nvPr/>
        </p:nvSpPr>
        <p:spPr>
          <a:xfrm>
            <a:off x="19202400" y="7955279"/>
            <a:ext cx="15544800" cy="914400"/>
          </a:xfrm>
          <a:prstGeom prst="rect">
            <a:avLst/>
          </a:prstGeom>
          <a:noFill/>
        </p:spPr>
        <p:txBody>
          <a:bodyPr wrap="square" lIns="0" rIns="0" tIns="0" bIns="0">
            <a:spAutoFit/>
          </a:bodyPr>
          <a:lstStyle/>
          <a:p>
            <a:pPr>
              <a:spcAft>
                <a:spcPts val="800"/>
              </a:spcAft>
            </a:pPr>
            <a:r>
              <a:rPr sz="4000">
                <a:solidFill>
                  <a:srgbClr val="111111"/>
                </a:solidFill>
                <a:latin typeface="NVIDIA Sans Medium"/>
              </a:rPr>
              <a:t>Baseline configuration</a:t>
            </a:r>
          </a:p>
        </p:txBody>
      </p:sp>
      <p:sp>
        <p:nvSpPr>
          <p:cNvPr id="45" name="Config label 0"/>
          <p:cNvSpPr txBox="1"/>
          <p:nvPr/>
        </p:nvSpPr>
        <p:spPr>
          <a:xfrm>
            <a:off x="19202400" y="9235440"/>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Model / steps</a:t>
            </a:r>
          </a:p>
        </p:txBody>
      </p:sp>
      <p:sp>
        <p:nvSpPr>
          <p:cNvPr id="46" name="Config value 0"/>
          <p:cNvSpPr txBox="1"/>
          <p:nvPr/>
        </p:nvSpPr>
        <p:spPr>
          <a:xfrm>
            <a:off x="19202400" y="9765792"/>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Base Ref2VA · BF16 DiT · 50 evaluations · no adapter</a:t>
            </a:r>
          </a:p>
        </p:txBody>
      </p:sp>
      <p:sp>
        <p:nvSpPr>
          <p:cNvPr id="47" name="Config label 1"/>
          <p:cNvSpPr txBox="1"/>
          <p:nvPr/>
        </p:nvSpPr>
        <p:spPr>
          <a:xfrm>
            <a:off x="19202400" y="10972800"/>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Attention / execution</a:t>
            </a:r>
          </a:p>
        </p:txBody>
      </p:sp>
      <p:sp>
        <p:nvSpPr>
          <p:cNvPr id="48" name="Config value 1"/>
          <p:cNvSpPr txBox="1"/>
          <p:nvPr/>
        </p:nvSpPr>
        <p:spPr>
          <a:xfrm>
            <a:off x="19202400" y="11503152"/>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Dense cuDNN attention · token refiner: Torch SDPA</a:t>
            </a:r>
          </a:p>
          <a:p>
            <a:pPr>
              <a:spcAft>
                <a:spcPts val="800"/>
              </a:spcAft>
            </a:pPr>
            <a:r>
              <a:rPr sz="2800">
                <a:solidFill>
                  <a:srgbClr val="111111"/>
                </a:solidFill>
                <a:latin typeface="NVIDIA Sans"/>
              </a:rPr>
              <a:t>Regional torch.compile · no head-band CUDA Graph</a:t>
            </a:r>
          </a:p>
        </p:txBody>
      </p:sp>
      <p:sp>
        <p:nvSpPr>
          <p:cNvPr id="49" name="Config label 2"/>
          <p:cNvSpPr txBox="1"/>
          <p:nvPr/>
        </p:nvSpPr>
        <p:spPr>
          <a:xfrm>
            <a:off x="19202400" y="12710159"/>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Communication</a:t>
            </a:r>
          </a:p>
        </p:txBody>
      </p:sp>
      <p:sp>
        <p:nvSpPr>
          <p:cNvPr id="50" name="Config value 2"/>
          <p:cNvSpPr txBox="1"/>
          <p:nvPr/>
        </p:nvSpPr>
        <p:spPr>
          <a:xfrm>
            <a:off x="19202400" y="13240511"/>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Local NCCL · NCCL_IB_DISABLE=1 · RDMA off</a:t>
            </a:r>
          </a:p>
          <a:p>
            <a:pPr>
              <a:spcAft>
                <a:spcPts val="800"/>
              </a:spcAft>
            </a:pPr>
            <a:r>
              <a:rPr sz="2800">
                <a:solidFill>
                  <a:srgbClr val="111111"/>
                </a:solidFill>
                <a:latin typeface="NVIDIA Sans"/>
              </a:rPr>
              <a:t>No A2A permute · no 2 / 3 / 2 head pipeline</a:t>
            </a:r>
          </a:p>
        </p:txBody>
      </p:sp>
      <p:sp>
        <p:nvSpPr>
          <p:cNvPr id="51" name="Config label 3"/>
          <p:cNvSpPr txBox="1"/>
          <p:nvPr/>
        </p:nvSpPr>
        <p:spPr>
          <a:xfrm>
            <a:off x="19202400" y="14447519"/>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Decoder / output</a:t>
            </a:r>
          </a:p>
        </p:txBody>
      </p:sp>
      <p:sp>
        <p:nvSpPr>
          <p:cNvPr id="52" name="Config value 3"/>
          <p:cNvSpPr txBox="1"/>
          <p:nvPr/>
        </p:nvSpPr>
        <p:spPr>
          <a:xfrm>
            <a:off x="19202400" y="14977872"/>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Native unquantized VAE · 8-way spatial tiling</a:t>
            </a:r>
          </a:p>
          <a:p>
            <a:pPr>
              <a:spcAft>
                <a:spcPts val="800"/>
              </a:spcAft>
            </a:pPr>
            <a:r>
              <a:rPr sz="2800">
                <a:solidFill>
                  <a:srgbClr val="111111"/>
                </a:solidFill>
                <a:latin typeface="NVIDIA Sans"/>
              </a:rPr>
              <a:t>FP16 decode autocast · response encoding after generation</a:t>
            </a:r>
          </a:p>
        </p:txBody>
      </p:sp>
      <p:sp>
        <p:nvSpPr>
          <p:cNvPr id="53" name="Config label 4"/>
          <p:cNvSpPr txBox="1"/>
          <p:nvPr/>
        </p:nvSpPr>
        <p:spPr>
          <a:xfrm>
            <a:off x="19202400" y="16184880"/>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AdaLN</a:t>
            </a:r>
          </a:p>
        </p:txBody>
      </p:sp>
      <p:sp>
        <p:nvSpPr>
          <p:cNvPr id="54" name="Config value 4"/>
          <p:cNvSpPr txBox="1"/>
          <p:nvPr/>
        </p:nvSpPr>
        <p:spPr>
          <a:xfrm>
            <a:off x="19202400" y="16715231"/>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Default CPU weight offload + 256 MiB exact cache</a:t>
            </a:r>
          </a:p>
          <a:p>
            <a:pPr>
              <a:spcAft>
                <a:spcPts val="800"/>
              </a:spcAft>
            </a:pPr>
            <a:r>
              <a:rPr sz="2800">
                <a:solidFill>
                  <a:srgbClr val="111111"/>
                </a:solidFill>
                <a:latin typeface="NVIDIA Sans"/>
              </a:rPr>
              <a:t>Cache misses stage weights · no offline schedule table</a:t>
            </a:r>
          </a:p>
        </p:txBody>
      </p:sp>
      <p:sp>
        <p:nvSpPr>
          <p:cNvPr id="55" name="Footer"/>
          <p:cNvSpPr txBox="1"/>
          <p:nvPr/>
        </p:nvSpPr>
        <p:spPr>
          <a:xfrm>
            <a:off x="1828800" y="18882360"/>
            <a:ext cx="32918400" cy="640080"/>
          </a:xfrm>
          <a:prstGeom prst="rect">
            <a:avLst/>
          </a:prstGeom>
          <a:noFill/>
        </p:spPr>
        <p:txBody>
          <a:bodyPr wrap="square" lIns="0" rIns="0" tIns="0" bIns="0">
            <a:spAutoFit/>
          </a:bodyPr>
          <a:lstStyle/>
          <a:p>
            <a:pPr>
              <a:spcAft>
                <a:spcPts val="800"/>
              </a:spcAft>
            </a:pPr>
            <a:r>
              <a:rPr sz="2500">
                <a:solidFill>
                  <a:srgbClr val="555555"/>
                </a:solidFill>
                <a:latin typeface="NVIDIA Sans"/>
              </a:rPr>
              <a:t>Historical default-offload baseline. An optimized BF16 baseline is pending. Full CPU-stage breakdown and provenance are linked from the title.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4"/>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Five-Second Avatar: Show the Result</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Demo focus · reference identity, expression, native speech and continuity</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7</a:t>
            </a:r>
          </a:p>
        </p:txBody>
      </p:sp>
      <p:sp>
        <p:nvSpPr>
          <p:cNvPr id="5" name="Demo panel 0"/>
          <p:cNvSpPr/>
          <p:nvPr/>
        </p:nvSpPr>
        <p:spPr>
          <a:xfrm>
            <a:off x="1828800" y="512064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mo title 0"/>
          <p:cNvSpPr txBox="1"/>
          <p:nvPr/>
        </p:nvSpPr>
        <p:spPr>
          <a:xfrm>
            <a:off x="2468880" y="553212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01 · Natural presence</a:t>
            </a:r>
          </a:p>
        </p:txBody>
      </p:sp>
      <p:sp>
        <p:nvSpPr>
          <p:cNvPr id="7" name="Demo body 0"/>
          <p:cNvSpPr txBox="1"/>
          <p:nvPr/>
        </p:nvSpPr>
        <p:spPr>
          <a:xfrm>
            <a:off x="2468880" y="662940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Start from the reference portrait.</a:t>
            </a:r>
          </a:p>
          <a:p>
            <a:pPr>
              <a:spcAft>
                <a:spcPts val="800"/>
              </a:spcAft>
            </a:pPr>
            <a:r>
              <a:rPr sz="3700">
                <a:solidFill>
                  <a:srgbClr val="111111"/>
                </a:solidFill>
                <a:latin typeface="NVIDIA Sans"/>
              </a:rPr>
              <a:t>Show a short reading / idle segment.</a:t>
            </a:r>
          </a:p>
        </p:txBody>
      </p:sp>
      <p:sp>
        <p:nvSpPr>
          <p:cNvPr id="8" name="Demo panel 1"/>
          <p:cNvSpPr/>
          <p:nvPr/>
        </p:nvSpPr>
        <p:spPr>
          <a:xfrm>
            <a:off x="1828800" y="9052559"/>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mo title 1"/>
          <p:cNvSpPr txBox="1"/>
          <p:nvPr/>
        </p:nvSpPr>
        <p:spPr>
          <a:xfrm>
            <a:off x="2468880" y="946403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02 · Speech and expression</a:t>
            </a:r>
          </a:p>
        </p:txBody>
      </p:sp>
      <p:sp>
        <p:nvSpPr>
          <p:cNvPr id="10" name="Demo body 1"/>
          <p:cNvSpPr txBox="1"/>
          <p:nvPr/>
        </p:nvSpPr>
        <p:spPr>
          <a:xfrm>
            <a:off x="2468880" y="10561319"/>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Play a short spoken response with audio.</a:t>
            </a:r>
          </a:p>
          <a:p>
            <a:pPr>
              <a:spcAft>
                <a:spcPts val="800"/>
              </a:spcAft>
            </a:pPr>
            <a:r>
              <a:rPr sz="3700">
                <a:solidFill>
                  <a:srgbClr val="111111"/>
                </a:solidFill>
                <a:latin typeface="NVIDIA Sans"/>
              </a:rPr>
              <a:t>Inspect face motion and lip synchronization.</a:t>
            </a:r>
          </a:p>
        </p:txBody>
      </p:sp>
      <p:sp>
        <p:nvSpPr>
          <p:cNvPr id="11" name="Demo panel 2"/>
          <p:cNvSpPr/>
          <p:nvPr/>
        </p:nvSpPr>
        <p:spPr>
          <a:xfrm>
            <a:off x="1828800" y="1298448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mo title 2"/>
          <p:cNvSpPr txBox="1"/>
          <p:nvPr/>
        </p:nvSpPr>
        <p:spPr>
          <a:xfrm>
            <a:off x="2468880" y="1339595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03 · Continuous generation</a:t>
            </a:r>
          </a:p>
        </p:txBody>
      </p:sp>
      <p:sp>
        <p:nvSpPr>
          <p:cNvPr id="13" name="Demo body 2"/>
          <p:cNvSpPr txBox="1"/>
          <p:nvPr/>
        </p:nvSpPr>
        <p:spPr>
          <a:xfrm>
            <a:off x="2468880" y="1449324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Continue the same scene across segment boundaries.</a:t>
            </a:r>
          </a:p>
          <a:p>
            <a:pPr>
              <a:spcAft>
                <a:spcPts val="800"/>
              </a:spcAft>
            </a:pPr>
            <a:r>
              <a:rPr sz="3700">
                <a:solidFill>
                  <a:srgbClr val="111111"/>
                </a:solidFill>
                <a:latin typeface="NVIDIA Sans"/>
              </a:rPr>
              <a:t>Show generation and playback on one timeline.</a:t>
            </a:r>
          </a:p>
        </p:txBody>
      </p:sp>
      <p:sp>
        <p:nvSpPr>
          <p:cNvPr id="14" name="Demo metrics"/>
          <p:cNvSpPr txBox="1"/>
          <p:nvPr/>
        </p:nvSpPr>
        <p:spPr>
          <a:xfrm>
            <a:off x="1828800" y="17373600"/>
            <a:ext cx="32918400" cy="731520"/>
          </a:xfrm>
          <a:prstGeom prst="rect">
            <a:avLst/>
          </a:prstGeom>
          <a:noFill/>
        </p:spPr>
        <p:txBody>
          <a:bodyPr wrap="square" lIns="0" rIns="0" tIns="0" bIns="0">
            <a:spAutoFit/>
          </a:bodyPr>
          <a:lstStyle/>
          <a:p>
            <a:pPr>
              <a:spcAft>
                <a:spcPts val="800"/>
              </a:spcAft>
            </a:pPr>
            <a:r>
              <a:rPr sz="3400">
                <a:solidFill>
                  <a:srgbClr val="111111"/>
                </a:solidFill>
                <a:latin typeface="NVIDIA Sans Medium"/>
              </a:rPr>
              <a:t>Historical avatar: 960 × 544 · 24 FPS · 4 steps · 8 GPUs · BF16 RDMA</a:t>
            </a:r>
          </a:p>
        </p:txBody>
      </p:sp>
      <p:sp>
        <p:nvSpPr>
          <p:cNvPr id="15" name="Demo caveat"/>
          <p:cNvSpPr txBox="1"/>
          <p:nvPr/>
        </p:nvSpPr>
        <p:spPr>
          <a:xfrm>
            <a:off x="1828800" y="18333720"/>
            <a:ext cx="32918400" cy="1280160"/>
          </a:xfrm>
          <a:prstGeom prst="rect">
            <a:avLst/>
          </a:prstGeom>
          <a:noFill/>
        </p:spPr>
        <p:txBody>
          <a:bodyPr wrap="square" lIns="0" rIns="0" tIns="0" bIns="0">
            <a:spAutoFit/>
          </a:bodyPr>
          <a:lstStyle/>
          <a:p>
            <a:pPr>
              <a:spcAft>
                <a:spcPts val="800"/>
              </a:spcAft>
            </a:pPr>
            <a:r>
              <a:rPr sz="2700">
                <a:solidFill>
                  <a:srgbClr val="555555"/>
                </a:solidFill>
                <a:latin typeface="NVIDIA Sans"/>
              </a:rPr>
              <a:t>119 new frames / 4.958 s per continuation · 3.706 s median application-ready time, n = 13.</a:t>
            </a:r>
          </a:p>
          <a:p>
            <a:pPr>
              <a:spcAft>
                <a:spcPts val="800"/>
              </a:spcAft>
            </a:pPr>
            <a:r>
              <a:rPr sz="2700">
                <a:solidFill>
                  <a:srgbClr val="555555"/>
                </a:solidFill>
                <a:latin typeface="NVIDIA Sans"/>
              </a:rPr>
              <a:t>Live rerun and playback validation pending. These timings belong to the separate four-step avatar recipe.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12</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a:t>
            </a:r>
          </a:p>
          <a:p>
            <a:pPr>
              <a:spcAft>
                <a:spcPts val="800"/>
              </a:spcAft>
            </a:pPr>
            <a:r>
              <a:rPr sz="3500">
                <a:solidFill>
                  <a:srgbClr val="111111"/>
                </a:solidFill>
                <a:latin typeface="NVIDIA Sans"/>
              </a:rPr>
              <a:t>Exact AdaLN caching avoids repeated projections.</a:t>
            </a:r>
          </a:p>
          <a:p>
            <a:pPr>
              <a:spcAft>
                <a:spcPts val="800"/>
              </a:spcAft>
            </a:pPr>
            <a:r>
              <a:rPr sz="3500">
                <a:solidFill>
                  <a:srgbClr val="111111"/>
                </a:solidFill>
                <a:latin typeface="NVIDIA Sans"/>
              </a:rPr>
              <a:t>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18 are distinct workloads.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One fixed Ref2VA case · Eight cumulative groups · Seven measured benchmarks</a:t>
            </a:r>
          </a:p>
        </p:txBody>
      </p:sp>
      <p:sp>
        <p:nvSpPr>
          <p:cNvPr id="3" name="Title 2">
            <a:hlinkClick r:id="rId3"/>
          </p:cNvPr>
          <p:cNvSpPr>
            <a:spLocks noGrp="1"/>
          </p:cNvSpPr>
          <p:nvPr>
            <p:ph type="title"/>
          </p:nvPr>
        </p:nvSpPr>
        <p:spPr/>
        <p:txBody>
          <a:bodyPr/>
          <a:lstStyle/>
          <a:p>
            <a:r>
              <a:t>Optimization Roadmap: 5 s Live Target</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Base50 default offload retained · optimized BF16 baseline pending · warm request to complete MP4</a:t>
            </a:r>
            <a:endParaRPr lang="en-US" dirty="0"/>
          </a:p>
        </p:txBody>
      </p:sp>
      <p:sp>
        <p:nvSpPr>
          <p:cNvPr id="7" name="Locked workload"/>
          <p:cNvSpPr txBox="1"/>
          <p:nvPr/>
        </p:nvSpPr>
        <p:spPr>
          <a:xfrm>
            <a:off x="1828800" y="5166360"/>
            <a:ext cx="32918400" cy="731520"/>
          </a:xfrm>
          <a:prstGeom prst="rect">
            <a:avLst/>
          </a:prstGeom>
          <a:noFill/>
        </p:spPr>
        <p:txBody>
          <a:bodyPr wrap="square" lIns="0" rIns="0" tIns="0" bIns="0">
            <a:noAutofit/>
          </a:bodyPr>
          <a:lstStyle/>
          <a:p>
            <a:pPr algn="ctr">
              <a:lnSpc>
                <a:spcPct val="112000"/>
              </a:lnSpc>
              <a:spcBef>
                <a:spcPts val="0"/>
              </a:spcBef>
              <a:spcAft>
                <a:spcPts val="0"/>
              </a:spcAft>
            </a:pPr>
            <a:r>
              <a:rPr sz="3200" b="0">
                <a:solidFill>
                  <a:srgbClr val="313131"/>
                </a:solidFill>
                <a:latin typeface="NVIDIA Sans"/>
              </a:rPr>
              <a:t>960 × 544  ·  124 frames / 24 FPS  ·  8 GPUs  ·  seed 43</a:t>
            </a:r>
          </a:p>
        </p:txBody>
      </p:sp>
      <p:sp>
        <p:nvSpPr>
          <p:cNvPr id="8" name="Model Compute"/>
          <p:cNvSpPr txBox="1"/>
          <p:nvPr/>
        </p:nvSpPr>
        <p:spPr>
          <a:xfrm>
            <a:off x="1828800" y="6263640"/>
            <a:ext cx="1243584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Model Compute</a:t>
            </a:r>
          </a:p>
        </p:txBody>
      </p:sp>
      <p:sp>
        <p:nvSpPr>
          <p:cNvPr id="9" name="Model Compute timing header"/>
          <p:cNvSpPr txBox="1"/>
          <p:nvPr/>
        </p:nvSpPr>
        <p:spPr>
          <a:xfrm>
            <a:off x="14630400" y="6355080"/>
            <a:ext cx="3108960" cy="640080"/>
          </a:xfrm>
          <a:prstGeom prst="rect">
            <a:avLst/>
          </a:prstGeom>
          <a:noFill/>
        </p:spPr>
        <p:txBody>
          <a:bodyPr wrap="square" lIns="0" rIns="0" tIns="0" bIns="0">
            <a:noAutofit/>
          </a:bodyPr>
          <a:lstStyle/>
          <a:p>
            <a:pPr algn="r">
              <a:lnSpc>
                <a:spcPct val="112000"/>
              </a:lnSpc>
              <a:spcBef>
                <a:spcPts val="0"/>
              </a:spcBef>
              <a:spcAft>
                <a:spcPts val="0"/>
              </a:spcAft>
            </a:pPr>
            <a:r>
              <a:rPr sz="2800" b="0">
                <a:solidFill>
                  <a:srgbClr val="313131"/>
                </a:solidFill>
                <a:latin typeface="NVIDIA Sans"/>
              </a:rPr>
              <a:t>E2E (s)</a:t>
            </a:r>
          </a:p>
        </p:txBody>
      </p:sp>
      <p:cxnSp>
        <p:nvCxnSpPr>
          <p:cNvPr id="10" name="Model Compute header rule"/>
          <p:cNvCxnSpPr/>
          <p:nvPr/>
        </p:nvCxnSpPr>
        <p:spPr>
          <a:xfrm>
            <a:off x="1828800" y="7086600"/>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1" name="Communication and Output"/>
          <p:cNvSpPr txBox="1"/>
          <p:nvPr/>
        </p:nvSpPr>
        <p:spPr>
          <a:xfrm>
            <a:off x="18836640" y="6263640"/>
            <a:ext cx="1243584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Communication and Output</a:t>
            </a:r>
          </a:p>
        </p:txBody>
      </p:sp>
      <p:sp>
        <p:nvSpPr>
          <p:cNvPr id="12" name="Communication and Output timing header"/>
          <p:cNvSpPr txBox="1"/>
          <p:nvPr/>
        </p:nvSpPr>
        <p:spPr>
          <a:xfrm>
            <a:off x="31638240" y="6355080"/>
            <a:ext cx="3108960" cy="640080"/>
          </a:xfrm>
          <a:prstGeom prst="rect">
            <a:avLst/>
          </a:prstGeom>
          <a:noFill/>
        </p:spPr>
        <p:txBody>
          <a:bodyPr wrap="square" lIns="0" rIns="0" tIns="0" bIns="0">
            <a:noAutofit/>
          </a:bodyPr>
          <a:lstStyle/>
          <a:p>
            <a:pPr algn="r">
              <a:lnSpc>
                <a:spcPct val="112000"/>
              </a:lnSpc>
              <a:spcBef>
                <a:spcPts val="0"/>
              </a:spcBef>
              <a:spcAft>
                <a:spcPts val="0"/>
              </a:spcAft>
            </a:pPr>
            <a:r>
              <a:rPr sz="2800" b="0">
                <a:solidFill>
                  <a:srgbClr val="313131"/>
                </a:solidFill>
                <a:latin typeface="NVIDIA Sans"/>
              </a:rPr>
              <a:t>E2E (s)</a:t>
            </a:r>
          </a:p>
        </p:txBody>
      </p:sp>
      <p:cxnSp>
        <p:nvCxnSpPr>
          <p:cNvPr id="13" name="Communication and Output header rule"/>
          <p:cNvCxnSpPr/>
          <p:nvPr/>
        </p:nvCxnSpPr>
        <p:spPr>
          <a:xfrm>
            <a:off x="18836640" y="7086600"/>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4" name="Stage 0 number"/>
          <p:cNvSpPr txBox="1"/>
          <p:nvPr/>
        </p:nvSpPr>
        <p:spPr>
          <a:xfrm>
            <a:off x="1828800" y="736092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0</a:t>
            </a:r>
          </a:p>
        </p:txBody>
      </p:sp>
      <p:sp>
        <p:nvSpPr>
          <p:cNvPr id="15" name="Stage 0 name"/>
          <p:cNvSpPr txBox="1"/>
          <p:nvPr/>
        </p:nvSpPr>
        <p:spPr>
          <a:xfrm>
            <a:off x="3017520" y="736092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Historical Base50</a:t>
            </a:r>
          </a:p>
        </p:txBody>
      </p:sp>
      <p:sp>
        <p:nvSpPr>
          <p:cNvPr id="16" name="Stage 0 detail"/>
          <p:cNvSpPr txBox="1"/>
          <p:nvPr/>
        </p:nvSpPr>
        <p:spPr>
          <a:xfrm>
            <a:off x="3017520" y="827532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BF16 DiT · dense · 50 steps</a:t>
            </a:r>
          </a:p>
          <a:p>
            <a:pPr algn="l">
              <a:lnSpc>
                <a:spcPct val="112000"/>
              </a:lnSpc>
              <a:spcBef>
                <a:spcPts val="0"/>
              </a:spcBef>
              <a:spcAft>
                <a:spcPts val="0"/>
              </a:spcAft>
            </a:pPr>
            <a:r>
              <a:rPr sz="3000" b="0">
                <a:solidFill>
                  <a:srgbClr val="313131"/>
                </a:solidFill>
                <a:latin typeface="NVIDIA Sans"/>
              </a:rPr>
              <a:t>Default offload · local NCCL</a:t>
            </a:r>
          </a:p>
        </p:txBody>
      </p:sp>
      <p:sp>
        <p:nvSpPr>
          <p:cNvPr id="17" name="Stage 0 timing"/>
          <p:cNvSpPr txBox="1"/>
          <p:nvPr/>
        </p:nvSpPr>
        <p:spPr>
          <a:xfrm>
            <a:off x="14813280" y="745236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247.956</a:t>
            </a:r>
          </a:p>
        </p:txBody>
      </p:sp>
      <p:cxnSp>
        <p:nvCxnSpPr>
          <p:cNvPr id="18" name="Stage 0 separator"/>
          <p:cNvCxnSpPr/>
          <p:nvPr/>
        </p:nvCxnSpPr>
        <p:spPr>
          <a:xfrm>
            <a:off x="1828800" y="953719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Stage 1 number"/>
          <p:cNvSpPr txBox="1"/>
          <p:nvPr/>
        </p:nvSpPr>
        <p:spPr>
          <a:xfrm>
            <a:off x="1828800" y="973836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1</a:t>
            </a:r>
          </a:p>
        </p:txBody>
      </p:sp>
      <p:sp>
        <p:nvSpPr>
          <p:cNvPr id="20" name="Stage 1 name"/>
          <p:cNvSpPr txBox="1"/>
          <p:nvPr/>
        </p:nvSpPr>
        <p:spPr>
          <a:xfrm>
            <a:off x="3017520" y="973836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PDD: 50 to 8 Steps</a:t>
            </a:r>
          </a:p>
        </p:txBody>
      </p:sp>
      <p:sp>
        <p:nvSpPr>
          <p:cNvPr id="21" name="Stage 1 detail"/>
          <p:cNvSpPr txBox="1"/>
          <p:nvPr/>
        </p:nvSpPr>
        <p:spPr>
          <a:xfrm>
            <a:off x="3017520" y="1065276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Reduce denoiser evaluations</a:t>
            </a:r>
          </a:p>
          <a:p>
            <a:pPr algn="l">
              <a:lnSpc>
                <a:spcPct val="112000"/>
              </a:lnSpc>
              <a:spcBef>
                <a:spcPts val="0"/>
              </a:spcBef>
              <a:spcAft>
                <a:spcPts val="0"/>
              </a:spcAft>
            </a:pPr>
            <a:r>
              <a:rPr sz="3000" b="0">
                <a:solidFill>
                  <a:srgbClr val="313131"/>
                </a:solidFill>
                <a:latin typeface="NVIDIA Sans"/>
              </a:rPr>
              <a:t>Eight-step Ref2VA schedule</a:t>
            </a:r>
          </a:p>
        </p:txBody>
      </p:sp>
      <p:sp>
        <p:nvSpPr>
          <p:cNvPr id="22" name="Stage 1 timing"/>
          <p:cNvSpPr txBox="1"/>
          <p:nvPr/>
        </p:nvSpPr>
        <p:spPr>
          <a:xfrm>
            <a:off x="14813280" y="982980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42.962</a:t>
            </a:r>
          </a:p>
        </p:txBody>
      </p:sp>
      <p:cxnSp>
        <p:nvCxnSpPr>
          <p:cNvPr id="23" name="Stage 1 separator"/>
          <p:cNvCxnSpPr/>
          <p:nvPr/>
        </p:nvCxnSpPr>
        <p:spPr>
          <a:xfrm>
            <a:off x="1828800" y="1191463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Stage 2 number"/>
          <p:cNvSpPr txBox="1"/>
          <p:nvPr/>
        </p:nvSpPr>
        <p:spPr>
          <a:xfrm>
            <a:off x="1828800" y="1211580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2</a:t>
            </a:r>
          </a:p>
        </p:txBody>
      </p:sp>
      <p:sp>
        <p:nvSpPr>
          <p:cNvPr id="25" name="Stage 2 name"/>
          <p:cNvSpPr txBox="1"/>
          <p:nvPr/>
        </p:nvSpPr>
        <p:spPr>
          <a:xfrm>
            <a:off x="3017520" y="1211580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VSA</a:t>
            </a:r>
          </a:p>
        </p:txBody>
      </p:sp>
      <p:sp>
        <p:nvSpPr>
          <p:cNvPr id="26" name="Stage 2 detail"/>
          <p:cNvSpPr txBox="1"/>
          <p:nvPr/>
        </p:nvSpPr>
        <p:spPr>
          <a:xfrm>
            <a:off x="3017520" y="1303020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Select fine-attention blocks</a:t>
            </a:r>
          </a:p>
          <a:p>
            <a:pPr algn="l">
              <a:lnSpc>
                <a:spcPct val="112000"/>
              </a:lnSpc>
              <a:spcBef>
                <a:spcPts val="0"/>
              </a:spcBef>
              <a:spcAft>
                <a:spcPts val="0"/>
              </a:spcAft>
            </a:pPr>
            <a:r>
              <a:rPr sz="3000" b="0">
                <a:solidFill>
                  <a:srgbClr val="313131"/>
                </a:solidFill>
                <a:latin typeface="NVIDIA Sans"/>
              </a:rPr>
              <a:t>Keep global coarse context</a:t>
            </a:r>
          </a:p>
        </p:txBody>
      </p:sp>
      <p:sp>
        <p:nvSpPr>
          <p:cNvPr id="27" name="Stage 2 timing"/>
          <p:cNvSpPr txBox="1"/>
          <p:nvPr/>
        </p:nvSpPr>
        <p:spPr>
          <a:xfrm>
            <a:off x="14813280" y="1220724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26.199</a:t>
            </a:r>
          </a:p>
        </p:txBody>
      </p:sp>
      <p:cxnSp>
        <p:nvCxnSpPr>
          <p:cNvPr id="28" name="Stage 2 separator"/>
          <p:cNvCxnSpPr/>
          <p:nvPr/>
        </p:nvCxnSpPr>
        <p:spPr>
          <a:xfrm>
            <a:off x="1828800" y="1429207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tage 3 number"/>
          <p:cNvSpPr txBox="1"/>
          <p:nvPr/>
        </p:nvSpPr>
        <p:spPr>
          <a:xfrm>
            <a:off x="1828800" y="1449324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3</a:t>
            </a:r>
          </a:p>
        </p:txBody>
      </p:sp>
      <p:sp>
        <p:nvSpPr>
          <p:cNvPr id="30" name="Stage 3 name"/>
          <p:cNvSpPr txBox="1"/>
          <p:nvPr/>
        </p:nvSpPr>
        <p:spPr>
          <a:xfrm>
            <a:off x="3017520" y="1449324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QAD + Native FP4 Attention</a:t>
            </a:r>
          </a:p>
        </p:txBody>
      </p:sp>
      <p:sp>
        <p:nvSpPr>
          <p:cNvPr id="31" name="Stage 3 detail"/>
          <p:cNvSpPr txBox="1"/>
          <p:nvPr/>
        </p:nvSpPr>
        <p:spPr>
          <a:xfrm>
            <a:off x="3017520" y="1540764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NVFP4 DiT · unified prefix / video</a:t>
            </a:r>
          </a:p>
          <a:p>
            <a:pPr algn="l">
              <a:lnSpc>
                <a:spcPct val="112000"/>
              </a:lnSpc>
              <a:spcBef>
                <a:spcPts val="0"/>
              </a:spcBef>
              <a:spcAft>
                <a:spcPts val="0"/>
              </a:spcAft>
            </a:pPr>
            <a:r>
              <a:rPr sz="3000" b="0">
                <a:solidFill>
                  <a:srgbClr val="313131"/>
                </a:solidFill>
                <a:latin typeface="NVIDIA Sans"/>
              </a:rPr>
              <a:t>Device-aware SM scheduling</a:t>
            </a:r>
          </a:p>
        </p:txBody>
      </p:sp>
      <p:sp>
        <p:nvSpPr>
          <p:cNvPr id="32" name="Stage 3 timing"/>
          <p:cNvSpPr txBox="1"/>
          <p:nvPr/>
        </p:nvSpPr>
        <p:spPr>
          <a:xfrm>
            <a:off x="14813280" y="1458468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19.351</a:t>
            </a:r>
          </a:p>
        </p:txBody>
      </p:sp>
      <p:cxnSp>
        <p:nvCxnSpPr>
          <p:cNvPr id="33" name="Stage 3 separator"/>
          <p:cNvCxnSpPr/>
          <p:nvPr/>
        </p:nvCxnSpPr>
        <p:spPr>
          <a:xfrm>
            <a:off x="1828800" y="1666951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34" name="Stage 4 number"/>
          <p:cNvSpPr txBox="1"/>
          <p:nvPr/>
        </p:nvSpPr>
        <p:spPr>
          <a:xfrm>
            <a:off x="18836640" y="736092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4</a:t>
            </a:r>
          </a:p>
        </p:txBody>
      </p:sp>
      <p:sp>
        <p:nvSpPr>
          <p:cNvPr id="35" name="Stage 4 name"/>
          <p:cNvSpPr txBox="1"/>
          <p:nvPr/>
        </p:nvSpPr>
        <p:spPr>
          <a:xfrm>
            <a:off x="20025360" y="736092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Ulysses Communication</a:t>
            </a:r>
          </a:p>
        </p:txBody>
      </p:sp>
      <p:sp>
        <p:nvSpPr>
          <p:cNvPr id="36" name="Stage 4 detail"/>
          <p:cNvSpPr txBox="1"/>
          <p:nvPr/>
        </p:nvSpPr>
        <p:spPr>
          <a:xfrm>
            <a:off x="20025360" y="827532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RDMA + direct layout + V / gate overlap</a:t>
            </a:r>
          </a:p>
          <a:p>
            <a:pPr algn="l">
              <a:lnSpc>
                <a:spcPct val="112000"/>
              </a:lnSpc>
              <a:spcBef>
                <a:spcPts val="0"/>
              </a:spcBef>
              <a:spcAft>
                <a:spcPts val="0"/>
              </a:spcAft>
            </a:pPr>
            <a:r>
              <a:rPr sz="3000" b="0">
                <a:solidFill>
                  <a:srgbClr val="313131"/>
                </a:solidFill>
                <a:latin typeface="NVIDIA Sans"/>
              </a:rPr>
              <a:t>IB for remaining NCCL collectives</a:t>
            </a:r>
          </a:p>
        </p:txBody>
      </p:sp>
      <p:sp>
        <p:nvSpPr>
          <p:cNvPr id="37" name="Stage 4 timing"/>
          <p:cNvSpPr txBox="1"/>
          <p:nvPr/>
        </p:nvSpPr>
        <p:spPr>
          <a:xfrm>
            <a:off x="31821119" y="745236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6.831</a:t>
            </a:r>
          </a:p>
        </p:txBody>
      </p:sp>
      <p:cxnSp>
        <p:nvCxnSpPr>
          <p:cNvPr id="38" name="Stage 4 separator"/>
          <p:cNvCxnSpPr/>
          <p:nvPr/>
        </p:nvCxnSpPr>
        <p:spPr>
          <a:xfrm>
            <a:off x="18836640" y="953719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39" name="Stage 5 number"/>
          <p:cNvSpPr txBox="1"/>
          <p:nvPr/>
        </p:nvSpPr>
        <p:spPr>
          <a:xfrm>
            <a:off x="18836640" y="973836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5</a:t>
            </a:r>
          </a:p>
        </p:txBody>
      </p:sp>
      <p:sp>
        <p:nvSpPr>
          <p:cNvPr id="40" name="Stage 5 name"/>
          <p:cNvSpPr txBox="1"/>
          <p:nvPr/>
        </p:nvSpPr>
        <p:spPr>
          <a:xfrm>
            <a:off x="20025360" y="973836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2 / 3 / 2 Head Pipeline</a:t>
            </a:r>
          </a:p>
        </p:txBody>
      </p:sp>
      <p:sp>
        <p:nvSpPr>
          <p:cNvPr id="41" name="Stage 5 detail"/>
          <p:cNvSpPr txBox="1"/>
          <p:nvPr/>
        </p:nvSpPr>
        <p:spPr>
          <a:xfrm>
            <a:off x="20025360" y="1065276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Overlap communication and attention</a:t>
            </a:r>
          </a:p>
          <a:p>
            <a:pPr algn="l">
              <a:lnSpc>
                <a:spcPct val="112000"/>
              </a:lnSpc>
              <a:spcBef>
                <a:spcPts val="0"/>
              </a:spcBef>
              <a:spcAft>
                <a:spcPts val="0"/>
              </a:spcAft>
            </a:pPr>
            <a:r>
              <a:rPr sz="3000" b="0">
                <a:solidFill>
                  <a:srgbClr val="313131"/>
                </a:solidFill>
                <a:latin typeface="NVIDIA Sans"/>
              </a:rPr>
              <a:t>Restore heads before output projection</a:t>
            </a:r>
          </a:p>
        </p:txBody>
      </p:sp>
      <p:sp>
        <p:nvSpPr>
          <p:cNvPr id="42" name="Stage 5 timing"/>
          <p:cNvSpPr txBox="1"/>
          <p:nvPr/>
        </p:nvSpPr>
        <p:spPr>
          <a:xfrm>
            <a:off x="31821119" y="982980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6.472</a:t>
            </a:r>
          </a:p>
        </p:txBody>
      </p:sp>
      <p:cxnSp>
        <p:nvCxnSpPr>
          <p:cNvPr id="43" name="Stage 5 separator"/>
          <p:cNvCxnSpPr/>
          <p:nvPr/>
        </p:nvCxnSpPr>
        <p:spPr>
          <a:xfrm>
            <a:off x="18836640" y="1191463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Stage 6 number"/>
          <p:cNvSpPr txBox="1"/>
          <p:nvPr/>
        </p:nvSpPr>
        <p:spPr>
          <a:xfrm>
            <a:off x="18836640" y="1211580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6</a:t>
            </a:r>
          </a:p>
        </p:txBody>
      </p:sp>
      <p:sp>
        <p:nvSpPr>
          <p:cNvPr id="45" name="Stage 6 name"/>
          <p:cNvSpPr txBox="1"/>
          <p:nvPr/>
        </p:nvSpPr>
        <p:spPr>
          <a:xfrm>
            <a:off x="20025360" y="1211580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CUDA Graph</a:t>
            </a:r>
          </a:p>
        </p:txBody>
      </p:sp>
      <p:sp>
        <p:nvSpPr>
          <p:cNvPr id="46" name="Stage 6 detail"/>
          <p:cNvSpPr txBox="1"/>
          <p:nvPr/>
        </p:nvSpPr>
        <p:spPr>
          <a:xfrm>
            <a:off x="20025360" y="1303020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Replay each head band's compute</a:t>
            </a:r>
          </a:p>
          <a:p>
            <a:pPr algn="l">
              <a:lnSpc>
                <a:spcPct val="112000"/>
              </a:lnSpc>
              <a:spcBef>
                <a:spcPts val="0"/>
              </a:spcBef>
              <a:spcAft>
                <a:spcPts val="0"/>
              </a:spcAft>
            </a:pPr>
            <a:r>
              <a:rPr sz="3000" b="0">
                <a:solidFill>
                  <a:srgbClr val="313131"/>
                </a:solidFill>
                <a:latin typeface="NVIDIA Sans"/>
              </a:rPr>
              <a:t>Reduce repeated CPU launch overhead</a:t>
            </a:r>
          </a:p>
        </p:txBody>
      </p:sp>
      <p:sp>
        <p:nvSpPr>
          <p:cNvPr id="47" name="Stage 6 timing"/>
          <p:cNvSpPr txBox="1"/>
          <p:nvPr/>
        </p:nvSpPr>
        <p:spPr>
          <a:xfrm>
            <a:off x="31821119" y="1220724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6.201</a:t>
            </a:r>
          </a:p>
        </p:txBody>
      </p:sp>
      <p:cxnSp>
        <p:nvCxnSpPr>
          <p:cNvPr id="48" name="Stage 6 separator"/>
          <p:cNvCxnSpPr/>
          <p:nvPr/>
        </p:nvCxnSpPr>
        <p:spPr>
          <a:xfrm>
            <a:off x="18836640" y="1429207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Stage 7 number"/>
          <p:cNvSpPr txBox="1"/>
          <p:nvPr/>
        </p:nvSpPr>
        <p:spPr>
          <a:xfrm>
            <a:off x="18836640" y="1449324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7</a:t>
            </a:r>
          </a:p>
        </p:txBody>
      </p:sp>
      <p:sp>
        <p:nvSpPr>
          <p:cNvPr id="50" name="Stage 7 name"/>
          <p:cNvSpPr txBox="1"/>
          <p:nvPr/>
        </p:nvSpPr>
        <p:spPr>
          <a:xfrm>
            <a:off x="20025360" y="1449324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NVFP4 36L VAE + MP4</a:t>
            </a:r>
          </a:p>
        </p:txBody>
      </p:sp>
      <p:sp>
        <p:nvSpPr>
          <p:cNvPr id="51" name="Stage 7 detail"/>
          <p:cNvSpPr txBox="1"/>
          <p:nvPr/>
        </p:nvSpPr>
        <p:spPr>
          <a:xfrm>
            <a:off x="20025360" y="1540764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Native 36-layer decoder to NVFP4</a:t>
            </a:r>
          </a:p>
          <a:p>
            <a:pPr algn="l">
              <a:lnSpc>
                <a:spcPct val="112000"/>
              </a:lnSpc>
              <a:spcBef>
                <a:spcPts val="0"/>
              </a:spcBef>
              <a:spcAft>
                <a:spcPts val="0"/>
              </a:spcAft>
            </a:pPr>
            <a:r>
              <a:rPr sz="3000" b="0">
                <a:solidFill>
                  <a:srgbClr val="313131"/>
                </a:solidFill>
                <a:latin typeface="NVIDIA Sans"/>
              </a:rPr>
              <a:t>MP4 pre-encoding pipeline</a:t>
            </a:r>
          </a:p>
        </p:txBody>
      </p:sp>
      <p:sp>
        <p:nvSpPr>
          <p:cNvPr id="52" name="Stage 7 timing"/>
          <p:cNvSpPr txBox="1"/>
          <p:nvPr/>
        </p:nvSpPr>
        <p:spPr>
          <a:xfrm>
            <a:off x="31821119" y="1458468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5.418</a:t>
            </a:r>
          </a:p>
        </p:txBody>
      </p:sp>
      <p:cxnSp>
        <p:nvCxnSpPr>
          <p:cNvPr id="53" name="Stage 7 separator"/>
          <p:cNvCxnSpPr/>
          <p:nvPr/>
        </p:nvCxnSpPr>
        <p:spPr>
          <a:xfrm>
            <a:off x="18836640" y="1666951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54" name="Live target"/>
          <p:cNvSpPr txBox="1"/>
          <p:nvPr/>
        </p:nvSpPr>
        <p:spPr>
          <a:xfrm>
            <a:off x="1828800" y="17465040"/>
            <a:ext cx="32918400" cy="868680"/>
          </a:xfrm>
          <a:prstGeom prst="rect">
            <a:avLst/>
          </a:prstGeom>
          <a:noFill/>
        </p:spPr>
        <p:txBody>
          <a:bodyPr wrap="square" lIns="0" rIns="0" tIns="0" bIns="0">
            <a:noAutofit/>
          </a:bodyPr>
          <a:lstStyle/>
          <a:p>
            <a:pPr algn="ctr">
              <a:lnSpc>
                <a:spcPct val="112000"/>
              </a:lnSpc>
              <a:spcBef>
                <a:spcPts val="0"/>
              </a:spcBef>
              <a:spcAft>
                <a:spcPts val="0"/>
              </a:spcAft>
            </a:pPr>
            <a:r>
              <a:rPr sz="4200" b="0">
                <a:solidFill>
                  <a:srgbClr val="76B900"/>
                </a:solidFill>
                <a:latin typeface="NVIDIA Sans Medium"/>
              </a:rPr>
              <a:t>Target: full request &lt; 5.000 s · Not reached</a:t>
            </a:r>
          </a:p>
        </p:txBody>
      </p:sp>
      <p:sp>
        <p:nvSpPr>
          <p:cNvPr id="55" name="Measurement status"/>
          <p:cNvSpPr txBox="1"/>
          <p:nvPr/>
        </p:nvSpPr>
        <p:spPr>
          <a:xfrm>
            <a:off x="1828800" y="18562320"/>
            <a:ext cx="32918400" cy="640080"/>
          </a:xfrm>
          <a:prstGeom prst="rect">
            <a:avLst/>
          </a:prstGeom>
          <a:noFill/>
        </p:spPr>
        <p:txBody>
          <a:bodyPr wrap="square" lIns="0" rIns="0" tIns="0" bIns="0">
            <a:noAutofit/>
          </a:bodyPr>
          <a:lstStyle/>
          <a:p>
            <a:pPr algn="ctr">
              <a:lnSpc>
                <a:spcPct val="112000"/>
              </a:lnSpc>
              <a:spcBef>
                <a:spcPts val="0"/>
              </a:spcBef>
              <a:spcAft>
                <a:spcPts val="0"/>
              </a:spcAft>
            </a:pPr>
            <a:r>
              <a:rPr sz="2800" b="0">
                <a:solidFill>
                  <a:srgbClr val="313131"/>
                </a:solidFill>
                <a:latin typeface="NVIDIA Sans"/>
              </a:rPr>
              <a:t>Seven groups measured · 3 formal requests each · Initialization and warmup excluded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02 · ComfyUI Apps</a:t>
            </a:r>
            <a:br/>
            <a:r>
              <a:t>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a:xfrm>
            <a:off x="1828799" y="16870680"/>
            <a:ext cx="16114094" cy="1371600"/>
          </a:xfrm>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a:xfrm>
            <a:off x="1828799" y="15819120"/>
            <a:ext cx="16114094" cy="822960"/>
          </a:xfrm>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a:xfrm>
            <a:off x="18633106" y="16870680"/>
            <a:ext cx="16114093" cy="1371600"/>
          </a:xfrm>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a:xfrm>
            <a:off x="18633106" y="15819120"/>
            <a:ext cx="16114093" cy="822960"/>
          </a:xfrm>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