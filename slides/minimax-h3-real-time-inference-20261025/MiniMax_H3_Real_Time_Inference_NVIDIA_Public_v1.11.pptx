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 Id="rId98" Type="http://schemas.openxmlformats.org/officeDocument/2006/relationships/slide" Target="slides/slide75.xml"/><Relationship Id="rId99" Type="http://schemas.openxmlformats.org/officeDocument/2006/relationships/slide" Target="slides/slide76.xml"/><Relationship Id="rId100" Type="http://schemas.openxmlformats.org/officeDocument/2006/relationships/slide" Target="slides/slide77.xml"/><Relationship Id="rId101" Type="http://schemas.openxmlformats.org/officeDocument/2006/relationships/slide" Target="slides/slide78.xml"/><Relationship Id="rId102" Type="http://schemas.openxmlformats.org/officeDocument/2006/relationships/slide" Target="slides/slide79.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trained BF16 model. Apply the quantization recipe to create a student whose forward pass simulates the rounding and clipping it will see at inference. The same training sample also goes through the frozen BF16 teacher. A distillation loss measures the difference between teacher and student outputs, and gradients update only the student through the straight-through estimator. QAD is therefore a quality-recovery training method; it does not add work to the deployed inference graph. The public FastH3 Omni NVFP4-QAD checkpoint uses eight transformer forwards and packed NVFP4 transformer linears, while calibrated sensitive modules remain in BF16. The separate local Sage-VSA path quantizes selected fine-attention math to Q/K INT8 and V FP8, but the current Ulysses exchange still carries BF16 tensors. Do not combine the public checkpoint and the separate Sage path into one measured speedup until they pass a matched run. Figure source: https://developer.nvidia.com/blog/how-quantization-aware-training-enables-low-precision-accuracy-recovery/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CUDA Graph does not depend on head batching. An all-head Ulysses exchange can still replay a captured unpack, attention and pack compute island when resolution, frame count, tensor geometry, strides and registered buffer addresses remain fixed. Sequence length can change when H, W, T or the packed reference slots change, so arbitrary video requests have less cross-request reuse than LLM decode. The current captured island contains no block-specific weights, and its key uses implementation configuration rather than the DiT block instance. When configuration and metadata match, one GraphExec per band/profile can replay across all 50 blocks and all denoising steps: 400 times under PDD8 or 2,500 times under Base50. The (1, 2, 3, 1) band plan uses four such GraphExecs. Fixed live-stream profiles also reuse their Graphs across continuation windows, which can amortize warmup and capture far better than arbitrary generation. A paired single-GPU component test used a saved real layer-0 input, 12 counterbalanced rounds and 20 repeats per arm. All four arms were bit-exact. All-head eager measured 11.703171 ms and all-head Graph measured 11.658073 ms, a 0.3853 percent reduction. Four-band eager measured 12.323460 ms and four-band Graph measured 12.040123 ms, a 2.2992 percent reduction. The test contains no collective or RDMA, so it shows that Graph helps the finer launch schedule more; it does not establish the end-to-end value of head banding. Banding alone adds compute overhead, and its intended gain comes from communication-compute overlap. The upper timeline shows the remaining limitation: attention still waits for the complete QKV exchange, so Graph replay only removes CPU launch and scheduling gaps. The lower timeline divides the seven local heads into fixed bands. Once band zero arrives, its captured compute island can run while the communication stream moves the next band. Graph replay keeps the smaller per-band unpack, attention and pack operations from becoming launch-bound. RDMA work requests, completion polling, readiness events and dynamic band scheduling remain outside CUDA Graph. CUDA Graph does not increase RDMA bandwidth and does not make arbitrary dynamic sequence lengths static. Cross-request variation still requires a bounded shape cache, padding and masking, or eager fallback on a cache miss.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decode commonly captures a small set of batch-size buckets with query length one, then reuses those graphs across many token steps and requests. Video generation has a higher-dimensional shape key. Output height, width and frame count change the latent sequence length; packed reference slots or conditioning length can add another dimension; head-band width and stable registered-buffer addresses also participate in the current prototype key. Therefore arbitrary video requests have lower cross-request Graph hit rate. The captured island contains no block-specific weights, and its key does not include the DiT block instance. When configuration and metadata match, one GraphExec per band/profile can replay across all 50 blocks and all denoising steps: 400 times under PDD8 or 2,500 times under Base50. The (1, 2, 3, 1) plan uses four GraphExecs. A fixed live-avatar profile can recover even more reuse because resolution, frame window, reference slots, band plan and persistent buffers repeat across continuation requests. For fixed-sparsity or fixed-Top-K VSA, the selected count is fixed for one profile. Top-K indices, scores and Q/K/V values change, but their tensor shapes do not, so those content changes do not require recapture. If a ratio-based K is derived from sequence length, K can still change when a new request changes H, W or T. The serving policy is to pre-capture a bounded set of hot profiles, use persistent registered buffer pools, run uncommon shapes eagerly, and capture only after a reuse threshold. Report Graph hit rate, cold capture cost, private-pool memory and eager fallback rate.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page explains the Ulysses tensor transform; this page shows the physical roads underneath it. The five Q, K, V, gate and output slots cross the topology in each measured VSA-enabled DiT block. The retained host has two NUMA sockets and four two-GPU PCIe islands. P0 contains GPUs 0 and 1, P1 contains GPUs 2 and 3, P2 contains GPUs 4 and 5, and P3 contains GPUs 6 and 7. From any GPU, one remote peer shares its PCIe subtree and is classified PXB, two peers sit behind the other subtree on the same NUMA socket and are classified NODE, and four peers sit across the CPU-to-CPU path and are classified SYS. Ulysses uses equal peer chunks, so the logical off-rank split is 1/7 PXB, 2/7 NODE and 4/7 SYS. Therefore 57.1 percent of minimum one-way off-rank logical payload is cross-socket. This is a topology and logical-payload statement; it is not a captured split of NCCL wire bytes, route residency, or elapsed time. The nearest-NIC mapping is GPU0 to mlx5_2, GPU1 to mlx5_3, GPU2 to mlx5_0, GPU3 to mlx5_1, GPU4 to mlx5_6, GPU5 to mlx5_7, GPU6 to mlx5_4 and GPU7 to mlx5_5. Each retained ConnectX-8 port was active at 400 Gb/s. The editable diagram shows hardware containment and path classes; it does not assert that the local NCCL control transported every byte over a single physical route family. Code anchors: pipeline_minimax_h3.py lines 648 and 886-887; pipeline_minimax_h3.py line 3539; denoise_loop.py lines 3-7 and the single model call beginning at line 404.</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exact-shape benchmark isolates the five Ulysses Q, K, V, gate and output slots for the current MiniMax H3 Ref2VA avatar profile: 960 by 544, 362 frames at 24 FPS, BF16, DP1, TP1, USP8, Ring1, global aligned sequence 56,960, local sequence 7,120, 56 heads and head dimension 128. It is one request on one eight-GPU replica, not DP8. Each route moves 446,566,400 off-rank logical bytes per rank and DiT block. Across all eight ranks and 400 PDD8 block calls, the minimum one-way off-rank logical volume is 1,429,012,480,000 bytes, or 1.42901248 decimal terabytes. Five warmups preceded eight paired trials with four block calls per trial. Each trial records the slowest rank; the slide reports the mean of those rank maxima. NCCL local measured 24.874763 milliseconds per block and 17.952589 decimal gigabytes per second of effective off-rank send bandwidth per rank. Nearest-NIC GPUDirect RDMA measured 10.855998 milliseconds and 41.135455 gigabytes per second. Multiplying the unrounded block means by 400 gives 9.949905 and 4.342399 seconds of serialized PDD8 communication plus path-required layout, a 5.607506-second reduction. The RDMA path is 2.291338 times faster and uses 56.3574 percent less measured communication-plus-layout time. Outputs match an independent all_gather reference exactly. This test contains no attention, GEMM or communication-compute overlap. Its serialized values are not end-to-end request predictions. The NCCL and RDMA adapters also use different path-required layout operations, so the delta is a measured deployment-path result rather than isolated wire time. Raw source: /tmp/h3-qad-realtime-20261023/ulysses-362f-paths-20261025.json.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2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PTQ is not enough</a:t>
            </a:r>
          </a:p>
          <a:p>
            <a:pPr lvl="1" algn="l"/>
            <a:r>
              <a:rPr b="0">
                <a:solidFill>
                  <a:srgbClr val="313131"/>
                </a:solidFill>
                <a:latin typeface="NVIDIA Sans"/>
              </a:rPr>
              <a:t>Four-bit rounding can move the model away from its BF16 output</a:t>
            </a:r>
          </a:p>
          <a:p>
            <a:pPr algn="l"/>
            <a:r>
              <a:rPr b="1">
                <a:solidFill>
                  <a:srgbClr val="76B900"/>
                </a:solidFill>
                <a:latin typeface="NVIDIA Sans Medium"/>
              </a:rPr>
              <a:t>Same sample, two paths</a:t>
            </a:r>
          </a:p>
          <a:p>
            <a:pPr lvl="1" algn="l"/>
            <a:r>
              <a:rPr b="0">
                <a:solidFill>
                  <a:srgbClr val="313131"/>
                </a:solidFill>
                <a:latin typeface="NVIDIA Sans"/>
              </a:rPr>
              <a:t>The teacher stays frozen; the student sees deployment quantization noise</a:t>
            </a:r>
          </a:p>
          <a:p>
            <a:pPr algn="l"/>
            <a:r>
              <a:rPr b="1">
                <a:solidFill>
                  <a:srgbClr val="76B900"/>
                </a:solidFill>
                <a:latin typeface="NVIDIA Sans Medium"/>
              </a:rPr>
              <a:t>Only the student learns</a:t>
            </a:r>
          </a:p>
          <a:p>
            <a:pPr lvl="1" algn="l"/>
            <a:r>
              <a:rPr b="0">
                <a:solidFill>
                  <a:srgbClr val="313131"/>
                </a:solidFill>
                <a:latin typeface="NVIDIA Sans"/>
              </a:rPr>
              <a:t>Distillation + STE update the student; the teacher disappears at inference</a:t>
            </a:r>
          </a:p>
          <a:p>
            <a:pPr algn="l"/>
            <a:r>
              <a:rPr b="1">
                <a:solidFill>
                  <a:srgbClr val="313131"/>
                </a:solidFill>
                <a:latin typeface="NVIDIA Sans Medium"/>
              </a:rPr>
              <a:t>Mixed precision by design</a:t>
            </a:r>
          </a:p>
          <a:p>
            <a:pPr lvl="1" algn="l"/>
            <a:r>
              <a:rPr b="0">
                <a:solidFill>
                  <a:srgbClr val="313131"/>
                </a:solidFill>
                <a:latin typeface="NVIDIA Sans"/>
              </a:rPr>
              <a:t>High-throughput linears use NVFP4; sensitive surrounding math stays BF16</a:t>
            </a:r>
          </a:p>
        </p:txBody>
      </p:sp>
      <p:sp>
        <p:nvSpPr>
          <p:cNvPr id="3" name="Text Placeholder 2"/>
          <p:cNvSpPr>
            <a:spLocks noGrp="1"/>
          </p:cNvSpPr>
          <p:nvPr>
            <p:ph type="body" idx="14" sz="quarter"/>
          </p:nvPr>
        </p:nvSpPr>
        <p:spPr>
          <a:xfrm>
            <a:off x="1828800" y="5806440"/>
            <a:ext cx="13716000" cy="1417320"/>
          </a:xfrm>
        </p:spPr>
        <p:txBody>
          <a:bodyPr/>
          <a:lstStyle/>
          <a:p>
            <a:r>
              <a:t>QAD trains the deployed NVFP4 path against a frozen BF16 teacher</a:t>
            </a:r>
          </a:p>
        </p:txBody>
      </p:sp>
      <p:sp>
        <p:nvSpPr>
          <p:cNvPr id="4" name="Title 3"/>
          <p:cNvSpPr>
            <a:spLocks noGrp="1"/>
          </p:cNvSpPr>
          <p:nvPr>
            <p:ph type="title"/>
          </p:nvPr>
        </p:nvSpPr>
        <p:spPr>
          <a:xfrm>
            <a:off x="1828800" y="1828800"/>
            <a:ext cx="13716000" cy="3840480"/>
          </a:xfrm>
        </p:spPr>
        <p:txBody>
          <a:bodyPr/>
          <a:lstStyle/>
          <a:p>
            <a:r>
              <a:t>Quantization</a:t>
            </a:r>
          </a:p>
        </p:txBody>
      </p:sp>
      <p:sp>
        <p:nvSpPr>
          <p:cNvPr id="5" name="Text Placeholder 4"/>
          <p:cNvSpPr>
            <a:spLocks noGrp="1"/>
          </p:cNvSpPr>
          <p:nvPr>
            <p:ph type="body" idx="52" sz="quarter"/>
          </p:nvPr>
        </p:nvSpPr>
        <p:spPr/>
        <p:txBody>
          <a:bodyPr/>
          <a:lstStyle/>
          <a:p>
            <a:r>
              <a:t>Concept: L_QAD = D(y_BF16, y_NVFP4) · the teacher disappears at inference</a:t>
            </a:r>
          </a:p>
        </p:txBody>
      </p:sp>
      <p:sp>
        <p:nvSpPr>
          <p:cNvPr id="6" name="Text Placeholder 5"/>
          <p:cNvSpPr>
            <a:spLocks noGrp="1"/>
          </p:cNvSpPr>
          <p:nvPr>
            <p:ph type="body" idx="51" sz="quarter"/>
          </p:nvPr>
        </p:nvSpPr>
        <p:spPr/>
        <p:txBody>
          <a:bodyPr/>
          <a:lstStyle/>
          <a:p>
            <a:r>
              <a:t>Teacher Guides; NVFP4 Student Learns</a:t>
            </a:r>
          </a:p>
        </p:txBody>
      </p:sp>
      <p:pic>
        <p:nvPicPr>
          <p:cNvPr id="7" name="Picture Placeholder 6" descr="nvidia_qad_loss_flow_figure5_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Model Optimizer QAD workflow, NVIDIA Technical Blog, Fig. 5 (2025) · FastH3 Omni NVFP4-QAD rev 0087718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USP8 turns every attention block into four synchronized all-to-all exchanges</a:t>
            </a:r>
          </a:p>
        </p:txBody>
      </p:sp>
      <p:sp>
        <p:nvSpPr>
          <p:cNvPr id="3" name="Title 2"/>
          <p:cNvSpPr>
            <a:spLocks noGrp="1"/>
          </p:cNvSpPr>
          <p:nvPr>
            <p:ph type="title"/>
          </p:nvPr>
        </p:nvSpPr>
        <p:spPr/>
        <p:txBody>
          <a:bodyPr/>
          <a:lstStyle/>
          <a:p>
            <a:r>
              <a:t>Communication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Rate at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61.7 MB/rank/A2A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Logical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Not achieved bandwidth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All heads + Graph</a:t>
            </a:r>
          </a:p>
          <a:p>
            <a:pPr lvl="1" algn="l"/>
            <a:r>
              <a:rPr b="0">
                <a:solidFill>
                  <a:srgbClr val="313131"/>
                </a:solidFill>
                <a:latin typeface="NVIDIA Sans"/>
              </a:rPr>
              <a:t>Cuts launch overhead, but attention still waits for the full exchange</a:t>
            </a:r>
          </a:p>
          <a:p>
            <a:pPr algn="l"/>
            <a:r>
              <a:rPr b="1">
                <a:solidFill>
                  <a:srgbClr val="76B900"/>
                </a:solidFill>
                <a:latin typeface="NVIDIA Sans Medium"/>
              </a:rPr>
              <a:t>Head bands + Graph</a:t>
            </a:r>
          </a:p>
          <a:p>
            <a:pPr lvl="1" algn="l"/>
            <a:r>
              <a:rPr b="0">
                <a:solidFill>
                  <a:srgbClr val="313131"/>
                </a:solidFill>
                <a:latin typeface="NVIDIA Sans"/>
              </a:rPr>
              <a:t>Starts attention as each fixed band arrives and pipelines later bands</a:t>
            </a:r>
          </a:p>
          <a:p>
            <a:pPr algn="l"/>
            <a:r>
              <a:rPr b="1">
                <a:solidFill>
                  <a:srgbClr val="76B900"/>
                </a:solidFill>
                <a:latin typeface="NVIDIA Sans Medium"/>
              </a:rPr>
              <a:t>Measured compute-only</a:t>
            </a:r>
          </a:p>
          <a:p>
            <a:pPr lvl="1" algn="l"/>
            <a:r>
              <a:rPr b="0">
                <a:solidFill>
                  <a:srgbClr val="313131"/>
                </a:solidFill>
                <a:latin typeface="NVIDIA Sans"/>
              </a:rPr>
              <a:t>All-head −0.39% · four bands −2.30%; banding pays off through overlap</a:t>
            </a:r>
          </a:p>
          <a:p>
            <a:pPr algn="l"/>
            <a:r>
              <a:rPr b="1">
                <a:solidFill>
                  <a:srgbClr val="313131"/>
                </a:solidFill>
                <a:latin typeface="NVIDIA Sans Medium"/>
              </a:rPr>
              <a:t>Capture boundary</a:t>
            </a:r>
          </a:p>
          <a:p>
            <a:pPr lvl="1" algn="l"/>
            <a:r>
              <a:rPr b="0">
                <a:solidFill>
                  <a:srgbClr val="313131"/>
                </a:solidFill>
                <a:latin typeface="NVIDIA Sans"/>
              </a:rPr>
              <a:t>Graph: unpack → attention → pack; RDMA and readiness events stay outside</a:t>
            </a:r>
          </a:p>
        </p:txBody>
      </p:sp>
      <p:sp>
        <p:nvSpPr>
          <p:cNvPr id="3" name="Text Placeholder 2"/>
          <p:cNvSpPr>
            <a:spLocks noGrp="1"/>
          </p:cNvSpPr>
          <p:nvPr>
            <p:ph type="body" idx="14" sz="quarter"/>
          </p:nvPr>
        </p:nvSpPr>
        <p:spPr>
          <a:xfrm>
            <a:off x="1828800" y="5806440"/>
            <a:ext cx="13716000" cy="1417320"/>
          </a:xfrm>
        </p:spPr>
        <p:txBody>
          <a:bodyPr/>
          <a:lstStyle/>
          <a:p>
            <a:r>
              <a:t>Replay trims launch gaps; fixed head bands expose overlap</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5" name="Text Placeholder 4"/>
          <p:cNvSpPr>
            <a:spLocks noGrp="1"/>
          </p:cNvSpPr>
          <p:nvPr>
            <p:ph type="body" idx="52" sz="quarter"/>
          </p:nvPr>
        </p:nvSpPr>
        <p:spPr/>
        <p:txBody>
          <a:bodyPr/>
          <a:lstStyle/>
          <a:p>
            <a:r>
              <a:t>Measured compute-only: all-head −0.39% · four bands −2.30% · banding pays off through overlap</a:t>
            </a:r>
          </a:p>
        </p:txBody>
      </p:sp>
      <p:sp>
        <p:nvSpPr>
          <p:cNvPr id="6" name="Text Placeholder 5"/>
          <p:cNvSpPr>
            <a:spLocks noGrp="1"/>
          </p:cNvSpPr>
          <p:nvPr>
            <p:ph type="body" idx="51" sz="quarter"/>
          </p:nvPr>
        </p:nvSpPr>
        <p:spPr/>
        <p:txBody>
          <a:bodyPr/>
          <a:lstStyle/>
          <a:p>
            <a:r>
              <a:t>Same Graph Benefit · Different Overlap</a:t>
            </a:r>
          </a:p>
        </p:txBody>
      </p:sp>
      <p:pic>
        <p:nvPicPr>
          <p:cNvPr id="7" name="Picture Placeholder 6" descr="cuda-graph-head-band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component test: head-compute-four-arm-20261025 · CUDA Programming Guide · author diagram</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New video shapes need a new profile; a fixed live stream can replay the same graphs again and again</a:t>
            </a:r>
          </a:p>
        </p:txBody>
      </p:sp>
      <p:sp>
        <p:nvSpPr>
          <p:cNvPr id="3" name="Title 2"/>
          <p:cNvSpPr>
            <a:spLocks noGrp="1"/>
          </p:cNvSpPr>
          <p:nvPr>
            <p:ph type="title"/>
          </p:nvPr>
        </p:nvSpPr>
        <p:spPr/>
        <p:txBody>
          <a:bodyPr/>
          <a:lstStyle/>
          <a:p>
            <a:r>
              <a:t>CUDA Graph Reuse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13</a:t>
            </a:fld>
            <a:endParaRPr lang="en-US"/>
          </a:p>
        </p:txBody>
      </p:sp>
      <p:graphicFrame>
        <p:nvGraphicFramePr>
          <p:cNvPr id="5" name="Official NVIDIA CUDA Graph Reus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50"/>
        </p:xfrm>
        <a:graphic>
          <a:graphicData uri="http://schemas.openxmlformats.org/drawingml/2006/table">
            <a:tbl>
              <a:tblPr>
                <a:tableStyleId>{68D230F3-CF80-4859-8CE7-A43EE81993B5}</a:tableStyleId>
              </a:tblPr>
              <a:tblGrid>
                <a:gridCol w="4663440">
                  <a:extLst>
                    <a:ext uri="{9D8B030D-6E8A-4147-A177-3AD203B41FA5}">
                      <a16:colId xmlns:a16="http://schemas.microsoft.com/office/drawing/2014/main" val="1714626306"/>
                    </a:ext>
                  </a:extLst>
                </a:gridCol>
                <a:gridCol w="6949440">
                  <a:extLst>
                    <a:ext uri="{9D8B030D-6E8A-4147-A177-3AD203B41FA5}">
                      <a16:colId xmlns:a16="http://schemas.microsoft.com/office/drawing/2014/main" val="1697748500"/>
                    </a:ext>
                  </a:extLst>
                </a:gridCol>
                <a:gridCol w="8595360">
                  <a:extLst>
                    <a:ext uri="{9D8B030D-6E8A-4147-A177-3AD203B41FA5}">
                      <a16:colId xmlns:a16="http://schemas.microsoft.com/office/drawing/2014/main" val="3872581152"/>
                    </a:ext>
                  </a:extLst>
                </a:gridCol>
                <a:gridCol w="8062081">
                  <a:extLst>
                    <a:ext uri="{9D8B030D-6E8A-4147-A177-3AD203B41FA5}">
                      <a16:colId xmlns:a16="http://schemas.microsoft.com/office/drawing/2014/main" val="2543914041"/>
                    </a:ext>
                  </a:extLst>
                </a:gridCol>
              </a:tblGrid>
              <a:tr h="105156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Question</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LLM Decode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H3 Video</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Serving Policy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Shape key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Batch bucket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q_len = 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H/W/T · reference slots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head band</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Cache a small set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of hot profiles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Replay window</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Many token steps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and requests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Across blocks + steps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PDD8: 400 · Base50: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Reuse persistent slots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across continuation windows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VSA Top-K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Count fixed per profile</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indices and values 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Content changes replay</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the same Graph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New geometry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Select another</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batch bucket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Bucket hit or</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eager path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Capture only after</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the profile becomes hot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Buffer addresses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Static or pooled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decode buffers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Registered QKV/O</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staging buffers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Use a persistent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buffer pool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*Per band/profile GraphExec when configuration matches · (1,2,3,1) uses four GraphExecs · Sources: CUDA Programming Guide; current H3 prototype audit</a:t>
            </a:r>
            <a:endParaRPr lang="en-US" dirty="0"/>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USP</a:t>
            </a:r>
          </a:p>
        </p:txBody>
      </p:sp>
      <p:sp>
        <p:nvSpPr>
          <p:cNvPr id="5" name="Text Placeholder 4"/>
          <p:cNvSpPr>
            <a:spLocks noGrp="1"/>
          </p:cNvSpPr>
          <p:nvPr>
            <p:ph type="body" idx="52" sz="quarter"/>
          </p:nvPr>
        </p:nvSpPr>
        <p:spPr/>
        <p:txBody>
          <a:bodyPr/>
          <a:lstStyle/>
          <a:p>
            <a:r>
              <a:t>7,120 × 56 → 56,960 × 7 → 7,120 × 56 · repeated in every attention block</a:t>
            </a:r>
          </a:p>
        </p:txBody>
      </p:sp>
      <p:sp>
        <p:nvSpPr>
          <p:cNvPr id="6" name="Text Placeholder 5"/>
          <p:cNvSpPr>
            <a:spLocks noGrp="1"/>
          </p:cNvSpPr>
          <p:nvPr>
            <p:ph type="body" idx="51" sz="quarter"/>
          </p:nvPr>
        </p:nvSpPr>
        <p:spPr/>
        <p:txBody>
          <a:bodyPr/>
          <a:lstStyle/>
          <a:p>
            <a:r>
              <a:t>Same Tensor, Different Ownership</a:t>
            </a:r>
          </a:p>
        </p:txBody>
      </p:sp>
      <p:pic>
        <p:nvPicPr>
          <p:cNvPr id="7" name="Picture Placeholder 6" descr="ulysses-sequence-parallel-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Adapted from DeepSpeed-Ulysses (Jacobs et al., 2023) · current H3 path: DP1 / TP1 / USP8 / Ring1 · measured 362-frame profile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Four PCIe islands</a:t>
            </a:r>
          </a:p>
          <a:p>
            <a:pPr lvl="1" algn="l"/>
            <a:r>
              <a:rPr b="0">
                <a:solidFill>
                  <a:srgbClr val="313131"/>
                </a:solidFill>
                <a:latin typeface="NVIDIA Sans"/>
              </a:rPr>
              <a:t>Each island holds two GPUs and two nearest 400-Gb/s CX-8 ports</a:t>
            </a:r>
          </a:p>
          <a:p>
            <a:pPr algn="l"/>
            <a:r>
              <a:rPr b="1">
                <a:solidFill>
                  <a:srgbClr val="76B900"/>
                </a:solidFill>
                <a:latin typeface="NVIDIA Sans Medium"/>
              </a:rPr>
              <a:t>Three kinds of peer path</a:t>
            </a:r>
          </a:p>
          <a:p>
            <a:pPr lvl="1" algn="l"/>
            <a:r>
              <a:rPr b="0">
                <a:solidFill>
                  <a:srgbClr val="313131"/>
                </a:solidFill>
                <a:latin typeface="NVIDIA Sans"/>
              </a:rPr>
              <a:t>From one rank: 1 PXB, 2 NODE, and 4 SYS peers</a:t>
            </a:r>
          </a:p>
          <a:p>
            <a:pPr algn="l"/>
            <a:r>
              <a:rPr b="1">
                <a:solidFill>
                  <a:srgbClr val="76B900"/>
                </a:solidFill>
                <a:latin typeface="NVIDIA Sans Medium"/>
              </a:rPr>
              <a:t>Most peers cross sockets</a:t>
            </a:r>
          </a:p>
          <a:p>
            <a:pPr lvl="1" algn="l"/>
            <a:r>
              <a:rPr b="0">
                <a:solidFill>
                  <a:srgbClr val="313131"/>
                </a:solidFill>
                <a:latin typeface="NVIDIA Sans"/>
              </a:rPr>
              <a:t>Four of seven off-rank peers use the SYS path</a:t>
            </a:r>
          </a:p>
          <a:p>
            <a:pPr algn="l"/>
            <a:r>
              <a:rPr b="1">
                <a:solidFill>
                  <a:srgbClr val="76B900"/>
                </a:solidFill>
                <a:latin typeface="NVIDIA Sans Medium"/>
              </a:rPr>
              <a:t>Why the baseline is uneven</a:t>
            </a:r>
          </a:p>
          <a:p>
            <a:pPr lvl="1" algn="l"/>
            <a:r>
              <a:rPr b="0">
                <a:solidFill>
                  <a:srgbClr val="313131"/>
                </a:solidFill>
                <a:latin typeface="NVIDIA Sans"/>
              </a:rPr>
              <a:t>IB is disabled, so local NCCL follows these host paths</a:t>
            </a:r>
          </a:p>
        </p:txBody>
      </p:sp>
      <p:sp>
        <p:nvSpPr>
          <p:cNvPr id="3" name="Text Placeholder 2"/>
          <p:cNvSpPr>
            <a:spLocks noGrp="1"/>
          </p:cNvSpPr>
          <p:nvPr>
            <p:ph type="body" idx="14" sz="quarter"/>
          </p:nvPr>
        </p:nvSpPr>
        <p:spPr>
          <a:xfrm>
            <a:off x="1828800" y="5806440"/>
            <a:ext cx="13716000" cy="1417320"/>
          </a:xfrm>
        </p:spPr>
        <p:txBody>
          <a:bodyPr/>
          <a:lstStyle/>
          <a:p>
            <a:r>
              <a:t>The exchange is balanced in bytes; the host paths are not</a:t>
            </a:r>
          </a:p>
        </p:txBody>
      </p:sp>
      <p:sp>
        <p:nvSpPr>
          <p:cNvPr id="4" name="Title 3"/>
          <p:cNvSpPr>
            <a:spLocks noGrp="1"/>
          </p:cNvSpPr>
          <p:nvPr>
            <p:ph type="title"/>
          </p:nvPr>
        </p:nvSpPr>
        <p:spPr>
          <a:xfrm>
            <a:off x="1828800" y="1828800"/>
            <a:ext cx="13716000" cy="3840480"/>
          </a:xfrm>
        </p:spPr>
        <p:txBody>
          <a:bodyPr/>
          <a:lstStyle/>
          <a:p>
            <a:r>
              <a:t>USP Communication</a:t>
            </a:r>
          </a:p>
        </p:txBody>
      </p:sp>
      <p:sp>
        <p:nvSpPr>
          <p:cNvPr id="5" name="Text Placeholder 4"/>
          <p:cNvSpPr>
            <a:spLocks noGrp="1"/>
          </p:cNvSpPr>
          <p:nvPr>
            <p:ph type="body" idx="52" sz="quarter"/>
          </p:nvPr>
        </p:nvSpPr>
        <p:spPr/>
        <p:txBody>
          <a:bodyPr/>
          <a:lstStyle/>
          <a:p>
            <a:r>
              <a:t>The math is balanced. The roads are not.</a:t>
            </a:r>
          </a:p>
        </p:txBody>
      </p:sp>
      <p:sp>
        <p:nvSpPr>
          <p:cNvPr id="6" name="Text Placeholder 5"/>
          <p:cNvSpPr>
            <a:spLocks noGrp="1"/>
          </p:cNvSpPr>
          <p:nvPr>
            <p:ph type="body" idx="51" sz="quarter"/>
          </p:nvPr>
        </p:nvSpPr>
        <p:spPr/>
        <p:txBody>
          <a:bodyPr/>
          <a:lstStyle/>
          <a:p>
            <a:r>
              <a:t>Eight GPUs · Four PCIe Islands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MiniMaxH3Pipeline and denoise-loop code audit · retained nvidia-smi topo -m · 8 nearest 400-Gb/s CX-8 ports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15</a:t>
            </a:fld>
            <a:endParaRPr lang="en-US"/>
          </a:p>
        </p:txBody>
      </p:sp>
      <p:sp>
        <p:nvSpPr>
          <p:cNvPr id="10" name="Rectangle 9"/>
          <p:cNvSpPr/>
          <p:nvPr/>
        </p:nvSpPr>
        <p:spPr>
          <a:xfrm>
            <a:off x="19705320" y="1920240"/>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25360" y="2066544"/>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0 · CPU 0</a:t>
            </a:r>
          </a:p>
        </p:txBody>
      </p:sp>
      <p:sp>
        <p:nvSpPr>
          <p:cNvPr id="12" name="Rectangle 11"/>
          <p:cNvSpPr/>
          <p:nvPr/>
        </p:nvSpPr>
        <p:spPr>
          <a:xfrm>
            <a:off x="2002536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7772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9705320" y="8183879"/>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025360" y="8330183"/>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1 · CPU 1</a:t>
            </a:r>
          </a:p>
        </p:txBody>
      </p:sp>
      <p:sp>
        <p:nvSpPr>
          <p:cNvPr id="16" name="Rectangle 15"/>
          <p:cNvSpPr/>
          <p:nvPr/>
        </p:nvSpPr>
        <p:spPr>
          <a:xfrm>
            <a:off x="2002536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7772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21602700" y="393649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160270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521458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9055060" y="393649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05506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2666939"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791919" y="393649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602700" y="1020013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160270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521458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055060" y="1020013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05506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666939"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791919" y="1020013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134820" y="7589520"/>
            <a:ext cx="0" cy="594359"/>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226527"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P0</a:t>
            </a:r>
          </a:p>
        </p:txBody>
      </p:sp>
      <p:sp>
        <p:nvSpPr>
          <p:cNvPr id="34" name="Rounded Rectangle 33"/>
          <p:cNvSpPr/>
          <p:nvPr/>
        </p:nvSpPr>
        <p:spPr>
          <a:xfrm>
            <a:off x="2029968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48256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0</a:t>
            </a:r>
          </a:p>
        </p:txBody>
      </p:sp>
      <p:sp>
        <p:nvSpPr>
          <p:cNvPr id="36" name="Rounded Rectangle 35"/>
          <p:cNvSpPr/>
          <p:nvPr/>
        </p:nvSpPr>
        <p:spPr>
          <a:xfrm>
            <a:off x="2029968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48256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mlx5_2</a:t>
            </a:r>
          </a:p>
        </p:txBody>
      </p:sp>
      <p:sp>
        <p:nvSpPr>
          <p:cNvPr id="38" name="Rounded Rectangle 37"/>
          <p:cNvSpPr/>
          <p:nvPr/>
        </p:nvSpPr>
        <p:spPr>
          <a:xfrm>
            <a:off x="2391156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094439"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1</a:t>
            </a:r>
          </a:p>
        </p:txBody>
      </p:sp>
      <p:sp>
        <p:nvSpPr>
          <p:cNvPr id="40" name="Rounded Rectangle 39"/>
          <p:cNvSpPr/>
          <p:nvPr/>
        </p:nvSpPr>
        <p:spPr>
          <a:xfrm>
            <a:off x="2391156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094439"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mlx5_3</a:t>
            </a:r>
          </a:p>
        </p:txBody>
      </p:sp>
      <p:sp>
        <p:nvSpPr>
          <p:cNvPr id="42" name="TextBox 41"/>
          <p:cNvSpPr txBox="1"/>
          <p:nvPr/>
        </p:nvSpPr>
        <p:spPr>
          <a:xfrm>
            <a:off x="27678888"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P1</a:t>
            </a:r>
          </a:p>
        </p:txBody>
      </p:sp>
      <p:sp>
        <p:nvSpPr>
          <p:cNvPr id="43" name="Rounded Rectangle 42"/>
          <p:cNvSpPr/>
          <p:nvPr/>
        </p:nvSpPr>
        <p:spPr>
          <a:xfrm>
            <a:off x="2775204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93492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2</a:t>
            </a:r>
          </a:p>
        </p:txBody>
      </p:sp>
      <p:sp>
        <p:nvSpPr>
          <p:cNvPr id="45" name="Rounded Rectangle 44"/>
          <p:cNvSpPr/>
          <p:nvPr/>
        </p:nvSpPr>
        <p:spPr>
          <a:xfrm>
            <a:off x="2775204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93492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mlx5_0</a:t>
            </a:r>
          </a:p>
        </p:txBody>
      </p:sp>
      <p:sp>
        <p:nvSpPr>
          <p:cNvPr id="47" name="Rounded Rectangle 46"/>
          <p:cNvSpPr/>
          <p:nvPr/>
        </p:nvSpPr>
        <p:spPr>
          <a:xfrm>
            <a:off x="31363919"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54680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3</a:t>
            </a:r>
          </a:p>
        </p:txBody>
      </p:sp>
      <p:sp>
        <p:nvSpPr>
          <p:cNvPr id="49" name="Rounded Rectangle 48"/>
          <p:cNvSpPr/>
          <p:nvPr/>
        </p:nvSpPr>
        <p:spPr>
          <a:xfrm>
            <a:off x="31363919"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54680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mlx5_1</a:t>
            </a:r>
          </a:p>
        </p:txBody>
      </p:sp>
      <p:sp>
        <p:nvSpPr>
          <p:cNvPr id="51" name="TextBox 50"/>
          <p:cNvSpPr txBox="1"/>
          <p:nvPr/>
        </p:nvSpPr>
        <p:spPr>
          <a:xfrm>
            <a:off x="20226527"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P2</a:t>
            </a:r>
          </a:p>
        </p:txBody>
      </p:sp>
      <p:sp>
        <p:nvSpPr>
          <p:cNvPr id="52" name="Rounded Rectangle 51"/>
          <p:cNvSpPr/>
          <p:nvPr/>
        </p:nvSpPr>
        <p:spPr>
          <a:xfrm>
            <a:off x="2029968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048256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4</a:t>
            </a:r>
          </a:p>
        </p:txBody>
      </p:sp>
      <p:sp>
        <p:nvSpPr>
          <p:cNvPr id="54" name="Rounded Rectangle 53"/>
          <p:cNvSpPr/>
          <p:nvPr/>
        </p:nvSpPr>
        <p:spPr>
          <a:xfrm>
            <a:off x="2029968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048256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mlx5_6</a:t>
            </a:r>
          </a:p>
        </p:txBody>
      </p:sp>
      <p:sp>
        <p:nvSpPr>
          <p:cNvPr id="56" name="Rounded Rectangle 55"/>
          <p:cNvSpPr/>
          <p:nvPr/>
        </p:nvSpPr>
        <p:spPr>
          <a:xfrm>
            <a:off x="2391156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4094439"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5</a:t>
            </a:r>
          </a:p>
        </p:txBody>
      </p:sp>
      <p:sp>
        <p:nvSpPr>
          <p:cNvPr id="58" name="Rounded Rectangle 57"/>
          <p:cNvSpPr/>
          <p:nvPr/>
        </p:nvSpPr>
        <p:spPr>
          <a:xfrm>
            <a:off x="2391156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4094439"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mlx5_7</a:t>
            </a:r>
          </a:p>
        </p:txBody>
      </p:sp>
      <p:sp>
        <p:nvSpPr>
          <p:cNvPr id="60" name="TextBox 59"/>
          <p:cNvSpPr txBox="1"/>
          <p:nvPr/>
        </p:nvSpPr>
        <p:spPr>
          <a:xfrm>
            <a:off x="27678888"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P3</a:t>
            </a:r>
          </a:p>
        </p:txBody>
      </p:sp>
      <p:sp>
        <p:nvSpPr>
          <p:cNvPr id="61" name="Rounded Rectangle 60"/>
          <p:cNvSpPr/>
          <p:nvPr/>
        </p:nvSpPr>
        <p:spPr>
          <a:xfrm>
            <a:off x="2775204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93492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6</a:t>
            </a:r>
          </a:p>
        </p:txBody>
      </p:sp>
      <p:sp>
        <p:nvSpPr>
          <p:cNvPr id="63" name="Rounded Rectangle 62"/>
          <p:cNvSpPr/>
          <p:nvPr/>
        </p:nvSpPr>
        <p:spPr>
          <a:xfrm>
            <a:off x="2775204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93492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mlx5_4</a:t>
            </a:r>
          </a:p>
        </p:txBody>
      </p:sp>
      <p:sp>
        <p:nvSpPr>
          <p:cNvPr id="65" name="Rounded Rectangle 64"/>
          <p:cNvSpPr/>
          <p:nvPr/>
        </p:nvSpPr>
        <p:spPr>
          <a:xfrm>
            <a:off x="31363919"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54680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7</a:t>
            </a:r>
          </a:p>
        </p:txBody>
      </p:sp>
      <p:sp>
        <p:nvSpPr>
          <p:cNvPr id="67" name="Rounded Rectangle 66"/>
          <p:cNvSpPr/>
          <p:nvPr/>
        </p:nvSpPr>
        <p:spPr>
          <a:xfrm>
            <a:off x="31363919"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54680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mlx5_5</a:t>
            </a:r>
          </a:p>
        </p:txBody>
      </p:sp>
      <p:cxnSp>
        <p:nvCxnSpPr>
          <p:cNvPr id="69" name="Connector 68"/>
          <p:cNvCxnSpPr/>
          <p:nvPr/>
        </p:nvCxnSpPr>
        <p:spPr>
          <a:xfrm>
            <a:off x="19842480" y="14593824"/>
            <a:ext cx="54864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05374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76B900"/>
                </a:solidFill>
                <a:latin typeface="NVIDIA Sans Medium"/>
              </a:rPr>
              <a:t>PXB · 1/7 peer</a:t>
            </a:r>
          </a:p>
        </p:txBody>
      </p:sp>
      <p:cxnSp>
        <p:nvCxnSpPr>
          <p:cNvPr id="71" name="Connector 70"/>
          <p:cNvCxnSpPr/>
          <p:nvPr/>
        </p:nvCxnSpPr>
        <p:spPr>
          <a:xfrm>
            <a:off x="24277320" y="14593824"/>
            <a:ext cx="548640"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497226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0074DF"/>
                </a:solidFill>
                <a:latin typeface="NVIDIA Sans Medium"/>
              </a:rPr>
              <a:t>NODE · 2/7 peers</a:t>
            </a:r>
          </a:p>
        </p:txBody>
      </p:sp>
      <p:cxnSp>
        <p:nvCxnSpPr>
          <p:cNvPr id="73" name="Connector 72"/>
          <p:cNvCxnSpPr/>
          <p:nvPr/>
        </p:nvCxnSpPr>
        <p:spPr>
          <a:xfrm>
            <a:off x="29215080" y="14593824"/>
            <a:ext cx="548639" cy="0"/>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99100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EF9100"/>
                </a:solidFill>
                <a:latin typeface="NVIDIA Sans Medium"/>
              </a:rPr>
              <a:t>SYS · 4/7 peers · 57.1%</a:t>
            </a:r>
          </a:p>
        </p:txBody>
      </p:sp>
      <p:cxnSp>
        <p:nvCxnSpPr>
          <p:cNvPr id="75" name="Connector 74"/>
          <p:cNvCxnSpPr/>
          <p:nvPr/>
        </p:nvCxnSpPr>
        <p:spPr>
          <a:xfrm>
            <a:off x="19842480" y="15288767"/>
            <a:ext cx="548640" cy="0"/>
          </a:xfrm>
          <a:prstGeom prst="line">
            <a:avLst/>
          </a:prstGeom>
          <a:ln w="38100">
            <a:solidFill>
              <a:srgbClr val="1DBBA4"/>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20537424" y="15060167"/>
            <a:ext cx="13624560" cy="512064"/>
          </a:xfrm>
          <a:prstGeom prst="rect">
            <a:avLst/>
          </a:prstGeom>
          <a:noFill/>
        </p:spPr>
        <p:txBody>
          <a:bodyPr wrap="square" anchor="t" lIns="0" rIns="0" tIns="0" bIns="0">
            <a:spAutoFit/>
          </a:bodyPr>
          <a:lstStyle/>
          <a:p>
            <a:pPr algn="l">
              <a:spcBef>
                <a:spcPts val="0"/>
              </a:spcBef>
              <a:spcAft>
                <a:spcPts val="0"/>
              </a:spcAft>
              <a:buNone/>
            </a:pPr>
            <a:r>
              <a:rPr sz="2000" b="1" i="0">
                <a:solidFill>
                  <a:srgbClr val="1DBBA4"/>
                </a:solidFill>
                <a:latin typeface="NVIDIA Sans Medium"/>
              </a:rPr>
              <a:t>Nearest-NIC GPUDirect RDMA · assigned 400-Gb/s CX-8 port per GPU</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nearest-NIC path moves the same payload in less than half the measured communication + layout time</a:t>
            </a:r>
          </a:p>
        </p:txBody>
      </p:sp>
      <p:sp>
        <p:nvSpPr>
          <p:cNvPr id="3" name="Title 2"/>
          <p:cNvSpPr>
            <a:spLocks noGrp="1"/>
          </p:cNvSpPr>
          <p:nvPr>
            <p:ph type="title"/>
          </p:nvPr>
        </p:nvSpPr>
        <p:spPr/>
        <p:txBody>
          <a:bodyPr/>
          <a:lstStyle/>
          <a:p>
            <a:r>
              <a:t>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graphicFrame>
        <p:nvGraphicFramePr>
          <p:cNvPr id="5" name="Official NVIDIA Exact-Shape RDM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120640">
                  <a:extLst>
                    <a:ext uri="{9D8B030D-6E8A-4147-A177-3AD203B41FA5}">
                      <a16:colId xmlns:a16="http://schemas.microsoft.com/office/drawing/2014/main" val="1714626306"/>
                    </a:ext>
                  </a:extLst>
                </a:gridCol>
                <a:gridCol w="8412480">
                  <a:extLst>
                    <a:ext uri="{9D8B030D-6E8A-4147-A177-3AD203B41FA5}">
                      <a16:colId xmlns:a16="http://schemas.microsoft.com/office/drawing/2014/main" val="1697748500"/>
                    </a:ext>
                  </a:extLst>
                </a:gridCol>
                <a:gridCol w="4937760">
                  <a:extLst>
                    <a:ext uri="{9D8B030D-6E8A-4147-A177-3AD203B41FA5}">
                      <a16:colId xmlns:a16="http://schemas.microsoft.com/office/drawing/2014/main" val="3872581152"/>
                    </a:ext>
                  </a:extLst>
                </a:gridCol>
                <a:gridCol w="5212080">
                  <a:extLst>
                    <a:ext uri="{9D8B030D-6E8A-4147-A177-3AD203B41FA5}">
                      <a16:colId xmlns:a16="http://schemas.microsoft.com/office/drawing/2014/main" val="2543914041"/>
                    </a:ext>
                  </a:extLst>
                </a:gridCol>
                <a:gridCol w="45873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Route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Logical Off-Rank Volume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Rank-Max / Block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Effective BW / Rank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Serialized PDD8*</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local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24.87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17.95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9.95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Nearest-NIC GDR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10.86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41.14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4.34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RDMA delta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 five-slot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2.29×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scope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Communication + path-required layout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Exact vs independent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all_gather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attention or GEMM</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overlap</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*serial × 400; not E2E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Measured 2026-10-25 · 5 warmups + 8 trials × 4 calls · rank-max then mean · *serialized block mean × 400; not end-to-end</a:t>
            </a:r>
            <a:endParaRPr lang="en-US"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