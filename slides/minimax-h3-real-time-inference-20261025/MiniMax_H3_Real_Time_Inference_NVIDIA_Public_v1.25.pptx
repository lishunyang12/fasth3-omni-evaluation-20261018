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3" r:id="rId47"/>
    <p:sldId id="364" r:id="rId48"/>
    <p:sldId id="365" r:id="rId49"/>
    <p:sldId id="366" r:id="rId50"/>
    <p:sldId id="350" r:id="rId92"/>
    <p:sldId id="351" r:id="rId93"/>
    <p:sldId id="352" r:id="rId94"/>
    <p:sldId id="353" r:id="rId95"/>
    <p:sldId id="354" r:id="rId96"/>
    <p:sldId id="355" r:id="rId97"/>
    <p:sldId id="361" r:id="rId45"/>
    <p:sldId id="356" r:id="rId98"/>
    <p:sldId id="362" r:id="rId46"/>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5" Type="http://schemas.openxmlformats.org/officeDocument/2006/relationships/slide" Target="slides/slide17.xml"/><Relationship Id="rId46" Type="http://schemas.openxmlformats.org/officeDocument/2006/relationships/slide" Target="slides/slide19.xml"/><Relationship Id="rId47" Type="http://schemas.openxmlformats.org/officeDocument/2006/relationships/slide" Target="slides/slide24.xml"/><Relationship Id="rId48" Type="http://schemas.openxmlformats.org/officeDocument/2006/relationships/slide" Target="slides/slide25.xml"/><Relationship Id="rId49" Type="http://schemas.openxmlformats.org/officeDocument/2006/relationships/slide" Target="slides/slide26.xml"/><Relationship Id="rId50" Type="http://schemas.openxmlformats.org/officeDocument/2006/relationships/slide" Target="slides/slide27.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2" Type="http://schemas.openxmlformats.org/officeDocument/2006/relationships/slide" Target="slides/slide11.xml"/><Relationship Id="rId93" Type="http://schemas.openxmlformats.org/officeDocument/2006/relationships/slide" Target="slides/slide12.xml"/><Relationship Id="rId94" Type="http://schemas.openxmlformats.org/officeDocument/2006/relationships/slide" Target="slides/slide13.xml"/><Relationship Id="rId95" Type="http://schemas.openxmlformats.org/officeDocument/2006/relationships/slide" Target="slides/slide14.xml"/><Relationship Id="rId96" Type="http://schemas.openxmlformats.org/officeDocument/2006/relationships/slide" Target="slides/slide15.xml"/><Relationship Id="rId97" Type="http://schemas.openxmlformats.org/officeDocument/2006/relationships/slide" Target="slides/slide16.xml"/><Relationship Id="rId98" Type="http://schemas.openxmlformats.org/officeDocument/2006/relationships/slide" Target="slides/slide18.xml"/><Relationship Id="rId99" Type="http://schemas.openxmlformats.org/officeDocument/2006/relationships/slide" Target="slides/slide20.xml"/><Relationship Id="rId100" Type="http://schemas.openxmlformats.org/officeDocument/2006/relationships/slide" Target="slides/slide21.xml"/><Relationship Id="rId101" Type="http://schemas.openxmlformats.org/officeDocument/2006/relationships/slide" Target="slides/slide22.xml"/><Relationship Id="rId102" Type="http://schemas.openxmlformats.org/officeDocument/2006/relationships/slide" Target="slides/slide23.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loss: at each selected rung and for each of video/audio, MSE(student x0, teacher x0) divided by the initial PTQ MSE for that modality and rung. Video/audio weights are equal. Reconstruction: each student attention/FFN unit receives the teacher unit input with stop-gradient and matches its output using relative squared error. Target-video, target-audio and conditioning group weights are 1,1,0.25, normalized over present groups. Sequence-parallel-global denominators and gradient scaling preserve group weighting. Reconstruction is streamed per block and normalized by its step-zero value per rung. With recon_lambda=1, output and reconstruction terms have equal coefficients. The teacher walks all eight rungs; four rungs per row receive student loss. From step 20, student rollout is selected with probability 0.25. OmniRef YAML sets 200 training steps and identifies release step 120; do not reuse the V2 300-step recipe or V2 quality improvements as Omni measurements. Deployment adapter preserves packed weights, per-projection global scales, Q/K/V execution order and tensor-parallel scale swizzling. No QAD training was performed by this project. https://github.com/hao-ai-lab/FastVideo/blob/ea3275dfd1ce48cbb01f9fc7f28e918e857a0536/fastvideo/train/methods/knowledge_distillation/pdd_qad.py</a:t>
            </a:r>
          </a:p>
          <a:p>
            <a:r>
              <a:t>https://github.com/hao-ai-lab/FastVideo/blob/ea3275dfd1ce48cbb01f9fc7f28e918e857a0536/fastvideo/train/methods/knowledge_distillation/pdd_qad_recon.py</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OmniRef YAML quantizes q/k/v/out, both FFN linears and VSA compression gates in all 50 blocks. Only q/k/v/out and FFN parameters are trainable. Frozen gate parameters still execute NVFP4; norms and designated FP32 boundary modules stay frozen. The code below is abridged from nvfp4_gemm, with layout/backend arguments omitted. The actual weight global multiplier is 2688/max(abs(W)); the GEMM alpha is its reciprocal divided by the input global multiplier. Each group of 16 values uses an E4M3 scale. FFN input global multipliers use the pinned amax table; attention and gate multipliers are one. Per-block activation scales are computed dynamically. The fine-attention emulator includes K smoothing, two-level P quantization and the deployed sparse block visit order. Current PRO 5000 CAKE attention uses INT8 Q/K and FP8 V, so its numerical path differs from this public FP4 attention recipe. https://github.com/hao-ai-lab/FastVideo/blob/ea3275dfd1ce48cbb01f9fc7f28e918e857a0536/examples/train/configs/knowledge_distillation/minimax_h3/omniref_nvfp4_qad.yaml</a:t>
            </a:r>
          </a:p>
          <a:p>
            <a:r>
              <a:t>https://github.com/hao-ai-lab/FastVideo/blob/ea3275dfd1ce48cbb01f9fc7f28e918e857a0536/fastvideo/layers/quantization/nvfp4_qad.py</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videos are embedded as separate MP4 objects on this same slide, left to right: BF16 reference, Online NVFP4 without QAD training, and published QAD NVFP4. The video frames are not cropped or stretched. Videos start together at slide entry and are muted by default. Same request JSON: two family reference views, prompt, seed 1234, 1344x768, 124 frames at 24 FPS, eight transformer evaluations, cuDNN BF16 VSA and original video/audio decoders. Online NVFP4 quantizes untouched BF16 checkpoint 88d512c5 weights. No calibration dataset or table is loaded. Every DiT projection computes its activation global scale as 2688/max(abs(current_input)) on each forward; weights use their own tensor amax. Per-16 E4M3 block scales are computed dynamically. Weights are quantized once and cached before loading; activations are dynamically quantized on each forward. This is PTQ, without teacher supervision or QAD weight updates. It does not use the FP4 attention emulator. BF16 and Online NVFP4 use the original BF16 text encoder; the retained published QAD run uses its checkpoint encoder. Therefore this is a checkpoint-level visual comparison, not an isolated DiT QAD ablation. The original BF16 run uses HSDP, whereas quantized runs do not. No latency attribution or universal quality claim is made. The PDF contains frame-24 posters; video playback is in the PPTX or local HTML preview. https://github.com/hao-ai-lab/FastVideo/blob/ea3275dfd1ce48cbb01f9fc7f28e918e857a0536/examples/train/configs/knowledge_distillation/minimax_h3/omniref_nvfp4_qad.yaml</a:t>
            </a:r>
          </a:p>
          <a:p>
            <a:r>
              <a:t>Measured decoded-video similarity: {"online_nvfp4": {"lpips_alex_v0_1": {"mean": 0.2977905738497934, "std_population": 0.1439843131812286, "min": 0.09652196615934372, "max": 0.5121737718582153, "frames": 124}, "ssim_rgb": {"mean": 0.5777637524457234, "std_population": 0.13019779426300312, "min": 0.4346516289486761, "max": 0.8592144454339667, "frames": 124}}, "qad_nvfp4": {"lpips_alex_v0_1": {"mean": 0.2501977474819268, "std_population": 0.1342112506959792, "min": 0.08768212795257568, "max": 0.44881367683410645, "frames": 124}, "ssim_rgb": {"mean": 0.6437721022708937, "std_population": 0.13355167661847192, "min": 0.5014632406551502, "max": 0.8743636803808933, "frames": 124}}}</a:t>
            </a:r>
          </a:p>
          <a:p>
            <a:r>
              <a:t>LPIPS: pretrained AlexNet v0.1, FP32 RGB [-1,1]. SSIM: RGB, Gaussian 11x11 sigma 1.5, population covariance, data range 255. All 124 frames at original 1344x768; same frame-index alignment; no resize. Single-prompt checkpoint similarity, not general video quality. Request curl time_total is recorded in video-generation-times.json and displayed above. The online request was the first inference after startup, whereas retained runs used already-active servers. Timings exclude model loading and prepacking, include encoding/download; do not infer a quantization speedup.</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a:p/>
          <a:p>
            <a:r>
              <a:t>v1.21: Title changed to Ulysses. The original website SVG and PNG are embedded without artwork edits. The schematic is the website P=4, S=15104 Q/K/V/O example, not the P=8, S=56960 measured H3 configuration described at left. The illustration does not include the extra learned VSA gate slot in the measured H3 profile. Retained website source: https://grateful-requirements-dictionaries-impacts.trycloudflare.com/scaling/ulysses.svg. The old tunnel is currently unavailable; original local website files were recovered.</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DiT block reshards Q, K, and V across eight GPUs, then restores O</a:t>
            </a:r>
          </a:p>
        </p:txBody>
      </p:sp>
      <p:sp>
        <p:nvSpPr>
          <p:cNvPr id="3" name="Title 2"/>
          <p:cNvSpPr>
            <a:spLocks noGrp="1"/>
          </p:cNvSpPr>
          <p:nvPr>
            <p:ph type="title"/>
          </p:nvPr>
        </p:nvSpPr>
        <p:spPr/>
        <p:txBody>
          <a:bodyPr/>
          <a:lstStyle/>
          <a:p>
            <a:r>
              <a:t>Ulysses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Aggregate Rate for RTF 1*</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A2A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K, V, or O</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0.432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15</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16</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Ulysses</a:t>
            </a:r>
          </a:p>
        </p:txBody>
      </p:sp>
      <p:sp>
        <p:nvSpPr>
          <p:cNvPr id="5" name="Text Placeholder 4"/>
          <p:cNvSpPr>
            <a:spLocks noGrp="1"/>
          </p:cNvSpPr>
          <p:nvPr>
            <p:ph type="body" idx="52" sz="quarter"/>
          </p:nvPr>
        </p:nvSpPr>
        <p:spPr>
          <a:xfrm>
            <a:off x="17373600" y="16824960"/>
            <a:ext cx="17373600" cy="1097280"/>
          </a:xfrm>
        </p:spPr>
        <p:txBody>
          <a:bodyPr/>
          <a:lstStyle/>
          <a:p>
            <a:r>
              <a:t>Original website illustration: P = 4
Measured H3 configuration at left: P = 8</a:t>
            </a:r>
          </a:p>
        </p:txBody>
      </p:sp>
      <p:sp>
        <p:nvSpPr>
          <p:cNvPr id="6" name="Text Placeholder 5"/>
          <p:cNvSpPr>
            <a:spLocks noGrp="1"/>
          </p:cNvSpPr>
          <p:nvPr>
            <p:ph type="body" idx="51" sz="quarter"/>
          </p:nvPr>
        </p:nvSpPr>
        <p:spPr>
          <a:xfrm>
            <a:off x="17373600" y="16002000"/>
            <a:ext cx="17373600" cy="685800"/>
          </a:xfrm>
        </p:spPr>
        <p:txBody>
          <a:bodyPr/>
          <a:lstStyle/>
          <a:p>
            <a:r>
              <a:t>Sequence shards → head shards → sequence shards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retained scaling website · Ulysses illustration P=4 · H3 profile at left P=8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pic>
        <p:nvPicPr>
          <p:cNvPr id="10" name="Original website Ulysses schematic — P=4 illustration" descr="Original website Ulysses schematic — P=4 illustration">
            <a:hlinkClick r:id="rId6"/>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373600" y="4310538"/>
            <a:ext cx="17373600" cy="11129962"/>
          </a:xfrm>
          <a:prstGeom prst="rect">
            <a:avLst/>
          </a:prstGeom>
          <a:ln w="9525">
            <a:solidFill>
              <a:srgbClr val="A7A7A7"/>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5943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xGMI installed link configuration unavailable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18</a:t>
            </a:fld>
            <a:endParaRPr lang="en-US"/>
          </a:p>
        </p:txBody>
      </p:sp>
      <p:pic>
        <p:nvPicPr>
          <p:cNvPr id="9" name="Topology with separately identified PCIe and network capacities" descr="topology-bandwidth.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1828801" y="4800600"/>
            <a:ext cx="32918397" cy="13167359"/>
          </a:xfrm>
          <a:prstGeom prst="rect">
            <a:avLst/>
          </a:prstGeom>
          <a:ln w="9525">
            <a:solidFill>
              <a:srgbClr val="A7A7A7"/>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Matched eight-GPU Q/K/V/O exchanges · FI RDMA is 2.33–2.47× faster across three sequence lengths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19</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sp>
        <p:nvSpPr>
          <p:cNvPr id="7" name="Bandwidth bounds — native template text"/>
          <p:cNvSpPr>
            <a:spLocks noGrp="1"/>
          </p:cNvSpPr>
          <p:nvPr>
            <p:ph type="body" idx="20" sz="quarter"/>
          </p:nvPr>
        </p:nvSpPr>
        <p:spPr>
          <a:xfrm>
            <a:off x="1828800" y="5303520"/>
            <a:ext cx="15636240" cy="12435840"/>
          </a:xfrm>
        </p:spPr>
        <p:txBody>
          <a:bodyPr wrap="square" lIns="0" rIns="0" tIns="0" bIns="0"/>
          <a:lstStyle/>
          <a:p>
            <a:pPr algn="l"/>
            <a:r>
              <a:rPr b="1">
                <a:solidFill>
                  <a:srgbClr val="76B900"/>
                </a:solidFill>
                <a:latin typeface="NVIDIA Sans Medium"/>
              </a:rPr>
              <a:t>Local NCCL: one P2P peer, six SHM peers</a:t>
            </a:r>
          </a:p>
          <a:p>
            <a:pPr lvl="1" algn="l"/>
            <a:r>
              <a:rPr b="0">
                <a:solidFill>
                  <a:srgbClr val="313131"/>
                </a:solidFill>
                <a:latin typeface="NVIDIA Sans"/>
              </a:rPr>
              <a:t>Cross-subtree payload uses host memory</a:t>
            </a:r>
          </a:p>
          <a:p>
            <a:pPr lvl="1" algn="l"/>
            <a:r>
              <a:rPr b="0">
                <a:solidFill>
                  <a:srgbClr val="313131"/>
                </a:solidFill>
                <a:latin typeface="NVIDIA Sans"/>
              </a:rPr>
              <a:t>Two GPUs share one 63.0 GB/s uplink</a:t>
            </a:r>
          </a:p>
          <a:p>
            <a:pPr lvl="1" algn="l"/>
            <a:r>
              <a:rPr b="0">
                <a:solidFill>
                  <a:srgbClr val="313131"/>
                </a:solidFill>
                <a:latin typeface="NVIDIA Sans"/>
              </a:rPr>
              <a:t>2 × B × 6/7 ≤ 63.0  →  B ≤ 36.8 GB/s</a:t>
            </a:r>
          </a:p>
          <a:p>
            <a:pPr algn="l"/>
            <a:r>
              <a:rPr b="1">
                <a:solidFill>
                  <a:srgbClr val="76B900"/>
                </a:solidFill>
                <a:latin typeface="NVIDIA Sans Medium"/>
              </a:rPr>
              <a:t>Cross-NUMA also shares xGMI</a:t>
            </a:r>
          </a:p>
          <a:p>
            <a:pPr lvl="1" algn="l"/>
            <a:r>
              <a:rPr b="0">
                <a:solidFill>
                  <a:srgbClr val="313131"/>
                </a:solidFill>
                <a:latin typeface="NVIDIA Sans"/>
              </a:rPr>
              <a:t>4 × B × 4/7 ≤ C  →  B ≤ 7C/16</a:t>
            </a:r>
          </a:p>
          <a:p>
            <a:pPr lvl="1" algn="l"/>
            <a:r>
              <a:rPr b="0">
                <a:solidFill>
                  <a:srgbClr val="313131"/>
                </a:solidFill>
                <a:latin typeface="NVIDIA Sans"/>
              </a:rPr>
              <a:t>Local-path ceiling: min(36.8, 7C/16)</a:t>
            </a:r>
          </a:p>
          <a:p>
            <a:pPr algn="l"/>
            <a:r>
              <a:rPr b="1">
                <a:solidFill>
                  <a:srgbClr val="76B900"/>
                </a:solidFill>
                <a:latin typeface="NVIDIA Sans Medium"/>
              </a:rPr>
              <a:t>FI RDMA: one nearest 400G port per GPU</a:t>
            </a:r>
          </a:p>
          <a:p>
            <a:pPr lvl="1" algn="l"/>
            <a:r>
              <a:rPr b="0">
                <a:solidFill>
                  <a:srgbClr val="313131"/>
                </a:solidFill>
                <a:latin typeface="NVIDIA Sans"/>
              </a:rPr>
              <a:t>Bypasses host buffers and CPU-facing uplinks</a:t>
            </a:r>
          </a:p>
          <a:p>
            <a:pPr lvl="1" algn="l"/>
            <a:r>
              <a:rPr b="0">
                <a:solidFill>
                  <a:srgbClr val="313131"/>
                </a:solidFill>
                <a:latin typeface="NVIDIA Sans"/>
              </a:rPr>
              <a:t>B ≤ min(63.0, 128/2, 50) = 50 GB/s</a:t>
            </a:r>
          </a:p>
        </p:txBody>
      </p:sp>
      <p:sp>
        <p:nvSpPr>
          <p:cNvPr id="9" name="Bandwidth comparison scope"/>
          <p:cNvSpPr>
            <a:spLocks noGrp="1"/>
          </p:cNvSpPr>
          <p:nvPr>
            <p:ph type="body" idx="52" sz="quarter"/>
          </p:nvPr>
        </p:nvSpPr>
        <p:spPr>
          <a:xfrm>
            <a:off x="17922240" y="17190720"/>
            <a:ext cx="16824960" cy="1234440"/>
          </a:xfrm>
        </p:spPr>
        <p:txBody>
          <a:bodyPr/>
          <a:lstStyle/>
          <a:p>
            <a:r>
              <a:t>2.33–2.47× measured communication speedup
Includes layout, allocation and scheduling</a:t>
            </a:r>
          </a:p>
        </p:txBody>
      </p:sp>
      <p:sp>
        <p:nvSpPr>
          <p:cNvPr id="10" name="Bandwidth variable definitions"/>
          <p:cNvSpPr>
            <a:spLocks noGrp="1"/>
          </p:cNvSpPr>
          <p:nvPr>
            <p:ph type="body" idx="52" sz="quarter"/>
          </p:nvPr>
        </p:nvSpPr>
        <p:spPr>
          <a:xfrm>
            <a:off x="1828800" y="17465040"/>
            <a:ext cx="15636240" cy="1143000"/>
          </a:xfrm>
        </p:spPr>
        <p:txBody>
          <a:bodyPr/>
          <a:lstStyle/>
          <a:p>
            <a:r>
              <a:t>B: off-rank TX per GPU · C: usable xGMI bandwidth
Necessary link bounds; SHM and software add costs</a:t>
            </a:r>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922240" y="5224272"/>
            <a:ext cx="16824960" cy="11497056"/>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577840"/>
            <a:ext cx="23042880" cy="11155680"/>
          </a:xfrm>
        </p:spPr>
        <p:txBody>
          <a:bodyPr wrap="none" lIns="0" rIns="0" tIns="0" bIns="0"/>
          <a:lstStyle/>
          <a:p>
            <a:pPr>
              <a:spcAft>
                <a:spcPts val="1800"/>
              </a:spcAft>
            </a:pPr>
            <a:r>
              <a:rPr sz="3800" b="0">
                <a:solidFill>
                  <a:srgbClr val="A7A7A7"/>
                </a:solidFill>
                <a:latin typeface="Roboto Mono"/>
              </a:rPr>
              <a:t># comm.py:44–62 · original Q/K/V branch</a:t>
            </a:r>
          </a:p>
          <a:p>
            <a:pPr>
              <a:spcAft>
                <a:spcPts val="1800"/>
              </a:spcAft>
            </a:pPr>
            <a:r>
              <a:rPr sz="3800" b="0">
                <a:solidFill>
                  <a:srgbClr val="313131"/>
                </a:solidFill>
                <a:latin typeface="Roboto Mono"/>
              </a:rPr>
              <a:t>input_t = (</a:t>
            </a:r>
          </a:p>
          <a:p>
            <a:pPr>
              <a:spcAft>
                <a:spcPts val="1800"/>
              </a:spcAft>
            </a:pPr>
            <a:r>
              <a:rPr sz="3800" b="0">
                <a:solidFill>
                  <a:srgbClr val="313131"/>
                </a:solidFill>
                <a:latin typeface="Roboto Mono"/>
              </a:rPr>
              <a:t>    input.reshape(bs, shard_seqlen,</a:t>
            </a:r>
          </a:p>
          <a:p>
            <a:pPr>
              <a:spcAft>
                <a:spcPts val="1800"/>
              </a:spcAft>
            </a:pPr>
            <a:r>
              <a:rPr sz="3800" b="0">
                <a:solidFill>
                  <a:srgbClr val="313131"/>
                </a:solidFill>
                <a:latin typeface="Roboto Mono"/>
              </a:rPr>
              <a:t>                  seq_world_size, shard_hc, hs)</a:t>
            </a:r>
          </a:p>
          <a:p>
            <a:pPr>
              <a:spcAft>
                <a:spcPts val="1800"/>
              </a:spcAft>
            </a:pPr>
            <a:r>
              <a:rPr sz="3800" b="0">
                <a:solidFill>
                  <a:srgbClr val="313131"/>
                </a:solidFill>
                <a:latin typeface="Roboto Mono"/>
              </a:rPr>
              <a:t>    .transpose(0, 2).contiguous()</a:t>
            </a:r>
          </a:p>
          <a:p>
            <a:pPr>
              <a:spcAft>
                <a:spcPts val="1800"/>
              </a:spcAft>
            </a:pPr>
            <a:r>
              <a:rPr sz="3800" b="0">
                <a:solidFill>
                  <a:srgbClr val="313131"/>
                </a:solidFill>
                <a:latin typeface="Roboto Mono"/>
              </a:rPr>
              <a:t>)</a:t>
            </a:r>
          </a:p>
          <a:p>
            <a:pPr>
              <a:spcAft>
                <a:spcPts val="1800"/>
              </a:spcAft>
            </a:pPr>
            <a:r>
              <a:rPr sz="3800" b="0">
                <a:solidFill>
                  <a:srgbClr val="313131"/>
                </a:solidFill>
                <a:latin typeface="Roboto Mono"/>
              </a:rPr>
              <a:t>output = torch.empty_like(input_t)</a:t>
            </a:r>
          </a:p>
          <a:p>
            <a:pPr>
              <a:spcAft>
                <a:spcPts val="1800"/>
              </a:spcAft>
            </a:pPr>
            <a:r>
              <a:rPr sz="3800" b="1">
                <a:solidFill>
                  <a:srgbClr val="76B900"/>
                </a:solidFill>
                <a:latin typeface="Roboto Mono"/>
              </a:rPr>
              <a:t>dist.all_to_all_single(output, input_t, group=group)</a:t>
            </a:r>
          </a:p>
          <a:p>
            <a:pPr>
              <a:spcAft>
                <a:spcPts val="1800"/>
              </a:spcAft>
            </a:pPr>
            <a:r>
              <a:rPr sz="3800" b="0">
                <a:solidFill>
                  <a:srgbClr val="313131"/>
                </a:solidFill>
                <a:latin typeface="Roboto Mono"/>
              </a:rPr>
              <a:t>output = output.reshape(seqlen, bs, shard_hc, hs)</a:t>
            </a:r>
          </a:p>
          <a:p>
            <a:pPr>
              <a:spcAft>
                <a:spcPts val="1800"/>
              </a:spcAft>
            </a:pPr>
            <a:r>
              <a:rPr sz="3800" b="0">
                <a:solidFill>
                  <a:srgbClr val="313131"/>
                </a:solidFill>
                <a:latin typeface="Roboto Mono"/>
              </a:rPr>
              <a:t>output = (output.transpose(0, 1).contiguous()</a:t>
            </a:r>
          </a:p>
          <a:p>
            <a:pPr>
              <a:spcAft>
                <a:spcPts val="1800"/>
              </a:spcAft>
            </a:pPr>
            <a:r>
              <a:rPr sz="3800" b="0">
                <a:solidFill>
                  <a:srgbClr val="313131"/>
                </a:solidFill>
                <a:latin typeface="Roboto Mono"/>
              </a:rPr>
              <a:t>          .reshape(bs, seqlen, shard_hc, hs))</a:t>
            </a:r>
          </a:p>
        </p:txBody>
      </p:sp>
      <p:sp>
        <p:nvSpPr>
          <p:cNvPr id="3" name="Text Placeholder 2"/>
          <p:cNvSpPr>
            <a:spLocks noGrp="1"/>
          </p:cNvSpPr>
          <p:nvPr>
            <p:ph type="body" idx="14" sz="quarter"/>
          </p:nvPr>
        </p:nvSpPr>
        <p:spPr/>
        <p:txBody>
          <a:bodyPr/>
          <a:lstStyle/>
          <a:p>
            <a:r>
              <a:t>Q/K/V: pack head shards → NCCL all-to-all → restore sequence layout</a:t>
            </a:r>
          </a:p>
        </p:txBody>
      </p:sp>
      <p:sp>
        <p:nvSpPr>
          <p:cNvPr id="4" name="Title 3"/>
          <p:cNvSpPr>
            <a:spLocks noGrp="1"/>
          </p:cNvSpPr>
          <p:nvPr>
            <p:ph type="title"/>
          </p:nvPr>
        </p:nvSpPr>
        <p:spPr/>
        <p:txBody>
          <a:bodyPr/>
          <a:lstStyle/>
          <a:p>
            <a:r>
              <a:t>Original vLLM-Omni Ulysses</a:t>
            </a:r>
          </a:p>
        </p:txBody>
      </p:sp>
      <p:sp>
        <p:nvSpPr>
          <p:cNvPr id="5" name="Original Ulysses source notes"/>
          <p:cNvSpPr>
            <a:spLocks noGrp="1"/>
          </p:cNvSpPr>
          <p:nvPr>
            <p:ph type="body" idx="20" sz="quarter"/>
          </p:nvPr>
        </p:nvSpPr>
        <p:spPr>
          <a:xfrm>
            <a:off x="25603200" y="5577840"/>
            <a:ext cx="9144000" cy="11887200"/>
          </a:xfrm>
        </p:spPr>
        <p:txBody>
          <a:bodyPr wrap="square" lIns="0" rIns="0" tIns="0" bIns="0"/>
          <a:lstStyle/>
          <a:p>
            <a:pPr algn="l"/>
            <a:r>
              <a:rPr b="1">
                <a:solidFill>
                  <a:srgbClr val="76B900"/>
                </a:solidFill>
                <a:latin typeface="NVIDIA Sans Medium"/>
              </a:rPr>
              <a:t>Four exchanges per dense block</a:t>
            </a:r>
          </a:p>
          <a:p>
            <a:pPr lvl="1" algn="l"/>
            <a:r>
              <a:rPr b="0">
                <a:solidFill>
                  <a:srgbClr val="313131"/>
                </a:solidFill>
                <a:latin typeface="NVIDIA Sans"/>
              </a:rPr>
              <a:t>Q / K / V: scatter heads</a:t>
            </a:r>
          </a:p>
          <a:p>
            <a:pPr lvl="1" algn="l"/>
            <a:r>
              <a:rPr b="0">
                <a:solidFill>
                  <a:srgbClr val="313131"/>
                </a:solidFill>
                <a:latin typeface="NVIDIA Sans"/>
              </a:rPr>
              <a:t>O: scatter sequence</a:t>
            </a:r>
          </a:p>
          <a:p>
            <a:pPr algn="l"/>
            <a:r>
              <a:rPr b="1">
                <a:solidFill>
                  <a:srgbClr val="76B900"/>
                </a:solidFill>
                <a:latin typeface="NVIDIA Sans Medium"/>
              </a:rPr>
              <a:t>NCCL selects the route</a:t>
            </a:r>
          </a:p>
          <a:p>
            <a:pPr lvl="1" algn="l"/>
            <a:r>
              <a:rPr b="0">
                <a:solidFill>
                  <a:srgbClr val="313131"/>
                </a:solidFill>
                <a:latin typeface="NVIDIA Sans"/>
              </a:rPr>
              <a:t>P2P / SHM / NET depend on topology and configuration</a:t>
            </a:r>
          </a:p>
          <a:p>
            <a:pPr algn="l"/>
            <a:r>
              <a:rPr b="1">
                <a:solidFill>
                  <a:srgbClr val="76B900"/>
                </a:solidFill>
                <a:latin typeface="NVIDIA Sans Medium"/>
              </a:rPr>
              <a:t>At batch = 1</a:t>
            </a:r>
          </a:p>
          <a:p>
            <a:pPr lvl="1" algn="l"/>
            <a:r>
              <a:rPr b="0">
                <a:solidFill>
                  <a:srgbClr val="313131"/>
                </a:solidFill>
                <a:latin typeface="NVIDIA Sans"/>
              </a:rPr>
              <a:t>Q/K/V output transpose is a view; contiguous() does not always copy</a:t>
            </a:r>
          </a:p>
        </p:txBody>
      </p:sp>
      <p:sp>
        <p:nvSpPr>
          <p:cNvPr id="6" name="Ulysses call-chain source"/>
          <p:cNvSpPr>
            <a:spLocks noGrp="1"/>
          </p:cNvSpPr>
          <p:nvPr>
            <p:ph type="body" idx="52" sz="quarter"/>
          </p:nvPr>
        </p:nvSpPr>
        <p:spPr>
          <a:xfrm>
            <a:off x="1828800" y="16916400"/>
            <a:ext cx="32918400" cy="1417320"/>
          </a:xfrm>
        </p:spPr>
        <p:txBody>
          <a:bodyPr/>
          <a:lstStyle/>
          <a:p>
            <a:r>
              <a:t>ulysses.py:538–547 → SeqAllToAll4D.forward → all_to_all_4D → PyTorch NCCL
O reverses the exchange at ulysses.py:721 · pinned source: 63487a7f22db</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Base50 checkout 63487a7f22db · comm.py:44–62 · line wrapping adjusted;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21</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5303520"/>
            <a:ext cx="15727680" cy="12801600"/>
          </a:xfrm>
        </p:spPr>
        <p:txBody>
          <a:bodyPr wrap="square" lIns="0" rIns="0" tIns="0" bIns="0"/>
          <a:lstStyle/>
          <a:p>
            <a:pPr algn="l"/>
            <a:r>
              <a:rPr b="1">
                <a:solidFill>
                  <a:srgbClr val="76B900"/>
                </a:solidFill>
                <a:latin typeface="NVIDIA Sans Medium"/>
              </a:rPr>
              <a:t>Measured benefit</a:t>
            </a:r>
          </a:p>
          <a:p>
            <a:pPr lvl="1" algn="l"/>
            <a:r>
              <a:rPr b="0">
                <a:solidFill>
                  <a:srgbClr val="313131"/>
                </a:solidFill>
                <a:latin typeface="NVIDIA Sans"/>
              </a:rPr>
              <a:t>2.33–2.47× faster Q/K/V/O exchanges</a:t>
            </a:r>
          </a:p>
          <a:p>
            <a:pPr lvl="1" algn="l"/>
            <a:r>
              <a:rPr b="0">
                <a:solidFill>
                  <a:srgbClr val="313131"/>
                </a:solidFill>
                <a:latin typeface="NVIDIA Sans"/>
              </a:rPr>
              <a:t>17.0–18.3 → 39.9–42.7 GB/s/GPU</a:t>
            </a:r>
          </a:p>
          <a:p>
            <a:pPr lvl="1" algn="l"/>
            <a:r>
              <a:rPr b="0">
                <a:solidFill>
                  <a:srgbClr val="313131"/>
                </a:solidFill>
                <a:latin typeface="NVIDIA Sans"/>
              </a:rPr>
              <a:t>Three sequence lengths; exact output checks</a:t>
            </a:r>
          </a:p>
          <a:p>
            <a:pPr algn="l"/>
            <a:r>
              <a:rPr b="1">
                <a:solidFill>
                  <a:srgbClr val="76B900"/>
                </a:solidFill>
                <a:latin typeface="NVIDIA Sans Medium"/>
              </a:rPr>
              <a:t>Topology explains the opportunity</a:t>
            </a:r>
          </a:p>
          <a:p>
            <a:pPr lvl="1" algn="l"/>
            <a:r>
              <a:rPr b="0">
                <a:solidFill>
                  <a:srgbClr val="313131"/>
                </a:solidFill>
                <a:latin typeface="NVIDIA Sans"/>
              </a:rPr>
              <a:t>Local NCCL: one P2P peer, six SHM peers</a:t>
            </a:r>
          </a:p>
          <a:p>
            <a:pPr lvl="1" algn="l"/>
            <a:r>
              <a:rPr b="0">
                <a:solidFill>
                  <a:srgbClr val="313131"/>
                </a:solidFill>
                <a:latin typeface="NVIDIA Sans"/>
              </a:rPr>
              <a:t>FI RDMA: one nearest 400G port per GPU</a:t>
            </a:r>
          </a:p>
          <a:p>
            <a:pPr lvl="1" algn="l"/>
            <a:r>
              <a:rPr b="0">
                <a:solidFill>
                  <a:srgbClr val="313131"/>
                </a:solidFill>
                <a:latin typeface="NVIDIA Sans"/>
              </a:rPr>
              <a:t>Payload bypasses shared CPU uplinks and host buffers</a:t>
            </a:r>
          </a:p>
        </p:txBody>
      </p:sp>
      <p:sp>
        <p:nvSpPr>
          <p:cNvPr id="3" name="Text Placeholder 2"/>
          <p:cNvSpPr>
            <a:spLocks noGrp="1"/>
          </p:cNvSpPr>
          <p:nvPr>
            <p:ph type="body" idx="14" sz="quarter"/>
          </p:nvPr>
        </p:nvSpPr>
        <p:spPr/>
        <p:txBody>
          <a:bodyPr/>
          <a:lstStyle/>
          <a:p>
            <a:r>
              <a:t>Use GPU-affine FI RDMA for the tested eight-GPU configuration</a:t>
            </a:r>
          </a:p>
        </p:txBody>
      </p:sp>
      <p:sp>
        <p:nvSpPr>
          <p:cNvPr id="4" name="Title 3"/>
          <p:cNvSpPr>
            <a:spLocks noGrp="1"/>
          </p:cNvSpPr>
          <p:nvPr>
            <p:ph type="title"/>
          </p:nvPr>
        </p:nvSpPr>
        <p:spPr/>
        <p:txBody>
          <a:bodyPr/>
          <a:lstStyle/>
          <a:p>
            <a:r>
              <a:t>Ulysses Communication: Conclusion</a:t>
            </a:r>
          </a:p>
        </p:txBody>
      </p:sp>
      <p:sp>
        <p:nvSpPr>
          <p:cNvPr id="5" name="Communication interpretation and next step"/>
          <p:cNvSpPr>
            <a:spLocks noGrp="1"/>
          </p:cNvSpPr>
          <p:nvPr>
            <p:ph type="body" idx="13" sz="quarter"/>
          </p:nvPr>
        </p:nvSpPr>
        <p:spPr>
          <a:xfrm>
            <a:off x="19202400" y="5303520"/>
            <a:ext cx="15544800" cy="12801600"/>
          </a:xfrm>
        </p:spPr>
        <p:txBody>
          <a:bodyPr wrap="square" lIns="0" rIns="0" tIns="0" bIns="0"/>
          <a:lstStyle/>
          <a:p>
            <a:pPr algn="l"/>
            <a:r>
              <a:rPr b="1">
                <a:solidFill>
                  <a:srgbClr val="76B900"/>
                </a:solidFill>
                <a:latin typeface="NVIDIA Sans Medium"/>
              </a:rPr>
              <a:t>Scope of the measured gain</a:t>
            </a:r>
          </a:p>
          <a:p>
            <a:pPr lvl="1" algn="l"/>
            <a:r>
              <a:rPr b="0">
                <a:solidFill>
                  <a:srgbClr val="313131"/>
                </a:solidFill>
                <a:latin typeface="NVIDIA Sans"/>
              </a:rPr>
              <a:t>Comparison includes transport, layout, allocation and scheduling</a:t>
            </a:r>
          </a:p>
          <a:p>
            <a:pPr lvl="1" algn="l"/>
            <a:r>
              <a:rPr b="0">
                <a:solidFill>
                  <a:srgbClr val="313131"/>
                </a:solidFill>
                <a:latin typeface="NVIDIA Sans"/>
              </a:rPr>
              <a:t>PCIe versus xGMI saturation is not isolated</a:t>
            </a:r>
          </a:p>
          <a:p>
            <a:pPr lvl="1" algn="l"/>
            <a:r>
              <a:rPr b="0">
                <a:solidFill>
                  <a:srgbClr val="313131"/>
                </a:solidFill>
                <a:latin typeface="NVIDIA Sans"/>
              </a:rPr>
              <a:t>CPU remote reads do not establish GPU-path capacity</a:t>
            </a:r>
          </a:p>
          <a:p>
            <a:pPr algn="l"/>
            <a:r>
              <a:rPr b="1">
                <a:solidFill>
                  <a:srgbClr val="76B900"/>
                </a:solidFill>
                <a:latin typeface="NVIDIA Sans Medium"/>
              </a:rPr>
              <a:t>Next optimization</a:t>
            </a:r>
          </a:p>
          <a:p>
            <a:pPr lvl="1" algn="l"/>
            <a:r>
              <a:rPr b="0">
                <a:solidFill>
                  <a:srgbClr val="313131"/>
                </a:solidFill>
                <a:latin typeface="NVIDIA Sans"/>
              </a:rPr>
              <a:t>Produce directly into registered RDMA buffers</a:t>
            </a:r>
          </a:p>
          <a:p>
            <a:pPr lvl="1" algn="l"/>
            <a:r>
              <a:rPr b="0">
                <a:solidFill>
                  <a:srgbClr val="313131"/>
                </a:solidFill>
                <a:latin typeface="NVIDIA Sans"/>
              </a:rPr>
              <a:t>Validate overlap and full H3 end-to-end impact</a:t>
            </a:r>
          </a:p>
        </p:txBody>
      </p:sp>
      <p:sp>
        <p:nvSpPr>
          <p:cNvPr id="6"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Controlled local-NCCL comparison · communication speedup only · full-model benefit requires matched E2E validation</a:t>
            </a:r>
            <a:endParaRPr lang="en-US" dirty="0"/>
          </a:p>
        </p:txBody>
      </p:sp>
      <p:sp>
        <p:nvSpPr>
          <p:cNvPr id="7"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22</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23</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25</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BF16 reference · Online NVFP4 without calibration or QAD · Published QAD checkpoint</a:t>
            </a:r>
          </a:p>
        </p:txBody>
      </p:sp>
      <p:sp>
        <p:nvSpPr>
          <p:cNvPr id="4" name="Title 3"/>
          <p:cNvSpPr>
            <a:spLocks noGrp="1"/>
          </p:cNvSpPr>
          <p:nvPr>
            <p:ph type="title"/>
          </p:nvPr>
        </p:nvSpPr>
        <p:spPr/>
        <p:txBody>
          <a:bodyPr/>
          <a:lstStyle/>
          <a:p>
            <a:r>
              <a:t>Quantization: Three-Way Video Comparison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Matched request · cuDNN BF16 attention + original VAE · checkpoint comparison, including encoder precision</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sp>
        <p:nvSpPr>
          <p:cNvPr id="7" name="BF16 Reference"/>
          <p:cNvSpPr txBox="1"/>
          <p:nvPr/>
        </p:nvSpPr>
        <p:spPr>
          <a:xfrm>
            <a:off x="18288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828800" y="7315200"/>
            <a:ext cx="10515600" cy="6008914"/>
          </a:xfrm>
          <a:prstGeom prst="rect">
            <a:avLst/>
          </a:prstGeom>
          <a:ln w="9525">
            <a:solidFill>
              <a:srgbClr val="A7A7A7"/>
            </a:solidFill>
          </a:ln>
        </p:spPr>
      </p:pic>
      <p:sp>
        <p:nvSpPr>
          <p:cNvPr id="9" name="Original BF16 weights"/>
          <p:cNvSpPr txBox="1"/>
          <p:nvPr/>
        </p:nvSpPr>
        <p:spPr>
          <a:xfrm>
            <a:off x="18288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Original BF16 weights</a:t>
            </a:r>
          </a:p>
        </p:txBody>
      </p:sp>
      <p:sp>
        <p:nvSpPr>
          <p:cNvPr id="10" name="Request E2E: 48.12 s*"/>
          <p:cNvSpPr txBox="1"/>
          <p:nvPr/>
        </p:nvSpPr>
        <p:spPr>
          <a:xfrm>
            <a:off x="18288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48.12 s*</a:t>
            </a:r>
          </a:p>
        </p:txBody>
      </p:sp>
      <p:sp>
        <p:nvSpPr>
          <p:cNvPr id="11" name="LPIPS ↓ 0.0000  |  SSIM ↑ 1.0000"/>
          <p:cNvSpPr txBox="1"/>
          <p:nvPr/>
        </p:nvSpPr>
        <p:spPr>
          <a:xfrm>
            <a:off x="18288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0.0000  |  SSIM ↑ 1.0000</a:t>
            </a:r>
          </a:p>
        </p:txBody>
      </p:sp>
      <p:sp>
        <p:nvSpPr>
          <p:cNvPr id="12" name="Online NVFP4"/>
          <p:cNvSpPr txBox="1"/>
          <p:nvPr/>
        </p:nvSpPr>
        <p:spPr>
          <a:xfrm>
            <a:off x="130302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3030200" y="7315200"/>
            <a:ext cx="10515600" cy="6008914"/>
          </a:xfrm>
          <a:prstGeom prst="rect">
            <a:avLst/>
          </a:prstGeom>
          <a:ln w="9525">
            <a:solidFill>
              <a:srgbClr val="A7A7A7"/>
            </a:solidFill>
          </a:ln>
        </p:spPr>
      </p:pic>
      <p:sp>
        <p:nvSpPr>
          <p:cNvPr id="14" name="No calibration · No QAD"/>
          <p:cNvSpPr txBox="1"/>
          <p:nvPr/>
        </p:nvSpPr>
        <p:spPr>
          <a:xfrm>
            <a:off x="130302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No calibration · No QAD</a:t>
            </a:r>
          </a:p>
        </p:txBody>
      </p:sp>
      <p:sp>
        <p:nvSpPr>
          <p:cNvPr id="15" name="Request E2E: 32.44 s*"/>
          <p:cNvSpPr txBox="1"/>
          <p:nvPr/>
        </p:nvSpPr>
        <p:spPr>
          <a:xfrm>
            <a:off x="130302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32.44 s*</a:t>
            </a:r>
          </a:p>
        </p:txBody>
      </p:sp>
      <p:sp>
        <p:nvSpPr>
          <p:cNvPr id="16" name="LPIPS ↓ 0.2978  |  SSIM ↑ 0.5778"/>
          <p:cNvSpPr txBox="1"/>
          <p:nvPr/>
        </p:nvSpPr>
        <p:spPr>
          <a:xfrm>
            <a:off x="130302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0.2978  |  SSIM ↑ 0.5778</a:t>
            </a:r>
          </a:p>
        </p:txBody>
      </p:sp>
      <p:sp>
        <p:nvSpPr>
          <p:cNvPr id="17" name="QAD NVFP4"/>
          <p:cNvSpPr txBox="1"/>
          <p:nvPr/>
        </p:nvSpPr>
        <p:spPr>
          <a:xfrm>
            <a:off x="24231600" y="5715000"/>
            <a:ext cx="10515600" cy="914400"/>
          </a:xfrm>
          <a:prstGeom prst="rect">
            <a:avLst/>
          </a:prstGeom>
          <a:noFill/>
        </p:spPr>
        <p:txBody>
          <a:bodyPr wrap="square" lIns="0" rIns="0" tIns="0" bIns="0">
            <a:spAutoFit/>
          </a:bodyPr>
          <a:lstStyle/>
          <a:p>
            <a:pPr algn="ctr">
              <a:lnSpc>
                <a:spcPct val="108000"/>
              </a:lnSpc>
              <a:spcBef>
                <a:spcPts val="0"/>
              </a:spcBef>
              <a:spcAft>
                <a:spcPts val="1200"/>
              </a:spcAft>
            </a:pPr>
            <a:r>
              <a:rPr sz="44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24231600" y="7315200"/>
            <a:ext cx="10515600" cy="6008914"/>
          </a:xfrm>
          <a:prstGeom prst="rect">
            <a:avLst/>
          </a:prstGeom>
          <a:ln w="9525">
            <a:solidFill>
              <a:srgbClr val="A7A7A7"/>
            </a:solidFill>
          </a:ln>
        </p:spPr>
      </p:pic>
      <p:sp>
        <p:nvSpPr>
          <p:cNvPr id="19" name="Published QAD checkpoint"/>
          <p:cNvSpPr txBox="1"/>
          <p:nvPr/>
        </p:nvSpPr>
        <p:spPr>
          <a:xfrm>
            <a:off x="24231600" y="13827034"/>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200" b="0">
                <a:solidFill>
                  <a:srgbClr val="313131"/>
                </a:solidFill>
                <a:latin typeface="NVIDIA Sans"/>
              </a:rPr>
              <a:t>Published QAD checkpoint</a:t>
            </a:r>
          </a:p>
        </p:txBody>
      </p:sp>
      <p:sp>
        <p:nvSpPr>
          <p:cNvPr id="20" name="Request E2E: 28.40 s*"/>
          <p:cNvSpPr txBox="1"/>
          <p:nvPr/>
        </p:nvSpPr>
        <p:spPr>
          <a:xfrm>
            <a:off x="24231600" y="14904720"/>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400" b="1">
                <a:solidFill>
                  <a:srgbClr val="313131"/>
                </a:solidFill>
                <a:latin typeface="NVIDIA Sans Medium"/>
              </a:rPr>
              <a:t>Request E2E: 28.40 s*</a:t>
            </a:r>
          </a:p>
        </p:txBody>
      </p:sp>
      <p:sp>
        <p:nvSpPr>
          <p:cNvPr id="21" name="LPIPS ↓ 0.2502  |  SSIM ↑ 0.6438"/>
          <p:cNvSpPr txBox="1"/>
          <p:nvPr/>
        </p:nvSpPr>
        <p:spPr>
          <a:xfrm>
            <a:off x="24231600" y="15910559"/>
            <a:ext cx="105156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LPIPS ↓ 0.2502  |  SSIM ↑ 0.6438</a:t>
            </a:r>
          </a:p>
        </p:txBody>
      </p:sp>
      <p:sp>
        <p:nvSpPr>
          <p:cNvPr id="22" name="1344 × 768  ·  124 frames @ 24 FPS  ·  8 steps  ·  Seed 1234"/>
          <p:cNvSpPr txBox="1"/>
          <p:nvPr/>
        </p:nvSpPr>
        <p:spPr>
          <a:xfrm>
            <a:off x="1828800" y="1719072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400" b="0">
                <a:solidFill>
                  <a:srgbClr val="313131"/>
                </a:solidFill>
                <a:latin typeface="NVIDIA Sans"/>
              </a:rPr>
              <a:t>1344 × 768  ·  124 frames @ 24 FPS  ·  8 steps  ·  Seed 1234</a:t>
            </a:r>
          </a:p>
        </p:txBody>
      </p:sp>
      <p:sp>
        <p:nvSpPr>
          <p:cNvPr id="23" name="*Single requests; warmup / encoder / HSDP differ. Metrics: all frames vs. BF16."/>
          <p:cNvSpPr txBox="1"/>
          <p:nvPr/>
        </p:nvSpPr>
        <p:spPr>
          <a:xfrm>
            <a:off x="1828800" y="18288000"/>
            <a:ext cx="32918400" cy="822960"/>
          </a:xfrm>
          <a:prstGeom prst="rect">
            <a:avLst/>
          </a:prstGeom>
          <a:noFill/>
        </p:spPr>
        <p:txBody>
          <a:bodyPr wrap="square" lIns="0" rIns="0" tIns="0" bIns="0">
            <a:spAutoFit/>
          </a:bodyPr>
          <a:lstStyle/>
          <a:p>
            <a:pPr algn="ctr">
              <a:lnSpc>
                <a:spcPct val="108000"/>
              </a:lnSpc>
              <a:spcBef>
                <a:spcPts val="0"/>
              </a:spcBef>
              <a:spcAft>
                <a:spcPts val="1200"/>
              </a:spcAft>
            </a:pPr>
            <a:r>
              <a:rPr sz="3000" b="0">
                <a:solidFill>
                  <a:srgbClr val="313131"/>
                </a:solidFill>
                <a:latin typeface="NVIDIA Sans"/>
              </a:rPr>
              <a:t>*Single requests; warmup / encoder / HSDP differ. Metrics: all frames vs. BF16.</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Train the quantized student against a frozen teacher on the eight-forward sampling ladder</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pic>
        <p:nvPicPr>
          <p:cNvPr id="7" name="QAD training flow" descr="qad-training-flow.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28800" y="5584983"/>
            <a:ext cx="21031200" cy="12421552"/>
          </a:xfrm>
          <a:prstGeom prst="rect">
            <a:avLst/>
          </a:prstGeom>
          <a:ln w="9525">
            <a:solidFill>
              <a:srgbClr val="A7A7A7"/>
            </a:solidFill>
          </a:ln>
        </p:spPr>
      </p:pic>
      <p:sp>
        <p:nvSpPr>
          <p:cNvPr id="8" name="Eight forward evaluations"/>
          <p:cNvSpPr txBox="1"/>
          <p:nvPr/>
        </p:nvSpPr>
        <p:spPr>
          <a:xfrm>
            <a:off x="23774400" y="5669280"/>
            <a:ext cx="10972800" cy="114300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Eight forward evaluations</a:t>
            </a:r>
          </a:p>
        </p:txBody>
      </p:sp>
      <p:sp>
        <p:nvSpPr>
          <p:cNvPr id="9" name="Few-step distillation reduces the number of DiT calls"/>
          <p:cNvSpPr txBox="1"/>
          <p:nvPr/>
        </p:nvSpPr>
        <p:spPr>
          <a:xfrm>
            <a:off x="23774400" y="6903720"/>
            <a:ext cx="10972800" cy="256032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Few-step distillation reduces the number of DiT calls</a:t>
            </a:r>
          </a:p>
        </p:txBody>
      </p:sp>
      <p:sp>
        <p:nvSpPr>
          <p:cNvPr id="10" name="Real quantized linears"/>
          <p:cNvSpPr txBox="1"/>
          <p:nvPr/>
        </p:nvSpPr>
        <p:spPr>
          <a:xfrm>
            <a:off x="23774400" y="9692640"/>
            <a:ext cx="10972800" cy="114300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Real quantized linears</a:t>
            </a:r>
          </a:p>
        </p:txBody>
      </p:sp>
      <p:sp>
        <p:nvSpPr>
          <p:cNvPr id="11" name="The student forward executes NVFP4 GEMM from the first training step"/>
          <p:cNvSpPr txBox="1"/>
          <p:nvPr/>
        </p:nvSpPr>
        <p:spPr>
          <a:xfrm>
            <a:off x="23774400" y="10927080"/>
            <a:ext cx="10972800" cy="256032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The student forward executes NVFP4 GEMM from the first training step</a:t>
            </a:r>
          </a:p>
        </p:txBody>
      </p:sp>
      <p:sp>
        <p:nvSpPr>
          <p:cNvPr id="12" name="Quality recovery"/>
          <p:cNvSpPr txBox="1"/>
          <p:nvPr/>
        </p:nvSpPr>
        <p:spPr>
          <a:xfrm>
            <a:off x="23774400" y="13807440"/>
            <a:ext cx="10972800" cy="114300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Quality recovery</a:t>
            </a:r>
          </a:p>
        </p:txBody>
      </p:sp>
      <p:sp>
        <p:nvSpPr>
          <p:cNvPr id="13" name="Weights learn to absorb quantization error before deployment"/>
          <p:cNvSpPr txBox="1"/>
          <p:nvPr/>
        </p:nvSpPr>
        <p:spPr>
          <a:xfrm>
            <a:off x="23774400" y="15041880"/>
            <a:ext cx="10972800" cy="256032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Weights learn to absorb quantization error before deployment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Execution precision and parameter updates are separate choices</a:t>
            </a:r>
          </a:p>
        </p:txBody>
      </p:sp>
      <p:sp>
        <p:nvSpPr>
          <p:cNvPr id="4" name="Title 3"/>
          <p:cNvSpPr>
            <a:spLocks noGrp="1"/>
          </p:cNvSpPr>
          <p:nvPr>
            <p:ph type="title"/>
          </p:nvPr>
        </p:nvSpPr>
        <p:spPr/>
        <p:txBody>
          <a:bodyPr/>
          <a:lstStyle/>
          <a:p>
            <a:r>
              <a:t>QAD: What Runs in Four Bits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OmniRef YAML + nvfp4_qad.py + omniref_pdd.py @ ea3275d · 50 DiT blocks · no skipped blocks</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12</a:t>
            </a:fld>
            <a:endParaRPr lang="en-US"/>
          </a:p>
        </p:txBody>
      </p:sp>
      <p:graphicFrame>
        <p:nvGraphicFramePr>
          <p:cNvPr id="7" name="Table 6"/>
          <p:cNvGraphicFramePr>
            <a:graphicFrameLocks noGrp="1"/>
          </p:cNvGraphicFramePr>
          <p:nvPr/>
        </p:nvGraphicFramePr>
        <p:xfrm>
          <a:off x="1828800" y="5669280"/>
          <a:ext cx="18287999" cy="10424155"/>
        </p:xfrm>
        <a:graphic>
          <a:graphicData uri="http://schemas.openxmlformats.org/drawingml/2006/table">
            <a:tbl>
              <a:tblPr>
                <a:tableStyleId>{68D230F3-CF80-4859-8CE7-A43EE81993B5}</a:tableStyleId>
              </a:tblPr>
              <a:tblGrid>
                <a:gridCol w="7498079"/>
                <a:gridCol w="6766560"/>
                <a:gridCol w="4023360"/>
              </a:tblGrid>
              <a:tr h="1489165">
                <a:tc>
                  <a:txBody>
                    <a:bodyPr wrap="square"/>
                    <a:lstStyle/>
                    <a:p>
                      <a:pPr algn="l">
                        <a:lnSpc>
                          <a:spcPct val="100000"/>
                        </a:lnSpc>
                        <a:spcBef>
                          <a:spcPts val="0"/>
                        </a:spcBef>
                        <a:spcAft>
                          <a:spcPts val="0"/>
                        </a:spcAft>
                      </a:pPr>
                      <a:r>
                        <a:rPr lang="en-US" sz="3600" b="0" kern="1200" dirty="0">
                          <a:solidFill>
                            <a:srgbClr val="76B900"/>
                          </a:solidFill>
                          <a:latin typeface="NVIDIA Sans Medium"/>
                        </a:rPr>
                        <a:t>Module</a:t>
                      </a:r>
                      <a:endParaRPr lang="en-US" sz="4400" b="0" kern="1200" dirty="0">
                        <a:solidFill>
                          <a:schemeClr val="accent1"/>
                        </a:solidFill>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wrap="square"/>
                    <a:lstStyle/>
                    <a:p>
                      <a:pPr algn="l">
                        <a:lnSpc>
                          <a:spcPct val="100000"/>
                        </a:lnSpc>
                        <a:spcBef>
                          <a:spcPts val="0"/>
                        </a:spcBef>
                        <a:spcAft>
                          <a:spcPts val="0"/>
                        </a:spcAft>
                      </a:pPr>
                      <a:r>
                        <a:rPr lang="en-US" sz="3600" b="0" kern="1200" dirty="0">
                          <a:solidFill>
                            <a:srgbClr val="76B900"/>
                          </a:solidFill>
                          <a:latin typeface="NVIDIA Sans Medium"/>
                        </a:rPr>
                        <a:t>Student forward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wrap="square"/>
                    <a:lstStyle/>
                    <a:p>
                      <a:pPr algn="l">
                        <a:lnSpc>
                          <a:spcPct val="100000"/>
                        </a:lnSpc>
                        <a:spcBef>
                          <a:spcPts val="0"/>
                        </a:spcBef>
                        <a:spcAft>
                          <a:spcPts val="0"/>
                        </a:spcAft>
                      </a:pPr>
                      <a:r>
                        <a:rPr lang="en-US" sz="3600" b="0" kern="1200" dirty="0">
                          <a:solidFill>
                            <a:srgbClr val="76B900"/>
                          </a:solidFill>
                          <a:latin typeface="NVIDIA Sans Medium"/>
                        </a:rPr>
                        <a:t>Update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Q / K / V / O</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NVFP4 W4A4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Train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FFN projections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NVFP4 W4A4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Train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VSA gate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NVFP4 W4A4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Frozen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Norms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Original path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Frozen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Input / output / time*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FP32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wrap="square"/>
                    <a:lstStyle/>
                    <a:p>
                      <a:pPr algn="l">
                        <a:lnSpc>
                          <a:spcPct val="100000"/>
                        </a:lnSpc>
                        <a:spcBef>
                          <a:spcPts val="0"/>
                        </a:spcBef>
                        <a:spcAft>
                          <a:spcPts val="0"/>
                        </a:spcAft>
                      </a:pPr>
                      <a:r>
                        <a:rPr lang="en-US" sz="2800" dirty="0" b="0">
                          <a:solidFill>
                            <a:srgbClr val="000000"/>
                          </a:solidFill>
                          <a:latin typeface="NVIDIA Sans"/>
                        </a:rPr>
                        <a:t>Frozen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r>
              <a:tr h="1489165">
                <a:tc>
                  <a:txBody>
                    <a:bodyPr wrap="square"/>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Fine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wrap="square"/>
                    <a:lstStyle/>
                    <a:p>
                      <a:pPr algn="l">
                        <a:lnSpc>
                          <a:spcPct val="100000"/>
                        </a:lnSpc>
                        <a:spcBef>
                          <a:spcPts val="0"/>
                        </a:spcBef>
                        <a:spcAft>
                          <a:spcPts val="0"/>
                        </a:spcAft>
                      </a:pPr>
                      <a:r>
                        <a:rPr lang="en-US" sz="2800" dirty="0" b="0">
                          <a:solidFill>
                            <a:srgbClr val="000000"/>
                          </a:solidFill>
                          <a:latin typeface="NVIDIA Sans"/>
                        </a:rPr>
                        <a:t>FP4 emulator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wrap="square"/>
                    <a:lstStyle/>
                    <a:p>
                      <a:pPr algn="l">
                        <a:lnSpc>
                          <a:spcPct val="100000"/>
                        </a:lnSpc>
                        <a:spcBef>
                          <a:spcPts val="0"/>
                        </a:spcBef>
                        <a:spcAft>
                          <a:spcPts val="0"/>
                        </a:spcAft>
                      </a:pPr>
                      <a:r>
                        <a:rPr lang="en-US" sz="2800" dirty="0" b="0">
                          <a:solidFill>
                            <a:srgbClr val="000000"/>
                          </a:solidFill>
                          <a:latin typeface="NVIDIA Sans"/>
                        </a:rPr>
                        <a:t>Backprop</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r>
            </a:tbl>
          </a:graphicData>
        </a:graphic>
      </p:graphicFrame>
      <p:sp>
        <p:nvSpPr>
          <p:cNvPr id="8" name="*Designated boundary modules"/>
          <p:cNvSpPr txBox="1"/>
          <p:nvPr/>
        </p:nvSpPr>
        <p:spPr>
          <a:xfrm>
            <a:off x="1828800" y="16550640"/>
            <a:ext cx="18288000" cy="914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*Designated boundary modules</a:t>
            </a:r>
          </a:p>
        </p:txBody>
      </p:sp>
      <p:sp>
        <p:nvSpPr>
          <p:cNvPr id="9" name="NVFP4 linear forward"/>
          <p:cNvSpPr txBox="1"/>
          <p:nvPr/>
        </p:nvSpPr>
        <p:spPr>
          <a:xfrm>
            <a:off x="21305520" y="5669280"/>
            <a:ext cx="13441680" cy="100584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NVFP4 linear forward</a:t>
            </a:r>
          </a:p>
        </p:txBody>
      </p:sp>
      <p:sp>
        <p:nvSpPr>
          <p:cNvPr id="10" name="w = weight.to(torch.bfloat16)"/>
          <p:cNvSpPr txBox="1"/>
          <p:nvPr/>
        </p:nvSpPr>
        <p:spPr>
          <a:xfrm>
            <a:off x="21305520" y="7315200"/>
            <a:ext cx="13441680" cy="603504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Roboto Mono"/>
              </a:rPr>
              <a:t>w = weight.to(torch.bfloat16)</a:t>
            </a:r>
          </a:p>
          <a:p>
            <a:pPr algn="l">
              <a:lnSpc>
                <a:spcPct val="108000"/>
              </a:lnSpc>
              <a:spcBef>
                <a:spcPts val="0"/>
              </a:spcBef>
              <a:spcAft>
                <a:spcPts val="1200"/>
              </a:spcAft>
            </a:pPr>
            <a:r>
              <a:rPr sz="2900" b="0">
                <a:solidFill>
                  <a:srgbClr val="313131"/>
                </a:solidFill>
                <a:latin typeface="Roboto Mono"/>
              </a:rPr>
              <a:t>w_sf = 2688.0 / w.abs().amax().float()</a:t>
            </a:r>
          </a:p>
          <a:p>
            <a:pPr algn="l">
              <a:lnSpc>
                <a:spcPct val="108000"/>
              </a:lnSpc>
              <a:spcBef>
                <a:spcPts val="0"/>
              </a:spcBef>
              <a:spcAft>
                <a:spcPts val="1200"/>
              </a:spcAft>
            </a:pPr>
            <a:r>
              <a:rPr sz="2900" b="0">
                <a:solidFill>
                  <a:srgbClr val="313131"/>
                </a:solidFill>
                <a:latin typeface="Roboto Mono"/>
              </a:rPr>
              <a:t>w4, ws = nvfp4_quantize(w, w_sf, ...)</a:t>
            </a:r>
          </a:p>
          <a:p>
            <a:pPr algn="l">
              <a:lnSpc>
                <a:spcPct val="108000"/>
              </a:lnSpc>
              <a:spcBef>
                <a:spcPts val="0"/>
              </a:spcBef>
              <a:spcAft>
                <a:spcPts val="1200"/>
              </a:spcAft>
            </a:pPr>
            <a:r>
              <a:rPr sz="2900" b="0">
                <a:solidFill>
                  <a:srgbClr val="313131"/>
                </a:solidFill>
                <a:latin typeface="Roboto Mono"/>
              </a:rPr>
              <a:t>x4, xs = nvfp4_quantize(x, x_sf, ...)</a:t>
            </a:r>
          </a:p>
          <a:p>
            <a:pPr algn="l">
              <a:lnSpc>
                <a:spcPct val="108000"/>
              </a:lnSpc>
              <a:spcBef>
                <a:spcPts val="0"/>
              </a:spcBef>
              <a:spcAft>
                <a:spcPts val="1200"/>
              </a:spcAft>
            </a:pPr>
            <a:r>
              <a:rPr sz="2900" b="0">
                <a:solidFill>
                  <a:srgbClr val="313131"/>
                </a:solidFill>
                <a:latin typeface="Roboto Mono"/>
              </a:rPr>
              <a:t>alpha = 1.0 / (w_sf * x_sf)</a:t>
            </a:r>
          </a:p>
          <a:p>
            <a:pPr algn="l">
              <a:lnSpc>
                <a:spcPct val="108000"/>
              </a:lnSpc>
              <a:spcBef>
                <a:spcPts val="0"/>
              </a:spcBef>
              <a:spcAft>
                <a:spcPts val="1200"/>
              </a:spcAft>
            </a:pPr>
            <a:r>
              <a:rPr sz="2900" b="0">
                <a:solidFill>
                  <a:srgbClr val="313131"/>
                </a:solidFill>
                <a:latin typeface="Roboto Mono"/>
              </a:rPr>
              <a:t>out = mm_fp4(x4, w4.T,</a:t>
            </a:r>
          </a:p>
          <a:p>
            <a:pPr algn="l">
              <a:lnSpc>
                <a:spcPct val="108000"/>
              </a:lnSpc>
              <a:spcBef>
                <a:spcPts val="0"/>
              </a:spcBef>
              <a:spcAft>
                <a:spcPts val="1200"/>
              </a:spcAft>
            </a:pPr>
            <a:r>
              <a:rPr sz="2900" b="0">
                <a:solidFill>
                  <a:srgbClr val="313131"/>
                </a:solidFill>
                <a:latin typeface="Roboto Mono"/>
              </a:rPr>
              <a:t>             xs, ws.T, alpha, ...)</a:t>
            </a:r>
          </a:p>
        </p:txBody>
      </p:sp>
      <p:sp>
        <p:nvSpPr>
          <p:cNvPr id="11" name="FP32 masters + STE backward"/>
          <p:cNvSpPr txBox="1"/>
          <p:nvPr/>
        </p:nvSpPr>
        <p:spPr>
          <a:xfrm>
            <a:off x="21305520" y="14356080"/>
            <a:ext cx="13441680" cy="3108960"/>
          </a:xfrm>
          <a:prstGeom prst="rect">
            <a:avLst/>
          </a:prstGeom>
          <a:noFill/>
        </p:spPr>
        <p:txBody>
          <a:bodyPr wrap="square" lIns="0" rIns="0" tIns="0" bIns="0">
            <a:spAutoFit/>
          </a:bodyPr>
          <a:lstStyle/>
          <a:p>
            <a:pPr algn="l">
              <a:lnSpc>
                <a:spcPct val="108000"/>
              </a:lnSpc>
              <a:spcBef>
                <a:spcPts val="0"/>
              </a:spcBef>
              <a:spcAft>
                <a:spcPts val="1200"/>
              </a:spcAft>
            </a:pPr>
            <a:r>
              <a:rPr sz="3400" b="0">
                <a:solidFill>
                  <a:srgbClr val="313131"/>
                </a:solidFill>
                <a:latin typeface="NVIDIA Sans"/>
              </a:rPr>
              <a:t>FP32 masters + STE backward</a:t>
            </a:r>
          </a:p>
          <a:p>
            <a:pPr algn="l">
              <a:lnSpc>
                <a:spcPct val="108000"/>
              </a:lnSpc>
              <a:spcBef>
                <a:spcPts val="0"/>
              </a:spcBef>
              <a:spcAft>
                <a:spcPts val="1200"/>
              </a:spcAft>
            </a:pPr>
            <a:r>
              <a:rPr sz="3400" b="0">
                <a:solidFill>
                  <a:srgbClr val="313131"/>
                </a:solidFill>
                <a:latin typeface="NVIDIA Sans"/>
              </a:rPr>
              <a:t>Per-16 E4M3 scales</a:t>
            </a:r>
          </a:p>
          <a:p>
            <a:pPr algn="l">
              <a:lnSpc>
                <a:spcPct val="108000"/>
              </a:lnSpc>
              <a:spcBef>
                <a:spcPts val="0"/>
              </a:spcBef>
              <a:spcAft>
                <a:spcPts val="1200"/>
              </a:spcAft>
            </a:pPr>
            <a:r>
              <a:rPr sz="3400" b="0">
                <a:solidFill>
                  <a:srgbClr val="313131"/>
                </a:solidFill>
                <a:latin typeface="NVIDIA Sans"/>
              </a:rPr>
              <a:t>FFN global activation scales calibrated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Match denoised outputs and local activations while keeping VSA gate weights frozen</a:t>
            </a:r>
          </a:p>
        </p:txBody>
      </p:sp>
      <p:sp>
        <p:nvSpPr>
          <p:cNvPr id="4" name="Title 3"/>
          <p:cNvSpPr>
            <a:spLocks noGrp="1"/>
          </p:cNvSpPr>
          <p:nvPr>
            <p:ph type="title"/>
          </p:nvPr>
        </p:nvSpPr>
        <p:spPr/>
        <p:txBody>
          <a:bodyPr/>
          <a:lstStyle/>
          <a:p>
            <a:r>
              <a:t>QAD: Recover Video and Audio</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pdd_qad.py + pdd_qad_recon.py + OmniRef YAML @ ea3275d · public recipe, not our training benchmark</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13</a:t>
            </a:fld>
            <a:endParaRPr lang="en-US"/>
          </a:p>
        </p:txBody>
      </p:sp>
      <p:sp>
        <p:nvSpPr>
          <p:cNvPr id="7" name="1  Denoised output"/>
          <p:cNvSpPr txBox="1"/>
          <p:nvPr/>
        </p:nvSpPr>
        <p:spPr>
          <a:xfrm>
            <a:off x="182880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1  Denoised output</a:t>
            </a:r>
          </a:p>
        </p:txBody>
      </p:sp>
      <p:sp>
        <p:nvSpPr>
          <p:cNvPr id="8" name="Match student x0 to teacher x0"/>
          <p:cNvSpPr txBox="1"/>
          <p:nvPr/>
        </p:nvSpPr>
        <p:spPr>
          <a:xfrm>
            <a:off x="182880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Match student x0 to teacher x0</a:t>
            </a:r>
          </a:p>
        </p:txBody>
      </p:sp>
      <p:sp>
        <p:nvSpPr>
          <p:cNvPr id="9" name="Normalize each sampling step and modality by its initial PTQ error"/>
          <p:cNvSpPr txBox="1"/>
          <p:nvPr/>
        </p:nvSpPr>
        <p:spPr>
          <a:xfrm>
            <a:off x="182880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Normalize each sampling step and modality by its initial PTQ error</a:t>
            </a:r>
          </a:p>
        </p:txBody>
      </p:sp>
      <p:sp>
        <p:nvSpPr>
          <p:cNvPr id="10" name="Video and audio carry equal weight"/>
          <p:cNvSpPr txBox="1"/>
          <p:nvPr/>
        </p:nvSpPr>
        <p:spPr>
          <a:xfrm>
            <a:off x="182880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Video and audio carry equal weight</a:t>
            </a:r>
          </a:p>
        </p:txBody>
      </p:sp>
      <p:sp>
        <p:nvSpPr>
          <p:cNvPr id="11" name="2  Layer reconstruction"/>
          <p:cNvSpPr txBox="1"/>
          <p:nvPr/>
        </p:nvSpPr>
        <p:spPr>
          <a:xfrm>
            <a:off x="1307592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2  Layer reconstruction</a:t>
            </a:r>
          </a:p>
        </p:txBody>
      </p:sp>
      <p:sp>
        <p:nvSpPr>
          <p:cNvPr id="12" name="Give each student unit the teacher’s input"/>
          <p:cNvSpPr txBox="1"/>
          <p:nvPr/>
        </p:nvSpPr>
        <p:spPr>
          <a:xfrm>
            <a:off x="1307592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Give each student unit the teacher’s input</a:t>
            </a:r>
          </a:p>
        </p:txBody>
      </p:sp>
      <p:sp>
        <p:nvSpPr>
          <p:cNvPr id="13" name="Correct attention and FFN error locally, with per-block backward"/>
          <p:cNvSpPr txBox="1"/>
          <p:nvPr/>
        </p:nvSpPr>
        <p:spPr>
          <a:xfrm>
            <a:off x="1307592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Correct attention and FFN error locally, with per-block backward</a:t>
            </a:r>
          </a:p>
        </p:txBody>
      </p:sp>
      <p:sp>
        <p:nvSpPr>
          <p:cNvPr id="14" name="Video : audio : conditioning"/>
          <p:cNvSpPr txBox="1"/>
          <p:nvPr/>
        </p:nvSpPr>
        <p:spPr>
          <a:xfrm>
            <a:off x="1307592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Video : audio : conditioning</a:t>
            </a:r>
          </a:p>
          <a:p>
            <a:pPr algn="l">
              <a:lnSpc>
                <a:spcPct val="108000"/>
              </a:lnSpc>
              <a:spcBef>
                <a:spcPts val="0"/>
              </a:spcBef>
              <a:spcAft>
                <a:spcPts val="1200"/>
              </a:spcAft>
            </a:pPr>
            <a:r>
              <a:rPr sz="3200" b="0">
                <a:solidFill>
                  <a:srgbClr val="313131"/>
                </a:solidFill>
                <a:latin typeface="NVIDIA Sans"/>
              </a:rPr>
              <a:t>1 : 1 : 0.25</a:t>
            </a:r>
          </a:p>
        </p:txBody>
      </p:sp>
      <p:sp>
        <p:nvSpPr>
          <p:cNvPr id="15" name="3  Student rollout"/>
          <p:cNvSpPr txBox="1"/>
          <p:nvPr/>
        </p:nvSpPr>
        <p:spPr>
          <a:xfrm>
            <a:off x="24323040" y="5669280"/>
            <a:ext cx="10424160" cy="1097280"/>
          </a:xfrm>
          <a:prstGeom prst="rect">
            <a:avLst/>
          </a:prstGeom>
          <a:noFill/>
        </p:spPr>
        <p:txBody>
          <a:bodyPr wrap="square" lIns="0" rIns="0" tIns="0" bIns="0">
            <a:spAutoFit/>
          </a:bodyPr>
          <a:lstStyle/>
          <a:p>
            <a:pPr algn="l">
              <a:lnSpc>
                <a:spcPct val="108000"/>
              </a:lnSpc>
              <a:spcBef>
                <a:spcPts val="0"/>
              </a:spcBef>
              <a:spcAft>
                <a:spcPts val="1200"/>
              </a:spcAft>
            </a:pPr>
            <a:r>
              <a:rPr sz="4200" b="1">
                <a:solidFill>
                  <a:srgbClr val="76B900"/>
                </a:solidFill>
                <a:latin typeface="NVIDIA Sans Medium"/>
              </a:rPr>
              <a:t>3  Student rollout</a:t>
            </a:r>
          </a:p>
        </p:txBody>
      </p:sp>
      <p:sp>
        <p:nvSpPr>
          <p:cNvPr id="16" name="Train on the student’s own trajectory"/>
          <p:cNvSpPr txBox="1"/>
          <p:nvPr/>
        </p:nvSpPr>
        <p:spPr>
          <a:xfrm>
            <a:off x="24323040" y="7315200"/>
            <a:ext cx="10424160" cy="2286000"/>
          </a:xfrm>
          <a:prstGeom prst="rect">
            <a:avLst/>
          </a:prstGeom>
          <a:noFill/>
        </p:spPr>
        <p:txBody>
          <a:bodyPr wrap="square" lIns="0" rIns="0" tIns="0" bIns="0">
            <a:spAutoFit/>
          </a:bodyPr>
          <a:lstStyle/>
          <a:p>
            <a:pPr algn="l">
              <a:lnSpc>
                <a:spcPct val="108000"/>
              </a:lnSpc>
              <a:spcBef>
                <a:spcPts val="0"/>
              </a:spcBef>
              <a:spcAft>
                <a:spcPts val="1200"/>
              </a:spcAft>
            </a:pPr>
            <a:r>
              <a:rPr sz="4000" b="1">
                <a:solidFill>
                  <a:srgbClr val="313131"/>
                </a:solidFill>
                <a:latin typeface="NVIDIA Sans Medium"/>
              </a:rPr>
              <a:t>Train on the student’s own trajectory</a:t>
            </a:r>
          </a:p>
        </p:txBody>
      </p:sp>
      <p:sp>
        <p:nvSpPr>
          <p:cNvPr id="17" name="After step 20, use student rollout on 25% of rows"/>
          <p:cNvSpPr txBox="1"/>
          <p:nvPr/>
        </p:nvSpPr>
        <p:spPr>
          <a:xfrm>
            <a:off x="24323040" y="10058400"/>
            <a:ext cx="10424160" cy="3200400"/>
          </a:xfrm>
          <a:prstGeom prst="rect">
            <a:avLst/>
          </a:prstGeom>
          <a:noFill/>
        </p:spPr>
        <p:txBody>
          <a:bodyPr wrap="square" lIns="0" rIns="0" tIns="0" bIns="0">
            <a:spAutoFit/>
          </a:bodyPr>
          <a:lstStyle/>
          <a:p>
            <a:pPr algn="l">
              <a:lnSpc>
                <a:spcPct val="108000"/>
              </a:lnSpc>
              <a:spcBef>
                <a:spcPts val="0"/>
              </a:spcBef>
              <a:spcAft>
                <a:spcPts val="1200"/>
              </a:spcAft>
            </a:pPr>
            <a:r>
              <a:rPr sz="3600" b="0">
                <a:solidFill>
                  <a:srgbClr val="313131"/>
                </a:solidFill>
                <a:latin typeface="NVIDIA Sans"/>
              </a:rPr>
              <a:t>After step 20, use student rollout on 25% of rows</a:t>
            </a:r>
          </a:p>
        </p:txBody>
      </p:sp>
      <p:sp>
        <p:nvSpPr>
          <p:cNvPr id="18" name="Reduce exposure to teacher-only states"/>
          <p:cNvSpPr txBox="1"/>
          <p:nvPr/>
        </p:nvSpPr>
        <p:spPr>
          <a:xfrm>
            <a:off x="24323040" y="13807440"/>
            <a:ext cx="10424160" cy="2103120"/>
          </a:xfrm>
          <a:prstGeom prst="rect">
            <a:avLst/>
          </a:prstGeom>
          <a:noFill/>
        </p:spPr>
        <p:txBody>
          <a:bodyPr wrap="square" lIns="0" rIns="0" tIns="0" bIns="0">
            <a:spAutoFit/>
          </a:bodyPr>
          <a:lstStyle/>
          <a:p>
            <a:pPr algn="l">
              <a:lnSpc>
                <a:spcPct val="108000"/>
              </a:lnSpc>
              <a:spcBef>
                <a:spcPts val="0"/>
              </a:spcBef>
              <a:spcAft>
                <a:spcPts val="1200"/>
              </a:spcAft>
            </a:pPr>
            <a:r>
              <a:rPr sz="3200" b="0">
                <a:solidFill>
                  <a:srgbClr val="313131"/>
                </a:solidFill>
                <a:latin typeface="NVIDIA Sans"/>
              </a:rPr>
              <a:t>Reduce exposure to teacher-only states</a:t>
            </a:r>
          </a:p>
        </p:txBody>
      </p:sp>
      <p:sp>
        <p:nvSpPr>
          <p:cNvPr id="19" name="Day-0 deployment: preserve packed weights, independent projection scales and TP scale layout"/>
          <p:cNvSpPr txBox="1"/>
          <p:nvPr/>
        </p:nvSpPr>
        <p:spPr>
          <a:xfrm>
            <a:off x="1828800" y="17007840"/>
            <a:ext cx="32918400" cy="11887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313131"/>
                </a:solidFill>
                <a:latin typeface="NVIDIA Sans Medium"/>
              </a:rPr>
              <a:t>Day-0 deployment: preserve packed weights, independent projection scales and TP scale layout</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