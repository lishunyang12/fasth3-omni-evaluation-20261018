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2" r:id="rId42"/>
    <p:sldId id="371" r:id="rId43"/>
    <p:sldId id="373" r:id="rId41"/>
    <p:sldId id="360" r:id="rId102"/>
    <p:sldId id="395" r:id="rId32"/>
    <p:sldId id="396" r:id="rId31"/>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5.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5.xml"/><Relationship Id="rId38" Type="http://schemas.openxmlformats.org/officeDocument/2006/relationships/slide" Target="slides/slide34.xml"/><Relationship Id="rId39" Type="http://schemas.openxmlformats.org/officeDocument/2006/relationships/slide" Target="slides/slide32.xml"/><Relationship Id="rId40" Type="http://schemas.openxmlformats.org/officeDocument/2006/relationships/slide" Target="slides/slide20.xml"/><Relationship Id="rId41" Type="http://schemas.openxmlformats.org/officeDocument/2006/relationships/slide" Target="slides/slide40.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37.xml"/><Relationship Id="rId45" Type="http://schemas.openxmlformats.org/officeDocument/2006/relationships/slide" Target="slides/slide29.xml"/><Relationship Id="rId46" Type="http://schemas.openxmlformats.org/officeDocument/2006/relationships/slide" Target="slides/slide33.xml"/><Relationship Id="rId47" Type="http://schemas.openxmlformats.org/officeDocument/2006/relationships/slide" Target="slides/slide25.xml"/><Relationship Id="rId48" Type="http://schemas.openxmlformats.org/officeDocument/2006/relationships/slide" Target="slides/slide24.xml"/><Relationship Id="rId49" Type="http://schemas.openxmlformats.org/officeDocument/2006/relationships/slide" Target="slides/slide31.xml"/><Relationship Id="rId50" Type="http://schemas.openxmlformats.org/officeDocument/2006/relationships/slide" Target="slides/slide2.xml"/><Relationship Id="rId51" Type="http://schemas.openxmlformats.org/officeDocument/2006/relationships/slide" Target="slides/slide30.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1.xml"/><Relationship Id="rId60" Type="http://schemas.openxmlformats.org/officeDocument/2006/relationships/slide" Target="slides/slide12.xml"/><Relationship Id="rId61" Type="http://schemas.openxmlformats.org/officeDocument/2006/relationships/slide" Target="slides/slide16.xml"/><Relationship Id="rId62" Type="http://schemas.openxmlformats.org/officeDocument/2006/relationships/slide" Target="slides/slide1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7.xml"/><Relationship Id="rId85" Type="http://schemas.openxmlformats.org/officeDocument/2006/relationships/slide" Target="slides/slide18.xml"/><Relationship Id="rId86" Type="http://schemas.openxmlformats.org/officeDocument/2006/relationships/slide" Target="slides/slide19.xml"/><Relationship Id="rId87" Type="http://schemas.openxmlformats.org/officeDocument/2006/relationships/slide" Target="slides/slide21.xml"/><Relationship Id="rId89" Type="http://schemas.openxmlformats.org/officeDocument/2006/relationships/slide" Target="slides/slide22.xml"/><Relationship Id="rId90" Type="http://schemas.openxmlformats.org/officeDocument/2006/relationships/slide" Target="slides/slide23.xml"/><Relationship Id="rId95" Type="http://schemas.openxmlformats.org/officeDocument/2006/relationships/slide" Target="slides/slide26.xml"/><Relationship Id="rId96" Type="http://schemas.openxmlformats.org/officeDocument/2006/relationships/slide" Target="slides/slide27.xml"/><Relationship Id="rId97" Type="http://schemas.openxmlformats.org/officeDocument/2006/relationships/slide" Target="slides/slide28.xml"/><Relationship Id="rId99" Type="http://schemas.openxmlformats.org/officeDocument/2006/relationships/slide" Target="slides/slide36.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Per-GPU specifications from the preserved hardware-specifications.json and official NVIDIA sources verified 2026-10-30: RTX PRO 5000 Blackwell, 110 SMs, 72 GB GDDR7 ECC, 300 W maximum board power and PCIe Gen5 x16. Eight GPUs on the recorded reference node. Power is a specification, not a measured serving draw. The original cross-SKU comparison is preserved in hidden slides 16 and 17. No PRO 5500 measurement is asserted.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hardware audit 2026-10-25, no new GPU measurements. Four CPU-facing root links negotiated 32 GT/s x16, four CX8 physical cards with eight functions negotiated 64 GT/s x16, and eight active Ethernet ports advertised 400 Gb/s each. GPU endpoint maximum is 32 GT/s x16; idle snapshot was lower and does not measure serving-time negotiation. All displayed widths encode raw nominal one-way capacity consistently: Gen5 32GT/s*16/8=64 GB/s (63.015 after 128/130 encoding, before packets); Gen6 64GT/s*16/8=128 GB/s before FLIT/FEC/protocol overhead; 400Gb/s/8=50 GB/s per port. Two ports share one NIC card PCIe endpoint capacity: do not count 128 twice per card. CPU interconnect configured link count/speed is unverified, shown dashed without numeric bandwidth. Bridge chains collapsed. The fabric box is logical connectivity, not audited external wiring or measured aggregate throughput. Link widths scale at 1 point per 16 GB/s. Black: host/GPU PCIe. Green: NIC PCIe/ports. Source hardware-audit.json and releases/v1.22/topology-bandwidth-evidence.json; technical sources https://pcisig.com/pci-express-6.0-specification and https://developer.nvidia.com/blog/nvidia-connectx-8-supernics-advance-ai-platform-architecture-with-pcie-gen6-connectivity/.</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handoff, about 45 seconds. The official ComfyUI extension sends inference requests to a local or remote vLLM-Omni service. ComfyUI does not load H3 weights in these workflows. On upstream main 08177216af4b44cef54ec5bdc75c265a9f0cd697, the extension contains image/video generation, multimodal understanding, TTS/voice cloning, music, restoration and H3 reference/editing/guide nodes. This slide selects three high-level points rather than claiming every model supports every node. H3 all-in-one includes T2VA, first/last-frame FL2VA and mixed-reference Ref2VA; it does not include a prompt LLM. API/model support bounds the UI. The official screenshot is an existing illustrative graph, not a new test or a recommended H3 benchmark configuration. No ComfyUI inference was run for this deck. Sources: https://github.com/vllm-project/vllm-omni/tree/08177216af4b44cef54ec5bdc75c265a9f0cd697/apps/ComfyUI-vLLM-Omni ; https://docs.vllm.ai/projects/vllm-omni/en/latest/features/comfyui/ ; https://github.com/vllm-project/vllm-omni/blob/08177216af4b44cef54ec5bdc75c265a9f0cd697/apps/ComfyUI-vLLM-Omni/docs/h3-06-all-in-one.md</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everyone to build the vLLM-Omni ecosystem: contribute model integrations, performance improvements, creator workflows, tests and documentation. The entire final slide is copied visually from the presenter's saved public deck, vLLM-Omni Slides (Public) 2026-04 latest (1).pptx, source slide 45, author metadata liuhongsheng, SHA256 1f457b63851bf0bd1d9a3cb8a1b8d7765b8507a1ae83a29f20df62ca405d8b72. Original content, logos, community links and QR codes are retained. The copied page is a full-slide image to preserve the original design in the NVIDIA deck; the individual source page is also retained as official-closing-source.pptx. No claim is made that historical QR invitations are current. Current canonical community information: https://github.com/vllm-project/vllm-omni#join-the-community ; https://slack.vllm.ai/ (#sig-omni).</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The reference system</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852160"/>
            <a:ext cx="24688800" cy="512064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731520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658368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110</a:t>
            </a:r>
          </a:p>
        </p:txBody>
      </p:sp>
      <p:sp>
        <p:nvSpPr>
          <p:cNvPr id="10" name="Spec Memory"/>
          <p:cNvSpPr txBox="1"/>
          <p:nvPr/>
        </p:nvSpPr>
        <p:spPr>
          <a:xfrm>
            <a:off x="102870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72 GB</a:t>
            </a:r>
          </a:p>
          <a:p>
            <a:pPr>
              <a:spcBef>
                <a:spcPts val="0"/>
              </a:spcBef>
              <a:spcAft>
                <a:spcPts val="0"/>
              </a:spcAft>
            </a:pPr>
            <a:r>
              <a:rPr sz="4800" b="0">
                <a:solidFill>
                  <a:srgbClr val="000000"/>
                </a:solidFill>
                <a:latin typeface="NVIDIA Sans Medium"/>
              </a:rPr>
              <a:t>GDDR7 ECC</a:t>
            </a:r>
          </a:p>
        </p:txBody>
      </p:sp>
      <p:sp>
        <p:nvSpPr>
          <p:cNvPr id="12" name="Spec Power"/>
          <p:cNvSpPr txBox="1"/>
          <p:nvPr/>
        </p:nvSpPr>
        <p:spPr>
          <a:xfrm>
            <a:off x="187452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300 W</a:t>
            </a:r>
          </a:p>
        </p:txBody>
      </p:sp>
      <p:sp>
        <p:nvSpPr>
          <p:cNvPr id="14" name="Spec Interconnect"/>
          <p:cNvSpPr txBox="1"/>
          <p:nvPr/>
        </p:nvSpPr>
        <p:spPr>
          <a:xfrm>
            <a:off x="27203400" y="1280160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4173200"/>
            <a:ext cx="7772400" cy="228600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PCIe Gen5 ×16</a:t>
            </a:r>
          </a:p>
        </p:txBody>
      </p:sp>
      <p:sp>
        <p:nvSpPr>
          <p:cNvPr id="16" name="Hardware takeaway"/>
          <p:cNvSpPr txBox="1"/>
          <p:nvPr/>
        </p:nvSpPr>
        <p:spPr>
          <a:xfrm>
            <a:off x="1828800" y="18013680"/>
            <a:ext cx="329184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No NVLink between GPUs. Communication follows the PCIe and NIC topology.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Bandwidth belongs on the topology map.</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486400"/>
            <a:ext cx="118872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text"/>
          <p:cNvSpPr txBox="1"/>
          <p:nvPr/>
        </p:nvSpPr>
        <p:spPr>
          <a:xfrm>
            <a:off x="3730752" y="5687568"/>
            <a:ext cx="11740896" cy="96012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CPU socket 0</a:t>
            </a:r>
          </a:p>
        </p:txBody>
      </p:sp>
      <p:sp>
        <p:nvSpPr>
          <p:cNvPr id="7" name="CPU 1"/>
          <p:cNvSpPr/>
          <p:nvPr/>
        </p:nvSpPr>
        <p:spPr>
          <a:xfrm>
            <a:off x="21031200" y="5486400"/>
            <a:ext cx="118872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text"/>
          <p:cNvSpPr txBox="1"/>
          <p:nvPr/>
        </p:nvSpPr>
        <p:spPr>
          <a:xfrm>
            <a:off x="21104352" y="5687568"/>
            <a:ext cx="11740896" cy="96012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CPU socket 1</a:t>
            </a:r>
          </a:p>
        </p:txBody>
      </p:sp>
      <p:cxnSp>
        <p:nvCxnSpPr>
          <p:cNvPr id="9" name="Unverified CPU interconnect"/>
          <p:cNvCxnSpPr/>
          <p:nvPr/>
        </p:nvCxnSpPr>
        <p:spPr>
          <a:xfrm>
            <a:off x="15544800" y="6080760"/>
            <a:ext cx="5486400" cy="0"/>
          </a:xfrm>
          <a:prstGeom prst="line">
            <a:avLst/>
          </a:prstGeom>
          <a:ln w="25400">
            <a:solidFill>
              <a:srgbClr val="A7A7A7"/>
            </a:solidFill>
            <a:prstDash val="dash"/>
          </a:ln>
        </p:spPr>
        <p:style>
          <a:lnRef idx="2">
            <a:schemeClr val="accent1"/>
          </a:lnRef>
          <a:fillRef idx="0">
            <a:schemeClr val="accent1"/>
          </a:fillRef>
          <a:effectRef idx="1">
            <a:schemeClr val="accent1"/>
          </a:effectRef>
          <a:fontRef idx="minor">
            <a:schemeClr val="tx1"/>
          </a:fontRef>
        </p:style>
      </p:cxnSp>
      <p:sp>
        <p:nvSpPr>
          <p:cNvPr id="10" name="CPU scope"/>
          <p:cNvSpPr txBox="1"/>
          <p:nvPr/>
        </p:nvSpPr>
        <p:spPr>
          <a:xfrm>
            <a:off x="15636240" y="5257800"/>
            <a:ext cx="5303520" cy="54864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Rate unverified</a:t>
            </a:r>
          </a:p>
        </p:txBody>
      </p:sp>
      <p:cxnSp>
        <p:nvCxnSpPr>
          <p:cNvPr id="11" name="Host uplink 0"/>
          <p:cNvCxnSpPr/>
          <p:nvPr/>
        </p:nvCxnSpPr>
        <p:spPr>
          <a:xfrm flipH="1">
            <a:off x="5257800" y="6675120"/>
            <a:ext cx="1143000" cy="169164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836676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text"/>
          <p:cNvSpPr txBox="1"/>
          <p:nvPr/>
        </p:nvSpPr>
        <p:spPr>
          <a:xfrm>
            <a:off x="1901952" y="856792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PCIe subtree</a:t>
            </a:r>
          </a:p>
        </p:txBody>
      </p:sp>
      <p:cxnSp>
        <p:nvCxnSpPr>
          <p:cNvPr id="14" name="GPU link 0-0"/>
          <p:cNvCxnSpPr/>
          <p:nvPr/>
        </p:nvCxnSpPr>
        <p:spPr>
          <a:xfrm>
            <a:off x="34290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text"/>
          <p:cNvSpPr txBox="1"/>
          <p:nvPr/>
        </p:nvSpPr>
        <p:spPr>
          <a:xfrm>
            <a:off x="2039112"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0</a:t>
            </a:r>
          </a:p>
        </p:txBody>
      </p:sp>
      <p:cxnSp>
        <p:nvCxnSpPr>
          <p:cNvPr id="17" name="GPU link 0-1"/>
          <p:cNvCxnSpPr/>
          <p:nvPr/>
        </p:nvCxnSpPr>
        <p:spPr>
          <a:xfrm>
            <a:off x="70866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text"/>
          <p:cNvSpPr txBox="1"/>
          <p:nvPr/>
        </p:nvSpPr>
        <p:spPr>
          <a:xfrm>
            <a:off x="5696712"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1</a:t>
            </a:r>
          </a:p>
        </p:txBody>
      </p:sp>
      <p:cxnSp>
        <p:nvCxnSpPr>
          <p:cNvPr id="20" name="NIC horizontal 0"/>
          <p:cNvCxnSpPr/>
          <p:nvPr/>
        </p:nvCxnSpPr>
        <p:spPr>
          <a:xfrm>
            <a:off x="8686800" y="891540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NIC down 0"/>
          <p:cNvCxnSpPr/>
          <p:nvPr/>
        </p:nvCxnSpPr>
        <p:spPr>
          <a:xfrm>
            <a:off x="9098280" y="8915400"/>
            <a:ext cx="0" cy="534924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NIC return 0"/>
          <p:cNvCxnSpPr/>
          <p:nvPr/>
        </p:nvCxnSpPr>
        <p:spPr>
          <a:xfrm flipH="1">
            <a:off x="8686800" y="1426464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sp>
        <p:nvSpPr>
          <p:cNvPr id="23" name="CX8 0"/>
          <p:cNvSpPr/>
          <p:nvPr/>
        </p:nvSpPr>
        <p:spPr>
          <a:xfrm>
            <a:off x="1828800" y="1371600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X8 0 text"/>
          <p:cNvSpPr txBox="1"/>
          <p:nvPr/>
        </p:nvSpPr>
        <p:spPr>
          <a:xfrm>
            <a:off x="1901952" y="1391716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ConnectX-8</a:t>
            </a:r>
          </a:p>
        </p:txBody>
      </p:sp>
      <p:cxnSp>
        <p:nvCxnSpPr>
          <p:cNvPr id="25" name="400 Gb port 0-0"/>
          <p:cNvCxnSpPr/>
          <p:nvPr/>
        </p:nvCxnSpPr>
        <p:spPr>
          <a:xfrm>
            <a:off x="493776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400 Gb port 0-1"/>
          <p:cNvCxnSpPr/>
          <p:nvPr/>
        </p:nvCxnSpPr>
        <p:spPr>
          <a:xfrm>
            <a:off x="557784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sp>
        <p:nvSpPr>
          <p:cNvPr id="27" name="Port count 0"/>
          <p:cNvSpPr txBox="1"/>
          <p:nvPr/>
        </p:nvSpPr>
        <p:spPr>
          <a:xfrm>
            <a:off x="1828800" y="16139159"/>
            <a:ext cx="6858000" cy="640080"/>
          </a:xfrm>
          <a:prstGeom prst="rect">
            <a:avLst/>
          </a:prstGeom>
          <a:noFill/>
        </p:spPr>
        <p:txBody>
          <a:bodyPr wrap="square" lIns="0" rIns="0" tIns="0" bIns="0">
            <a:spAutoFit/>
          </a:bodyPr>
          <a:lstStyle/>
          <a:p>
            <a:pPr algn="ctr">
              <a:spcBef>
                <a:spcPts val="0"/>
              </a:spcBef>
              <a:spcAft>
                <a:spcPts val="0"/>
              </a:spcAft>
            </a:pPr>
            <a:r>
              <a:rPr sz="2700" b="0">
                <a:solidFill>
                  <a:srgbClr val="313131"/>
                </a:solidFill>
                <a:latin typeface="NVIDIA Sans"/>
              </a:rPr>
              <a:t>2 × 400 Gb/s</a:t>
            </a:r>
          </a:p>
        </p:txBody>
      </p:sp>
      <p:cxnSp>
        <p:nvCxnSpPr>
          <p:cNvPr id="28" name="Host uplink 1"/>
          <p:cNvCxnSpPr/>
          <p:nvPr/>
        </p:nvCxnSpPr>
        <p:spPr>
          <a:xfrm>
            <a:off x="12801600" y="6675120"/>
            <a:ext cx="1143000" cy="169164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836676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text"/>
          <p:cNvSpPr txBox="1"/>
          <p:nvPr/>
        </p:nvSpPr>
        <p:spPr>
          <a:xfrm>
            <a:off x="10588752" y="856792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PCIe subtree</a:t>
            </a:r>
          </a:p>
        </p:txBody>
      </p:sp>
      <p:cxnSp>
        <p:nvCxnSpPr>
          <p:cNvPr id="31" name="GPU link 1-0"/>
          <p:cNvCxnSpPr/>
          <p:nvPr/>
        </p:nvCxnSpPr>
        <p:spPr>
          <a:xfrm>
            <a:off x="121158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text"/>
          <p:cNvSpPr txBox="1"/>
          <p:nvPr/>
        </p:nvSpPr>
        <p:spPr>
          <a:xfrm>
            <a:off x="10725912"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2</a:t>
            </a:r>
          </a:p>
        </p:txBody>
      </p:sp>
      <p:cxnSp>
        <p:nvCxnSpPr>
          <p:cNvPr id="34" name="GPU link 1-1"/>
          <p:cNvCxnSpPr/>
          <p:nvPr/>
        </p:nvCxnSpPr>
        <p:spPr>
          <a:xfrm>
            <a:off x="157734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text"/>
          <p:cNvSpPr txBox="1"/>
          <p:nvPr/>
        </p:nvSpPr>
        <p:spPr>
          <a:xfrm>
            <a:off x="14383512"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3</a:t>
            </a:r>
          </a:p>
        </p:txBody>
      </p:sp>
      <p:cxnSp>
        <p:nvCxnSpPr>
          <p:cNvPr id="37" name="NIC horizontal 1"/>
          <p:cNvCxnSpPr/>
          <p:nvPr/>
        </p:nvCxnSpPr>
        <p:spPr>
          <a:xfrm>
            <a:off x="17373600" y="891540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8" name="NIC down 1"/>
          <p:cNvCxnSpPr/>
          <p:nvPr/>
        </p:nvCxnSpPr>
        <p:spPr>
          <a:xfrm>
            <a:off x="17785080" y="8915400"/>
            <a:ext cx="0" cy="534924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9" name="NIC return 1"/>
          <p:cNvCxnSpPr/>
          <p:nvPr/>
        </p:nvCxnSpPr>
        <p:spPr>
          <a:xfrm flipH="1">
            <a:off x="17373600" y="1426464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sp>
        <p:nvSpPr>
          <p:cNvPr id="40" name="CX8 1"/>
          <p:cNvSpPr/>
          <p:nvPr/>
        </p:nvSpPr>
        <p:spPr>
          <a:xfrm>
            <a:off x="10515600" y="1371600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X8 1 text"/>
          <p:cNvSpPr txBox="1"/>
          <p:nvPr/>
        </p:nvSpPr>
        <p:spPr>
          <a:xfrm>
            <a:off x="10588752" y="1391716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ConnectX-8</a:t>
            </a:r>
          </a:p>
        </p:txBody>
      </p:sp>
      <p:cxnSp>
        <p:nvCxnSpPr>
          <p:cNvPr id="42" name="400 Gb port 1-0"/>
          <p:cNvCxnSpPr/>
          <p:nvPr/>
        </p:nvCxnSpPr>
        <p:spPr>
          <a:xfrm>
            <a:off x="1362456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3" name="400 Gb port 1-1"/>
          <p:cNvCxnSpPr/>
          <p:nvPr/>
        </p:nvCxnSpPr>
        <p:spPr>
          <a:xfrm>
            <a:off x="1426464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sp>
        <p:nvSpPr>
          <p:cNvPr id="44" name="Port count 1"/>
          <p:cNvSpPr txBox="1"/>
          <p:nvPr/>
        </p:nvSpPr>
        <p:spPr>
          <a:xfrm>
            <a:off x="10515600" y="16139159"/>
            <a:ext cx="6858000" cy="640080"/>
          </a:xfrm>
          <a:prstGeom prst="rect">
            <a:avLst/>
          </a:prstGeom>
          <a:noFill/>
        </p:spPr>
        <p:txBody>
          <a:bodyPr wrap="square" lIns="0" rIns="0" tIns="0" bIns="0">
            <a:spAutoFit/>
          </a:bodyPr>
          <a:lstStyle/>
          <a:p>
            <a:pPr algn="ctr">
              <a:spcBef>
                <a:spcPts val="0"/>
              </a:spcBef>
              <a:spcAft>
                <a:spcPts val="0"/>
              </a:spcAft>
            </a:pPr>
            <a:r>
              <a:rPr sz="2700" b="0">
                <a:solidFill>
                  <a:srgbClr val="313131"/>
                </a:solidFill>
                <a:latin typeface="NVIDIA Sans"/>
              </a:rPr>
              <a:t>2 × 400 Gb/s</a:t>
            </a:r>
          </a:p>
        </p:txBody>
      </p:sp>
      <p:cxnSp>
        <p:nvCxnSpPr>
          <p:cNvPr id="45" name="Host uplink 2"/>
          <p:cNvCxnSpPr/>
          <p:nvPr/>
        </p:nvCxnSpPr>
        <p:spPr>
          <a:xfrm flipH="1">
            <a:off x="22631400" y="6675120"/>
            <a:ext cx="1143000" cy="169164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836676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text"/>
          <p:cNvSpPr txBox="1"/>
          <p:nvPr/>
        </p:nvSpPr>
        <p:spPr>
          <a:xfrm>
            <a:off x="19275552" y="856792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PCIe subtree</a:t>
            </a:r>
          </a:p>
        </p:txBody>
      </p:sp>
      <p:cxnSp>
        <p:nvCxnSpPr>
          <p:cNvPr id="48" name="GPU link 2-0"/>
          <p:cNvCxnSpPr/>
          <p:nvPr/>
        </p:nvCxnSpPr>
        <p:spPr>
          <a:xfrm>
            <a:off x="208026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text"/>
          <p:cNvSpPr txBox="1"/>
          <p:nvPr/>
        </p:nvSpPr>
        <p:spPr>
          <a:xfrm>
            <a:off x="19412711"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4</a:t>
            </a:r>
          </a:p>
        </p:txBody>
      </p:sp>
      <p:cxnSp>
        <p:nvCxnSpPr>
          <p:cNvPr id="51" name="GPU link 2-1"/>
          <p:cNvCxnSpPr/>
          <p:nvPr/>
        </p:nvCxnSpPr>
        <p:spPr>
          <a:xfrm>
            <a:off x="244602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text"/>
          <p:cNvSpPr txBox="1"/>
          <p:nvPr/>
        </p:nvSpPr>
        <p:spPr>
          <a:xfrm>
            <a:off x="23070311"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5</a:t>
            </a:r>
          </a:p>
        </p:txBody>
      </p:sp>
      <p:cxnSp>
        <p:nvCxnSpPr>
          <p:cNvPr id="54" name="NIC horizontal 2"/>
          <p:cNvCxnSpPr/>
          <p:nvPr/>
        </p:nvCxnSpPr>
        <p:spPr>
          <a:xfrm>
            <a:off x="26060400" y="891540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NIC down 2"/>
          <p:cNvCxnSpPr/>
          <p:nvPr/>
        </p:nvCxnSpPr>
        <p:spPr>
          <a:xfrm>
            <a:off x="26471880" y="8915400"/>
            <a:ext cx="0" cy="534924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6" name="NIC return 2"/>
          <p:cNvCxnSpPr/>
          <p:nvPr/>
        </p:nvCxnSpPr>
        <p:spPr>
          <a:xfrm flipH="1">
            <a:off x="26060400" y="1426464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sp>
        <p:nvSpPr>
          <p:cNvPr id="57" name="CX8 2"/>
          <p:cNvSpPr/>
          <p:nvPr/>
        </p:nvSpPr>
        <p:spPr>
          <a:xfrm>
            <a:off x="19202400" y="1371600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X8 2 text"/>
          <p:cNvSpPr txBox="1"/>
          <p:nvPr/>
        </p:nvSpPr>
        <p:spPr>
          <a:xfrm>
            <a:off x="19275552" y="1391716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ConnectX-8</a:t>
            </a:r>
          </a:p>
        </p:txBody>
      </p:sp>
      <p:cxnSp>
        <p:nvCxnSpPr>
          <p:cNvPr id="59" name="400 Gb port 2-0"/>
          <p:cNvCxnSpPr/>
          <p:nvPr/>
        </p:nvCxnSpPr>
        <p:spPr>
          <a:xfrm>
            <a:off x="2231136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400 Gb port 2-1"/>
          <p:cNvCxnSpPr/>
          <p:nvPr/>
        </p:nvCxnSpPr>
        <p:spPr>
          <a:xfrm>
            <a:off x="22951439"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sp>
        <p:nvSpPr>
          <p:cNvPr id="61" name="Port count 2"/>
          <p:cNvSpPr txBox="1"/>
          <p:nvPr/>
        </p:nvSpPr>
        <p:spPr>
          <a:xfrm>
            <a:off x="19202400" y="16139159"/>
            <a:ext cx="6858000" cy="640080"/>
          </a:xfrm>
          <a:prstGeom prst="rect">
            <a:avLst/>
          </a:prstGeom>
          <a:noFill/>
        </p:spPr>
        <p:txBody>
          <a:bodyPr wrap="square" lIns="0" rIns="0" tIns="0" bIns="0">
            <a:spAutoFit/>
          </a:bodyPr>
          <a:lstStyle/>
          <a:p>
            <a:pPr algn="ctr">
              <a:spcBef>
                <a:spcPts val="0"/>
              </a:spcBef>
              <a:spcAft>
                <a:spcPts val="0"/>
              </a:spcAft>
            </a:pPr>
            <a:r>
              <a:rPr sz="2700" b="0">
                <a:solidFill>
                  <a:srgbClr val="313131"/>
                </a:solidFill>
                <a:latin typeface="NVIDIA Sans"/>
              </a:rPr>
              <a:t>2 × 400 Gb/s</a:t>
            </a:r>
          </a:p>
        </p:txBody>
      </p:sp>
      <p:cxnSp>
        <p:nvCxnSpPr>
          <p:cNvPr id="62" name="Host uplink 3"/>
          <p:cNvCxnSpPr/>
          <p:nvPr/>
        </p:nvCxnSpPr>
        <p:spPr>
          <a:xfrm>
            <a:off x="30175200" y="6675120"/>
            <a:ext cx="1143000" cy="169164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836676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text"/>
          <p:cNvSpPr txBox="1"/>
          <p:nvPr/>
        </p:nvSpPr>
        <p:spPr>
          <a:xfrm>
            <a:off x="27962352" y="856792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PCIe subtree</a:t>
            </a:r>
          </a:p>
        </p:txBody>
      </p:sp>
      <p:cxnSp>
        <p:nvCxnSpPr>
          <p:cNvPr id="65" name="GPU link 3-0"/>
          <p:cNvCxnSpPr/>
          <p:nvPr/>
        </p:nvCxnSpPr>
        <p:spPr>
          <a:xfrm>
            <a:off x="294894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text"/>
          <p:cNvSpPr txBox="1"/>
          <p:nvPr/>
        </p:nvSpPr>
        <p:spPr>
          <a:xfrm>
            <a:off x="28099511"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6</a:t>
            </a:r>
          </a:p>
        </p:txBody>
      </p:sp>
      <p:cxnSp>
        <p:nvCxnSpPr>
          <p:cNvPr id="68" name="GPU link 3-1"/>
          <p:cNvCxnSpPr/>
          <p:nvPr/>
        </p:nvCxnSpPr>
        <p:spPr>
          <a:xfrm>
            <a:off x="33147000" y="9464040"/>
            <a:ext cx="0" cy="196596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11430000"/>
            <a:ext cx="2926080" cy="10515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text"/>
          <p:cNvSpPr txBox="1"/>
          <p:nvPr/>
        </p:nvSpPr>
        <p:spPr>
          <a:xfrm>
            <a:off x="31757111" y="11631168"/>
            <a:ext cx="2779776" cy="822959"/>
          </a:xfrm>
          <a:prstGeom prst="rect">
            <a:avLst/>
          </a:prstGeom>
          <a:noFill/>
        </p:spPr>
        <p:txBody>
          <a:bodyPr wrap="square" lIns="0" rIns="0" tIns="0" bIns="0">
            <a:spAutoFit/>
          </a:bodyPr>
          <a:lstStyle/>
          <a:p>
            <a:pPr algn="ctr">
              <a:spcBef>
                <a:spcPts val="0"/>
              </a:spcBef>
              <a:spcAft>
                <a:spcPts val="0"/>
              </a:spcAft>
            </a:pPr>
            <a:r>
              <a:rPr sz="3000" b="0">
                <a:solidFill>
                  <a:srgbClr val="000000"/>
                </a:solidFill>
                <a:latin typeface="NVIDIA Sans Medium"/>
              </a:rPr>
              <a:t>GPU 7</a:t>
            </a:r>
          </a:p>
        </p:txBody>
      </p:sp>
      <p:cxnSp>
        <p:nvCxnSpPr>
          <p:cNvPr id="71" name="NIC horizontal 3"/>
          <p:cNvCxnSpPr/>
          <p:nvPr/>
        </p:nvCxnSpPr>
        <p:spPr>
          <a:xfrm>
            <a:off x="34747200" y="891540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72" name="NIC down 3"/>
          <p:cNvCxnSpPr/>
          <p:nvPr/>
        </p:nvCxnSpPr>
        <p:spPr>
          <a:xfrm>
            <a:off x="35158680" y="8915400"/>
            <a:ext cx="0" cy="534924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73" name="NIC return 3"/>
          <p:cNvCxnSpPr/>
          <p:nvPr/>
        </p:nvCxnSpPr>
        <p:spPr>
          <a:xfrm flipH="1">
            <a:off x="34747200" y="14264640"/>
            <a:ext cx="41148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sp>
        <p:nvSpPr>
          <p:cNvPr id="74" name="CX8 3"/>
          <p:cNvSpPr/>
          <p:nvPr/>
        </p:nvSpPr>
        <p:spPr>
          <a:xfrm>
            <a:off x="27889200" y="13716000"/>
            <a:ext cx="6858000" cy="10972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X8 3 text"/>
          <p:cNvSpPr txBox="1"/>
          <p:nvPr/>
        </p:nvSpPr>
        <p:spPr>
          <a:xfrm>
            <a:off x="27962352" y="13917168"/>
            <a:ext cx="6711696"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ConnectX-8</a:t>
            </a:r>
          </a:p>
        </p:txBody>
      </p:sp>
      <p:cxnSp>
        <p:nvCxnSpPr>
          <p:cNvPr id="76" name="400 Gb port 3-0"/>
          <p:cNvCxnSpPr/>
          <p:nvPr/>
        </p:nvCxnSpPr>
        <p:spPr>
          <a:xfrm>
            <a:off x="3099816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77" name="400 Gb port 3-1"/>
          <p:cNvCxnSpPr/>
          <p:nvPr/>
        </p:nvCxnSpPr>
        <p:spPr>
          <a:xfrm>
            <a:off x="31638240" y="14813280"/>
            <a:ext cx="0" cy="118872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sp>
        <p:nvSpPr>
          <p:cNvPr id="78" name="Port count 3"/>
          <p:cNvSpPr txBox="1"/>
          <p:nvPr/>
        </p:nvSpPr>
        <p:spPr>
          <a:xfrm>
            <a:off x="27889200" y="16139159"/>
            <a:ext cx="6858000" cy="640080"/>
          </a:xfrm>
          <a:prstGeom prst="rect">
            <a:avLst/>
          </a:prstGeom>
          <a:noFill/>
        </p:spPr>
        <p:txBody>
          <a:bodyPr wrap="square" lIns="0" rIns="0" tIns="0" bIns="0">
            <a:spAutoFit/>
          </a:bodyPr>
          <a:lstStyle/>
          <a:p>
            <a:pPr algn="ctr">
              <a:spcBef>
                <a:spcPts val="0"/>
              </a:spcBef>
              <a:spcAft>
                <a:spcPts val="0"/>
              </a:spcAft>
            </a:pPr>
            <a:r>
              <a:rPr sz="2700" b="0">
                <a:solidFill>
                  <a:srgbClr val="313131"/>
                </a:solidFill>
                <a:latin typeface="NVIDIA Sans"/>
              </a:rPr>
              <a:t>2 × 400 Gb/s</a:t>
            </a:r>
          </a:p>
        </p:txBody>
      </p:sp>
      <p:sp>
        <p:nvSpPr>
          <p:cNvPr id="79" name="Logical fabric region"/>
          <p:cNvSpPr/>
          <p:nvPr/>
        </p:nvSpPr>
        <p:spPr>
          <a:xfrm>
            <a:off x="1828800" y="16962120"/>
            <a:ext cx="32918400" cy="6400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label"/>
          <p:cNvSpPr txBox="1"/>
          <p:nvPr/>
        </p:nvSpPr>
        <p:spPr>
          <a:xfrm>
            <a:off x="1828800" y="16998696"/>
            <a:ext cx="329184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RoCE fabric · logical connectivity</a:t>
            </a:r>
          </a:p>
        </p:txBody>
      </p:sp>
      <p:sp>
        <p:nvSpPr>
          <p:cNvPr id="81" name="Host annotation"/>
          <p:cNvSpPr txBox="1"/>
          <p:nvPr/>
        </p:nvSpPr>
        <p:spPr>
          <a:xfrm>
            <a:off x="1828800" y="7269480"/>
            <a:ext cx="9144000" cy="6400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Medium"/>
              </a:rPr>
              <a:t>64 GB/s per host uplink</a:t>
            </a:r>
          </a:p>
        </p:txBody>
      </p:sp>
      <p:cxnSp>
        <p:nvCxnSpPr>
          <p:cNvPr id="82" name="Legend 64 · PCIe Gen5 ×16"/>
          <p:cNvCxnSpPr/>
          <p:nvPr/>
        </p:nvCxnSpPr>
        <p:spPr>
          <a:xfrm>
            <a:off x="1828800" y="18315432"/>
            <a:ext cx="1234440" cy="0"/>
          </a:xfrm>
          <a:prstGeom prst="line">
            <a:avLst/>
          </a:prstGeom>
          <a:ln w="50800">
            <a:solidFill>
              <a:srgbClr val="313131"/>
            </a:solidFill>
          </a:ln>
        </p:spPr>
        <p:style>
          <a:lnRef idx="2">
            <a:schemeClr val="accent1"/>
          </a:lnRef>
          <a:fillRef idx="0">
            <a:schemeClr val="accent1"/>
          </a:fillRef>
          <a:effectRef idx="1">
            <a:schemeClr val="accent1"/>
          </a:effectRef>
          <a:fontRef idx="minor">
            <a:schemeClr val="tx1"/>
          </a:fontRef>
        </p:style>
      </p:cxnSp>
      <p:sp>
        <p:nvSpPr>
          <p:cNvPr id="83" name="Legend text 64 · PCIe Gen5 ×16"/>
          <p:cNvSpPr txBox="1"/>
          <p:nvPr/>
        </p:nvSpPr>
        <p:spPr>
          <a:xfrm>
            <a:off x="3337560" y="17995392"/>
            <a:ext cx="9144000" cy="73152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64 · PCIe Gen5 ×16</a:t>
            </a:r>
          </a:p>
        </p:txBody>
      </p:sp>
      <p:cxnSp>
        <p:nvCxnSpPr>
          <p:cNvPr id="84" name="Legend 128 · PCIe Gen6 ×16"/>
          <p:cNvCxnSpPr/>
          <p:nvPr/>
        </p:nvCxnSpPr>
        <p:spPr>
          <a:xfrm>
            <a:off x="13075920" y="18315432"/>
            <a:ext cx="1234440" cy="0"/>
          </a:xfrm>
          <a:prstGeom prst="line">
            <a:avLst/>
          </a:prstGeom>
          <a:ln w="101600">
            <a:solidFill>
              <a:srgbClr val="76B900"/>
            </a:solidFill>
          </a:ln>
        </p:spPr>
        <p:style>
          <a:lnRef idx="2">
            <a:schemeClr val="accent1"/>
          </a:lnRef>
          <a:fillRef idx="0">
            <a:schemeClr val="accent1"/>
          </a:fillRef>
          <a:effectRef idx="1">
            <a:schemeClr val="accent1"/>
          </a:effectRef>
          <a:fontRef idx="minor">
            <a:schemeClr val="tx1"/>
          </a:fontRef>
        </p:style>
      </p:cxnSp>
      <p:sp>
        <p:nvSpPr>
          <p:cNvPr id="85" name="Legend text 128 · PCIe Gen6 ×16"/>
          <p:cNvSpPr txBox="1"/>
          <p:nvPr/>
        </p:nvSpPr>
        <p:spPr>
          <a:xfrm>
            <a:off x="14584680" y="17995392"/>
            <a:ext cx="9144000" cy="73152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128 · PCIe Gen6 ×16</a:t>
            </a:r>
          </a:p>
        </p:txBody>
      </p:sp>
      <p:cxnSp>
        <p:nvCxnSpPr>
          <p:cNvPr id="86" name="Legend 50 · 400 Gb/s port"/>
          <p:cNvCxnSpPr/>
          <p:nvPr/>
        </p:nvCxnSpPr>
        <p:spPr>
          <a:xfrm>
            <a:off x="24688800" y="18315432"/>
            <a:ext cx="1234440" cy="0"/>
          </a:xfrm>
          <a:prstGeom prst="line">
            <a:avLst/>
          </a:prstGeom>
          <a:ln w="39687">
            <a:solidFill>
              <a:srgbClr val="76B900"/>
            </a:solidFill>
          </a:ln>
        </p:spPr>
        <p:style>
          <a:lnRef idx="2">
            <a:schemeClr val="accent1"/>
          </a:lnRef>
          <a:fillRef idx="0">
            <a:schemeClr val="accent1"/>
          </a:fillRef>
          <a:effectRef idx="1">
            <a:schemeClr val="accent1"/>
          </a:effectRef>
          <a:fontRef idx="minor">
            <a:schemeClr val="tx1"/>
          </a:fontRef>
        </p:style>
      </p:cxnSp>
      <p:sp>
        <p:nvSpPr>
          <p:cNvPr id="87" name="Legend text 50 · 400 Gb/s port"/>
          <p:cNvSpPr txBox="1"/>
          <p:nvPr/>
        </p:nvSpPr>
        <p:spPr>
          <a:xfrm>
            <a:off x="26197560" y="17995392"/>
            <a:ext cx="9144000" cy="73152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50 · 400 Gb/s port</a:t>
            </a:r>
          </a:p>
        </p:txBody>
      </p:sp>
      <p:sp>
        <p:nvSpPr>
          <p:cNvPr id="88" name="Bandwidth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Line width ∝ nominal one-way GB/s. Raw link rates, not measured payload throughput.</a:t>
            </a:r>
          </a:p>
        </p:txBody>
      </p:sp>
      <p:sp>
        <p:nvSpPr>
          <p:cNvPr id="89" name="Topology insight"/>
          <p:cNvSpPr txBox="1"/>
          <p:nvPr/>
        </p:nvSpPr>
        <p:spPr>
          <a:xfrm>
            <a:off x="1828800" y="19613880"/>
            <a:ext cx="32918400" cy="50292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Medium"/>
              </a:rPr>
              <a:t>Two GPUs share each host uplink. Choose GPU-affine NICs to avoid that shared route.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Grouped E2E: 19.46 s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11</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Topology, bandwidth and less data movement.</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a:r>
              <a:t>Visual workflows, powered by a local or remote model service.</a:t>
            </a:r>
          </a:p>
        </p:txBody>
      </p:sp>
      <p:sp>
        <p:nvSpPr>
          <p:cNvPr id="4" name="Title 3"/>
          <p:cNvSpPr>
            <a:spLocks noGrp="1"/>
          </p:cNvSpPr>
          <p:nvPr>
            <p:ph type="title"/>
          </p:nvPr>
        </p:nvSpPr>
        <p:spPr/>
        <p:txBody>
          <a:bodyPr/>
          <a:lstStyle/>
          <a:p>
            <a:r>
              <a:rPr sz="8800"/>
              <a:t>vLLM-Omni for Creators — ComfyUI</a:t>
            </a:r>
          </a:p>
        </p:txBody>
      </p:sp>
      <p:pic>
        <p:nvPicPr>
          <p:cNvPr id="5" name="Official ComfyUI video workflow screenshot" descr="comfyui-video-generation.jpg"/>
          <p:cNvPicPr>
            <a:picLocks noChangeAspect="1"/>
          </p:cNvPicPr>
          <p:nvPr/>
        </p:nvPicPr>
        <p:blipFill>
          <a:blip r:embed="rId2"/>
          <a:stretch>
            <a:fillRect/>
          </a:stretch>
        </p:blipFill>
        <p:spPr>
          <a:xfrm>
            <a:off x="1828800" y="5303520"/>
            <a:ext cx="16966346" cy="12618720"/>
          </a:xfrm>
          <a:prstGeom prst="rect">
            <a:avLst/>
          </a:prstGeom>
        </p:spPr>
      </p:pic>
      <p:sp>
        <p:nvSpPr>
          <p:cNvPr id="6" name="Comfy availability"/>
          <p:cNvSpPr txBox="1"/>
          <p:nvPr/>
        </p:nvSpPr>
        <p:spPr>
          <a:xfrm>
            <a:off x="21031200" y="5669280"/>
            <a:ext cx="137160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AVAILABLE ON MAIN</a:t>
            </a:r>
          </a:p>
        </p:txBody>
      </p:sp>
      <p:sp>
        <p:nvSpPr>
          <p:cNvPr id="7" name="Comfy capability 0"/>
          <p:cNvSpPr txBox="1"/>
          <p:nvPr/>
        </p:nvSpPr>
        <p:spPr>
          <a:xfrm>
            <a:off x="21031200" y="7498079"/>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Compose visually</a:t>
            </a:r>
          </a:p>
        </p:txBody>
      </p:sp>
      <p:sp>
        <p:nvSpPr>
          <p:cNvPr id="8" name="Comfy explanation 0"/>
          <p:cNvSpPr txBox="1"/>
          <p:nvPr/>
        </p:nvSpPr>
        <p:spPr>
          <a:xfrm>
            <a:off x="21031200" y="877824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Image, video and audio workflows.</a:t>
            </a:r>
          </a:p>
        </p:txBody>
      </p:sp>
      <p:sp>
        <p:nvSpPr>
          <p:cNvPr id="9" name="Comfy capability 1"/>
          <p:cNvSpPr txBox="1"/>
          <p:nvPr/>
        </p:nvSpPr>
        <p:spPr>
          <a:xfrm>
            <a:off x="21031200" y="1060704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Serve separately</a:t>
            </a:r>
          </a:p>
        </p:txBody>
      </p:sp>
      <p:sp>
        <p:nvSpPr>
          <p:cNvPr id="10" name="Comfy explanation 1"/>
          <p:cNvSpPr txBox="1"/>
          <p:nvPr/>
        </p:nvSpPr>
        <p:spPr>
          <a:xfrm>
            <a:off x="21031200" y="1188720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Models run in vLLM-Omni.</a:t>
            </a:r>
          </a:p>
        </p:txBody>
      </p:sp>
      <p:sp>
        <p:nvSpPr>
          <p:cNvPr id="11" name="Comfy capability 2"/>
          <p:cNvSpPr txBox="1"/>
          <p:nvPr/>
        </p:nvSpPr>
        <p:spPr>
          <a:xfrm>
            <a:off x="21031200" y="1371600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Bring H3 into the graph</a:t>
            </a:r>
          </a:p>
        </p:txBody>
      </p:sp>
      <p:sp>
        <p:nvSpPr>
          <p:cNvPr id="12" name="Comfy explanation 2"/>
          <p:cNvSpPr txBox="1"/>
          <p:nvPr/>
        </p:nvSpPr>
        <p:spPr>
          <a:xfrm>
            <a:off x="21031200" y="14996159"/>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Text, keyframes or reference media.</a:t>
            </a:r>
          </a:p>
        </p:txBody>
      </p:sp>
      <p:sp>
        <p:nvSpPr>
          <p:cNvPr id="13" name="Comfy takeaway"/>
          <p:cNvSpPr txBox="1"/>
          <p:nvPr/>
        </p:nvSpPr>
        <p:spPr>
          <a:xfrm>
            <a:off x="1828800" y="18059400"/>
            <a:ext cx="32918400" cy="100584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Compose in ComfyUI. Run models in vLLM-Omni.</a:t>
            </a:r>
          </a:p>
        </p:txBody>
      </p:sp>
      <p:sp>
        <p:nvSpPr>
          <p:cNvPr id="14" name="Comfy sourc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300" b="0">
                <a:solidFill>
                  <a:srgbClr val="313131"/>
                </a:solidFill>
                <a:latin typeface="NVIDIA Sans"/>
              </a:rPr>
              <a:t>Official UI example, not benchmark settings. Upstream main verified 30 Oct 2026 · 08177216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Planned open-source release</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official public vLLM-Omni closing slide" descr="vllm-omni-official-closing.png"/>
          <p:cNvPicPr>
            <a:picLocks noChangeAspect="1"/>
          </p:cNvPicPr>
          <p:nvPr/>
        </p:nvPicPr>
        <p:blipFill>
          <a:blip r:embed="rId2"/>
          <a:stretch>
            <a:fillRect/>
          </a:stretch>
        </p:blipFill>
        <p:spPr>
          <a:xfrm>
            <a:off x="0" y="0"/>
            <a:ext cx="36576000" cy="20574000"/>
          </a:xfrm>
          <a:prstGeom prst="rect">
            <a:avLst/>
          </a:prstGeom>
        </p:spPr>
      </p:pic>
      <p:sp>
        <p:nvSpPr>
          <p:cNvPr id="3" name="GitHub original hyperlink">
            <a:hlinkClick r:id="rId3"/>
          </p:cNvPr>
          <p:cNvSpPr/>
          <p:nvPr/>
        </p:nvSpPr>
        <p:spPr>
          <a:xfrm>
            <a:off x="5074920" y="4315968"/>
            <a:ext cx="20080224"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nnouncement original hyperlink">
            <a:hlinkClick r:id="rId4"/>
          </p:cNvPr>
          <p:cNvSpPr/>
          <p:nvPr/>
        </p:nvSpPr>
        <p:spPr>
          <a:xfrm>
            <a:off x="5074920" y="9006840"/>
            <a:ext cx="19677888"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veloper Slack original hyperlink">
            <a:hlinkClick r:id="rId5"/>
          </p:cNvPr>
          <p:cNvSpPr/>
          <p:nvPr/>
        </p:nvSpPr>
        <p:spPr>
          <a:xfrm>
            <a:off x="5486400" y="13688568"/>
            <a:ext cx="21113496" cy="4800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24</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26</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27</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29</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32</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36</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