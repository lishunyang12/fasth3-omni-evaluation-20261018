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chemeClr val="accent6"/>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9282-4C7D-93A0-078375DDFF91}"/>
              </c:ext>
            </c:extLst>
          </c:dPt>
          <c:dPt>
            <c:idx val="3"/>
            <c:spPr>
              <a:solidFill>
                <a:schemeClr val="accent6"/>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chemeClr val="accent6"/>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chemeClr val="accent6">
                  <a:alpha val="50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On click, the slide reveals the selected RTX PRO 5000 row and the eight-GPU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five rows are mutually exclusive accounting buckets. Three steady measured requests took 247.956, 246.201 and 248.298 seconds; the median is 247.956 seconds and RTF 47.992. All three measured outputs share one SHA-256 and fully decode. The maximum sampled steady-state memory is 60,813 MiB on one GPU; cold initialize reaches 72,539 MiB, leaving 876 MiB of the 73,415 MiB visible capacity. The table is a hierarchy: the profiled mean GPU timeline contains the repeated DiT loop and VAE/other work; the DiT loop contains communication/movement and tensor compute; those branches contain the five exclusive measured cost centers. The matched Nsight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its 46.2 percent share is serialized collective residency rather than pure transfer time or an achieved-bandwidth measurement. The repeated loop issues 10,000 SendRecv kernels per rank: four per DiT block across 50 steps and 50 blocks. DiT host-to-device copies contribute 295.5 aggregate GPU-seconds and 8.94 TB of CUPTI logical bytes; the launch configuration identifies this as the default SM120 weight-offload path.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Base workload uses 50 denoising evaluations and 50 DiT blocks, for 2,500 repeated block executions. The released task-specific H3 Ref2VA PDD adapter is the eight-NFE lane. Its public loader uses 32 fine intervals with a block size of four, so one transformer evaluation predicts four interval means and the complete schedule takes eight evaluations. It therefore executes 8 times 50, or 400, DiT blocks: 84 percent fewer than Base50. This removes attention, GEMM/MLP and USP communication together. PDD does not retain eight of the original 50 solver steps, and 2,500 to 400 is workload arithmetic, not a measured end-to-end speedup. NVIDIA Figure 2 is the generic N=12, L=4 mechanism illustration; the H3 N=32, L=4 schedule is stated separately. Matched 960x544 latency, peak memory and quality remain pending.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uses Kc=32.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Shunyang Li  |  Public Technical Brief  |  October 2026</a:t>
            </a:r>
          </a:p>
        </p:txBody>
      </p:sp>
      <p:sp>
        <p:nvSpPr>
          <p:cNvPr id="3" name="Text Placeholder 2"/>
          <p:cNvSpPr>
            <a:spLocks noGrp="1"/>
          </p:cNvSpPr>
          <p:nvPr>
            <p:ph type="body" idx="11" sz="quarter"/>
          </p:nvPr>
        </p:nvSpPr>
        <p:spPr/>
        <p:txBody>
          <a:bodyPr/>
          <a:lstStyle/>
          <a:p>
            <a:r>
              <a:t>8× RTX PRO 5000 · vLLM-Omni + ComfyUI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For 124 frames at 24 FPS, real time requires end-to-end latency &lt; 5.167 s (RTF &lt; 1.0)</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real-time deadline here is 5.167 s. H3 is the largest dense backbone in this peer set; Wan2.2 = 27B total / 14B active.</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50 blocks × 50 denoising steps; full attention. ≈130 GB raw BF16; ~13B AdaLN cacheable.</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discrete SM120 card combines fifth-generation Tensor Cores with FP4 and GDDR7; memory capacity and PCIe-to-fabric bandwidth define the deployment envelope</a:t>
            </a:r>
          </a:p>
        </p:txBody>
      </p:sp>
      <p:sp>
        <p:nvSpPr>
          <p:cNvPr id="3" name="Title 2"/>
          <p:cNvSpPr>
            <a:spLocks noGrp="1"/>
          </p:cNvSpPr>
          <p:nvPr>
            <p:ph type="title"/>
          </p:nvPr>
        </p:nvSpPr>
        <p:spPr/>
        <p:txBody>
          <a:bodyPr/>
          <a:lstStyle/>
          <a:p>
            <a:r>
              <a:t>Frontier Models · The Cards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firstRow="1" bandRow="1">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5000
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110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72 GB GDDR7 ECC
48 GB variant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Planned: NIC → RDMA*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6000
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188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GPU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170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32 GB GDDR7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SM121 · 48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128 GB unified
LPDDR5X</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NVLink-C2C in SoC
200 Gb/s ConnectX-7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 Planned system path; GPUDirect RDMA requires a compatible NIC and PCIe topology · Sources: NVIDIA product specs, CUDA GPU table, GPUDirect RDMA guide</a:t>
            </a:r>
            <a:endParaRPr lang="en-US" dirty="0"/>
          </a:p>
        </p:txBody>
      </p:sp>
      <p:cxnSp>
        <p:nvCxnSpPr>
          <p:cNvPr id="7" name="Selected RTX PRO 5000 Top">
            <a:extLst>
              <a:ext uri="{FF2B5EF4-FFF2-40B4-BE49-F238E27FC236}">
                <a16:creationId xmlns:a16="http://schemas.microsoft.com/office/drawing/2014/main" id="{F54C2F02-CA89-E9E9-1E67-E8559241B4DA}"/>
              </a:ext>
            </a:extLst>
          </p:cNvPr>
          <p:cNvCxnSpPr>
            <a:cxnSpLocks/>
          </p:cNvCxnSpPr>
          <p:nvPr/>
        </p:nvCxnSpPr>
        <p:spPr>
          <a:xfrm>
            <a:off x="4152826" y="7087091"/>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8" name="Selected RTX PRO 5000 Bottom">
            <a:extLst>
              <a:ext uri="{FF2B5EF4-FFF2-40B4-BE49-F238E27FC236}">
                <a16:creationId xmlns:a16="http://schemas.microsoft.com/office/drawing/2014/main" id="{F54C2F02-CA89-E9E9-1E67-E8559241B4DA}"/>
              </a:ext>
            </a:extLst>
          </p:cNvPr>
          <p:cNvCxnSpPr>
            <a:cxnSpLocks/>
          </p:cNvCxnSpPr>
          <p:nvPr/>
        </p:nvCxnSpPr>
        <p:spPr>
          <a:xfrm>
            <a:off x="4152826" y="9496535"/>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9" name="Selected RTX PRO 5000 Left">
            <a:extLst>
              <a:ext uri="{FF2B5EF4-FFF2-40B4-BE49-F238E27FC236}">
                <a16:creationId xmlns:a16="http://schemas.microsoft.com/office/drawing/2014/main" id="{F54C2F02-CA89-E9E9-1E67-E8559241B4DA}"/>
              </a:ext>
            </a:extLst>
          </p:cNvPr>
          <p:cNvCxnSpPr>
            <a:cxnSpLocks/>
          </p:cNvCxnSpPr>
          <p:nvPr/>
        </p:nvCxnSpPr>
        <p:spPr>
          <a:xfrm>
            <a:off x="4152826"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10" name="Selected RTX PRO 5000 Right">
            <a:extLst>
              <a:ext uri="{FF2B5EF4-FFF2-40B4-BE49-F238E27FC236}">
                <a16:creationId xmlns:a16="http://schemas.microsoft.com/office/drawing/2014/main" id="{F54C2F02-CA89-E9E9-1E67-E8559241B4DA}"/>
              </a:ext>
            </a:extLst>
          </p:cNvPr>
          <p:cNvCxnSpPr>
            <a:cxnSpLocks/>
          </p:cNvCxnSpPr>
          <p:nvPr/>
        </p:nvCxnSpPr>
        <p:spPr>
          <a:xfrm>
            <a:off x="32423147"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1" name="Eight GPUs"/>
          <p:cNvSpPr txBox="1"/>
          <p:nvPr/>
        </p:nvSpPr>
        <p:spPr>
          <a:xfrm>
            <a:off x="32662368" y="7516368"/>
            <a:ext cx="2011680" cy="1005840"/>
          </a:xfrm>
          <a:prstGeom prst="rect">
            <a:avLst/>
          </a:prstGeom>
          <a:noFill/>
        </p:spPr>
        <p:txBody>
          <a:bodyPr wrap="square" anchor="ctr" lIns="0" rIns="0" tIns="0" bIns="0">
            <a:spAutoFit/>
          </a:bodyPr>
          <a:lstStyle/>
          <a:p>
            <a:pPr algn="ctr">
              <a:spcBef>
                <a:spcPts val="0"/>
              </a:spcBef>
              <a:spcAft>
                <a:spcPts val="0"/>
              </a:spcAft>
              <a:buNone/>
            </a:pPr>
            <a:r>
              <a:rPr sz="6000" b="1" i="0">
                <a:solidFill>
                  <a:srgbClr val="76B900"/>
                </a:solidFill>
                <a:latin typeface="NVIDIA Sans Medium"/>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fill="hold" nodeType="clickEffect" presetClass="entr" presetID="1" presetSubtype="0">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fill="hold" nodeType="withEffect" presetClass="entr" presetID="1" presetSubtype="0">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fill="hold" nodeType="withEffect" presetClass="entr" presetID="1" presetSubtype="0">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fill="hold" nodeType="withEffect" presetClass="entr" presetID="1" presetSubtype="0">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fill="hold" nodeType="withEffect" presetClass="entr" presetID="1" presetSubtype="0">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248 s latency for 5.17 s output · RTF 48.0</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Cost center</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Avg. time / GPU*</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248.3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100.0%</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Repeated DiT loop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237.7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95.7%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76B900"/>
                          </a:solidFill>
                          <a:effectLst/>
                          <a:uLnTx/>
                          <a:uFillTx/>
                          <a:latin typeface="+mj-lt"/>
                        </a:rPr>
                        <a:t>Communication + movement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153.2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76B900"/>
                          </a:solidFill>
                          <a:latin typeface="+mn-lt"/>
                        </a:rPr>
                        <a:t>61.7%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76B900"/>
                          </a:solidFill>
                          <a:effectLst/>
                          <a:uLnTx/>
                          <a:uFillTx/>
                          <a:latin typeface="+mj-lt"/>
                        </a:rPr>
                        <a:t>DiT USP8 all-to-all (NCCL)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114.7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76B900"/>
                          </a:solidFill>
                          <a:latin typeface="+mn-lt"/>
                        </a:rPr>
                        <a:t>46.2%</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76B900"/>
                          </a:solidFill>
                          <a:effectLst/>
                          <a:uLnTx/>
                          <a:uFillTx/>
                          <a:latin typeface="+mj-lt"/>
                        </a:rPr>
                        <a:t>AdaLN cache misses +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38.5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76B900"/>
                          </a:solidFill>
                          <a:latin typeface="+mn-lt"/>
                        </a:rPr>
                        <a:t>15.5%</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84.5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34.0%</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313131"/>
                          </a:solidFill>
                          <a:effectLst/>
                          <a:uLnTx/>
                          <a:uFillTx/>
                          <a:latin typeface="+mj-lt"/>
                        </a:rPr>
                        <a:t>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45.3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18.3%</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313131"/>
                          </a:solidFill>
                          <a:effectLst/>
                          <a:uLnTx/>
                          <a:uFillTx/>
                          <a:latin typeface="+mj-lt"/>
                        </a:rPr>
                        <a:t>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39.2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15.8%</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757575"/>
                          </a:solidFill>
                          <a:effectLst/>
                          <a:uLnTx/>
                          <a:uFillTx/>
                          <a:latin typeface="+mj-lt"/>
                        </a:rPr>
                        <a:t>Encoders + VAE + other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10.6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757575"/>
                          </a:solidFill>
                          <a:latin typeface="+mn-lt"/>
                        </a:rPr>
                        <a:t>4.3%</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Base Ref2VA · 960×544 · 124f @ 24 FPS · 50 steps · BF16 · 8× PRO 5000 · local NCCL / RDMA off · *mean across 8 GPU timelines; NCCL includes sync / peer wait</a:t>
            </a:r>
            <a:endParaRPr lang="en-US" dirty="0"/>
          </a:p>
        </p:txBody>
      </p:sp>
      <p:sp>
        <p:nvSpPr>
          <p:cNvPr id="7" name="Official NVIDIA Green Bullets (Template Slide 11)"/>
          <p:cNvSpPr txBox="1"/>
          <p:nvPr/>
        </p:nvSpPr>
        <p:spPr>
          <a:xfrm>
            <a:off x="4160520" y="16806672"/>
            <a:ext cx="28254960" cy="2103120"/>
          </a:xfrm>
          <a:prstGeom prst="rect">
            <a:avLst/>
          </a:prstGeom>
          <a:noFill/>
        </p:spPr>
        <p:txBody>
          <a:bodyPr wrap="square" anchor="ctr" lIns="0" rIns="0" tIns="0" bIns="0">
            <a:spAutoFit/>
          </a:bodyPr>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Current trace uses a partial AdaLN cache; full schedule precompute requires a matched rerun.</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Text, reference and audio encoders are included in Encoders + VAE + other.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BASE REF2VA</a:t>
            </a:r>
          </a:p>
          <a:p>
            <a:pPr lvl="1" algn="l"/>
            <a:r>
              <a:rPr b="1">
                <a:solidFill>
                  <a:srgbClr val="313131"/>
                </a:solidFill>
                <a:latin typeface="NVIDIA Sans Medium"/>
              </a:rPr>
              <a:t>50 NFE × 50 blocks = 2,500</a:t>
            </a:r>
          </a:p>
          <a:p>
            <a:pPr lvl="2" algn="l"/>
            <a:r>
              <a:rPr b="0">
                <a:solidFill>
                  <a:srgbClr val="757575"/>
                </a:solidFill>
                <a:latin typeface="NVIDIA Sans"/>
              </a:rPr>
              <a:t>Every attention, MLP and USP exchange repeats</a:t>
            </a:r>
          </a:p>
          <a:p>
            <a:pPr algn="l"/>
            <a:r>
              <a:rPr b="1">
                <a:solidFill>
                  <a:srgbClr val="76B900"/>
                </a:solidFill>
                <a:latin typeface="NVIDIA Sans Medium"/>
              </a:rPr>
              <a:t>REF2VA PDD8</a:t>
            </a:r>
          </a:p>
          <a:p>
            <a:pPr lvl="1" algn="l"/>
            <a:r>
              <a:rPr b="1">
                <a:solidFill>
                  <a:srgbClr val="76B900"/>
                </a:solidFill>
                <a:latin typeface="NVIDIA Sans Medium"/>
              </a:rPr>
              <a:t>8 NFE × 50 blocks = 400</a:t>
            </a:r>
          </a:p>
          <a:p>
            <a:pPr lvl="2" algn="l"/>
            <a:r>
              <a:rPr b="0">
                <a:solidFill>
                  <a:srgbClr val="757575"/>
                </a:solidFill>
                <a:latin typeface="NVIDIA Sans"/>
              </a:rPr>
              <a:t>N = 32, L = 4 → 8 evaluations</a:t>
            </a:r>
          </a:p>
          <a:p>
            <a:pPr algn="l"/>
            <a:r>
              <a:rPr b="1">
                <a:solidFill>
                  <a:srgbClr val="76B900"/>
                </a:solidFill>
                <a:latin typeface="NVIDIA Sans Medium"/>
              </a:rPr>
              <a:t>−84% repeated DiT block calls</a:t>
            </a:r>
          </a:p>
          <a:p>
            <a:pPr lvl="1" algn="l"/>
            <a:r>
              <a:rPr b="0">
                <a:solidFill>
                  <a:srgbClr val="757575"/>
                </a:solidFill>
                <a:latin typeface="NVIDIA Sans"/>
              </a:rPr>
              <a:t>Matched E2E, memory and quality remain pending</a:t>
            </a:r>
          </a:p>
        </p:txBody>
      </p:sp>
      <p:sp>
        <p:nvSpPr>
          <p:cNvPr id="3" name="Text Placeholder 2"/>
          <p:cNvSpPr>
            <a:spLocks noGrp="1"/>
          </p:cNvSpPr>
          <p:nvPr>
            <p:ph type="body" idx="14" sz="quarter"/>
          </p:nvPr>
        </p:nvSpPr>
        <p:spPr/>
        <p:txBody>
          <a:bodyPr/>
          <a:lstStyle/>
          <a:p>
            <a:r>
              <a:t>H3 Ref2VA · 50 NFE  →  PDD · 8 NFE</a:t>
            </a:r>
          </a:p>
        </p:txBody>
      </p:sp>
      <p:sp>
        <p:nvSpPr>
          <p:cNvPr id="4" name="Title 3"/>
          <p:cNvSpPr>
            <a:spLocks noGrp="1"/>
          </p:cNvSpPr>
          <p:nvPr>
            <p:ph type="title"/>
          </p:nvPr>
        </p:nvSpPr>
        <p:spPr/>
        <p:txBody>
          <a:bodyPr/>
          <a:lstStyle/>
          <a:p>
            <a:r>
              <a:t>PDD Removes 84% of Repeated DiT Work</a:t>
            </a:r>
          </a:p>
        </p:txBody>
      </p:sp>
      <p:sp>
        <p:nvSpPr>
          <p:cNvPr id="5" name="Text Placeholder 4"/>
          <p:cNvSpPr>
            <a:spLocks noGrp="1"/>
          </p:cNvSpPr>
          <p:nvPr>
            <p:ph type="body" idx="52" sz="quarter"/>
          </p:nvPr>
        </p:nvSpPr>
        <p:spPr/>
        <p:txBody>
          <a:bodyPr/>
          <a:lstStyle/>
          <a:p>
            <a:r>
              <a:t>Generic Figure 2 illustration: N = 12 intervals, grouped L = 4 per Transformer evaluation</a:t>
            </a:r>
          </a:p>
        </p:txBody>
      </p:sp>
      <p:sp>
        <p:nvSpPr>
          <p:cNvPr id="6" name="Text Placeholder 5"/>
          <p:cNvSpPr>
            <a:spLocks noGrp="1"/>
          </p:cNvSpPr>
          <p:nvPr>
            <p:ph type="body" idx="51" sz="quarter"/>
          </p:nvPr>
        </p:nvSpPr>
        <p:spPr/>
        <p:txBody>
          <a:bodyPr/>
          <a:lstStyle/>
          <a:p>
            <a:r>
              <a:t>NVIDIA PDD · PARALLEL DECODER</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Sources: NVIDIA PDD, Fig. 2 (arXiv:2607.26004) · Alibaba-PAI MiniMax-H3-Acc-LoRAs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Video Sparse Attention (VSA) = trainable, content-aware block sparsity over 3-D video cubes</a:t>
            </a:r>
          </a:p>
        </p:txBody>
      </p:sp>
      <p:sp>
        <p:nvSpPr>
          <p:cNvPr id="3" name="Title 2"/>
          <p:cNvSpPr>
            <a:spLocks noGrp="1"/>
          </p:cNvSpPr>
          <p:nvPr>
            <p:ph type="title"/>
          </p:nvPr>
        </p:nvSpPr>
        <p:spPr/>
        <p:txBody>
          <a:bodyPr/>
          <a:lstStyle/>
          <a:p>
            <a:r>
              <a:t>After PDD, Attention Still Scores Every Pair</a:t>
            </a:r>
          </a:p>
        </p:txBody>
      </p:sp>
      <p:sp>
        <p:nvSpPr>
          <p:cNvPr id="4" name="Text Placeholder 3"/>
          <p:cNvSpPr>
            <a:spLocks noGrp="1"/>
          </p:cNvSpPr>
          <p:nvPr>
            <p:ph type="body" idx="52" sz="quarter"/>
          </p:nvPr>
        </p:nvSpPr>
        <p:spPr/>
        <p:txBody>
          <a:bodyPr/>
          <a:lstStyle/>
          <a:p>
            <a:r>
              <a:t>Locked 544P: Svalid = 34,373 → 1.181B candidate pairs/head/block. Current USP8 still exchanges full Q/K/V/O (+ gate).</a:t>
            </a:r>
          </a:p>
        </p:txBody>
      </p:sp>
      <p:sp>
        <p:nvSpPr>
          <p:cNvPr id="5" name="Text Placeholder 4"/>
          <p:cNvSpPr>
            <a:spLocks noGrp="1"/>
          </p:cNvSpPr>
          <p:nvPr>
            <p:ph type="body" idx="51" sz="quarter"/>
          </p:nvPr>
        </p:nvSpPr>
        <p:spPr/>
        <p:txBody>
          <a:bodyPr/>
          <a:lstStyle/>
          <a:p>
            <a:r>
              <a:t>DENSE  Θ(S²)  →  VSA  O((S/B)² + S·K·B)</a:t>
            </a:r>
          </a:p>
        </p:txBody>
      </p:sp>
      <p:pic>
        <p:nvPicPr>
          <p:cNvPr id="6" name="Picture Placeholder 5" descr="vsa-figure1-16x9.png"/>
          <p:cNvPicPr>
            <a:picLocks noGrp="1" noChangeAspect="1"/>
          </p:cNvPicPr>
          <p:nvPr>
            <p:ph type="pic" idx="53" sz="quarter"/>
          </p:nvPr>
        </p:nvPicPr>
        <p:blipFill>
          <a:blip r:embed="rId3"/>
          <a:srcRect t="9" b="9"/>
          <a:stretch>
            <a:fillRect/>
          </a:stretch>
        </p:blipFill>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Video Sparse Attention, arXiv:2505.13389, Fig. 1 · current H3 Ulysses communication path audited from source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two paths target different SM120 kernels and remain separately qualified in current public evidence</a:t>
            </a:r>
          </a:p>
        </p:txBody>
      </p:sp>
      <p:sp>
        <p:nvSpPr>
          <p:cNvPr id="3" name="Title 2"/>
          <p:cNvSpPr>
            <a:spLocks noGrp="1"/>
          </p:cNvSpPr>
          <p:nvPr>
            <p:ph type="title"/>
          </p:nvPr>
        </p:nvSpPr>
        <p:spPr/>
        <p:txBody>
          <a:bodyPr/>
          <a:lstStyle/>
          <a:p>
            <a:r>
              <a:t>QAD Trains NVFP4;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9</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WHAT IT CHANGES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76B900"/>
                          </a:solidFill>
                          <a:effectLst/>
                          <a:uLnTx/>
                          <a:uFillTx/>
                          <a:latin typeface="+mj-lt"/>
                        </a:rPr>
                        <a:t>QAD CHECKPOINT · PUBLIC</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Packed NVFP4 linears; calibrated BF16 exceptions remain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 quantized student learns from a frozen BF16 teacher to recover quantization error</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8 forwards · PDD grid 32
VSA 90% · tile128 · Ref2VA artifact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0074DF"/>
                          </a:solidFill>
                          <a:effectLst/>
                          <a:uLnTx/>
                          <a:uFillTx/>
                          <a:latin typeface="+mj-lt"/>
                        </a:rPr>
                        <a:t>SAGE VSA · LOCAL BRANCH</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BF16 in → Q,K INT8
V FP8 E4M3 → BF16 out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Low precision only inside tile64 fine attention after top-k routing</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SM120 · head dim 128
explicit opt-in · pure Ulysses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313131"/>
                          </a:solidFill>
                          <a:effectLst/>
                          <a:uLnTx/>
                          <a:uFillTx/>
                          <a:latin typeface="+mj-lt"/>
                        </a:rPr>
                        <a:t>HIGH-PRECISION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Token refiner → TORCH_SDPA
VSA default →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Keeps the short, sensitive path outside approximate Sage math</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Same-seed BF16 quality comparison required</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EF9100"/>
                          </a:solidFill>
                          <a:effectLst/>
                          <a:uLnTx/>
                          <a:uFillTx/>
                          <a:latin typeface="+mj-lt"/>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Q/K/V A2A before Sage
O A2A after Sage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Arithmetic changes locally; collective tensors remain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No payload-byte reduction from QAD or Sage alone</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FastH3 Omni NVFP4-QAD rev 0087718 · NVIDIA ModelOpt QAD · vLLM-Omni SM120 Sage-VSA @ 63487a7</a:t>
            </a:r>
            <a:endParaRPr lang="en-US"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S = 34,432 · 2,500 blocks · BF16 · 8× RTX PRO 5000 · local NCCL · no RDMA ·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4400" b="0" kern="1200" dirty="0">
                          <a:solidFill>
                            <a:schemeClr val="accent1"/>
                          </a:solidFill>
                          <a:latin typeface="+mj-lt"/>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MIN.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RATE @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1.727660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61.702 MB/rank/A2A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chemeClr val="accent6"/>
                          </a:solidFill>
                          <a:effectLst/>
                          <a:uLnTx/>
                          <a:uFillTx/>
                          <a:latin typeface="+mj-lt"/>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10,000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4.319150 TB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835.96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1,600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691.064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133.75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logical bytes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not achieved BW</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 / K FIRST</a:t>
            </a:r>
          </a:p>
          <a:p>
            <a:pPr lvl="1" algn="l"/>
            <a:r>
              <a:rPr b="0">
                <a:solidFill>
                  <a:srgbClr val="313131"/>
                </a:solidFill>
                <a:latin typeface="NVIDIA Sans"/>
              </a:rPr>
              <a:t>V waits on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stays exact after input mutation</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8-GPU ACCEPTANCE GATE</a:t>
            </a:r>
          </a:p>
          <a:p>
            <a:pPr lvl="1" algn="l"/>
            <a:r>
              <a:rPr b="0">
                <a:solidFill>
                  <a:srgbClr val="757575"/>
                </a:solidFill>
                <a:latin typeface="NVIDIA Sans"/>
              </a:rPr>
              <a:t>Full attention + W_O · E2E · memory · Nsight overlap</a:t>
            </a:r>
          </a:p>
        </p:txBody>
      </p:sp>
      <p:sp>
        <p:nvSpPr>
          <p:cNvPr id="3" name="Text Placeholder 2"/>
          <p:cNvSpPr>
            <a:spLocks noGrp="1"/>
          </p:cNvSpPr>
          <p:nvPr>
            <p:ph type="body" idx="14" sz="quarter"/>
          </p:nvPr>
        </p:nvSpPr>
        <p:spPr/>
        <p:txBody>
          <a:bodyPr/>
          <a:lstStyle/>
          <a:p>
            <a:r>
              <a:t>4-GPU real-RDMA · 96/96 rank-cases exact · 8-GPU H3 candidate pending</a:t>
            </a:r>
          </a:p>
        </p:txBody>
      </p:sp>
      <p:sp>
        <p:nvSpPr>
          <p:cNvPr id="4" name="Title 3"/>
          <p:cNvSpPr>
            <a:spLocks noGrp="1"/>
          </p:cNvSpPr>
          <p:nvPr>
            <p:ph type="title"/>
          </p:nvPr>
        </p:nvSpPr>
        <p:spPr/>
        <p:txBody>
          <a:bodyPr/>
          <a:lstStyle/>
          <a:p>
            <a:r>
              <a:t>RDMA Precheck for the A2A Critical Path</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4-GPU REAL-RDMA · 96 / 96 RANK-CASES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11</a:t>
            </a:fld>
            <a:endParaRPr lang="en-US"/>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is measured on the locked 960×544 / 124f request; optimized results retain their own workload contracts</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4"/>
        </p:xfrm>
        <a:graphic>
          <a:graphicData uri="http://schemas.openxmlformats.org/drawingml/2006/table">
            <a:tbl>
              <a:tblPr firstRow="1" bandRow="1">
                <a:tableStyleId>{68D230F3-CF80-4859-8CE7-A43EE81993B5}</a:tableStyleId>
              </a:tblPr>
              <a:tblGrid>
                <a:gridCol w="3246120">
                  <a:extLst>
                    <a:ext uri="{9D8B030D-6E8A-4147-A177-3AD203B41FA5}">
                      <a16:colId xmlns:a16="http://schemas.microsoft.com/office/drawing/2014/main" val="1714626306"/>
                    </a:ext>
                  </a:extLst>
                </a:gridCol>
                <a:gridCol w="6126480">
                  <a:extLst>
                    <a:ext uri="{9D8B030D-6E8A-4147-A177-3AD203B41FA5}">
                      <a16:colId xmlns:a16="http://schemas.microsoft.com/office/drawing/2014/main" val="1697748500"/>
                    </a:ext>
                  </a:extLst>
                </a:gridCol>
                <a:gridCol w="6720840">
                  <a:extLst>
                    <a:ext uri="{9D8B030D-6E8A-4147-A177-3AD203B41FA5}">
                      <a16:colId xmlns:a16="http://schemas.microsoft.com/office/drawing/2014/main" val="3872581152"/>
                    </a:ext>
                  </a:extLst>
                </a:gridCol>
                <a:gridCol w="1645920">
                  <a:extLst>
                    <a:ext uri="{9D8B030D-6E8A-4147-A177-3AD203B41FA5}">
                      <a16:colId xmlns:a16="http://schemas.microsoft.com/office/drawing/2014/main" val="2543914041"/>
                    </a:ext>
                  </a:extLst>
                </a:gridCol>
                <a:gridCol w="5074920">
                  <a:extLst>
                    <a:ext uri="{9D8B030D-6E8A-4147-A177-3AD203B41FA5}">
                      <a16:colId xmlns:a16="http://schemas.microsoft.com/office/drawing/2014/main" val="2421839051"/>
                    </a:ext>
                  </a:extLst>
                </a:gridCol>
                <a:gridCol w="5456041">
                  <a:extLst>
                    <a:ext uri="{9D8B030D-6E8A-4147-A177-3AD203B41FA5}">
                      <a16:colId xmlns:a16="http://schemas.microsoft.com/office/drawing/2014/main" val="2805133130"/>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WORKLOAD CONTRACT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WITHIN-STUDY SYSTEM / COMPARISON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spcBef>
                          <a:spcPts val="0"/>
                        </a:spcBef>
                        <a:spcAft>
                          <a:spcPts val="0"/>
                        </a:spcAft>
                      </a:pPr>
                      <a:r>
                        <a:rPr lang="en-US" sz="2000" b="0" kern="1200" dirty="0">
                          <a:solidFill>
                            <a:srgbClr val="76B900"/>
                          </a:solidFill>
                          <a:latin typeface="NVIDIA Sans"/>
                        </a:rPr>
                        <a:t>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spcBef>
                          <a:spcPts val="0"/>
                        </a:spcBef>
                        <a:spcAft>
                          <a:spcPts val="0"/>
                        </a:spcAft>
                      </a:pPr>
                      <a:r>
                        <a:rPr lang="en-US" sz="2000" b="0" kern="1200" dirty="0">
                          <a:solidFill>
                            <a:srgbClr val="76B900"/>
                          </a:solidFill>
                          <a:latin typeface="NVIDIA Sans"/>
                        </a:rPr>
                        <a:t>E2E · RTF</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EVIDENCE BOUNDARY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MEASURED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MATCHED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124f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5.167 s · Miles image + voice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43 · independent request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 50-step BF16 dense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local NCCL · no RDMA</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1">
                          <a:solidFill>
                            <a:srgbClr val="76B900"/>
                          </a:solidFill>
                          <a:latin typeface="NVIDIA Sans Medium"/>
                        </a:rPr>
                        <a:t>247.956 s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76B900"/>
                          </a:solidFill>
                          <a:latin typeface="NVIDIA Sans Medium"/>
                        </a:rPr>
                        <a:t>RTF 47.992</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Locked baseline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same MP4 hash across 3 formal runs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70.84 GiB max sampled device memory*</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15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362f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15.083 s · Zhiwei image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no voice reference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8-step NVFP4-QAD + VSA</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NCCL control → RDMA / overlap / output pipeline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17.681 → 14.974 s mean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1.172 → 0.993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3 / 3 final requests met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15.083 s media budget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not Base50 / 124f</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10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243f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10.125 s · same input / seed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within this study</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BF16 TP8 → 4-step Turbo</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MXFP8 + dense Sage + RDMA stack</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263.847 → 6.958 s</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26.059 → 0.687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Paired endpoint proof</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many axes changed together;</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stage attribution</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PORTRAIT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576×1024 · 124f window</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119 new frames / 4.958 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Miles portrait + voice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4-step MXFP8</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BF16 Sage first-attn · NVFP4 VAE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RDMA · rolling continuation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+ 5</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4.644 s initial</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4.459 s continuation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0.899</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Portrait live feasibility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long-run P95 or matched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Base50 arm</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92499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PENDING</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MATCHED GATE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Hold row-1 image · audio · prompt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 shape · request mode fixed</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PDD8 → VSA → QAD / Sage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 RDMA + overlap</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stage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E2E · RTF · peak GPU memory</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quality · Nsight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1">
                          <a:solidFill>
                            <a:srgbClr val="EF9100"/>
                          </a:solidFill>
                          <a:latin typeface="NVIDIA Sans Medium"/>
                        </a:rPr>
                        <a:t>Publish a cumulative ladder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after every stage shares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same measurement contract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vLLM-Omni
ComfyUI Apps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character replacement, continuation-aware references, and chainable LoRA controls</a:t>
            </a:r>
          </a:p>
        </p:txBody>
      </p:sp>
      <p:sp>
        <p:nvSpPr>
          <p:cNvPr id="3" name="Title 2"/>
          <p:cNvSpPr>
            <a:spLocks noGrp="1"/>
          </p:cNvSpPr>
          <p:nvPr>
            <p:ph type="title"/>
          </p:nvPr>
        </p:nvSpPr>
        <p:spPr/>
        <p:txBody>
          <a:bodyPr/>
          <a:lstStyle/>
          <a:p>
            <a:r>
              <a:t>vLLM-Omni Connects ComfyUI to Multi-GPU H3 Serving</a:t>
            </a:r>
          </a:p>
        </p:txBody>
      </p:sp>
      <p:sp>
        <p:nvSpPr>
          <p:cNvPr id="4" name="Text Placeholder 3"/>
          <p:cNvSpPr>
            <a:spLocks noGrp="1"/>
          </p:cNvSpPr>
          <p:nvPr>
            <p:ph type="body" idx="52" sz="quarter"/>
          </p:nvPr>
        </p:nvSpPr>
        <p:spPr/>
        <p:txBody>
          <a:bodyPr/>
          <a:lstStyle/>
          <a:p>
            <a:r>
              <a:t>ComfyUI remains the visual frontend; vLLM-Omni owns model execution, scheduling,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p:pic>
      <p:sp>
        <p:nvSpPr>
          <p:cNvPr id="7" name="Text Placeholder 6"/>
          <p:cNvSpPr>
            <a:spLocks noGrp="1"/>
          </p:cNvSpPr>
          <p:nvPr>
            <p:ph type="body" idx="54" sz="quarter"/>
          </p:nvPr>
        </p:nvSpPr>
        <p:spPr/>
        <p:txBody>
          <a:bodyPr/>
          <a:lstStyle/>
          <a:p>
            <a:r>
              <a:t>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