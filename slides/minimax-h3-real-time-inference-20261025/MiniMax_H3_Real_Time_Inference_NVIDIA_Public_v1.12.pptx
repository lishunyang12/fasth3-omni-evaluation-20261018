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 Id="rId97" Type="http://schemas.openxmlformats.org/officeDocument/2006/relationships/slide" Target="slides/slide74.xml"/><Relationship Id="rId98" Type="http://schemas.openxmlformats.org/officeDocument/2006/relationships/slide" Target="slides/slide75.xml"/><Relationship Id="rId99" Type="http://schemas.openxmlformats.org/officeDocument/2006/relationships/slide" Target="slides/slide76.xml"/><Relationship Id="rId100" Type="http://schemas.openxmlformats.org/officeDocument/2006/relationships/slide" Target="slides/slide77.xml"/><Relationship Id="rId101" Type="http://schemas.openxmlformats.org/officeDocument/2006/relationships/slide" Target="slides/slide78.xml"/><Relationship Id="rId102" Type="http://schemas.openxmlformats.org/officeDocument/2006/relationships/slide" Target="slides/slide79.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trained BF16 model. Apply the quantization recipe to create a student whose forward pass simulates the rounding and clipping it will see at inference. The same training sample also goes through the frozen BF16 teacher. A distillation loss measures the difference between teacher and student outputs, and gradients update only the student through the straight-through estimator. QAD is therefore a quality-recovery training method; it does not add work to the deployed inference graph. The public FastH3 Omni NVFP4-QAD checkpoint uses eight transformer forwards and packed NVFP4 transformer linears, while calibrated sensitive modules remain in BF16. The separate local Sage-VSA path quantizes selected fine-attention math to Q/K INT8 and V FP8, but the current Ulysses exchange still carries BF16 tensors. Do not combine the public checkpoint and the separate Sage path into one measured speedup until they pass a matched run. Figure source: https://developer.nvidia.com/blog/how-quantization-aware-training-enables-low-precision-accuracy-recovery/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CUDA Graph records a fixed launch topology and replays it with one host launch. It reduces CPU, runtime and driver submission gaps; the GPU kernels remain separate and still perform the same memory traffic. The H3 prototype captures only unpack QKV, VSA attention and O-bundle packing. QKV packing and input RDMA, readiness events, reverse RDMA and gather, local gate assembly, complete NVFP4 W_O and dynamic scheduling remain outside the current Graph. CUDA Graph therefore does not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not qualification for arbitrary shapes or concurrent requests.</a:t>
            </a:r>
          </a:p>
          <a:p/>
          <a:p>
            <a:r>
              <a:t>Official references: https://docs.nvidia.com/cuda/cuda-programming-guide/04-special-topics/cuda-graphs.html ; https://developer.nvidia.com/blog/a-guide-to-cuda-graphs-in-gromacs-2023/</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present prototype captures synchronously on a miss, keeps tensors and geometry in a private pool, limits the cache to 32 entries and raises if the cache is full. It does not yet implement a general serving bucket manager, LRU eviction or eager fallback. Hot shape buckets, padding and masking, eager fallback and capture after a reuse threshold are the proposed serving policy. They must be labeled as design, then validated with Graph hit rate, cold capture cost, private-pool memory and eager fallback rate.</a:t>
            </a:r>
          </a:p>
          <a:p/>
          <a:p>
            <a:r>
              <a:t>Official references: https://docs.nvidia.com/dl-cuda-graph/cuda-graph-basics/constraints.html ; https://docs.pytorch.org/docs/stable/notes/cuda.html ; https://developer.nvidia.com/blog/employing-cuda-graphs-in-a-dynamic-environment/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page explains the Ulysses tensor transform; this page shows the physical roads underneath it. The five Q, K, V, gate and output slots cross the topology in each measured VSA-enabled DiT block. The retained host has two NUMA sockets and four two-GPU PCIe islands. P0 contains GPUs 0 and 1, P1 contains GPUs 2 and 3, P2 contains GPUs 4 and 5, and P3 contains GPUs 6 and 7. From any GPU, one remote peer shares its PCIe subtree and is classified PXB, two peers sit behind the other subtree on the same NUMA socket and are classified NODE, and four peers sit across the CPU-to-CPU path and are classified SYS. Ulysses uses equal peer chunks, so the logical off-rank split is 1/7 PXB, 2/7 NODE and 4/7 SYS. Therefore 57.1 percent of minimum one-way off-rank logical payload is cross-socket. This is a topology and logical-payload statement; it is not a captured split of NCCL wire bytes, route residency, or elapsed time. The nearest-NIC mapping is GPU0 to mlx5_2, GPU1 to mlx5_3, GPU2 to mlx5_0, GPU3 to mlx5_1, GPU4 to mlx5_6, GPU5 to mlx5_7, GPU6 to mlx5_4 and GPU7 to mlx5_5. Each retained ConnectX-8 port was active at 400 Gb/s. The editable diagram shows hardware containment and path classes; it does not assert that the local NCCL control transported every byte over a single physical route family. Code anchors: pipeline_minimax_h3.py lines 648 and 886-887; pipeline_minimax_h3.py line 3539; denoise_loop.py lines 3-7 and the single model call beginning at line 404.</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exact-shape benchmark isolates the five Ulysses Q, K, V, gate and output slots for the current MiniMax H3 Ref2VA avatar profile: 960 by 544, 362 frames at 24 FPS, BF16, DP1, TP1, USP8, Ring1, global aligned sequence 56,960, local sequence 7,120, 56 heads and head dimension 128. It is one request on one eight-GPU replica, not DP8. Each route moves 446,566,400 off-rank logical bytes per rank and DiT block. Across all eight ranks and 400 PDD8 block calls, the minimum one-way off-rank logical volume is 1,429,012,480,000 bytes, or 1.42901248 decimal terabytes. Five warmups preceded eight paired trials with four block calls per trial. Each trial records the slowest rank; the slide reports the mean of those rank maxima. NCCL local measured 24.874763 milliseconds per block and 17.952589 decimal gigabytes per second of effective off-rank send bandwidth per rank. Nearest-NIC GPUDirect RDMA measured 10.855998 milliseconds and 41.135455 gigabytes per second. Multiplying the unrounded block means by 400 gives 9.949905 and 4.342399 seconds of serialized PDD8 communication plus path-required layout, a 5.607506-second reduction. The RDMA path is 2.291338 times faster and uses 56.3574 percent less measured communication-plus-layout time. Outputs match an independent all_gather reference exactly. This test contains no attention, GEMM or communication-compute overlap. Its serialized values are not end-to-end request predictions. The NCCL and RDMA adapters also use different path-required layout operations, so the delta is a measured deployment-path result rather than isolated wire time. Raw source: /tmp/h3-qad-realtime-20261023/ulysses-362f-paths-20261025.json.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2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PTQ is not enough</a:t>
            </a:r>
          </a:p>
          <a:p>
            <a:pPr lvl="1" algn="l"/>
            <a:r>
              <a:rPr b="0">
                <a:solidFill>
                  <a:srgbClr val="313131"/>
                </a:solidFill>
                <a:latin typeface="NVIDIA Sans"/>
              </a:rPr>
              <a:t>Four-bit rounding can move the model away from its BF16 output</a:t>
            </a:r>
          </a:p>
          <a:p>
            <a:pPr algn="l"/>
            <a:r>
              <a:rPr b="1">
                <a:solidFill>
                  <a:srgbClr val="76B900"/>
                </a:solidFill>
                <a:latin typeface="NVIDIA Sans Medium"/>
              </a:rPr>
              <a:t>Same sample, two paths</a:t>
            </a:r>
          </a:p>
          <a:p>
            <a:pPr lvl="1" algn="l"/>
            <a:r>
              <a:rPr b="0">
                <a:solidFill>
                  <a:srgbClr val="313131"/>
                </a:solidFill>
                <a:latin typeface="NVIDIA Sans"/>
              </a:rPr>
              <a:t>The teacher stays frozen; the student sees deployment quantization noise</a:t>
            </a:r>
          </a:p>
          <a:p>
            <a:pPr algn="l"/>
            <a:r>
              <a:rPr b="1">
                <a:solidFill>
                  <a:srgbClr val="76B900"/>
                </a:solidFill>
                <a:latin typeface="NVIDIA Sans Medium"/>
              </a:rPr>
              <a:t>Only the student learns</a:t>
            </a:r>
          </a:p>
          <a:p>
            <a:pPr lvl="1" algn="l"/>
            <a:r>
              <a:rPr b="0">
                <a:solidFill>
                  <a:srgbClr val="313131"/>
                </a:solidFill>
                <a:latin typeface="NVIDIA Sans"/>
              </a:rPr>
              <a:t>Distillation + STE update the student; the teacher disappears at inference</a:t>
            </a:r>
          </a:p>
          <a:p>
            <a:pPr algn="l"/>
            <a:r>
              <a:rPr b="1">
                <a:solidFill>
                  <a:srgbClr val="313131"/>
                </a:solidFill>
                <a:latin typeface="NVIDIA Sans Medium"/>
              </a:rPr>
              <a:t>Mixed precision by design</a:t>
            </a:r>
          </a:p>
          <a:p>
            <a:pPr lvl="1" algn="l"/>
            <a:r>
              <a:rPr b="0">
                <a:solidFill>
                  <a:srgbClr val="313131"/>
                </a:solidFill>
                <a:latin typeface="NVIDIA Sans"/>
              </a:rPr>
              <a:t>High-throughput linears use NVFP4; sensitive surrounding math stays BF16</a:t>
            </a:r>
          </a:p>
        </p:txBody>
      </p:sp>
      <p:sp>
        <p:nvSpPr>
          <p:cNvPr id="3" name="Text Placeholder 2"/>
          <p:cNvSpPr>
            <a:spLocks noGrp="1"/>
          </p:cNvSpPr>
          <p:nvPr>
            <p:ph type="body" idx="14" sz="quarter"/>
          </p:nvPr>
        </p:nvSpPr>
        <p:spPr>
          <a:xfrm>
            <a:off x="1828800" y="5806440"/>
            <a:ext cx="13716000" cy="1417320"/>
          </a:xfrm>
        </p:spPr>
        <p:txBody>
          <a:bodyPr/>
          <a:lstStyle/>
          <a:p>
            <a:r>
              <a:t>QAD trains the deployed NVFP4 path against a frozen BF16 teacher</a:t>
            </a:r>
          </a:p>
        </p:txBody>
      </p:sp>
      <p:sp>
        <p:nvSpPr>
          <p:cNvPr id="4" name="Title 3"/>
          <p:cNvSpPr>
            <a:spLocks noGrp="1"/>
          </p:cNvSpPr>
          <p:nvPr>
            <p:ph type="title"/>
          </p:nvPr>
        </p:nvSpPr>
        <p:spPr>
          <a:xfrm>
            <a:off x="1828800" y="1828800"/>
            <a:ext cx="13716000" cy="3840480"/>
          </a:xfrm>
        </p:spPr>
        <p:txBody>
          <a:bodyPr/>
          <a:lstStyle/>
          <a:p>
            <a:r>
              <a:t>Quantization</a:t>
            </a:r>
          </a:p>
        </p:txBody>
      </p:sp>
      <p:sp>
        <p:nvSpPr>
          <p:cNvPr id="5" name="Text Placeholder 4"/>
          <p:cNvSpPr>
            <a:spLocks noGrp="1"/>
          </p:cNvSpPr>
          <p:nvPr>
            <p:ph type="body" idx="52" sz="quarter"/>
          </p:nvPr>
        </p:nvSpPr>
        <p:spPr/>
        <p:txBody>
          <a:bodyPr/>
          <a:lstStyle/>
          <a:p>
            <a:r>
              <a:t>Concept: L_QAD = D(y_BF16, y_NVFP4) · the teacher disappears at inference</a:t>
            </a:r>
          </a:p>
        </p:txBody>
      </p:sp>
      <p:sp>
        <p:nvSpPr>
          <p:cNvPr id="6" name="Text Placeholder 5"/>
          <p:cNvSpPr>
            <a:spLocks noGrp="1"/>
          </p:cNvSpPr>
          <p:nvPr>
            <p:ph type="body" idx="51" sz="quarter"/>
          </p:nvPr>
        </p:nvSpPr>
        <p:spPr/>
        <p:txBody>
          <a:bodyPr/>
          <a:lstStyle/>
          <a:p>
            <a:r>
              <a:t>Teacher Guides; NVFP4 Student Learns</a:t>
            </a:r>
          </a:p>
        </p:txBody>
      </p:sp>
      <p:pic>
        <p:nvPicPr>
          <p:cNvPr id="7" name="Picture Placeholder 6" descr="nvidia_qad_loss_flow_figure5_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Model Optimizer QAD workflow, NVIDIA Technical Blog, Fig. 5 (2025) · FastH3 Omni NVFP4-QAD rev 0087718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10</a:t>
            </a:fld>
            <a:endParaRPr lang="en-US"/>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USP8 turns every attention block into four synchronized all-to-all exchanges</a:t>
            </a:r>
          </a:p>
        </p:txBody>
      </p:sp>
      <p:sp>
        <p:nvSpPr>
          <p:cNvPr id="3" name="Title 2"/>
          <p:cNvSpPr>
            <a:spLocks noGrp="1"/>
          </p:cNvSpPr>
          <p:nvPr>
            <p:ph type="title"/>
          </p:nvPr>
        </p:nvSpPr>
        <p:spPr/>
        <p:txBody>
          <a:bodyPr/>
          <a:lstStyle/>
          <a:p>
            <a:r>
              <a:t>Communication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Rate at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61.7 MB/rank/A2A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Logical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Not achieved bandwidth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Capture a fixed compute island once. Replay it with new data</a:t>
            </a:r>
          </a:p>
        </p:txBody>
      </p:sp>
      <p:sp>
        <p:nvSpPr>
          <p:cNvPr id="3" name="Title 2"/>
          <p:cNvSpPr>
            <a:spLocks noGrp="1"/>
          </p:cNvSpPr>
          <p:nvPr>
            <p:ph type="title"/>
          </p:nvPr>
        </p:nvSpPr>
        <p:spPr/>
        <p:txBody>
          <a:bodyPr/>
          <a:lstStyle/>
          <a:p>
            <a:r>
              <a:t>CUDA Graph</a:t>
            </a:r>
          </a:p>
        </p:txBody>
      </p:sp>
      <p:sp>
        <p:nvSpPr>
          <p:cNvPr id="4" name="Text Placeholder 3"/>
          <p:cNvSpPr>
            <a:spLocks noGrp="1"/>
          </p:cNvSpPr>
          <p:nvPr>
            <p:ph type="body" idx="52" sz="quarter"/>
          </p:nvPr>
        </p:nvSpPr>
        <p:spPr/>
        <p:txBody>
          <a:bodyPr/>
          <a:lstStyle/>
          <a:p>
            <a:r>
              <a:t>Fixed-profile 8-GPU head pipeline: 13.250 s → 11.994 s (−9.48%)</a:t>
            </a:r>
          </a:p>
        </p:txBody>
      </p:sp>
      <p:sp>
        <p:nvSpPr>
          <p:cNvPr id="5" name="Text Placeholder 4"/>
          <p:cNvSpPr>
            <a:spLocks noGrp="1"/>
          </p:cNvSpPr>
          <p:nvPr>
            <p:ph type="body" idx="51" sz="quarter"/>
          </p:nvPr>
        </p:nvSpPr>
        <p:spPr/>
        <p:txBody>
          <a:bodyPr/>
          <a:lstStyle/>
          <a:p>
            <a:r>
              <a:t>Launch Once · Replay the Compute Island</a:t>
            </a:r>
          </a:p>
        </p:txBody>
      </p:sp>
      <p:pic>
        <p:nvPicPr>
          <p:cNvPr id="6" name="Picture Placeholder 5" descr="cuda-graph-concept-16x9.png"/>
          <p:cNvPicPr>
            <a:picLocks noGrp="1" noChangeAspect="1"/>
          </p:cNvPicPr>
          <p:nvPr>
            <p:ph type="pic" idx="53" sz="quarter"/>
          </p:nvPr>
        </p:nvPicPr>
        <p:blipFill>
          <a:blip r:embed="rId3"/>
          <a:srcRect/>
          <a:stretch>
            <a:fillRect/>
          </a:stretch>
        </p:blipFill>
        <p:spPr>
          <a:ln w="9525">
            <a:solidFill>
              <a:srgbClr val="A7A7A7"/>
            </a:solidFill>
          </a:ln>
        </p:spPr>
      </p:pic>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NVIDIA CUDA Programming Guide · NVIDIA CUDA Graphs in GROMACS · H3 fixed-profile measurements</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One live-stream profile replays; a new video shape needs another profile</a:t>
            </a:r>
          </a:p>
        </p:txBody>
      </p:sp>
      <p:sp>
        <p:nvSpPr>
          <p:cNvPr id="3" name="Title 2"/>
          <p:cNvSpPr>
            <a:spLocks noGrp="1"/>
          </p:cNvSpPr>
          <p:nvPr>
            <p:ph type="title"/>
          </p:nvPr>
        </p:nvSpPr>
        <p:spPr/>
        <p:txBody>
          <a:bodyPr/>
          <a:lstStyle/>
          <a:p>
            <a:r>
              <a:t>CUDA Graph Reuse</a:t>
            </a:r>
          </a:p>
        </p:txBody>
      </p:sp>
      <p:sp>
        <p:nvSpPr>
          <p:cNvPr id="4" name="Text Placeholder 3"/>
          <p:cNvSpPr>
            <a:spLocks noGrp="1"/>
          </p:cNvSpPr>
          <p:nvPr>
            <p:ph type="body" idx="52" sz="quarter"/>
          </p:nvPr>
        </p:nvSpPr>
        <p:spPr/>
        <p:txBody>
          <a:bodyPr/>
          <a:lstStyle/>
          <a:p>
            <a:r>
              <a:t>Qualified today: one fixed 960×544 profile · hot-bucket serving policy: proposed</a:t>
            </a:r>
          </a:p>
        </p:txBody>
      </p:sp>
      <p:sp>
        <p:nvSpPr>
          <p:cNvPr id="5" name="Text Placeholder 4"/>
          <p:cNvSpPr>
            <a:spLocks noGrp="1"/>
          </p:cNvSpPr>
          <p:nvPr>
            <p:ph type="body" idx="51" sz="quarter"/>
          </p:nvPr>
        </p:nvSpPr>
        <p:spPr/>
        <p:txBody>
          <a:bodyPr/>
          <a:lstStyle/>
          <a:p>
            <a:r>
              <a:t>Request-Stable · Cross-Request Profiled</a:t>
            </a:r>
          </a:p>
        </p:txBody>
      </p:sp>
      <p:pic>
        <p:nvPicPr>
          <p:cNvPr id="6" name="Picture Placeholder 5" descr="cuda-graph-reuse-16x9.png"/>
          <p:cNvPicPr>
            <a:picLocks noGrp="1" noChangeAspect="1"/>
          </p:cNvPicPr>
          <p:nvPr>
            <p:ph type="pic" idx="53" sz="quarter"/>
          </p:nvPr>
        </p:nvPicPr>
        <p:blipFill>
          <a:blip r:embed="rId3"/>
          <a:srcRect/>
          <a:stretch>
            <a:fillRect/>
          </a:stretch>
        </p:blipFill>
        <p:spPr>
          <a:ln w="9525">
            <a:solidFill>
              <a:srgbClr val="A7A7A7"/>
            </a:solidFill>
          </a:ln>
        </p:spPr>
      </p:pic>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NVIDIA CUDA Graph constraints · PyTorch CUDA semantics · current H3 prototype audit</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13</a:t>
            </a:fld>
            <a:endParaRPr lang="en-US"/>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USP</a:t>
            </a:r>
          </a:p>
        </p:txBody>
      </p:sp>
      <p:sp>
        <p:nvSpPr>
          <p:cNvPr id="5" name="Text Placeholder 4"/>
          <p:cNvSpPr>
            <a:spLocks noGrp="1"/>
          </p:cNvSpPr>
          <p:nvPr>
            <p:ph type="body" idx="52" sz="quarter"/>
          </p:nvPr>
        </p:nvSpPr>
        <p:spPr/>
        <p:txBody>
          <a:bodyPr/>
          <a:lstStyle/>
          <a:p>
            <a:r>
              <a:t>7,120 × 56 → 56,960 × 7 → 7,120 × 56 · repeated in every attention block</a:t>
            </a:r>
          </a:p>
        </p:txBody>
      </p:sp>
      <p:sp>
        <p:nvSpPr>
          <p:cNvPr id="6" name="Text Placeholder 5"/>
          <p:cNvSpPr>
            <a:spLocks noGrp="1"/>
          </p:cNvSpPr>
          <p:nvPr>
            <p:ph type="body" idx="51" sz="quarter"/>
          </p:nvPr>
        </p:nvSpPr>
        <p:spPr/>
        <p:txBody>
          <a:bodyPr/>
          <a:lstStyle/>
          <a:p>
            <a:r>
              <a:t>Same Tensor, Different Ownership</a:t>
            </a:r>
          </a:p>
        </p:txBody>
      </p:sp>
      <p:pic>
        <p:nvPicPr>
          <p:cNvPr id="7" name="Picture Placeholder 6" descr="ulysses-sequence-parallel-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Adapted from DeepSpeed-Ulysses (Jacobs et al., 2023) · current H3 path: DP1 / TP1 / USP8 / Ring1 · measured 362-frame profile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Four PCIe islands</a:t>
            </a:r>
          </a:p>
          <a:p>
            <a:pPr lvl="1" algn="l"/>
            <a:r>
              <a:rPr b="0">
                <a:solidFill>
                  <a:srgbClr val="313131"/>
                </a:solidFill>
                <a:latin typeface="NVIDIA Sans"/>
              </a:rPr>
              <a:t>Each island holds two GPUs and two nearest 400-Gb/s CX-8 ports</a:t>
            </a:r>
          </a:p>
          <a:p>
            <a:pPr algn="l"/>
            <a:r>
              <a:rPr b="1">
                <a:solidFill>
                  <a:srgbClr val="76B900"/>
                </a:solidFill>
                <a:latin typeface="NVIDIA Sans Medium"/>
              </a:rPr>
              <a:t>Three kinds of peer path</a:t>
            </a:r>
          </a:p>
          <a:p>
            <a:pPr lvl="1" algn="l"/>
            <a:r>
              <a:rPr b="0">
                <a:solidFill>
                  <a:srgbClr val="313131"/>
                </a:solidFill>
                <a:latin typeface="NVIDIA Sans"/>
              </a:rPr>
              <a:t>From one rank: 1 PXB, 2 NODE, and 4 SYS peers</a:t>
            </a:r>
          </a:p>
          <a:p>
            <a:pPr algn="l"/>
            <a:r>
              <a:rPr b="1">
                <a:solidFill>
                  <a:srgbClr val="76B900"/>
                </a:solidFill>
                <a:latin typeface="NVIDIA Sans Medium"/>
              </a:rPr>
              <a:t>Most peers cross sockets</a:t>
            </a:r>
          </a:p>
          <a:p>
            <a:pPr lvl="1" algn="l"/>
            <a:r>
              <a:rPr b="0">
                <a:solidFill>
                  <a:srgbClr val="313131"/>
                </a:solidFill>
                <a:latin typeface="NVIDIA Sans"/>
              </a:rPr>
              <a:t>Four of seven off-rank peers use the SYS path</a:t>
            </a:r>
          </a:p>
          <a:p>
            <a:pPr algn="l"/>
            <a:r>
              <a:rPr b="1">
                <a:solidFill>
                  <a:srgbClr val="76B900"/>
                </a:solidFill>
                <a:latin typeface="NVIDIA Sans Medium"/>
              </a:rPr>
              <a:t>Why the baseline is uneven</a:t>
            </a:r>
          </a:p>
          <a:p>
            <a:pPr lvl="1" algn="l"/>
            <a:r>
              <a:rPr b="0">
                <a:solidFill>
                  <a:srgbClr val="313131"/>
                </a:solidFill>
                <a:latin typeface="NVIDIA Sans"/>
              </a:rPr>
              <a:t>IB is disabled, so local NCCL follows these host paths</a:t>
            </a:r>
          </a:p>
        </p:txBody>
      </p:sp>
      <p:sp>
        <p:nvSpPr>
          <p:cNvPr id="3" name="Text Placeholder 2"/>
          <p:cNvSpPr>
            <a:spLocks noGrp="1"/>
          </p:cNvSpPr>
          <p:nvPr>
            <p:ph type="body" idx="14" sz="quarter"/>
          </p:nvPr>
        </p:nvSpPr>
        <p:spPr>
          <a:xfrm>
            <a:off x="1828800" y="5806440"/>
            <a:ext cx="13716000" cy="1417320"/>
          </a:xfrm>
        </p:spPr>
        <p:txBody>
          <a:bodyPr/>
          <a:lstStyle/>
          <a:p>
            <a:r>
              <a:t>The exchange is balanced in bytes; the host paths are not</a:t>
            </a:r>
          </a:p>
        </p:txBody>
      </p:sp>
      <p:sp>
        <p:nvSpPr>
          <p:cNvPr id="4" name="Title 3"/>
          <p:cNvSpPr>
            <a:spLocks noGrp="1"/>
          </p:cNvSpPr>
          <p:nvPr>
            <p:ph type="title"/>
          </p:nvPr>
        </p:nvSpPr>
        <p:spPr>
          <a:xfrm>
            <a:off x="1828800" y="1828800"/>
            <a:ext cx="13716000" cy="3840480"/>
          </a:xfrm>
        </p:spPr>
        <p:txBody>
          <a:bodyPr/>
          <a:lstStyle/>
          <a:p>
            <a:r>
              <a:t>USP Communication</a:t>
            </a:r>
          </a:p>
        </p:txBody>
      </p:sp>
      <p:sp>
        <p:nvSpPr>
          <p:cNvPr id="5" name="Text Placeholder 4"/>
          <p:cNvSpPr>
            <a:spLocks noGrp="1"/>
          </p:cNvSpPr>
          <p:nvPr>
            <p:ph type="body" idx="52" sz="quarter"/>
          </p:nvPr>
        </p:nvSpPr>
        <p:spPr/>
        <p:txBody>
          <a:bodyPr/>
          <a:lstStyle/>
          <a:p>
            <a:r>
              <a:t>The math is balanced. The roads are not.</a:t>
            </a:r>
          </a:p>
        </p:txBody>
      </p:sp>
      <p:sp>
        <p:nvSpPr>
          <p:cNvPr id="6" name="Text Placeholder 5"/>
          <p:cNvSpPr>
            <a:spLocks noGrp="1"/>
          </p:cNvSpPr>
          <p:nvPr>
            <p:ph type="body" idx="51" sz="quarter"/>
          </p:nvPr>
        </p:nvSpPr>
        <p:spPr/>
        <p:txBody>
          <a:bodyPr/>
          <a:lstStyle/>
          <a:p>
            <a:r>
              <a:t>Eight GPUs · Four PCIe Islands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MiniMaxH3Pipeline and denoise-loop code audit · retained nvidia-smi topo -m · 8 nearest 400-Gb/s CX-8 ports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15</a:t>
            </a:fld>
            <a:endParaRPr lang="en-US"/>
          </a:p>
        </p:txBody>
      </p:sp>
      <p:sp>
        <p:nvSpPr>
          <p:cNvPr id="10" name="Rectangle 9"/>
          <p:cNvSpPr/>
          <p:nvPr/>
        </p:nvSpPr>
        <p:spPr>
          <a:xfrm>
            <a:off x="19705320" y="1920240"/>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25360" y="2066544"/>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0 · CPU 0</a:t>
            </a:r>
          </a:p>
        </p:txBody>
      </p:sp>
      <p:sp>
        <p:nvSpPr>
          <p:cNvPr id="12" name="Rectangle 11"/>
          <p:cNvSpPr/>
          <p:nvPr/>
        </p:nvSpPr>
        <p:spPr>
          <a:xfrm>
            <a:off x="2002536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7772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9705320" y="8183879"/>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025360" y="8330183"/>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1 · CPU 1</a:t>
            </a:r>
          </a:p>
        </p:txBody>
      </p:sp>
      <p:sp>
        <p:nvSpPr>
          <p:cNvPr id="16" name="Rectangle 15"/>
          <p:cNvSpPr/>
          <p:nvPr/>
        </p:nvSpPr>
        <p:spPr>
          <a:xfrm>
            <a:off x="2002536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7772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21602700" y="393649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160270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521458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9055060" y="393649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05506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2666939"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791919" y="393649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602700" y="1020013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160270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521458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055060" y="1020013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05506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666939"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791919" y="1020013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134820" y="7589520"/>
            <a:ext cx="0" cy="594359"/>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0226527"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P0</a:t>
            </a:r>
          </a:p>
        </p:txBody>
      </p:sp>
      <p:sp>
        <p:nvSpPr>
          <p:cNvPr id="34" name="Rounded Rectangle 33"/>
          <p:cNvSpPr/>
          <p:nvPr/>
        </p:nvSpPr>
        <p:spPr>
          <a:xfrm>
            <a:off x="2029968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48256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0</a:t>
            </a:r>
          </a:p>
        </p:txBody>
      </p:sp>
      <p:sp>
        <p:nvSpPr>
          <p:cNvPr id="36" name="Rounded Rectangle 35"/>
          <p:cNvSpPr/>
          <p:nvPr/>
        </p:nvSpPr>
        <p:spPr>
          <a:xfrm>
            <a:off x="2029968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48256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mlx5_2</a:t>
            </a:r>
          </a:p>
        </p:txBody>
      </p:sp>
      <p:sp>
        <p:nvSpPr>
          <p:cNvPr id="38" name="Rounded Rectangle 37"/>
          <p:cNvSpPr/>
          <p:nvPr/>
        </p:nvSpPr>
        <p:spPr>
          <a:xfrm>
            <a:off x="2391156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094439"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1</a:t>
            </a:r>
          </a:p>
        </p:txBody>
      </p:sp>
      <p:sp>
        <p:nvSpPr>
          <p:cNvPr id="40" name="Rounded Rectangle 39"/>
          <p:cNvSpPr/>
          <p:nvPr/>
        </p:nvSpPr>
        <p:spPr>
          <a:xfrm>
            <a:off x="2391156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094439"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mlx5_3</a:t>
            </a:r>
          </a:p>
        </p:txBody>
      </p:sp>
      <p:sp>
        <p:nvSpPr>
          <p:cNvPr id="42" name="TextBox 41"/>
          <p:cNvSpPr txBox="1"/>
          <p:nvPr/>
        </p:nvSpPr>
        <p:spPr>
          <a:xfrm>
            <a:off x="27678888"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P1</a:t>
            </a:r>
          </a:p>
        </p:txBody>
      </p:sp>
      <p:sp>
        <p:nvSpPr>
          <p:cNvPr id="43" name="Rounded Rectangle 42"/>
          <p:cNvSpPr/>
          <p:nvPr/>
        </p:nvSpPr>
        <p:spPr>
          <a:xfrm>
            <a:off x="2775204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93492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2</a:t>
            </a:r>
          </a:p>
        </p:txBody>
      </p:sp>
      <p:sp>
        <p:nvSpPr>
          <p:cNvPr id="45" name="Rounded Rectangle 44"/>
          <p:cNvSpPr/>
          <p:nvPr/>
        </p:nvSpPr>
        <p:spPr>
          <a:xfrm>
            <a:off x="2775204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93492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mlx5_0</a:t>
            </a:r>
          </a:p>
        </p:txBody>
      </p:sp>
      <p:sp>
        <p:nvSpPr>
          <p:cNvPr id="47" name="Rounded Rectangle 46"/>
          <p:cNvSpPr/>
          <p:nvPr/>
        </p:nvSpPr>
        <p:spPr>
          <a:xfrm>
            <a:off x="31363919"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54680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3</a:t>
            </a:r>
          </a:p>
        </p:txBody>
      </p:sp>
      <p:sp>
        <p:nvSpPr>
          <p:cNvPr id="49" name="Rounded Rectangle 48"/>
          <p:cNvSpPr/>
          <p:nvPr/>
        </p:nvSpPr>
        <p:spPr>
          <a:xfrm>
            <a:off x="31363919"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54680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mlx5_1</a:t>
            </a:r>
          </a:p>
        </p:txBody>
      </p:sp>
      <p:sp>
        <p:nvSpPr>
          <p:cNvPr id="51" name="TextBox 50"/>
          <p:cNvSpPr txBox="1"/>
          <p:nvPr/>
        </p:nvSpPr>
        <p:spPr>
          <a:xfrm>
            <a:off x="20226527"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P2</a:t>
            </a:r>
          </a:p>
        </p:txBody>
      </p:sp>
      <p:sp>
        <p:nvSpPr>
          <p:cNvPr id="52" name="Rounded Rectangle 51"/>
          <p:cNvSpPr/>
          <p:nvPr/>
        </p:nvSpPr>
        <p:spPr>
          <a:xfrm>
            <a:off x="2029968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048256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4</a:t>
            </a:r>
          </a:p>
        </p:txBody>
      </p:sp>
      <p:sp>
        <p:nvSpPr>
          <p:cNvPr id="54" name="Rounded Rectangle 53"/>
          <p:cNvSpPr/>
          <p:nvPr/>
        </p:nvSpPr>
        <p:spPr>
          <a:xfrm>
            <a:off x="2029968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048256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mlx5_6</a:t>
            </a:r>
          </a:p>
        </p:txBody>
      </p:sp>
      <p:sp>
        <p:nvSpPr>
          <p:cNvPr id="56" name="Rounded Rectangle 55"/>
          <p:cNvSpPr/>
          <p:nvPr/>
        </p:nvSpPr>
        <p:spPr>
          <a:xfrm>
            <a:off x="2391156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4094439"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5</a:t>
            </a:r>
          </a:p>
        </p:txBody>
      </p:sp>
      <p:sp>
        <p:nvSpPr>
          <p:cNvPr id="58" name="Rounded Rectangle 57"/>
          <p:cNvSpPr/>
          <p:nvPr/>
        </p:nvSpPr>
        <p:spPr>
          <a:xfrm>
            <a:off x="2391156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4094439"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mlx5_7</a:t>
            </a:r>
          </a:p>
        </p:txBody>
      </p:sp>
      <p:sp>
        <p:nvSpPr>
          <p:cNvPr id="60" name="TextBox 59"/>
          <p:cNvSpPr txBox="1"/>
          <p:nvPr/>
        </p:nvSpPr>
        <p:spPr>
          <a:xfrm>
            <a:off x="27678888"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P3</a:t>
            </a:r>
          </a:p>
        </p:txBody>
      </p:sp>
      <p:sp>
        <p:nvSpPr>
          <p:cNvPr id="61" name="Rounded Rectangle 60"/>
          <p:cNvSpPr/>
          <p:nvPr/>
        </p:nvSpPr>
        <p:spPr>
          <a:xfrm>
            <a:off x="2775204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93492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6</a:t>
            </a:r>
          </a:p>
        </p:txBody>
      </p:sp>
      <p:sp>
        <p:nvSpPr>
          <p:cNvPr id="63" name="Rounded Rectangle 62"/>
          <p:cNvSpPr/>
          <p:nvPr/>
        </p:nvSpPr>
        <p:spPr>
          <a:xfrm>
            <a:off x="2775204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793492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mlx5_4</a:t>
            </a:r>
          </a:p>
        </p:txBody>
      </p:sp>
      <p:sp>
        <p:nvSpPr>
          <p:cNvPr id="65" name="Rounded Rectangle 64"/>
          <p:cNvSpPr/>
          <p:nvPr/>
        </p:nvSpPr>
        <p:spPr>
          <a:xfrm>
            <a:off x="31363919"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154680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7</a:t>
            </a:r>
          </a:p>
        </p:txBody>
      </p:sp>
      <p:sp>
        <p:nvSpPr>
          <p:cNvPr id="67" name="Rounded Rectangle 66"/>
          <p:cNvSpPr/>
          <p:nvPr/>
        </p:nvSpPr>
        <p:spPr>
          <a:xfrm>
            <a:off x="31363919"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54680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mlx5_5</a:t>
            </a:r>
          </a:p>
        </p:txBody>
      </p:sp>
      <p:cxnSp>
        <p:nvCxnSpPr>
          <p:cNvPr id="69" name="Connector 68"/>
          <p:cNvCxnSpPr/>
          <p:nvPr/>
        </p:nvCxnSpPr>
        <p:spPr>
          <a:xfrm>
            <a:off x="19842480" y="14593824"/>
            <a:ext cx="54864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05374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76B900"/>
                </a:solidFill>
                <a:latin typeface="NVIDIA Sans Medium"/>
              </a:rPr>
              <a:t>PXB · 1/7 peer</a:t>
            </a:r>
          </a:p>
        </p:txBody>
      </p:sp>
      <p:cxnSp>
        <p:nvCxnSpPr>
          <p:cNvPr id="71" name="Connector 70"/>
          <p:cNvCxnSpPr/>
          <p:nvPr/>
        </p:nvCxnSpPr>
        <p:spPr>
          <a:xfrm>
            <a:off x="24277320" y="14593824"/>
            <a:ext cx="548640"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497226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0074DF"/>
                </a:solidFill>
                <a:latin typeface="NVIDIA Sans Medium"/>
              </a:rPr>
              <a:t>NODE · 2/7 peers</a:t>
            </a:r>
          </a:p>
        </p:txBody>
      </p:sp>
      <p:cxnSp>
        <p:nvCxnSpPr>
          <p:cNvPr id="73" name="Connector 72"/>
          <p:cNvCxnSpPr/>
          <p:nvPr/>
        </p:nvCxnSpPr>
        <p:spPr>
          <a:xfrm>
            <a:off x="29215080" y="14593824"/>
            <a:ext cx="548639" cy="0"/>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299100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EF9100"/>
                </a:solidFill>
                <a:latin typeface="NVIDIA Sans Medium"/>
              </a:rPr>
              <a:t>SYS · 4/7 peers · 57.1%</a:t>
            </a:r>
          </a:p>
        </p:txBody>
      </p:sp>
      <p:cxnSp>
        <p:nvCxnSpPr>
          <p:cNvPr id="75" name="Connector 74"/>
          <p:cNvCxnSpPr/>
          <p:nvPr/>
        </p:nvCxnSpPr>
        <p:spPr>
          <a:xfrm>
            <a:off x="19842480" y="15288767"/>
            <a:ext cx="548640" cy="0"/>
          </a:xfrm>
          <a:prstGeom prst="line">
            <a:avLst/>
          </a:prstGeom>
          <a:ln w="38100">
            <a:solidFill>
              <a:srgbClr val="1DBBA4"/>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20537424" y="15060167"/>
            <a:ext cx="13624560" cy="512064"/>
          </a:xfrm>
          <a:prstGeom prst="rect">
            <a:avLst/>
          </a:prstGeom>
          <a:noFill/>
        </p:spPr>
        <p:txBody>
          <a:bodyPr wrap="square" anchor="t" lIns="0" rIns="0" tIns="0" bIns="0">
            <a:spAutoFit/>
          </a:bodyPr>
          <a:lstStyle/>
          <a:p>
            <a:pPr algn="l">
              <a:spcBef>
                <a:spcPts val="0"/>
              </a:spcBef>
              <a:spcAft>
                <a:spcPts val="0"/>
              </a:spcAft>
              <a:buNone/>
            </a:pPr>
            <a:r>
              <a:rPr sz="2000" b="1" i="0">
                <a:solidFill>
                  <a:srgbClr val="1DBBA4"/>
                </a:solidFill>
                <a:latin typeface="NVIDIA Sans Medium"/>
              </a:rPr>
              <a:t>Nearest-NIC GPUDirect RDMA · assigned 400-Gb/s CX-8 port per GPU</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nearest-NIC path moves the same payload in less than half the measured communication + layout time</a:t>
            </a:r>
          </a:p>
        </p:txBody>
      </p:sp>
      <p:sp>
        <p:nvSpPr>
          <p:cNvPr id="3" name="Title 2"/>
          <p:cNvSpPr>
            <a:spLocks noGrp="1"/>
          </p:cNvSpPr>
          <p:nvPr>
            <p:ph type="title"/>
          </p:nvPr>
        </p:nvSpPr>
        <p:spPr/>
        <p:txBody>
          <a:bodyPr/>
          <a:lstStyle/>
          <a:p>
            <a:r>
              <a:t>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16</a:t>
            </a:fld>
            <a:endParaRPr lang="en-US"/>
          </a:p>
        </p:txBody>
      </p:sp>
      <p:graphicFrame>
        <p:nvGraphicFramePr>
          <p:cNvPr id="5" name="Official NVIDIA Exact-Shape RDM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120640">
                  <a:extLst>
                    <a:ext uri="{9D8B030D-6E8A-4147-A177-3AD203B41FA5}">
                      <a16:colId xmlns:a16="http://schemas.microsoft.com/office/drawing/2014/main" val="1714626306"/>
                    </a:ext>
                  </a:extLst>
                </a:gridCol>
                <a:gridCol w="8412480">
                  <a:extLst>
                    <a:ext uri="{9D8B030D-6E8A-4147-A177-3AD203B41FA5}">
                      <a16:colId xmlns:a16="http://schemas.microsoft.com/office/drawing/2014/main" val="1697748500"/>
                    </a:ext>
                  </a:extLst>
                </a:gridCol>
                <a:gridCol w="4937760">
                  <a:extLst>
                    <a:ext uri="{9D8B030D-6E8A-4147-A177-3AD203B41FA5}">
                      <a16:colId xmlns:a16="http://schemas.microsoft.com/office/drawing/2014/main" val="3872581152"/>
                    </a:ext>
                  </a:extLst>
                </a:gridCol>
                <a:gridCol w="5212080">
                  <a:extLst>
                    <a:ext uri="{9D8B030D-6E8A-4147-A177-3AD203B41FA5}">
                      <a16:colId xmlns:a16="http://schemas.microsoft.com/office/drawing/2014/main" val="2543914041"/>
                    </a:ext>
                  </a:extLst>
                </a:gridCol>
                <a:gridCol w="45873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Route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Logical Off-Rank Volume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Rank-Max / Block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Effective BW / Rank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Serialized PDD8*</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local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24.87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17.95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9.95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Nearest-NIC GDR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10.86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41.14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4.34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RDMA delta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 five-slot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2.29×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scope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Communication + path-required layout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Exact vs independent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all_gather</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attention or GEMM</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overlap</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*serial × 400; not E2E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Measured 2026-10-25 · 5 warmups + 8 trials × 4 calls · rank-max then mean · *serialized block mean × 400; not end-to-end</a:t>
            </a:r>
            <a:endParaRPr lang="en-US"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